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30"/>
  </p:notesMasterIdLst>
  <p:sldIdLst>
    <p:sldId id="336" r:id="rId2"/>
    <p:sldId id="337" r:id="rId3"/>
    <p:sldId id="338" r:id="rId4"/>
    <p:sldId id="339" r:id="rId5"/>
    <p:sldId id="373" r:id="rId6"/>
    <p:sldId id="374" r:id="rId7"/>
    <p:sldId id="375" r:id="rId8"/>
    <p:sldId id="376" r:id="rId9"/>
    <p:sldId id="340" r:id="rId10"/>
    <p:sldId id="379" r:id="rId11"/>
    <p:sldId id="380" r:id="rId12"/>
    <p:sldId id="385" r:id="rId13"/>
    <p:sldId id="386" r:id="rId14"/>
    <p:sldId id="342" r:id="rId15"/>
    <p:sldId id="383" r:id="rId16"/>
    <p:sldId id="344" r:id="rId17"/>
    <p:sldId id="345" r:id="rId18"/>
    <p:sldId id="346" r:id="rId19"/>
    <p:sldId id="347" r:id="rId20"/>
    <p:sldId id="348" r:id="rId21"/>
    <p:sldId id="349" r:id="rId22"/>
    <p:sldId id="387" r:id="rId23"/>
    <p:sldId id="350" r:id="rId24"/>
    <p:sldId id="351" r:id="rId25"/>
    <p:sldId id="354" r:id="rId26"/>
    <p:sldId id="355" r:id="rId27"/>
    <p:sldId id="356" r:id="rId28"/>
    <p:sldId id="357" r:id="rId2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5pPr>
    <a:lvl6pPr marL="2286000" algn="l" defTabSz="914400" rtl="0" eaLnBrk="1" latinLnBrk="0" hangingPunct="1">
      <a:defRPr sz="2400" kern="1200">
        <a:solidFill>
          <a:schemeClr val="tx1"/>
        </a:solidFill>
        <a:latin typeface="Arial Narrow" panose="020B0606020202030204" pitchFamily="34" charset="0"/>
        <a:ea typeface="+mn-ea"/>
        <a:cs typeface="+mn-cs"/>
      </a:defRPr>
    </a:lvl6pPr>
    <a:lvl7pPr marL="2743200" algn="l" defTabSz="914400" rtl="0" eaLnBrk="1" latinLnBrk="0" hangingPunct="1">
      <a:defRPr sz="2400" kern="1200">
        <a:solidFill>
          <a:schemeClr val="tx1"/>
        </a:solidFill>
        <a:latin typeface="Arial Narrow" panose="020B0606020202030204" pitchFamily="34" charset="0"/>
        <a:ea typeface="+mn-ea"/>
        <a:cs typeface="+mn-cs"/>
      </a:defRPr>
    </a:lvl7pPr>
    <a:lvl8pPr marL="3200400" algn="l" defTabSz="914400" rtl="0" eaLnBrk="1" latinLnBrk="0" hangingPunct="1">
      <a:defRPr sz="2400" kern="1200">
        <a:solidFill>
          <a:schemeClr val="tx1"/>
        </a:solidFill>
        <a:latin typeface="Arial Narrow" panose="020B0606020202030204" pitchFamily="34" charset="0"/>
        <a:ea typeface="+mn-ea"/>
        <a:cs typeface="+mn-cs"/>
      </a:defRPr>
    </a:lvl8pPr>
    <a:lvl9pPr marL="3657600" algn="l" defTabSz="914400" rtl="0" eaLnBrk="1" latinLnBrk="0" hangingPunct="1">
      <a:defRPr sz="2400"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autoAdjust="0"/>
    <p:restoredTop sz="94667" autoAdjust="0"/>
  </p:normalViewPr>
  <p:slideViewPr>
    <p:cSldViewPr>
      <p:cViewPr varScale="1">
        <p:scale>
          <a:sx n="104" d="100"/>
          <a:sy n="104" d="100"/>
        </p:scale>
        <p:origin x="1518" y="102"/>
      </p:cViewPr>
      <p:guideLst>
        <p:guide orient="horz" pos="2160"/>
        <p:guide pos="2880"/>
      </p:guideLst>
    </p:cSldViewPr>
  </p:slideViewPr>
  <p:outlineViewPr>
    <p:cViewPr>
      <p:scale>
        <a:sx n="33" d="100"/>
        <a:sy n="33" d="100"/>
      </p:scale>
      <p:origin x="0" y="3510"/>
    </p:cViewPr>
  </p:outlin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imes New Roman" panose="02020603050405020304" pitchFamily="18" charset="0"/>
              </a:defRPr>
            </a:lvl1pPr>
          </a:lstStyle>
          <a:p>
            <a:pPr>
              <a:defRPr/>
            </a:pPr>
            <a:fld id="{D5A34F86-553D-40EA-817E-91AD903857DE}" type="slidenum">
              <a:rPr lang="en-US" altLang="fr-FR"/>
              <a:pPr>
                <a:defRPr/>
              </a:pPr>
              <a:t>‹#›</a:t>
            </a:fld>
            <a:endParaRPr lang="en-US" altLang="fr-FR"/>
          </a:p>
        </p:txBody>
      </p:sp>
    </p:spTree>
    <p:extLst>
      <p:ext uri="{BB962C8B-B14F-4D97-AF65-F5344CB8AC3E}">
        <p14:creationId xmlns:p14="http://schemas.microsoft.com/office/powerpoint/2010/main" val="8216506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B041AB-E476-42DE-A3CB-532F404A5E4A}" type="slidenum">
              <a:rPr lang="en-US" altLang="fr-FR"/>
              <a:pPr>
                <a:spcBef>
                  <a:spcPct val="0"/>
                </a:spcBef>
              </a:pPr>
              <a:t>1</a:t>
            </a:fld>
            <a:endParaRPr lang="en-US" altLang="fr-F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78717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91D594-F4EE-45A4-A3CA-9DE17B1E0D85}" type="slidenum">
              <a:rPr lang="en-US" altLang="fr-FR"/>
              <a:pPr>
                <a:spcBef>
                  <a:spcPct val="0"/>
                </a:spcBef>
              </a:pPr>
              <a:t>2</a:t>
            </a:fld>
            <a:endParaRPr lang="en-US" altLang="fr-F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62568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DF952C-2195-4018-AF75-DEB3EAA14CCC}" type="slidenum">
              <a:rPr lang="en-US" altLang="fr-FR"/>
              <a:pPr>
                <a:spcBef>
                  <a:spcPct val="0"/>
                </a:spcBef>
              </a:pPr>
              <a:t>3</a:t>
            </a:fld>
            <a:endParaRPr lang="en-US" altLang="fr-F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222934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0D2D7B-DB5D-4FDE-8CFB-998C8A414941}" type="slidenum">
              <a:rPr lang="en-US" altLang="fr-FR"/>
              <a:pPr>
                <a:spcBef>
                  <a:spcPct val="0"/>
                </a:spcBef>
              </a:pPr>
              <a:t>4</a:t>
            </a:fld>
            <a:endParaRPr lang="en-US" altLang="fr-F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016312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Espace réservé de l'image des diapositives 1"/>
          <p:cNvSpPr>
            <a:spLocks noGrp="1" noRot="1" noChangeAspect="1" noTextEdit="1"/>
          </p:cNvSpPr>
          <p:nvPr>
            <p:ph type="sldImg"/>
          </p:nvPr>
        </p:nvSpPr>
        <p:spPr>
          <a:ln/>
        </p:spPr>
      </p:sp>
      <p:sp>
        <p:nvSpPr>
          <p:cNvPr id="10342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0342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ECD0A7-D67C-4DE4-A66D-C24D73F4414A}" type="slidenum">
              <a:rPr lang="en-US" altLang="fr-FR"/>
              <a:pPr>
                <a:spcBef>
                  <a:spcPct val="0"/>
                </a:spcBef>
              </a:pPr>
              <a:t>5</a:t>
            </a:fld>
            <a:endParaRPr lang="en-US" altLang="fr-FR"/>
          </a:p>
        </p:txBody>
      </p:sp>
    </p:spTree>
    <p:extLst>
      <p:ext uri="{BB962C8B-B14F-4D97-AF65-F5344CB8AC3E}">
        <p14:creationId xmlns:p14="http://schemas.microsoft.com/office/powerpoint/2010/main" val="2290168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Espace réservé de l'image des diapositives 1"/>
          <p:cNvSpPr>
            <a:spLocks noGrp="1" noRot="1" noChangeAspect="1" noTextEdit="1"/>
          </p:cNvSpPr>
          <p:nvPr>
            <p:ph type="sldImg"/>
          </p:nvPr>
        </p:nvSpPr>
        <p:spPr>
          <a:ln/>
        </p:spPr>
      </p:sp>
      <p:sp>
        <p:nvSpPr>
          <p:cNvPr id="10547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0547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E700FE-51F2-49A6-9419-E137C4A20963}" type="slidenum">
              <a:rPr lang="en-US" altLang="fr-FR"/>
              <a:pPr>
                <a:spcBef>
                  <a:spcPct val="0"/>
                </a:spcBef>
              </a:pPr>
              <a:t>6</a:t>
            </a:fld>
            <a:endParaRPr lang="en-US" altLang="fr-FR"/>
          </a:p>
        </p:txBody>
      </p:sp>
    </p:spTree>
    <p:extLst>
      <p:ext uri="{BB962C8B-B14F-4D97-AF65-F5344CB8AC3E}">
        <p14:creationId xmlns:p14="http://schemas.microsoft.com/office/powerpoint/2010/main" val="328960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Espace réservé de l'image des diapositives 1"/>
          <p:cNvSpPr>
            <a:spLocks noGrp="1" noRot="1" noChangeAspect="1" noTextEdit="1"/>
          </p:cNvSpPr>
          <p:nvPr>
            <p:ph type="sldImg"/>
          </p:nvPr>
        </p:nvSpPr>
        <p:spPr>
          <a:ln/>
        </p:spPr>
      </p:sp>
      <p:sp>
        <p:nvSpPr>
          <p:cNvPr id="10752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0752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16603A4-B920-498A-869A-C51557486663}" type="slidenum">
              <a:rPr lang="en-US" altLang="fr-FR"/>
              <a:pPr>
                <a:spcBef>
                  <a:spcPct val="0"/>
                </a:spcBef>
              </a:pPr>
              <a:t>7</a:t>
            </a:fld>
            <a:endParaRPr lang="en-US" altLang="fr-FR"/>
          </a:p>
        </p:txBody>
      </p:sp>
    </p:spTree>
    <p:extLst>
      <p:ext uri="{BB962C8B-B14F-4D97-AF65-F5344CB8AC3E}">
        <p14:creationId xmlns:p14="http://schemas.microsoft.com/office/powerpoint/2010/main" val="1790931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Espace réservé de l'image des diapositives 1"/>
          <p:cNvSpPr>
            <a:spLocks noGrp="1" noRot="1" noChangeAspect="1" noTextEdit="1"/>
          </p:cNvSpPr>
          <p:nvPr>
            <p:ph type="sldImg"/>
          </p:nvPr>
        </p:nvSpPr>
        <p:spPr>
          <a:ln/>
        </p:spPr>
      </p:sp>
      <p:sp>
        <p:nvSpPr>
          <p:cNvPr id="10957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0957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E2DB76-B23E-4149-B240-45BADCBAF65A}" type="slidenum">
              <a:rPr lang="en-US" altLang="fr-FR"/>
              <a:pPr>
                <a:spcBef>
                  <a:spcPct val="0"/>
                </a:spcBef>
              </a:pPr>
              <a:t>8</a:t>
            </a:fld>
            <a:endParaRPr lang="en-US" altLang="fr-FR"/>
          </a:p>
        </p:txBody>
      </p:sp>
    </p:spTree>
    <p:extLst>
      <p:ext uri="{BB962C8B-B14F-4D97-AF65-F5344CB8AC3E}">
        <p14:creationId xmlns:p14="http://schemas.microsoft.com/office/powerpoint/2010/main" val="3094390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EAC1A8-9CE4-43F3-A8BD-034650C8F7C8}" type="slidenum">
              <a:rPr lang="en-US" altLang="fr-FR"/>
              <a:pPr>
                <a:spcBef>
                  <a:spcPct val="0"/>
                </a:spcBef>
              </a:pPr>
              <a:t>9</a:t>
            </a:fld>
            <a:endParaRPr lang="en-US" altLang="fr-F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599976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Espace réservé de l'image des diapositives 1"/>
          <p:cNvSpPr>
            <a:spLocks noGrp="1" noRot="1" noChangeAspect="1" noTextEdit="1"/>
          </p:cNvSpPr>
          <p:nvPr>
            <p:ph type="sldImg"/>
          </p:nvPr>
        </p:nvSpPr>
        <p:spPr>
          <a:ln/>
        </p:spPr>
      </p:sp>
      <p:sp>
        <p:nvSpPr>
          <p:cNvPr id="11366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1366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F2D8B57-9411-42EE-92BE-DD7822304EAB}" type="slidenum">
              <a:rPr lang="en-US" altLang="fr-FR"/>
              <a:pPr>
                <a:spcBef>
                  <a:spcPct val="0"/>
                </a:spcBef>
              </a:pPr>
              <a:t>10</a:t>
            </a:fld>
            <a:endParaRPr lang="en-US" altLang="fr-FR"/>
          </a:p>
        </p:txBody>
      </p:sp>
    </p:spTree>
    <p:extLst>
      <p:ext uri="{BB962C8B-B14F-4D97-AF65-F5344CB8AC3E}">
        <p14:creationId xmlns:p14="http://schemas.microsoft.com/office/powerpoint/2010/main" val="2325009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Espace réservé de l'image des diapositives 1"/>
          <p:cNvSpPr>
            <a:spLocks noGrp="1" noRot="1" noChangeAspect="1" noTextEdit="1"/>
          </p:cNvSpPr>
          <p:nvPr>
            <p:ph type="sldImg"/>
          </p:nvPr>
        </p:nvSpPr>
        <p:spPr>
          <a:ln/>
        </p:spPr>
      </p:sp>
      <p:sp>
        <p:nvSpPr>
          <p:cNvPr id="11571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1571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19E8E1-1B12-4237-904B-D3273E7B6A11}" type="slidenum">
              <a:rPr lang="en-US" altLang="fr-FR"/>
              <a:pPr>
                <a:spcBef>
                  <a:spcPct val="0"/>
                </a:spcBef>
              </a:pPr>
              <a:t>11</a:t>
            </a:fld>
            <a:endParaRPr lang="en-US" altLang="fr-FR"/>
          </a:p>
        </p:txBody>
      </p:sp>
    </p:spTree>
    <p:extLst>
      <p:ext uri="{BB962C8B-B14F-4D97-AF65-F5344CB8AC3E}">
        <p14:creationId xmlns:p14="http://schemas.microsoft.com/office/powerpoint/2010/main" val="941379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EADEAD-84A6-49E8-A10D-2F4B951759AB}" type="slidenum">
              <a:rPr lang="en-US" altLang="fr-FR"/>
              <a:pPr>
                <a:spcBef>
                  <a:spcPct val="0"/>
                </a:spcBef>
              </a:pPr>
              <a:t>12</a:t>
            </a:fld>
            <a:endParaRPr lang="en-US" altLang="fr-F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835863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1BB084-26F9-47FF-8B41-C89DE3B539E8}" type="slidenum">
              <a:rPr lang="en-US" altLang="fr-FR"/>
              <a:pPr>
                <a:spcBef>
                  <a:spcPct val="0"/>
                </a:spcBef>
              </a:pPr>
              <a:t>13</a:t>
            </a:fld>
            <a:endParaRPr lang="en-US" altLang="fr-F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826973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6B2FA3-6206-4080-9D1F-937BE3DFB35B}" type="slidenum">
              <a:rPr lang="en-US" altLang="fr-FR"/>
              <a:pPr>
                <a:spcBef>
                  <a:spcPct val="0"/>
                </a:spcBef>
              </a:pPr>
              <a:t>14</a:t>
            </a:fld>
            <a:endParaRPr lang="en-US" altLang="fr-F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900410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Espace réservé de l'image des diapositives 1"/>
          <p:cNvSpPr>
            <a:spLocks noGrp="1" noRot="1" noChangeAspect="1" noTextEdit="1"/>
          </p:cNvSpPr>
          <p:nvPr>
            <p:ph type="sldImg"/>
          </p:nvPr>
        </p:nvSpPr>
        <p:spPr>
          <a:ln/>
        </p:spPr>
      </p:sp>
      <p:sp>
        <p:nvSpPr>
          <p:cNvPr id="1239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239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0E8D39E-7176-4956-8FBD-FEEF78BCFF52}" type="slidenum">
              <a:rPr lang="en-US" altLang="fr-FR"/>
              <a:pPr>
                <a:spcBef>
                  <a:spcPct val="0"/>
                </a:spcBef>
              </a:pPr>
              <a:t>15</a:t>
            </a:fld>
            <a:endParaRPr lang="en-US" altLang="fr-FR"/>
          </a:p>
        </p:txBody>
      </p:sp>
    </p:spTree>
    <p:extLst>
      <p:ext uri="{BB962C8B-B14F-4D97-AF65-F5344CB8AC3E}">
        <p14:creationId xmlns:p14="http://schemas.microsoft.com/office/powerpoint/2010/main" val="367172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D729E31-3730-4793-96A3-13D35220B3FF}" type="slidenum">
              <a:rPr lang="en-US" altLang="fr-FR"/>
              <a:pPr>
                <a:spcBef>
                  <a:spcPct val="0"/>
                </a:spcBef>
              </a:pPr>
              <a:t>16</a:t>
            </a:fld>
            <a:endParaRPr lang="en-US" altLang="fr-F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151339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247302A-065B-4FA7-8063-EEA6849C1A36}" type="slidenum">
              <a:rPr lang="en-US" altLang="fr-FR"/>
              <a:pPr>
                <a:spcBef>
                  <a:spcPct val="0"/>
                </a:spcBef>
              </a:pPr>
              <a:t>17</a:t>
            </a:fld>
            <a:endParaRPr lang="en-US" altLang="fr-F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130738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35F226-9F22-4762-BDF0-3CEB2409041D}" type="slidenum">
              <a:rPr lang="en-US" altLang="fr-FR"/>
              <a:pPr>
                <a:spcBef>
                  <a:spcPct val="0"/>
                </a:spcBef>
              </a:pPr>
              <a:t>18</a:t>
            </a:fld>
            <a:endParaRPr lang="en-US" altLang="fr-F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807822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3B194F-AC53-4854-BA75-280AEF68CFF8}" type="slidenum">
              <a:rPr lang="en-US" altLang="fr-FR"/>
              <a:pPr>
                <a:spcBef>
                  <a:spcPct val="0"/>
                </a:spcBef>
              </a:pPr>
              <a:t>19</a:t>
            </a:fld>
            <a:endParaRPr lang="en-US" altLang="fr-F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281817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0CC780-F3C9-402C-866D-0529B2E01067}" type="slidenum">
              <a:rPr lang="en-US" altLang="fr-FR"/>
              <a:pPr>
                <a:spcBef>
                  <a:spcPct val="0"/>
                </a:spcBef>
              </a:pPr>
              <a:t>20</a:t>
            </a:fld>
            <a:endParaRPr lang="en-US" altLang="fr-F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290146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7CAC6C8-DED4-4530-9803-EAD943387298}" type="slidenum">
              <a:rPr lang="en-US" altLang="fr-FR"/>
              <a:pPr>
                <a:spcBef>
                  <a:spcPct val="0"/>
                </a:spcBef>
              </a:pPr>
              <a:t>21</a:t>
            </a:fld>
            <a:endParaRPr lang="en-US" altLang="fr-F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408651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Espace réservé de l'image des diapositives 1"/>
          <p:cNvSpPr>
            <a:spLocks noGrp="1" noRot="1" noChangeAspect="1" noTextEdit="1"/>
          </p:cNvSpPr>
          <p:nvPr>
            <p:ph type="sldImg"/>
          </p:nvPr>
        </p:nvSpPr>
        <p:spPr>
          <a:ln/>
        </p:spPr>
      </p:sp>
      <p:sp>
        <p:nvSpPr>
          <p:cNvPr id="13824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3824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F2B5682-4E95-46CB-807E-88834EF87B8E}" type="slidenum">
              <a:rPr lang="en-US" altLang="fr-FR"/>
              <a:pPr>
                <a:spcBef>
                  <a:spcPct val="0"/>
                </a:spcBef>
              </a:pPr>
              <a:t>22</a:t>
            </a:fld>
            <a:endParaRPr lang="en-US" altLang="fr-FR"/>
          </a:p>
        </p:txBody>
      </p:sp>
    </p:spTree>
    <p:extLst>
      <p:ext uri="{BB962C8B-B14F-4D97-AF65-F5344CB8AC3E}">
        <p14:creationId xmlns:p14="http://schemas.microsoft.com/office/powerpoint/2010/main" val="3945481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79B78F-9565-464E-931C-58E1BA21E950}" type="slidenum">
              <a:rPr lang="en-US" altLang="fr-FR"/>
              <a:pPr>
                <a:spcBef>
                  <a:spcPct val="0"/>
                </a:spcBef>
              </a:pPr>
              <a:t>23</a:t>
            </a:fld>
            <a:endParaRPr lang="en-US" altLang="fr-F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575171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C836CC2-6425-4913-AB35-80CA00E51353}" type="slidenum">
              <a:rPr lang="en-US" altLang="fr-FR"/>
              <a:pPr>
                <a:spcBef>
                  <a:spcPct val="0"/>
                </a:spcBef>
              </a:pPr>
              <a:t>24</a:t>
            </a:fld>
            <a:endParaRPr lang="en-US" altLang="fr-F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4663488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2AB86-D70A-4F7A-BCD4-26E72186E800}" type="slidenum">
              <a:rPr lang="en-US" altLang="fr-FR"/>
              <a:pPr>
                <a:spcBef>
                  <a:spcPct val="0"/>
                </a:spcBef>
              </a:pPr>
              <a:t>25</a:t>
            </a:fld>
            <a:endParaRPr lang="en-US" altLang="fr-F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4204615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E2AD61-852D-4B53-A09B-F56F92053C24}" type="slidenum">
              <a:rPr lang="en-US" altLang="fr-FR"/>
              <a:pPr>
                <a:spcBef>
                  <a:spcPct val="0"/>
                </a:spcBef>
              </a:pPr>
              <a:t>26</a:t>
            </a:fld>
            <a:endParaRPr lang="en-US" altLang="fr-F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733418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D989A19-F1E9-43D6-8392-9CA06FA53829}" type="slidenum">
              <a:rPr lang="en-US" altLang="fr-FR"/>
              <a:pPr>
                <a:spcBef>
                  <a:spcPct val="0"/>
                </a:spcBef>
              </a:pPr>
              <a:t>27</a:t>
            </a:fld>
            <a:endParaRPr lang="en-US" altLang="fr-F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4223092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E96152-A382-4E45-A87F-32C459226AE2}" type="slidenum">
              <a:rPr lang="en-US" altLang="fr-FR"/>
              <a:pPr>
                <a:spcBef>
                  <a:spcPct val="0"/>
                </a:spcBef>
              </a:pPr>
              <a:t>28</a:t>
            </a:fld>
            <a:endParaRPr lang="en-US" altLang="fr-F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09749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9" name="Titr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a:t>Cliquez pour modifier le style du titre</a:t>
            </a:r>
            <a:endParaRPr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a:t>Cliquez pour modifier le style des sous-titres du masque</a:t>
            </a:r>
            <a:endParaRPr lang="en-US"/>
          </a:p>
        </p:txBody>
      </p:sp>
      <p:sp>
        <p:nvSpPr>
          <p:cNvPr id="6" name="Espace réservé de la date 29"/>
          <p:cNvSpPr>
            <a:spLocks noGrp="1"/>
          </p:cNvSpPr>
          <p:nvPr>
            <p:ph type="dt" sz="half" idx="10"/>
          </p:nvPr>
        </p:nvSpPr>
        <p:spPr/>
        <p:txBody>
          <a:bodyPr/>
          <a:lstStyle>
            <a:lvl1pPr>
              <a:defRPr/>
            </a:lvl1pPr>
          </a:lstStyle>
          <a:p>
            <a:pPr>
              <a:defRPr/>
            </a:pPr>
            <a:endParaRPr lang="en-US"/>
          </a:p>
        </p:txBody>
      </p:sp>
      <p:sp>
        <p:nvSpPr>
          <p:cNvPr id="7" name="Espace réservé du pied de page 18"/>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26"/>
          <p:cNvSpPr>
            <a:spLocks noGrp="1"/>
          </p:cNvSpPr>
          <p:nvPr>
            <p:ph type="sldNum" sz="quarter" idx="12"/>
          </p:nvPr>
        </p:nvSpPr>
        <p:spPr/>
        <p:txBody>
          <a:bodyPr/>
          <a:lstStyle>
            <a:lvl1pPr>
              <a:defRPr smtClean="0"/>
            </a:lvl1pPr>
          </a:lstStyle>
          <a:p>
            <a:pPr>
              <a:defRPr/>
            </a:pPr>
            <a:fld id="{FE6F1B31-C1BD-460B-8DFE-62BF6FFF9229}" type="slidenum">
              <a:rPr lang="en-US" altLang="fr-FR"/>
              <a:pPr>
                <a:defRPr/>
              </a:pPr>
              <a:t>‹#›</a:t>
            </a:fld>
            <a:endParaRPr lang="en-US" altLang="fr-FR"/>
          </a:p>
        </p:txBody>
      </p:sp>
    </p:spTree>
    <p:extLst>
      <p:ext uri="{BB962C8B-B14F-4D97-AF65-F5344CB8AC3E}">
        <p14:creationId xmlns:p14="http://schemas.microsoft.com/office/powerpoint/2010/main" val="423244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lang="fr-FR"/>
              <a:t>Cliquez pour modifier le style du titre</a:t>
            </a:r>
            <a:endParaRPr lang="en-US"/>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5E10157E-CE96-41DC-9694-A2D66CED317E}" type="slidenum">
              <a:rPr lang="en-US" altLang="fr-FR"/>
              <a:pPr>
                <a:defRPr/>
              </a:pPr>
              <a:t>‹#›</a:t>
            </a:fld>
            <a:endParaRPr lang="en-US" altLang="fr-FR"/>
          </a:p>
        </p:txBody>
      </p:sp>
    </p:spTree>
    <p:extLst>
      <p:ext uri="{BB962C8B-B14F-4D97-AF65-F5344CB8AC3E}">
        <p14:creationId xmlns:p14="http://schemas.microsoft.com/office/powerpoint/2010/main" val="41353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a:t>Cliquez pour modifier le style du titre</a:t>
            </a:r>
            <a:endParaRPr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a:t>Cliquez pour modifier les styles du texte du masque</a:t>
            </a:r>
          </a:p>
        </p:txBody>
      </p:sp>
      <p:sp>
        <p:nvSpPr>
          <p:cNvPr id="6" name="Espace réservé de la date 3"/>
          <p:cNvSpPr>
            <a:spLocks noGrp="1"/>
          </p:cNvSpPr>
          <p:nvPr>
            <p:ph type="dt" sz="half" idx="10"/>
          </p:nvPr>
        </p:nvSpPr>
        <p:spPr/>
        <p:txBody>
          <a:bodyPr/>
          <a:lstStyle>
            <a:lvl1pPr>
              <a:defRPr/>
            </a:lvl1pPr>
          </a:lstStyle>
          <a:p>
            <a:pPr>
              <a:defRPr/>
            </a:pPr>
            <a:endParaRPr lang="en-US"/>
          </a:p>
        </p:txBody>
      </p:sp>
      <p:sp>
        <p:nvSpPr>
          <p:cNvPr id="7" name="Espace réservé du pied de page 4"/>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5"/>
          <p:cNvSpPr>
            <a:spLocks noGrp="1"/>
          </p:cNvSpPr>
          <p:nvPr>
            <p:ph type="sldNum" sz="quarter" idx="12"/>
          </p:nvPr>
        </p:nvSpPr>
        <p:spPr/>
        <p:txBody>
          <a:bodyPr/>
          <a:lstStyle>
            <a:lvl1pPr>
              <a:defRPr smtClean="0"/>
            </a:lvl1pPr>
          </a:lstStyle>
          <a:p>
            <a:pPr>
              <a:defRPr/>
            </a:pPr>
            <a:fld id="{DAEE3183-C548-4CA9-B721-B4E01355CD34}" type="slidenum">
              <a:rPr lang="en-US" altLang="fr-FR"/>
              <a:pPr>
                <a:defRPr/>
              </a:pPr>
              <a:t>‹#›</a:t>
            </a:fld>
            <a:endParaRPr lang="en-US" altLang="fr-FR"/>
          </a:p>
        </p:txBody>
      </p:sp>
    </p:spTree>
    <p:extLst>
      <p:ext uri="{BB962C8B-B14F-4D97-AF65-F5344CB8AC3E}">
        <p14:creationId xmlns:p14="http://schemas.microsoft.com/office/powerpoint/2010/main" val="296588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lang="fr-FR"/>
              <a:t>Cliquez pour modifier le style du titre</a:t>
            </a:r>
            <a:endParaRPr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60F74F6C-95CE-4D72-ADAB-C675903B11C1}" type="slidenum">
              <a:rPr lang="en-US" altLang="fr-FR"/>
              <a:pPr>
                <a:defRPr/>
              </a:pPr>
              <a:t>‹#›</a:t>
            </a:fld>
            <a:endParaRPr lang="en-US" altLang="fr-FR"/>
          </a:p>
        </p:txBody>
      </p:sp>
    </p:spTree>
    <p:extLst>
      <p:ext uri="{BB962C8B-B14F-4D97-AF65-F5344CB8AC3E}">
        <p14:creationId xmlns:p14="http://schemas.microsoft.com/office/powerpoint/2010/main" val="10298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lstStyle>
            <a:lvl1pPr>
              <a:defRPr/>
            </a:lvl1pPr>
          </a:lstStyle>
          <a:p>
            <a:r>
              <a:rPr lang="fr-FR"/>
              <a:t>Cliquez pour modifier le style du titre</a:t>
            </a:r>
            <a:endParaRPr lang="en-US"/>
          </a:p>
        </p:txBody>
      </p:sp>
      <p:sp>
        <p:nvSpPr>
          <p:cNvPr id="3" name="Espace réservé du texte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9"/>
          <p:cNvSpPr>
            <a:spLocks noGrp="1"/>
          </p:cNvSpPr>
          <p:nvPr>
            <p:ph type="dt" sz="half" idx="10"/>
          </p:nvPr>
        </p:nvSpPr>
        <p:spPr/>
        <p:txBody>
          <a:bodyPr/>
          <a:lstStyle>
            <a:lvl1pPr>
              <a:defRPr/>
            </a:lvl1pPr>
          </a:lstStyle>
          <a:p>
            <a:pPr>
              <a:defRPr/>
            </a:pPr>
            <a:endParaRPr lang="en-US"/>
          </a:p>
        </p:txBody>
      </p:sp>
      <p:sp>
        <p:nvSpPr>
          <p:cNvPr id="8"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9" name="Espace réservé du numéro de diapositive 17"/>
          <p:cNvSpPr>
            <a:spLocks noGrp="1"/>
          </p:cNvSpPr>
          <p:nvPr>
            <p:ph type="sldNum" sz="quarter" idx="12"/>
          </p:nvPr>
        </p:nvSpPr>
        <p:spPr/>
        <p:txBody>
          <a:bodyPr/>
          <a:lstStyle>
            <a:lvl1pPr>
              <a:defRPr/>
            </a:lvl1pPr>
          </a:lstStyle>
          <a:p>
            <a:pPr>
              <a:defRPr/>
            </a:pPr>
            <a:fld id="{61615275-0BDA-4653-9575-80C8EDC29E66}" type="slidenum">
              <a:rPr lang="en-US" altLang="fr-FR"/>
              <a:pPr>
                <a:defRPr/>
              </a:pPr>
              <a:t>‹#›</a:t>
            </a:fld>
            <a:endParaRPr lang="en-US" altLang="fr-FR"/>
          </a:p>
        </p:txBody>
      </p:sp>
    </p:spTree>
    <p:extLst>
      <p:ext uri="{BB962C8B-B14F-4D97-AF65-F5344CB8AC3E}">
        <p14:creationId xmlns:p14="http://schemas.microsoft.com/office/powerpoint/2010/main" val="106574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lstStyle>
            <a:lvl1pPr algn="l">
              <a:defRPr sz="4600"/>
            </a:lvl1pPr>
          </a:lstStyle>
          <a:p>
            <a:r>
              <a:rPr lang="fr-FR"/>
              <a:t>Cliquez pour modifier le style du titre</a:t>
            </a:r>
            <a:endParaRPr lang="en-US"/>
          </a:p>
        </p:txBody>
      </p:sp>
      <p:sp>
        <p:nvSpPr>
          <p:cNvPr id="3" name="Espace réservé de la date 9"/>
          <p:cNvSpPr>
            <a:spLocks noGrp="1"/>
          </p:cNvSpPr>
          <p:nvPr>
            <p:ph type="dt" sz="half" idx="10"/>
          </p:nvPr>
        </p:nvSpPr>
        <p:spPr/>
        <p:txBody>
          <a:bodyPr/>
          <a:lstStyle>
            <a:lvl1pPr>
              <a:defRPr/>
            </a:lvl1pPr>
          </a:lstStyle>
          <a:p>
            <a:pPr>
              <a:defRPr/>
            </a:pPr>
            <a:endParaRPr lang="en-US"/>
          </a:p>
        </p:txBody>
      </p:sp>
      <p:sp>
        <p:nvSpPr>
          <p:cNvPr id="4"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5" name="Espace réservé du numéro de diapositive 17"/>
          <p:cNvSpPr>
            <a:spLocks noGrp="1"/>
          </p:cNvSpPr>
          <p:nvPr>
            <p:ph type="sldNum" sz="quarter" idx="12"/>
          </p:nvPr>
        </p:nvSpPr>
        <p:spPr/>
        <p:txBody>
          <a:bodyPr/>
          <a:lstStyle>
            <a:lvl1pPr>
              <a:defRPr/>
            </a:lvl1pPr>
          </a:lstStyle>
          <a:p>
            <a:pPr>
              <a:defRPr/>
            </a:pPr>
            <a:fld id="{259BAC0D-3F57-4931-B53E-46D163BB20D6}" type="slidenum">
              <a:rPr lang="en-US" altLang="fr-FR"/>
              <a:pPr>
                <a:defRPr/>
              </a:pPr>
              <a:t>‹#›</a:t>
            </a:fld>
            <a:endParaRPr lang="en-US" altLang="fr-FR"/>
          </a:p>
        </p:txBody>
      </p:sp>
    </p:spTree>
    <p:extLst>
      <p:ext uri="{BB962C8B-B14F-4D97-AF65-F5344CB8AC3E}">
        <p14:creationId xmlns:p14="http://schemas.microsoft.com/office/powerpoint/2010/main" val="152022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9"/>
          <p:cNvSpPr>
            <a:spLocks noGrp="1"/>
          </p:cNvSpPr>
          <p:nvPr>
            <p:ph type="dt" sz="half" idx="10"/>
          </p:nvPr>
        </p:nvSpPr>
        <p:spPr/>
        <p:txBody>
          <a:bodyPr/>
          <a:lstStyle>
            <a:lvl1pPr>
              <a:defRPr/>
            </a:lvl1pPr>
          </a:lstStyle>
          <a:p>
            <a:pPr>
              <a:defRPr/>
            </a:pPr>
            <a:endParaRPr lang="en-US"/>
          </a:p>
        </p:txBody>
      </p:sp>
      <p:sp>
        <p:nvSpPr>
          <p:cNvPr id="3"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4" name="Espace réservé du numéro de diapositive 17"/>
          <p:cNvSpPr>
            <a:spLocks noGrp="1"/>
          </p:cNvSpPr>
          <p:nvPr>
            <p:ph type="sldNum" sz="quarter" idx="12"/>
          </p:nvPr>
        </p:nvSpPr>
        <p:spPr/>
        <p:txBody>
          <a:bodyPr/>
          <a:lstStyle>
            <a:lvl1pPr>
              <a:defRPr/>
            </a:lvl1pPr>
          </a:lstStyle>
          <a:p>
            <a:pPr>
              <a:defRPr/>
            </a:pPr>
            <a:fld id="{9CB1655F-D14C-44F4-9E47-7A6E41570238}" type="slidenum">
              <a:rPr lang="en-US" altLang="fr-FR"/>
              <a:pPr>
                <a:defRPr/>
              </a:pPr>
              <a:t>‹#›</a:t>
            </a:fld>
            <a:endParaRPr lang="en-US" altLang="fr-FR"/>
          </a:p>
        </p:txBody>
      </p:sp>
    </p:spTree>
    <p:extLst>
      <p:ext uri="{BB962C8B-B14F-4D97-AF65-F5344CB8AC3E}">
        <p14:creationId xmlns:p14="http://schemas.microsoft.com/office/powerpoint/2010/main" val="1872894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fr-FR"/>
              <a:t>Cliquez pour modifier le style du titre</a:t>
            </a:r>
            <a:endParaRPr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fr-FR"/>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endParaRPr lang="en-US"/>
          </a:p>
        </p:txBody>
      </p:sp>
      <p:sp>
        <p:nvSpPr>
          <p:cNvPr id="6" name="Espace réservé du pied de page 5"/>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7" name="Espace réservé du numéro de diapositive 6"/>
          <p:cNvSpPr>
            <a:spLocks noGrp="1"/>
          </p:cNvSpPr>
          <p:nvPr>
            <p:ph type="sldNum" sz="quarter" idx="12"/>
          </p:nvPr>
        </p:nvSpPr>
        <p:spPr>
          <a:xfrm>
            <a:off x="8156575" y="6421438"/>
            <a:ext cx="762000" cy="365125"/>
          </a:xfrm>
        </p:spPr>
        <p:txBody>
          <a:bodyPr/>
          <a:lstStyle>
            <a:lvl1pPr>
              <a:defRPr smtClean="0"/>
            </a:lvl1pPr>
          </a:lstStyle>
          <a:p>
            <a:pPr>
              <a:defRPr/>
            </a:pPr>
            <a:fld id="{C5EBC5CA-A7C6-4DEA-97FB-A1B526FD0A24}" type="slidenum">
              <a:rPr lang="en-US" altLang="fr-FR"/>
              <a:pPr>
                <a:defRPr/>
              </a:pPr>
              <a:t>‹#›</a:t>
            </a:fld>
            <a:endParaRPr lang="en-US" altLang="fr-FR"/>
          </a:p>
        </p:txBody>
      </p:sp>
    </p:spTree>
    <p:extLst>
      <p:ext uri="{BB962C8B-B14F-4D97-AF65-F5344CB8AC3E}">
        <p14:creationId xmlns:p14="http://schemas.microsoft.com/office/powerpoint/2010/main" val="1861975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fr-FR"/>
              <a:t>Cliquez pour modifier le style du titre</a:t>
            </a:r>
            <a:endParaRPr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fr-FR" noProof="0"/>
              <a:t>Cliquez sur l'icône pour ajouter une image</a:t>
            </a:r>
            <a:endParaRPr lang="en-US" noProof="0"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fr-FR"/>
              <a:t>Cliquez pour modifier les styles du texte du masque</a:t>
            </a:r>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93C0FEC7-5E2D-484F-8B46-3C71F2B4A7DA}" type="slidenum">
              <a:rPr lang="en-US" altLang="fr-FR"/>
              <a:pPr>
                <a:defRPr/>
              </a:pPr>
              <a:t>‹#›</a:t>
            </a:fld>
            <a:endParaRPr lang="en-US" altLang="fr-FR"/>
          </a:p>
        </p:txBody>
      </p:sp>
    </p:spTree>
    <p:extLst>
      <p:ext uri="{BB962C8B-B14F-4D97-AF65-F5344CB8AC3E}">
        <p14:creationId xmlns:p14="http://schemas.microsoft.com/office/powerpoint/2010/main" val="118470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85D103FC-4823-4A47-9251-EAA19161FDAB}" type="slidenum">
              <a:rPr lang="en-US" altLang="fr-FR"/>
              <a:pPr>
                <a:defRPr/>
              </a:pPr>
              <a:t>‹#›</a:t>
            </a:fld>
            <a:endParaRPr lang="en-US" altLang="fr-FR"/>
          </a:p>
        </p:txBody>
      </p:sp>
    </p:spTree>
    <p:extLst>
      <p:ext uri="{BB962C8B-B14F-4D97-AF65-F5344CB8AC3E}">
        <p14:creationId xmlns:p14="http://schemas.microsoft.com/office/powerpoint/2010/main" val="460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B62A23C4-EB8F-499C-BE44-B38F6F899CC3}" type="slidenum">
              <a:rPr lang="en-US" altLang="fr-FR"/>
              <a:pPr>
                <a:defRPr/>
              </a:pPr>
              <a:t>‹#›</a:t>
            </a:fld>
            <a:endParaRPr lang="en-US" altLang="fr-FR"/>
          </a:p>
        </p:txBody>
      </p:sp>
    </p:spTree>
    <p:extLst>
      <p:ext uri="{BB962C8B-B14F-4D97-AF65-F5344CB8AC3E}">
        <p14:creationId xmlns:p14="http://schemas.microsoft.com/office/powerpoint/2010/main" val="2600664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2" name="Forme libre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1028" name="Espace réservé du titre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fr-FR" altLang="fr-FR"/>
              <a:t>Cliquez pour modifier le style du titre</a:t>
            </a:r>
            <a:endParaRPr lang="en-US" altLang="fr-FR"/>
          </a:p>
        </p:txBody>
      </p:sp>
      <p:sp>
        <p:nvSpPr>
          <p:cNvPr id="1029" name="Espace réservé du texte 29"/>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en-US" altLang="fr-FR"/>
          </a:p>
        </p:txBody>
      </p:sp>
      <p:sp>
        <p:nvSpPr>
          <p:cNvPr id="10" name="Espace réservé de la date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latin typeface="Arial" pitchFamily="34" charset="0"/>
                <a:cs typeface="Arial" pitchFamily="34" charset="0"/>
              </a:defRPr>
            </a:lvl1pPr>
          </a:lstStyle>
          <a:p>
            <a:pPr>
              <a:defRPr/>
            </a:pPr>
            <a:endParaRPr lang="en-US"/>
          </a:p>
        </p:txBody>
      </p:sp>
      <p:sp>
        <p:nvSpPr>
          <p:cNvPr id="22" name="Espace réservé du pied de page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smtClean="0">
                <a:solidFill>
                  <a:schemeClr val="tx2">
                    <a:shade val="50000"/>
                  </a:schemeClr>
                </a:solidFill>
                <a:latin typeface="Arial" pitchFamily="34" charset="0"/>
                <a:cs typeface="Arial" pitchFamily="34" charset="0"/>
              </a:defRPr>
            </a:lvl1pPr>
          </a:lstStyle>
          <a:p>
            <a:pPr>
              <a:defRPr/>
            </a:pPr>
            <a:r>
              <a:rPr lang="en-US"/>
              <a:t>Commande des machines Mach asyn   Ali NEJMI</a:t>
            </a:r>
          </a:p>
        </p:txBody>
      </p:sp>
      <p:sp>
        <p:nvSpPr>
          <p:cNvPr id="18" name="Espace réservé du numéro de diapositive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smtClean="0">
                <a:solidFill>
                  <a:srgbClr val="292929"/>
                </a:solidFill>
                <a:latin typeface="Arial" panose="020B0604020202020204" pitchFamily="34" charset="0"/>
                <a:cs typeface="Arial" panose="020B0604020202020204" pitchFamily="34" charset="0"/>
              </a:defRPr>
            </a:lvl1pPr>
          </a:lstStyle>
          <a:p>
            <a:pPr>
              <a:defRPr/>
            </a:pPr>
            <a:fld id="{8190C74C-B9D8-47DD-A058-8CC26F08CC7D}" type="slidenum">
              <a:rPr lang="en-US" altLang="fr-FR"/>
              <a:pPr>
                <a:defRPr/>
              </a:pPr>
              <a:t>‹#›</a:t>
            </a:fld>
            <a:endParaRPr lang="en-US" altLang="fr-FR"/>
          </a:p>
        </p:txBody>
      </p:sp>
    </p:spTree>
  </p:cSld>
  <p:clrMap bg1="lt1" tx1="dk1" bg2="lt2" tx2="dk2" accent1="accent1" accent2="accent2" accent3="accent3" accent4="accent4" accent5="accent5" accent6="accent6" hlink="hlink" folHlink="folHlink"/>
  <p:sldLayoutIdLst>
    <p:sldLayoutId id="2147484191" r:id="rId1"/>
    <p:sldLayoutId id="2147484183" r:id="rId2"/>
    <p:sldLayoutId id="2147484192" r:id="rId3"/>
    <p:sldLayoutId id="2147484184" r:id="rId4"/>
    <p:sldLayoutId id="2147484185" r:id="rId5"/>
    <p:sldLayoutId id="2147484186" r:id="rId6"/>
    <p:sldLayoutId id="2147484187" r:id="rId7"/>
    <p:sldLayoutId id="2147484193" r:id="rId8"/>
    <p:sldLayoutId id="2147484188" r:id="rId9"/>
    <p:sldLayoutId id="2147484189" r:id="rId10"/>
    <p:sldLayoutId id="2147484190" r:id="rId11"/>
  </p:sldLayoutIdLst>
  <p:hf hdr="0" dt="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Lucida Sans" pitchFamily="34" charset="0"/>
        </a:defRPr>
      </a:lvl2pPr>
      <a:lvl3pPr algn="l" rtl="0" eaLnBrk="0" fontAlgn="base" hangingPunct="0">
        <a:spcBef>
          <a:spcPct val="0"/>
        </a:spcBef>
        <a:spcAft>
          <a:spcPct val="0"/>
        </a:spcAft>
        <a:defRPr sz="4600">
          <a:solidFill>
            <a:schemeClr val="tx1"/>
          </a:solidFill>
          <a:latin typeface="Lucida Sans" pitchFamily="34" charset="0"/>
        </a:defRPr>
      </a:lvl3pPr>
      <a:lvl4pPr algn="l" rtl="0" eaLnBrk="0" fontAlgn="base" hangingPunct="0">
        <a:spcBef>
          <a:spcPct val="0"/>
        </a:spcBef>
        <a:spcAft>
          <a:spcPct val="0"/>
        </a:spcAft>
        <a:defRPr sz="4600">
          <a:solidFill>
            <a:schemeClr val="tx1"/>
          </a:solidFill>
          <a:latin typeface="Lucida Sans" pitchFamily="34" charset="0"/>
        </a:defRPr>
      </a:lvl4pPr>
      <a:lvl5pPr algn="l" rtl="0" eaLnBrk="0" fontAlgn="base" hangingPunct="0">
        <a:spcBef>
          <a:spcPct val="0"/>
        </a:spcBef>
        <a:spcAft>
          <a:spcPct val="0"/>
        </a:spcAft>
        <a:defRPr sz="4600">
          <a:solidFill>
            <a:schemeClr val="tx1"/>
          </a:solidFill>
          <a:latin typeface="Lucida Sans" pitchFamily="34" charset="0"/>
        </a:defRPr>
      </a:lvl5pPr>
      <a:lvl6pPr marL="457200" algn="l" rtl="0" fontAlgn="base">
        <a:spcBef>
          <a:spcPct val="0"/>
        </a:spcBef>
        <a:spcAft>
          <a:spcPct val="0"/>
        </a:spcAft>
        <a:defRPr sz="4600">
          <a:solidFill>
            <a:schemeClr val="tx1"/>
          </a:solidFill>
          <a:latin typeface="Lucida Sans" pitchFamily="34" charset="0"/>
        </a:defRPr>
      </a:lvl6pPr>
      <a:lvl7pPr marL="914400" algn="l" rtl="0" fontAlgn="base">
        <a:spcBef>
          <a:spcPct val="0"/>
        </a:spcBef>
        <a:spcAft>
          <a:spcPct val="0"/>
        </a:spcAft>
        <a:defRPr sz="4600">
          <a:solidFill>
            <a:schemeClr val="tx1"/>
          </a:solidFill>
          <a:latin typeface="Lucida Sans" pitchFamily="34" charset="0"/>
        </a:defRPr>
      </a:lvl7pPr>
      <a:lvl8pPr marL="1371600" algn="l" rtl="0" fontAlgn="base">
        <a:spcBef>
          <a:spcPct val="0"/>
        </a:spcBef>
        <a:spcAft>
          <a:spcPct val="0"/>
        </a:spcAft>
        <a:defRPr sz="4600">
          <a:solidFill>
            <a:schemeClr val="tx1"/>
          </a:solidFill>
          <a:latin typeface="Lucida Sans" pitchFamily="34" charset="0"/>
        </a:defRPr>
      </a:lvl8pPr>
      <a:lvl9pPr marL="1828800" algn="l" rtl="0" fontAlgn="base">
        <a:spcBef>
          <a:spcPct val="0"/>
        </a:spcBef>
        <a:spcAft>
          <a:spcPct val="0"/>
        </a:spcAft>
        <a:defRPr sz="4600">
          <a:solidFill>
            <a:schemeClr val="tx1"/>
          </a:solidFill>
          <a:latin typeface="Lucida Sans"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ejmi@yahoo.fr"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a.nejmi@fstbm.ac.m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7.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8.wmf"/><Relationship Id="rId4" Type="http://schemas.openxmlformats.org/officeDocument/2006/relationships/oleObject" Target="../embeddings/oleObject3.bin"/><Relationship Id="rId9" Type="http://schemas.openxmlformats.org/officeDocument/2006/relationships/image" Target="../media/image20.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847725" y="1822450"/>
            <a:ext cx="7772400" cy="1143000"/>
          </a:xfrm>
        </p:spPr>
        <p:txBody>
          <a:bodyPr/>
          <a:lstStyle/>
          <a:p>
            <a:pPr algn="ctr">
              <a:lnSpc>
                <a:spcPct val="80000"/>
              </a:lnSpc>
              <a:spcBef>
                <a:spcPct val="20000"/>
              </a:spcBef>
              <a:defRPr/>
            </a:pPr>
            <a:r>
              <a:rPr lang="en-US" sz="2000" b="1" dirty="0">
                <a:latin typeface="+mn-lt"/>
                <a:ea typeface="+mn-ea"/>
                <a:cs typeface="+mn-cs"/>
              </a:rPr>
              <a:t>MODULE 4</a:t>
            </a:r>
            <a:br>
              <a:rPr lang="en-US" sz="2000" b="1" dirty="0">
                <a:latin typeface="+mn-lt"/>
                <a:ea typeface="+mn-ea"/>
                <a:cs typeface="+mn-cs"/>
              </a:rPr>
            </a:br>
            <a:r>
              <a:rPr lang="en-US" sz="2000" b="1" dirty="0">
                <a:latin typeface="+mn-lt"/>
                <a:ea typeface="+mn-ea"/>
                <a:cs typeface="+mn-cs"/>
              </a:rPr>
              <a:t>Machine </a:t>
            </a:r>
            <a:r>
              <a:rPr lang="en-US" sz="2000" b="1" dirty="0" err="1">
                <a:latin typeface="+mn-lt"/>
                <a:ea typeface="+mn-ea"/>
                <a:cs typeface="+mn-cs"/>
              </a:rPr>
              <a:t>asynchrone</a:t>
            </a:r>
            <a:br>
              <a:rPr lang="en-US" sz="2000" b="1" dirty="0">
                <a:latin typeface="+mn-lt"/>
                <a:ea typeface="+mn-ea"/>
                <a:cs typeface="+mn-cs"/>
              </a:rPr>
            </a:br>
            <a:r>
              <a:rPr lang="en-US" sz="2000" b="1" dirty="0" err="1">
                <a:latin typeface="+mn-lt"/>
                <a:ea typeface="+mn-ea"/>
                <a:cs typeface="+mn-cs"/>
              </a:rPr>
              <a:t>Commande</a:t>
            </a:r>
            <a:r>
              <a:rPr lang="en-US" sz="2000" b="1" dirty="0">
                <a:latin typeface="+mn-lt"/>
                <a:ea typeface="+mn-ea"/>
                <a:cs typeface="+mn-cs"/>
              </a:rPr>
              <a:t> </a:t>
            </a:r>
            <a:r>
              <a:rPr lang="en-US" sz="2000" b="1" dirty="0" err="1">
                <a:latin typeface="+mn-lt"/>
                <a:ea typeface="+mn-ea"/>
                <a:cs typeface="+mn-cs"/>
              </a:rPr>
              <a:t>scalaire</a:t>
            </a:r>
            <a:r>
              <a:rPr lang="en-US" sz="2000" b="1" dirty="0">
                <a:latin typeface="+mn-lt"/>
                <a:ea typeface="+mn-ea"/>
                <a:cs typeface="+mn-cs"/>
              </a:rPr>
              <a:t> </a:t>
            </a:r>
            <a:br>
              <a:rPr lang="en-US" sz="2000" b="1" cap="small" dirty="0"/>
            </a:br>
            <a:endParaRPr lang="en-US" sz="2000" b="1" dirty="0"/>
          </a:p>
        </p:txBody>
      </p:sp>
      <p:sp>
        <p:nvSpPr>
          <p:cNvPr id="94211" name="Rectangle 4"/>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 name="Rectangle 2"/>
          <p:cNvSpPr txBox="1">
            <a:spLocks noChangeArrowheads="1"/>
          </p:cNvSpPr>
          <p:nvPr/>
        </p:nvSpPr>
        <p:spPr bwMode="auto">
          <a:xfrm>
            <a:off x="920700" y="1042738"/>
            <a:ext cx="7906468" cy="673768"/>
          </a:xfrm>
          <a:prstGeom prst="rect">
            <a:avLst/>
          </a:prstGeom>
          <a:noFill/>
          <a:ln w="9525">
            <a:noFill/>
            <a:miter lim="800000"/>
            <a:headEnd/>
            <a:tailEnd/>
          </a:ln>
        </p:spPr>
        <p:txBody>
          <a:bodyPr lIns="45720" rIns="45720" anchor="ctr"/>
          <a:lstStyle/>
          <a:p>
            <a:pPr algn="r">
              <a:defRPr/>
            </a:pPr>
            <a:r>
              <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Commande des machines </a:t>
            </a:r>
            <a:r>
              <a:rPr lang="fr-F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electriques</a:t>
            </a:r>
            <a:endPar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endParaRPr>
          </a:p>
        </p:txBody>
      </p:sp>
      <p:sp>
        <p:nvSpPr>
          <p:cNvPr id="94213" name="Rectangle 4"/>
          <p:cNvSpPr>
            <a:spLocks noChangeArrowheads="1"/>
          </p:cNvSpPr>
          <p:nvPr/>
        </p:nvSpPr>
        <p:spPr bwMode="auto">
          <a:xfrm>
            <a:off x="2071688" y="3595382"/>
            <a:ext cx="4572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lnSpc>
                <a:spcPct val="80000"/>
              </a:lnSpc>
              <a:spcBef>
                <a:spcPct val="0"/>
              </a:spcBef>
              <a:buClrTx/>
              <a:buSzTx/>
              <a:buFontTx/>
              <a:buNone/>
            </a:pPr>
            <a:r>
              <a:rPr lang="en-US" altLang="fr-FR" sz="1600" dirty="0">
                <a:latin typeface="Arial Narrow" panose="020B0606020202030204" pitchFamily="34" charset="0"/>
              </a:rPr>
              <a:t>Ali NEJMI</a:t>
            </a:r>
          </a:p>
          <a:p>
            <a:pPr algn="ctr" eaLnBrk="1" hangingPunct="1">
              <a:lnSpc>
                <a:spcPct val="80000"/>
              </a:lnSpc>
              <a:spcBef>
                <a:spcPct val="0"/>
              </a:spcBef>
              <a:buClrTx/>
              <a:buSzTx/>
              <a:buFontTx/>
              <a:buNone/>
            </a:pPr>
            <a:r>
              <a:rPr lang="en-US" altLang="fr-FR" sz="1600" dirty="0">
                <a:latin typeface="Arial Narrow" panose="020B0606020202030204" pitchFamily="34" charset="0"/>
              </a:rPr>
              <a:t>Version.2024</a:t>
            </a:r>
          </a:p>
        </p:txBody>
      </p:sp>
      <p:sp>
        <p:nvSpPr>
          <p:cNvPr id="94214" name="ZoneTexte 6"/>
          <p:cNvSpPr txBox="1">
            <a:spLocks noChangeArrowheads="1"/>
          </p:cNvSpPr>
          <p:nvPr/>
        </p:nvSpPr>
        <p:spPr bwMode="auto">
          <a:xfrm>
            <a:off x="547688" y="4724400"/>
            <a:ext cx="8077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a:buSzPct val="85000"/>
              <a:buFontTx/>
              <a:buNone/>
            </a:pPr>
            <a:r>
              <a:rPr lang="fr-FR" altLang="fr-FR" sz="1400" i="1">
                <a:solidFill>
                  <a:srgbClr val="FF0000"/>
                </a:solidFill>
                <a:latin typeface="Arial Narrow" panose="020B0606020202030204" pitchFamily="34" charset="0"/>
                <a:hlinkClick r:id="rId3"/>
              </a:rPr>
              <a:t>alinejmi@yahoo.fr</a:t>
            </a:r>
            <a:r>
              <a:rPr lang="fr-FR" altLang="fr-FR" sz="1400" i="1">
                <a:solidFill>
                  <a:srgbClr val="FF0000"/>
                </a:solidFill>
                <a:latin typeface="Arial Narrow" panose="020B0606020202030204" pitchFamily="34" charset="0"/>
              </a:rPr>
              <a:t>  (Email principal) ; </a:t>
            </a:r>
          </a:p>
          <a:p>
            <a:pPr algn="r">
              <a:buSzPct val="85000"/>
              <a:buFontTx/>
              <a:buNone/>
            </a:pPr>
            <a:r>
              <a:rPr lang="fr-FR" altLang="fr-FR" sz="1400" i="1">
                <a:solidFill>
                  <a:srgbClr val="FF0000"/>
                </a:solidFill>
                <a:latin typeface="Arial Narrow" panose="020B0606020202030204" pitchFamily="34" charset="0"/>
                <a:hlinkClick r:id="rId4"/>
              </a:rPr>
              <a:t>a.nejmi@fstbm.ac.ma</a:t>
            </a:r>
            <a:endParaRPr lang="fr-FR" altLang="fr-FR" sz="1400" i="1">
              <a:latin typeface="Arial Narrow" panose="020B0606020202030204" pitchFamily="34" charset="0"/>
            </a:endParaRPr>
          </a:p>
        </p:txBody>
      </p:sp>
      <p:sp>
        <p:nvSpPr>
          <p:cNvPr id="94215" name="Sous-titre 2"/>
          <p:cNvSpPr txBox="1">
            <a:spLocks/>
          </p:cNvSpPr>
          <p:nvPr/>
        </p:nvSpPr>
        <p:spPr bwMode="auto">
          <a:xfrm>
            <a:off x="319088" y="5562600"/>
            <a:ext cx="4038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Universté  Sultan  Moulay  Slimane</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Faculté  des  Sciences  et  Techniques,  Beni Mellal</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Filière  Ingénieur  en  Génie  Electrique</a:t>
            </a:r>
          </a:p>
          <a:p>
            <a:pPr eaLnBrk="1" hangingPunct="1">
              <a:buClrTx/>
              <a:buSzTx/>
              <a:buFont typeface="Arial" panose="020B0604020202020204" pitchFamily="34" charset="0"/>
              <a:buNone/>
            </a:pPr>
            <a:endParaRPr lang="fr-FR" altLang="fr-FR" sz="1400">
              <a:solidFill>
                <a:srgbClr val="FF0000"/>
              </a:solidFill>
              <a:latin typeface="Bradley Hand ITC" panose="03070402050302030203" pitchFamily="66" charset="0"/>
            </a:endParaRPr>
          </a:p>
        </p:txBody>
      </p:sp>
      <p:sp>
        <p:nvSpPr>
          <p:cNvPr id="94216"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F0227DD-AE2D-4DC8-8CDE-0B8F9F8ECC6A}" type="slidenum">
              <a:rPr lang="en-US" altLang="fr-FR" sz="1000">
                <a:solidFill>
                  <a:srgbClr val="292929"/>
                </a:solidFill>
                <a:latin typeface="Arial" panose="020B0604020202020204" pitchFamily="34" charset="0"/>
              </a:rPr>
              <a:pPr>
                <a:spcBef>
                  <a:spcPct val="0"/>
                </a:spcBef>
                <a:buClrTx/>
                <a:buSzTx/>
                <a:buFontTx/>
                <a:buNone/>
              </a:pPr>
              <a:t>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809625"/>
            <a:ext cx="8077200" cy="1143000"/>
          </a:xfrm>
        </p:spPr>
        <p:txBody>
          <a:bodyPr/>
          <a:lstStyle/>
          <a:p>
            <a:r>
              <a:rPr lang="en-US" altLang="fr-FR" sz="2400" b="1">
                <a:latin typeface="Arial Narrow" panose="020B0606020202030204" pitchFamily="34" charset="0"/>
              </a:rPr>
              <a:t>Commande scalaire de la machine asynchrone:</a:t>
            </a:r>
            <a:br>
              <a:rPr lang="en-US" altLang="fr-FR" sz="2400" b="1">
                <a:latin typeface="Arial Narrow" panose="020B0606020202030204" pitchFamily="34" charset="0"/>
              </a:rPr>
            </a:br>
            <a:br>
              <a:rPr lang="en-US" altLang="fr-FR" sz="2400" b="1">
                <a:latin typeface="Arial Narrow" panose="020B0606020202030204" pitchFamily="34" charset="0"/>
              </a:rPr>
            </a:br>
            <a:r>
              <a:rPr lang="en-US" altLang="fr-FR" sz="2000">
                <a:latin typeface="Arial Narrow" panose="020B0606020202030204" pitchFamily="34" charset="0"/>
              </a:rPr>
              <a:t> Commande basée sur le modèle en régime statique (schéma équivalent/phase):</a:t>
            </a:r>
          </a:p>
        </p:txBody>
      </p:sp>
      <p:sp>
        <p:nvSpPr>
          <p:cNvPr id="96259" name="Rectangle 4"/>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96260" name="Group 5"/>
          <p:cNvGrpSpPr>
            <a:grpSpLocks/>
          </p:cNvGrpSpPr>
          <p:nvPr/>
        </p:nvGrpSpPr>
        <p:grpSpPr bwMode="auto">
          <a:xfrm>
            <a:off x="1143000" y="2590800"/>
            <a:ext cx="7600950" cy="2584450"/>
            <a:chOff x="768" y="768"/>
            <a:chExt cx="4788" cy="1628"/>
          </a:xfrm>
        </p:grpSpPr>
        <p:pic>
          <p:nvPicPr>
            <p:cNvPr id="96263" name="Picture 6"/>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4" name="Text Box 7"/>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96265" name="Text Box 8"/>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96266" name="Text Box 9"/>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96267" name="Text Box 10"/>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96268" name="Text Box 11"/>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96269" name="Text Box 12"/>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96270" name="Line 13"/>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71" name="Text Box 14"/>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96272" name="Text Box 15"/>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96273" name="Line 16"/>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74" name="Line 17"/>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75" name="Text Box 18"/>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96276" name="Text Box 19"/>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96261" name="Espace réservé du numéro de diapositive 2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E84F09E-30FB-4242-8B79-6CEDACE756C9}" type="slidenum">
              <a:rPr lang="en-US" altLang="fr-FR" sz="1000">
                <a:solidFill>
                  <a:srgbClr val="292929"/>
                </a:solidFill>
                <a:latin typeface="Arial" panose="020B0604020202020204" pitchFamily="34" charset="0"/>
              </a:rPr>
              <a:pPr>
                <a:spcBef>
                  <a:spcPct val="0"/>
                </a:spcBef>
                <a:buClrTx/>
                <a:buSzTx/>
                <a:buFontTx/>
                <a:buNone/>
              </a:pPr>
              <a:t>2</a:t>
            </a:fld>
            <a:endParaRPr lang="en-US" altLang="fr-FR" sz="1000">
              <a:solidFill>
                <a:srgbClr val="292929"/>
              </a:solidFill>
              <a:latin typeface="Arial" panose="020B0604020202020204" pitchFamily="34" charset="0"/>
            </a:endParaRPr>
          </a:p>
        </p:txBody>
      </p:sp>
      <p:sp>
        <p:nvSpPr>
          <p:cNvPr id="24" name="Espace réservé du pied de page 23"/>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431800" y="333375"/>
            <a:ext cx="5770563" cy="406400"/>
          </a:xfrm>
        </p:spPr>
        <p:txBody>
          <a:bodyPr/>
          <a:lstStyle/>
          <a:p>
            <a:r>
              <a:rPr lang="en-US" altLang="fr-FR" sz="1800" b="1">
                <a:latin typeface="Arial Narrow" panose="020B0606020202030204" pitchFamily="34" charset="0"/>
              </a:rPr>
              <a:t>Commande scalaire de la machine à induction:</a:t>
            </a:r>
          </a:p>
        </p:txBody>
      </p:sp>
      <p:sp>
        <p:nvSpPr>
          <p:cNvPr id="98307"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98308" name="Line 112"/>
          <p:cNvSpPr>
            <a:spLocks noChangeAspect="1" noChangeShapeType="1"/>
          </p:cNvSpPr>
          <p:nvPr/>
        </p:nvSpPr>
        <p:spPr bwMode="auto">
          <a:xfrm flipV="1">
            <a:off x="1417638" y="1522413"/>
            <a:ext cx="9525" cy="36020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8309" name="Line 113"/>
          <p:cNvSpPr>
            <a:spLocks noChangeAspect="1" noChangeShapeType="1"/>
          </p:cNvSpPr>
          <p:nvPr/>
        </p:nvSpPr>
        <p:spPr bwMode="auto">
          <a:xfrm>
            <a:off x="1417638" y="5124450"/>
            <a:ext cx="515620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98310" name="Freeform 114"/>
          <p:cNvSpPr>
            <a:spLocks noChangeAspect="1"/>
          </p:cNvSpPr>
          <p:nvPr/>
        </p:nvSpPr>
        <p:spPr bwMode="auto">
          <a:xfrm>
            <a:off x="1411288" y="2163763"/>
            <a:ext cx="4203700" cy="2962275"/>
          </a:xfrm>
          <a:custGeom>
            <a:avLst/>
            <a:gdLst>
              <a:gd name="T0" fmla="*/ 0 w 7336"/>
              <a:gd name="T1" fmla="*/ 2147483646 h 5166"/>
              <a:gd name="T2" fmla="*/ 2147483646 w 7336"/>
              <a:gd name="T3" fmla="*/ 2147483646 h 5166"/>
              <a:gd name="T4" fmla="*/ 2147483646 w 7336"/>
              <a:gd name="T5" fmla="*/ 2147483646 h 5166"/>
              <a:gd name="T6" fmla="*/ 2147483646 w 7336"/>
              <a:gd name="T7" fmla="*/ 2147483646 h 5166"/>
              <a:gd name="T8" fmla="*/ 2147483646 w 7336"/>
              <a:gd name="T9" fmla="*/ 2147483646 h 5166"/>
              <a:gd name="T10" fmla="*/ 2147483646 w 7336"/>
              <a:gd name="T11" fmla="*/ 2147483646 h 5166"/>
              <a:gd name="T12" fmla="*/ 2147483646 w 7336"/>
              <a:gd name="T13" fmla="*/ 2147483646 h 5166"/>
              <a:gd name="T14" fmla="*/ 2147483646 w 7336"/>
              <a:gd name="T15" fmla="*/ 2147483646 h 5166"/>
              <a:gd name="T16" fmla="*/ 2147483646 w 7336"/>
              <a:gd name="T17" fmla="*/ 2147483646 h 5166"/>
              <a:gd name="T18" fmla="*/ 2147483646 w 7336"/>
              <a:gd name="T19" fmla="*/ 2147483646 h 5166"/>
              <a:gd name="T20" fmla="*/ 2147483646 w 7336"/>
              <a:gd name="T21" fmla="*/ 2147483646 h 5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336"/>
              <a:gd name="T34" fmla="*/ 0 h 5166"/>
              <a:gd name="T35" fmla="*/ 7336 w 7336"/>
              <a:gd name="T36" fmla="*/ 5166 h 5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336" h="5166">
                <a:moveTo>
                  <a:pt x="0" y="2310"/>
                </a:moveTo>
                <a:cubicBezTo>
                  <a:pt x="352" y="2387"/>
                  <a:pt x="705" y="2464"/>
                  <a:pt x="1120" y="2394"/>
                </a:cubicBezTo>
                <a:cubicBezTo>
                  <a:pt x="1535" y="2324"/>
                  <a:pt x="1911" y="2233"/>
                  <a:pt x="2492" y="1890"/>
                </a:cubicBezTo>
                <a:cubicBezTo>
                  <a:pt x="3073" y="1547"/>
                  <a:pt x="4144" y="646"/>
                  <a:pt x="4606" y="336"/>
                </a:cubicBezTo>
                <a:cubicBezTo>
                  <a:pt x="5068" y="26"/>
                  <a:pt x="5063" y="56"/>
                  <a:pt x="5264" y="28"/>
                </a:cubicBezTo>
                <a:cubicBezTo>
                  <a:pt x="5465" y="0"/>
                  <a:pt x="5700" y="131"/>
                  <a:pt x="5810" y="168"/>
                </a:cubicBezTo>
                <a:cubicBezTo>
                  <a:pt x="5920" y="205"/>
                  <a:pt x="5854" y="180"/>
                  <a:pt x="5922" y="252"/>
                </a:cubicBezTo>
                <a:cubicBezTo>
                  <a:pt x="5990" y="324"/>
                  <a:pt x="6125" y="446"/>
                  <a:pt x="6216" y="602"/>
                </a:cubicBezTo>
                <a:cubicBezTo>
                  <a:pt x="6307" y="758"/>
                  <a:pt x="6393" y="975"/>
                  <a:pt x="6468" y="1190"/>
                </a:cubicBezTo>
                <a:cubicBezTo>
                  <a:pt x="6543" y="1405"/>
                  <a:pt x="6519" y="1227"/>
                  <a:pt x="6664" y="1890"/>
                </a:cubicBezTo>
                <a:cubicBezTo>
                  <a:pt x="6809" y="2553"/>
                  <a:pt x="7072" y="3859"/>
                  <a:pt x="7336" y="5166"/>
                </a:cubicBez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8311" name="Line 117"/>
          <p:cNvSpPr>
            <a:spLocks noChangeAspect="1" noChangeShapeType="1"/>
          </p:cNvSpPr>
          <p:nvPr/>
        </p:nvSpPr>
        <p:spPr bwMode="auto">
          <a:xfrm flipH="1">
            <a:off x="1403350" y="2171700"/>
            <a:ext cx="30321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12" name="Line 118"/>
          <p:cNvSpPr>
            <a:spLocks noChangeAspect="1" noChangeShapeType="1"/>
          </p:cNvSpPr>
          <p:nvPr/>
        </p:nvSpPr>
        <p:spPr bwMode="auto">
          <a:xfrm flipH="1">
            <a:off x="1435100" y="5791200"/>
            <a:ext cx="4179888"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98313" name="Text Box 119"/>
          <p:cNvSpPr txBox="1">
            <a:spLocks noChangeAspect="1" noChangeArrowheads="1"/>
          </p:cNvSpPr>
          <p:nvPr/>
        </p:nvSpPr>
        <p:spPr bwMode="auto">
          <a:xfrm>
            <a:off x="6435725" y="4827588"/>
            <a:ext cx="7683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2000" baseline="-25000">
                <a:latin typeface="Arial Narrow" panose="020B0606020202030204" pitchFamily="34" charset="0"/>
              </a:rPr>
              <a:t>r</a:t>
            </a:r>
          </a:p>
        </p:txBody>
      </p:sp>
      <p:sp>
        <p:nvSpPr>
          <p:cNvPr id="98314" name="Text Box 120"/>
          <p:cNvSpPr txBox="1">
            <a:spLocks noChangeAspect="1" noChangeArrowheads="1"/>
          </p:cNvSpPr>
          <p:nvPr/>
        </p:nvSpPr>
        <p:spPr bwMode="auto">
          <a:xfrm>
            <a:off x="1112838" y="5180013"/>
            <a:ext cx="76993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s</a:t>
            </a:r>
            <a:endParaRPr lang="en-US" altLang="fr-FR" sz="2000" baseline="-25000">
              <a:latin typeface="Arial Narrow" panose="020B0606020202030204" pitchFamily="34" charset="0"/>
            </a:endParaRPr>
          </a:p>
        </p:txBody>
      </p:sp>
      <p:sp>
        <p:nvSpPr>
          <p:cNvPr id="98315" name="Text Box 121"/>
          <p:cNvSpPr txBox="1">
            <a:spLocks noChangeAspect="1" noChangeArrowheads="1"/>
          </p:cNvSpPr>
          <p:nvPr/>
        </p:nvSpPr>
        <p:spPr bwMode="auto">
          <a:xfrm>
            <a:off x="569913" y="3565525"/>
            <a:ext cx="10604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n</a:t>
            </a:r>
          </a:p>
        </p:txBody>
      </p:sp>
      <p:sp>
        <p:nvSpPr>
          <p:cNvPr id="98316" name="Text Box 122"/>
          <p:cNvSpPr txBox="1">
            <a:spLocks noChangeAspect="1" noChangeArrowheads="1"/>
          </p:cNvSpPr>
          <p:nvPr/>
        </p:nvSpPr>
        <p:spPr bwMode="auto">
          <a:xfrm>
            <a:off x="533400" y="1925638"/>
            <a:ext cx="144780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max</a:t>
            </a:r>
          </a:p>
        </p:txBody>
      </p:sp>
      <p:sp>
        <p:nvSpPr>
          <p:cNvPr id="98317" name="Text Box 123"/>
          <p:cNvSpPr txBox="1">
            <a:spLocks noChangeAspect="1" noChangeArrowheads="1"/>
          </p:cNvSpPr>
          <p:nvPr/>
        </p:nvSpPr>
        <p:spPr bwMode="auto">
          <a:xfrm>
            <a:off x="911225" y="1295400"/>
            <a:ext cx="769938"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e</a:t>
            </a:r>
          </a:p>
        </p:txBody>
      </p:sp>
      <p:sp>
        <p:nvSpPr>
          <p:cNvPr id="98318" name="Text Box 124"/>
          <p:cNvSpPr txBox="1">
            <a:spLocks noChangeAspect="1" noChangeArrowheads="1"/>
          </p:cNvSpPr>
          <p:nvPr/>
        </p:nvSpPr>
        <p:spPr bwMode="auto">
          <a:xfrm>
            <a:off x="5638800" y="5019675"/>
            <a:ext cx="6096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s</a:t>
            </a:r>
          </a:p>
        </p:txBody>
      </p:sp>
      <p:sp>
        <p:nvSpPr>
          <p:cNvPr id="98319" name="Line 125"/>
          <p:cNvSpPr>
            <a:spLocks noChangeAspect="1" noChangeShapeType="1"/>
          </p:cNvSpPr>
          <p:nvPr/>
        </p:nvSpPr>
        <p:spPr bwMode="auto">
          <a:xfrm>
            <a:off x="5638800" y="5105400"/>
            <a:ext cx="0" cy="919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131"/>
          <p:cNvGrpSpPr>
            <a:grpSpLocks/>
          </p:cNvGrpSpPr>
          <p:nvPr/>
        </p:nvGrpSpPr>
        <p:grpSpPr bwMode="auto">
          <a:xfrm>
            <a:off x="1411288" y="2209800"/>
            <a:ext cx="4227512" cy="3438525"/>
            <a:chOff x="889" y="1392"/>
            <a:chExt cx="2663" cy="2166"/>
          </a:xfrm>
        </p:grpSpPr>
        <p:sp>
          <p:nvSpPr>
            <p:cNvPr id="98334" name="Line 115"/>
            <p:cNvSpPr>
              <a:spLocks noChangeAspect="1" noChangeShapeType="1"/>
            </p:cNvSpPr>
            <p:nvPr/>
          </p:nvSpPr>
          <p:spPr bwMode="auto">
            <a:xfrm>
              <a:off x="889" y="2410"/>
              <a:ext cx="247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5" name="Line 116"/>
            <p:cNvSpPr>
              <a:spLocks noChangeAspect="1" noChangeShapeType="1"/>
            </p:cNvSpPr>
            <p:nvPr/>
          </p:nvSpPr>
          <p:spPr bwMode="auto">
            <a:xfrm>
              <a:off x="3365" y="2410"/>
              <a:ext cx="0" cy="81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6" name="Line 128"/>
            <p:cNvSpPr>
              <a:spLocks noChangeShapeType="1"/>
            </p:cNvSpPr>
            <p:nvPr/>
          </p:nvSpPr>
          <p:spPr bwMode="auto">
            <a:xfrm>
              <a:off x="2832" y="1392"/>
              <a:ext cx="0" cy="192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7" name="Text Box 129"/>
            <p:cNvSpPr txBox="1">
              <a:spLocks noChangeArrowheads="1"/>
            </p:cNvSpPr>
            <p:nvPr/>
          </p:nvSpPr>
          <p:spPr bwMode="auto">
            <a:xfrm>
              <a:off x="2726" y="3194"/>
              <a:ext cx="2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s</a:t>
              </a:r>
              <a:r>
                <a:rPr lang="en-US" altLang="fr-FR" sz="2400" baseline="-25000">
                  <a:latin typeface="Arial Narrow" panose="020B0606020202030204" pitchFamily="34" charset="0"/>
                </a:rPr>
                <a:t>m</a:t>
              </a:r>
              <a:endParaRPr lang="en-US" altLang="fr-FR" sz="2400">
                <a:latin typeface="Arial Narrow" panose="020B0606020202030204" pitchFamily="34" charset="0"/>
              </a:endParaRPr>
            </a:p>
          </p:txBody>
        </p:sp>
        <p:sp>
          <p:nvSpPr>
            <p:cNvPr id="98338" name="Text Box 130"/>
            <p:cNvSpPr txBox="1">
              <a:spLocks noChangeAspect="1" noChangeArrowheads="1"/>
            </p:cNvSpPr>
            <p:nvPr/>
          </p:nvSpPr>
          <p:spPr bwMode="auto">
            <a:xfrm>
              <a:off x="3168" y="3168"/>
              <a:ext cx="384"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n</a:t>
              </a:r>
            </a:p>
          </p:txBody>
        </p:sp>
      </p:grpSp>
      <p:grpSp>
        <p:nvGrpSpPr>
          <p:cNvPr id="3" name="Group 145"/>
          <p:cNvGrpSpPr>
            <a:grpSpLocks/>
          </p:cNvGrpSpPr>
          <p:nvPr/>
        </p:nvGrpSpPr>
        <p:grpSpPr bwMode="auto">
          <a:xfrm>
            <a:off x="1371600" y="2247900"/>
            <a:ext cx="7467600" cy="3400425"/>
            <a:chOff x="864" y="1416"/>
            <a:chExt cx="4704" cy="2142"/>
          </a:xfrm>
        </p:grpSpPr>
        <p:grpSp>
          <p:nvGrpSpPr>
            <p:cNvPr id="98324" name="Group 143"/>
            <p:cNvGrpSpPr>
              <a:grpSpLocks/>
            </p:cNvGrpSpPr>
            <p:nvPr/>
          </p:nvGrpSpPr>
          <p:grpSpPr bwMode="auto">
            <a:xfrm>
              <a:off x="864" y="1416"/>
              <a:ext cx="4704" cy="2142"/>
              <a:chOff x="864" y="1416"/>
              <a:chExt cx="4704" cy="2142"/>
            </a:xfrm>
          </p:grpSpPr>
          <p:grpSp>
            <p:nvGrpSpPr>
              <p:cNvPr id="98326" name="Group 138"/>
              <p:cNvGrpSpPr>
                <a:grpSpLocks/>
              </p:cNvGrpSpPr>
              <p:nvPr/>
            </p:nvGrpSpPr>
            <p:grpSpPr bwMode="auto">
              <a:xfrm>
                <a:off x="864" y="2184"/>
                <a:ext cx="3373" cy="1374"/>
                <a:chOff x="864" y="2184"/>
                <a:chExt cx="3373" cy="1374"/>
              </a:xfrm>
            </p:grpSpPr>
            <p:sp>
              <p:nvSpPr>
                <p:cNvPr id="98330" name="Line 133"/>
                <p:cNvSpPr>
                  <a:spLocks noChangeShapeType="1"/>
                </p:cNvSpPr>
                <p:nvPr/>
              </p:nvSpPr>
              <p:spPr bwMode="auto">
                <a:xfrm>
                  <a:off x="3432" y="2780"/>
                  <a:ext cx="0" cy="48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31" name="Text Box 134"/>
                <p:cNvSpPr txBox="1">
                  <a:spLocks noChangeAspect="1" noChangeArrowheads="1"/>
                </p:cNvSpPr>
                <p:nvPr/>
              </p:nvSpPr>
              <p:spPr bwMode="auto">
                <a:xfrm>
                  <a:off x="3312" y="3168"/>
                  <a:ext cx="384"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rotor</a:t>
                  </a:r>
                </a:p>
              </p:txBody>
            </p:sp>
            <p:sp>
              <p:nvSpPr>
                <p:cNvPr id="98332" name="Freeform 136"/>
                <p:cNvSpPr>
                  <a:spLocks/>
                </p:cNvSpPr>
                <p:nvPr/>
              </p:nvSpPr>
              <p:spPr bwMode="auto">
                <a:xfrm>
                  <a:off x="864" y="2448"/>
                  <a:ext cx="3168" cy="768"/>
                </a:xfrm>
                <a:custGeom>
                  <a:avLst/>
                  <a:gdLst>
                    <a:gd name="T0" fmla="*/ 0 w 3168"/>
                    <a:gd name="T1" fmla="*/ 768 h 768"/>
                    <a:gd name="T2" fmla="*/ 1776 w 3168"/>
                    <a:gd name="T3" fmla="*/ 624 h 768"/>
                    <a:gd name="T4" fmla="*/ 3168 w 3168"/>
                    <a:gd name="T5" fmla="*/ 0 h 768"/>
                    <a:gd name="T6" fmla="*/ 0 60000 65536"/>
                    <a:gd name="T7" fmla="*/ 0 60000 65536"/>
                    <a:gd name="T8" fmla="*/ 0 60000 65536"/>
                    <a:gd name="T9" fmla="*/ 0 w 3168"/>
                    <a:gd name="T10" fmla="*/ 0 h 768"/>
                    <a:gd name="T11" fmla="*/ 3168 w 3168"/>
                    <a:gd name="T12" fmla="*/ 768 h 768"/>
                  </a:gdLst>
                  <a:ahLst/>
                  <a:cxnLst>
                    <a:cxn ang="T6">
                      <a:pos x="T0" y="T1"/>
                    </a:cxn>
                    <a:cxn ang="T7">
                      <a:pos x="T2" y="T3"/>
                    </a:cxn>
                    <a:cxn ang="T8">
                      <a:pos x="T4" y="T5"/>
                    </a:cxn>
                  </a:cxnLst>
                  <a:rect l="T9" t="T10" r="T11" b="T12"/>
                  <a:pathLst>
                    <a:path w="3168" h="768">
                      <a:moveTo>
                        <a:pt x="0" y="768"/>
                      </a:moveTo>
                      <a:cubicBezTo>
                        <a:pt x="624" y="760"/>
                        <a:pt x="1248" y="752"/>
                        <a:pt x="1776" y="624"/>
                      </a:cubicBezTo>
                      <a:cubicBezTo>
                        <a:pt x="2304" y="496"/>
                        <a:pt x="2920" y="144"/>
                        <a:pt x="3168" y="0"/>
                      </a:cubicBezTo>
                    </a:path>
                  </a:pathLst>
                </a:custGeom>
                <a:noFill/>
                <a:ln w="28575" cmpd="sng">
                  <a:solidFill>
                    <a:srgbClr val="B6160A"/>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8333" name="Text Box 137"/>
                <p:cNvSpPr txBox="1">
                  <a:spLocks noChangeArrowheads="1"/>
                </p:cNvSpPr>
                <p:nvPr/>
              </p:nvSpPr>
              <p:spPr bwMode="auto">
                <a:xfrm>
                  <a:off x="3974" y="2184"/>
                  <a:ext cx="2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B6160A"/>
                      </a:solidFill>
                      <a:latin typeface="Arial Narrow" panose="020B0606020202030204" pitchFamily="34" charset="0"/>
                    </a:rPr>
                    <a:t>T</a:t>
                  </a:r>
                  <a:r>
                    <a:rPr lang="en-US" altLang="fr-FR" sz="1800" baseline="-25000">
                      <a:solidFill>
                        <a:srgbClr val="B6160A"/>
                      </a:solidFill>
                      <a:latin typeface="Arial Narrow" panose="020B0606020202030204" pitchFamily="34" charset="0"/>
                    </a:rPr>
                    <a:t>L</a:t>
                  </a:r>
                  <a:endParaRPr lang="en-US" altLang="fr-FR" sz="1800">
                    <a:solidFill>
                      <a:srgbClr val="B6160A"/>
                    </a:solidFill>
                    <a:latin typeface="Arial Narrow" panose="020B0606020202030204" pitchFamily="34" charset="0"/>
                  </a:endParaRPr>
                </a:p>
              </p:txBody>
            </p:sp>
          </p:grpSp>
          <p:sp>
            <p:nvSpPr>
              <p:cNvPr id="98327" name="Text Box 139"/>
              <p:cNvSpPr txBox="1">
                <a:spLocks noChangeArrowheads="1"/>
              </p:cNvSpPr>
              <p:nvPr/>
            </p:nvSpPr>
            <p:spPr bwMode="auto">
              <a:xfrm>
                <a:off x="3216" y="16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2400">
                    <a:latin typeface="Arial Narrow" panose="020B0606020202030204" pitchFamily="34" charset="0"/>
                  </a:rPr>
                  <a:t>T</a:t>
                </a:r>
                <a:r>
                  <a:rPr lang="en-US" altLang="fr-FR" sz="2400" baseline="-25000">
                    <a:latin typeface="Arial Narrow" panose="020B0606020202030204" pitchFamily="34" charset="0"/>
                  </a:rPr>
                  <a:t>e</a:t>
                </a:r>
                <a:endParaRPr lang="en-US" altLang="fr-FR" sz="2400">
                  <a:latin typeface="Arial Narrow" panose="020B0606020202030204" pitchFamily="34" charset="0"/>
                </a:endParaRPr>
              </a:p>
            </p:txBody>
          </p:sp>
          <p:sp>
            <p:nvSpPr>
              <p:cNvPr id="98328" name="Arc 140"/>
              <p:cNvSpPr>
                <a:spLocks/>
              </p:cNvSpPr>
              <p:nvPr/>
            </p:nvSpPr>
            <p:spPr bwMode="auto">
              <a:xfrm flipH="1">
                <a:off x="3456" y="1824"/>
                <a:ext cx="624" cy="86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98329" name="Text Box 142"/>
              <p:cNvSpPr txBox="1">
                <a:spLocks noChangeArrowheads="1"/>
              </p:cNvSpPr>
              <p:nvPr/>
            </p:nvSpPr>
            <p:spPr bwMode="auto">
              <a:xfrm>
                <a:off x="4118" y="1416"/>
                <a:ext cx="145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Point d’intersection (T</a:t>
                </a:r>
                <a:r>
                  <a:rPr lang="en-US" altLang="fr-FR" sz="1800" baseline="-25000">
                    <a:latin typeface="Arial Narrow" panose="020B0606020202030204" pitchFamily="34" charset="0"/>
                  </a:rPr>
                  <a:t>e</a:t>
                </a:r>
                <a:r>
                  <a:rPr lang="en-US" altLang="fr-FR" sz="1800">
                    <a:latin typeface="Arial Narrow" panose="020B0606020202030204" pitchFamily="34" charset="0"/>
                  </a:rPr>
                  <a:t>=T</a:t>
                </a:r>
                <a:r>
                  <a:rPr lang="en-US" altLang="fr-FR" sz="1800" baseline="-25000">
                    <a:latin typeface="Arial Narrow" panose="020B0606020202030204" pitchFamily="34" charset="0"/>
                  </a:rPr>
                  <a:t>L</a:t>
                </a:r>
                <a:r>
                  <a:rPr lang="en-US" altLang="fr-FR" sz="1800">
                    <a:latin typeface="Arial Narrow" panose="020B0606020202030204" pitchFamily="34" charset="0"/>
                  </a:rPr>
                  <a:t>) détermine la vitesse en régime statique</a:t>
                </a:r>
              </a:p>
            </p:txBody>
          </p:sp>
        </p:grpSp>
        <p:sp>
          <p:nvSpPr>
            <p:cNvPr id="98325" name="Oval 144"/>
            <p:cNvSpPr>
              <a:spLocks noChangeArrowheads="1"/>
            </p:cNvSpPr>
            <p:nvPr/>
          </p:nvSpPr>
          <p:spPr bwMode="auto">
            <a:xfrm>
              <a:off x="3392" y="2732"/>
              <a:ext cx="96" cy="100"/>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98322" name="Espace réservé du numéro de diapositive 3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0968156-ACE5-4AE3-AF34-738504528900}" type="slidenum">
              <a:rPr lang="en-US" altLang="fr-FR" sz="1000">
                <a:solidFill>
                  <a:srgbClr val="292929"/>
                </a:solidFill>
                <a:latin typeface="Arial" panose="020B0604020202020204" pitchFamily="34" charset="0"/>
              </a:rPr>
              <a:pPr>
                <a:spcBef>
                  <a:spcPct val="0"/>
                </a:spcBef>
                <a:buClrTx/>
                <a:buSzTx/>
                <a:buFontTx/>
                <a:buNone/>
              </a:pPr>
              <a:t>3</a:t>
            </a:fld>
            <a:endParaRPr lang="en-US" altLang="fr-FR" sz="1000">
              <a:solidFill>
                <a:srgbClr val="292929"/>
              </a:solidFill>
              <a:latin typeface="Arial" panose="020B0604020202020204" pitchFamily="34" charset="0"/>
            </a:endParaRPr>
          </a:p>
        </p:txBody>
      </p:sp>
      <p:sp>
        <p:nvSpPr>
          <p:cNvPr id="38" name="Espace réservé du pied de page 37"/>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0355" name="Text Box 33"/>
          <p:cNvSpPr txBox="1">
            <a:spLocks noChangeArrowheads="1"/>
          </p:cNvSpPr>
          <p:nvPr/>
        </p:nvSpPr>
        <p:spPr bwMode="auto">
          <a:xfrm>
            <a:off x="457200" y="1196975"/>
            <a:ext cx="8305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Étant donné une caractéristique T–</a:t>
            </a:r>
            <a:r>
              <a:rPr lang="el-GR" altLang="fr-FR" sz="2000">
                <a:latin typeface="Arial Narrow" panose="020B0606020202030204" pitchFamily="34" charset="0"/>
              </a:rPr>
              <a:t>ω</a:t>
            </a:r>
            <a:r>
              <a:rPr lang="fr-FR" altLang="fr-FR" sz="2000">
                <a:latin typeface="Arial Narrow" panose="020B0606020202030204" pitchFamily="34" charset="0"/>
              </a:rPr>
              <a:t> de la charge, la vitesse en état stable peut être modifiée en modifiant la caractéristiqueT–</a:t>
            </a:r>
            <a:r>
              <a:rPr lang="el-GR" altLang="fr-FR" sz="2000">
                <a:latin typeface="Arial Narrow" panose="020B0606020202030204" pitchFamily="34" charset="0"/>
              </a:rPr>
              <a:t>ω</a:t>
            </a:r>
            <a:r>
              <a:rPr lang="fr-FR" altLang="fr-FR" sz="2000">
                <a:latin typeface="Arial Narrow" panose="020B0606020202030204" pitchFamily="34" charset="0"/>
              </a:rPr>
              <a:t> du moteur :</a:t>
            </a:r>
            <a:endParaRPr lang="en-US" altLang="fr-FR" sz="2000">
              <a:latin typeface="Arial Narrow" panose="020B0606020202030204" pitchFamily="34" charset="0"/>
              <a:sym typeface="Symbol" panose="05050102010706020507" pitchFamily="18" charset="2"/>
            </a:endParaRPr>
          </a:p>
        </p:txBody>
      </p:sp>
      <p:sp>
        <p:nvSpPr>
          <p:cNvPr id="100356" name="Rectangle 56"/>
          <p:cNvSpPr>
            <a:spLocks noGrp="1" noChangeArrowheads="1"/>
          </p:cNvSpPr>
          <p:nvPr>
            <p:ph type="title"/>
          </p:nvPr>
        </p:nvSpPr>
        <p:spPr>
          <a:xfrm>
            <a:off x="431800" y="333375"/>
            <a:ext cx="5770563" cy="406400"/>
          </a:xfrm>
          <a:noFill/>
        </p:spPr>
        <p:txBody>
          <a:bodyPr/>
          <a:lstStyle/>
          <a:p>
            <a:r>
              <a:rPr lang="en-US" altLang="fr-FR" sz="1800" b="1">
                <a:latin typeface="Arial Narrow" panose="020B0606020202030204" pitchFamily="34" charset="0"/>
              </a:rPr>
              <a:t>Commande scalaire de la machine à induction:</a:t>
            </a:r>
            <a:endParaRPr lang="en-US" altLang="fr-FR" sz="1800"/>
          </a:p>
        </p:txBody>
      </p:sp>
      <p:grpSp>
        <p:nvGrpSpPr>
          <p:cNvPr id="2" name="Group 68"/>
          <p:cNvGrpSpPr>
            <a:grpSpLocks/>
          </p:cNvGrpSpPr>
          <p:nvPr/>
        </p:nvGrpSpPr>
        <p:grpSpPr bwMode="auto">
          <a:xfrm>
            <a:off x="503238" y="2060575"/>
            <a:ext cx="3455987" cy="1981200"/>
            <a:chOff x="317" y="1298"/>
            <a:chExt cx="2177" cy="1248"/>
          </a:xfrm>
        </p:grpSpPr>
        <p:grpSp>
          <p:nvGrpSpPr>
            <p:cNvPr id="100370" name="Group 59"/>
            <p:cNvGrpSpPr>
              <a:grpSpLocks/>
            </p:cNvGrpSpPr>
            <p:nvPr/>
          </p:nvGrpSpPr>
          <p:grpSpPr bwMode="auto">
            <a:xfrm>
              <a:off x="317" y="1548"/>
              <a:ext cx="2122" cy="998"/>
              <a:chOff x="408" y="1548"/>
              <a:chExt cx="2122" cy="998"/>
            </a:xfrm>
          </p:grpSpPr>
          <p:sp>
            <p:nvSpPr>
              <p:cNvPr id="11284" name="Text Box 34"/>
              <p:cNvSpPr txBox="1">
                <a:spLocks noChangeArrowheads="1"/>
              </p:cNvSpPr>
              <p:nvPr/>
            </p:nvSpPr>
            <p:spPr bwMode="auto">
              <a:xfrm>
                <a:off x="453" y="1661"/>
                <a:ext cx="2077" cy="834"/>
              </a:xfrm>
              <a:prstGeom prst="rect">
                <a:avLst/>
              </a:prstGeom>
              <a:noFill/>
              <a:ln w="9525">
                <a:noFill/>
                <a:miter lim="800000"/>
                <a:headEnd/>
                <a:tailEnd/>
              </a:ln>
            </p:spPr>
            <p:txBody>
              <a:bodyPr>
                <a:spAutoFit/>
              </a:bodyPr>
              <a:lstStyle/>
              <a:p>
                <a:pPr eaLnBrk="1" hangingPunct="1">
                  <a:defRPr/>
                </a:pPr>
                <a:r>
                  <a:rPr lang="en-US" sz="1600" u="sng" dirty="0" err="1"/>
                  <a:t>Changement</a:t>
                </a:r>
                <a:r>
                  <a:rPr lang="en-US" sz="1600" u="sng" dirty="0"/>
                  <a:t> de </a:t>
                </a:r>
                <a:r>
                  <a:rPr lang="en-US" sz="1600" u="sng" dirty="0" err="1"/>
                  <a:t>pôles</a:t>
                </a:r>
                <a:r>
                  <a:rPr lang="en-US" sz="1600" u="sng" dirty="0"/>
                  <a:t>:</a:t>
                </a:r>
                <a:r>
                  <a:rPr lang="en-US" sz="1600" dirty="0"/>
                  <a:t> </a:t>
                </a:r>
              </a:p>
              <a:p>
                <a:pPr marL="174625" indent="-174625" eaLnBrk="1" hangingPunct="1">
                  <a:buFont typeface="Wingdings" pitchFamily="2" charset="2"/>
                  <a:buChar char="§"/>
                  <a:defRPr/>
                </a:pPr>
                <a:r>
                  <a:rPr lang="en-US" sz="1600" dirty="0">
                    <a:sym typeface="Symbol" pitchFamily="18" charset="2"/>
                  </a:rPr>
                  <a:t>La </a:t>
                </a:r>
                <a:r>
                  <a:rPr lang="en-US" sz="1600" dirty="0" err="1">
                    <a:sym typeface="Symbol" pitchFamily="18" charset="2"/>
                  </a:rPr>
                  <a:t>vitesse</a:t>
                </a:r>
                <a:r>
                  <a:rPr lang="en-US" sz="1600" dirty="0">
                    <a:sym typeface="Symbol" pitchFamily="18" charset="2"/>
                  </a:rPr>
                  <a:t> </a:t>
                </a:r>
                <a:r>
                  <a:rPr lang="en-US" sz="1600" dirty="0" err="1">
                    <a:sym typeface="Symbol" pitchFamily="18" charset="2"/>
                  </a:rPr>
                  <a:t>synchrone</a:t>
                </a:r>
                <a:r>
                  <a:rPr lang="en-US" sz="1600" dirty="0">
                    <a:sym typeface="Symbol" pitchFamily="18" charset="2"/>
                  </a:rPr>
                  <a:t> </a:t>
                </a:r>
                <a:r>
                  <a:rPr lang="en-US" sz="1600" dirty="0" err="1">
                    <a:sym typeface="Symbol" pitchFamily="18" charset="2"/>
                  </a:rPr>
                  <a:t>varie</a:t>
                </a:r>
                <a:r>
                  <a:rPr lang="en-US" sz="1600" dirty="0">
                    <a:sym typeface="Symbol" pitchFamily="18" charset="2"/>
                  </a:rPr>
                  <a:t> avec le </a:t>
                </a:r>
                <a:r>
                  <a:rPr lang="en-US" sz="1600" dirty="0" err="1">
                    <a:sym typeface="Symbol" pitchFamily="18" charset="2"/>
                  </a:rPr>
                  <a:t>nombre</a:t>
                </a:r>
                <a:r>
                  <a:rPr lang="en-US" sz="1600" dirty="0">
                    <a:sym typeface="Symbol" pitchFamily="18" charset="2"/>
                  </a:rPr>
                  <a:t> de </a:t>
                </a:r>
                <a:r>
                  <a:rPr lang="en-US" sz="1600" dirty="0" err="1">
                    <a:sym typeface="Symbol" pitchFamily="18" charset="2"/>
                  </a:rPr>
                  <a:t>pôles</a:t>
                </a:r>
                <a:r>
                  <a:rPr lang="en-US" sz="1600" dirty="0">
                    <a:sym typeface="Symbol" pitchFamily="18" charset="2"/>
                  </a:rPr>
                  <a:t>.</a:t>
                </a:r>
              </a:p>
              <a:p>
                <a:pPr marL="174625" indent="-174625" eaLnBrk="1" hangingPunct="1">
                  <a:buFont typeface="Wingdings" pitchFamily="2" charset="2"/>
                  <a:buChar char="§"/>
                  <a:defRPr/>
                </a:pPr>
                <a:r>
                  <a:rPr lang="en-US" sz="1600" dirty="0" err="1">
                    <a:sym typeface="Symbol" pitchFamily="18" charset="2"/>
                  </a:rPr>
                  <a:t>Changement</a:t>
                </a:r>
                <a:r>
                  <a:rPr lang="en-US" sz="1600" dirty="0">
                    <a:sym typeface="Symbol" pitchFamily="18" charset="2"/>
                  </a:rPr>
                  <a:t> discontinue de la </a:t>
                </a:r>
                <a:r>
                  <a:rPr lang="en-US" sz="1600" dirty="0" err="1">
                    <a:sym typeface="Symbol" pitchFamily="18" charset="2"/>
                  </a:rPr>
                  <a:t>vitesse</a:t>
                </a:r>
                <a:endParaRPr lang="en-US" sz="1600" dirty="0">
                  <a:sym typeface="Symbol" pitchFamily="18" charset="2"/>
                </a:endParaRPr>
              </a:p>
              <a:p>
                <a:pPr marL="174625" indent="-174625" eaLnBrk="1" hangingPunct="1">
                  <a:buFont typeface="Wingdings" pitchFamily="2" charset="2"/>
                  <a:buChar char="§"/>
                  <a:defRPr/>
                </a:pPr>
                <a:r>
                  <a:rPr lang="en-US" sz="1600" dirty="0">
                    <a:sym typeface="Symbol" pitchFamily="18" charset="2"/>
                  </a:rPr>
                  <a:t>Pas de </a:t>
                </a:r>
                <a:r>
                  <a:rPr lang="en-US" sz="1600" dirty="0" err="1">
                    <a:sym typeface="Symbol" pitchFamily="18" charset="2"/>
                  </a:rPr>
                  <a:t>réglage</a:t>
                </a:r>
                <a:r>
                  <a:rPr lang="en-US" sz="1600" dirty="0">
                    <a:sym typeface="Symbol" pitchFamily="18" charset="2"/>
                  </a:rPr>
                  <a:t> fin</a:t>
                </a:r>
              </a:p>
            </p:txBody>
          </p:sp>
          <p:sp>
            <p:nvSpPr>
              <p:cNvPr id="100373" name="Rectangle 58"/>
              <p:cNvSpPr>
                <a:spLocks noChangeArrowheads="1"/>
              </p:cNvSpPr>
              <p:nvPr/>
            </p:nvSpPr>
            <p:spPr bwMode="auto">
              <a:xfrm>
                <a:off x="408" y="1548"/>
                <a:ext cx="1996" cy="9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Narrow" panose="020B0606020202030204" pitchFamily="34" charset="0"/>
                </a:endParaRPr>
              </a:p>
            </p:txBody>
          </p:sp>
        </p:grpSp>
        <p:sp>
          <p:nvSpPr>
            <p:cNvPr id="100371" name="Line 64"/>
            <p:cNvSpPr>
              <a:spLocks noChangeShapeType="1"/>
            </p:cNvSpPr>
            <p:nvPr/>
          </p:nvSpPr>
          <p:spPr bwMode="auto">
            <a:xfrm flipH="1">
              <a:off x="1882" y="1298"/>
              <a:ext cx="612" cy="25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grpSp>
      <p:grpSp>
        <p:nvGrpSpPr>
          <p:cNvPr id="4" name="Group 69"/>
          <p:cNvGrpSpPr>
            <a:grpSpLocks/>
          </p:cNvGrpSpPr>
          <p:nvPr/>
        </p:nvGrpSpPr>
        <p:grpSpPr bwMode="auto">
          <a:xfrm>
            <a:off x="3492500" y="2060575"/>
            <a:ext cx="4000500" cy="3449638"/>
            <a:chOff x="2200" y="1298"/>
            <a:chExt cx="2520" cy="2173"/>
          </a:xfrm>
        </p:grpSpPr>
        <p:grpSp>
          <p:nvGrpSpPr>
            <p:cNvPr id="100366" name="Group 63"/>
            <p:cNvGrpSpPr>
              <a:grpSpLocks/>
            </p:cNvGrpSpPr>
            <p:nvPr/>
          </p:nvGrpSpPr>
          <p:grpSpPr bwMode="auto">
            <a:xfrm>
              <a:off x="2200" y="2704"/>
              <a:ext cx="2520" cy="767"/>
              <a:chOff x="2200" y="2704"/>
              <a:chExt cx="2520" cy="767"/>
            </a:xfrm>
          </p:grpSpPr>
          <p:sp>
            <p:nvSpPr>
              <p:cNvPr id="11280" name="Text Box 54"/>
              <p:cNvSpPr txBox="1">
                <a:spLocks noChangeArrowheads="1"/>
              </p:cNvSpPr>
              <p:nvPr/>
            </p:nvSpPr>
            <p:spPr bwMode="auto">
              <a:xfrm>
                <a:off x="2245" y="2704"/>
                <a:ext cx="2475" cy="679"/>
              </a:xfrm>
              <a:prstGeom prst="rect">
                <a:avLst/>
              </a:prstGeom>
              <a:noFill/>
              <a:ln w="9525">
                <a:noFill/>
                <a:miter lim="800000"/>
                <a:headEnd/>
                <a:tailEnd/>
              </a:ln>
            </p:spPr>
            <p:txBody>
              <a:bodyPr>
                <a:spAutoFit/>
              </a:bodyPr>
              <a:lstStyle/>
              <a:p>
                <a:pPr algn="just" eaLnBrk="1" hangingPunct="1">
                  <a:defRPr/>
                </a:pPr>
                <a:r>
                  <a:rPr lang="en-US" sz="1600" u="sng" dirty="0">
                    <a:sym typeface="Symbol" pitchFamily="18" charset="2"/>
                  </a:rPr>
                  <a:t>Tension variable (amplitude), </a:t>
                </a:r>
                <a:r>
                  <a:rPr lang="en-US" sz="1600" u="sng" dirty="0" err="1">
                    <a:sym typeface="Symbol" pitchFamily="18" charset="2"/>
                  </a:rPr>
                  <a:t>fréquence</a:t>
                </a:r>
                <a:r>
                  <a:rPr lang="en-US" sz="1600" u="sng" dirty="0">
                    <a:sym typeface="Symbol" pitchFamily="18" charset="2"/>
                  </a:rPr>
                  <a:t> fixe:</a:t>
                </a:r>
              </a:p>
              <a:p>
                <a:pPr marL="174625" indent="-174625" algn="just" eaLnBrk="1" hangingPunct="1">
                  <a:buFont typeface="Wingdings" pitchFamily="2" charset="2"/>
                  <a:buChar char="§"/>
                  <a:defRPr/>
                </a:pPr>
                <a:r>
                  <a:rPr lang="en-US" sz="1600" dirty="0" err="1">
                    <a:sym typeface="Symbol" pitchFamily="18" charset="2"/>
                  </a:rPr>
                  <a:t>Exemple</a:t>
                </a:r>
                <a:r>
                  <a:rPr lang="en-US" sz="1600" dirty="0">
                    <a:sym typeface="Symbol" pitchFamily="18" charset="2"/>
                  </a:rPr>
                  <a:t>: </a:t>
                </a:r>
                <a:r>
                  <a:rPr lang="en-US" sz="1600" dirty="0" err="1">
                    <a:sym typeface="Symbol" pitchFamily="18" charset="2"/>
                  </a:rPr>
                  <a:t>Utilisant</a:t>
                </a:r>
                <a:r>
                  <a:rPr lang="en-US" sz="1600" dirty="0">
                    <a:sym typeface="Symbol" pitchFamily="18" charset="2"/>
                  </a:rPr>
                  <a:t> un </a:t>
                </a:r>
                <a:r>
                  <a:rPr lang="en-US" sz="1600" dirty="0" err="1">
                    <a:sym typeface="Symbol" pitchFamily="18" charset="2"/>
                  </a:rPr>
                  <a:t>transformateur</a:t>
                </a:r>
                <a:r>
                  <a:rPr lang="en-US" sz="1600" dirty="0">
                    <a:sym typeface="Symbol" pitchFamily="18" charset="2"/>
                  </a:rPr>
                  <a:t> </a:t>
                </a:r>
                <a:r>
                  <a:rPr lang="en-US" sz="1600" dirty="0" err="1">
                    <a:sym typeface="Symbol" pitchFamily="18" charset="2"/>
                  </a:rPr>
                  <a:t>ou</a:t>
                </a:r>
                <a:r>
                  <a:rPr lang="en-US" sz="1600" dirty="0">
                    <a:sym typeface="Symbol" pitchFamily="18" charset="2"/>
                  </a:rPr>
                  <a:t> un </a:t>
                </a:r>
                <a:r>
                  <a:rPr lang="en-US" sz="1600" dirty="0" err="1">
                    <a:sym typeface="Symbol" pitchFamily="18" charset="2"/>
                  </a:rPr>
                  <a:t>triac</a:t>
                </a:r>
                <a:endParaRPr lang="en-US" sz="1600" dirty="0">
                  <a:sym typeface="Symbol" pitchFamily="18" charset="2"/>
                </a:endParaRPr>
              </a:p>
              <a:p>
                <a:pPr marL="174625" indent="-174625" algn="just" eaLnBrk="1" hangingPunct="1">
                  <a:buFont typeface="Wingdings" pitchFamily="2" charset="2"/>
                  <a:buChar char="§"/>
                  <a:defRPr/>
                </a:pPr>
                <a:r>
                  <a:rPr lang="en-US" sz="1600" dirty="0">
                    <a:sym typeface="Symbol" pitchFamily="18" charset="2"/>
                  </a:rPr>
                  <a:t>Le </a:t>
                </a:r>
                <a:r>
                  <a:rPr lang="en-US" sz="1600" dirty="0" err="1">
                    <a:sym typeface="Symbol" pitchFamily="18" charset="2"/>
                  </a:rPr>
                  <a:t>glissement</a:t>
                </a:r>
                <a:r>
                  <a:rPr lang="en-US" sz="1600" dirty="0">
                    <a:sym typeface="Symbol" pitchFamily="18" charset="2"/>
                  </a:rPr>
                  <a:t> </a:t>
                </a:r>
                <a:r>
                  <a:rPr lang="en-US" sz="1600" dirty="0" err="1">
                    <a:sym typeface="Symbol" pitchFamily="18" charset="2"/>
                  </a:rPr>
                  <a:t>devient</a:t>
                </a:r>
                <a:r>
                  <a:rPr lang="en-US" sz="1600" dirty="0">
                    <a:sym typeface="Symbol" pitchFamily="18" charset="2"/>
                  </a:rPr>
                  <a:t> </a:t>
                </a:r>
                <a:r>
                  <a:rPr lang="en-US" sz="1600" dirty="0" err="1">
                    <a:sym typeface="Symbol" pitchFamily="18" charset="2"/>
                  </a:rPr>
                  <a:t>élevé</a:t>
                </a:r>
                <a:r>
                  <a:rPr lang="en-US" sz="1600" dirty="0">
                    <a:sym typeface="Symbol" pitchFamily="18" charset="2"/>
                  </a:rPr>
                  <a:t> </a:t>
                </a:r>
                <a:r>
                  <a:rPr lang="en-US" sz="1600" dirty="0" err="1">
                    <a:sym typeface="Symbol" pitchFamily="18" charset="2"/>
                  </a:rPr>
                  <a:t>si</a:t>
                </a:r>
                <a:r>
                  <a:rPr lang="en-US" sz="1600" dirty="0">
                    <a:sym typeface="Symbol" pitchFamily="18" charset="2"/>
                  </a:rPr>
                  <a:t> la tension </a:t>
                </a:r>
                <a:r>
                  <a:rPr lang="en-US" sz="1600" dirty="0" err="1">
                    <a:sym typeface="Symbol" pitchFamily="18" charset="2"/>
                  </a:rPr>
                  <a:t>est</a:t>
                </a:r>
                <a:r>
                  <a:rPr lang="en-US" sz="1600" dirty="0">
                    <a:sym typeface="Symbol" pitchFamily="18" charset="2"/>
                  </a:rPr>
                  <a:t> </a:t>
                </a:r>
                <a:r>
                  <a:rPr lang="en-US" sz="1600" dirty="0" err="1">
                    <a:sym typeface="Symbol" pitchFamily="18" charset="2"/>
                  </a:rPr>
                  <a:t>réduite</a:t>
                </a:r>
                <a:r>
                  <a:rPr lang="en-US" sz="1600" dirty="0">
                    <a:sym typeface="Symbol" pitchFamily="18" charset="2"/>
                  </a:rPr>
                  <a:t> –  </a:t>
                </a:r>
                <a:r>
                  <a:rPr lang="en-US" sz="1600" dirty="0" err="1">
                    <a:sym typeface="Symbol" pitchFamily="18" charset="2"/>
                  </a:rPr>
                  <a:t>rendement</a:t>
                </a:r>
                <a:r>
                  <a:rPr lang="en-US" sz="1600" dirty="0">
                    <a:sym typeface="Symbol" pitchFamily="18" charset="2"/>
                  </a:rPr>
                  <a:t> </a:t>
                </a:r>
                <a:r>
                  <a:rPr lang="en-US" sz="1600" dirty="0" err="1">
                    <a:sym typeface="Symbol" pitchFamily="18" charset="2"/>
                  </a:rPr>
                  <a:t>faible</a:t>
                </a:r>
                <a:endParaRPr lang="en-US" sz="1600" dirty="0">
                  <a:sym typeface="Symbol" pitchFamily="18" charset="2"/>
                </a:endParaRPr>
              </a:p>
            </p:txBody>
          </p:sp>
          <p:sp>
            <p:nvSpPr>
              <p:cNvPr id="100369" name="Rectangle 62"/>
              <p:cNvSpPr>
                <a:spLocks noChangeArrowheads="1"/>
              </p:cNvSpPr>
              <p:nvPr/>
            </p:nvSpPr>
            <p:spPr bwMode="auto">
              <a:xfrm>
                <a:off x="2200" y="2704"/>
                <a:ext cx="2520" cy="7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endParaRPr lang="fr-FR" altLang="fr-FR" sz="1600">
                  <a:latin typeface="Arial Narrow" panose="020B0606020202030204" pitchFamily="34" charset="0"/>
                </a:endParaRPr>
              </a:p>
            </p:txBody>
          </p:sp>
        </p:grpSp>
        <p:sp>
          <p:nvSpPr>
            <p:cNvPr id="100367" name="Line 65"/>
            <p:cNvSpPr>
              <a:spLocks noChangeShapeType="1"/>
            </p:cNvSpPr>
            <p:nvPr/>
          </p:nvSpPr>
          <p:spPr bwMode="auto">
            <a:xfrm>
              <a:off x="2767" y="1298"/>
              <a:ext cx="45" cy="138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grpSp>
      <p:grpSp>
        <p:nvGrpSpPr>
          <p:cNvPr id="6" name="Group 70"/>
          <p:cNvGrpSpPr>
            <a:grpSpLocks/>
          </p:cNvGrpSpPr>
          <p:nvPr/>
        </p:nvGrpSpPr>
        <p:grpSpPr bwMode="auto">
          <a:xfrm>
            <a:off x="4751388" y="2060575"/>
            <a:ext cx="4068762" cy="1763713"/>
            <a:chOff x="2993" y="1298"/>
            <a:chExt cx="2563" cy="1111"/>
          </a:xfrm>
        </p:grpSpPr>
        <p:grpSp>
          <p:nvGrpSpPr>
            <p:cNvPr id="100362" name="Group 67"/>
            <p:cNvGrpSpPr>
              <a:grpSpLocks/>
            </p:cNvGrpSpPr>
            <p:nvPr/>
          </p:nvGrpSpPr>
          <p:grpSpPr bwMode="auto">
            <a:xfrm>
              <a:off x="3266" y="1570"/>
              <a:ext cx="2290" cy="839"/>
              <a:chOff x="3266" y="1570"/>
              <a:chExt cx="2290" cy="839"/>
            </a:xfrm>
          </p:grpSpPr>
          <p:sp>
            <p:nvSpPr>
              <p:cNvPr id="11276" name="Text Box 57"/>
              <p:cNvSpPr txBox="1">
                <a:spLocks noChangeArrowheads="1"/>
              </p:cNvSpPr>
              <p:nvPr/>
            </p:nvSpPr>
            <p:spPr bwMode="auto">
              <a:xfrm>
                <a:off x="3311" y="1614"/>
                <a:ext cx="2245" cy="679"/>
              </a:xfrm>
              <a:prstGeom prst="rect">
                <a:avLst/>
              </a:prstGeom>
              <a:noFill/>
              <a:ln w="9525">
                <a:noFill/>
                <a:miter lim="800000"/>
                <a:headEnd/>
                <a:tailEnd/>
              </a:ln>
            </p:spPr>
            <p:txBody>
              <a:bodyPr>
                <a:spAutoFit/>
              </a:bodyPr>
              <a:lstStyle/>
              <a:p>
                <a:pPr eaLnBrk="1" hangingPunct="1">
                  <a:defRPr/>
                </a:pPr>
                <a:r>
                  <a:rPr lang="en-US" sz="1600" u="sng" dirty="0"/>
                  <a:t>Tension variable (amplitude), </a:t>
                </a:r>
                <a:r>
                  <a:rPr lang="en-US" sz="1600" u="sng" dirty="0" err="1"/>
                  <a:t>fréquence</a:t>
                </a:r>
                <a:r>
                  <a:rPr lang="en-US" sz="1600" u="sng" dirty="0"/>
                  <a:t> variable </a:t>
                </a:r>
              </a:p>
              <a:p>
                <a:pPr marL="174625" indent="-174625" eaLnBrk="1" hangingPunct="1">
                  <a:buFont typeface="Wingdings" pitchFamily="2" charset="2"/>
                  <a:buChar char="§"/>
                  <a:defRPr/>
                </a:pPr>
                <a:r>
                  <a:rPr lang="en-US" sz="1600" dirty="0" err="1">
                    <a:sym typeface="Symbol" pitchFamily="18" charset="2"/>
                  </a:rPr>
                  <a:t>Utilisant</a:t>
                </a:r>
                <a:r>
                  <a:rPr lang="en-US" sz="1600" dirty="0">
                    <a:sym typeface="Symbol" pitchFamily="18" charset="2"/>
                  </a:rPr>
                  <a:t>  les </a:t>
                </a:r>
                <a:r>
                  <a:rPr lang="en-US" sz="1600" dirty="0" err="1">
                    <a:sym typeface="Symbol" pitchFamily="18" charset="2"/>
                  </a:rPr>
                  <a:t>convertisseurs</a:t>
                </a:r>
                <a:r>
                  <a:rPr lang="en-US" sz="1600" dirty="0">
                    <a:sym typeface="Symbol" pitchFamily="18" charset="2"/>
                  </a:rPr>
                  <a:t> de puissance </a:t>
                </a:r>
              </a:p>
              <a:p>
                <a:pPr marL="174625" indent="-174625" eaLnBrk="1" hangingPunct="1">
                  <a:buFont typeface="Wingdings" pitchFamily="2" charset="2"/>
                  <a:buChar char="§"/>
                  <a:defRPr/>
                </a:pPr>
                <a:r>
                  <a:rPr lang="en-US" sz="1600" dirty="0" err="1">
                    <a:sym typeface="Symbol" pitchFamily="18" charset="2"/>
                  </a:rPr>
                  <a:t>Opérée</a:t>
                </a:r>
                <a:r>
                  <a:rPr lang="en-US" sz="1600" dirty="0">
                    <a:sym typeface="Symbol" pitchFamily="18" charset="2"/>
                  </a:rPr>
                  <a:t> à un </a:t>
                </a:r>
                <a:r>
                  <a:rPr lang="en-US" sz="1600" dirty="0" err="1">
                    <a:sym typeface="Symbol" pitchFamily="18" charset="2"/>
                  </a:rPr>
                  <a:t>glissement</a:t>
                </a:r>
                <a:r>
                  <a:rPr lang="en-US" sz="1600" dirty="0">
                    <a:sym typeface="Symbol" pitchFamily="18" charset="2"/>
                  </a:rPr>
                  <a:t> </a:t>
                </a:r>
                <a:r>
                  <a:rPr lang="en-US" sz="1600" dirty="0" err="1">
                    <a:sym typeface="Symbol" pitchFamily="18" charset="2"/>
                  </a:rPr>
                  <a:t>faible</a:t>
                </a:r>
                <a:r>
                  <a:rPr lang="en-US" sz="1600" dirty="0">
                    <a:sym typeface="Symbol" pitchFamily="18" charset="2"/>
                  </a:rPr>
                  <a:t> </a:t>
                </a:r>
              </a:p>
            </p:txBody>
          </p:sp>
          <p:sp>
            <p:nvSpPr>
              <p:cNvPr id="100365" name="Rectangle 60"/>
              <p:cNvSpPr>
                <a:spLocks noChangeArrowheads="1"/>
              </p:cNvSpPr>
              <p:nvPr/>
            </p:nvSpPr>
            <p:spPr bwMode="auto">
              <a:xfrm>
                <a:off x="3266" y="1570"/>
                <a:ext cx="2177" cy="83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Narrow" panose="020B0606020202030204" pitchFamily="34" charset="0"/>
                </a:endParaRPr>
              </a:p>
            </p:txBody>
          </p:sp>
        </p:grpSp>
        <p:sp>
          <p:nvSpPr>
            <p:cNvPr id="100363" name="Line 66"/>
            <p:cNvSpPr>
              <a:spLocks noChangeShapeType="1"/>
            </p:cNvSpPr>
            <p:nvPr/>
          </p:nvSpPr>
          <p:spPr bwMode="auto">
            <a:xfrm>
              <a:off x="2993" y="1298"/>
              <a:ext cx="386" cy="20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grpSp>
      <p:sp>
        <p:nvSpPr>
          <p:cNvPr id="100360"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EA27B49-2A07-4003-8FD8-9934326124C6}" type="slidenum">
              <a:rPr lang="en-US" altLang="fr-FR" sz="1000">
                <a:solidFill>
                  <a:srgbClr val="292929"/>
                </a:solidFill>
                <a:latin typeface="Arial" panose="020B0604020202020204" pitchFamily="34" charset="0"/>
              </a:rPr>
              <a:pPr>
                <a:spcBef>
                  <a:spcPct val="0"/>
                </a:spcBef>
                <a:buClrTx/>
                <a:buSzTx/>
                <a:buFontTx/>
                <a:buNone/>
              </a:pPr>
              <a:t>4</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subTnLst>
                                    <p:animClr clrSpc="rgb" dir="cw">
                                      <p:cBhvr override="childStyle">
                                        <p:cTn dur="1" fill="hold" display="0" masterRel="nextClick" afterEffect="1"/>
                                        <p:tgtEl>
                                          <p:spTgt spid="2"/>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subTnLst>
                                    <p:animClr clrSpc="rgb" dir="cw">
                                      <p:cBhvr override="childStyle">
                                        <p:cTn dur="1" fill="hold" display="0" masterRel="nextClick" afterEffect="1"/>
                                        <p:tgtEl>
                                          <p:spTgt spid="4"/>
                                        </p:tgtEl>
                                        <p:attrNameLst>
                                          <p:attrName>ppt_c</p:attrName>
                                        </p:attrNameLst>
                                      </p:cBhvr>
                                      <p:to>
                                        <a:srgbClr val="B2B2B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ChangeArrowheads="1"/>
          </p:cNvSpPr>
          <p:nvPr/>
        </p:nvSpPr>
        <p:spPr bwMode="auto">
          <a:xfrm>
            <a:off x="592138" y="508000"/>
            <a:ext cx="3348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Cas des moteurs à rotor bobiné</a:t>
            </a:r>
            <a:endParaRPr lang="fr-FR" altLang="fr-FR" sz="2000">
              <a:latin typeface="Arial Narrow" panose="020B0606020202030204" pitchFamily="34" charset="0"/>
            </a:endParaRPr>
          </a:p>
        </p:txBody>
      </p:sp>
      <p:sp>
        <p:nvSpPr>
          <p:cNvPr id="102403" name="Rectangle 4"/>
          <p:cNvSpPr>
            <a:spLocks noChangeArrowheads="1"/>
          </p:cNvSpPr>
          <p:nvPr/>
        </p:nvSpPr>
        <p:spPr bwMode="auto">
          <a:xfrm>
            <a:off x="774700" y="1457325"/>
            <a:ext cx="7412038"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Lorsque l’enroulement rotorique est ouvert, celui du stator étant alimenté, il apparaît aux bornes de chaque phase du rotor une tension induite de fréquence f</a:t>
            </a:r>
            <a:r>
              <a:rPr lang="fr-FR" altLang="fr-FR" sz="2000" baseline="-25000">
                <a:latin typeface="Arial Narrow" panose="020B0606020202030204" pitchFamily="34" charset="0"/>
              </a:rPr>
              <a:t>r</a:t>
            </a:r>
            <a:r>
              <a:rPr lang="fr-FR" altLang="fr-FR" sz="2000">
                <a:latin typeface="Arial Narrow" panose="020B0606020202030204" pitchFamily="34" charset="0"/>
              </a:rPr>
              <a:t> = g.f . Il est donc possible d’alimenter un dispositif et de lui fournir de l’énergie.</a:t>
            </a:r>
          </a:p>
          <a:p>
            <a:pPr algn="just" eaLnBrk="1" hangingPunct="1">
              <a:spcBef>
                <a:spcPct val="0"/>
              </a:spcBef>
              <a:buClrTx/>
              <a:buSzTx/>
              <a:buFontTx/>
              <a:buNone/>
            </a:pPr>
            <a:r>
              <a:rPr lang="fr-FR" altLang="fr-FR" sz="2000">
                <a:latin typeface="Arial Narrow" panose="020B0606020202030204" pitchFamily="34" charset="0"/>
              </a:rPr>
              <a:t>.</a:t>
            </a:r>
          </a:p>
        </p:txBody>
      </p:sp>
      <p:pic>
        <p:nvPicPr>
          <p:cNvPr id="102404"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30850" y="3249613"/>
            <a:ext cx="336708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5" name="Rectangle 8"/>
          <p:cNvSpPr>
            <a:spLocks noChangeArrowheads="1"/>
          </p:cNvSpPr>
          <p:nvPr/>
        </p:nvSpPr>
        <p:spPr bwMode="auto">
          <a:xfrm>
            <a:off x="811213" y="3389313"/>
            <a:ext cx="45720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Considérons un moteur asynchrone qui fonctionne à couple utile constant. La puissance mécanique utile P</a:t>
            </a:r>
            <a:r>
              <a:rPr lang="fr-FR" altLang="fr-FR" sz="2000" baseline="-25000">
                <a:latin typeface="Arial Narrow" panose="020B0606020202030204" pitchFamily="34" charset="0"/>
              </a:rPr>
              <a:t>méc</a:t>
            </a:r>
            <a:r>
              <a:rPr lang="fr-FR" altLang="fr-FR" sz="2000">
                <a:latin typeface="Arial Narrow" panose="020B0606020202030204" pitchFamily="34" charset="0"/>
              </a:rPr>
              <a:t> = T.</a:t>
            </a:r>
            <a:r>
              <a:rPr lang="el-GR" altLang="fr-FR" sz="2000">
                <a:latin typeface="Calibri" panose="020F0502020204030204" pitchFamily="34" charset="0"/>
              </a:rPr>
              <a:t>ω</a:t>
            </a:r>
            <a:r>
              <a:rPr lang="fr-FR" altLang="fr-FR" sz="2000">
                <a:latin typeface="Arial Narrow" panose="020B0606020202030204" pitchFamily="34" charset="0"/>
              </a:rPr>
              <a:t> est proportionnelle à la vitesse de rotation du rotor. </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En faisant fournir par le rotor une puissance P</a:t>
            </a:r>
            <a:r>
              <a:rPr lang="fr-FR" altLang="fr-FR" sz="2000" baseline="-25000">
                <a:latin typeface="Arial Narrow" panose="020B0606020202030204" pitchFamily="34" charset="0"/>
              </a:rPr>
              <a:t>r</a:t>
            </a:r>
            <a:r>
              <a:rPr lang="fr-FR" altLang="fr-FR" sz="2000">
                <a:latin typeface="Arial Narrow" panose="020B0606020202030204" pitchFamily="34" charset="0"/>
              </a:rPr>
              <a:t> à une charge extérieure, la vitesse diminuera.</a:t>
            </a:r>
          </a:p>
        </p:txBody>
      </p:sp>
      <p:sp>
        <p:nvSpPr>
          <p:cNvPr id="10240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240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1B2088E-0AD9-450D-9ECD-B1E4ABC11679}" type="slidenum">
              <a:rPr lang="en-US" altLang="fr-FR" sz="1000">
                <a:solidFill>
                  <a:srgbClr val="292929"/>
                </a:solidFill>
                <a:latin typeface="Arial" panose="020B0604020202020204" pitchFamily="34" charset="0"/>
              </a:rPr>
              <a:pPr>
                <a:spcBef>
                  <a:spcPct val="0"/>
                </a:spcBef>
                <a:buClrTx/>
                <a:buSzTx/>
                <a:buFontTx/>
                <a:buNone/>
              </a:pPr>
              <a:t>5</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ChangeArrowheads="1"/>
          </p:cNvSpPr>
          <p:nvPr/>
        </p:nvSpPr>
        <p:spPr bwMode="auto">
          <a:xfrm>
            <a:off x="592138" y="728663"/>
            <a:ext cx="5878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Réglage par résistance variable au rotor</a:t>
            </a:r>
            <a:endParaRPr lang="fr-FR" altLang="fr-FR" sz="2000">
              <a:latin typeface="Arial Narrow" panose="020B0606020202030204" pitchFamily="34" charset="0"/>
            </a:endParaRPr>
          </a:p>
        </p:txBody>
      </p:sp>
      <p:sp>
        <p:nvSpPr>
          <p:cNvPr id="104451" name="Rectangle 4"/>
          <p:cNvSpPr>
            <a:spLocks noChangeArrowheads="1"/>
          </p:cNvSpPr>
          <p:nvPr/>
        </p:nvSpPr>
        <p:spPr bwMode="auto">
          <a:xfrm>
            <a:off x="519113" y="1165225"/>
            <a:ext cx="79962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L’insertion d’une résistance additionnelle, en série avec chaque phase de l’enroulement rotorique, permet de déplacer la courbe du couple électromagnétique. Pour pour un couple résistant donné, il est alors possible de varier la vitesse au moyen d’un rhéostat.</a:t>
            </a:r>
          </a:p>
        </p:txBody>
      </p:sp>
      <p:pic>
        <p:nvPicPr>
          <p:cNvPr id="10445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9900" y="2297113"/>
            <a:ext cx="4375150"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3" name="Rectangle 6"/>
          <p:cNvSpPr>
            <a:spLocks noChangeArrowheads="1"/>
          </p:cNvSpPr>
          <p:nvPr/>
        </p:nvSpPr>
        <p:spPr bwMode="auto">
          <a:xfrm>
            <a:off x="592138" y="2260600"/>
            <a:ext cx="36877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Pour une certaine vitesse </a:t>
            </a:r>
            <a:r>
              <a:rPr lang="el-GR" altLang="fr-FR" sz="1800">
                <a:latin typeface="Calibri" panose="020F0502020204030204" pitchFamily="34" charset="0"/>
              </a:rPr>
              <a:t>ω</a:t>
            </a:r>
            <a:r>
              <a:rPr lang="fr-FR" altLang="fr-FR" sz="1800" baseline="-25000">
                <a:latin typeface="Arial Narrow" panose="020B0606020202030204" pitchFamily="34" charset="0"/>
              </a:rPr>
              <a:t>2</a:t>
            </a:r>
            <a:r>
              <a:rPr lang="fr-FR" altLang="fr-FR" sz="1800">
                <a:latin typeface="Arial Narrow" panose="020B0606020202030204" pitchFamily="34" charset="0"/>
              </a:rPr>
              <a:t> correspondant au glissement g</a:t>
            </a:r>
            <a:r>
              <a:rPr lang="fr-FR" altLang="fr-FR" sz="1800" baseline="-25000">
                <a:latin typeface="Arial Narrow" panose="020B0606020202030204" pitchFamily="34" charset="0"/>
              </a:rPr>
              <a:t>2</a:t>
            </a:r>
            <a:r>
              <a:rPr lang="fr-FR" altLang="fr-FR" sz="1800">
                <a:latin typeface="Arial Narrow" panose="020B0606020202030204" pitchFamily="34" charset="0"/>
              </a:rPr>
              <a:t> , la résistance additionnelle R</a:t>
            </a:r>
            <a:r>
              <a:rPr lang="fr-FR" altLang="fr-FR" sz="1800" baseline="-25000">
                <a:latin typeface="Arial Narrow" panose="020B0606020202030204" pitchFamily="34" charset="0"/>
              </a:rPr>
              <a:t>add</a:t>
            </a:r>
            <a:r>
              <a:rPr lang="fr-FR" altLang="fr-FR" sz="1800">
                <a:latin typeface="Arial Narrow" panose="020B0606020202030204" pitchFamily="34" charset="0"/>
              </a:rPr>
              <a:t> pourra être calculée à partir du glissement naturel g</a:t>
            </a:r>
            <a:r>
              <a:rPr lang="fr-FR" altLang="fr-FR" sz="1800" baseline="-25000">
                <a:latin typeface="Arial Narrow" panose="020B0606020202030204" pitchFamily="34" charset="0"/>
              </a:rPr>
              <a:t>1</a:t>
            </a:r>
          </a:p>
          <a:p>
            <a:pPr algn="just" eaLnBrk="1" hangingPunct="1">
              <a:spcBef>
                <a:spcPct val="0"/>
              </a:spcBef>
              <a:buClrTx/>
              <a:buSzTx/>
              <a:buFontTx/>
              <a:buNone/>
            </a:pPr>
            <a:r>
              <a:rPr lang="fr-FR" altLang="fr-FR" sz="1800">
                <a:latin typeface="Arial Narrow" panose="020B0606020202030204" pitchFamily="34" charset="0"/>
              </a:rPr>
              <a:t>(sans résistance additionnelle) avec la relation:</a:t>
            </a:r>
          </a:p>
          <a:p>
            <a:pPr algn="just" eaLnBrk="1" hangingPunct="1">
              <a:spcBef>
                <a:spcPct val="0"/>
              </a:spcBef>
              <a:buClrTx/>
              <a:buSzTx/>
              <a:buFontTx/>
              <a:buNone/>
            </a:pPr>
            <a:endParaRPr lang="fr-FR" altLang="fr-FR" sz="1800">
              <a:latin typeface="Arial Narrow" panose="020B0606020202030204" pitchFamily="34" charset="0"/>
            </a:endParaRPr>
          </a:p>
          <a:p>
            <a:pPr algn="just" eaLnBrk="1" hangingPunct="1">
              <a:spcBef>
                <a:spcPct val="0"/>
              </a:spcBef>
              <a:buClrTx/>
              <a:buSzTx/>
              <a:buFontTx/>
              <a:buNone/>
            </a:pPr>
            <a:r>
              <a:rPr lang="fr-FR" altLang="fr-FR" sz="1800">
                <a:latin typeface="Arial Narrow" panose="020B0606020202030204" pitchFamily="34" charset="0"/>
              </a:rPr>
              <a:t>                    </a:t>
            </a:r>
            <a:r>
              <a:rPr lang="fr-FR" altLang="fr-FR" sz="1800" b="1">
                <a:latin typeface="Arial Narrow" panose="020B0606020202030204" pitchFamily="34" charset="0"/>
              </a:rPr>
              <a:t>g</a:t>
            </a:r>
            <a:r>
              <a:rPr lang="fr-FR" altLang="fr-FR" sz="1800" b="1" baseline="-25000">
                <a:latin typeface="Arial Narrow" panose="020B0606020202030204" pitchFamily="34" charset="0"/>
              </a:rPr>
              <a:t>2</a:t>
            </a:r>
            <a:r>
              <a:rPr lang="fr-FR" altLang="fr-FR" sz="1800" b="1">
                <a:latin typeface="Arial Narrow" panose="020B0606020202030204" pitchFamily="34" charset="0"/>
              </a:rPr>
              <a:t> = g</a:t>
            </a:r>
            <a:r>
              <a:rPr lang="fr-FR" altLang="fr-FR" sz="1800" b="1" baseline="-25000">
                <a:latin typeface="Arial Narrow" panose="020B0606020202030204" pitchFamily="34" charset="0"/>
              </a:rPr>
              <a:t>1</a:t>
            </a:r>
            <a:r>
              <a:rPr lang="fr-FR" altLang="fr-FR" sz="1800" b="1">
                <a:latin typeface="Arial Narrow" panose="020B0606020202030204" pitchFamily="34" charset="0"/>
              </a:rPr>
              <a:t>.(R</a:t>
            </a:r>
            <a:r>
              <a:rPr lang="fr-FR" altLang="fr-FR" sz="1800" b="1" baseline="-25000">
                <a:latin typeface="Arial Narrow" panose="020B0606020202030204" pitchFamily="34" charset="0"/>
              </a:rPr>
              <a:t>r</a:t>
            </a:r>
            <a:r>
              <a:rPr lang="fr-FR" altLang="fr-FR" sz="1800" b="1">
                <a:latin typeface="Arial Narrow" panose="020B0606020202030204" pitchFamily="34" charset="0"/>
              </a:rPr>
              <a:t>+R</a:t>
            </a:r>
            <a:r>
              <a:rPr lang="fr-FR" altLang="fr-FR" sz="1800" b="1" baseline="-25000">
                <a:latin typeface="Arial Narrow" panose="020B0606020202030204" pitchFamily="34" charset="0"/>
              </a:rPr>
              <a:t>add</a:t>
            </a:r>
            <a:r>
              <a:rPr lang="fr-FR" altLang="fr-FR" sz="1800" b="1">
                <a:latin typeface="Arial Narrow" panose="020B0606020202030204" pitchFamily="34" charset="0"/>
              </a:rPr>
              <a:t>)/R</a:t>
            </a:r>
            <a:r>
              <a:rPr lang="fr-FR" altLang="fr-FR" sz="1800" b="1" baseline="-25000">
                <a:latin typeface="Arial Narrow" panose="020B0606020202030204" pitchFamily="34" charset="0"/>
              </a:rPr>
              <a:t>r</a:t>
            </a:r>
          </a:p>
        </p:txBody>
      </p:sp>
      <p:sp>
        <p:nvSpPr>
          <p:cNvPr id="104454" name="Rectangle 7"/>
          <p:cNvSpPr>
            <a:spLocks noChangeArrowheads="1"/>
          </p:cNvSpPr>
          <p:nvPr/>
        </p:nvSpPr>
        <p:spPr bwMode="auto">
          <a:xfrm>
            <a:off x="1833563" y="5316538"/>
            <a:ext cx="60245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solidFill>
                  <a:srgbClr val="FF0000"/>
                </a:solidFill>
                <a:latin typeface="Arial Narrow" panose="020B0606020202030204" pitchFamily="34" charset="0"/>
              </a:rPr>
              <a:t>L’inconvénient de ce système réside évidemment dans le fait que la puissance transmise aux résistances additionnelles est totalement perdue, ce qui diminue le rendement de l’installation.</a:t>
            </a:r>
          </a:p>
        </p:txBody>
      </p:sp>
      <p:sp>
        <p:nvSpPr>
          <p:cNvPr id="104455" name="Rectangle 8"/>
          <p:cNvSpPr>
            <a:spLocks noChangeArrowheads="1"/>
          </p:cNvSpPr>
          <p:nvPr/>
        </p:nvSpPr>
        <p:spPr bwMode="auto">
          <a:xfrm>
            <a:off x="3286125" y="215900"/>
            <a:ext cx="303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rotor bobiné</a:t>
            </a:r>
            <a:endParaRPr lang="fr-FR" altLang="fr-FR" sz="1800">
              <a:latin typeface="Arial Narrow" panose="020B0606020202030204" pitchFamily="34" charset="0"/>
            </a:endParaRPr>
          </a:p>
        </p:txBody>
      </p:sp>
      <p:sp>
        <p:nvSpPr>
          <p:cNvPr id="10445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4457"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FAF8DC8-D4A3-4136-A1BC-D6AC1C08560B}" type="slidenum">
              <a:rPr lang="en-US" altLang="fr-FR" sz="1000">
                <a:solidFill>
                  <a:srgbClr val="292929"/>
                </a:solidFill>
                <a:latin typeface="Arial" panose="020B0604020202020204" pitchFamily="34" charset="0"/>
              </a:rPr>
              <a:pPr>
                <a:spcBef>
                  <a:spcPct val="0"/>
                </a:spcBef>
                <a:buClrTx/>
                <a:buSzTx/>
                <a:buFontTx/>
                <a:buNone/>
              </a:pPr>
              <a:t>6</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ChangeArrowheads="1"/>
          </p:cNvSpPr>
          <p:nvPr/>
        </p:nvSpPr>
        <p:spPr bwMode="auto">
          <a:xfrm>
            <a:off x="519113" y="909638"/>
            <a:ext cx="2671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Cascade hyposynchrone</a:t>
            </a:r>
            <a:endParaRPr lang="fr-FR" altLang="fr-FR" sz="2000">
              <a:latin typeface="Arial Narrow" panose="020B0606020202030204" pitchFamily="34" charset="0"/>
            </a:endParaRPr>
          </a:p>
        </p:txBody>
      </p:sp>
      <p:sp>
        <p:nvSpPr>
          <p:cNvPr id="106499" name="Rectangle 4"/>
          <p:cNvSpPr>
            <a:spLocks noChangeArrowheads="1"/>
          </p:cNvSpPr>
          <p:nvPr/>
        </p:nvSpPr>
        <p:spPr bwMode="auto">
          <a:xfrm>
            <a:off x="3286125" y="215900"/>
            <a:ext cx="303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rotor bobiné</a:t>
            </a:r>
            <a:endParaRPr lang="fr-FR" altLang="fr-FR" sz="1800">
              <a:latin typeface="Arial Narrow" panose="020B0606020202030204" pitchFamily="34" charset="0"/>
            </a:endParaRPr>
          </a:p>
        </p:txBody>
      </p:sp>
      <p:sp>
        <p:nvSpPr>
          <p:cNvPr id="106500" name="Rectangle 5"/>
          <p:cNvSpPr>
            <a:spLocks noChangeArrowheads="1"/>
          </p:cNvSpPr>
          <p:nvPr/>
        </p:nvSpPr>
        <p:spPr bwMode="auto">
          <a:xfrm>
            <a:off x="628650" y="1457325"/>
            <a:ext cx="7886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Avec une « cascade hyposynchrone », la puissance disponible aux bornes de l’enroulement rotorique est renvoyée au réseau par l’intermédiaire d’un convertisseur statique.</a:t>
            </a:r>
          </a:p>
        </p:txBody>
      </p:sp>
      <p:sp>
        <p:nvSpPr>
          <p:cNvPr id="106501" name="Rectangle 6"/>
          <p:cNvSpPr>
            <a:spLocks noChangeArrowheads="1"/>
          </p:cNvSpPr>
          <p:nvPr/>
        </p:nvSpPr>
        <p:spPr bwMode="auto">
          <a:xfrm>
            <a:off x="657225" y="2224088"/>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L’amplitude et la fréquence des tensions induites aux bornes du rotor sont différentes de celles du réseau. C’est pour cela que l’enroulement rotorique ne peut pas être raccordé directement au réseau.</a:t>
            </a:r>
          </a:p>
        </p:txBody>
      </p:sp>
      <p:pic>
        <p:nvPicPr>
          <p:cNvPr id="10650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11788" y="2589213"/>
            <a:ext cx="30892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3" name="Rectangle 8"/>
          <p:cNvSpPr>
            <a:spLocks noChangeArrowheads="1"/>
          </p:cNvSpPr>
          <p:nvPr/>
        </p:nvSpPr>
        <p:spPr bwMode="auto">
          <a:xfrm>
            <a:off x="701675" y="3792538"/>
            <a:ext cx="42354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La cascade comprend:</a:t>
            </a:r>
          </a:p>
          <a:p>
            <a:pPr algn="just" eaLnBrk="1" hangingPunct="1">
              <a:spcBef>
                <a:spcPct val="0"/>
              </a:spcBef>
              <a:buClrTx/>
              <a:buSzTx/>
              <a:buFontTx/>
              <a:buNone/>
            </a:pPr>
            <a:r>
              <a:rPr lang="fr-FR" altLang="fr-FR" sz="1800">
                <a:latin typeface="Arial Narrow" panose="020B0606020202030204" pitchFamily="34" charset="0"/>
              </a:rPr>
              <a:t>- un pont redresseur (4),</a:t>
            </a:r>
          </a:p>
          <a:p>
            <a:pPr algn="just" eaLnBrk="1" hangingPunct="1">
              <a:spcBef>
                <a:spcPct val="0"/>
              </a:spcBef>
              <a:buClrTx/>
              <a:buSzTx/>
              <a:buFontTx/>
              <a:buNone/>
            </a:pPr>
            <a:r>
              <a:rPr lang="fr-FR" altLang="fr-FR" sz="1800">
                <a:latin typeface="Arial Narrow" panose="020B0606020202030204" pitchFamily="34" charset="0"/>
              </a:rPr>
              <a:t>- un onduleur (5)</a:t>
            </a:r>
          </a:p>
          <a:p>
            <a:pPr algn="just" eaLnBrk="1" hangingPunct="1">
              <a:spcBef>
                <a:spcPct val="0"/>
              </a:spcBef>
              <a:buClrTx/>
              <a:buSzTx/>
              <a:buFontTx/>
              <a:buNone/>
            </a:pPr>
            <a:r>
              <a:rPr lang="fr-FR" altLang="fr-FR" sz="1800">
                <a:latin typeface="Arial Narrow" panose="020B0606020202030204" pitchFamily="34" charset="0"/>
              </a:rPr>
              <a:t>- et un transformateur (7) dont les   enroulements sont connectés respectivement à l’onduleur et au réseau.</a:t>
            </a:r>
          </a:p>
        </p:txBody>
      </p:sp>
      <p:sp>
        <p:nvSpPr>
          <p:cNvPr id="106504"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6505"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98754B9-C92B-48AF-8DA0-7B682ACFCE83}" type="slidenum">
              <a:rPr lang="en-US" altLang="fr-FR" sz="1000">
                <a:solidFill>
                  <a:srgbClr val="292929"/>
                </a:solidFill>
                <a:latin typeface="Arial" panose="020B0604020202020204" pitchFamily="34" charset="0"/>
              </a:rPr>
              <a:pPr>
                <a:spcBef>
                  <a:spcPct val="0"/>
                </a:spcBef>
                <a:buClrTx/>
                <a:buSzTx/>
                <a:buFontTx/>
                <a:buNone/>
              </a:pPr>
              <a:t>7</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ChangeArrowheads="1"/>
          </p:cNvSpPr>
          <p:nvPr/>
        </p:nvSpPr>
        <p:spPr bwMode="auto">
          <a:xfrm>
            <a:off x="884238" y="1500188"/>
            <a:ext cx="7412037"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Une résistance de démarrage (3) est utilisée pour lancer le moteur, le commutateur S1 doit alors être en position 1 (comme sur la figure). </a:t>
            </a:r>
          </a:p>
          <a:p>
            <a:pPr algn="just" eaLnBrk="1" hangingPunct="1">
              <a:spcBef>
                <a:spcPct val="0"/>
              </a:spcBef>
              <a:buClrTx/>
              <a:buSzTx/>
              <a:buFontTx/>
              <a:buNone/>
            </a:pPr>
            <a:r>
              <a:rPr lang="fr-FR" altLang="fr-FR" sz="2000">
                <a:latin typeface="Arial Narrow" panose="020B0606020202030204" pitchFamily="34" charset="0"/>
              </a:rPr>
              <a:t>A la fin du démarrage, S1 est commuté.</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Le réglage de vitesse se fait par la commande de l’onduleur. Ce mode de réglage est plus intéressant que le précédent car le réseau ne fournit que la puissance augmentée des pertes dans le moteur et dans le système convertisseur. </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Un tel dispositif est utilisé pour des moteurs de puissance élevée.</a:t>
            </a:r>
          </a:p>
        </p:txBody>
      </p:sp>
      <p:sp>
        <p:nvSpPr>
          <p:cNvPr id="108547" name="Rectangle 4"/>
          <p:cNvSpPr>
            <a:spLocks noChangeArrowheads="1"/>
          </p:cNvSpPr>
          <p:nvPr/>
        </p:nvSpPr>
        <p:spPr bwMode="auto">
          <a:xfrm>
            <a:off x="519113" y="909638"/>
            <a:ext cx="2671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Cascade hyposynchrone</a:t>
            </a:r>
            <a:endParaRPr lang="fr-FR" altLang="fr-FR" sz="2000">
              <a:latin typeface="Arial Narrow" panose="020B0606020202030204" pitchFamily="34" charset="0"/>
            </a:endParaRPr>
          </a:p>
        </p:txBody>
      </p:sp>
      <p:sp>
        <p:nvSpPr>
          <p:cNvPr id="108548" name="Rectangle 5"/>
          <p:cNvSpPr>
            <a:spLocks noChangeArrowheads="1"/>
          </p:cNvSpPr>
          <p:nvPr/>
        </p:nvSpPr>
        <p:spPr bwMode="auto">
          <a:xfrm>
            <a:off x="3286125" y="215900"/>
            <a:ext cx="3038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rotor bobiné</a:t>
            </a:r>
            <a:endParaRPr lang="fr-FR" altLang="fr-FR" sz="1800">
              <a:latin typeface="Arial Narrow" panose="020B0606020202030204" pitchFamily="34" charset="0"/>
            </a:endParaRPr>
          </a:p>
        </p:txBody>
      </p:sp>
      <p:sp>
        <p:nvSpPr>
          <p:cNvPr id="108549"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08550"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897029B-4A1B-428C-9F29-27C87DD45F8F}" type="slidenum">
              <a:rPr lang="en-US" altLang="fr-FR" sz="1000">
                <a:solidFill>
                  <a:srgbClr val="292929"/>
                </a:solidFill>
                <a:latin typeface="Arial" panose="020B0604020202020204" pitchFamily="34" charset="0"/>
              </a:rPr>
              <a:pPr>
                <a:spcBef>
                  <a:spcPct val="0"/>
                </a:spcBef>
                <a:buClrTx/>
                <a:buSzTx/>
                <a:buFontTx/>
                <a:buNone/>
              </a:pPr>
              <a:t>8</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0595" name="Text Box 5"/>
          <p:cNvSpPr txBox="1">
            <a:spLocks noChangeArrowheads="1"/>
          </p:cNvSpPr>
          <p:nvPr/>
        </p:nvSpPr>
        <p:spPr bwMode="auto">
          <a:xfrm>
            <a:off x="1008063" y="800100"/>
            <a:ext cx="4157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Tension variable , fréquence fixe </a:t>
            </a:r>
          </a:p>
        </p:txBody>
      </p:sp>
      <p:pic>
        <p:nvPicPr>
          <p:cNvPr id="11059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752600"/>
            <a:ext cx="5486400" cy="41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7" name="Text Box 7"/>
          <p:cNvSpPr txBox="1">
            <a:spLocks noChangeArrowheads="1"/>
          </p:cNvSpPr>
          <p:nvPr/>
        </p:nvSpPr>
        <p:spPr bwMode="auto">
          <a:xfrm>
            <a:off x="5943600" y="4114800"/>
            <a:ext cx="2870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Vitesse faible </a:t>
            </a:r>
            <a:r>
              <a:rPr lang="en-US" altLang="fr-FR" sz="1600">
                <a:latin typeface="Arial Narrow" panose="020B0606020202030204" pitchFamily="34" charset="0"/>
                <a:sym typeface="Symbol" panose="05050102010706020507" pitchFamily="18" charset="2"/>
              </a:rPr>
              <a:t> glissement élevé</a:t>
            </a:r>
            <a:endParaRPr lang="en-US" altLang="fr-FR" sz="1600">
              <a:latin typeface="Arial Narrow" panose="020B0606020202030204" pitchFamily="34" charset="0"/>
            </a:endParaRPr>
          </a:p>
        </p:txBody>
      </p:sp>
      <p:sp>
        <p:nvSpPr>
          <p:cNvPr id="110598" name="Text Box 8"/>
          <p:cNvSpPr txBox="1">
            <a:spLocks noChangeArrowheads="1"/>
          </p:cNvSpPr>
          <p:nvPr/>
        </p:nvSpPr>
        <p:spPr bwMode="auto">
          <a:xfrm>
            <a:off x="5943600" y="4724400"/>
            <a:ext cx="2870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Rendement faible aux faibles vitesses</a:t>
            </a:r>
          </a:p>
        </p:txBody>
      </p:sp>
      <p:sp>
        <p:nvSpPr>
          <p:cNvPr id="110599" name="Rectangle 9"/>
          <p:cNvSpPr>
            <a:spLocks noChangeArrowheads="1"/>
          </p:cNvSpPr>
          <p:nvPr/>
        </p:nvSpPr>
        <p:spPr bwMode="auto">
          <a:xfrm>
            <a:off x="5791200" y="1752600"/>
            <a:ext cx="30480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600" b="1">
                <a:latin typeface="Arial Narrow" panose="020B0606020202030204" pitchFamily="34" charset="0"/>
              </a:rPr>
              <a:t>Exemple.  Machine 3–phasée (à cage)</a:t>
            </a:r>
          </a:p>
          <a:p>
            <a:pPr eaLnBrk="1" hangingPunct="1">
              <a:spcBef>
                <a:spcPct val="50000"/>
              </a:spcBef>
              <a:buClrTx/>
              <a:buSzTx/>
              <a:buFontTx/>
              <a:buNone/>
            </a:pPr>
            <a:r>
              <a:rPr lang="en-US" altLang="fr-FR" sz="1600">
                <a:latin typeface="Arial Narrow" panose="020B0606020202030204" pitchFamily="34" charset="0"/>
              </a:rPr>
              <a:t>V = 460 V      R</a:t>
            </a:r>
            <a:r>
              <a:rPr lang="en-US" altLang="fr-FR" sz="1600" baseline="-25000">
                <a:latin typeface="Arial Narrow" panose="020B0606020202030204" pitchFamily="34" charset="0"/>
              </a:rPr>
              <a:t>s</a:t>
            </a:r>
            <a:r>
              <a:rPr lang="en-US" altLang="fr-FR" sz="1600">
                <a:latin typeface="Arial Narrow" panose="020B0606020202030204" pitchFamily="34" charset="0"/>
              </a:rPr>
              <a:t>= 0.25 </a:t>
            </a:r>
            <a:r>
              <a:rPr lang="en-US" altLang="fr-FR" sz="1600">
                <a:latin typeface="Arial Narrow" panose="020B0606020202030204" pitchFamily="34" charset="0"/>
                <a:sym typeface="Symbol" panose="05050102010706020507" pitchFamily="18" charset="2"/>
              </a:rPr>
              <a:t></a:t>
            </a:r>
            <a:r>
              <a:rPr lang="en-US" altLang="fr-FR" sz="1600">
                <a:latin typeface="Arial Narrow" panose="020B0606020202030204" pitchFamily="34" charset="0"/>
              </a:rPr>
              <a:t>  </a:t>
            </a:r>
          </a:p>
          <a:p>
            <a:pPr eaLnBrk="1" hangingPunct="1">
              <a:spcBef>
                <a:spcPct val="50000"/>
              </a:spcBef>
              <a:buClrTx/>
              <a:buSzTx/>
              <a:buFontTx/>
              <a:buNone/>
            </a:pPr>
            <a:r>
              <a:rPr lang="en-US" altLang="fr-FR" sz="1600">
                <a:latin typeface="Arial Narrow" panose="020B0606020202030204" pitchFamily="34" charset="0"/>
              </a:rPr>
              <a:t>R</a:t>
            </a:r>
            <a:r>
              <a:rPr lang="en-US" altLang="fr-FR" sz="1600" baseline="-25000">
                <a:latin typeface="Arial Narrow" panose="020B0606020202030204" pitchFamily="34" charset="0"/>
              </a:rPr>
              <a:t>r</a:t>
            </a:r>
            <a:r>
              <a:rPr lang="en-US" altLang="fr-FR" sz="1600">
                <a:latin typeface="Arial Narrow" panose="020B0606020202030204" pitchFamily="34" charset="0"/>
              </a:rPr>
              <a:t>=0.2 </a:t>
            </a:r>
            <a:r>
              <a:rPr lang="en-US" altLang="fr-FR" sz="1600">
                <a:latin typeface="Arial Narrow" panose="020B0606020202030204" pitchFamily="34" charset="0"/>
                <a:sym typeface="Symbol" panose="05050102010706020507" pitchFamily="18" charset="2"/>
              </a:rPr>
              <a:t></a:t>
            </a:r>
            <a:r>
              <a:rPr lang="en-US" altLang="fr-FR" sz="1600">
                <a:latin typeface="Arial Narrow" panose="020B0606020202030204" pitchFamily="34" charset="0"/>
                <a:cs typeface="Times New Roman" panose="02020603050405020304" pitchFamily="18" charset="0"/>
              </a:rPr>
              <a:t> </a:t>
            </a:r>
            <a:r>
              <a:rPr lang="en-US" altLang="fr-FR" sz="1600">
                <a:latin typeface="Arial Narrow" panose="020B0606020202030204" pitchFamily="34" charset="0"/>
              </a:rPr>
              <a:t>  L</a:t>
            </a:r>
            <a:r>
              <a:rPr lang="en-US" altLang="fr-FR" sz="1600" baseline="-25000">
                <a:latin typeface="Arial Narrow" panose="020B0606020202030204" pitchFamily="34" charset="0"/>
              </a:rPr>
              <a:t>r</a:t>
            </a:r>
            <a:r>
              <a:rPr lang="en-US" altLang="fr-FR" sz="1600">
                <a:latin typeface="Arial Narrow" panose="020B0606020202030204" pitchFamily="34" charset="0"/>
              </a:rPr>
              <a:t> = L</a:t>
            </a:r>
            <a:r>
              <a:rPr lang="en-US" altLang="fr-FR" sz="1600" baseline="-25000">
                <a:latin typeface="Arial Narrow" panose="020B0606020202030204" pitchFamily="34" charset="0"/>
              </a:rPr>
              <a:t>s</a:t>
            </a:r>
            <a:r>
              <a:rPr lang="en-US" altLang="fr-FR" sz="1600">
                <a:latin typeface="Arial Narrow" panose="020B0606020202030204" pitchFamily="34" charset="0"/>
              </a:rPr>
              <a:t> = 0.5/(2*pi*50) </a:t>
            </a:r>
          </a:p>
          <a:p>
            <a:pPr eaLnBrk="1" hangingPunct="1">
              <a:spcBef>
                <a:spcPct val="50000"/>
              </a:spcBef>
              <a:buClrTx/>
              <a:buSzTx/>
              <a:buFontTx/>
              <a:buNone/>
            </a:pPr>
            <a:r>
              <a:rPr lang="en-US" altLang="fr-FR" sz="1600">
                <a:latin typeface="Arial Narrow" panose="020B0606020202030204" pitchFamily="34" charset="0"/>
              </a:rPr>
              <a:t>L</a:t>
            </a:r>
            <a:r>
              <a:rPr lang="en-US" altLang="fr-FR" sz="1600" baseline="-25000">
                <a:latin typeface="Arial Narrow" panose="020B0606020202030204" pitchFamily="34" charset="0"/>
              </a:rPr>
              <a:t>m</a:t>
            </a:r>
            <a:r>
              <a:rPr lang="en-US" altLang="fr-FR" sz="1600">
                <a:latin typeface="Arial Narrow" panose="020B0606020202030204" pitchFamily="34" charset="0"/>
              </a:rPr>
              <a:t>=30/(2*pi*50)</a:t>
            </a:r>
          </a:p>
          <a:p>
            <a:pPr eaLnBrk="1" hangingPunct="1">
              <a:spcBef>
                <a:spcPct val="50000"/>
              </a:spcBef>
              <a:buClrTx/>
              <a:buSzTx/>
              <a:buFontTx/>
              <a:buNone/>
            </a:pPr>
            <a:r>
              <a:rPr lang="en-US" altLang="fr-FR" sz="1600">
                <a:latin typeface="Arial Narrow" panose="020B0606020202030204" pitchFamily="34" charset="0"/>
              </a:rPr>
              <a:t>f = 50Hz      p = 4</a:t>
            </a:r>
          </a:p>
        </p:txBody>
      </p:sp>
      <p:sp>
        <p:nvSpPr>
          <p:cNvPr id="110600" name="Rectangle 11"/>
          <p:cNvSpPr>
            <a:spLocks noChangeArrowheads="1"/>
          </p:cNvSpPr>
          <p:nvPr/>
        </p:nvSpPr>
        <p:spPr bwMode="auto">
          <a:xfrm>
            <a:off x="3286125" y="215900"/>
            <a:ext cx="2357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Cas des moteurs à cage</a:t>
            </a:r>
            <a:endParaRPr lang="fr-FR" altLang="fr-FR" sz="1800">
              <a:latin typeface="Arial Narrow" panose="020B0606020202030204" pitchFamily="34" charset="0"/>
            </a:endParaRPr>
          </a:p>
        </p:txBody>
      </p:sp>
      <p:sp>
        <p:nvSpPr>
          <p:cNvPr id="110601"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6A990F0-8580-4846-A89C-D5A8C26E8BAA}" type="slidenum">
              <a:rPr lang="en-US" altLang="fr-FR" sz="1000">
                <a:solidFill>
                  <a:srgbClr val="292929"/>
                </a:solidFill>
                <a:latin typeface="Arial" panose="020B0604020202020204" pitchFamily="34" charset="0"/>
              </a:rPr>
              <a:pPr>
                <a:spcBef>
                  <a:spcPct val="0"/>
                </a:spcBef>
                <a:buClrTx/>
                <a:buSzTx/>
                <a:buFontTx/>
                <a:buNone/>
              </a:pPr>
              <a:t>9</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46325" y="3443288"/>
            <a:ext cx="5592763"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Rectangle 4"/>
          <p:cNvSpPr>
            <a:spLocks noChangeArrowheads="1"/>
          </p:cNvSpPr>
          <p:nvPr/>
        </p:nvSpPr>
        <p:spPr bwMode="auto">
          <a:xfrm>
            <a:off x="811213" y="1135063"/>
            <a:ext cx="799623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Les figures montrent que selon l’allure du couple résistant, certains points de fonctionnement peuvent être instables (dT</a:t>
            </a:r>
            <a:r>
              <a:rPr lang="fr-FR" altLang="fr-FR" sz="1800" baseline="-25000">
                <a:latin typeface="Arial Narrow" panose="020B0606020202030204" pitchFamily="34" charset="0"/>
              </a:rPr>
              <a:t>res</a:t>
            </a:r>
            <a:r>
              <a:rPr lang="fr-FR" altLang="fr-FR" sz="1800">
                <a:latin typeface="Arial Narrow" panose="020B0606020202030204" pitchFamily="34" charset="0"/>
              </a:rPr>
              <a:t>/d</a:t>
            </a:r>
            <a:r>
              <a:rPr lang="el-GR" altLang="fr-FR" sz="1800">
                <a:latin typeface="Calibri" panose="020F0502020204030204" pitchFamily="34" charset="0"/>
              </a:rPr>
              <a:t>ω</a:t>
            </a:r>
            <a:r>
              <a:rPr lang="fr-FR" altLang="fr-FR" sz="1800">
                <a:latin typeface="Arial Narrow" panose="020B0606020202030204" pitchFamily="34" charset="0"/>
              </a:rPr>
              <a:t> &lt; dT/d</a:t>
            </a:r>
            <a:r>
              <a:rPr lang="el-GR" altLang="fr-FR" sz="1800">
                <a:latin typeface="Calibri" panose="020F0502020204030204" pitchFamily="34" charset="0"/>
              </a:rPr>
              <a:t> ω</a:t>
            </a:r>
            <a:r>
              <a:rPr lang="fr-FR" altLang="fr-FR" sz="1800">
                <a:latin typeface="Arial Narrow" panose="020B0606020202030204" pitchFamily="34" charset="0"/>
              </a:rPr>
              <a:t>).</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Avec cette méthode, la plage de réglage pour la vitesse est, selon le type de couple résistant, particulièrement limitée (ex: T</a:t>
            </a:r>
            <a:r>
              <a:rPr lang="fr-FR" altLang="fr-FR" sz="1800" baseline="-25000">
                <a:latin typeface="Arial Narrow" panose="020B0606020202030204" pitchFamily="34" charset="0"/>
              </a:rPr>
              <a:t>res</a:t>
            </a:r>
            <a:r>
              <a:rPr lang="fr-FR" altLang="fr-FR" sz="1800">
                <a:latin typeface="Arial Narrow" panose="020B0606020202030204" pitchFamily="34" charset="0"/>
              </a:rPr>
              <a:t> = const.).</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Notons aussi que pour les forts glissements le rendement n’est pas bon (ex: T</a:t>
            </a:r>
            <a:r>
              <a:rPr lang="fr-FR" altLang="fr-FR" sz="1800" baseline="-25000">
                <a:latin typeface="Arial Narrow" panose="020B0606020202030204" pitchFamily="34" charset="0"/>
              </a:rPr>
              <a:t>res</a:t>
            </a:r>
            <a:r>
              <a:rPr lang="fr-FR" altLang="fr-FR" sz="1800">
                <a:latin typeface="Arial Narrow" panose="020B0606020202030204" pitchFamily="34" charset="0"/>
              </a:rPr>
              <a:t> quadratique).</a:t>
            </a:r>
          </a:p>
        </p:txBody>
      </p:sp>
      <p:sp>
        <p:nvSpPr>
          <p:cNvPr id="112644" name="Text Box 5"/>
          <p:cNvSpPr txBox="1">
            <a:spLocks noChangeArrowheads="1"/>
          </p:cNvSpPr>
          <p:nvPr/>
        </p:nvSpPr>
        <p:spPr bwMode="auto">
          <a:xfrm>
            <a:off x="1008063" y="398463"/>
            <a:ext cx="41576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Tension variable , fréquence fixe </a:t>
            </a:r>
          </a:p>
        </p:txBody>
      </p:sp>
      <p:sp>
        <p:nvSpPr>
          <p:cNvPr id="112645" name="Rectangle 10"/>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2646"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6B136A5-273A-41FD-89C7-10B8D4FF35E4}" type="slidenum">
              <a:rPr lang="en-US" altLang="fr-FR" sz="1000">
                <a:solidFill>
                  <a:srgbClr val="292929"/>
                </a:solidFill>
                <a:latin typeface="Arial" panose="020B0604020202020204" pitchFamily="34" charset="0"/>
              </a:rPr>
              <a:pPr>
                <a:spcBef>
                  <a:spcPct val="0"/>
                </a:spcBef>
                <a:buClrTx/>
                <a:buSzTx/>
                <a:buFontTx/>
                <a:buNone/>
              </a:pPr>
              <a:t>10</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ChangeArrowheads="1"/>
          </p:cNvSpPr>
          <p:nvPr/>
        </p:nvSpPr>
        <p:spPr bwMode="auto">
          <a:xfrm>
            <a:off x="701675" y="1219200"/>
            <a:ext cx="774065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La seule possibilité de réglage continu de la vitesse du moteur à cage consiste à modifier la vitesse du champ tournant. </a:t>
            </a:r>
          </a:p>
          <a:p>
            <a:pPr algn="just" eaLnBrk="1" hangingPunct="1">
              <a:spcBef>
                <a:spcPct val="0"/>
              </a:spcBef>
              <a:buClrTx/>
              <a:buSzTx/>
              <a:buFontTx/>
              <a:buNone/>
            </a:pPr>
            <a:r>
              <a:rPr lang="fr-FR" altLang="fr-FR" sz="2000">
                <a:latin typeface="Arial Narrow" panose="020B0606020202030204" pitchFamily="34" charset="0"/>
              </a:rPr>
              <a:t>Cette variation, qui est possible au moyen d’un </a:t>
            </a:r>
            <a:r>
              <a:rPr lang="fr-FR" altLang="fr-FR" sz="2000" i="1">
                <a:latin typeface="Arial Narrow" panose="020B0606020202030204" pitchFamily="34" charset="0"/>
              </a:rPr>
              <a:t>convertisseur de fréquence, permet </a:t>
            </a:r>
            <a:r>
              <a:rPr lang="fr-FR" altLang="fr-FR" sz="2000">
                <a:latin typeface="Arial Narrow" panose="020B0606020202030204" pitchFamily="34" charset="0"/>
              </a:rPr>
              <a:t>d’effectuer un réglage de vitesse dans de bonnes conditions de rendement. </a:t>
            </a:r>
          </a:p>
          <a:p>
            <a:pPr algn="just" eaLnBrk="1" hangingPunct="1">
              <a:spcBef>
                <a:spcPct val="0"/>
              </a:spcBef>
              <a:buClrTx/>
              <a:buSzTx/>
              <a:buFontTx/>
              <a:buNone/>
            </a:pPr>
            <a:r>
              <a:rPr lang="fr-FR" altLang="fr-FR" sz="2000">
                <a:latin typeface="Arial Narrow" panose="020B0606020202030204" pitchFamily="34" charset="0"/>
              </a:rPr>
              <a:t>Elle est de plus en plus souvent employée. L’inversion du sens de rotation et le fonctionnement en génératrice sont possibles.</a:t>
            </a:r>
          </a:p>
        </p:txBody>
      </p:sp>
      <p:sp>
        <p:nvSpPr>
          <p:cNvPr id="114691" name="Text Box 3"/>
          <p:cNvSpPr txBox="1">
            <a:spLocks noChangeArrowheads="1"/>
          </p:cNvSpPr>
          <p:nvPr/>
        </p:nvSpPr>
        <p:spPr bwMode="auto">
          <a:xfrm>
            <a:off x="990600" y="361950"/>
            <a:ext cx="6929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endParaRPr lang="en-US" altLang="fr-FR" sz="1800" b="1">
              <a:latin typeface="Arial Narrow" panose="020B0606020202030204" pitchFamily="34" charset="0"/>
            </a:endParaRPr>
          </a:p>
        </p:txBody>
      </p:sp>
      <p:sp>
        <p:nvSpPr>
          <p:cNvPr id="114692" name="Rectangle 5"/>
          <p:cNvSpPr>
            <a:spLocks noChangeArrowheads="1"/>
          </p:cNvSpPr>
          <p:nvPr/>
        </p:nvSpPr>
        <p:spPr bwMode="auto">
          <a:xfrm>
            <a:off x="701675" y="3754438"/>
            <a:ext cx="7777163"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Pour garder un couple électromagnétique constant, en modifiant la vitesse, il faut, simultanément avec la modification de la fréquence d’alimentation f du stator, modifier la valeur de la tension d’alimentation U afin de ne pas varier la valeur nominale du flux totalisé. En effet, la tension induite est proportionnelle à la fréquence et au flux.</a:t>
            </a:r>
          </a:p>
        </p:txBody>
      </p:sp>
      <p:sp>
        <p:nvSpPr>
          <p:cNvPr id="114693"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4694"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8E9E7B8-AC43-4FF6-A8C2-F184CDC31696}" type="slidenum">
              <a:rPr lang="en-US" altLang="fr-FR" sz="1000">
                <a:solidFill>
                  <a:srgbClr val="292929"/>
                </a:solidFill>
                <a:latin typeface="Arial" panose="020B0604020202020204" pitchFamily="34" charset="0"/>
              </a:rPr>
              <a:pPr>
                <a:spcBef>
                  <a:spcPct val="0"/>
                </a:spcBef>
                <a:buClrTx/>
                <a:buSzTx/>
                <a:buFontTx/>
                <a:buNone/>
              </a:pPr>
              <a:t>11</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0"/>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6739" name="Text Box 11"/>
          <p:cNvSpPr txBox="1">
            <a:spLocks noChangeArrowheads="1"/>
          </p:cNvSpPr>
          <p:nvPr/>
        </p:nvSpPr>
        <p:spPr bwMode="auto">
          <a:xfrm>
            <a:off x="990600" y="512763"/>
            <a:ext cx="59436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p>
          <a:p>
            <a:pPr eaLnBrk="1" hangingPunct="1">
              <a:spcBef>
                <a:spcPct val="0"/>
              </a:spcBef>
              <a:buClrTx/>
              <a:buSzTx/>
              <a:buFontTx/>
              <a:buNone/>
            </a:pPr>
            <a:br>
              <a:rPr lang="en-US" altLang="fr-FR" sz="2400" b="1">
                <a:latin typeface="Arial Narrow" panose="020B0606020202030204" pitchFamily="34" charset="0"/>
              </a:rPr>
            </a:br>
            <a:r>
              <a:rPr lang="en-US" altLang="fr-FR" sz="2400" b="1">
                <a:latin typeface="Arial Narrow" panose="020B0606020202030204" pitchFamily="34" charset="0"/>
              </a:rPr>
              <a:t>V/f constant</a:t>
            </a:r>
          </a:p>
        </p:txBody>
      </p:sp>
      <p:sp>
        <p:nvSpPr>
          <p:cNvPr id="116740" name="Rectangle 13"/>
          <p:cNvSpPr>
            <a:spLocks noChangeArrowheads="1"/>
          </p:cNvSpPr>
          <p:nvPr/>
        </p:nvSpPr>
        <p:spPr bwMode="auto">
          <a:xfrm>
            <a:off x="3200400" y="2041525"/>
            <a:ext cx="1225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E</a:t>
            </a:r>
            <a:r>
              <a:rPr lang="en-US" altLang="fr-FR" sz="2400" baseline="-25000">
                <a:latin typeface="Arial Narrow" panose="020B0606020202030204" pitchFamily="34" charset="0"/>
              </a:rPr>
              <a:t>s</a:t>
            </a:r>
            <a:r>
              <a:rPr lang="en-US" altLang="fr-FR" sz="2400">
                <a:latin typeface="Arial Narrow" panose="020B0606020202030204" pitchFamily="34" charset="0"/>
              </a:rPr>
              <a:t> = k f </a:t>
            </a:r>
            <a:r>
              <a:rPr lang="en-US" altLang="fr-FR" sz="2400">
                <a:latin typeface="Arial Narrow" panose="020B0606020202030204" pitchFamily="34" charset="0"/>
                <a:sym typeface="Symbol" panose="05050102010706020507" pitchFamily="18" charset="2"/>
              </a:rPr>
              <a:t></a:t>
            </a:r>
            <a:endParaRPr lang="en-US" altLang="fr-FR" sz="2400" baseline="-25000">
              <a:latin typeface="Arial Narrow" panose="020B0606020202030204" pitchFamily="34" charset="0"/>
            </a:endParaRPr>
          </a:p>
        </p:txBody>
      </p:sp>
      <p:graphicFrame>
        <p:nvGraphicFramePr>
          <p:cNvPr id="116741" name="Object 14"/>
          <p:cNvGraphicFramePr>
            <a:graphicFrameLocks noGrp="1" noChangeAspect="1"/>
          </p:cNvGraphicFramePr>
          <p:nvPr>
            <p:ph idx="1"/>
          </p:nvPr>
        </p:nvGraphicFramePr>
        <p:xfrm>
          <a:off x="6284913" y="3143250"/>
          <a:ext cx="952500" cy="727075"/>
        </p:xfrm>
        <a:graphic>
          <a:graphicData uri="http://schemas.openxmlformats.org/presentationml/2006/ole">
            <mc:AlternateContent xmlns:mc="http://schemas.openxmlformats.org/markup-compatibility/2006">
              <mc:Choice xmlns:v="urn:schemas-microsoft-com:vml" Requires="v">
                <p:oleObj spid="_x0000_s116769" name="Équation" r:id="rId4" imgW="482391" imgH="368140" progId="Equation.3">
                  <p:embed/>
                </p:oleObj>
              </mc:Choice>
              <mc:Fallback>
                <p:oleObj name="Équation" r:id="rId4" imgW="482391" imgH="36814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4913" y="3143250"/>
                        <a:ext cx="952500"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42" name="Object 17"/>
          <p:cNvGraphicFramePr>
            <a:graphicFrameLocks noChangeAspect="1"/>
          </p:cNvGraphicFramePr>
          <p:nvPr/>
        </p:nvGraphicFramePr>
        <p:xfrm>
          <a:off x="2703513" y="3289300"/>
          <a:ext cx="252412" cy="393700"/>
        </p:xfrm>
        <a:graphic>
          <a:graphicData uri="http://schemas.openxmlformats.org/presentationml/2006/ole">
            <mc:AlternateContent xmlns:mc="http://schemas.openxmlformats.org/markup-compatibility/2006">
              <mc:Choice xmlns:v="urn:schemas-microsoft-com:vml" Requires="v">
                <p:oleObj spid="_x0000_s116770" name="Équation" r:id="rId6" imgW="114102" imgH="177492" progId="Equation.3">
                  <p:embed/>
                </p:oleObj>
              </mc:Choice>
              <mc:Fallback>
                <p:oleObj name="Équation" r:id="rId6" imgW="114102" imgH="177492"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3513" y="3289300"/>
                        <a:ext cx="2524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43" name="Text Box 18"/>
          <p:cNvSpPr txBox="1">
            <a:spLocks noChangeArrowheads="1"/>
          </p:cNvSpPr>
          <p:nvPr/>
        </p:nvSpPr>
        <p:spPr bwMode="auto">
          <a:xfrm>
            <a:off x="2971800" y="3248025"/>
            <a:ext cx="3170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 </a:t>
            </a:r>
            <a:r>
              <a:rPr lang="en-US" altLang="fr-FR" sz="2000">
                <a:latin typeface="Arial Narrow" panose="020B0606020202030204" pitchFamily="34" charset="0"/>
              </a:rPr>
              <a:t>constante proportionnelle à</a:t>
            </a:r>
            <a:r>
              <a:rPr lang="en-US" altLang="fr-FR" sz="2400">
                <a:latin typeface="Arial Narrow" panose="020B0606020202030204" pitchFamily="34" charset="0"/>
              </a:rPr>
              <a:t>  </a:t>
            </a:r>
          </a:p>
        </p:txBody>
      </p:sp>
      <p:sp>
        <p:nvSpPr>
          <p:cNvPr id="116744" name="Text Box 19"/>
          <p:cNvSpPr txBox="1">
            <a:spLocks noChangeArrowheads="1"/>
          </p:cNvSpPr>
          <p:nvPr/>
        </p:nvSpPr>
        <p:spPr bwMode="auto">
          <a:xfrm>
            <a:off x="1066800" y="4278313"/>
            <a:ext cx="6781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La vitesse peut être variée en variant  f    </a:t>
            </a:r>
          </a:p>
          <a:p>
            <a:pPr eaLnBrk="1" hangingPunct="1">
              <a:spcBef>
                <a:spcPct val="0"/>
              </a:spcBef>
              <a:buClrTx/>
              <a:buSzTx/>
              <a:buFontTx/>
              <a:buNone/>
            </a:pPr>
            <a:r>
              <a:rPr lang="en-US" altLang="fr-FR" sz="2400">
                <a:latin typeface="Arial Narrow" panose="020B0606020202030204" pitchFamily="34" charset="0"/>
              </a:rPr>
              <a:t>Maintenir  V/f constant pour éviter la saturation du flux </a:t>
            </a:r>
          </a:p>
        </p:txBody>
      </p:sp>
      <p:sp>
        <p:nvSpPr>
          <p:cNvPr id="116745"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3B993F0-81BB-400F-B796-E35600365D67}" type="slidenum">
              <a:rPr lang="en-US" altLang="fr-FR" sz="1000">
                <a:solidFill>
                  <a:srgbClr val="292929"/>
                </a:solidFill>
                <a:latin typeface="Arial" panose="020B0604020202020204" pitchFamily="34" charset="0"/>
              </a:rPr>
              <a:pPr>
                <a:spcBef>
                  <a:spcPct val="0"/>
                </a:spcBef>
                <a:buClrTx/>
                <a:buSzTx/>
                <a:buFontTx/>
                <a:buNone/>
              </a:pPr>
              <a:t>12</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18787" name="Text Box 3"/>
          <p:cNvSpPr txBox="1">
            <a:spLocks noChangeArrowheads="1"/>
          </p:cNvSpPr>
          <p:nvPr/>
        </p:nvSpPr>
        <p:spPr bwMode="auto">
          <a:xfrm>
            <a:off x="990600" y="512763"/>
            <a:ext cx="5943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Tension variable , fréquence variable</a:t>
            </a:r>
          </a:p>
          <a:p>
            <a:pPr eaLnBrk="1" hangingPunct="1">
              <a:spcBef>
                <a:spcPct val="0"/>
              </a:spcBef>
              <a:buClrTx/>
              <a:buSzTx/>
              <a:buFontTx/>
              <a:buNone/>
            </a:pPr>
            <a:br>
              <a:rPr lang="en-US" altLang="fr-FR" sz="2400" b="1">
                <a:latin typeface="Arial Narrow" panose="020B0606020202030204" pitchFamily="34" charset="0"/>
              </a:rPr>
            </a:br>
            <a:r>
              <a:rPr lang="en-US" altLang="fr-FR" sz="2400" b="1">
                <a:latin typeface="Arial Narrow" panose="020B0606020202030204" pitchFamily="34" charset="0"/>
              </a:rPr>
              <a:t>V/f constant</a:t>
            </a:r>
          </a:p>
        </p:txBody>
      </p:sp>
      <p:sp>
        <p:nvSpPr>
          <p:cNvPr id="118788" name="Line 12"/>
          <p:cNvSpPr>
            <a:spLocks noChangeShapeType="1"/>
          </p:cNvSpPr>
          <p:nvPr/>
        </p:nvSpPr>
        <p:spPr bwMode="auto">
          <a:xfrm flipV="1">
            <a:off x="1739900" y="1844675"/>
            <a:ext cx="0" cy="4249738"/>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18789" name="Line 13"/>
          <p:cNvSpPr>
            <a:spLocks noChangeShapeType="1"/>
          </p:cNvSpPr>
          <p:nvPr/>
        </p:nvSpPr>
        <p:spPr bwMode="auto">
          <a:xfrm>
            <a:off x="1739900" y="6094413"/>
            <a:ext cx="5748338"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18790" name="Line 17"/>
          <p:cNvSpPr>
            <a:spLocks noChangeShapeType="1"/>
          </p:cNvSpPr>
          <p:nvPr/>
        </p:nvSpPr>
        <p:spPr bwMode="auto">
          <a:xfrm flipV="1">
            <a:off x="1746250" y="2479675"/>
            <a:ext cx="4710113" cy="3613150"/>
          </a:xfrm>
          <a:prstGeom prst="line">
            <a:avLst/>
          </a:prstGeom>
          <a:noFill/>
          <a:ln w="28575">
            <a:solidFill>
              <a:srgbClr val="B6160A"/>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8791" name="Line 18"/>
          <p:cNvSpPr>
            <a:spLocks noChangeShapeType="1"/>
          </p:cNvSpPr>
          <p:nvPr/>
        </p:nvSpPr>
        <p:spPr bwMode="auto">
          <a:xfrm>
            <a:off x="1727200" y="2449513"/>
            <a:ext cx="464026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18792" name="Line 19"/>
          <p:cNvSpPr>
            <a:spLocks noChangeShapeType="1"/>
          </p:cNvSpPr>
          <p:nvPr/>
        </p:nvSpPr>
        <p:spPr bwMode="auto">
          <a:xfrm>
            <a:off x="6467475" y="2449513"/>
            <a:ext cx="0" cy="3643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18793" name="Text Box 20"/>
          <p:cNvSpPr txBox="1">
            <a:spLocks noChangeArrowheads="1"/>
          </p:cNvSpPr>
          <p:nvPr/>
        </p:nvSpPr>
        <p:spPr bwMode="auto">
          <a:xfrm>
            <a:off x="935038" y="2205038"/>
            <a:ext cx="5095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V</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18794" name="Text Box 21"/>
          <p:cNvSpPr txBox="1">
            <a:spLocks noChangeArrowheads="1"/>
          </p:cNvSpPr>
          <p:nvPr/>
        </p:nvSpPr>
        <p:spPr bwMode="auto">
          <a:xfrm>
            <a:off x="6192838" y="5984875"/>
            <a:ext cx="900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f</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18795" name="Text Box 28"/>
          <p:cNvSpPr txBox="1">
            <a:spLocks noChangeArrowheads="1"/>
          </p:cNvSpPr>
          <p:nvPr/>
        </p:nvSpPr>
        <p:spPr bwMode="auto">
          <a:xfrm>
            <a:off x="1150938" y="1736725"/>
            <a:ext cx="48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V</a:t>
            </a:r>
            <a:r>
              <a:rPr lang="en-US" altLang="fr-FR" sz="2400" baseline="-25000">
                <a:latin typeface="Arial Narrow" panose="020B0606020202030204" pitchFamily="34" charset="0"/>
              </a:rPr>
              <a:t>s</a:t>
            </a:r>
          </a:p>
        </p:txBody>
      </p:sp>
      <p:sp>
        <p:nvSpPr>
          <p:cNvPr id="118796" name="Text Box 29"/>
          <p:cNvSpPr txBox="1">
            <a:spLocks noChangeArrowheads="1"/>
          </p:cNvSpPr>
          <p:nvPr/>
        </p:nvSpPr>
        <p:spPr bwMode="auto">
          <a:xfrm>
            <a:off x="7488238" y="6021388"/>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f</a:t>
            </a:r>
            <a:endParaRPr lang="en-US" altLang="fr-FR" sz="2400" baseline="-25000">
              <a:latin typeface="Arial Narrow" panose="020B0606020202030204" pitchFamily="34" charset="0"/>
            </a:endParaRPr>
          </a:p>
        </p:txBody>
      </p:sp>
      <p:sp>
        <p:nvSpPr>
          <p:cNvPr id="118797" name="Espace réservé du numéro de diapositive 1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CB52AC8-1A34-4CDD-A559-55E83BAD9F58}" type="slidenum">
              <a:rPr lang="en-US" altLang="fr-FR" sz="1000">
                <a:solidFill>
                  <a:srgbClr val="292929"/>
                </a:solidFill>
                <a:latin typeface="Arial" panose="020B0604020202020204" pitchFamily="34" charset="0"/>
              </a:rPr>
              <a:pPr>
                <a:spcBef>
                  <a:spcPct val="0"/>
                </a:spcBef>
                <a:buClrTx/>
                <a:buSzTx/>
                <a:buFontTx/>
                <a:buNone/>
              </a:pPr>
              <a:t>13</a:t>
            </a:fld>
            <a:endParaRPr lang="en-US" altLang="fr-FR" sz="1000">
              <a:solidFill>
                <a:srgbClr val="292929"/>
              </a:solidFill>
              <a:latin typeface="Arial" panose="020B0604020202020204" pitchFamily="34" charset="0"/>
            </a:endParaRPr>
          </a:p>
        </p:txBody>
      </p:sp>
      <p:sp>
        <p:nvSpPr>
          <p:cNvPr id="18" name="Espace réservé du pied de page 17"/>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0835" name="Text Box 3"/>
          <p:cNvSpPr txBox="1">
            <a:spLocks noChangeArrowheads="1"/>
          </p:cNvSpPr>
          <p:nvPr/>
        </p:nvSpPr>
        <p:spPr bwMode="auto">
          <a:xfrm>
            <a:off x="990600" y="512763"/>
            <a:ext cx="69294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p>
          <a:p>
            <a:pPr eaLnBrk="1" hangingPunct="1">
              <a:spcBef>
                <a:spcPct val="0"/>
              </a:spcBef>
              <a:buClrTx/>
              <a:buSzTx/>
              <a:buFontTx/>
              <a:buNone/>
            </a:pPr>
            <a:r>
              <a:rPr lang="en-US" altLang="fr-FR" sz="2000" b="1">
                <a:latin typeface="Arial Narrow" panose="020B0606020202030204" pitchFamily="34" charset="0"/>
              </a:rPr>
              <a:t>V/f constant</a:t>
            </a:r>
            <a:r>
              <a:rPr lang="en-US" altLang="fr-FR" sz="2400" b="1">
                <a:latin typeface="Arial Narrow" panose="020B0606020202030204" pitchFamily="34" charset="0"/>
              </a:rPr>
              <a:t>   </a:t>
            </a:r>
            <a:r>
              <a:rPr lang="fr-FR" altLang="fr-FR" sz="2400" b="1">
                <a:latin typeface="Arial Narrow" panose="020B0606020202030204" pitchFamily="34" charset="0"/>
              </a:rPr>
              <a:t>-</a:t>
            </a:r>
            <a:r>
              <a:rPr lang="fr-FR" altLang="fr-FR" sz="1800" b="1">
                <a:latin typeface="Arial Narrow" panose="020B0606020202030204" pitchFamily="34" charset="0"/>
              </a:rPr>
              <a:t>en supposant que le flux est constant:</a:t>
            </a:r>
            <a:endParaRPr lang="en-US" altLang="fr-FR" sz="1800" b="1">
              <a:latin typeface="Arial Narrow" panose="020B0606020202030204" pitchFamily="34" charset="0"/>
            </a:endParaRPr>
          </a:p>
        </p:txBody>
      </p:sp>
      <p:pic>
        <p:nvPicPr>
          <p:cNvPr id="12083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2143125"/>
            <a:ext cx="6008687"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7" name="Rectangle 8"/>
          <p:cNvSpPr>
            <a:spLocks noChangeArrowheads="1"/>
          </p:cNvSpPr>
          <p:nvPr/>
        </p:nvSpPr>
        <p:spPr bwMode="auto">
          <a:xfrm>
            <a:off x="847725" y="1552575"/>
            <a:ext cx="7667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Les caractéristiques couple-vitesse se déduisent alors les unes des autres par translation, comme le montre la figure ci-contre.</a:t>
            </a:r>
          </a:p>
        </p:txBody>
      </p:sp>
      <p:sp>
        <p:nvSpPr>
          <p:cNvPr id="120838"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97F1033-476A-4A3C-8C9D-F3862E8991F9}" type="slidenum">
              <a:rPr lang="en-US" altLang="fr-FR" sz="1000">
                <a:solidFill>
                  <a:srgbClr val="292929"/>
                </a:solidFill>
                <a:latin typeface="Arial" panose="020B0604020202020204" pitchFamily="34" charset="0"/>
              </a:rPr>
              <a:pPr>
                <a:spcBef>
                  <a:spcPct val="0"/>
                </a:spcBef>
                <a:buClrTx/>
                <a:buSzTx/>
                <a:buFontTx/>
                <a:buNone/>
              </a:pPr>
              <a:t>14</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ChangeArrowheads="1"/>
          </p:cNvSpPr>
          <p:nvPr/>
        </p:nvSpPr>
        <p:spPr bwMode="auto">
          <a:xfrm>
            <a:off x="1139825" y="1311275"/>
            <a:ext cx="704691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Avec ce mode d’alimentation (U/f = constante), il est possible d’obtenir un point de fonctionnement en tout point de la région OABC de la figure ci-bas. Dans ce cas, les caractéristiques du moteur asynchrone rappellent celles du moteur à courant continu à excitation séparée alimenté à flux constant et à tension d’induit réglable.</a:t>
            </a:r>
          </a:p>
        </p:txBody>
      </p:sp>
      <p:pic>
        <p:nvPicPr>
          <p:cNvPr id="12288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89150" y="3136900"/>
            <a:ext cx="463550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4" name="ZoneTexte 5"/>
          <p:cNvSpPr txBox="1">
            <a:spLocks noChangeArrowheads="1"/>
          </p:cNvSpPr>
          <p:nvPr/>
        </p:nvSpPr>
        <p:spPr bwMode="auto">
          <a:xfrm>
            <a:off x="6215063" y="5254625"/>
            <a:ext cx="43815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2400">
                <a:latin typeface="Calibri" panose="020F0502020204030204" pitchFamily="34" charset="0"/>
              </a:rPr>
              <a:t>ω</a:t>
            </a:r>
            <a:endParaRPr lang="fr-FR" altLang="fr-FR" sz="2400">
              <a:latin typeface="Arial Narrow" panose="020B0606020202030204" pitchFamily="34" charset="0"/>
            </a:endParaRPr>
          </a:p>
        </p:txBody>
      </p:sp>
      <p:sp>
        <p:nvSpPr>
          <p:cNvPr id="122885" name="Text Box 3"/>
          <p:cNvSpPr txBox="1">
            <a:spLocks noChangeArrowheads="1"/>
          </p:cNvSpPr>
          <p:nvPr/>
        </p:nvSpPr>
        <p:spPr bwMode="auto">
          <a:xfrm>
            <a:off x="990600" y="288925"/>
            <a:ext cx="69294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 fréquence variable</a:t>
            </a:r>
          </a:p>
          <a:p>
            <a:pPr eaLnBrk="1" hangingPunct="1">
              <a:spcBef>
                <a:spcPct val="0"/>
              </a:spcBef>
              <a:buClrTx/>
              <a:buSzTx/>
              <a:buFontTx/>
              <a:buNone/>
            </a:pPr>
            <a:r>
              <a:rPr lang="en-US" altLang="fr-FR" sz="2000" b="1">
                <a:latin typeface="Arial Narrow" panose="020B0606020202030204" pitchFamily="34" charset="0"/>
              </a:rPr>
              <a:t>V/f constant</a:t>
            </a:r>
            <a:r>
              <a:rPr lang="en-US" altLang="fr-FR" sz="2400" b="1">
                <a:latin typeface="Arial Narrow" panose="020B0606020202030204" pitchFamily="34" charset="0"/>
              </a:rPr>
              <a:t>   </a:t>
            </a:r>
            <a:r>
              <a:rPr lang="fr-FR" altLang="fr-FR" sz="2400" b="1">
                <a:latin typeface="Arial Narrow" panose="020B0606020202030204" pitchFamily="34" charset="0"/>
              </a:rPr>
              <a:t>-</a:t>
            </a:r>
            <a:r>
              <a:rPr lang="fr-FR" altLang="fr-FR" sz="1800" b="1">
                <a:latin typeface="Arial Narrow" panose="020B0606020202030204" pitchFamily="34" charset="0"/>
              </a:rPr>
              <a:t>en supposant que le flux est constant:</a:t>
            </a:r>
            <a:endParaRPr lang="en-US" altLang="fr-FR" sz="1800" b="1">
              <a:latin typeface="Arial Narrow" panose="020B0606020202030204" pitchFamily="34" charset="0"/>
            </a:endParaRPr>
          </a:p>
        </p:txBody>
      </p:sp>
      <p:sp>
        <p:nvSpPr>
          <p:cNvPr id="12288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88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3863CE8-6778-4D62-A67F-29E463D0E029}" type="slidenum">
              <a:rPr lang="en-US" altLang="fr-FR" sz="1000">
                <a:solidFill>
                  <a:srgbClr val="292929"/>
                </a:solidFill>
                <a:latin typeface="Arial" panose="020B0604020202020204" pitchFamily="34" charset="0"/>
              </a:rPr>
              <a:pPr>
                <a:spcBef>
                  <a:spcPct val="0"/>
                </a:spcBef>
                <a:buClrTx/>
                <a:buSzTx/>
                <a:buFontTx/>
                <a:buNone/>
              </a:pPr>
              <a:t>15</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
        <p:nvSpPr>
          <p:cNvPr id="122889" name="ZoneTexte 10"/>
          <p:cNvSpPr txBox="1">
            <a:spLocks noChangeArrowheads="1"/>
          </p:cNvSpPr>
          <p:nvPr/>
        </p:nvSpPr>
        <p:spPr bwMode="auto">
          <a:xfrm>
            <a:off x="2600325" y="5875338"/>
            <a:ext cx="292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1" name="Rectangle 11"/>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2" name="Text Box 12"/>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boucle ouverte</a:t>
            </a:r>
            <a:endParaRPr lang="en-US" altLang="fr-FR" sz="1800" b="1">
              <a:latin typeface="Arial Narrow" panose="020B0606020202030204" pitchFamily="34" charset="0"/>
              <a:sym typeface="Symbol" panose="05050102010706020507" pitchFamily="18" charset="2"/>
            </a:endParaRPr>
          </a:p>
        </p:txBody>
      </p:sp>
      <p:sp>
        <p:nvSpPr>
          <p:cNvPr id="124933" name="Oval 14"/>
          <p:cNvSpPr>
            <a:spLocks noChangeArrowheads="1"/>
          </p:cNvSpPr>
          <p:nvPr/>
        </p:nvSpPr>
        <p:spPr bwMode="auto">
          <a:xfrm>
            <a:off x="7507288" y="2062163"/>
            <a:ext cx="1025525" cy="1023937"/>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4" name="Rectangle 15"/>
          <p:cNvSpPr>
            <a:spLocks noChangeArrowheads="1"/>
          </p:cNvSpPr>
          <p:nvPr/>
        </p:nvSpPr>
        <p:spPr bwMode="auto">
          <a:xfrm>
            <a:off x="5357813" y="1724025"/>
            <a:ext cx="1163637" cy="156527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5" name="Line 16"/>
          <p:cNvSpPr>
            <a:spLocks noChangeShapeType="1"/>
          </p:cNvSpPr>
          <p:nvPr/>
        </p:nvSpPr>
        <p:spPr bwMode="auto">
          <a:xfrm flipH="1">
            <a:off x="4192588" y="1976438"/>
            <a:ext cx="1150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36" name="Line 17"/>
          <p:cNvSpPr>
            <a:spLocks noChangeShapeType="1"/>
          </p:cNvSpPr>
          <p:nvPr/>
        </p:nvSpPr>
        <p:spPr bwMode="auto">
          <a:xfrm flipH="1">
            <a:off x="4137025" y="3176588"/>
            <a:ext cx="1227138"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37" name="Rectangle 18"/>
          <p:cNvSpPr>
            <a:spLocks noChangeArrowheads="1"/>
          </p:cNvSpPr>
          <p:nvPr/>
        </p:nvSpPr>
        <p:spPr bwMode="auto">
          <a:xfrm>
            <a:off x="3152775" y="1628775"/>
            <a:ext cx="1025525" cy="1593850"/>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38" name="Line 19"/>
          <p:cNvSpPr>
            <a:spLocks noChangeShapeType="1"/>
          </p:cNvSpPr>
          <p:nvPr/>
        </p:nvSpPr>
        <p:spPr bwMode="auto">
          <a:xfrm>
            <a:off x="2514600" y="2062163"/>
            <a:ext cx="6238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39" name="Line 20"/>
          <p:cNvSpPr>
            <a:spLocks noChangeShapeType="1"/>
          </p:cNvSpPr>
          <p:nvPr/>
        </p:nvSpPr>
        <p:spPr bwMode="auto">
          <a:xfrm>
            <a:off x="2528888" y="2409825"/>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0" name="Line 21"/>
          <p:cNvSpPr>
            <a:spLocks noChangeShapeType="1"/>
          </p:cNvSpPr>
          <p:nvPr/>
        </p:nvSpPr>
        <p:spPr bwMode="auto">
          <a:xfrm>
            <a:off x="2528888" y="2760663"/>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1" name="Line 22"/>
          <p:cNvSpPr>
            <a:spLocks noChangeShapeType="1"/>
          </p:cNvSpPr>
          <p:nvPr/>
        </p:nvSpPr>
        <p:spPr bwMode="auto">
          <a:xfrm>
            <a:off x="4567238" y="2384425"/>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2" name="Line 23"/>
          <p:cNvSpPr>
            <a:spLocks noChangeShapeType="1"/>
          </p:cNvSpPr>
          <p:nvPr/>
        </p:nvSpPr>
        <p:spPr bwMode="auto">
          <a:xfrm>
            <a:off x="4567238" y="2438400"/>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3" name="Line 24"/>
          <p:cNvSpPr>
            <a:spLocks noChangeAspect="1" noChangeShapeType="1"/>
          </p:cNvSpPr>
          <p:nvPr/>
        </p:nvSpPr>
        <p:spPr bwMode="auto">
          <a:xfrm>
            <a:off x="4705350" y="2438400"/>
            <a:ext cx="0" cy="749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4" name="Line 25"/>
          <p:cNvSpPr>
            <a:spLocks noChangeShapeType="1"/>
          </p:cNvSpPr>
          <p:nvPr/>
        </p:nvSpPr>
        <p:spPr bwMode="auto">
          <a:xfrm>
            <a:off x="6546850" y="1990725"/>
            <a:ext cx="1039813"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5" name="Line 26"/>
          <p:cNvSpPr>
            <a:spLocks noChangeShapeType="1"/>
          </p:cNvSpPr>
          <p:nvPr/>
        </p:nvSpPr>
        <p:spPr bwMode="auto">
          <a:xfrm flipV="1">
            <a:off x="6535738" y="2873375"/>
            <a:ext cx="1039812"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6" name="Line 27"/>
          <p:cNvSpPr>
            <a:spLocks noChangeShapeType="1"/>
          </p:cNvSpPr>
          <p:nvPr/>
        </p:nvSpPr>
        <p:spPr bwMode="auto">
          <a:xfrm>
            <a:off x="6534150" y="2579688"/>
            <a:ext cx="9985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7" name="Text Box 28"/>
          <p:cNvSpPr txBox="1">
            <a:spLocks noChangeArrowheads="1"/>
          </p:cNvSpPr>
          <p:nvPr/>
        </p:nvSpPr>
        <p:spPr bwMode="auto">
          <a:xfrm>
            <a:off x="5411788" y="2132013"/>
            <a:ext cx="10620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Courier New" panose="02070309020205020404" pitchFamily="49" charset="0"/>
              </a:rPr>
              <a:t>Onduleur</a:t>
            </a:r>
            <a:endParaRPr lang="en-US" altLang="fr-FR" sz="1400" b="1">
              <a:latin typeface="Arial Narrow" panose="020B0606020202030204" pitchFamily="34" charset="0"/>
            </a:endParaRPr>
          </a:p>
        </p:txBody>
      </p:sp>
      <p:sp>
        <p:nvSpPr>
          <p:cNvPr id="124948" name="Text Box 29"/>
          <p:cNvSpPr txBox="1">
            <a:spLocks noChangeArrowheads="1"/>
          </p:cNvSpPr>
          <p:nvPr/>
        </p:nvSpPr>
        <p:spPr bwMode="auto">
          <a:xfrm>
            <a:off x="3140075" y="2033588"/>
            <a:ext cx="1071563"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Narrow" panose="020B0606020202030204" pitchFamily="34" charset="0"/>
              </a:rPr>
              <a:t>Redresseur</a:t>
            </a:r>
          </a:p>
        </p:txBody>
      </p:sp>
      <p:sp>
        <p:nvSpPr>
          <p:cNvPr id="124949" name="Text Box 30"/>
          <p:cNvSpPr txBox="1">
            <a:spLocks noChangeArrowheads="1"/>
          </p:cNvSpPr>
          <p:nvPr/>
        </p:nvSpPr>
        <p:spPr bwMode="auto">
          <a:xfrm>
            <a:off x="1103313" y="2168525"/>
            <a:ext cx="143827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Alimentation 3-phasée </a:t>
            </a:r>
            <a:endParaRPr lang="en-US" altLang="fr-FR" sz="2400">
              <a:latin typeface="Arial Narrow" panose="020B0606020202030204" pitchFamily="34" charset="0"/>
            </a:endParaRPr>
          </a:p>
        </p:txBody>
      </p:sp>
      <p:sp>
        <p:nvSpPr>
          <p:cNvPr id="124950" name="Rectangle 31"/>
          <p:cNvSpPr>
            <a:spLocks noChangeAspect="1" noChangeArrowheads="1"/>
          </p:cNvSpPr>
          <p:nvPr/>
        </p:nvSpPr>
        <p:spPr bwMode="auto">
          <a:xfrm>
            <a:off x="3679825" y="4511675"/>
            <a:ext cx="554038" cy="50482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51" name="Line 32"/>
          <p:cNvSpPr>
            <a:spLocks noChangeAspect="1" noChangeShapeType="1"/>
          </p:cNvSpPr>
          <p:nvPr/>
        </p:nvSpPr>
        <p:spPr bwMode="auto">
          <a:xfrm>
            <a:off x="3784600" y="4608513"/>
            <a:ext cx="0" cy="333375"/>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24952" name="Line 33"/>
          <p:cNvSpPr>
            <a:spLocks noChangeAspect="1" noChangeShapeType="1"/>
          </p:cNvSpPr>
          <p:nvPr/>
        </p:nvSpPr>
        <p:spPr bwMode="auto">
          <a:xfrm>
            <a:off x="3784600" y="4951413"/>
            <a:ext cx="365125"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24953" name="Line 34"/>
          <p:cNvSpPr>
            <a:spLocks noChangeShapeType="1"/>
          </p:cNvSpPr>
          <p:nvPr/>
        </p:nvSpPr>
        <p:spPr bwMode="auto">
          <a:xfrm flipV="1">
            <a:off x="3779838" y="4652963"/>
            <a:ext cx="323850" cy="2206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4" name="Text Box 35"/>
          <p:cNvSpPr txBox="1">
            <a:spLocks noChangeArrowheads="1"/>
          </p:cNvSpPr>
          <p:nvPr/>
        </p:nvSpPr>
        <p:spPr bwMode="auto">
          <a:xfrm>
            <a:off x="7785100" y="2341563"/>
            <a:ext cx="74771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Narrow" panose="020B0606020202030204" pitchFamily="34" charset="0"/>
              </a:rPr>
              <a:t>MAS</a:t>
            </a:r>
          </a:p>
        </p:txBody>
      </p:sp>
      <p:sp>
        <p:nvSpPr>
          <p:cNvPr id="124955" name="Rectangle 36"/>
          <p:cNvSpPr>
            <a:spLocks noChangeArrowheads="1"/>
          </p:cNvSpPr>
          <p:nvPr/>
        </p:nvSpPr>
        <p:spPr bwMode="auto">
          <a:xfrm>
            <a:off x="5427663" y="4146550"/>
            <a:ext cx="1135062" cy="852488"/>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56" name="Text Box 37"/>
          <p:cNvSpPr txBox="1">
            <a:spLocks noChangeArrowheads="1"/>
          </p:cNvSpPr>
          <p:nvPr/>
        </p:nvSpPr>
        <p:spPr bwMode="auto">
          <a:xfrm>
            <a:off x="5357813" y="4217988"/>
            <a:ext cx="1219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400">
                <a:latin typeface="Courier New" panose="02070309020205020404" pitchFamily="49" charset="0"/>
              </a:rPr>
              <a:t>MLI</a:t>
            </a:r>
            <a:endParaRPr lang="en-US" altLang="fr-FR" sz="1400">
              <a:latin typeface="Arial Narrow" panose="020B0606020202030204" pitchFamily="34" charset="0"/>
            </a:endParaRPr>
          </a:p>
        </p:txBody>
      </p:sp>
      <p:sp>
        <p:nvSpPr>
          <p:cNvPr id="124957" name="AutoShape 38"/>
          <p:cNvSpPr>
            <a:spLocks noChangeArrowheads="1"/>
          </p:cNvSpPr>
          <p:nvPr/>
        </p:nvSpPr>
        <p:spPr bwMode="auto">
          <a:xfrm rot="-5400000">
            <a:off x="5528469" y="3528219"/>
            <a:ext cx="836613" cy="403225"/>
          </a:xfrm>
          <a:prstGeom prst="rightArrow">
            <a:avLst>
              <a:gd name="adj1" fmla="val 50000"/>
              <a:gd name="adj2" fmla="val 51870"/>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58" name="Line 42"/>
          <p:cNvSpPr>
            <a:spLocks noChangeShapeType="1"/>
          </p:cNvSpPr>
          <p:nvPr/>
        </p:nvSpPr>
        <p:spPr bwMode="auto">
          <a:xfrm flipV="1">
            <a:off x="4233863" y="4795838"/>
            <a:ext cx="1201737" cy="11112"/>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24959" name="Text Box 49"/>
          <p:cNvSpPr txBox="1">
            <a:spLocks noChangeArrowheads="1"/>
          </p:cNvSpPr>
          <p:nvPr/>
        </p:nvSpPr>
        <p:spPr bwMode="auto">
          <a:xfrm>
            <a:off x="792163" y="4545013"/>
            <a:ext cx="611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sym typeface="Symbol" panose="05050102010706020507" pitchFamily="18" charset="2"/>
              </a:rPr>
              <a:t>s</a:t>
            </a:r>
            <a:r>
              <a:rPr lang="en-US" altLang="fr-FR" sz="1600">
                <a:latin typeface="Courier New" panose="02070309020205020404" pitchFamily="49" charset="0"/>
              </a:rPr>
              <a:t>*</a:t>
            </a:r>
            <a:endParaRPr lang="en-US" altLang="fr-FR" sz="1600">
              <a:latin typeface="Arial Narrow" panose="020B0606020202030204" pitchFamily="34" charset="0"/>
            </a:endParaRPr>
          </a:p>
        </p:txBody>
      </p:sp>
      <p:sp>
        <p:nvSpPr>
          <p:cNvPr id="124960" name="Line 50"/>
          <p:cNvSpPr>
            <a:spLocks noChangeShapeType="1"/>
          </p:cNvSpPr>
          <p:nvPr/>
        </p:nvSpPr>
        <p:spPr bwMode="auto">
          <a:xfrm flipH="1" flipV="1">
            <a:off x="3348038" y="4256088"/>
            <a:ext cx="0" cy="576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1" name="Line 51"/>
          <p:cNvSpPr>
            <a:spLocks noChangeShapeType="1"/>
          </p:cNvSpPr>
          <p:nvPr/>
        </p:nvSpPr>
        <p:spPr bwMode="auto">
          <a:xfrm>
            <a:off x="3332163" y="4273550"/>
            <a:ext cx="2093912"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24962" name="Text Box 55"/>
          <p:cNvSpPr txBox="1">
            <a:spLocks noChangeArrowheads="1"/>
          </p:cNvSpPr>
          <p:nvPr/>
        </p:nvSpPr>
        <p:spPr bwMode="auto">
          <a:xfrm>
            <a:off x="2432050" y="4525963"/>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24963" name="Rectangle 57"/>
          <p:cNvSpPr>
            <a:spLocks noChangeArrowheads="1"/>
          </p:cNvSpPr>
          <p:nvPr/>
        </p:nvSpPr>
        <p:spPr bwMode="auto">
          <a:xfrm>
            <a:off x="1544638" y="3908425"/>
            <a:ext cx="5864225" cy="2184400"/>
          </a:xfrm>
          <a:prstGeom prst="rect">
            <a:avLst/>
          </a:prstGeom>
          <a:noFill/>
          <a:ln w="9525">
            <a:solidFill>
              <a:srgbClr val="0000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64" name="Line 62"/>
          <p:cNvSpPr>
            <a:spLocks noChangeAspect="1" noChangeShapeType="1"/>
          </p:cNvSpPr>
          <p:nvPr/>
        </p:nvSpPr>
        <p:spPr bwMode="auto">
          <a:xfrm>
            <a:off x="1093788" y="4832350"/>
            <a:ext cx="2541587"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24965" name="Rectangle 63"/>
          <p:cNvSpPr>
            <a:spLocks noChangeAspect="1" noChangeArrowheads="1"/>
          </p:cNvSpPr>
          <p:nvPr/>
        </p:nvSpPr>
        <p:spPr bwMode="auto">
          <a:xfrm>
            <a:off x="1765300" y="4541838"/>
            <a:ext cx="555625" cy="506412"/>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4966" name="Line 64"/>
          <p:cNvSpPr>
            <a:spLocks noChangeAspect="1" noChangeShapeType="1"/>
          </p:cNvSpPr>
          <p:nvPr/>
        </p:nvSpPr>
        <p:spPr bwMode="auto">
          <a:xfrm>
            <a:off x="1870075" y="4638675"/>
            <a:ext cx="0" cy="338138"/>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24967" name="Line 65"/>
          <p:cNvSpPr>
            <a:spLocks noChangeAspect="1" noChangeShapeType="1"/>
          </p:cNvSpPr>
          <p:nvPr/>
        </p:nvSpPr>
        <p:spPr bwMode="auto">
          <a:xfrm>
            <a:off x="1870075" y="4983163"/>
            <a:ext cx="366713"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24968" name="Line 66"/>
          <p:cNvSpPr>
            <a:spLocks noChangeAspect="1" noChangeShapeType="1"/>
          </p:cNvSpPr>
          <p:nvPr/>
        </p:nvSpPr>
        <p:spPr bwMode="auto">
          <a:xfrm flipV="1">
            <a:off x="1881188" y="4746625"/>
            <a:ext cx="261937" cy="2254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9" name="Text Box 67"/>
          <p:cNvSpPr txBox="1">
            <a:spLocks noChangeArrowheads="1"/>
          </p:cNvSpPr>
          <p:nvPr/>
        </p:nvSpPr>
        <p:spPr bwMode="auto">
          <a:xfrm>
            <a:off x="1800225" y="4256088"/>
            <a:ext cx="7191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Rampe</a:t>
            </a:r>
            <a:endParaRPr lang="en-US" altLang="fr-FR" sz="1200">
              <a:latin typeface="Arial Narrow" panose="020B0606020202030204" pitchFamily="34" charset="0"/>
            </a:endParaRPr>
          </a:p>
        </p:txBody>
      </p:sp>
      <p:sp>
        <p:nvSpPr>
          <p:cNvPr id="124970" name="Text Box 68"/>
          <p:cNvSpPr txBox="1">
            <a:spLocks noChangeArrowheads="1"/>
          </p:cNvSpPr>
          <p:nvPr/>
        </p:nvSpPr>
        <p:spPr bwMode="auto">
          <a:xfrm>
            <a:off x="5011738" y="4003675"/>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f</a:t>
            </a:r>
            <a:endParaRPr lang="en-US" altLang="fr-FR" sz="1600" b="1">
              <a:latin typeface="Arial Narrow" panose="020B0606020202030204" pitchFamily="34" charset="0"/>
            </a:endParaRPr>
          </a:p>
        </p:txBody>
      </p:sp>
      <p:sp>
        <p:nvSpPr>
          <p:cNvPr id="124971" name="Line 69"/>
          <p:cNvSpPr>
            <a:spLocks noChangeAspect="1" noChangeShapeType="1"/>
          </p:cNvSpPr>
          <p:nvPr/>
        </p:nvSpPr>
        <p:spPr bwMode="auto">
          <a:xfrm>
            <a:off x="4716463" y="1987550"/>
            <a:ext cx="0" cy="360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72" name="Text Box 70"/>
          <p:cNvSpPr txBox="1">
            <a:spLocks noChangeArrowheads="1"/>
          </p:cNvSpPr>
          <p:nvPr/>
        </p:nvSpPr>
        <p:spPr bwMode="auto">
          <a:xfrm>
            <a:off x="4716463" y="2419350"/>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C</a:t>
            </a:r>
            <a:endParaRPr lang="en-US" altLang="fr-FR" sz="1600" b="1">
              <a:latin typeface="Arial Narrow" panose="020B0606020202030204" pitchFamily="34" charset="0"/>
            </a:endParaRPr>
          </a:p>
        </p:txBody>
      </p:sp>
      <p:sp>
        <p:nvSpPr>
          <p:cNvPr id="124973" name="Rectangle 71"/>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24974" name="Text Box 72"/>
          <p:cNvSpPr txBox="1">
            <a:spLocks noChangeArrowheads="1"/>
          </p:cNvSpPr>
          <p:nvPr/>
        </p:nvSpPr>
        <p:spPr bwMode="auto">
          <a:xfrm>
            <a:off x="4932363" y="44719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V</a:t>
            </a:r>
            <a:endParaRPr lang="en-US" altLang="fr-FR" sz="1600" b="1">
              <a:latin typeface="Arial Narrow" panose="020B0606020202030204" pitchFamily="34" charset="0"/>
            </a:endParaRPr>
          </a:p>
        </p:txBody>
      </p:sp>
      <p:sp>
        <p:nvSpPr>
          <p:cNvPr id="124975" name="Espace réservé du numéro de diapositive 5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135972F-10B8-4C3E-B3D1-0F6D8D018A1D}" type="slidenum">
              <a:rPr lang="en-US" altLang="fr-FR" sz="1000">
                <a:solidFill>
                  <a:srgbClr val="292929"/>
                </a:solidFill>
                <a:latin typeface="Arial" panose="020B0604020202020204" pitchFamily="34" charset="0"/>
              </a:rPr>
              <a:pPr>
                <a:spcBef>
                  <a:spcPct val="0"/>
                </a:spcBef>
                <a:buClrTx/>
                <a:buSzTx/>
                <a:buFontTx/>
                <a:buNone/>
              </a:pPr>
              <a:t>16</a:t>
            </a:fld>
            <a:endParaRPr lang="en-US" altLang="fr-FR" sz="1000">
              <a:solidFill>
                <a:srgbClr val="292929"/>
              </a:solidFill>
              <a:latin typeface="Arial" panose="020B0604020202020204" pitchFamily="34" charset="0"/>
            </a:endParaRPr>
          </a:p>
        </p:txBody>
      </p:sp>
      <p:sp>
        <p:nvSpPr>
          <p:cNvPr id="52" name="Espace réservé du pied de page 51"/>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6979"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6980" name="Text Box 4"/>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a:t>
            </a:r>
            <a:r>
              <a:rPr lang="en-US" altLang="fr-FR" sz="1800" b="1">
                <a:latin typeface="Arial Narrow" panose="020B0606020202030204" pitchFamily="34" charset="0"/>
              </a:rPr>
              <a:t>Boucle ouverte</a:t>
            </a:r>
            <a:endParaRPr lang="en-US" altLang="fr-FR" sz="1800" b="1">
              <a:latin typeface="Arial Narrow" panose="020B0606020202030204" pitchFamily="34" charset="0"/>
              <a:sym typeface="Symbol" panose="05050102010706020507" pitchFamily="18" charset="2"/>
            </a:endParaRPr>
          </a:p>
        </p:txBody>
      </p:sp>
      <p:sp>
        <p:nvSpPr>
          <p:cNvPr id="126981" name="Rectangle 4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78895" name="Text Box 47"/>
          <p:cNvSpPr txBox="1">
            <a:spLocks noChangeArrowheads="1"/>
          </p:cNvSpPr>
          <p:nvPr/>
        </p:nvSpPr>
        <p:spPr bwMode="auto">
          <a:xfrm>
            <a:off x="1008063" y="1304925"/>
            <a:ext cx="6484937"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latin typeface="Arial Narrow" panose="020B0606020202030204" pitchFamily="34" charset="0"/>
              </a:rPr>
              <a:t>Exemple de Simulation </a:t>
            </a:r>
            <a:r>
              <a:rPr lang="en-US" altLang="fr-FR" sz="2000">
                <a:latin typeface="Arial Narrow" panose="020B0606020202030204" pitchFamily="34" charset="0"/>
              </a:rPr>
              <a:t>:  </a:t>
            </a:r>
            <a:r>
              <a:rPr lang="en-US" altLang="fr-FR" sz="1800">
                <a:latin typeface="Arial Narrow" panose="020B0606020202030204" pitchFamily="34" charset="0"/>
              </a:rPr>
              <a:t>460V, 50Hz, 4 pole, R</a:t>
            </a:r>
            <a:r>
              <a:rPr lang="en-US" altLang="fr-FR" sz="1800" baseline="-25000">
                <a:latin typeface="Arial Narrow" panose="020B0606020202030204" pitchFamily="34" charset="0"/>
              </a:rPr>
              <a:t>s</a:t>
            </a:r>
            <a:r>
              <a:rPr lang="en-US" altLang="fr-FR" sz="1800">
                <a:latin typeface="Arial Narrow" panose="020B0606020202030204" pitchFamily="34" charset="0"/>
              </a:rPr>
              <a:t> = 0.25</a:t>
            </a:r>
            <a:r>
              <a:rPr lang="en-US" altLang="fr-FR" sz="1800">
                <a:latin typeface="Arial Narrow" panose="020B0606020202030204" pitchFamily="34" charset="0"/>
                <a:sym typeface="Symbol" panose="05050102010706020507" pitchFamily="18" charset="2"/>
              </a:rPr>
              <a:t>, R</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 = 0.2, L</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=L</a:t>
            </a:r>
            <a:r>
              <a:rPr lang="en-US" altLang="fr-FR" sz="1800" baseline="-25000">
                <a:latin typeface="Arial Narrow" panose="020B0606020202030204" pitchFamily="34" charset="0"/>
                <a:sym typeface="Symbol" panose="05050102010706020507" pitchFamily="18" charset="2"/>
              </a:rPr>
              <a:t>s</a:t>
            </a:r>
            <a:r>
              <a:rPr lang="en-US" altLang="fr-FR" sz="1800">
                <a:latin typeface="Arial Narrow" panose="020B0606020202030204" pitchFamily="34" charset="0"/>
                <a:sym typeface="Symbol" panose="05050102010706020507" pitchFamily="18" charset="2"/>
              </a:rPr>
              <a:t>= 0.0971 H, L</a:t>
            </a:r>
            <a:r>
              <a:rPr lang="en-US" altLang="fr-FR" sz="1800" baseline="-25000">
                <a:latin typeface="Arial Narrow" panose="020B0606020202030204" pitchFamily="34" charset="0"/>
                <a:sym typeface="Symbol" panose="05050102010706020507" pitchFamily="18" charset="2"/>
              </a:rPr>
              <a:t>m</a:t>
            </a:r>
            <a:r>
              <a:rPr lang="en-US" altLang="fr-FR" sz="1800">
                <a:latin typeface="Arial Narrow" panose="020B0606020202030204" pitchFamily="34" charset="0"/>
                <a:sym typeface="Symbol" panose="05050102010706020507" pitchFamily="18" charset="2"/>
              </a:rPr>
              <a:t> = 0.0955, </a:t>
            </a:r>
          </a:p>
        </p:txBody>
      </p:sp>
      <p:grpSp>
        <p:nvGrpSpPr>
          <p:cNvPr id="2" name="Group 52"/>
          <p:cNvGrpSpPr>
            <a:grpSpLocks/>
          </p:cNvGrpSpPr>
          <p:nvPr/>
        </p:nvGrpSpPr>
        <p:grpSpPr bwMode="auto">
          <a:xfrm>
            <a:off x="611188" y="2097088"/>
            <a:ext cx="7521575" cy="3779837"/>
            <a:chOff x="385" y="1321"/>
            <a:chExt cx="4738" cy="2381"/>
          </a:xfrm>
        </p:grpSpPr>
        <p:pic>
          <p:nvPicPr>
            <p:cNvPr id="126986"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 y="1321"/>
              <a:ext cx="3175" cy="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7" name="Text Box 51"/>
            <p:cNvSpPr txBox="1">
              <a:spLocks noChangeArrowheads="1"/>
            </p:cNvSpPr>
            <p:nvPr/>
          </p:nvSpPr>
          <p:spPr bwMode="auto">
            <a:xfrm>
              <a:off x="3616" y="1724"/>
              <a:ext cx="15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Narrow" panose="020B0606020202030204" pitchFamily="34" charset="0"/>
                </a:rPr>
                <a:t>T-</a:t>
              </a:r>
              <a:r>
                <a:rPr lang="en-US" altLang="fr-FR" sz="2000">
                  <a:latin typeface="Arial Narrow" panose="020B0606020202030204" pitchFamily="34" charset="0"/>
                  <a:sym typeface="Symbol" panose="05050102010706020507" pitchFamily="18" charset="2"/>
                </a:rPr>
                <a:t>  en r</a:t>
              </a:r>
              <a:r>
                <a:rPr lang="en-US" altLang="fr-FR" sz="2000">
                  <a:latin typeface="Arial Narrow" panose="020B0606020202030204" pitchFamily="34" charset="0"/>
                </a:rPr>
                <a:t>égime statique</a:t>
              </a:r>
              <a:endParaRPr lang="en-US" altLang="fr-FR" sz="2000">
                <a:latin typeface="Arial Narrow" panose="020B0606020202030204" pitchFamily="34" charset="0"/>
                <a:sym typeface="Symbol" panose="05050102010706020507" pitchFamily="18" charset="2"/>
              </a:endParaRPr>
            </a:p>
          </p:txBody>
        </p:sp>
      </p:grpSp>
      <p:sp>
        <p:nvSpPr>
          <p:cNvPr id="126984"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B43AFA2-5B07-4BDA-AF28-FC92FF46DFAC}" type="slidenum">
              <a:rPr lang="en-US" altLang="fr-FR" sz="1000">
                <a:solidFill>
                  <a:srgbClr val="292929"/>
                </a:solidFill>
                <a:latin typeface="Arial" panose="020B0604020202020204" pitchFamily="34" charset="0"/>
              </a:rPr>
              <a:pPr>
                <a:spcBef>
                  <a:spcPct val="0"/>
                </a:spcBef>
                <a:buClrTx/>
                <a:buSzTx/>
                <a:buFontTx/>
                <a:buNone/>
              </a:pPr>
              <a:t>17</a:t>
            </a:fld>
            <a:endParaRPr lang="en-US" altLang="fr-FR" sz="1000">
              <a:solidFill>
                <a:srgbClr val="292929"/>
              </a:solidFill>
              <a:latin typeface="Arial" panose="020B0604020202020204" pitchFamily="34" charset="0"/>
            </a:endParaRPr>
          </a:p>
        </p:txBody>
      </p:sp>
      <p:sp>
        <p:nvSpPr>
          <p:cNvPr id="15" name="Espace réservé du pied de page 14"/>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95"/>
                                        </p:tgtEl>
                                        <p:attrNameLst>
                                          <p:attrName>style.visibility</p:attrName>
                                        </p:attrNameLst>
                                      </p:cBhvr>
                                      <p:to>
                                        <p:strVal val="visible"/>
                                      </p:to>
                                    </p:set>
                                    <p:animEffect transition="in" filter="wipe(left)">
                                      <p:cBhvr>
                                        <p:cTn id="7" dur="500"/>
                                        <p:tgtEl>
                                          <p:spTgt spid="78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9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9027" name="Text Box 4"/>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a:t>
            </a:r>
            <a:r>
              <a:rPr lang="en-US" altLang="fr-FR" sz="1800" b="1">
                <a:latin typeface="Arial Narrow" panose="020B0606020202030204" pitchFamily="34" charset="0"/>
              </a:rPr>
              <a:t>Boucle ouverte</a:t>
            </a:r>
            <a:endParaRPr lang="en-US" altLang="fr-FR" sz="1800" b="1">
              <a:latin typeface="Arial Narrow" panose="020B0606020202030204" pitchFamily="34" charset="0"/>
              <a:sym typeface="Symbol" panose="05050102010706020507" pitchFamily="18" charset="2"/>
            </a:endParaRPr>
          </a:p>
        </p:txBody>
      </p:sp>
      <p:sp>
        <p:nvSpPr>
          <p:cNvPr id="129028" name="Rectangle 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29029" name="Text Box 6"/>
          <p:cNvSpPr txBox="1">
            <a:spLocks noChangeArrowheads="1"/>
          </p:cNvSpPr>
          <p:nvPr/>
        </p:nvSpPr>
        <p:spPr bwMode="auto">
          <a:xfrm>
            <a:off x="1008063" y="1304925"/>
            <a:ext cx="6265862"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latin typeface="Arial Narrow" panose="020B0606020202030204" pitchFamily="34" charset="0"/>
              </a:rPr>
              <a:t>Exemple de simulation</a:t>
            </a:r>
            <a:r>
              <a:rPr lang="en-US" altLang="fr-FR" sz="2000">
                <a:latin typeface="Arial Narrow" panose="020B0606020202030204" pitchFamily="34" charset="0"/>
              </a:rPr>
              <a:t>: </a:t>
            </a:r>
            <a:r>
              <a:rPr lang="en-US" altLang="fr-FR" sz="1800">
                <a:latin typeface="Arial Narrow" panose="020B0606020202030204" pitchFamily="34" charset="0"/>
              </a:rPr>
              <a:t>460V, 50Hz, 4 pole, R</a:t>
            </a:r>
            <a:r>
              <a:rPr lang="en-US" altLang="fr-FR" sz="1800" baseline="-25000">
                <a:latin typeface="Arial Narrow" panose="020B0606020202030204" pitchFamily="34" charset="0"/>
              </a:rPr>
              <a:t>s</a:t>
            </a:r>
            <a:r>
              <a:rPr lang="en-US" altLang="fr-FR" sz="1800">
                <a:latin typeface="Arial Narrow" panose="020B0606020202030204" pitchFamily="34" charset="0"/>
              </a:rPr>
              <a:t> = 0.25</a:t>
            </a:r>
            <a:r>
              <a:rPr lang="en-US" altLang="fr-FR" sz="1800">
                <a:latin typeface="Arial Narrow" panose="020B0606020202030204" pitchFamily="34" charset="0"/>
                <a:sym typeface="Symbol" panose="05050102010706020507" pitchFamily="18" charset="2"/>
              </a:rPr>
              <a:t>, R</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 = 0.2, L</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=L</a:t>
            </a:r>
            <a:r>
              <a:rPr lang="en-US" altLang="fr-FR" sz="1800" baseline="-25000">
                <a:latin typeface="Arial Narrow" panose="020B0606020202030204" pitchFamily="34" charset="0"/>
                <a:sym typeface="Symbol" panose="05050102010706020507" pitchFamily="18" charset="2"/>
              </a:rPr>
              <a:t>s</a:t>
            </a:r>
            <a:r>
              <a:rPr lang="en-US" altLang="fr-FR" sz="1800">
                <a:latin typeface="Arial Narrow" panose="020B0606020202030204" pitchFamily="34" charset="0"/>
                <a:sym typeface="Symbol" panose="05050102010706020507" pitchFamily="18" charset="2"/>
              </a:rPr>
              <a:t>= 0.0971 H, L</a:t>
            </a:r>
            <a:r>
              <a:rPr lang="en-US" altLang="fr-FR" sz="1800" baseline="-25000">
                <a:latin typeface="Arial Narrow" panose="020B0606020202030204" pitchFamily="34" charset="0"/>
                <a:sym typeface="Symbol" panose="05050102010706020507" pitchFamily="18" charset="2"/>
              </a:rPr>
              <a:t>m</a:t>
            </a:r>
            <a:r>
              <a:rPr lang="en-US" altLang="fr-FR" sz="1800">
                <a:latin typeface="Arial Narrow" panose="020B0606020202030204" pitchFamily="34" charset="0"/>
                <a:sym typeface="Symbol" panose="05050102010706020507" pitchFamily="18" charset="2"/>
              </a:rPr>
              <a:t> = 0.0955, </a:t>
            </a:r>
          </a:p>
        </p:txBody>
      </p:sp>
      <p:pic>
        <p:nvPicPr>
          <p:cNvPr id="12903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097088"/>
            <a:ext cx="5040312"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1" name="Text Box 9"/>
          <p:cNvSpPr txBox="1">
            <a:spLocks noChangeArrowheads="1"/>
          </p:cNvSpPr>
          <p:nvPr/>
        </p:nvSpPr>
        <p:spPr bwMode="auto">
          <a:xfrm>
            <a:off x="5740400" y="2736850"/>
            <a:ext cx="28638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Narrow" panose="020B0606020202030204" pitchFamily="34" charset="0"/>
              </a:rPr>
              <a:t>Régime statique (T-</a:t>
            </a:r>
            <a:r>
              <a:rPr lang="en-US" altLang="fr-FR" sz="2000">
                <a:latin typeface="Arial Narrow" panose="020B0606020202030204" pitchFamily="34" charset="0"/>
                <a:sym typeface="Symbol" panose="05050102010706020507" pitchFamily="18" charset="2"/>
              </a:rPr>
              <a:t>) et la caractéristique transitoire(T-): sans limitation de rampe</a:t>
            </a:r>
          </a:p>
        </p:txBody>
      </p:sp>
      <p:sp>
        <p:nvSpPr>
          <p:cNvPr id="129032"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B86CCFD-B544-43B6-B478-AC9E5720B334}" type="slidenum">
              <a:rPr lang="en-US" altLang="fr-FR" sz="1000">
                <a:solidFill>
                  <a:srgbClr val="292929"/>
                </a:solidFill>
                <a:latin typeface="Arial" panose="020B0604020202020204" pitchFamily="34" charset="0"/>
              </a:rPr>
              <a:pPr>
                <a:spcBef>
                  <a:spcPct val="0"/>
                </a:spcBef>
                <a:buClrTx/>
                <a:buSzTx/>
                <a:buFontTx/>
                <a:buNone/>
              </a:pPr>
              <a:t>18</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1075"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1076" name="Text Box 4"/>
          <p:cNvSpPr txBox="1">
            <a:spLocks noChangeArrowheads="1"/>
          </p:cNvSpPr>
          <p:nvPr/>
        </p:nvSpPr>
        <p:spPr bwMode="auto">
          <a:xfrm>
            <a:off x="1008063" y="7143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 </a:t>
            </a:r>
            <a:r>
              <a:rPr lang="en-US" altLang="fr-FR" sz="1800" b="1">
                <a:latin typeface="Arial Narrow" panose="020B0606020202030204" pitchFamily="34" charset="0"/>
              </a:rPr>
              <a:t>Boucle ouverte</a:t>
            </a:r>
            <a:endParaRPr lang="en-US" altLang="fr-FR" sz="1800" b="1">
              <a:latin typeface="Arial Narrow" panose="020B0606020202030204" pitchFamily="34" charset="0"/>
              <a:sym typeface="Symbol" panose="05050102010706020507" pitchFamily="18" charset="2"/>
            </a:endParaRPr>
          </a:p>
        </p:txBody>
      </p:sp>
      <p:sp>
        <p:nvSpPr>
          <p:cNvPr id="131077" name="Rectangle 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31078" name="Text Box 6"/>
          <p:cNvSpPr txBox="1">
            <a:spLocks noChangeArrowheads="1"/>
          </p:cNvSpPr>
          <p:nvPr/>
        </p:nvSpPr>
        <p:spPr bwMode="auto">
          <a:xfrm>
            <a:off x="1008063" y="1304925"/>
            <a:ext cx="59436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latin typeface="Arial Narrow" panose="020B0606020202030204" pitchFamily="34" charset="0"/>
              </a:rPr>
              <a:t>Exemple de simulation</a:t>
            </a:r>
            <a:r>
              <a:rPr lang="en-US" altLang="fr-FR" sz="2000">
                <a:latin typeface="Arial Narrow" panose="020B0606020202030204" pitchFamily="34" charset="0"/>
              </a:rPr>
              <a:t>: </a:t>
            </a:r>
            <a:r>
              <a:rPr lang="en-US" altLang="fr-FR" sz="1800">
                <a:latin typeface="Arial Narrow" panose="020B0606020202030204" pitchFamily="34" charset="0"/>
              </a:rPr>
              <a:t>460V, 50Hz, 4 pole, R</a:t>
            </a:r>
            <a:r>
              <a:rPr lang="en-US" altLang="fr-FR" sz="1800" baseline="-25000">
                <a:latin typeface="Arial Narrow" panose="020B0606020202030204" pitchFamily="34" charset="0"/>
              </a:rPr>
              <a:t>s</a:t>
            </a:r>
            <a:r>
              <a:rPr lang="en-US" altLang="fr-FR" sz="1800">
                <a:latin typeface="Arial Narrow" panose="020B0606020202030204" pitchFamily="34" charset="0"/>
              </a:rPr>
              <a:t> = 0.25</a:t>
            </a:r>
            <a:r>
              <a:rPr lang="en-US" altLang="fr-FR" sz="1800">
                <a:latin typeface="Arial Narrow" panose="020B0606020202030204" pitchFamily="34" charset="0"/>
                <a:sym typeface="Symbol" panose="05050102010706020507" pitchFamily="18" charset="2"/>
              </a:rPr>
              <a:t>, R</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 = 0.2, L</a:t>
            </a:r>
            <a:r>
              <a:rPr lang="en-US" altLang="fr-FR" sz="1800" baseline="-25000">
                <a:latin typeface="Arial Narrow" panose="020B0606020202030204" pitchFamily="34" charset="0"/>
                <a:sym typeface="Symbol" panose="05050102010706020507" pitchFamily="18" charset="2"/>
              </a:rPr>
              <a:t>r</a:t>
            </a:r>
            <a:r>
              <a:rPr lang="en-US" altLang="fr-FR" sz="1800">
                <a:latin typeface="Arial Narrow" panose="020B0606020202030204" pitchFamily="34" charset="0"/>
                <a:sym typeface="Symbol" panose="05050102010706020507" pitchFamily="18" charset="2"/>
              </a:rPr>
              <a:t>=L</a:t>
            </a:r>
            <a:r>
              <a:rPr lang="en-US" altLang="fr-FR" sz="1800" baseline="-25000">
                <a:latin typeface="Arial Narrow" panose="020B0606020202030204" pitchFamily="34" charset="0"/>
                <a:sym typeface="Symbol" panose="05050102010706020507" pitchFamily="18" charset="2"/>
              </a:rPr>
              <a:t>s</a:t>
            </a:r>
            <a:r>
              <a:rPr lang="en-US" altLang="fr-FR" sz="1800">
                <a:latin typeface="Arial Narrow" panose="020B0606020202030204" pitchFamily="34" charset="0"/>
                <a:sym typeface="Symbol" panose="05050102010706020507" pitchFamily="18" charset="2"/>
              </a:rPr>
              <a:t>= 0.0971 H, L</a:t>
            </a:r>
            <a:r>
              <a:rPr lang="en-US" altLang="fr-FR" sz="1800" baseline="-25000">
                <a:latin typeface="Arial Narrow" panose="020B0606020202030204" pitchFamily="34" charset="0"/>
                <a:sym typeface="Symbol" panose="05050102010706020507" pitchFamily="18" charset="2"/>
              </a:rPr>
              <a:t>m</a:t>
            </a:r>
            <a:r>
              <a:rPr lang="en-US" altLang="fr-FR" sz="1800">
                <a:latin typeface="Arial Narrow" panose="020B0606020202030204" pitchFamily="34" charset="0"/>
                <a:sym typeface="Symbol" panose="05050102010706020507" pitchFamily="18" charset="2"/>
              </a:rPr>
              <a:t> = 0.0955, </a:t>
            </a:r>
          </a:p>
        </p:txBody>
      </p:sp>
      <p:pic>
        <p:nvPicPr>
          <p:cNvPr id="13107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097088"/>
            <a:ext cx="5040312"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80" name="Text Box 9"/>
          <p:cNvSpPr txBox="1">
            <a:spLocks noChangeArrowheads="1"/>
          </p:cNvSpPr>
          <p:nvPr/>
        </p:nvSpPr>
        <p:spPr bwMode="auto">
          <a:xfrm>
            <a:off x="5740400" y="2736850"/>
            <a:ext cx="28638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Narrow" panose="020B0606020202030204" pitchFamily="34" charset="0"/>
              </a:rPr>
              <a:t>Régime statique T-</a:t>
            </a:r>
            <a:r>
              <a:rPr lang="en-US" altLang="fr-FR" sz="2000">
                <a:latin typeface="Arial Narrow" panose="020B0606020202030204" pitchFamily="34" charset="0"/>
                <a:sym typeface="Symbol" panose="05050102010706020507" pitchFamily="18" charset="2"/>
              </a:rPr>
              <a:t> et la caractéristique transitoire(T-): avec limitation de rampe</a:t>
            </a:r>
          </a:p>
        </p:txBody>
      </p:sp>
      <p:sp>
        <p:nvSpPr>
          <p:cNvPr id="131081"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5702BD8-7425-4955-9217-BA98F599E660}" type="slidenum">
              <a:rPr lang="en-US" altLang="fr-FR" sz="1000">
                <a:solidFill>
                  <a:srgbClr val="292929"/>
                </a:solidFill>
                <a:latin typeface="Arial" panose="020B0604020202020204" pitchFamily="34" charset="0"/>
              </a:rPr>
              <a:pPr>
                <a:spcBef>
                  <a:spcPct val="0"/>
                </a:spcBef>
                <a:buClrTx/>
                <a:buSzTx/>
                <a:buFontTx/>
                <a:buNone/>
              </a:pPr>
              <a:t>19</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3123" name="Text Box 3"/>
          <p:cNvSpPr txBox="1">
            <a:spLocks noChangeArrowheads="1"/>
          </p:cNvSpPr>
          <p:nvPr/>
        </p:nvSpPr>
        <p:spPr bwMode="auto">
          <a:xfrm>
            <a:off x="990600" y="512763"/>
            <a:ext cx="59436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b="1">
                <a:latin typeface="Arial Narrow" panose="020B0606020202030204" pitchFamily="34" charset="0"/>
              </a:rPr>
              <a:t>Tension variable, Fréquence variable</a:t>
            </a:r>
          </a:p>
          <a:p>
            <a:pPr eaLnBrk="1" hangingPunct="1">
              <a:spcBef>
                <a:spcPct val="0"/>
              </a:spcBef>
              <a:buClrTx/>
              <a:buSzTx/>
              <a:buFontTx/>
              <a:buNone/>
            </a:pPr>
            <a:br>
              <a:rPr lang="en-US" altLang="fr-FR" sz="2400" b="1">
                <a:latin typeface="Arial Narrow" panose="020B0606020202030204" pitchFamily="34" charset="0"/>
              </a:rPr>
            </a:br>
            <a:r>
              <a:rPr lang="en-US" altLang="fr-FR" sz="2400" b="1">
                <a:latin typeface="Arial Narrow" panose="020B0606020202030204" pitchFamily="34" charset="0"/>
              </a:rPr>
              <a:t>V/f constant</a:t>
            </a:r>
          </a:p>
        </p:txBody>
      </p:sp>
      <p:sp>
        <p:nvSpPr>
          <p:cNvPr id="133124" name="Text Box 4"/>
          <p:cNvSpPr txBox="1">
            <a:spLocks noChangeArrowheads="1"/>
          </p:cNvSpPr>
          <p:nvPr/>
        </p:nvSpPr>
        <p:spPr bwMode="auto">
          <a:xfrm>
            <a:off x="1008063" y="2024063"/>
            <a:ext cx="678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u="sng">
                <a:solidFill>
                  <a:schemeClr val="accent2"/>
                </a:solidFill>
                <a:latin typeface="Arial Narrow" panose="020B0606020202030204" pitchFamily="34" charset="0"/>
              </a:rPr>
              <a:t>Problèmes avec Boucle ouverte à V/f constant</a:t>
            </a:r>
            <a:endParaRPr lang="en-US" altLang="fr-FR" sz="2400">
              <a:solidFill>
                <a:schemeClr val="accent2"/>
              </a:solidFill>
              <a:latin typeface="Arial Narrow" panose="020B0606020202030204" pitchFamily="34" charset="0"/>
            </a:endParaRPr>
          </a:p>
        </p:txBody>
      </p:sp>
      <p:sp>
        <p:nvSpPr>
          <p:cNvPr id="2" name="Rectangle 5"/>
          <p:cNvSpPr>
            <a:spLocks noChangeArrowheads="1"/>
          </p:cNvSpPr>
          <p:nvPr/>
        </p:nvSpPr>
        <p:spPr bwMode="auto">
          <a:xfrm>
            <a:off x="863600" y="3284538"/>
            <a:ext cx="7524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2400">
                <a:latin typeface="Arial Narrow" panose="020B0606020202030204" pitchFamily="34" charset="0"/>
              </a:rPr>
              <a:t>A vitesse faible, la chute de tension aux bornes de l’impédance statorique  est importante : la capacité en couple est médiocre aux faibles vitesses</a:t>
            </a:r>
          </a:p>
        </p:txBody>
      </p:sp>
      <p:sp>
        <p:nvSpPr>
          <p:cNvPr id="67591" name="Text Box 7"/>
          <p:cNvSpPr txBox="1">
            <a:spLocks noChangeArrowheads="1"/>
          </p:cNvSpPr>
          <p:nvPr/>
        </p:nvSpPr>
        <p:spPr bwMode="auto">
          <a:xfrm>
            <a:off x="2643188" y="5089525"/>
            <a:ext cx="5127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Solution:</a:t>
            </a:r>
          </a:p>
          <a:p>
            <a:pPr eaLnBrk="1" hangingPunct="1">
              <a:spcBef>
                <a:spcPct val="0"/>
              </a:spcBef>
              <a:buClrTx/>
              <a:buSzTx/>
              <a:buFontTx/>
              <a:buNone/>
            </a:pPr>
            <a:r>
              <a:rPr lang="en-US" altLang="fr-FR" sz="2400">
                <a:latin typeface="Arial Narrow" panose="020B0606020202030204" pitchFamily="34" charset="0"/>
              </a:rPr>
              <a:t>Renforcer la tension aux faibles vitesses</a:t>
            </a:r>
          </a:p>
          <a:p>
            <a:pPr eaLnBrk="1" hangingPunct="1">
              <a:spcBef>
                <a:spcPct val="0"/>
              </a:spcBef>
              <a:buClrTx/>
              <a:buSzTx/>
              <a:buFontTx/>
              <a:buNone/>
            </a:pPr>
            <a:r>
              <a:rPr lang="en-US" altLang="fr-FR" sz="2400">
                <a:latin typeface="Arial Narrow" panose="020B0606020202030204" pitchFamily="34" charset="0"/>
              </a:rPr>
              <a:t>Maintenir I</a:t>
            </a:r>
            <a:r>
              <a:rPr lang="en-US" altLang="fr-FR" sz="2400" baseline="-25000">
                <a:latin typeface="Arial Narrow" panose="020B0606020202030204" pitchFamily="34" charset="0"/>
              </a:rPr>
              <a:t>m</a:t>
            </a:r>
            <a:r>
              <a:rPr lang="en-US" altLang="fr-FR" sz="2400">
                <a:latin typeface="Arial Narrow" panose="020B0606020202030204" pitchFamily="34" charset="0"/>
              </a:rPr>
              <a:t> constant –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sym typeface="Symbol" panose="05050102010706020507" pitchFamily="18" charset="2"/>
              </a:rPr>
              <a:t> </a:t>
            </a:r>
            <a:r>
              <a:rPr lang="en-US" altLang="fr-FR" sz="2400">
                <a:latin typeface="Arial Narrow" panose="020B0606020202030204" pitchFamily="34" charset="0"/>
                <a:sym typeface="Symbol" panose="05050102010706020507" pitchFamily="18" charset="2"/>
              </a:rPr>
              <a:t> constant</a:t>
            </a:r>
            <a:endParaRPr lang="en-US" altLang="fr-FR" sz="2400" baseline="-25000">
              <a:latin typeface="Arial Narrow" panose="020B0606020202030204" pitchFamily="34" charset="0"/>
              <a:sym typeface="Symbol" panose="05050102010706020507" pitchFamily="18" charset="2"/>
            </a:endParaRPr>
          </a:p>
        </p:txBody>
      </p:sp>
      <p:sp>
        <p:nvSpPr>
          <p:cNvPr id="13312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D20D42E-D8BA-4E9D-B651-24C90A06094F}" type="slidenum">
              <a:rPr lang="en-US" altLang="fr-FR" sz="1000">
                <a:solidFill>
                  <a:srgbClr val="292929"/>
                </a:solidFill>
                <a:latin typeface="Arial" panose="020B0604020202020204" pitchFamily="34" charset="0"/>
              </a:rPr>
              <a:pPr>
                <a:spcBef>
                  <a:spcPct val="0"/>
                </a:spcBef>
                <a:buClrTx/>
                <a:buSzTx/>
                <a:buFontTx/>
                <a:buNone/>
              </a:pPr>
              <a:t>20</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7591"/>
                                        </p:tgtEl>
                                        <p:attrNameLst>
                                          <p:attrName>style.visibility</p:attrName>
                                        </p:attrNameLst>
                                      </p:cBhvr>
                                      <p:to>
                                        <p:strVal val="visible"/>
                                      </p:to>
                                    </p:set>
                                    <p:animEffect transition="in" filter="box(in)">
                                      <p:cBhvr>
                                        <p:cTn id="12" dur="500"/>
                                        <p:tgtEl>
                                          <p:spTgt spid="67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759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13517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57338"/>
            <a:ext cx="5907088" cy="45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Text Box 15"/>
          <p:cNvSpPr txBox="1">
            <a:spLocks noChangeArrowheads="1"/>
          </p:cNvSpPr>
          <p:nvPr/>
        </p:nvSpPr>
        <p:spPr bwMode="auto">
          <a:xfrm>
            <a:off x="990600" y="7620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 </a:t>
            </a:r>
            <a:endParaRPr lang="en-US" altLang="fr-FR" sz="2400" b="1">
              <a:latin typeface="Arial Narrow" panose="020B0606020202030204" pitchFamily="34" charset="0"/>
              <a:sym typeface="Symbol" panose="05050102010706020507" pitchFamily="18" charset="2"/>
            </a:endParaRPr>
          </a:p>
        </p:txBody>
      </p:sp>
      <p:sp>
        <p:nvSpPr>
          <p:cNvPr id="135173" name="Rectangle 16"/>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35174"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1B332D9-4C08-414C-B560-EF239AEF4BF1}" type="slidenum">
              <a:rPr lang="en-US" altLang="fr-FR" sz="1000">
                <a:solidFill>
                  <a:srgbClr val="292929"/>
                </a:solidFill>
                <a:latin typeface="Arial" panose="020B0604020202020204" pitchFamily="34" charset="0"/>
              </a:rPr>
              <a:pPr>
                <a:spcBef>
                  <a:spcPct val="0"/>
                </a:spcBef>
                <a:buClrTx/>
                <a:buSzTx/>
                <a:buFontTx/>
                <a:buNone/>
              </a:pPr>
              <a:t>21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ChangeArrowheads="1"/>
          </p:cNvSpPr>
          <p:nvPr/>
        </p:nvSpPr>
        <p:spPr bwMode="auto">
          <a:xfrm>
            <a:off x="409575" y="1057275"/>
            <a:ext cx="83248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i="1">
                <a:latin typeface="Arial Narrow" panose="020B0606020202030204" pitchFamily="34" charset="0"/>
              </a:rPr>
              <a:t>  Pour les faibles valeurs de fréquence, l’importance relative de la résistance statorique (par rapport aux </a:t>
            </a:r>
            <a:r>
              <a:rPr lang="fr-FR" altLang="fr-FR" sz="2000">
                <a:latin typeface="Arial Narrow" panose="020B0606020202030204" pitchFamily="34" charset="0"/>
              </a:rPr>
              <a:t>réactances) entraîne une réduction du flux totalisé. Il apparaît alors une diminution du couple maximum et une augmentation du glissement critique (cf. figure ci-dessous à gauche); </a:t>
            </a:r>
          </a:p>
          <a:p>
            <a:pPr algn="just"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Si l’on règle la tension de telle sorte que le </a:t>
            </a:r>
            <a:r>
              <a:rPr lang="fr-FR" altLang="fr-FR" sz="2000" i="1">
                <a:latin typeface="Arial Narrow" panose="020B0606020202030204" pitchFamily="34" charset="0"/>
              </a:rPr>
              <a:t>flux totalisé reste constant, alors le couple maximum et le </a:t>
            </a:r>
            <a:r>
              <a:rPr lang="fr-FR" altLang="fr-FR" sz="2000">
                <a:latin typeface="Arial Narrow" panose="020B0606020202030204" pitchFamily="34" charset="0"/>
              </a:rPr>
              <a:t>glissement critique correspondant deviennent indépendants de la fréquence. Dans ce cas, pour les faibles valeurs de fréquence, la fonction U/f est corrigée, comme représenté ci-dessous à droite.</a:t>
            </a:r>
          </a:p>
        </p:txBody>
      </p:sp>
      <p:pic>
        <p:nvPicPr>
          <p:cNvPr id="137219"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088" y="4221163"/>
            <a:ext cx="83470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0" name="ZoneTexte 5"/>
          <p:cNvSpPr txBox="1">
            <a:spLocks noChangeArrowheads="1"/>
          </p:cNvSpPr>
          <p:nvPr/>
        </p:nvSpPr>
        <p:spPr bwMode="auto">
          <a:xfrm>
            <a:off x="592138" y="473075"/>
            <a:ext cx="6280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Correction de la tension aux fréquences faibles  </a:t>
            </a:r>
          </a:p>
        </p:txBody>
      </p:sp>
      <p:sp>
        <p:nvSpPr>
          <p:cNvPr id="137221"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7222"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A4F6F27-8531-49C3-AE68-3979522C6E74}" type="slidenum">
              <a:rPr lang="en-US" altLang="fr-FR" sz="1000">
                <a:solidFill>
                  <a:srgbClr val="292929"/>
                </a:solidFill>
                <a:latin typeface="Arial" panose="020B0604020202020204" pitchFamily="34" charset="0"/>
              </a:rPr>
              <a:pPr>
                <a:spcBef>
                  <a:spcPct val="0"/>
                </a:spcBef>
                <a:buClrTx/>
                <a:buSzTx/>
                <a:buFontTx/>
                <a:buNone/>
              </a:pPr>
              <a:t>22</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39267" name="Text Box 4"/>
          <p:cNvSpPr txBox="1">
            <a:spLocks noChangeArrowheads="1"/>
          </p:cNvSpPr>
          <p:nvPr/>
        </p:nvSpPr>
        <p:spPr bwMode="auto">
          <a:xfrm>
            <a:off x="1066800" y="1295400"/>
            <a:ext cx="655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u="sng">
                <a:latin typeface="Arial Narrow" panose="020B0606020202030204" pitchFamily="34" charset="0"/>
              </a:rPr>
              <a:t>Avec compensation (I</a:t>
            </a:r>
            <a:r>
              <a:rPr lang="en-US" altLang="fr-FR" sz="2000" u="sng" baseline="-25000">
                <a:latin typeface="Arial Narrow" panose="020B0606020202030204" pitchFamily="34" charset="0"/>
              </a:rPr>
              <a:t>s,n</a:t>
            </a:r>
            <a:r>
              <a:rPr lang="en-US" altLang="fr-FR" sz="2000" u="sng">
                <a:latin typeface="Arial Narrow" panose="020B0606020202030204" pitchFamily="34" charset="0"/>
              </a:rPr>
              <a:t>R</a:t>
            </a:r>
            <a:r>
              <a:rPr lang="en-US" altLang="fr-FR" sz="2000" u="sng" baseline="-25000">
                <a:latin typeface="Arial Narrow" panose="020B0606020202030204" pitchFamily="34" charset="0"/>
              </a:rPr>
              <a:t>s</a:t>
            </a:r>
            <a:r>
              <a:rPr lang="en-US" altLang="fr-FR" sz="2000" u="sng">
                <a:latin typeface="Arial Narrow" panose="020B0606020202030204" pitchFamily="34" charset="0"/>
              </a:rPr>
              <a:t>)  </a:t>
            </a:r>
            <a:endParaRPr lang="en-US" altLang="fr-FR" sz="2000">
              <a:latin typeface="Arial Narrow" panose="020B0606020202030204" pitchFamily="34" charset="0"/>
              <a:sym typeface="Symbol" panose="05050102010706020507" pitchFamily="18" charset="2"/>
            </a:endParaRPr>
          </a:p>
        </p:txBody>
      </p:sp>
      <p:pic>
        <p:nvPicPr>
          <p:cNvPr id="13926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5907088" cy="452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9" name="Text Box 8"/>
          <p:cNvSpPr txBox="1">
            <a:spLocks noChangeArrowheads="1"/>
          </p:cNvSpPr>
          <p:nvPr/>
        </p:nvSpPr>
        <p:spPr bwMode="auto">
          <a:xfrm>
            <a:off x="990600" y="7620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a:t>
            </a:r>
            <a:endParaRPr lang="en-US" altLang="fr-FR" sz="2400" b="1">
              <a:latin typeface="Arial Narrow" panose="020B0606020202030204" pitchFamily="34" charset="0"/>
              <a:sym typeface="Symbol" panose="05050102010706020507" pitchFamily="18" charset="2"/>
            </a:endParaRPr>
          </a:p>
        </p:txBody>
      </p:sp>
      <p:sp>
        <p:nvSpPr>
          <p:cNvPr id="139270" name="Text Box 9"/>
          <p:cNvSpPr txBox="1">
            <a:spLocks noChangeArrowheads="1"/>
          </p:cNvSpPr>
          <p:nvPr/>
        </p:nvSpPr>
        <p:spPr bwMode="auto">
          <a:xfrm>
            <a:off x="5867400" y="2362200"/>
            <a:ext cx="28956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Char char="•"/>
            </a:pPr>
            <a:r>
              <a:rPr lang="en-US" altLang="fr-FR" sz="1800">
                <a:latin typeface="Arial Narrow" panose="020B0606020202030204" pitchFamily="34" charset="0"/>
              </a:rPr>
              <a:t>Le couple se détériore   aux faibles fréquences – d’où la compensation est couramment performée aux faibles fréquences</a:t>
            </a:r>
          </a:p>
          <a:p>
            <a:pPr eaLnBrk="1" hangingPunct="1">
              <a:spcBef>
                <a:spcPct val="0"/>
              </a:spcBef>
              <a:buClrTx/>
              <a:buSzTx/>
              <a:buFontTx/>
              <a:buChar char="•"/>
            </a:pPr>
            <a:endParaRPr lang="en-US" altLang="fr-FR" sz="1800">
              <a:latin typeface="Arial Narrow" panose="020B0606020202030204" pitchFamily="34" charset="0"/>
            </a:endParaRPr>
          </a:p>
          <a:p>
            <a:pPr eaLnBrk="1" hangingPunct="1">
              <a:spcBef>
                <a:spcPct val="0"/>
              </a:spcBef>
              <a:buClrTx/>
              <a:buSzTx/>
              <a:buFontTx/>
              <a:buChar char="•"/>
            </a:pPr>
            <a:r>
              <a:rPr lang="en-US" altLang="fr-FR" sz="1800">
                <a:latin typeface="Arial Narrow" panose="020B0606020202030204" pitchFamily="34" charset="0"/>
              </a:rPr>
              <a:t>Pour une véritable compensation, il y a besoin de mesurer le courant statorique</a:t>
            </a:r>
          </a:p>
        </p:txBody>
      </p:sp>
      <p:sp>
        <p:nvSpPr>
          <p:cNvPr id="139271" name="Rectangle 10"/>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39272"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D2C94A4-F7F5-4ACC-92A4-057EA4BA6834}" type="slidenum">
              <a:rPr lang="en-US" altLang="fr-FR" sz="1000">
                <a:solidFill>
                  <a:srgbClr val="292929"/>
                </a:solidFill>
                <a:latin typeface="Arial" panose="020B0604020202020204" pitchFamily="34" charset="0"/>
              </a:rPr>
              <a:pPr>
                <a:spcBef>
                  <a:spcPct val="0"/>
                </a:spcBef>
                <a:buClrTx/>
                <a:buSzTx/>
                <a:buFontTx/>
                <a:buNone/>
              </a:pPr>
              <a:t>23</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ChangeArrowheads="1"/>
          </p:cNvSpPr>
          <p:nvPr/>
        </p:nvSpPr>
        <p:spPr bwMode="auto">
          <a:xfrm>
            <a:off x="34925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1315" name="Text Box 3"/>
          <p:cNvSpPr txBox="1">
            <a:spLocks noChangeArrowheads="1"/>
          </p:cNvSpPr>
          <p:nvPr/>
        </p:nvSpPr>
        <p:spPr bwMode="auto">
          <a:xfrm>
            <a:off x="1066800" y="1295400"/>
            <a:ext cx="6553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u="sng">
                <a:latin typeface="Arial Narrow" panose="020B0606020202030204" pitchFamily="34" charset="0"/>
              </a:rPr>
              <a:t>Avec renforcement de la tension aux faibles fréquences </a:t>
            </a:r>
            <a:endParaRPr lang="en-US" altLang="fr-FR" sz="2000">
              <a:latin typeface="Arial Narrow" panose="020B0606020202030204" pitchFamily="34" charset="0"/>
              <a:sym typeface="Symbol" panose="05050102010706020507" pitchFamily="18" charset="2"/>
            </a:endParaRPr>
          </a:p>
        </p:txBody>
      </p:sp>
      <p:sp>
        <p:nvSpPr>
          <p:cNvPr id="141316" name="Text Box 5"/>
          <p:cNvSpPr txBox="1">
            <a:spLocks noChangeArrowheads="1"/>
          </p:cNvSpPr>
          <p:nvPr/>
        </p:nvSpPr>
        <p:spPr bwMode="auto">
          <a:xfrm>
            <a:off x="990600" y="7620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V/f constant</a:t>
            </a:r>
            <a:r>
              <a:rPr lang="en-US" altLang="fr-FR" sz="2800" b="1">
                <a:latin typeface="Arial Narrow" panose="020B0606020202030204" pitchFamily="34" charset="0"/>
              </a:rPr>
              <a:t> </a:t>
            </a:r>
            <a:endParaRPr lang="en-US" altLang="fr-FR" sz="2400" b="1">
              <a:latin typeface="Arial Narrow" panose="020B0606020202030204" pitchFamily="34" charset="0"/>
              <a:sym typeface="Symbol" panose="05050102010706020507" pitchFamily="18" charset="2"/>
            </a:endParaRPr>
          </a:p>
        </p:txBody>
      </p:sp>
      <p:grpSp>
        <p:nvGrpSpPr>
          <p:cNvPr id="141317" name="Group 28"/>
          <p:cNvGrpSpPr>
            <a:grpSpLocks/>
          </p:cNvGrpSpPr>
          <p:nvPr/>
        </p:nvGrpSpPr>
        <p:grpSpPr bwMode="auto">
          <a:xfrm>
            <a:off x="446088" y="1844675"/>
            <a:ext cx="7042150" cy="4597400"/>
            <a:chOff x="281" y="1162"/>
            <a:chExt cx="4436" cy="2896"/>
          </a:xfrm>
        </p:grpSpPr>
        <p:sp>
          <p:nvSpPr>
            <p:cNvPr id="141321" name="Line 7"/>
            <p:cNvSpPr>
              <a:spLocks noChangeShapeType="1"/>
            </p:cNvSpPr>
            <p:nvPr/>
          </p:nvSpPr>
          <p:spPr bwMode="auto">
            <a:xfrm flipV="1">
              <a:off x="1096" y="1162"/>
              <a:ext cx="0" cy="2677"/>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1322" name="Line 8"/>
            <p:cNvSpPr>
              <a:spLocks noChangeShapeType="1"/>
            </p:cNvSpPr>
            <p:nvPr/>
          </p:nvSpPr>
          <p:spPr bwMode="auto">
            <a:xfrm>
              <a:off x="1096" y="3839"/>
              <a:ext cx="3621"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1323" name="Line 9"/>
            <p:cNvSpPr>
              <a:spLocks noChangeShapeType="1"/>
            </p:cNvSpPr>
            <p:nvPr/>
          </p:nvSpPr>
          <p:spPr bwMode="auto">
            <a:xfrm flipV="1">
              <a:off x="1096" y="1536"/>
              <a:ext cx="2963" cy="23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1324" name="Line 10"/>
            <p:cNvSpPr>
              <a:spLocks noChangeShapeType="1"/>
            </p:cNvSpPr>
            <p:nvPr/>
          </p:nvSpPr>
          <p:spPr bwMode="auto">
            <a:xfrm flipV="1">
              <a:off x="1096" y="1536"/>
              <a:ext cx="2963" cy="180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1325" name="Freeform 12"/>
            <p:cNvSpPr>
              <a:spLocks/>
            </p:cNvSpPr>
            <p:nvPr/>
          </p:nvSpPr>
          <p:spPr bwMode="auto">
            <a:xfrm>
              <a:off x="1096" y="3242"/>
              <a:ext cx="756" cy="163"/>
            </a:xfrm>
            <a:custGeom>
              <a:avLst/>
              <a:gdLst>
                <a:gd name="T0" fmla="*/ 0 w 551"/>
                <a:gd name="T1" fmla="*/ 42185 h 126"/>
                <a:gd name="T2" fmla="*/ 387525 w 551"/>
                <a:gd name="T3" fmla="*/ 67547 h 126"/>
                <a:gd name="T4" fmla="*/ 884892 w 551"/>
                <a:gd name="T5" fmla="*/ 67547 h 126"/>
                <a:gd name="T6" fmla="*/ 1496917 w 551"/>
                <a:gd name="T7" fmla="*/ 0 h 126"/>
                <a:gd name="T8" fmla="*/ 0 60000 65536"/>
                <a:gd name="T9" fmla="*/ 0 60000 65536"/>
                <a:gd name="T10" fmla="*/ 0 60000 65536"/>
                <a:gd name="T11" fmla="*/ 0 60000 65536"/>
                <a:gd name="T12" fmla="*/ 0 w 551"/>
                <a:gd name="T13" fmla="*/ 0 h 126"/>
                <a:gd name="T14" fmla="*/ 551 w 551"/>
                <a:gd name="T15" fmla="*/ 126 h 126"/>
              </a:gdLst>
              <a:ahLst/>
              <a:cxnLst>
                <a:cxn ang="T8">
                  <a:pos x="T0" y="T1"/>
                </a:cxn>
                <a:cxn ang="T9">
                  <a:pos x="T2" y="T3"/>
                </a:cxn>
                <a:cxn ang="T10">
                  <a:pos x="T4" y="T5"/>
                </a:cxn>
                <a:cxn ang="T11">
                  <a:pos x="T6" y="T7"/>
                </a:cxn>
              </a:cxnLst>
              <a:rect l="T12" t="T13" r="T14" b="T15"/>
              <a:pathLst>
                <a:path w="551" h="126">
                  <a:moveTo>
                    <a:pt x="0" y="67"/>
                  </a:moveTo>
                  <a:cubicBezTo>
                    <a:pt x="44" y="84"/>
                    <a:pt x="88" y="101"/>
                    <a:pt x="142" y="108"/>
                  </a:cubicBezTo>
                  <a:cubicBezTo>
                    <a:pt x="196" y="115"/>
                    <a:pt x="258" y="126"/>
                    <a:pt x="326" y="108"/>
                  </a:cubicBezTo>
                  <a:cubicBezTo>
                    <a:pt x="394" y="90"/>
                    <a:pt x="472" y="45"/>
                    <a:pt x="551" y="0"/>
                  </a:cubicBezTo>
                </a:path>
              </a:pathLst>
            </a:custGeom>
            <a:noFill/>
            <a:ln w="28575" cmpd="sng">
              <a:solidFill>
                <a:srgbClr val="B6160A"/>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1326" name="Line 13"/>
            <p:cNvSpPr>
              <a:spLocks noChangeShapeType="1"/>
            </p:cNvSpPr>
            <p:nvPr/>
          </p:nvSpPr>
          <p:spPr bwMode="auto">
            <a:xfrm flipV="1">
              <a:off x="1837" y="1573"/>
              <a:ext cx="2167" cy="1676"/>
            </a:xfrm>
            <a:prstGeom prst="line">
              <a:avLst/>
            </a:prstGeom>
            <a:noFill/>
            <a:ln w="28575">
              <a:solidFill>
                <a:srgbClr val="B6160A"/>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1327" name="Line 16"/>
            <p:cNvSpPr>
              <a:spLocks noChangeShapeType="1"/>
            </p:cNvSpPr>
            <p:nvPr/>
          </p:nvSpPr>
          <p:spPr bwMode="auto">
            <a:xfrm>
              <a:off x="1088" y="1543"/>
              <a:ext cx="292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1328" name="Line 17"/>
            <p:cNvSpPr>
              <a:spLocks noChangeShapeType="1"/>
            </p:cNvSpPr>
            <p:nvPr/>
          </p:nvSpPr>
          <p:spPr bwMode="auto">
            <a:xfrm>
              <a:off x="4074" y="1543"/>
              <a:ext cx="0" cy="229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1329" name="Text Box 19"/>
            <p:cNvSpPr txBox="1">
              <a:spLocks noChangeArrowheads="1"/>
            </p:cNvSpPr>
            <p:nvPr/>
          </p:nvSpPr>
          <p:spPr bwMode="auto">
            <a:xfrm>
              <a:off x="589" y="1389"/>
              <a:ext cx="32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V</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41330" name="Text Box 20"/>
            <p:cNvSpPr txBox="1">
              <a:spLocks noChangeArrowheads="1"/>
            </p:cNvSpPr>
            <p:nvPr/>
          </p:nvSpPr>
          <p:spPr bwMode="auto">
            <a:xfrm>
              <a:off x="3901" y="3770"/>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f</a:t>
              </a:r>
              <a:r>
                <a:rPr lang="en-US" altLang="fr-FR" sz="2400" baseline="-25000">
                  <a:latin typeface="Arial Narrow" panose="020B0606020202030204" pitchFamily="34" charset="0"/>
                </a:rPr>
                <a:t>n</a:t>
              </a:r>
              <a:endParaRPr lang="en-US" altLang="fr-FR" sz="2400">
                <a:latin typeface="Arial Narrow" panose="020B0606020202030204" pitchFamily="34" charset="0"/>
              </a:endParaRPr>
            </a:p>
          </p:txBody>
        </p:sp>
        <p:sp>
          <p:nvSpPr>
            <p:cNvPr id="141331" name="Freeform 21"/>
            <p:cNvSpPr>
              <a:spLocks/>
            </p:cNvSpPr>
            <p:nvPr/>
          </p:nvSpPr>
          <p:spPr bwMode="auto">
            <a:xfrm>
              <a:off x="2030" y="2228"/>
              <a:ext cx="147" cy="454"/>
            </a:xfrm>
            <a:custGeom>
              <a:avLst/>
              <a:gdLst>
                <a:gd name="T0" fmla="*/ 147 w 147"/>
                <a:gd name="T1" fmla="*/ 0 h 454"/>
                <a:gd name="T2" fmla="*/ 11 w 147"/>
                <a:gd name="T3" fmla="*/ 227 h 454"/>
                <a:gd name="T4" fmla="*/ 79 w 147"/>
                <a:gd name="T5" fmla="*/ 272 h 454"/>
                <a:gd name="T6" fmla="*/ 56 w 147"/>
                <a:gd name="T7" fmla="*/ 454 h 454"/>
                <a:gd name="T8" fmla="*/ 0 60000 65536"/>
                <a:gd name="T9" fmla="*/ 0 60000 65536"/>
                <a:gd name="T10" fmla="*/ 0 60000 65536"/>
                <a:gd name="T11" fmla="*/ 0 60000 65536"/>
                <a:gd name="T12" fmla="*/ 0 w 147"/>
                <a:gd name="T13" fmla="*/ 0 h 454"/>
                <a:gd name="T14" fmla="*/ 147 w 147"/>
                <a:gd name="T15" fmla="*/ 454 h 454"/>
              </a:gdLst>
              <a:ahLst/>
              <a:cxnLst>
                <a:cxn ang="T8">
                  <a:pos x="T0" y="T1"/>
                </a:cxn>
                <a:cxn ang="T9">
                  <a:pos x="T2" y="T3"/>
                </a:cxn>
                <a:cxn ang="T10">
                  <a:pos x="T4" y="T5"/>
                </a:cxn>
                <a:cxn ang="T11">
                  <a:pos x="T6" y="T7"/>
                </a:cxn>
              </a:cxnLst>
              <a:rect l="T12" t="T13" r="T14" b="T15"/>
              <a:pathLst>
                <a:path w="147" h="454">
                  <a:moveTo>
                    <a:pt x="147" y="0"/>
                  </a:moveTo>
                  <a:cubicBezTo>
                    <a:pt x="84" y="91"/>
                    <a:pt x="22" y="182"/>
                    <a:pt x="11" y="227"/>
                  </a:cubicBezTo>
                  <a:cubicBezTo>
                    <a:pt x="0" y="272"/>
                    <a:pt x="72" y="234"/>
                    <a:pt x="79" y="272"/>
                  </a:cubicBezTo>
                  <a:cubicBezTo>
                    <a:pt x="86" y="310"/>
                    <a:pt x="71" y="382"/>
                    <a:pt x="56" y="45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1332" name="Text Box 22"/>
            <p:cNvSpPr txBox="1">
              <a:spLocks noChangeArrowheads="1"/>
            </p:cNvSpPr>
            <p:nvPr/>
          </p:nvSpPr>
          <p:spPr bwMode="auto">
            <a:xfrm>
              <a:off x="1892" y="1969"/>
              <a:ext cx="9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Offset linéaire</a:t>
              </a:r>
            </a:p>
          </p:txBody>
        </p:sp>
        <p:sp>
          <p:nvSpPr>
            <p:cNvPr id="141333" name="Text Box 23"/>
            <p:cNvSpPr txBox="1">
              <a:spLocks noChangeArrowheads="1"/>
            </p:cNvSpPr>
            <p:nvPr/>
          </p:nvSpPr>
          <p:spPr bwMode="auto">
            <a:xfrm>
              <a:off x="1837" y="3385"/>
              <a:ext cx="204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Offset non-linéaire : varie avec I</a:t>
              </a:r>
              <a:r>
                <a:rPr lang="en-US" altLang="fr-FR" sz="1800" baseline="-25000">
                  <a:latin typeface="Arial Narrow" panose="020B0606020202030204" pitchFamily="34" charset="0"/>
                </a:rPr>
                <a:t>s</a:t>
              </a:r>
            </a:p>
          </p:txBody>
        </p:sp>
        <p:sp>
          <p:nvSpPr>
            <p:cNvPr id="141334" name="Freeform 24"/>
            <p:cNvSpPr>
              <a:spLocks/>
            </p:cNvSpPr>
            <p:nvPr/>
          </p:nvSpPr>
          <p:spPr bwMode="auto">
            <a:xfrm>
              <a:off x="1429" y="3430"/>
              <a:ext cx="362" cy="98"/>
            </a:xfrm>
            <a:custGeom>
              <a:avLst/>
              <a:gdLst>
                <a:gd name="T0" fmla="*/ 362 w 362"/>
                <a:gd name="T1" fmla="*/ 91 h 98"/>
                <a:gd name="T2" fmla="*/ 226 w 362"/>
                <a:gd name="T3" fmla="*/ 45 h 98"/>
                <a:gd name="T4" fmla="*/ 90 w 362"/>
                <a:gd name="T5" fmla="*/ 91 h 98"/>
                <a:gd name="T6" fmla="*/ 0 w 362"/>
                <a:gd name="T7" fmla="*/ 0 h 98"/>
                <a:gd name="T8" fmla="*/ 0 60000 65536"/>
                <a:gd name="T9" fmla="*/ 0 60000 65536"/>
                <a:gd name="T10" fmla="*/ 0 60000 65536"/>
                <a:gd name="T11" fmla="*/ 0 60000 65536"/>
                <a:gd name="T12" fmla="*/ 0 w 362"/>
                <a:gd name="T13" fmla="*/ 0 h 98"/>
                <a:gd name="T14" fmla="*/ 362 w 362"/>
                <a:gd name="T15" fmla="*/ 98 h 98"/>
              </a:gdLst>
              <a:ahLst/>
              <a:cxnLst>
                <a:cxn ang="T8">
                  <a:pos x="T0" y="T1"/>
                </a:cxn>
                <a:cxn ang="T9">
                  <a:pos x="T2" y="T3"/>
                </a:cxn>
                <a:cxn ang="T10">
                  <a:pos x="T4" y="T5"/>
                </a:cxn>
                <a:cxn ang="T11">
                  <a:pos x="T6" y="T7"/>
                </a:cxn>
              </a:cxnLst>
              <a:rect l="T12" t="T13" r="T14" b="T15"/>
              <a:pathLst>
                <a:path w="362" h="98">
                  <a:moveTo>
                    <a:pt x="362" y="91"/>
                  </a:moveTo>
                  <a:cubicBezTo>
                    <a:pt x="316" y="68"/>
                    <a:pt x="271" y="45"/>
                    <a:pt x="226" y="45"/>
                  </a:cubicBezTo>
                  <a:cubicBezTo>
                    <a:pt x="181" y="45"/>
                    <a:pt x="128" y="98"/>
                    <a:pt x="90" y="91"/>
                  </a:cubicBezTo>
                  <a:cubicBezTo>
                    <a:pt x="52" y="84"/>
                    <a:pt x="19" y="15"/>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1335" name="Line 25"/>
            <p:cNvSpPr>
              <a:spLocks noChangeShapeType="1"/>
            </p:cNvSpPr>
            <p:nvPr/>
          </p:nvSpPr>
          <p:spPr bwMode="auto">
            <a:xfrm>
              <a:off x="1020" y="3339"/>
              <a:ext cx="0" cy="47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1336" name="Text Box 26"/>
            <p:cNvSpPr txBox="1">
              <a:spLocks noChangeArrowheads="1"/>
            </p:cNvSpPr>
            <p:nvPr/>
          </p:nvSpPr>
          <p:spPr bwMode="auto">
            <a:xfrm>
              <a:off x="281" y="3475"/>
              <a:ext cx="75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rPr>
                <a:t>Renforcement</a:t>
              </a:r>
            </a:p>
          </p:txBody>
        </p:sp>
      </p:grpSp>
      <p:sp>
        <p:nvSpPr>
          <p:cNvPr id="141318" name="Rectangle 27"/>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1319"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F549EA1-5E18-493E-BF89-4FBD99539195}" type="slidenum">
              <a:rPr lang="en-US" altLang="fr-FR" sz="1000">
                <a:solidFill>
                  <a:srgbClr val="292929"/>
                </a:solidFill>
                <a:latin typeface="Arial" panose="020B0604020202020204" pitchFamily="34" charset="0"/>
              </a:rPr>
              <a:pPr>
                <a:spcBef>
                  <a:spcPct val="0"/>
                </a:spcBef>
                <a:buClrTx/>
                <a:buSzTx/>
                <a:buFontTx/>
                <a:buNone/>
              </a:pPr>
              <a:t>24</a:t>
            </a:fld>
            <a:endParaRPr lang="en-US" altLang="fr-FR" sz="1000">
              <a:solidFill>
                <a:srgbClr val="292929"/>
              </a:solidFill>
              <a:latin typeface="Arial" panose="020B0604020202020204" pitchFamily="34" charset="0"/>
            </a:endParaRPr>
          </a:p>
        </p:txBody>
      </p:sp>
      <p:sp>
        <p:nvSpPr>
          <p:cNvPr id="28" name="Espace réservé du pied de page 27"/>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363" name="Text Box 4"/>
          <p:cNvSpPr txBox="1">
            <a:spLocks noChangeArrowheads="1"/>
          </p:cNvSpPr>
          <p:nvPr/>
        </p:nvSpPr>
        <p:spPr bwMode="auto">
          <a:xfrm>
            <a:off x="1079500" y="738188"/>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a:t>
            </a:r>
            <a:endParaRPr lang="en-US" altLang="fr-FR" sz="2400" b="1">
              <a:latin typeface="Arial Narrow" panose="020B0606020202030204" pitchFamily="34" charset="0"/>
              <a:sym typeface="Symbol" panose="05050102010706020507" pitchFamily="18" charset="2"/>
            </a:endParaRPr>
          </a:p>
        </p:txBody>
      </p:sp>
      <p:sp>
        <p:nvSpPr>
          <p:cNvPr id="143364" name="Text Box 6"/>
          <p:cNvSpPr txBox="1">
            <a:spLocks noChangeArrowheads="1"/>
          </p:cNvSpPr>
          <p:nvPr/>
        </p:nvSpPr>
        <p:spPr bwMode="auto">
          <a:xfrm>
            <a:off x="1079500" y="1458913"/>
            <a:ext cx="6553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Une meilleure solution : maintenir  constant. Comment?</a:t>
            </a:r>
          </a:p>
        </p:txBody>
      </p:sp>
      <p:sp>
        <p:nvSpPr>
          <p:cNvPr id="143365" name="Text Box 7"/>
          <p:cNvSpPr txBox="1">
            <a:spLocks noChangeArrowheads="1"/>
          </p:cNvSpPr>
          <p:nvPr/>
        </p:nvSpPr>
        <p:spPr bwMode="auto">
          <a:xfrm>
            <a:off x="1066800" y="2201863"/>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 constant </a:t>
            </a:r>
            <a:r>
              <a:rPr lang="en-US" altLang="fr-FR" sz="2400">
                <a:latin typeface="Arial Narrow" panose="020B0606020202030204" pitchFamily="34" charset="0"/>
                <a:cs typeface="Times New Roman" panose="02020603050405020304" pitchFamily="18" charset="0"/>
                <a:sym typeface="Symbol" panose="05050102010706020507" pitchFamily="18" charset="2"/>
              </a:rPr>
              <a:t>→  E</a:t>
            </a:r>
            <a:r>
              <a:rPr lang="en-US" altLang="fr-FR" sz="2400" baseline="-25000">
                <a:latin typeface="Arial Narrow" panose="020B0606020202030204" pitchFamily="34" charset="0"/>
                <a:cs typeface="Times New Roman" panose="02020603050405020304" pitchFamily="18" charset="0"/>
                <a:sym typeface="Symbol" panose="05050102010706020507" pitchFamily="18" charset="2"/>
              </a:rPr>
              <a:t>s</a:t>
            </a:r>
            <a:r>
              <a:rPr lang="en-US" altLang="fr-FR" sz="2400">
                <a:latin typeface="Arial Narrow" panose="020B0606020202030204" pitchFamily="34" charset="0"/>
                <a:cs typeface="Times New Roman" panose="02020603050405020304" pitchFamily="18" charset="0"/>
                <a:sym typeface="Symbol" panose="05050102010706020507" pitchFamily="18" charset="2"/>
              </a:rPr>
              <a:t>/f  constant  →  I</a:t>
            </a:r>
            <a:r>
              <a:rPr lang="en-US" altLang="fr-FR" sz="2400" baseline="-25000">
                <a:latin typeface="Arial Narrow" panose="020B0606020202030204" pitchFamily="34" charset="0"/>
                <a:cs typeface="Times New Roman" panose="02020603050405020304" pitchFamily="18" charset="0"/>
                <a:sym typeface="Symbol" panose="05050102010706020507" pitchFamily="18" charset="2"/>
              </a:rPr>
              <a:t>m</a:t>
            </a:r>
            <a:r>
              <a:rPr lang="en-US" altLang="fr-FR" sz="2400">
                <a:latin typeface="Arial Narrow" panose="020B0606020202030204" pitchFamily="34" charset="0"/>
                <a:cs typeface="Times New Roman" panose="02020603050405020304" pitchFamily="18" charset="0"/>
                <a:sym typeface="Symbol" panose="05050102010706020507" pitchFamily="18" charset="2"/>
              </a:rPr>
              <a:t> constant (nominal)</a:t>
            </a:r>
            <a:endParaRPr lang="en-US" altLang="fr-FR" sz="2400" baseline="-25000">
              <a:latin typeface="Arial Narrow" panose="020B0606020202030204" pitchFamily="34" charset="0"/>
              <a:cs typeface="Times New Roman" panose="02020603050405020304" pitchFamily="18" charset="0"/>
              <a:sym typeface="Symbol" panose="05050102010706020507" pitchFamily="18" charset="2"/>
            </a:endParaRPr>
          </a:p>
        </p:txBody>
      </p:sp>
      <p:grpSp>
        <p:nvGrpSpPr>
          <p:cNvPr id="143366" name="Group 8"/>
          <p:cNvGrpSpPr>
            <a:grpSpLocks/>
          </p:cNvGrpSpPr>
          <p:nvPr/>
        </p:nvGrpSpPr>
        <p:grpSpPr bwMode="auto">
          <a:xfrm>
            <a:off x="1143000" y="3275013"/>
            <a:ext cx="7600950" cy="2584450"/>
            <a:chOff x="768" y="768"/>
            <a:chExt cx="4788" cy="1628"/>
          </a:xfrm>
        </p:grpSpPr>
        <p:pic>
          <p:nvPicPr>
            <p:cNvPr id="143374" name="Picture 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75" name="Text Box 10"/>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’/s</a:t>
              </a:r>
            </a:p>
          </p:txBody>
        </p:sp>
        <p:sp>
          <p:nvSpPr>
            <p:cNvPr id="143376" name="Text Box 11"/>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143377" name="Text Box 12"/>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143378" name="Text Box 13"/>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143379" name="Text Box 14"/>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143380" name="Text Box 15"/>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ag</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143381" name="Line 16"/>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382" name="Text Box 17"/>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143383" name="Text Box 18"/>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143384" name="Line 19"/>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385" name="Line 20"/>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386" name="Text Box 21"/>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143387" name="Text Box 22"/>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143367" name="Freeform 26"/>
          <p:cNvSpPr>
            <a:spLocks/>
          </p:cNvSpPr>
          <p:nvPr/>
        </p:nvSpPr>
        <p:spPr bwMode="auto">
          <a:xfrm>
            <a:off x="3733800" y="5146675"/>
            <a:ext cx="609600" cy="114300"/>
          </a:xfrm>
          <a:custGeom>
            <a:avLst/>
            <a:gdLst>
              <a:gd name="T0" fmla="*/ 0 w 432"/>
              <a:gd name="T1" fmla="*/ 0 h 216"/>
              <a:gd name="T2" fmla="*/ 2147483646 w 432"/>
              <a:gd name="T3" fmla="*/ 2147483646 h 216"/>
              <a:gd name="T4" fmla="*/ 2147483646 w 432"/>
              <a:gd name="T5" fmla="*/ 2147483646 h 216"/>
              <a:gd name="T6" fmla="*/ 2147483646 w 432"/>
              <a:gd name="T7" fmla="*/ 2147483646 h 216"/>
              <a:gd name="T8" fmla="*/ 0 60000 65536"/>
              <a:gd name="T9" fmla="*/ 0 60000 65536"/>
              <a:gd name="T10" fmla="*/ 0 60000 65536"/>
              <a:gd name="T11" fmla="*/ 0 60000 65536"/>
              <a:gd name="T12" fmla="*/ 0 w 432"/>
              <a:gd name="T13" fmla="*/ 0 h 216"/>
              <a:gd name="T14" fmla="*/ 432 w 432"/>
              <a:gd name="T15" fmla="*/ 216 h 216"/>
            </a:gdLst>
            <a:ahLst/>
            <a:cxnLst>
              <a:cxn ang="T8">
                <a:pos x="T0" y="T1"/>
              </a:cxn>
              <a:cxn ang="T9">
                <a:pos x="T2" y="T3"/>
              </a:cxn>
              <a:cxn ang="T10">
                <a:pos x="T4" y="T5"/>
              </a:cxn>
              <a:cxn ang="T11">
                <a:pos x="T6" y="T7"/>
              </a:cxn>
            </a:cxnLst>
            <a:rect l="T12" t="T13" r="T14" b="T15"/>
            <a:pathLst>
              <a:path w="432" h="216">
                <a:moveTo>
                  <a:pt x="0" y="0"/>
                </a:moveTo>
                <a:cubicBezTo>
                  <a:pt x="76" y="8"/>
                  <a:pt x="152" y="16"/>
                  <a:pt x="192" y="48"/>
                </a:cubicBezTo>
                <a:cubicBezTo>
                  <a:pt x="232" y="80"/>
                  <a:pt x="200" y="168"/>
                  <a:pt x="240" y="192"/>
                </a:cubicBezTo>
                <a:cubicBezTo>
                  <a:pt x="280" y="216"/>
                  <a:pt x="400" y="192"/>
                  <a:pt x="432" y="192"/>
                </a:cubicBezTo>
              </a:path>
            </a:pathLst>
          </a:custGeom>
          <a:noFill/>
          <a:ln w="9525">
            <a:solidFill>
              <a:srgbClr val="B6160A"/>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368" name="Text Box 27"/>
          <p:cNvSpPr txBox="1">
            <a:spLocks noChangeArrowheads="1"/>
          </p:cNvSpPr>
          <p:nvPr/>
        </p:nvSpPr>
        <p:spPr bwMode="auto">
          <a:xfrm>
            <a:off x="1981200" y="4994275"/>
            <a:ext cx="21161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i="1">
                <a:latin typeface="Arial Narrow" panose="020B0606020202030204" pitchFamily="34" charset="0"/>
              </a:rPr>
              <a:t>Maintenu à la valeur nominale</a:t>
            </a:r>
          </a:p>
        </p:txBody>
      </p:sp>
      <p:sp>
        <p:nvSpPr>
          <p:cNvPr id="143369" name="Freeform 28"/>
          <p:cNvSpPr>
            <a:spLocks/>
          </p:cNvSpPr>
          <p:nvPr/>
        </p:nvSpPr>
        <p:spPr bwMode="auto">
          <a:xfrm>
            <a:off x="2971800" y="3235325"/>
            <a:ext cx="609600" cy="304800"/>
          </a:xfrm>
          <a:custGeom>
            <a:avLst/>
            <a:gdLst>
              <a:gd name="T0" fmla="*/ 2147483646 w 384"/>
              <a:gd name="T1" fmla="*/ 0 h 192"/>
              <a:gd name="T2" fmla="*/ 2147483646 w 384"/>
              <a:gd name="T3" fmla="*/ 2147483646 h 192"/>
              <a:gd name="T4" fmla="*/ 2147483646 w 384"/>
              <a:gd name="T5" fmla="*/ 2147483646 h 192"/>
              <a:gd name="T6" fmla="*/ 0 w 384"/>
              <a:gd name="T7" fmla="*/ 2147483646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384" y="0"/>
                </a:moveTo>
                <a:cubicBezTo>
                  <a:pt x="276" y="12"/>
                  <a:pt x="168" y="24"/>
                  <a:pt x="144" y="48"/>
                </a:cubicBezTo>
                <a:cubicBezTo>
                  <a:pt x="120" y="72"/>
                  <a:pt x="264" y="120"/>
                  <a:pt x="240" y="144"/>
                </a:cubicBezTo>
                <a:cubicBezTo>
                  <a:pt x="216" y="168"/>
                  <a:pt x="108" y="180"/>
                  <a:pt x="0" y="192"/>
                </a:cubicBezTo>
              </a:path>
            </a:pathLst>
          </a:custGeom>
          <a:noFill/>
          <a:ln w="9525">
            <a:solidFill>
              <a:srgbClr val="B6160A"/>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370" name="Text Box 29"/>
          <p:cNvSpPr txBox="1">
            <a:spLocks noChangeArrowheads="1"/>
          </p:cNvSpPr>
          <p:nvPr/>
        </p:nvSpPr>
        <p:spPr bwMode="auto">
          <a:xfrm>
            <a:off x="3581400" y="3040063"/>
            <a:ext cx="3392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i="1">
                <a:latin typeface="Arial Narrow" panose="020B0606020202030204" pitchFamily="34" charset="0"/>
              </a:rPr>
              <a:t>Régulé pour maintenir I</a:t>
            </a:r>
            <a:r>
              <a:rPr lang="en-US" altLang="fr-FR" sz="1800" i="1" baseline="-25000">
                <a:latin typeface="Arial Narrow" panose="020B0606020202030204" pitchFamily="34" charset="0"/>
              </a:rPr>
              <a:t>m</a:t>
            </a:r>
            <a:r>
              <a:rPr lang="en-US" altLang="fr-FR" sz="1800" i="1">
                <a:latin typeface="Arial Narrow" panose="020B0606020202030204" pitchFamily="34" charset="0"/>
              </a:rPr>
              <a:t>  nominal</a:t>
            </a:r>
            <a:endParaRPr lang="en-US" altLang="fr-FR" sz="1800" i="1" baseline="-25000">
              <a:latin typeface="Arial Narrow" panose="020B0606020202030204" pitchFamily="34" charset="0"/>
            </a:endParaRPr>
          </a:p>
        </p:txBody>
      </p:sp>
      <p:sp>
        <p:nvSpPr>
          <p:cNvPr id="143371" name="Rectangle 31"/>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3372" name="Espace réservé du numéro de diapositive 2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5DA47D9-DCC6-4A27-A764-6DD24F2174C7}" type="slidenum">
              <a:rPr lang="en-US" altLang="fr-FR" sz="1000">
                <a:solidFill>
                  <a:srgbClr val="292929"/>
                </a:solidFill>
                <a:latin typeface="Arial" panose="020B0604020202020204" pitchFamily="34" charset="0"/>
              </a:rPr>
              <a:pPr>
                <a:spcBef>
                  <a:spcPct val="0"/>
                </a:spcBef>
                <a:buClrTx/>
                <a:buSzTx/>
                <a:buFontTx/>
                <a:buNone/>
              </a:pPr>
              <a:t>25</a:t>
            </a:fld>
            <a:endParaRPr lang="en-US" altLang="fr-FR" sz="1000">
              <a:solidFill>
                <a:srgbClr val="292929"/>
              </a:solidFill>
              <a:latin typeface="Arial" panose="020B0604020202020204" pitchFamily="34" charset="0"/>
            </a:endParaRPr>
          </a:p>
        </p:txBody>
      </p:sp>
      <p:sp>
        <p:nvSpPr>
          <p:cNvPr id="31" name="Espace réservé du pied de page 30"/>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5411" name="Text Box 35"/>
          <p:cNvSpPr txBox="1">
            <a:spLocks noChangeArrowheads="1"/>
          </p:cNvSpPr>
          <p:nvPr/>
        </p:nvSpPr>
        <p:spPr bwMode="auto">
          <a:xfrm>
            <a:off x="1079500" y="714375"/>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  </a:t>
            </a:r>
            <a:endParaRPr lang="en-US" altLang="fr-FR" sz="2400" b="1">
              <a:latin typeface="Arial Narrow" panose="020B0606020202030204" pitchFamily="34" charset="0"/>
              <a:sym typeface="Symbol" panose="05050102010706020507" pitchFamily="18" charset="2"/>
            </a:endParaRPr>
          </a:p>
        </p:txBody>
      </p:sp>
      <p:sp>
        <p:nvSpPr>
          <p:cNvPr id="145412" name="Rectangle 36"/>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pic>
        <p:nvPicPr>
          <p:cNvPr id="145413"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233488"/>
            <a:ext cx="6624637"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4"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27E8A6D-4E91-4F67-B32F-377FC3A3F3A6}" type="slidenum">
              <a:rPr lang="en-US" altLang="fr-FR" sz="1000">
                <a:solidFill>
                  <a:srgbClr val="292929"/>
                </a:solidFill>
                <a:latin typeface="Arial" panose="020B0604020202020204" pitchFamily="34" charset="0"/>
              </a:rPr>
              <a:pPr>
                <a:spcBef>
                  <a:spcPct val="0"/>
                </a:spcBef>
                <a:buClrTx/>
                <a:buSzTx/>
                <a:buFontTx/>
                <a:buNone/>
              </a:pPr>
              <a:t>26</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147459" name="Object 3"/>
          <p:cNvGraphicFramePr>
            <a:graphicFrameLocks noChangeAspect="1"/>
          </p:cNvGraphicFramePr>
          <p:nvPr/>
        </p:nvGraphicFramePr>
        <p:xfrm>
          <a:off x="1117600" y="1808163"/>
          <a:ext cx="2122488" cy="1016000"/>
        </p:xfrm>
        <a:graphic>
          <a:graphicData uri="http://schemas.openxmlformats.org/presentationml/2006/ole">
            <mc:AlternateContent xmlns:mc="http://schemas.openxmlformats.org/markup-compatibility/2006">
              <mc:Choice xmlns:v="urn:schemas-microsoft-com:vml" Requires="v">
                <p:oleObj spid="_x0000_s147501" name="Équation" r:id="rId4" imgW="1485900" imgH="711200" progId="Equation.3">
                  <p:embed/>
                </p:oleObj>
              </mc:Choice>
              <mc:Fallback>
                <p:oleObj name="Équation" r:id="rId4" imgW="1485900" imgH="71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600" y="1808163"/>
                        <a:ext cx="21224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0" name="Rectangle 4"/>
          <p:cNvSpPr>
            <a:spLocks noChangeArrowheads="1"/>
          </p:cNvSpPr>
          <p:nvPr/>
        </p:nvSpPr>
        <p:spPr bwMode="auto">
          <a:xfrm>
            <a:off x="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147461" name="Object 5"/>
          <p:cNvGraphicFramePr>
            <a:graphicFrameLocks noChangeAspect="1"/>
          </p:cNvGraphicFramePr>
          <p:nvPr/>
        </p:nvGraphicFramePr>
        <p:xfrm>
          <a:off x="1203325" y="2978150"/>
          <a:ext cx="2114550" cy="3122613"/>
        </p:xfrm>
        <a:graphic>
          <a:graphicData uri="http://schemas.openxmlformats.org/presentationml/2006/ole">
            <mc:AlternateContent xmlns:mc="http://schemas.openxmlformats.org/markup-compatibility/2006">
              <mc:Choice xmlns:v="urn:schemas-microsoft-com:vml" Requires="v">
                <p:oleObj spid="_x0000_s147502" name="Équation" r:id="rId6" imgW="1562100" imgH="2298700" progId="Equation.3">
                  <p:embed/>
                </p:oleObj>
              </mc:Choice>
              <mc:Fallback>
                <p:oleObj name="Équation" r:id="rId6" imgW="1562100" imgH="22987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3325" y="2978150"/>
                        <a:ext cx="2114550" cy="312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2" name="Object 6"/>
          <p:cNvGraphicFramePr>
            <a:graphicFrameLocks noChangeAspect="1"/>
          </p:cNvGraphicFramePr>
          <p:nvPr/>
        </p:nvGraphicFramePr>
        <p:xfrm>
          <a:off x="4718050" y="1833563"/>
          <a:ext cx="3127375" cy="1290637"/>
        </p:xfrm>
        <a:graphic>
          <a:graphicData uri="http://schemas.openxmlformats.org/presentationml/2006/ole">
            <mc:AlternateContent xmlns:mc="http://schemas.openxmlformats.org/markup-compatibility/2006">
              <mc:Choice xmlns:v="urn:schemas-microsoft-com:vml" Requires="v">
                <p:oleObj spid="_x0000_s147503" name="Équation" r:id="rId8" imgW="1727200" imgH="711200" progId="Equation.3">
                  <p:embed/>
                </p:oleObj>
              </mc:Choice>
              <mc:Fallback>
                <p:oleObj name="Équation" r:id="rId8" imgW="1727200" imgH="7112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8050" y="1833563"/>
                        <a:ext cx="3127375"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3" name="Text Box 7"/>
          <p:cNvSpPr txBox="1">
            <a:spLocks noChangeArrowheads="1"/>
          </p:cNvSpPr>
          <p:nvPr/>
        </p:nvSpPr>
        <p:spPr bwMode="auto">
          <a:xfrm>
            <a:off x="4427538" y="3573463"/>
            <a:ext cx="42465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Char char="•"/>
            </a:pPr>
            <a:r>
              <a:rPr lang="en-US" altLang="fr-FR" sz="1800">
                <a:latin typeface="Arial Narrow" panose="020B0606020202030204" pitchFamily="34" charset="0"/>
              </a:rPr>
              <a:t>Le courant est régulé en utilisant un convertisseur de courant </a:t>
            </a:r>
          </a:p>
          <a:p>
            <a:pPr eaLnBrk="1" hangingPunct="1">
              <a:spcBef>
                <a:spcPct val="0"/>
              </a:spcBef>
              <a:buClrTx/>
              <a:buSzTx/>
              <a:buFontTx/>
              <a:buChar char="•"/>
            </a:pPr>
            <a:endParaRPr lang="en-US" altLang="fr-FR" sz="1800">
              <a:latin typeface="Arial Narrow" panose="020B0606020202030204" pitchFamily="34" charset="0"/>
            </a:endParaRPr>
          </a:p>
          <a:p>
            <a:pPr eaLnBrk="1" hangingPunct="1">
              <a:spcBef>
                <a:spcPct val="0"/>
              </a:spcBef>
              <a:buClrTx/>
              <a:buSzTx/>
              <a:buFontTx/>
              <a:buChar char="•"/>
            </a:pPr>
            <a:r>
              <a:rPr lang="en-US" altLang="fr-FR" sz="1800">
                <a:latin typeface="Arial Narrow" panose="020B0606020202030204" pitchFamily="34" charset="0"/>
              </a:rPr>
              <a:t>Dépendant des paramètres rotoriques: sensibilité aux variations de ces paramètres</a:t>
            </a:r>
          </a:p>
        </p:txBody>
      </p:sp>
      <p:sp>
        <p:nvSpPr>
          <p:cNvPr id="147464" name="Text Box 8"/>
          <p:cNvSpPr txBox="1">
            <a:spLocks noChangeArrowheads="1"/>
          </p:cNvSpPr>
          <p:nvPr/>
        </p:nvSpPr>
        <p:spPr bwMode="auto">
          <a:xfrm>
            <a:off x="1079500" y="714375"/>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 </a:t>
            </a:r>
            <a:endParaRPr lang="en-US" altLang="fr-FR" sz="2400" b="1">
              <a:latin typeface="Arial Narrow" panose="020B0606020202030204" pitchFamily="34" charset="0"/>
              <a:sym typeface="Symbol" panose="05050102010706020507" pitchFamily="18" charset="2"/>
            </a:endParaRPr>
          </a:p>
        </p:txBody>
      </p:sp>
      <p:sp>
        <p:nvSpPr>
          <p:cNvPr id="147465" name="Rectangle 9"/>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7466"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AA6842F-BDC4-47C1-9D1A-7EAAF7D81576}" type="slidenum">
              <a:rPr lang="en-US" altLang="fr-FR" sz="1000">
                <a:solidFill>
                  <a:srgbClr val="292929"/>
                </a:solidFill>
                <a:latin typeface="Arial" panose="020B0604020202020204" pitchFamily="34" charset="0"/>
              </a:rPr>
              <a:pPr>
                <a:spcBef>
                  <a:spcPct val="0"/>
                </a:spcBef>
                <a:buClrTx/>
                <a:buSzTx/>
                <a:buFontTx/>
                <a:buNone/>
              </a:pPr>
              <a:t>27</a:t>
            </a:fld>
            <a:endParaRPr lang="en-US" altLang="fr-FR" sz="1000">
              <a:solidFill>
                <a:srgbClr val="292929"/>
              </a:solidFill>
              <a:latin typeface="Arial" panose="020B0604020202020204" pitchFamily="34" charset="0"/>
            </a:endParaRPr>
          </a:p>
        </p:txBody>
      </p:sp>
      <p:sp>
        <p:nvSpPr>
          <p:cNvPr id="15" name="Espace réservé du pied de page 14"/>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07" name="Rectangle 4"/>
          <p:cNvSpPr>
            <a:spLocks noChangeArrowheads="1"/>
          </p:cNvSpPr>
          <p:nvPr/>
        </p:nvSpPr>
        <p:spPr bwMode="auto">
          <a:xfrm>
            <a:off x="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08" name="Text Box 8"/>
          <p:cNvSpPr txBox="1">
            <a:spLocks noChangeArrowheads="1"/>
          </p:cNvSpPr>
          <p:nvPr/>
        </p:nvSpPr>
        <p:spPr bwMode="auto">
          <a:xfrm>
            <a:off x="1079500" y="739775"/>
            <a:ext cx="375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Flux Constant </a:t>
            </a:r>
            <a:endParaRPr lang="en-US" altLang="fr-FR" sz="2400" b="1">
              <a:latin typeface="Arial Narrow" panose="020B0606020202030204" pitchFamily="34" charset="0"/>
              <a:sym typeface="Symbol" panose="05050102010706020507" pitchFamily="18" charset="2"/>
            </a:endParaRPr>
          </a:p>
        </p:txBody>
      </p:sp>
      <p:sp>
        <p:nvSpPr>
          <p:cNvPr id="149509" name="Line 59"/>
          <p:cNvSpPr>
            <a:spLocks noChangeAspect="1" noChangeShapeType="1"/>
          </p:cNvSpPr>
          <p:nvPr/>
        </p:nvSpPr>
        <p:spPr bwMode="auto">
          <a:xfrm>
            <a:off x="539750" y="4760913"/>
            <a:ext cx="53975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10" name="Oval 11"/>
          <p:cNvSpPr>
            <a:spLocks noChangeArrowheads="1"/>
          </p:cNvSpPr>
          <p:nvPr/>
        </p:nvSpPr>
        <p:spPr bwMode="auto">
          <a:xfrm>
            <a:off x="7507288" y="1981200"/>
            <a:ext cx="1025525" cy="1023938"/>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11" name="Rectangle 12"/>
          <p:cNvSpPr>
            <a:spLocks noChangeArrowheads="1"/>
          </p:cNvSpPr>
          <p:nvPr/>
        </p:nvSpPr>
        <p:spPr bwMode="auto">
          <a:xfrm>
            <a:off x="5357813" y="1643063"/>
            <a:ext cx="1163637" cy="156527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12" name="Line 13"/>
          <p:cNvSpPr>
            <a:spLocks noChangeShapeType="1"/>
          </p:cNvSpPr>
          <p:nvPr/>
        </p:nvSpPr>
        <p:spPr bwMode="auto">
          <a:xfrm flipH="1">
            <a:off x="4192588" y="1895475"/>
            <a:ext cx="1150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3" name="Line 14"/>
          <p:cNvSpPr>
            <a:spLocks noChangeShapeType="1"/>
          </p:cNvSpPr>
          <p:nvPr/>
        </p:nvSpPr>
        <p:spPr bwMode="auto">
          <a:xfrm flipH="1">
            <a:off x="4137025" y="3095625"/>
            <a:ext cx="1227138"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4" name="Rectangle 15"/>
          <p:cNvSpPr>
            <a:spLocks noChangeArrowheads="1"/>
          </p:cNvSpPr>
          <p:nvPr/>
        </p:nvSpPr>
        <p:spPr bwMode="auto">
          <a:xfrm>
            <a:off x="3152775" y="1655763"/>
            <a:ext cx="1025525" cy="1593850"/>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15" name="Line 16"/>
          <p:cNvSpPr>
            <a:spLocks noChangeShapeType="1"/>
          </p:cNvSpPr>
          <p:nvPr/>
        </p:nvSpPr>
        <p:spPr bwMode="auto">
          <a:xfrm>
            <a:off x="2514600" y="1981200"/>
            <a:ext cx="6238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6" name="Line 17"/>
          <p:cNvSpPr>
            <a:spLocks noChangeShapeType="1"/>
          </p:cNvSpPr>
          <p:nvPr/>
        </p:nvSpPr>
        <p:spPr bwMode="auto">
          <a:xfrm>
            <a:off x="2528888" y="2328863"/>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7" name="Line 18"/>
          <p:cNvSpPr>
            <a:spLocks noChangeShapeType="1"/>
          </p:cNvSpPr>
          <p:nvPr/>
        </p:nvSpPr>
        <p:spPr bwMode="auto">
          <a:xfrm>
            <a:off x="2528888" y="2679700"/>
            <a:ext cx="6238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8" name="Line 19"/>
          <p:cNvSpPr>
            <a:spLocks noChangeShapeType="1"/>
          </p:cNvSpPr>
          <p:nvPr/>
        </p:nvSpPr>
        <p:spPr bwMode="auto">
          <a:xfrm>
            <a:off x="4567238" y="2303463"/>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19" name="Line 20"/>
          <p:cNvSpPr>
            <a:spLocks noChangeShapeType="1"/>
          </p:cNvSpPr>
          <p:nvPr/>
        </p:nvSpPr>
        <p:spPr bwMode="auto">
          <a:xfrm>
            <a:off x="4567238" y="2357438"/>
            <a:ext cx="263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0" name="Line 21"/>
          <p:cNvSpPr>
            <a:spLocks noChangeAspect="1" noChangeShapeType="1"/>
          </p:cNvSpPr>
          <p:nvPr/>
        </p:nvSpPr>
        <p:spPr bwMode="auto">
          <a:xfrm>
            <a:off x="4705350" y="2357438"/>
            <a:ext cx="0" cy="749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1" name="Line 22"/>
          <p:cNvSpPr>
            <a:spLocks noChangeShapeType="1"/>
          </p:cNvSpPr>
          <p:nvPr/>
        </p:nvSpPr>
        <p:spPr bwMode="auto">
          <a:xfrm>
            <a:off x="6546850" y="1909763"/>
            <a:ext cx="1039813"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2" name="Line 23"/>
          <p:cNvSpPr>
            <a:spLocks noChangeShapeType="1"/>
          </p:cNvSpPr>
          <p:nvPr/>
        </p:nvSpPr>
        <p:spPr bwMode="auto">
          <a:xfrm flipV="1">
            <a:off x="6535738" y="2792413"/>
            <a:ext cx="1039812"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3" name="Line 24"/>
          <p:cNvSpPr>
            <a:spLocks noChangeShapeType="1"/>
          </p:cNvSpPr>
          <p:nvPr/>
        </p:nvSpPr>
        <p:spPr bwMode="auto">
          <a:xfrm>
            <a:off x="6534150" y="2498725"/>
            <a:ext cx="9985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24" name="Text Box 25"/>
          <p:cNvSpPr txBox="1">
            <a:spLocks noChangeArrowheads="1"/>
          </p:cNvSpPr>
          <p:nvPr/>
        </p:nvSpPr>
        <p:spPr bwMode="auto">
          <a:xfrm>
            <a:off x="5411788" y="2051050"/>
            <a:ext cx="10620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500" b="1" dirty="0" err="1">
                <a:latin typeface="Courier New" panose="02070309020205020404" pitchFamily="49" charset="0"/>
              </a:rPr>
              <a:t>Convertisseur</a:t>
            </a:r>
            <a:endParaRPr lang="en-US" altLang="fr-FR" sz="1500" b="1" dirty="0">
              <a:latin typeface="Arial Narrow" panose="020B0606020202030204" pitchFamily="34" charset="0"/>
            </a:endParaRPr>
          </a:p>
        </p:txBody>
      </p:sp>
      <p:sp>
        <p:nvSpPr>
          <p:cNvPr id="149525" name="Text Box 26"/>
          <p:cNvSpPr txBox="1">
            <a:spLocks noChangeArrowheads="1"/>
          </p:cNvSpPr>
          <p:nvPr/>
        </p:nvSpPr>
        <p:spPr bwMode="auto">
          <a:xfrm>
            <a:off x="3140075" y="2214563"/>
            <a:ext cx="1071563"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dirty="0" err="1">
                <a:latin typeface="Arial Narrow" panose="020B0606020202030204" pitchFamily="34" charset="0"/>
              </a:rPr>
              <a:t>Redresseur</a:t>
            </a:r>
            <a:endParaRPr lang="en-US" altLang="fr-FR" sz="1500" dirty="0">
              <a:latin typeface="Arial Narrow" panose="020B0606020202030204" pitchFamily="34" charset="0"/>
            </a:endParaRPr>
          </a:p>
        </p:txBody>
      </p:sp>
      <p:sp>
        <p:nvSpPr>
          <p:cNvPr id="149526" name="Text Box 27"/>
          <p:cNvSpPr txBox="1">
            <a:spLocks noChangeArrowheads="1"/>
          </p:cNvSpPr>
          <p:nvPr/>
        </p:nvSpPr>
        <p:spPr bwMode="auto">
          <a:xfrm>
            <a:off x="822325" y="2087563"/>
            <a:ext cx="1719263"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dirty="0">
                <a:latin typeface="Courier New" panose="02070309020205020404" pitchFamily="49" charset="0"/>
              </a:rPr>
              <a:t>Alimentation</a:t>
            </a:r>
          </a:p>
          <a:p>
            <a:pPr eaLnBrk="1" hangingPunct="1">
              <a:spcBef>
                <a:spcPct val="0"/>
              </a:spcBef>
              <a:buClrTx/>
              <a:buSzTx/>
              <a:buFontTx/>
              <a:buNone/>
            </a:pPr>
            <a:r>
              <a:rPr lang="en-US" altLang="fr-FR" sz="1500" dirty="0">
                <a:latin typeface="Courier New" panose="02070309020205020404" pitchFamily="49" charset="0"/>
              </a:rPr>
              <a:t>3-phasée</a:t>
            </a:r>
            <a:endParaRPr lang="en-US" altLang="fr-FR" sz="1500" dirty="0">
              <a:latin typeface="Arial Narrow" panose="020B0606020202030204" pitchFamily="34" charset="0"/>
            </a:endParaRPr>
          </a:p>
        </p:txBody>
      </p:sp>
      <p:sp>
        <p:nvSpPr>
          <p:cNvPr id="149527" name="Text Box 32"/>
          <p:cNvSpPr txBox="1">
            <a:spLocks noChangeArrowheads="1"/>
          </p:cNvSpPr>
          <p:nvPr/>
        </p:nvSpPr>
        <p:spPr bwMode="auto">
          <a:xfrm>
            <a:off x="7785100" y="2260600"/>
            <a:ext cx="74771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b="1">
                <a:latin typeface="Courier New" panose="02070309020205020404" pitchFamily="49" charset="0"/>
              </a:rPr>
              <a:t>IM</a:t>
            </a:r>
            <a:endParaRPr lang="en-US" altLang="fr-FR" sz="1500" b="1">
              <a:latin typeface="Arial Narrow" panose="020B0606020202030204" pitchFamily="34" charset="0"/>
            </a:endParaRPr>
          </a:p>
        </p:txBody>
      </p:sp>
      <p:sp>
        <p:nvSpPr>
          <p:cNvPr id="149528" name="Oval 36"/>
          <p:cNvSpPr>
            <a:spLocks noChangeArrowheads="1"/>
          </p:cNvSpPr>
          <p:nvPr/>
        </p:nvSpPr>
        <p:spPr bwMode="auto">
          <a:xfrm>
            <a:off x="3346450" y="5256213"/>
            <a:ext cx="292100" cy="269875"/>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29" name="Line 37"/>
          <p:cNvSpPr>
            <a:spLocks noChangeShapeType="1"/>
          </p:cNvSpPr>
          <p:nvPr/>
        </p:nvSpPr>
        <p:spPr bwMode="auto">
          <a:xfrm flipV="1">
            <a:off x="3490913" y="5543550"/>
            <a:ext cx="0" cy="396875"/>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0" name="Line 38"/>
          <p:cNvSpPr>
            <a:spLocks noChangeShapeType="1"/>
          </p:cNvSpPr>
          <p:nvPr/>
        </p:nvSpPr>
        <p:spPr bwMode="auto">
          <a:xfrm flipV="1">
            <a:off x="4276725" y="4725988"/>
            <a:ext cx="415925"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1" name="Line 39"/>
          <p:cNvSpPr>
            <a:spLocks noChangeShapeType="1"/>
          </p:cNvSpPr>
          <p:nvPr/>
        </p:nvSpPr>
        <p:spPr bwMode="auto">
          <a:xfrm flipV="1">
            <a:off x="3095625" y="4751388"/>
            <a:ext cx="60960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2" name="Oval 41"/>
          <p:cNvSpPr>
            <a:spLocks noChangeArrowheads="1"/>
          </p:cNvSpPr>
          <p:nvPr/>
        </p:nvSpPr>
        <p:spPr bwMode="auto">
          <a:xfrm>
            <a:off x="1079500" y="4606925"/>
            <a:ext cx="290513" cy="269875"/>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33" name="Line 43"/>
          <p:cNvSpPr>
            <a:spLocks noChangeShapeType="1"/>
          </p:cNvSpPr>
          <p:nvPr/>
        </p:nvSpPr>
        <p:spPr bwMode="auto">
          <a:xfrm flipV="1">
            <a:off x="1222375" y="4859338"/>
            <a:ext cx="0" cy="107950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34" name="Text Box 46"/>
          <p:cNvSpPr txBox="1">
            <a:spLocks noChangeArrowheads="1"/>
          </p:cNvSpPr>
          <p:nvPr/>
        </p:nvSpPr>
        <p:spPr bwMode="auto">
          <a:xfrm>
            <a:off x="431800" y="4464050"/>
            <a:ext cx="611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a:latin typeface="Courier New" panose="02070309020205020404" pitchFamily="49" charset="0"/>
              </a:rPr>
              <a:t>*</a:t>
            </a:r>
            <a:endParaRPr lang="en-US" altLang="fr-FR" sz="1600">
              <a:latin typeface="Arial Narrow" panose="020B0606020202030204" pitchFamily="34" charset="0"/>
            </a:endParaRPr>
          </a:p>
        </p:txBody>
      </p:sp>
      <p:sp>
        <p:nvSpPr>
          <p:cNvPr id="149535" name="Text Box 50"/>
          <p:cNvSpPr txBox="1">
            <a:spLocks noChangeArrowheads="1"/>
          </p:cNvSpPr>
          <p:nvPr/>
        </p:nvSpPr>
        <p:spPr bwMode="auto">
          <a:xfrm>
            <a:off x="3240088" y="49672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36" name="Text Box 52"/>
          <p:cNvSpPr txBox="1">
            <a:spLocks noChangeArrowheads="1"/>
          </p:cNvSpPr>
          <p:nvPr/>
        </p:nvSpPr>
        <p:spPr bwMode="auto">
          <a:xfrm>
            <a:off x="827088" y="4464050"/>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37" name="Text Box 53"/>
          <p:cNvSpPr txBox="1">
            <a:spLocks noChangeArrowheads="1"/>
          </p:cNvSpPr>
          <p:nvPr/>
        </p:nvSpPr>
        <p:spPr bwMode="auto">
          <a:xfrm>
            <a:off x="4176713" y="4427538"/>
            <a:ext cx="7207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Courier New" panose="02070309020205020404" pitchFamily="49" charset="0"/>
              </a:rPr>
              <a:t>|I</a:t>
            </a:r>
            <a:r>
              <a:rPr lang="en-US" altLang="fr-FR" sz="1400" b="1" baseline="-25000">
                <a:latin typeface="Courier New" panose="02070309020205020404" pitchFamily="49" charset="0"/>
              </a:rPr>
              <a:t>s</a:t>
            </a:r>
            <a:r>
              <a:rPr lang="en-US" altLang="fr-FR" sz="1400" b="1">
                <a:latin typeface="Courier New" panose="02070309020205020404" pitchFamily="49" charset="0"/>
              </a:rPr>
              <a:t>|</a:t>
            </a:r>
            <a:endParaRPr lang="en-US" altLang="fr-FR" sz="1400" b="1">
              <a:latin typeface="Arial Narrow" panose="020B0606020202030204" pitchFamily="34" charset="0"/>
            </a:endParaRPr>
          </a:p>
        </p:txBody>
      </p:sp>
      <p:sp>
        <p:nvSpPr>
          <p:cNvPr id="149538" name="Text Box 65"/>
          <p:cNvSpPr txBox="1">
            <a:spLocks noChangeArrowheads="1"/>
          </p:cNvSpPr>
          <p:nvPr/>
        </p:nvSpPr>
        <p:spPr bwMode="auto">
          <a:xfrm>
            <a:off x="3095625" y="4391025"/>
            <a:ext cx="7921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Courier New" panose="02070309020205020404" pitchFamily="49" charset="0"/>
                <a:sym typeface="Symbol" panose="05050102010706020507" pitchFamily="18" charset="2"/>
              </a:rPr>
              <a:t></a:t>
            </a:r>
            <a:r>
              <a:rPr lang="en-US" altLang="fr-FR" sz="1400" b="1" baseline="-25000">
                <a:latin typeface="Courier New" panose="02070309020205020404" pitchFamily="49" charset="0"/>
                <a:sym typeface="Symbol" panose="05050102010706020507" pitchFamily="18" charset="2"/>
              </a:rPr>
              <a:t>g</a:t>
            </a:r>
            <a:endParaRPr lang="en-US" altLang="fr-FR" sz="1400" b="1">
              <a:latin typeface="Arial Narrow" panose="020B0606020202030204" pitchFamily="34" charset="0"/>
            </a:endParaRPr>
          </a:p>
        </p:txBody>
      </p:sp>
      <p:sp>
        <p:nvSpPr>
          <p:cNvPr id="149539" name="Line 66"/>
          <p:cNvSpPr>
            <a:spLocks noChangeAspect="1" noChangeShapeType="1"/>
          </p:cNvSpPr>
          <p:nvPr/>
        </p:nvSpPr>
        <p:spPr bwMode="auto">
          <a:xfrm>
            <a:off x="4716463" y="1906588"/>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40" name="Text Box 67"/>
          <p:cNvSpPr txBox="1">
            <a:spLocks noChangeArrowheads="1"/>
          </p:cNvSpPr>
          <p:nvPr/>
        </p:nvSpPr>
        <p:spPr bwMode="auto">
          <a:xfrm>
            <a:off x="4716463" y="23383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500" b="1">
                <a:latin typeface="Courier New" panose="02070309020205020404" pitchFamily="49" charset="0"/>
              </a:rPr>
              <a:t>C</a:t>
            </a:r>
            <a:endParaRPr lang="en-US" altLang="fr-FR" sz="1500" b="1">
              <a:latin typeface="Arial Narrow" panose="020B0606020202030204" pitchFamily="34" charset="0"/>
            </a:endParaRPr>
          </a:p>
        </p:txBody>
      </p:sp>
      <p:sp>
        <p:nvSpPr>
          <p:cNvPr id="149541" name="Line 70"/>
          <p:cNvSpPr>
            <a:spLocks noChangeShapeType="1"/>
          </p:cNvSpPr>
          <p:nvPr/>
        </p:nvSpPr>
        <p:spPr bwMode="auto">
          <a:xfrm>
            <a:off x="8027988" y="2987675"/>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42" name="Line 71"/>
          <p:cNvSpPr>
            <a:spLocks noChangeShapeType="1"/>
          </p:cNvSpPr>
          <p:nvPr/>
        </p:nvSpPr>
        <p:spPr bwMode="auto">
          <a:xfrm>
            <a:off x="8135938" y="2987675"/>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43" name="Oval 72"/>
          <p:cNvSpPr>
            <a:spLocks noChangeArrowheads="1"/>
          </p:cNvSpPr>
          <p:nvPr/>
        </p:nvSpPr>
        <p:spPr bwMode="auto">
          <a:xfrm>
            <a:off x="7885113" y="3635375"/>
            <a:ext cx="395287" cy="360363"/>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44" name="Line 73"/>
          <p:cNvSpPr>
            <a:spLocks noChangeShapeType="1"/>
          </p:cNvSpPr>
          <p:nvPr/>
        </p:nvSpPr>
        <p:spPr bwMode="auto">
          <a:xfrm>
            <a:off x="1222375" y="5938838"/>
            <a:ext cx="6878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45" name="Line 74"/>
          <p:cNvSpPr>
            <a:spLocks noChangeShapeType="1"/>
          </p:cNvSpPr>
          <p:nvPr/>
        </p:nvSpPr>
        <p:spPr bwMode="auto">
          <a:xfrm>
            <a:off x="8101013" y="3995738"/>
            <a:ext cx="0" cy="194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46" name="Rectangle 76"/>
          <p:cNvSpPr>
            <a:spLocks noChangeAspect="1" noChangeArrowheads="1"/>
          </p:cNvSpPr>
          <p:nvPr/>
        </p:nvSpPr>
        <p:spPr bwMode="auto">
          <a:xfrm>
            <a:off x="1619250" y="4498975"/>
            <a:ext cx="554038" cy="50482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47" name="Line 80"/>
          <p:cNvSpPr>
            <a:spLocks noChangeAspect="1" noChangeShapeType="1"/>
          </p:cNvSpPr>
          <p:nvPr/>
        </p:nvSpPr>
        <p:spPr bwMode="auto">
          <a:xfrm>
            <a:off x="2195513" y="4751388"/>
            <a:ext cx="360362"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48" name="Rectangle 82"/>
          <p:cNvSpPr>
            <a:spLocks noChangeAspect="1" noChangeArrowheads="1"/>
          </p:cNvSpPr>
          <p:nvPr/>
        </p:nvSpPr>
        <p:spPr bwMode="auto">
          <a:xfrm>
            <a:off x="3706813" y="4464050"/>
            <a:ext cx="554037" cy="504825"/>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49" name="Line 84"/>
          <p:cNvSpPr>
            <a:spLocks noChangeShapeType="1"/>
          </p:cNvSpPr>
          <p:nvPr/>
        </p:nvSpPr>
        <p:spPr bwMode="auto">
          <a:xfrm flipV="1">
            <a:off x="3635375" y="5399088"/>
            <a:ext cx="1044575"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0" name="Line 85"/>
          <p:cNvSpPr>
            <a:spLocks noChangeShapeType="1"/>
          </p:cNvSpPr>
          <p:nvPr/>
        </p:nvSpPr>
        <p:spPr bwMode="auto">
          <a:xfrm flipV="1">
            <a:off x="3492500" y="4749800"/>
            <a:ext cx="0" cy="506413"/>
          </a:xfrm>
          <a:prstGeom prst="line">
            <a:avLst/>
          </a:prstGeom>
          <a:noFill/>
          <a:ln w="9525">
            <a:solidFill>
              <a:srgbClr val="000000"/>
            </a:solidFill>
            <a:round/>
            <a:headEnd type="triangle" w="lg" len="med"/>
            <a:tailEnd/>
          </a:ln>
          <a:extLst>
            <a:ext uri="{909E8E84-426E-40DD-AFC4-6F175D3DCCD1}">
              <a14:hiddenFill xmlns:a14="http://schemas.microsoft.com/office/drawing/2010/main">
                <a:noFill/>
              </a14:hiddenFill>
            </a:ext>
          </a:extLst>
        </p:spPr>
        <p:txBody>
          <a:bodyPr/>
          <a:lstStyle/>
          <a:p>
            <a:endParaRPr lang="fr-FR"/>
          </a:p>
        </p:txBody>
      </p:sp>
      <p:sp>
        <p:nvSpPr>
          <p:cNvPr id="149551" name="Line 86"/>
          <p:cNvSpPr>
            <a:spLocks noChangeAspect="1" noChangeShapeType="1"/>
          </p:cNvSpPr>
          <p:nvPr/>
        </p:nvSpPr>
        <p:spPr bwMode="auto">
          <a:xfrm>
            <a:off x="1403350" y="4751388"/>
            <a:ext cx="180975"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2" name="Rectangle 87"/>
          <p:cNvSpPr>
            <a:spLocks noChangeArrowheads="1"/>
          </p:cNvSpPr>
          <p:nvPr/>
        </p:nvSpPr>
        <p:spPr bwMode="auto">
          <a:xfrm>
            <a:off x="5364163" y="3598863"/>
            <a:ext cx="1152525" cy="6477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53" name="Line 88"/>
          <p:cNvSpPr>
            <a:spLocks noChangeAspect="1" noChangeShapeType="1"/>
          </p:cNvSpPr>
          <p:nvPr/>
        </p:nvSpPr>
        <p:spPr bwMode="auto">
          <a:xfrm flipV="1">
            <a:off x="5651500" y="4246563"/>
            <a:ext cx="0" cy="396875"/>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4" name="Line 89"/>
          <p:cNvSpPr>
            <a:spLocks noChangeAspect="1" noChangeShapeType="1"/>
          </p:cNvSpPr>
          <p:nvPr/>
        </p:nvSpPr>
        <p:spPr bwMode="auto">
          <a:xfrm flipV="1">
            <a:off x="5867400" y="4246563"/>
            <a:ext cx="0" cy="684212"/>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5" name="Line 90"/>
          <p:cNvSpPr>
            <a:spLocks noChangeAspect="1" noChangeShapeType="1"/>
          </p:cNvSpPr>
          <p:nvPr/>
        </p:nvSpPr>
        <p:spPr bwMode="auto">
          <a:xfrm flipV="1">
            <a:off x="6119813" y="4246563"/>
            <a:ext cx="0" cy="1081087"/>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149556" name="Line 91"/>
          <p:cNvSpPr>
            <a:spLocks noChangeAspect="1" noChangeShapeType="1"/>
          </p:cNvSpPr>
          <p:nvPr/>
        </p:nvSpPr>
        <p:spPr bwMode="auto">
          <a:xfrm>
            <a:off x="5292725" y="5327650"/>
            <a:ext cx="827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57" name="Line 92"/>
          <p:cNvSpPr>
            <a:spLocks noChangeAspect="1" noChangeShapeType="1"/>
          </p:cNvSpPr>
          <p:nvPr/>
        </p:nvSpPr>
        <p:spPr bwMode="auto">
          <a:xfrm>
            <a:off x="5256213" y="4930775"/>
            <a:ext cx="6111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58" name="Line 93"/>
          <p:cNvSpPr>
            <a:spLocks noChangeAspect="1" noChangeShapeType="1"/>
          </p:cNvSpPr>
          <p:nvPr/>
        </p:nvSpPr>
        <p:spPr bwMode="auto">
          <a:xfrm>
            <a:off x="5256213" y="4643438"/>
            <a:ext cx="395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59" name="Rectangle 83"/>
          <p:cNvSpPr>
            <a:spLocks noChangeAspect="1" noChangeArrowheads="1"/>
          </p:cNvSpPr>
          <p:nvPr/>
        </p:nvSpPr>
        <p:spPr bwMode="auto">
          <a:xfrm>
            <a:off x="4716463" y="4464050"/>
            <a:ext cx="576262" cy="1079500"/>
          </a:xfrm>
          <a:prstGeom prst="rect">
            <a:avLst/>
          </a:prstGeom>
          <a:solidFill>
            <a:schemeClr val="bg1"/>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60" name="AutoShape 94"/>
          <p:cNvSpPr>
            <a:spLocks noChangeArrowheads="1"/>
          </p:cNvSpPr>
          <p:nvPr/>
        </p:nvSpPr>
        <p:spPr bwMode="auto">
          <a:xfrm>
            <a:off x="5795963" y="3203575"/>
            <a:ext cx="288925" cy="360363"/>
          </a:xfrm>
          <a:prstGeom prst="upArrow">
            <a:avLst>
              <a:gd name="adj1" fmla="val 50000"/>
              <a:gd name="adj2" fmla="val 31181"/>
            </a:avLst>
          </a:prstGeom>
          <a:solidFill>
            <a:schemeClr val="bg1"/>
          </a:solidFill>
          <a:ln w="9525">
            <a:solidFill>
              <a:schemeClr val="tx1"/>
            </a:solidFill>
            <a:miter lim="800000"/>
            <a:headEnd/>
            <a:tailEnd/>
          </a:ln>
        </p:spPr>
        <p:txBody>
          <a:bodyPr vert="eaVert"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61" name="Oval 95"/>
          <p:cNvSpPr>
            <a:spLocks noChangeArrowheads="1"/>
          </p:cNvSpPr>
          <p:nvPr/>
        </p:nvSpPr>
        <p:spPr bwMode="auto">
          <a:xfrm>
            <a:off x="6877050" y="1989138"/>
            <a:ext cx="71438" cy="7302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62" name="Oval 96"/>
          <p:cNvSpPr>
            <a:spLocks noChangeArrowheads="1"/>
          </p:cNvSpPr>
          <p:nvPr/>
        </p:nvSpPr>
        <p:spPr bwMode="auto">
          <a:xfrm>
            <a:off x="7308850" y="2816225"/>
            <a:ext cx="71438" cy="7302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63" name="Line 97"/>
          <p:cNvSpPr>
            <a:spLocks noChangeAspect="1" noChangeShapeType="1"/>
          </p:cNvSpPr>
          <p:nvPr/>
        </p:nvSpPr>
        <p:spPr bwMode="auto">
          <a:xfrm>
            <a:off x="6911975" y="2024063"/>
            <a:ext cx="0" cy="1657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64" name="Line 98"/>
          <p:cNvSpPr>
            <a:spLocks noChangeAspect="1" noChangeShapeType="1"/>
          </p:cNvSpPr>
          <p:nvPr/>
        </p:nvSpPr>
        <p:spPr bwMode="auto">
          <a:xfrm>
            <a:off x="7343775" y="2914650"/>
            <a:ext cx="0" cy="1235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65" name="Line 99"/>
          <p:cNvSpPr>
            <a:spLocks noChangeShapeType="1"/>
          </p:cNvSpPr>
          <p:nvPr/>
        </p:nvSpPr>
        <p:spPr bwMode="auto">
          <a:xfrm flipH="1">
            <a:off x="6516688" y="3681413"/>
            <a:ext cx="395287"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sz="1500"/>
          </a:p>
        </p:txBody>
      </p:sp>
      <p:sp>
        <p:nvSpPr>
          <p:cNvPr id="149566" name="Line 100"/>
          <p:cNvSpPr>
            <a:spLocks noChangeShapeType="1"/>
          </p:cNvSpPr>
          <p:nvPr/>
        </p:nvSpPr>
        <p:spPr bwMode="auto">
          <a:xfrm flipH="1">
            <a:off x="6516688" y="4149725"/>
            <a:ext cx="827087"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sz="1500"/>
          </a:p>
        </p:txBody>
      </p:sp>
      <p:sp>
        <p:nvSpPr>
          <p:cNvPr id="149567" name="Text Box 34"/>
          <p:cNvSpPr txBox="1">
            <a:spLocks noChangeArrowheads="1"/>
          </p:cNvSpPr>
          <p:nvPr/>
        </p:nvSpPr>
        <p:spPr bwMode="auto">
          <a:xfrm>
            <a:off x="5260975" y="3603625"/>
            <a:ext cx="139858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500" dirty="0" err="1">
                <a:latin typeface="Courier New" panose="02070309020205020404" pitchFamily="49" charset="0"/>
              </a:rPr>
              <a:t>Régulateur</a:t>
            </a:r>
            <a:r>
              <a:rPr lang="en-US" altLang="fr-FR" sz="1500" dirty="0">
                <a:latin typeface="Courier New" panose="02070309020205020404" pitchFamily="49" charset="0"/>
              </a:rPr>
              <a:t> du courant</a:t>
            </a:r>
            <a:endParaRPr lang="en-US" altLang="fr-FR" sz="1500" dirty="0">
              <a:latin typeface="Arial Narrow" panose="020B0606020202030204" pitchFamily="34" charset="0"/>
            </a:endParaRPr>
          </a:p>
        </p:txBody>
      </p:sp>
      <p:grpSp>
        <p:nvGrpSpPr>
          <p:cNvPr id="149568" name="Group 110"/>
          <p:cNvGrpSpPr>
            <a:grpSpLocks/>
          </p:cNvGrpSpPr>
          <p:nvPr/>
        </p:nvGrpSpPr>
        <p:grpSpPr bwMode="auto">
          <a:xfrm>
            <a:off x="2555875" y="4498975"/>
            <a:ext cx="554038" cy="504825"/>
            <a:chOff x="1700" y="2568"/>
            <a:chExt cx="349" cy="318"/>
          </a:xfrm>
        </p:grpSpPr>
        <p:sp>
          <p:nvSpPr>
            <p:cNvPr id="149586" name="Rectangle 81"/>
            <p:cNvSpPr>
              <a:spLocks noChangeAspect="1" noChangeArrowheads="1"/>
            </p:cNvSpPr>
            <p:nvPr/>
          </p:nvSpPr>
          <p:spPr bwMode="auto">
            <a:xfrm>
              <a:off x="1700" y="2568"/>
              <a:ext cx="349" cy="318"/>
            </a:xfrm>
            <a:prstGeom prst="rect">
              <a:avLst/>
            </a:prstGeom>
            <a:solidFill>
              <a:srgbClr val="FFFFFF"/>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9587" name="Line 61"/>
            <p:cNvSpPr>
              <a:spLocks noChangeAspect="1" noChangeShapeType="1"/>
            </p:cNvSpPr>
            <p:nvPr/>
          </p:nvSpPr>
          <p:spPr bwMode="auto">
            <a:xfrm>
              <a:off x="1859" y="2601"/>
              <a:ext cx="0" cy="262"/>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49588" name="Line 62"/>
            <p:cNvSpPr>
              <a:spLocks noChangeAspect="1" noChangeShapeType="1"/>
            </p:cNvSpPr>
            <p:nvPr/>
          </p:nvSpPr>
          <p:spPr bwMode="auto">
            <a:xfrm>
              <a:off x="1746" y="2727"/>
              <a:ext cx="254"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49589" name="Line 101"/>
            <p:cNvSpPr>
              <a:spLocks noChangeShapeType="1"/>
            </p:cNvSpPr>
            <p:nvPr/>
          </p:nvSpPr>
          <p:spPr bwMode="auto">
            <a:xfrm>
              <a:off x="1927" y="2636"/>
              <a:ext cx="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90" name="Line 102"/>
            <p:cNvSpPr>
              <a:spLocks noChangeShapeType="1"/>
            </p:cNvSpPr>
            <p:nvPr/>
          </p:nvSpPr>
          <p:spPr bwMode="auto">
            <a:xfrm>
              <a:off x="1723" y="2818"/>
              <a:ext cx="6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591" name="Line 103"/>
            <p:cNvSpPr>
              <a:spLocks noChangeShapeType="1"/>
            </p:cNvSpPr>
            <p:nvPr/>
          </p:nvSpPr>
          <p:spPr bwMode="auto">
            <a:xfrm flipH="1">
              <a:off x="1791" y="2636"/>
              <a:ext cx="136"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49569" name="Line 104"/>
          <p:cNvSpPr>
            <a:spLocks noChangeAspect="1" noChangeShapeType="1"/>
          </p:cNvSpPr>
          <p:nvPr/>
        </p:nvSpPr>
        <p:spPr bwMode="auto">
          <a:xfrm>
            <a:off x="3959225" y="4514850"/>
            <a:ext cx="0" cy="415925"/>
          </a:xfrm>
          <a:prstGeom prst="line">
            <a:avLst/>
          </a:prstGeom>
          <a:noFill/>
          <a:ln w="12700">
            <a:solidFill>
              <a:srgbClr val="000000"/>
            </a:solidFill>
            <a:round/>
            <a:headEnd type="stealth" w="sm" len="sm"/>
            <a:tailEnd/>
          </a:ln>
          <a:extLst>
            <a:ext uri="{909E8E84-426E-40DD-AFC4-6F175D3DCCD1}">
              <a14:hiddenFill xmlns:a14="http://schemas.microsoft.com/office/drawing/2010/main">
                <a:noFill/>
              </a14:hiddenFill>
            </a:ext>
          </a:extLst>
        </p:spPr>
        <p:txBody>
          <a:bodyPr/>
          <a:lstStyle/>
          <a:p>
            <a:endParaRPr lang="fr-FR"/>
          </a:p>
        </p:txBody>
      </p:sp>
      <p:sp>
        <p:nvSpPr>
          <p:cNvPr id="149570" name="Line 105"/>
          <p:cNvSpPr>
            <a:spLocks noChangeAspect="1" noChangeShapeType="1"/>
          </p:cNvSpPr>
          <p:nvPr/>
        </p:nvSpPr>
        <p:spPr bwMode="auto">
          <a:xfrm>
            <a:off x="3779838" y="4859338"/>
            <a:ext cx="403225" cy="0"/>
          </a:xfrm>
          <a:prstGeom prst="line">
            <a:avLst/>
          </a:prstGeom>
          <a:noFill/>
          <a:ln w="1270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49571" name="Freeform 106"/>
          <p:cNvSpPr>
            <a:spLocks/>
          </p:cNvSpPr>
          <p:nvPr/>
        </p:nvSpPr>
        <p:spPr bwMode="auto">
          <a:xfrm>
            <a:off x="3779838" y="4606925"/>
            <a:ext cx="360362" cy="187325"/>
          </a:xfrm>
          <a:custGeom>
            <a:avLst/>
            <a:gdLst>
              <a:gd name="T0" fmla="*/ 0 w 227"/>
              <a:gd name="T1" fmla="*/ 0 h 118"/>
              <a:gd name="T2" fmla="*/ 2147483646 w 227"/>
              <a:gd name="T3" fmla="*/ 2147483646 h 118"/>
              <a:gd name="T4" fmla="*/ 2147483646 w 227"/>
              <a:gd name="T5" fmla="*/ 2147483646 h 118"/>
              <a:gd name="T6" fmla="*/ 2147483646 w 227"/>
              <a:gd name="T7" fmla="*/ 2147483646 h 118"/>
              <a:gd name="T8" fmla="*/ 2147483646 w 227"/>
              <a:gd name="T9" fmla="*/ 0 h 118"/>
              <a:gd name="T10" fmla="*/ 0 60000 65536"/>
              <a:gd name="T11" fmla="*/ 0 60000 65536"/>
              <a:gd name="T12" fmla="*/ 0 60000 65536"/>
              <a:gd name="T13" fmla="*/ 0 60000 65536"/>
              <a:gd name="T14" fmla="*/ 0 60000 65536"/>
              <a:gd name="T15" fmla="*/ 0 w 227"/>
              <a:gd name="T16" fmla="*/ 0 h 118"/>
              <a:gd name="T17" fmla="*/ 227 w 227"/>
              <a:gd name="T18" fmla="*/ 118 h 118"/>
            </a:gdLst>
            <a:ahLst/>
            <a:cxnLst>
              <a:cxn ang="T10">
                <a:pos x="T0" y="T1"/>
              </a:cxn>
              <a:cxn ang="T11">
                <a:pos x="T2" y="T3"/>
              </a:cxn>
              <a:cxn ang="T12">
                <a:pos x="T4" y="T5"/>
              </a:cxn>
              <a:cxn ang="T13">
                <a:pos x="T6" y="T7"/>
              </a:cxn>
              <a:cxn ang="T14">
                <a:pos x="T8" y="T9"/>
              </a:cxn>
            </a:cxnLst>
            <a:rect l="T15" t="T16" r="T17" b="T18"/>
            <a:pathLst>
              <a:path w="227" h="118">
                <a:moveTo>
                  <a:pt x="0" y="0"/>
                </a:moveTo>
                <a:cubicBezTo>
                  <a:pt x="24" y="36"/>
                  <a:pt x="49" y="72"/>
                  <a:pt x="68" y="91"/>
                </a:cubicBezTo>
                <a:cubicBezTo>
                  <a:pt x="87" y="110"/>
                  <a:pt x="94" y="118"/>
                  <a:pt x="113" y="114"/>
                </a:cubicBezTo>
                <a:cubicBezTo>
                  <a:pt x="132" y="110"/>
                  <a:pt x="162" y="87"/>
                  <a:pt x="181" y="68"/>
                </a:cubicBezTo>
                <a:cubicBezTo>
                  <a:pt x="200" y="49"/>
                  <a:pt x="213" y="24"/>
                  <a:pt x="227"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9572" name="Text Box 107"/>
          <p:cNvSpPr txBox="1">
            <a:spLocks noChangeArrowheads="1"/>
          </p:cNvSpPr>
          <p:nvPr/>
        </p:nvSpPr>
        <p:spPr bwMode="auto">
          <a:xfrm>
            <a:off x="3851275" y="5038725"/>
            <a:ext cx="568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cs typeface="Courier New" panose="02070309020205020404" pitchFamily="49" charset="0"/>
                <a:sym typeface="Symbol" panose="05050102010706020507" pitchFamily="18" charset="2"/>
              </a:rPr>
              <a:t></a:t>
            </a:r>
            <a:r>
              <a:rPr lang="en-US" altLang="fr-FR" sz="1600" b="1" baseline="-25000">
                <a:latin typeface="Courier New" panose="02070309020205020404" pitchFamily="49" charset="0"/>
              </a:rPr>
              <a:t>s</a:t>
            </a:r>
            <a:endParaRPr lang="en-US" altLang="fr-FR" sz="1600" b="1">
              <a:latin typeface="Arial Narrow" panose="020B0606020202030204" pitchFamily="34" charset="0"/>
            </a:endParaRPr>
          </a:p>
        </p:txBody>
      </p:sp>
      <p:sp>
        <p:nvSpPr>
          <p:cNvPr id="149573" name="Text Box 108"/>
          <p:cNvSpPr txBox="1">
            <a:spLocks noChangeArrowheads="1"/>
          </p:cNvSpPr>
          <p:nvPr/>
        </p:nvSpPr>
        <p:spPr bwMode="auto">
          <a:xfrm>
            <a:off x="1619250" y="453548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PI</a:t>
            </a:r>
            <a:endParaRPr lang="en-US" altLang="fr-FR" sz="1600" b="1">
              <a:latin typeface="Arial Narrow" panose="020B0606020202030204" pitchFamily="34" charset="0"/>
            </a:endParaRPr>
          </a:p>
        </p:txBody>
      </p:sp>
      <p:sp>
        <p:nvSpPr>
          <p:cNvPr id="149574" name="Text Box 109"/>
          <p:cNvSpPr txBox="1">
            <a:spLocks noChangeArrowheads="1"/>
          </p:cNvSpPr>
          <p:nvPr/>
        </p:nvSpPr>
        <p:spPr bwMode="auto">
          <a:xfrm>
            <a:off x="3240088" y="5580063"/>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75" name="Oval 111"/>
          <p:cNvSpPr>
            <a:spLocks noChangeArrowheads="1"/>
          </p:cNvSpPr>
          <p:nvPr/>
        </p:nvSpPr>
        <p:spPr bwMode="auto">
          <a:xfrm>
            <a:off x="2447925" y="1943100"/>
            <a:ext cx="71438" cy="730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76" name="Oval 113"/>
          <p:cNvSpPr>
            <a:spLocks noChangeArrowheads="1"/>
          </p:cNvSpPr>
          <p:nvPr/>
        </p:nvSpPr>
        <p:spPr bwMode="auto">
          <a:xfrm>
            <a:off x="2447925" y="2266950"/>
            <a:ext cx="71438" cy="730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77" name="Oval 114"/>
          <p:cNvSpPr>
            <a:spLocks noChangeArrowheads="1"/>
          </p:cNvSpPr>
          <p:nvPr/>
        </p:nvSpPr>
        <p:spPr bwMode="auto">
          <a:xfrm>
            <a:off x="2447925" y="2627313"/>
            <a:ext cx="71438" cy="730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78" name="Rectangle 115"/>
          <p:cNvSpPr>
            <a:spLocks noChangeArrowheads="1"/>
          </p:cNvSpPr>
          <p:nvPr/>
        </p:nvSpPr>
        <p:spPr bwMode="auto">
          <a:xfrm>
            <a:off x="431800" y="333375"/>
            <a:ext cx="57705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chemeClr val="tx2"/>
                </a:solidFill>
                <a:latin typeface="Arial Narrow" panose="020B0606020202030204" pitchFamily="34" charset="0"/>
              </a:rPr>
              <a:t>Tension variable, Fréquence variable</a:t>
            </a:r>
          </a:p>
        </p:txBody>
      </p:sp>
      <p:sp>
        <p:nvSpPr>
          <p:cNvPr id="149579" name="Text Box 117"/>
          <p:cNvSpPr txBox="1">
            <a:spLocks noChangeArrowheads="1"/>
          </p:cNvSpPr>
          <p:nvPr/>
        </p:nvSpPr>
        <p:spPr bwMode="auto">
          <a:xfrm>
            <a:off x="1223963" y="5229225"/>
            <a:ext cx="6842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r</a:t>
            </a:r>
            <a:endParaRPr lang="en-US" altLang="fr-FR" sz="1600">
              <a:latin typeface="Arial Narrow" panose="020B0606020202030204" pitchFamily="34" charset="0"/>
            </a:endParaRPr>
          </a:p>
        </p:txBody>
      </p:sp>
      <p:sp>
        <p:nvSpPr>
          <p:cNvPr id="149580" name="Text Box 118"/>
          <p:cNvSpPr txBox="1">
            <a:spLocks noChangeArrowheads="1"/>
          </p:cNvSpPr>
          <p:nvPr/>
        </p:nvSpPr>
        <p:spPr bwMode="auto">
          <a:xfrm>
            <a:off x="900113" y="4833938"/>
            <a:ext cx="5683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Courier New" panose="02070309020205020404" pitchFamily="49" charset="0"/>
              </a:rPr>
              <a:t>-</a:t>
            </a:r>
            <a:endParaRPr lang="en-US" altLang="fr-FR" sz="2400">
              <a:latin typeface="Arial Narrow" panose="020B0606020202030204" pitchFamily="34" charset="0"/>
            </a:endParaRPr>
          </a:p>
        </p:txBody>
      </p:sp>
      <p:sp>
        <p:nvSpPr>
          <p:cNvPr id="149581" name="Oval 119"/>
          <p:cNvSpPr>
            <a:spLocks noChangeArrowheads="1"/>
          </p:cNvSpPr>
          <p:nvPr/>
        </p:nvSpPr>
        <p:spPr bwMode="auto">
          <a:xfrm>
            <a:off x="7127875" y="2457450"/>
            <a:ext cx="71438" cy="7302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500">
              <a:latin typeface="Arial Narrow" panose="020B0606020202030204" pitchFamily="34" charset="0"/>
            </a:endParaRPr>
          </a:p>
        </p:txBody>
      </p:sp>
      <p:sp>
        <p:nvSpPr>
          <p:cNvPr id="149582" name="Line 120"/>
          <p:cNvSpPr>
            <a:spLocks noChangeShapeType="1"/>
          </p:cNvSpPr>
          <p:nvPr/>
        </p:nvSpPr>
        <p:spPr bwMode="auto">
          <a:xfrm flipH="1">
            <a:off x="6516688" y="3897313"/>
            <a:ext cx="647700"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sz="1500"/>
          </a:p>
        </p:txBody>
      </p:sp>
      <p:sp>
        <p:nvSpPr>
          <p:cNvPr id="149583" name="Line 121"/>
          <p:cNvSpPr>
            <a:spLocks noChangeAspect="1" noChangeShapeType="1"/>
          </p:cNvSpPr>
          <p:nvPr/>
        </p:nvSpPr>
        <p:spPr bwMode="auto">
          <a:xfrm>
            <a:off x="7164388" y="2528888"/>
            <a:ext cx="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500"/>
          </a:p>
        </p:txBody>
      </p:sp>
      <p:sp>
        <p:nvSpPr>
          <p:cNvPr id="149584" name="Espace réservé du numéro de diapositive 8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855DEF2-F5A5-4DFC-B63E-7EAE8AFFA892}" type="slidenum">
              <a:rPr lang="en-US" altLang="fr-FR" sz="1000">
                <a:solidFill>
                  <a:srgbClr val="292929"/>
                </a:solidFill>
                <a:latin typeface="Arial" panose="020B0604020202020204" pitchFamily="34" charset="0"/>
              </a:rPr>
              <a:pPr>
                <a:spcBef>
                  <a:spcPct val="0"/>
                </a:spcBef>
                <a:buClrTx/>
                <a:buSzTx/>
                <a:buFontTx/>
                <a:buNone/>
              </a:pPr>
              <a:t>28</a:t>
            </a:fld>
            <a:endParaRPr lang="en-US" altLang="fr-FR" sz="1000">
              <a:solidFill>
                <a:srgbClr val="292929"/>
              </a:solidFill>
              <a:latin typeface="Arial" panose="020B0604020202020204" pitchFamily="34" charset="0"/>
            </a:endParaRPr>
          </a:p>
        </p:txBody>
      </p:sp>
      <p:sp>
        <p:nvSpPr>
          <p:cNvPr id="91" name="Espace réservé du pied de page 90"/>
          <p:cNvSpPr>
            <a:spLocks noGrp="1"/>
          </p:cNvSpPr>
          <p:nvPr>
            <p:ph type="ftr" sz="quarter" idx="11"/>
          </p:nvPr>
        </p:nvSpPr>
        <p:spPr/>
        <p:txBody>
          <a:bodyPr/>
          <a:lstStyle/>
          <a:p>
            <a:pPr>
              <a:defRPr/>
            </a:pPr>
            <a:r>
              <a:rPr lang="en-US"/>
              <a:t>Commande des machines Mach asyn   Ali NEJMI</a:t>
            </a:r>
          </a:p>
        </p:txBody>
      </p:sp>
    </p:spTree>
  </p:cSld>
  <p:clrMapOvr>
    <a:masterClrMapping/>
  </p:clrMapOvr>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5731</TotalTime>
  <Words>1952</Words>
  <Application>Microsoft Office PowerPoint</Application>
  <PresentationFormat>On-screen Show (4:3)</PresentationFormat>
  <Paragraphs>309</Paragraphs>
  <Slides>28</Slides>
  <Notes>28</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41" baseType="lpstr">
      <vt:lpstr>Arial</vt:lpstr>
      <vt:lpstr>Arial Narrow</vt:lpstr>
      <vt:lpstr>Book Antiqua</vt:lpstr>
      <vt:lpstr>Bradley Hand ITC</vt:lpstr>
      <vt:lpstr>Calibri</vt:lpstr>
      <vt:lpstr>Courier New</vt:lpstr>
      <vt:lpstr>Lucida Sans</vt:lpstr>
      <vt:lpstr>Symbol</vt:lpstr>
      <vt:lpstr>Times New Roman</vt:lpstr>
      <vt:lpstr>Wingdings</vt:lpstr>
      <vt:lpstr>Wingdings 2</vt:lpstr>
      <vt:lpstr>Technique</vt:lpstr>
      <vt:lpstr>Équation</vt:lpstr>
      <vt:lpstr>MODULE 4 Machine asynchrone Commande scalaire  </vt:lpstr>
      <vt:lpstr>Commande scalaire de la machine asynchrone:   Commande basée sur le modèle en régime statique (schéma équivalent/phase):</vt:lpstr>
      <vt:lpstr>Commande scalaire de la machine à induction:</vt:lpstr>
      <vt:lpstr>Commande scalaire de la machine à induction: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MOTOR (squirrel cage)</dc:title>
  <dc:creator>Dr Nik Rumzi Nik Idris</dc:creator>
  <cp:lastModifiedBy>ali nejmi</cp:lastModifiedBy>
  <cp:revision>241</cp:revision>
  <dcterms:created xsi:type="dcterms:W3CDTF">2005-09-05T13:15:16Z</dcterms:created>
  <dcterms:modified xsi:type="dcterms:W3CDTF">2024-10-22T10:18:37Z</dcterms:modified>
</cp:coreProperties>
</file>