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5.xml" ContentType="application/vnd.openxmlformats-officedocument.themeOverride+xml"/>
  <Override PartName="/ppt/notesSlides/notesSlide12.xml" ContentType="application/vnd.openxmlformats-officedocument.presentationml.notesSlide+xml"/>
  <Override PartName="/ppt/theme/themeOverride6.xml" ContentType="application/vnd.openxmlformats-officedocument.themeOverride+xml"/>
  <Override PartName="/ppt/notesSlides/notesSlide13.xml" ContentType="application/vnd.openxmlformats-officedocument.presentationml.notesSlide+xml"/>
  <Override PartName="/ppt/theme/themeOverride7.xml" ContentType="application/vnd.openxmlformats-officedocument.themeOverride+xml"/>
  <Override PartName="/ppt/notesSlides/notesSlide14.xml" ContentType="application/vnd.openxmlformats-officedocument.presentationml.notesSlide+xml"/>
  <Override PartName="/ppt/theme/themeOverride8.xml" ContentType="application/vnd.openxmlformats-officedocument.themeOverride+xml"/>
  <Override PartName="/ppt/notesSlides/notesSlide15.xml" ContentType="application/vnd.openxmlformats-officedocument.presentationml.notesSlide+xml"/>
  <Override PartName="/ppt/theme/themeOverride9.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heme/themeOverride10.xml" ContentType="application/vnd.openxmlformats-officedocument.themeOverride+xml"/>
  <Override PartName="/ppt/notesSlides/notesSlide18.xml" ContentType="application/vnd.openxmlformats-officedocument.presentationml.notesSlide+xml"/>
  <Override PartName="/ppt/theme/themeOverride11.xml" ContentType="application/vnd.openxmlformats-officedocument.themeOverride+xml"/>
  <Override PartName="/ppt/notesSlides/notesSlide19.xml" ContentType="application/vnd.openxmlformats-officedocument.presentationml.notesSlide+xml"/>
  <Override PartName="/ppt/theme/themeOverride12.xml" ContentType="application/vnd.openxmlformats-officedocument.themeOverride+xml"/>
  <Override PartName="/ppt/notesSlides/notesSlide20.xml" ContentType="application/vnd.openxmlformats-officedocument.presentationml.notesSlide+xml"/>
  <Override PartName="/ppt/theme/themeOverride13.xml" ContentType="application/vnd.openxmlformats-officedocument.themeOverr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heme/themeOverride14.xml" ContentType="application/vnd.openxmlformats-officedocument.themeOverride+xml"/>
  <Override PartName="/ppt/notesSlides/notesSlide25.xml" ContentType="application/vnd.openxmlformats-officedocument.presentationml.notesSlide+xml"/>
  <Override PartName="/ppt/theme/themeOverride15.xml" ContentType="application/vnd.openxmlformats-officedocument.themeOverride+xml"/>
  <Override PartName="/ppt/notesSlides/notesSlide26.xml" ContentType="application/vnd.openxmlformats-officedocument.presentationml.notesSlide+xml"/>
  <Override PartName="/ppt/theme/themeOverride16.xml" ContentType="application/vnd.openxmlformats-officedocument.themeOverride+xml"/>
  <Override PartName="/ppt/notesSlides/notesSlide27.xml" ContentType="application/vnd.openxmlformats-officedocument.presentationml.notesSlide+xml"/>
  <Override PartName="/ppt/theme/themeOverride17.xml" ContentType="application/vnd.openxmlformats-officedocument.themeOverride+xml"/>
  <Override PartName="/ppt/notesSlides/notesSlide28.xml" ContentType="application/vnd.openxmlformats-officedocument.presentationml.notesSlide+xml"/>
  <Override PartName="/ppt/theme/themeOverride18.xml" ContentType="application/vnd.openxmlformats-officedocument.themeOverride+xml"/>
  <Override PartName="/ppt/notesSlides/notesSlide29.xml" ContentType="application/vnd.openxmlformats-officedocument.presentationml.notesSlide+xml"/>
  <Override PartName="/ppt/theme/themeOverride19.xml" ContentType="application/vnd.openxmlformats-officedocument.themeOverride+xml"/>
  <Override PartName="/ppt/notesSlides/notesSlide30.xml" ContentType="application/vnd.openxmlformats-officedocument.presentationml.notesSlide+xml"/>
  <Override PartName="/ppt/theme/themeOverride20.xml" ContentType="application/vnd.openxmlformats-officedocument.themeOverride+xml"/>
  <Override PartName="/ppt/notesSlides/notesSlide31.xml" ContentType="application/vnd.openxmlformats-officedocument.presentationml.notesSlide+xml"/>
  <Override PartName="/ppt/theme/themeOverride21.xml" ContentType="application/vnd.openxmlformats-officedocument.themeOverride+xml"/>
  <Override PartName="/ppt/notesSlides/notesSlide32.xml" ContentType="application/vnd.openxmlformats-officedocument.presentationml.notesSlide+xml"/>
  <Override PartName="/ppt/theme/themeOverride22.xml" ContentType="application/vnd.openxmlformats-officedocument.themeOverride+xml"/>
  <Override PartName="/ppt/notesSlides/notesSlide33.xml" ContentType="application/vnd.openxmlformats-officedocument.presentationml.notesSlide+xml"/>
  <Override PartName="/ppt/theme/themeOverride23.xml" ContentType="application/vnd.openxmlformats-officedocument.themeOverride+xml"/>
  <Override PartName="/ppt/notesSlides/notesSlide34.xml" ContentType="application/vnd.openxmlformats-officedocument.presentationml.notesSlide+xml"/>
  <Override PartName="/ppt/theme/themeOverride24.xml" ContentType="application/vnd.openxmlformats-officedocument.themeOverride+xml"/>
  <Override PartName="/ppt/notesSlides/notesSlide35.xml" ContentType="application/vnd.openxmlformats-officedocument.presentationml.notesSlide+xml"/>
  <Override PartName="/ppt/theme/themeOverride25.xml" ContentType="application/vnd.openxmlformats-officedocument.themeOverride+xml"/>
  <Override PartName="/ppt/notesSlides/notesSlide36.xml" ContentType="application/vnd.openxmlformats-officedocument.presentationml.notesSlide+xml"/>
  <Override PartName="/ppt/theme/themeOverride26.xml" ContentType="application/vnd.openxmlformats-officedocument.themeOverride+xml"/>
  <Override PartName="/ppt/notesSlides/notesSlide37.xml" ContentType="application/vnd.openxmlformats-officedocument.presentationml.notesSlide+xml"/>
  <Override PartName="/ppt/theme/themeOverride27.xml" ContentType="application/vnd.openxmlformats-officedocument.themeOverride+xml"/>
  <Override PartName="/ppt/notesSlides/notesSlide38.xml" ContentType="application/vnd.openxmlformats-officedocument.presentationml.notesSlide+xml"/>
  <Override PartName="/ppt/theme/themeOverride28.xml" ContentType="application/vnd.openxmlformats-officedocument.themeOverride+xml"/>
  <Override PartName="/ppt/notesSlides/notesSlide39.xml" ContentType="application/vnd.openxmlformats-officedocument.presentationml.notesSlide+xml"/>
  <Override PartName="/ppt/theme/themeOverride29.xml" ContentType="application/vnd.openxmlformats-officedocument.themeOverride+xml"/>
  <Override PartName="/ppt/notesSlides/notesSlide40.xml" ContentType="application/vnd.openxmlformats-officedocument.presentationml.notesSlide+xml"/>
  <Override PartName="/ppt/theme/themeOverride30.xml" ContentType="application/vnd.openxmlformats-officedocument.themeOverride+xml"/>
  <Override PartName="/ppt/notesSlides/notesSlide41.xml" ContentType="application/vnd.openxmlformats-officedocument.presentationml.notesSlide+xml"/>
  <Override PartName="/ppt/theme/themeOverride31.xml" ContentType="application/vnd.openxmlformats-officedocument.themeOverride+xml"/>
  <Override PartName="/ppt/notesSlides/notesSlide42.xml" ContentType="application/vnd.openxmlformats-officedocument.presentationml.notesSlide+xml"/>
  <Override PartName="/ppt/theme/themeOverride32.xml" ContentType="application/vnd.openxmlformats-officedocument.themeOverride+xml"/>
  <Override PartName="/ppt/notesSlides/notesSlide43.xml" ContentType="application/vnd.openxmlformats-officedocument.presentationml.notesSlide+xml"/>
  <Override PartName="/ppt/theme/themeOverride33.xml" ContentType="application/vnd.openxmlformats-officedocument.themeOverride+xml"/>
  <Override PartName="/ppt/notesSlides/notesSlide44.xml" ContentType="application/vnd.openxmlformats-officedocument.presentationml.notesSlide+xml"/>
  <Override PartName="/ppt/theme/themeOverride34.xml" ContentType="application/vnd.openxmlformats-officedocument.themeOverride+xml"/>
  <Override PartName="/ppt/notesSlides/notesSlide45.xml" ContentType="application/vnd.openxmlformats-officedocument.presentationml.notesSlide+xml"/>
  <Override PartName="/ppt/theme/themeOverride35.xml" ContentType="application/vnd.openxmlformats-officedocument.themeOverride+xml"/>
  <Override PartName="/ppt/notesSlides/notesSlide46.xml" ContentType="application/vnd.openxmlformats-officedocument.presentationml.notesSlide+xml"/>
  <Override PartName="/ppt/theme/themeOverride36.xml" ContentType="application/vnd.openxmlformats-officedocument.themeOverride+xml"/>
  <Override PartName="/ppt/notesSlides/notesSlide47.xml" ContentType="application/vnd.openxmlformats-officedocument.presentationml.notesSlide+xml"/>
  <Override PartName="/ppt/theme/themeOverride37.xml" ContentType="application/vnd.openxmlformats-officedocument.themeOverride+xml"/>
  <Override PartName="/ppt/notesSlides/notesSlide48.xml" ContentType="application/vnd.openxmlformats-officedocument.presentationml.notesSlide+xml"/>
  <Override PartName="/ppt/theme/themeOverride38.xml" ContentType="application/vnd.openxmlformats-officedocument.themeOverride+xml"/>
  <Override PartName="/ppt/notesSlides/notesSlide49.xml" ContentType="application/vnd.openxmlformats-officedocument.presentationml.notesSlide+xml"/>
  <Override PartName="/ppt/theme/themeOverride39.xml" ContentType="application/vnd.openxmlformats-officedocument.themeOverride+xml"/>
  <Override PartName="/ppt/notesSlides/notesSlide50.xml" ContentType="application/vnd.openxmlformats-officedocument.presentationml.notesSlide+xml"/>
  <Override PartName="/ppt/theme/themeOverride40.xml" ContentType="application/vnd.openxmlformats-officedocument.themeOverride+xml"/>
  <Override PartName="/ppt/notesSlides/notesSlide51.xml" ContentType="application/vnd.openxmlformats-officedocument.presentationml.notesSlide+xml"/>
  <Override PartName="/ppt/theme/themeOverride41.xml" ContentType="application/vnd.openxmlformats-officedocument.themeOverride+xml"/>
  <Override PartName="/ppt/notesSlides/notesSlide52.xml" ContentType="application/vnd.openxmlformats-officedocument.presentationml.notesSlide+xml"/>
  <Override PartName="/ppt/theme/themeOverride42.xml" ContentType="application/vnd.openxmlformats-officedocument.themeOverride+xml"/>
  <Override PartName="/ppt/notesSlides/notesSlide53.xml" ContentType="application/vnd.openxmlformats-officedocument.presentationml.notesSlide+xml"/>
  <Override PartName="/ppt/theme/themeOverride43.xml" ContentType="application/vnd.openxmlformats-officedocument.themeOverride+xml"/>
  <Override PartName="/ppt/notesSlides/notesSlide54.xml" ContentType="application/vnd.openxmlformats-officedocument.presentationml.notesSlide+xml"/>
  <Override PartName="/ppt/theme/themeOverride44.xml" ContentType="application/vnd.openxmlformats-officedocument.themeOverride+xml"/>
  <Override PartName="/ppt/notesSlides/notesSlide55.xml" ContentType="application/vnd.openxmlformats-officedocument.presentationml.notesSlide+xml"/>
  <Override PartName="/ppt/theme/themeOverride45.xml" ContentType="application/vnd.openxmlformats-officedocument.themeOverride+xml"/>
  <Override PartName="/ppt/notesSlides/notesSlide56.xml" ContentType="application/vnd.openxmlformats-officedocument.presentationml.notesSlide+xml"/>
  <Override PartName="/ppt/theme/themeOverride46.xml" ContentType="application/vnd.openxmlformats-officedocument.themeOverr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theme/themeOverride47.xml" ContentType="application/vnd.openxmlformats-officedocument.themeOverride+xml"/>
  <Override PartName="/ppt/notesSlides/notesSlide59.xml" ContentType="application/vnd.openxmlformats-officedocument.presentationml.notesSlide+xml"/>
  <Override PartName="/ppt/theme/themeOverride48.xml" ContentType="application/vnd.openxmlformats-officedocument.themeOverr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heme/themeOverride49.xml" ContentType="application/vnd.openxmlformats-officedocument.themeOverride+xml"/>
  <Override PartName="/ppt/notesSlides/notesSlide62.xml" ContentType="application/vnd.openxmlformats-officedocument.presentationml.notesSlide+xml"/>
  <Override PartName="/ppt/theme/themeOverride50.xml" ContentType="application/vnd.openxmlformats-officedocument.themeOverr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sldIdLst>
    <p:sldId id="256" r:id="rId2"/>
    <p:sldId id="507" r:id="rId3"/>
    <p:sldId id="508" r:id="rId4"/>
    <p:sldId id="509" r:id="rId5"/>
    <p:sldId id="510" r:id="rId6"/>
    <p:sldId id="511" r:id="rId7"/>
    <p:sldId id="512" r:id="rId8"/>
    <p:sldId id="513" r:id="rId9"/>
    <p:sldId id="310" r:id="rId10"/>
    <p:sldId id="322" r:id="rId11"/>
    <p:sldId id="323" r:id="rId12"/>
    <p:sldId id="475" r:id="rId13"/>
    <p:sldId id="476" r:id="rId14"/>
    <p:sldId id="502" r:id="rId15"/>
    <p:sldId id="477" r:id="rId16"/>
    <p:sldId id="478" r:id="rId17"/>
    <p:sldId id="479" r:id="rId18"/>
    <p:sldId id="480" r:id="rId19"/>
    <p:sldId id="364" r:id="rId20"/>
    <p:sldId id="365" r:id="rId21"/>
    <p:sldId id="366" r:id="rId22"/>
    <p:sldId id="367" r:id="rId23"/>
    <p:sldId id="368" r:id="rId24"/>
    <p:sldId id="440" r:id="rId25"/>
    <p:sldId id="360" r:id="rId26"/>
    <p:sldId id="361" r:id="rId27"/>
    <p:sldId id="362" r:id="rId28"/>
    <p:sldId id="370" r:id="rId29"/>
    <p:sldId id="503" r:id="rId30"/>
    <p:sldId id="505" r:id="rId31"/>
    <p:sldId id="506" r:id="rId32"/>
    <p:sldId id="294" r:id="rId33"/>
    <p:sldId id="304" r:id="rId34"/>
    <p:sldId id="302" r:id="rId35"/>
    <p:sldId id="295" r:id="rId36"/>
    <p:sldId id="297" r:id="rId37"/>
    <p:sldId id="293" r:id="rId38"/>
    <p:sldId id="305" r:id="rId39"/>
    <p:sldId id="306" r:id="rId40"/>
    <p:sldId id="383" r:id="rId41"/>
    <p:sldId id="384" r:id="rId42"/>
    <p:sldId id="385" r:id="rId43"/>
    <p:sldId id="386" r:id="rId44"/>
    <p:sldId id="387" r:id="rId45"/>
    <p:sldId id="388" r:id="rId46"/>
    <p:sldId id="389" r:id="rId47"/>
    <p:sldId id="391" r:id="rId48"/>
    <p:sldId id="392" r:id="rId49"/>
    <p:sldId id="393" r:id="rId50"/>
    <p:sldId id="394" r:id="rId51"/>
    <p:sldId id="395" r:id="rId52"/>
    <p:sldId id="396" r:id="rId53"/>
    <p:sldId id="397" r:id="rId54"/>
    <p:sldId id="398" r:id="rId55"/>
    <p:sldId id="399" r:id="rId56"/>
    <p:sldId id="400" r:id="rId57"/>
    <p:sldId id="401" r:id="rId58"/>
    <p:sldId id="402" r:id="rId59"/>
    <p:sldId id="403" r:id="rId60"/>
    <p:sldId id="404" r:id="rId61"/>
    <p:sldId id="405" r:id="rId62"/>
    <p:sldId id="406" r:id="rId63"/>
    <p:sldId id="407" r:id="rId64"/>
    <p:sldId id="408" r:id="rId65"/>
    <p:sldId id="456" r:id="rId66"/>
    <p:sldId id="409" r:id="rId67"/>
    <p:sldId id="410" r:id="rId68"/>
    <p:sldId id="457" r:id="rId69"/>
    <p:sldId id="412" r:id="rId70"/>
    <p:sldId id="413" r:id="rId71"/>
    <p:sldId id="450" r:id="rId72"/>
    <p:sldId id="453" r:id="rId73"/>
    <p:sldId id="454" r:id="rId74"/>
    <p:sldId id="451" r:id="rId75"/>
    <p:sldId id="452" r:id="rId7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3F61F1"/>
    <a:srgbClr val="FFCC99"/>
    <a:srgbClr val="1037DC"/>
    <a:srgbClr val="B2A3FB"/>
    <a:srgbClr val="B4FBA3"/>
    <a:srgbClr val="FF3300"/>
    <a:srgbClr val="E1FD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8" autoAdjust="0"/>
    <p:restoredTop sz="94660"/>
  </p:normalViewPr>
  <p:slideViewPr>
    <p:cSldViewPr snapToGrid="0" snapToObjects="1">
      <p:cViewPr varScale="1">
        <p:scale>
          <a:sx n="75" d="100"/>
          <a:sy n="75" d="100"/>
        </p:scale>
        <p:origin x="1152"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728"/>
    </p:cViewPr>
  </p:sorterViewPr>
  <p:gridSpacing cx="38405" cy="384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itchFamily="34" charset="0"/>
                <a:cs typeface="+mn-cs"/>
              </a:defRPr>
            </a:lvl1pPr>
          </a:lstStyle>
          <a:p>
            <a:pPr>
              <a:defRPr/>
            </a:pPr>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itchFamily="34" charset="0"/>
                <a:cs typeface="+mn-cs"/>
              </a:defRPr>
            </a:lvl1pPr>
          </a:lstStyle>
          <a:p>
            <a:pPr>
              <a:defRPr/>
            </a:pPr>
            <a:fld id="{5A466B73-A360-4EA3-9FA7-C2688952820D}" type="datetimeFigureOut">
              <a:rPr lang="fr-FR"/>
              <a:pPr>
                <a:defRPr/>
              </a:pPr>
              <a:t>24/09/2024</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noProof="0" smtClean="0"/>
              <a:t>Cliquez pour modifier les styles du texte du masque</a:t>
            </a:r>
          </a:p>
          <a:p>
            <a:pPr lvl="1"/>
            <a:r>
              <a:rPr lang="fr-FR" noProof="0" smtClean="0"/>
              <a:t>Deuxième niveau</a:t>
            </a:r>
          </a:p>
          <a:p>
            <a:pPr lvl="2"/>
            <a:r>
              <a:rPr lang="fr-FR" noProof="0" smtClean="0"/>
              <a:t>Troisième niveau</a:t>
            </a:r>
          </a:p>
          <a:p>
            <a:pPr lvl="3"/>
            <a:r>
              <a:rPr lang="fr-FR" noProof="0" smtClean="0"/>
              <a:t>Quatrième niveau</a:t>
            </a:r>
          </a:p>
          <a:p>
            <a:pPr lvl="4"/>
            <a:r>
              <a:rPr lang="fr-FR" noProof="0" smtClean="0"/>
              <a:t>Cinquième niveau</a:t>
            </a:r>
            <a:endParaRPr lang="fr-FR" noProof="0"/>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itchFamily="34" charset="0"/>
                <a:cs typeface="+mn-cs"/>
              </a:defRPr>
            </a:lvl1pPr>
          </a:lstStyle>
          <a:p>
            <a:pPr>
              <a:defRPr/>
            </a:pPr>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A76B9F7-2AB7-4342-953E-58E8E6F50944}" type="slidenum">
              <a:rPr lang="fr-FR" altLang="fr-FR"/>
              <a:pPr>
                <a:defRPr/>
              </a:pPr>
              <a:t>‹N°›</a:t>
            </a:fld>
            <a:endParaRPr lang="fr-FR" altLang="fr-FR"/>
          </a:p>
        </p:txBody>
      </p:sp>
    </p:spTree>
    <p:extLst>
      <p:ext uri="{BB962C8B-B14F-4D97-AF65-F5344CB8AC3E}">
        <p14:creationId xmlns:p14="http://schemas.microsoft.com/office/powerpoint/2010/main" val="201860765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717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5738FB2-2936-4F63-A8BF-4696F3E4F885}" type="slidenum">
              <a:rPr lang="fr-FR" altLang="fr-FR" smtClean="0">
                <a:latin typeface="Arial" panose="020B0604020202020204" pitchFamily="34" charset="0"/>
              </a:rPr>
              <a:pPr>
                <a:spcBef>
                  <a:spcPct val="0"/>
                </a:spcBef>
              </a:pPr>
              <a:t>1</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53369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922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633268E-0C20-4AB9-9A30-DEFBA4D380F0}" type="slidenum">
              <a:rPr lang="fr-FR" altLang="fr-FR" smtClean="0">
                <a:latin typeface="Arial" panose="020B0604020202020204" pitchFamily="34" charset="0"/>
              </a:rPr>
              <a:pPr>
                <a:spcBef>
                  <a:spcPct val="0"/>
                </a:spcBef>
              </a:pPr>
              <a:t>9</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692327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126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C55A4B7-9E4F-45D3-BF57-BDA7481581C0}" type="slidenum">
              <a:rPr lang="fr-FR" altLang="fr-FR" smtClean="0">
                <a:latin typeface="Arial" panose="020B0604020202020204" pitchFamily="34" charset="0"/>
              </a:rPr>
              <a:pPr>
                <a:spcBef>
                  <a:spcPct val="0"/>
                </a:spcBef>
              </a:pPr>
              <a:t>10</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765949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331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F6FBD61-FC0C-49F6-9E3D-534559E7C04F}" type="slidenum">
              <a:rPr lang="fr-FR" altLang="fr-FR" smtClean="0">
                <a:latin typeface="Arial" panose="020B0604020202020204" pitchFamily="34" charset="0"/>
              </a:rPr>
              <a:pPr>
                <a:spcBef>
                  <a:spcPct val="0"/>
                </a:spcBef>
              </a:pPr>
              <a:t>11</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902066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AB07486-3936-4581-A054-1B776B02E1F9}" type="slidenum">
              <a:rPr lang="en-US" altLang="fr-FR" smtClean="0">
                <a:latin typeface="Arial" panose="020B0604020202020204" pitchFamily="34" charset="0"/>
              </a:rPr>
              <a:pPr>
                <a:spcBef>
                  <a:spcPct val="0"/>
                </a:spcBef>
              </a:pPr>
              <a:t>12</a:t>
            </a:fld>
            <a:endParaRPr lang="en-US" altLang="fr-FR" smtClean="0">
              <a:latin typeface="Arial" panose="020B0604020202020204" pitchFamily="34" charset="0"/>
            </a:endParaRPr>
          </a:p>
        </p:txBody>
      </p:sp>
      <p:sp>
        <p:nvSpPr>
          <p:cNvPr id="1536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Tree>
    <p:extLst>
      <p:ext uri="{BB962C8B-B14F-4D97-AF65-F5344CB8AC3E}">
        <p14:creationId xmlns:p14="http://schemas.microsoft.com/office/powerpoint/2010/main" val="17098676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B85ECD1-CC38-4594-A41A-B280DBE3FC61}" type="slidenum">
              <a:rPr lang="en-US" altLang="fr-FR" smtClean="0">
                <a:latin typeface="Arial" panose="020B0604020202020204" pitchFamily="34" charset="0"/>
              </a:rPr>
              <a:pPr>
                <a:spcBef>
                  <a:spcPct val="0"/>
                </a:spcBef>
              </a:pPr>
              <a:t>13</a:t>
            </a:fld>
            <a:endParaRPr lang="en-US" altLang="fr-FR" smtClean="0">
              <a:latin typeface="Arial" panose="020B0604020202020204" pitchFamily="34" charset="0"/>
            </a:endParaRPr>
          </a:p>
        </p:txBody>
      </p:sp>
      <p:sp>
        <p:nvSpPr>
          <p:cNvPr id="1741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Tree>
    <p:extLst>
      <p:ext uri="{BB962C8B-B14F-4D97-AF65-F5344CB8AC3E}">
        <p14:creationId xmlns:p14="http://schemas.microsoft.com/office/powerpoint/2010/main" val="3231583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67AB7B5-8ED4-4CBB-A322-806393C3B19A}" type="slidenum">
              <a:rPr lang="en-US" altLang="fr-FR" smtClean="0">
                <a:latin typeface="Arial" panose="020B0604020202020204" pitchFamily="34" charset="0"/>
              </a:rPr>
              <a:pPr>
                <a:spcBef>
                  <a:spcPct val="0"/>
                </a:spcBef>
              </a:pPr>
              <a:t>14</a:t>
            </a:fld>
            <a:endParaRPr lang="en-US" altLang="fr-FR" smtClean="0">
              <a:latin typeface="Arial" panose="020B0604020202020204" pitchFamily="34" charset="0"/>
            </a:endParaRPr>
          </a:p>
        </p:txBody>
      </p:sp>
      <p:sp>
        <p:nvSpPr>
          <p:cNvPr id="1945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Tree>
    <p:extLst>
      <p:ext uri="{BB962C8B-B14F-4D97-AF65-F5344CB8AC3E}">
        <p14:creationId xmlns:p14="http://schemas.microsoft.com/office/powerpoint/2010/main" val="3193310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54CFE42-199B-4E9A-9792-2F53B7F4EA4F}" type="slidenum">
              <a:rPr lang="en-US" altLang="fr-FR" smtClean="0">
                <a:latin typeface="Arial" panose="020B0604020202020204" pitchFamily="34" charset="0"/>
              </a:rPr>
              <a:pPr>
                <a:spcBef>
                  <a:spcPct val="0"/>
                </a:spcBef>
              </a:pPr>
              <a:t>15</a:t>
            </a:fld>
            <a:endParaRPr lang="en-US" altLang="fr-FR" smtClean="0">
              <a:latin typeface="Arial" panose="020B0604020202020204" pitchFamily="34" charset="0"/>
            </a:endParaRPr>
          </a:p>
        </p:txBody>
      </p:sp>
      <p:sp>
        <p:nvSpPr>
          <p:cNvPr id="2150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Tree>
    <p:extLst>
      <p:ext uri="{BB962C8B-B14F-4D97-AF65-F5344CB8AC3E}">
        <p14:creationId xmlns:p14="http://schemas.microsoft.com/office/powerpoint/2010/main" val="638445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0EF7C02-1C9B-401A-A311-F6B2955290E7}" type="slidenum">
              <a:rPr lang="en-US" altLang="fr-FR" smtClean="0">
                <a:latin typeface="Arial" panose="020B0604020202020204" pitchFamily="34" charset="0"/>
              </a:rPr>
              <a:pPr>
                <a:spcBef>
                  <a:spcPct val="0"/>
                </a:spcBef>
              </a:pPr>
              <a:t>16</a:t>
            </a:fld>
            <a:endParaRPr lang="en-US" altLang="fr-FR" smtClean="0">
              <a:latin typeface="Arial" panose="020B0604020202020204" pitchFamily="34" charset="0"/>
            </a:endParaRPr>
          </a:p>
        </p:txBody>
      </p:sp>
      <p:sp>
        <p:nvSpPr>
          <p:cNvPr id="2355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Tree>
    <p:extLst>
      <p:ext uri="{BB962C8B-B14F-4D97-AF65-F5344CB8AC3E}">
        <p14:creationId xmlns:p14="http://schemas.microsoft.com/office/powerpoint/2010/main" val="199470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2F2481D-BFB6-4148-B556-43B25EDCDC4C}" type="slidenum">
              <a:rPr lang="en-US" altLang="fr-FR" smtClean="0">
                <a:latin typeface="Arial" panose="020B0604020202020204" pitchFamily="34" charset="0"/>
              </a:rPr>
              <a:pPr>
                <a:spcBef>
                  <a:spcPct val="0"/>
                </a:spcBef>
              </a:pPr>
              <a:t>17</a:t>
            </a:fld>
            <a:endParaRPr lang="en-US" altLang="fr-FR" smtClean="0">
              <a:latin typeface="Arial" panose="020B0604020202020204" pitchFamily="34" charset="0"/>
            </a:endParaRPr>
          </a:p>
        </p:txBody>
      </p:sp>
      <p:sp>
        <p:nvSpPr>
          <p:cNvPr id="256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Tree>
    <p:extLst>
      <p:ext uri="{BB962C8B-B14F-4D97-AF65-F5344CB8AC3E}">
        <p14:creationId xmlns:p14="http://schemas.microsoft.com/office/powerpoint/2010/main" val="25140217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5112E74-CCD8-4C2B-8667-60E0FC5856A7}" type="slidenum">
              <a:rPr lang="en-US" altLang="fr-FR" smtClean="0">
                <a:latin typeface="Arial" panose="020B0604020202020204" pitchFamily="34" charset="0"/>
              </a:rPr>
              <a:pPr>
                <a:spcBef>
                  <a:spcPct val="0"/>
                </a:spcBef>
              </a:pPr>
              <a:t>18</a:t>
            </a:fld>
            <a:endParaRPr lang="en-US" altLang="fr-FR" smtClean="0">
              <a:latin typeface="Arial" panose="020B0604020202020204" pitchFamily="34" charset="0"/>
            </a:endParaRPr>
          </a:p>
        </p:txBody>
      </p:sp>
      <p:sp>
        <p:nvSpPr>
          <p:cNvPr id="276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Tree>
    <p:extLst>
      <p:ext uri="{BB962C8B-B14F-4D97-AF65-F5344CB8AC3E}">
        <p14:creationId xmlns:p14="http://schemas.microsoft.com/office/powerpoint/2010/main" val="38370645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B7A9DB4-EC08-4282-B0EF-6691DA98FF28}" type="slidenum">
              <a:rPr lang="fr-FR" altLang="fr-FR" smtClean="0">
                <a:latin typeface="Arial" panose="020B0604020202020204" pitchFamily="34" charset="0"/>
              </a:rPr>
              <a:pPr>
                <a:spcBef>
                  <a:spcPct val="0"/>
                </a:spcBef>
              </a:pPr>
              <a:t>19</a:t>
            </a:fld>
            <a:endParaRPr lang="fr-FR" altLang="fr-FR" smtClean="0">
              <a:latin typeface="Arial" panose="020B0604020202020204" pitchFamily="34" charset="0"/>
            </a:endParaRPr>
          </a:p>
        </p:txBody>
      </p:sp>
      <p:sp>
        <p:nvSpPr>
          <p:cNvPr id="29699"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0"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fr-BE" altLang="fr-FR" smtClean="0"/>
              <a:t>Flux+moteur dc1</a:t>
            </a:r>
            <a:endParaRPr lang="fr-FR" altLang="fr-FR" smtClean="0"/>
          </a:p>
        </p:txBody>
      </p:sp>
      <p:sp>
        <p:nvSpPr>
          <p:cNvPr id="240645"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3556215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8E6A1EB-518C-4C53-900F-D7E6C15BE711}" type="slidenum">
              <a:rPr lang="fr-FR" altLang="fr-FR" smtClean="0">
                <a:latin typeface="Arial" panose="020B0604020202020204" pitchFamily="34" charset="0"/>
              </a:rPr>
              <a:pPr>
                <a:spcBef>
                  <a:spcPct val="0"/>
                </a:spcBef>
              </a:pPr>
              <a:t>20</a:t>
            </a:fld>
            <a:endParaRPr lang="fr-FR" altLang="fr-FR" smtClean="0">
              <a:latin typeface="Arial" panose="020B0604020202020204" pitchFamily="34" charset="0"/>
            </a:endParaRPr>
          </a:p>
        </p:txBody>
      </p:sp>
      <p:sp>
        <p:nvSpPr>
          <p:cNvPr id="31747"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fr-BE" altLang="fr-FR" smtClean="0"/>
              <a:t>Moteur dc1 + bis</a:t>
            </a:r>
            <a:endParaRPr lang="fr-FR" altLang="fr-FR" smtClean="0"/>
          </a:p>
        </p:txBody>
      </p:sp>
      <p:sp>
        <p:nvSpPr>
          <p:cNvPr id="241669"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40786442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1C59C9F-FE8F-405E-B6A4-FF30DDB041B4}" type="slidenum">
              <a:rPr lang="fr-FR" altLang="fr-FR" smtClean="0">
                <a:latin typeface="Arial" panose="020B0604020202020204" pitchFamily="34" charset="0"/>
              </a:rPr>
              <a:pPr>
                <a:spcBef>
                  <a:spcPct val="0"/>
                </a:spcBef>
              </a:pPr>
              <a:t>21</a:t>
            </a:fld>
            <a:endParaRPr lang="fr-FR" altLang="fr-FR" smtClean="0">
              <a:latin typeface="Arial" panose="020B0604020202020204" pitchFamily="34" charset="0"/>
            </a:endParaRPr>
          </a:p>
        </p:txBody>
      </p:sp>
      <p:sp>
        <p:nvSpPr>
          <p:cNvPr id="33795"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fr-BE" altLang="fr-FR" smtClean="0"/>
              <a:t>Moteur dc1+ter</a:t>
            </a:r>
            <a:endParaRPr lang="fr-FR" altLang="fr-FR" smtClean="0"/>
          </a:p>
        </p:txBody>
      </p:sp>
      <p:sp>
        <p:nvSpPr>
          <p:cNvPr id="242693"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8956033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696FE4A-FFD1-4597-9ED3-25DED6BA1AED}" type="slidenum">
              <a:rPr lang="fr-FR" altLang="fr-FR" smtClean="0">
                <a:latin typeface="Arial" panose="020B0604020202020204" pitchFamily="34" charset="0"/>
              </a:rPr>
              <a:pPr>
                <a:spcBef>
                  <a:spcPct val="0"/>
                </a:spcBef>
              </a:pPr>
              <a:t>22</a:t>
            </a:fld>
            <a:endParaRPr lang="fr-FR" altLang="fr-FR" smtClean="0">
              <a:latin typeface="Arial" panose="020B0604020202020204" pitchFamily="34" charset="0"/>
            </a:endParaRPr>
          </a:p>
        </p:txBody>
      </p:sp>
      <p:sp>
        <p:nvSpPr>
          <p:cNvPr id="35843"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fr-BE" altLang="fr-FR" smtClean="0"/>
              <a:t>Moteur dc1 + quater</a:t>
            </a:r>
            <a:endParaRPr lang="fr-FR" altLang="fr-FR" smtClean="0"/>
          </a:p>
        </p:txBody>
      </p:sp>
      <p:sp>
        <p:nvSpPr>
          <p:cNvPr id="243717"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1948088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D41C3F4-4400-4F90-82FA-BB7485C2E2AE}" type="slidenum">
              <a:rPr lang="fr-FR" altLang="fr-FR" smtClean="0">
                <a:latin typeface="Arial" panose="020B0604020202020204" pitchFamily="34" charset="0"/>
              </a:rPr>
              <a:pPr>
                <a:spcBef>
                  <a:spcPct val="0"/>
                </a:spcBef>
              </a:pPr>
              <a:t>23</a:t>
            </a:fld>
            <a:endParaRPr lang="fr-FR" altLang="fr-FR" smtClean="0">
              <a:latin typeface="Arial" panose="020B0604020202020204" pitchFamily="34" charset="0"/>
            </a:endParaRPr>
          </a:p>
        </p:txBody>
      </p:sp>
      <p:sp>
        <p:nvSpPr>
          <p:cNvPr id="37891" name="Rectangle 1026"/>
          <p:cNvSpPr>
            <a:spLocks noGrp="1" noRot="1" noChangeAspect="1" noChangeArrowheads="1" noTextEdit="1"/>
          </p:cNvSpPr>
          <p:nvPr>
            <p:ph type="sldImg"/>
          </p:nvPr>
        </p:nvSpPr>
        <p:spPr bwMode="auto">
          <a:solidFill>
            <a:srgbClr val="FFFFFF"/>
          </a:solidFill>
          <a:ln>
            <a:solidFill>
              <a:srgbClr val="000000"/>
            </a:solidFill>
            <a:miter lim="800000"/>
            <a:headEnd/>
            <a:tailEnd/>
          </a:ln>
        </p:spPr>
      </p:sp>
      <p:sp>
        <p:nvSpPr>
          <p:cNvPr id="37892" name="Rectangle 1027"/>
          <p:cNvSpPr>
            <a:spLocks noGrp="1" noChangeArrowheads="1"/>
          </p:cNvSpPr>
          <p:nvPr>
            <p:ph type="body" idx="1"/>
          </p:nvPr>
        </p:nvSpPr>
        <p:spPr bwMode="auto">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r>
              <a:rPr lang="fr-BE" altLang="fr-FR" smtClean="0"/>
              <a:t>Moteur dc1 + moteur DC2</a:t>
            </a:r>
          </a:p>
          <a:p>
            <a:pPr eaLnBrk="1" hangingPunct="1"/>
            <a:r>
              <a:rPr lang="fr-BE" altLang="fr-FR" smtClean="0"/>
              <a:t>Génératrice dc1 = génératrice DC2</a:t>
            </a:r>
            <a:endParaRPr lang="fr-FR" altLang="fr-FR" smtClean="0"/>
          </a:p>
        </p:txBody>
      </p:sp>
      <p:sp>
        <p:nvSpPr>
          <p:cNvPr id="244741"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20558538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257028" name="Espace réservé du pied de page 3"/>
          <p:cNvSpPr>
            <a:spLocks noGrp="1"/>
          </p:cNvSpPr>
          <p:nvPr>
            <p:ph type="ftr" sz="quarter" idx="4"/>
          </p:nvPr>
        </p:nvSpPr>
        <p:spPr/>
        <p:txBody>
          <a:bodyPr/>
          <a:lstStyle/>
          <a:p>
            <a:pPr>
              <a:defRPr/>
            </a:pPr>
            <a:r>
              <a:rPr lang="fr-FR" smtClean="0"/>
              <a:t>Variateurs</a:t>
            </a:r>
          </a:p>
        </p:txBody>
      </p:sp>
      <p:sp>
        <p:nvSpPr>
          <p:cNvPr id="39941" name="Espace réservé du numéro de diapositive 4"/>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232331D-655E-4543-A52D-72682F45F06F}" type="slidenum">
              <a:rPr lang="fr-FR" altLang="fr-FR" smtClean="0">
                <a:latin typeface="Arial" panose="020B0604020202020204" pitchFamily="34" charset="0"/>
              </a:rPr>
              <a:pPr>
                <a:spcBef>
                  <a:spcPct val="0"/>
                </a:spcBef>
              </a:pPr>
              <a:t>24</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4665655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fr-FR" altLang="fr-FR" smtClean="0"/>
          </a:p>
        </p:txBody>
      </p:sp>
      <p:sp>
        <p:nvSpPr>
          <p:cNvPr id="4198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C422A7D-6E7B-4F8F-9144-8AE0E0469484}" type="slidenum">
              <a:rPr lang="fr-FR" altLang="fr-FR" smtClean="0">
                <a:latin typeface="Arial" panose="020B0604020202020204" pitchFamily="34" charset="0"/>
              </a:rPr>
              <a:pPr>
                <a:spcBef>
                  <a:spcPct val="0"/>
                </a:spcBef>
              </a:pPr>
              <a:t>25</a:t>
            </a:fld>
            <a:endParaRPr lang="fr-FR" altLang="fr-FR" smtClean="0">
              <a:latin typeface="Arial" panose="020B0604020202020204" pitchFamily="34" charset="0"/>
            </a:endParaRPr>
          </a:p>
        </p:txBody>
      </p:sp>
      <p:sp>
        <p:nvSpPr>
          <p:cNvPr id="233477"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704889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fr-FR" altLang="fr-FR" smtClean="0"/>
          </a:p>
        </p:txBody>
      </p:sp>
      <p:sp>
        <p:nvSpPr>
          <p:cNvPr id="4403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C1833D4-9C32-49C5-9621-7C44C241300E}" type="slidenum">
              <a:rPr lang="fr-FR" altLang="fr-FR" smtClean="0">
                <a:latin typeface="Arial" panose="020B0604020202020204" pitchFamily="34" charset="0"/>
              </a:rPr>
              <a:pPr>
                <a:spcBef>
                  <a:spcPct val="0"/>
                </a:spcBef>
              </a:pPr>
              <a:t>26</a:t>
            </a:fld>
            <a:endParaRPr lang="fr-FR" altLang="fr-FR" smtClean="0">
              <a:latin typeface="Arial" panose="020B0604020202020204" pitchFamily="34" charset="0"/>
            </a:endParaRPr>
          </a:p>
        </p:txBody>
      </p:sp>
      <p:sp>
        <p:nvSpPr>
          <p:cNvPr id="234501"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1091270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fr-FR" altLang="fr-FR" smtClean="0"/>
          </a:p>
        </p:txBody>
      </p:sp>
      <p:sp>
        <p:nvSpPr>
          <p:cNvPr id="4608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844E505-EB48-4962-8BC4-92E3F37EB365}" type="slidenum">
              <a:rPr lang="fr-FR" altLang="fr-FR" smtClean="0">
                <a:latin typeface="Arial" panose="020B0604020202020204" pitchFamily="34" charset="0"/>
              </a:rPr>
              <a:pPr>
                <a:spcBef>
                  <a:spcPct val="0"/>
                </a:spcBef>
              </a:pPr>
              <a:t>27</a:t>
            </a:fld>
            <a:endParaRPr lang="fr-FR" altLang="fr-FR" smtClean="0">
              <a:latin typeface="Arial" panose="020B0604020202020204" pitchFamily="34" charset="0"/>
            </a:endParaRPr>
          </a:p>
        </p:txBody>
      </p:sp>
      <p:sp>
        <p:nvSpPr>
          <p:cNvPr id="235525"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30377406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4813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6F0274C-A1A3-427B-9D4D-A6BE440C0827}" type="slidenum">
              <a:rPr lang="fr-FR" altLang="fr-FR" smtClean="0">
                <a:latin typeface="Arial" panose="020B0604020202020204" pitchFamily="34" charset="0"/>
              </a:rPr>
              <a:pPr>
                <a:spcBef>
                  <a:spcPct val="0"/>
                </a:spcBef>
              </a:pPr>
              <a:t>28</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2677859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7858956-875F-4323-A0E1-523FBB24FB64}" type="slidenum">
              <a:rPr lang="fr-FR" altLang="fr-FR" smtClean="0">
                <a:latin typeface="Arial" panose="020B0604020202020204" pitchFamily="34" charset="0"/>
              </a:rPr>
              <a:pPr>
                <a:spcBef>
                  <a:spcPct val="0"/>
                </a:spcBef>
              </a:pPr>
              <a:t>29</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5132964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5222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3B7340D-FACE-458A-AD03-7AD14A952C9E}" type="slidenum">
              <a:rPr lang="fr-FR" altLang="fr-FR" smtClean="0">
                <a:latin typeface="Arial" panose="020B0604020202020204" pitchFamily="34" charset="0"/>
              </a:rPr>
              <a:pPr>
                <a:spcBef>
                  <a:spcPct val="0"/>
                </a:spcBef>
              </a:pPr>
              <a:t>30</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3862045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5427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8E79549-E027-41DF-B8CA-C47627419075}" type="slidenum">
              <a:rPr lang="fr-FR" altLang="fr-FR" smtClean="0">
                <a:latin typeface="Arial" panose="020B0604020202020204" pitchFamily="34" charset="0"/>
              </a:rPr>
              <a:pPr>
                <a:spcBef>
                  <a:spcPct val="0"/>
                </a:spcBef>
              </a:pPr>
              <a:t>31</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3403811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5632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0C118A6-B773-48F5-BDC9-FBC1BB11AD41}" type="slidenum">
              <a:rPr lang="fr-FR" altLang="fr-FR" smtClean="0">
                <a:latin typeface="Arial" panose="020B0604020202020204" pitchFamily="34" charset="0"/>
              </a:rPr>
              <a:pPr>
                <a:spcBef>
                  <a:spcPct val="0"/>
                </a:spcBef>
              </a:pPr>
              <a:t>32</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79387882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5837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58CAF18-0363-4424-9E48-3AA78B7CFCCD}" type="slidenum">
              <a:rPr lang="fr-FR" altLang="fr-FR" smtClean="0">
                <a:latin typeface="Arial" panose="020B0604020202020204" pitchFamily="34" charset="0"/>
              </a:rPr>
              <a:pPr>
                <a:spcBef>
                  <a:spcPct val="0"/>
                </a:spcBef>
              </a:pPr>
              <a:t>33</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2242808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6042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BE9FE44-9968-4E9E-8A15-4A0983AB21B0}" type="slidenum">
              <a:rPr lang="fr-FR" altLang="fr-FR" smtClean="0">
                <a:latin typeface="Arial" panose="020B0604020202020204" pitchFamily="34" charset="0"/>
              </a:rPr>
              <a:pPr>
                <a:spcBef>
                  <a:spcPct val="0"/>
                </a:spcBef>
              </a:pPr>
              <a:t>34</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2462924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6246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6942E37-0FEE-4CEC-8D07-5D2E301201D0}" type="slidenum">
              <a:rPr lang="fr-FR" altLang="fr-FR" smtClean="0">
                <a:latin typeface="Arial" panose="020B0604020202020204" pitchFamily="34" charset="0"/>
              </a:rPr>
              <a:pPr>
                <a:spcBef>
                  <a:spcPct val="0"/>
                </a:spcBef>
              </a:pPr>
              <a:t>35</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4138198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6451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15D3CA5-E682-4C58-90F3-61C380CFB24B}" type="slidenum">
              <a:rPr lang="fr-FR" altLang="fr-FR" smtClean="0">
                <a:latin typeface="Arial" panose="020B0604020202020204" pitchFamily="34" charset="0"/>
              </a:rPr>
              <a:pPr>
                <a:spcBef>
                  <a:spcPct val="0"/>
                </a:spcBef>
              </a:pPr>
              <a:t>36</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349416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6656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0DE4B60-AB7E-4EF9-BAC6-680192D5EE58}" type="slidenum">
              <a:rPr lang="fr-FR" altLang="fr-FR" smtClean="0">
                <a:latin typeface="Arial" panose="020B0604020202020204" pitchFamily="34" charset="0"/>
              </a:rPr>
              <a:pPr>
                <a:spcBef>
                  <a:spcPct val="0"/>
                </a:spcBef>
              </a:pPr>
              <a:t>37</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3566951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686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A083847-6208-407E-AEE0-1746BFFB697C}" type="slidenum">
              <a:rPr lang="fr-FR" altLang="fr-FR" smtClean="0">
                <a:latin typeface="Arial" panose="020B0604020202020204" pitchFamily="34" charset="0"/>
              </a:rPr>
              <a:pPr>
                <a:spcBef>
                  <a:spcPct val="0"/>
                </a:spcBef>
              </a:pPr>
              <a:t>38</a:t>
            </a:fld>
            <a:endParaRPr lang="fr-FR" altLang="fr-FR" smtClean="0">
              <a:latin typeface="Arial" panose="020B0604020202020204" pitchFamily="34" charset="0"/>
            </a:endParaRPr>
          </a:p>
        </p:txBody>
      </p:sp>
    </p:spTree>
    <p:extLst>
      <p:ext uri="{BB962C8B-B14F-4D97-AF65-F5344CB8AC3E}">
        <p14:creationId xmlns:p14="http://schemas.microsoft.com/office/powerpoint/2010/main" val="536781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fr-FR" altLang="fr-FR" smtClean="0"/>
          </a:p>
        </p:txBody>
      </p:sp>
      <p:sp>
        <p:nvSpPr>
          <p:cNvPr id="7066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9E4BEBB-B217-4E04-B66B-A794D5E991FD}" type="slidenum">
              <a:rPr lang="fr-FR" altLang="fr-FR" smtClean="0">
                <a:latin typeface="Arial" panose="020B0604020202020204" pitchFamily="34" charset="0"/>
              </a:rPr>
              <a:pPr>
                <a:spcBef>
                  <a:spcPct val="0"/>
                </a:spcBef>
              </a:pPr>
              <a:t>39</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5152267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7270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42D4FD0-6798-42DF-BE13-BAEAF932D630}" type="slidenum">
              <a:rPr lang="fr-FR" altLang="fr-FR" smtClean="0">
                <a:latin typeface="Arial" panose="020B0604020202020204" pitchFamily="34" charset="0"/>
              </a:rPr>
              <a:pPr>
                <a:spcBef>
                  <a:spcPct val="0"/>
                </a:spcBef>
              </a:pPr>
              <a:t>40</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9722778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261124" name="Espace réservé du pied de page 3"/>
          <p:cNvSpPr>
            <a:spLocks noGrp="1"/>
          </p:cNvSpPr>
          <p:nvPr>
            <p:ph type="ftr" sz="quarter" idx="4"/>
          </p:nvPr>
        </p:nvSpPr>
        <p:spPr/>
        <p:txBody>
          <a:bodyPr/>
          <a:lstStyle/>
          <a:p>
            <a:pPr>
              <a:defRPr/>
            </a:pPr>
            <a:r>
              <a:rPr lang="fr-FR" smtClean="0"/>
              <a:t>Variateurs</a:t>
            </a:r>
          </a:p>
        </p:txBody>
      </p:sp>
      <p:sp>
        <p:nvSpPr>
          <p:cNvPr id="74757" name="Espace réservé du numéro de diapositive 4"/>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43677D2-FD65-44F7-A9E8-B10D410D1314}" type="slidenum">
              <a:rPr lang="fr-FR" altLang="fr-FR" smtClean="0">
                <a:latin typeface="Arial" panose="020B0604020202020204" pitchFamily="34" charset="0"/>
              </a:rPr>
              <a:pPr>
                <a:spcBef>
                  <a:spcPct val="0"/>
                </a:spcBef>
              </a:pPr>
              <a:t>41</a:t>
            </a:fld>
            <a:endParaRPr lang="fr-FR" altLang="fr-FR" smtClean="0">
              <a:latin typeface="Arial" panose="020B0604020202020204" pitchFamily="34" charset="0"/>
            </a:endParaRPr>
          </a:p>
        </p:txBody>
      </p:sp>
    </p:spTree>
    <p:extLst>
      <p:ext uri="{BB962C8B-B14F-4D97-AF65-F5344CB8AC3E}">
        <p14:creationId xmlns:p14="http://schemas.microsoft.com/office/powerpoint/2010/main" val="6608372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fr-FR" altLang="fr-FR" smtClean="0"/>
          </a:p>
        </p:txBody>
      </p:sp>
      <p:sp>
        <p:nvSpPr>
          <p:cNvPr id="7680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137D57C-173E-4ED0-B2D8-5B1F4D17F005}" type="slidenum">
              <a:rPr lang="fr-FR" altLang="fr-FR" smtClean="0">
                <a:latin typeface="Arial" panose="020B0604020202020204" pitchFamily="34" charset="0"/>
              </a:rPr>
              <a:pPr>
                <a:spcBef>
                  <a:spcPct val="0"/>
                </a:spcBef>
              </a:pPr>
              <a:t>42</a:t>
            </a:fld>
            <a:endParaRPr lang="fr-FR" altLang="fr-FR" smtClean="0">
              <a:latin typeface="Arial" panose="020B0604020202020204" pitchFamily="34" charset="0"/>
            </a:endParaRPr>
          </a:p>
        </p:txBody>
      </p:sp>
      <p:sp>
        <p:nvSpPr>
          <p:cNvPr id="262149"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19000220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7885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E4E0BCE-6DE0-47F4-8DA0-2088E3941F72}" type="slidenum">
              <a:rPr lang="fr-FR" altLang="fr-FR" smtClean="0">
                <a:latin typeface="Arial" panose="020B0604020202020204" pitchFamily="34" charset="0"/>
              </a:rPr>
              <a:pPr>
                <a:spcBef>
                  <a:spcPct val="0"/>
                </a:spcBef>
              </a:pPr>
              <a:t>43</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9213228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8090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010D66F-7536-403D-A213-C6CC1631D7F2}" type="slidenum">
              <a:rPr lang="fr-FR" altLang="fr-FR" smtClean="0">
                <a:latin typeface="Arial" panose="020B0604020202020204" pitchFamily="34" charset="0"/>
              </a:rPr>
              <a:pPr>
                <a:spcBef>
                  <a:spcPct val="0"/>
                </a:spcBef>
              </a:pPr>
              <a:t>44</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43832648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8294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A652BAD-1AEF-4F44-921E-ACB1BED54935}" type="slidenum">
              <a:rPr lang="fr-FR" altLang="fr-FR" smtClean="0">
                <a:latin typeface="Arial" panose="020B0604020202020204" pitchFamily="34" charset="0"/>
              </a:rPr>
              <a:pPr>
                <a:spcBef>
                  <a:spcPct val="0"/>
                </a:spcBef>
              </a:pPr>
              <a:t>45</a:t>
            </a:fld>
            <a:endParaRPr lang="fr-FR" altLang="fr-FR" smtClean="0">
              <a:latin typeface="Arial" panose="020B0604020202020204" pitchFamily="34" charset="0"/>
            </a:endParaRPr>
          </a:p>
        </p:txBody>
      </p:sp>
    </p:spTree>
    <p:extLst>
      <p:ext uri="{BB962C8B-B14F-4D97-AF65-F5344CB8AC3E}">
        <p14:creationId xmlns:p14="http://schemas.microsoft.com/office/powerpoint/2010/main" val="41207230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fr-FR" altLang="fr-FR" smtClean="0"/>
          </a:p>
        </p:txBody>
      </p:sp>
      <p:sp>
        <p:nvSpPr>
          <p:cNvPr id="8499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C4AB8B7-81F7-4604-960B-1379DA7ACCB2}" type="slidenum">
              <a:rPr lang="fr-FR" altLang="fr-FR" smtClean="0">
                <a:latin typeface="Arial" panose="020B0604020202020204" pitchFamily="34" charset="0"/>
              </a:rPr>
              <a:pPr>
                <a:spcBef>
                  <a:spcPct val="0"/>
                </a:spcBef>
              </a:pPr>
              <a:t>46</a:t>
            </a:fld>
            <a:endParaRPr lang="fr-FR" altLang="fr-FR" smtClean="0">
              <a:latin typeface="Arial" panose="020B0604020202020204" pitchFamily="34" charset="0"/>
            </a:endParaRPr>
          </a:p>
        </p:txBody>
      </p:sp>
      <p:sp>
        <p:nvSpPr>
          <p:cNvPr id="266245"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41738378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8704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E655670-545F-4DBE-8397-3A9BC6D2F2DF}" type="slidenum">
              <a:rPr lang="fr-FR" altLang="fr-FR" smtClean="0">
                <a:latin typeface="Arial" panose="020B0604020202020204" pitchFamily="34" charset="0"/>
              </a:rPr>
              <a:pPr>
                <a:spcBef>
                  <a:spcPct val="0"/>
                </a:spcBef>
              </a:pPr>
              <a:t>47</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3821076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8909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41BAE0D-A6FD-41EA-A888-4DF47383D795}" type="slidenum">
              <a:rPr lang="fr-FR" altLang="fr-FR" smtClean="0">
                <a:latin typeface="Arial" panose="020B0604020202020204" pitchFamily="34" charset="0"/>
              </a:rPr>
              <a:pPr>
                <a:spcBef>
                  <a:spcPct val="0"/>
                </a:spcBef>
              </a:pPr>
              <a:t>48</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878701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9114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9A6CEF0-2328-4BEF-BCCF-3EABC6F5236C}" type="slidenum">
              <a:rPr lang="fr-FR" altLang="fr-FR" smtClean="0">
                <a:latin typeface="Arial" panose="020B0604020202020204" pitchFamily="34" charset="0"/>
              </a:rPr>
              <a:pPr>
                <a:spcBef>
                  <a:spcPct val="0"/>
                </a:spcBef>
              </a:pPr>
              <a:t>49</a:t>
            </a:fld>
            <a:endParaRPr lang="fr-FR" altLang="fr-FR" smtClean="0">
              <a:latin typeface="Arial" panose="020B0604020202020204" pitchFamily="34" charset="0"/>
            </a:endParaRPr>
          </a:p>
        </p:txBody>
      </p:sp>
    </p:spTree>
    <p:extLst>
      <p:ext uri="{BB962C8B-B14F-4D97-AF65-F5344CB8AC3E}">
        <p14:creationId xmlns:p14="http://schemas.microsoft.com/office/powerpoint/2010/main" val="40298402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9318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781EE90-6BCC-4AA9-A19A-2C6D37CE6264}" type="slidenum">
              <a:rPr lang="fr-FR" altLang="fr-FR" smtClean="0">
                <a:latin typeface="Arial" panose="020B0604020202020204" pitchFamily="34" charset="0"/>
              </a:rPr>
              <a:pPr>
                <a:spcBef>
                  <a:spcPct val="0"/>
                </a:spcBef>
              </a:pPr>
              <a:t>50</a:t>
            </a:fld>
            <a:endParaRPr lang="fr-FR" altLang="fr-FR" smtClean="0">
              <a:latin typeface="Arial" panose="020B0604020202020204" pitchFamily="34" charset="0"/>
            </a:endParaRPr>
          </a:p>
        </p:txBody>
      </p:sp>
    </p:spTree>
    <p:extLst>
      <p:ext uri="{BB962C8B-B14F-4D97-AF65-F5344CB8AC3E}">
        <p14:creationId xmlns:p14="http://schemas.microsoft.com/office/powerpoint/2010/main" val="6596321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9523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75D82BD-F9EB-49A2-96DA-6FAF8E609475}" type="slidenum">
              <a:rPr lang="fr-FR" altLang="fr-FR" smtClean="0">
                <a:latin typeface="Arial" panose="020B0604020202020204" pitchFamily="34" charset="0"/>
              </a:rPr>
              <a:pPr>
                <a:spcBef>
                  <a:spcPct val="0"/>
                </a:spcBef>
              </a:pPr>
              <a:t>51</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1667526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728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9728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F2D7B46-A27E-43F0-A732-51652AA183C2}" type="slidenum">
              <a:rPr lang="fr-FR" altLang="fr-FR" smtClean="0">
                <a:latin typeface="Arial" panose="020B0604020202020204" pitchFamily="34" charset="0"/>
              </a:rPr>
              <a:pPr>
                <a:spcBef>
                  <a:spcPct val="0"/>
                </a:spcBef>
              </a:pPr>
              <a:t>52</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0318690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93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9933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CA9C074-DF00-4E62-8D90-9BF4A11D6D2D}" type="slidenum">
              <a:rPr lang="fr-FR" altLang="fr-FR" smtClean="0">
                <a:latin typeface="Arial" panose="020B0604020202020204" pitchFamily="34" charset="0"/>
              </a:rPr>
              <a:pPr>
                <a:spcBef>
                  <a:spcPct val="0"/>
                </a:spcBef>
              </a:pPr>
              <a:t>53</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3515340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fr-FR" altLang="fr-FR" smtClean="0"/>
          </a:p>
        </p:txBody>
      </p:sp>
      <p:sp>
        <p:nvSpPr>
          <p:cNvPr id="1013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2D91758-4B2E-4FFD-B1AE-9DD6E5E2A90F}" type="slidenum">
              <a:rPr lang="fr-FR" altLang="fr-FR" smtClean="0">
                <a:latin typeface="Arial" panose="020B0604020202020204" pitchFamily="34" charset="0"/>
              </a:rPr>
              <a:pPr>
                <a:spcBef>
                  <a:spcPct val="0"/>
                </a:spcBef>
              </a:pPr>
              <a:t>54</a:t>
            </a:fld>
            <a:endParaRPr lang="fr-FR" altLang="fr-FR" smtClean="0">
              <a:latin typeface="Arial" panose="020B0604020202020204" pitchFamily="34" charset="0"/>
            </a:endParaRPr>
          </a:p>
        </p:txBody>
      </p:sp>
      <p:sp>
        <p:nvSpPr>
          <p:cNvPr id="275461"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84091354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342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fr-FR" altLang="fr-FR" smtClean="0"/>
          </a:p>
        </p:txBody>
      </p:sp>
      <p:sp>
        <p:nvSpPr>
          <p:cNvPr id="10342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10F5079-58CA-4DA8-8C3D-83B6EF61A449}" type="slidenum">
              <a:rPr lang="fr-FR" altLang="fr-FR" smtClean="0">
                <a:latin typeface="Arial" panose="020B0604020202020204" pitchFamily="34" charset="0"/>
              </a:rPr>
              <a:pPr>
                <a:spcBef>
                  <a:spcPct val="0"/>
                </a:spcBef>
              </a:pPr>
              <a:t>55</a:t>
            </a:fld>
            <a:endParaRPr lang="fr-FR" altLang="fr-FR" smtClean="0">
              <a:latin typeface="Arial" panose="020B0604020202020204" pitchFamily="34" charset="0"/>
            </a:endParaRPr>
          </a:p>
        </p:txBody>
      </p:sp>
      <p:sp>
        <p:nvSpPr>
          <p:cNvPr id="276485" name="Espace réservé du pied de page 4"/>
          <p:cNvSpPr>
            <a:spLocks noGrp="1"/>
          </p:cNvSpPr>
          <p:nvPr>
            <p:ph type="ftr" sz="quarter" idx="4"/>
          </p:nvPr>
        </p:nvSpPr>
        <p:spPr/>
        <p:txBody>
          <a:bodyPr/>
          <a:lstStyle/>
          <a:p>
            <a:pPr>
              <a:defRPr/>
            </a:pPr>
            <a:r>
              <a:rPr lang="fr-FR" smtClean="0"/>
              <a:t>Variateurs</a:t>
            </a:r>
          </a:p>
        </p:txBody>
      </p:sp>
    </p:spTree>
    <p:extLst>
      <p:ext uri="{BB962C8B-B14F-4D97-AF65-F5344CB8AC3E}">
        <p14:creationId xmlns:p14="http://schemas.microsoft.com/office/powerpoint/2010/main" val="36967380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0547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7790B8B-E202-47FA-898F-9730D72C4F7D}" type="slidenum">
              <a:rPr lang="fr-FR" altLang="fr-FR" smtClean="0">
                <a:latin typeface="Arial" panose="020B0604020202020204" pitchFamily="34" charset="0"/>
              </a:rPr>
              <a:pPr>
                <a:spcBef>
                  <a:spcPct val="0"/>
                </a:spcBef>
              </a:pPr>
              <a:t>56</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6814171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0752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F4BFCF1-9E26-4ADD-8A8A-30648AC2A14F}" type="slidenum">
              <a:rPr lang="fr-FR" altLang="fr-FR" smtClean="0">
                <a:latin typeface="Arial" panose="020B0604020202020204" pitchFamily="34" charset="0"/>
              </a:rPr>
              <a:pPr>
                <a:spcBef>
                  <a:spcPct val="0"/>
                </a:spcBef>
              </a:pPr>
              <a:t>57</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7140738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0957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355BF6-B5D7-431C-BF02-517603C0B476}" type="slidenum">
              <a:rPr lang="fr-FR" altLang="fr-FR" smtClean="0">
                <a:latin typeface="Arial" panose="020B0604020202020204" pitchFamily="34" charset="0"/>
              </a:rPr>
              <a:pPr>
                <a:spcBef>
                  <a:spcPct val="0"/>
                </a:spcBef>
              </a:pPr>
              <a:t>58</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3945581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1162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6734798-94A7-4BC1-BD84-37D14B262DE0}" type="slidenum">
              <a:rPr lang="fr-FR" altLang="fr-FR" smtClean="0">
                <a:latin typeface="Arial" panose="020B0604020202020204" pitchFamily="34" charset="0"/>
              </a:rPr>
              <a:pPr>
                <a:spcBef>
                  <a:spcPct val="0"/>
                </a:spcBef>
              </a:pPr>
              <a:t>59</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3328453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1366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4668F576-A741-47D1-BAFF-DCFF31B61F52}" type="slidenum">
              <a:rPr lang="fr-FR" altLang="fr-FR" smtClean="0">
                <a:latin typeface="Arial" panose="020B0604020202020204" pitchFamily="34" charset="0"/>
              </a:rPr>
              <a:pPr>
                <a:spcBef>
                  <a:spcPct val="0"/>
                </a:spcBef>
              </a:pPr>
              <a:t>60</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2689704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1571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CB6C545-78EB-4667-91BC-50A12B7C81A7}" type="slidenum">
              <a:rPr lang="fr-FR" altLang="fr-FR" smtClean="0">
                <a:latin typeface="Arial" panose="020B0604020202020204" pitchFamily="34" charset="0"/>
              </a:rPr>
              <a:pPr>
                <a:spcBef>
                  <a:spcPct val="0"/>
                </a:spcBef>
              </a:pPr>
              <a:t>61</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2263101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1776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73855B0-8112-4D9D-9550-90AC39CD9941}" type="slidenum">
              <a:rPr lang="fr-FR" altLang="fr-FR" smtClean="0">
                <a:latin typeface="Arial" panose="020B0604020202020204" pitchFamily="34" charset="0"/>
              </a:rPr>
              <a:pPr>
                <a:spcBef>
                  <a:spcPct val="0"/>
                </a:spcBef>
              </a:pPr>
              <a:t>62</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4058327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1981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D2E0697-283F-4CF3-A46A-14B2D548041E}" type="slidenum">
              <a:rPr lang="fr-FR" altLang="fr-FR" smtClean="0">
                <a:latin typeface="Arial" panose="020B0604020202020204" pitchFamily="34" charset="0"/>
              </a:rPr>
              <a:pPr>
                <a:spcBef>
                  <a:spcPct val="0"/>
                </a:spcBef>
              </a:pPr>
              <a:t>63</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3675944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2186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8EA13FE-A400-4F54-834B-9D941E8F683D}" type="slidenum">
              <a:rPr lang="fr-FR" altLang="fr-FR" smtClean="0">
                <a:latin typeface="Arial" panose="020B0604020202020204" pitchFamily="34" charset="0"/>
              </a:rPr>
              <a:pPr>
                <a:spcBef>
                  <a:spcPct val="0"/>
                </a:spcBef>
              </a:pPr>
              <a:t>64</a:t>
            </a:fld>
            <a:endParaRPr lang="fr-FR" altLang="fr-FR" smtClean="0">
              <a:latin typeface="Arial" panose="020B0604020202020204" pitchFamily="34" charset="0"/>
            </a:endParaRPr>
          </a:p>
        </p:txBody>
      </p:sp>
    </p:spTree>
    <p:extLst>
      <p:ext uri="{BB962C8B-B14F-4D97-AF65-F5344CB8AC3E}">
        <p14:creationId xmlns:p14="http://schemas.microsoft.com/office/powerpoint/2010/main" val="7394003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2390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98CF52A-0BB8-4D3F-8A50-678C7C2BFF2F}" type="slidenum">
              <a:rPr lang="fr-FR" altLang="fr-FR" smtClean="0">
                <a:latin typeface="Arial" panose="020B0604020202020204" pitchFamily="34" charset="0"/>
              </a:rPr>
              <a:pPr>
                <a:spcBef>
                  <a:spcPct val="0"/>
                </a:spcBef>
              </a:pPr>
              <a:t>65</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3420733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2595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069295F-E74B-4292-B78A-55411C6CCA87}" type="slidenum">
              <a:rPr lang="fr-FR" altLang="fr-FR" smtClean="0">
                <a:latin typeface="Arial" panose="020B0604020202020204" pitchFamily="34" charset="0"/>
              </a:rPr>
              <a:pPr>
                <a:spcBef>
                  <a:spcPct val="0"/>
                </a:spcBef>
              </a:pPr>
              <a:t>66</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47332905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2800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C0D2239-F280-407F-8893-DC2EAFEE9FD5}" type="slidenum">
              <a:rPr lang="fr-FR" altLang="fr-FR" smtClean="0">
                <a:latin typeface="Arial" panose="020B0604020202020204" pitchFamily="34" charset="0"/>
              </a:rPr>
              <a:pPr>
                <a:spcBef>
                  <a:spcPct val="0"/>
                </a:spcBef>
              </a:pPr>
              <a:t>67</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7991118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3005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D90223A-1E57-4664-89E3-EC15FC588D26}" type="slidenum">
              <a:rPr lang="fr-FR" altLang="fr-FR" smtClean="0">
                <a:latin typeface="Arial" panose="020B0604020202020204" pitchFamily="34" charset="0"/>
              </a:rPr>
              <a:pPr>
                <a:spcBef>
                  <a:spcPct val="0"/>
                </a:spcBef>
              </a:pPr>
              <a:t>68</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21571409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209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3210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BA782C8C-28CB-4534-AFAB-F5C96D086C1D}" type="slidenum">
              <a:rPr lang="fr-FR" altLang="fr-FR" smtClean="0">
                <a:latin typeface="Arial" panose="020B0604020202020204" pitchFamily="34" charset="0"/>
              </a:rPr>
              <a:pPr>
                <a:spcBef>
                  <a:spcPct val="0"/>
                </a:spcBef>
              </a:pPr>
              <a:t>69</a:t>
            </a:fld>
            <a:endParaRPr lang="fr-FR" altLang="fr-FR" smtClean="0">
              <a:latin typeface="Arial" panose="020B0604020202020204" pitchFamily="34" charset="0"/>
            </a:endParaRPr>
          </a:p>
        </p:txBody>
      </p:sp>
    </p:spTree>
    <p:extLst>
      <p:ext uri="{BB962C8B-B14F-4D97-AF65-F5344CB8AC3E}">
        <p14:creationId xmlns:p14="http://schemas.microsoft.com/office/powerpoint/2010/main" val="73222957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414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3414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CB72FFC-D4AC-4B87-8426-71EBB5BBBC28}" type="slidenum">
              <a:rPr lang="fr-FR" altLang="fr-FR" smtClean="0">
                <a:latin typeface="Arial" panose="020B0604020202020204" pitchFamily="34" charset="0"/>
              </a:rPr>
              <a:pPr>
                <a:spcBef>
                  <a:spcPct val="0"/>
                </a:spcBef>
              </a:pPr>
              <a:t>70</a:t>
            </a:fld>
            <a:endParaRPr lang="fr-FR" altLang="fr-FR" smtClean="0">
              <a:latin typeface="Arial" panose="020B0604020202020204" pitchFamily="34" charset="0"/>
            </a:endParaRPr>
          </a:p>
        </p:txBody>
      </p:sp>
    </p:spTree>
    <p:extLst>
      <p:ext uri="{BB962C8B-B14F-4D97-AF65-F5344CB8AC3E}">
        <p14:creationId xmlns:p14="http://schemas.microsoft.com/office/powerpoint/2010/main" val="921268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619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36196"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3C696229-7DBD-48C0-A0C2-57F1384E091C}" type="slidenum">
              <a:rPr lang="fr-FR" altLang="fr-FR" smtClean="0">
                <a:latin typeface="Arial" panose="020B0604020202020204" pitchFamily="34" charset="0"/>
              </a:rPr>
              <a:pPr>
                <a:spcBef>
                  <a:spcPct val="0"/>
                </a:spcBef>
              </a:pPr>
              <a:t>71</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95932983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38244"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FE0CC3F-B646-48A8-9338-0B4AE3E33EDE}" type="slidenum">
              <a:rPr lang="fr-FR" altLang="fr-FR" smtClean="0">
                <a:latin typeface="Arial" panose="020B0604020202020204" pitchFamily="34" charset="0"/>
              </a:rPr>
              <a:pPr>
                <a:spcBef>
                  <a:spcPct val="0"/>
                </a:spcBef>
              </a:pPr>
              <a:t>72</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0229047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40292"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267A9AE-A0F7-4CA1-88D8-3FE686FF035C}" type="slidenum">
              <a:rPr lang="fr-FR" altLang="fr-FR" smtClean="0">
                <a:latin typeface="Arial" panose="020B0604020202020204" pitchFamily="34" charset="0"/>
              </a:rPr>
              <a:pPr>
                <a:spcBef>
                  <a:spcPct val="0"/>
                </a:spcBef>
              </a:pPr>
              <a:t>73</a:t>
            </a:fld>
            <a:endParaRPr lang="fr-FR" altLang="fr-FR" smtClean="0">
              <a:latin typeface="Arial" panose="020B0604020202020204" pitchFamily="34" charset="0"/>
            </a:endParaRPr>
          </a:p>
        </p:txBody>
      </p:sp>
    </p:spTree>
    <p:extLst>
      <p:ext uri="{BB962C8B-B14F-4D97-AF65-F5344CB8AC3E}">
        <p14:creationId xmlns:p14="http://schemas.microsoft.com/office/powerpoint/2010/main" val="35579302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233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4234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152D075-0B71-4B1C-A7A7-83266837DA97}" type="slidenum">
              <a:rPr lang="fr-FR" altLang="fr-FR" smtClean="0">
                <a:latin typeface="Arial" panose="020B0604020202020204" pitchFamily="34" charset="0"/>
              </a:rPr>
              <a:pPr>
                <a:spcBef>
                  <a:spcPct val="0"/>
                </a:spcBef>
              </a:pPr>
              <a:t>74</a:t>
            </a:fld>
            <a:endParaRPr lang="fr-FR" altLang="fr-FR" smtClean="0">
              <a:latin typeface="Arial" panose="020B0604020202020204" pitchFamily="34" charset="0"/>
            </a:endParaRPr>
          </a:p>
        </p:txBody>
      </p:sp>
    </p:spTree>
    <p:extLst>
      <p:ext uri="{BB962C8B-B14F-4D97-AF65-F5344CB8AC3E}">
        <p14:creationId xmlns:p14="http://schemas.microsoft.com/office/powerpoint/2010/main" val="199375880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fr-FR" altLang="fr-FR" smtClean="0"/>
          </a:p>
        </p:txBody>
      </p:sp>
      <p:sp>
        <p:nvSpPr>
          <p:cNvPr id="144388"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1F1F76B-AF9C-4D2D-8973-2BF1EB8E2473}" type="slidenum">
              <a:rPr lang="fr-FR" altLang="fr-FR" smtClean="0">
                <a:latin typeface="Arial" panose="020B0604020202020204" pitchFamily="34" charset="0"/>
              </a:rPr>
              <a:pPr>
                <a:spcBef>
                  <a:spcPct val="0"/>
                </a:spcBef>
              </a:pPr>
              <a:t>75</a:t>
            </a:fld>
            <a:endParaRPr lang="fr-FR" altLang="fr-FR" smtClean="0">
              <a:latin typeface="Arial" panose="020B0604020202020204" pitchFamily="34" charset="0"/>
            </a:endParaRPr>
          </a:p>
        </p:txBody>
      </p:sp>
    </p:spTree>
    <p:extLst>
      <p:ext uri="{BB962C8B-B14F-4D97-AF65-F5344CB8AC3E}">
        <p14:creationId xmlns:p14="http://schemas.microsoft.com/office/powerpoint/2010/main" val="26403411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9" name="Titre 8"/>
          <p:cNvSpPr>
            <a:spLocks noGrp="1"/>
          </p:cNvSpPr>
          <p:nvPr>
            <p:ph type="ctrTitle"/>
          </p:nvPr>
        </p:nvSpPr>
        <p:spPr>
          <a:xfrm>
            <a:off x="429064" y="3337560"/>
            <a:ext cx="6480048" cy="2301240"/>
          </a:xfrm>
        </p:spPr>
        <p:txBody>
          <a:bodyPr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smtClean="0"/>
              <a:t>Cliquez pour modifier le style du titre</a:t>
            </a:r>
            <a:endParaRPr lang="en-US"/>
          </a:p>
        </p:txBody>
      </p:sp>
      <p:sp>
        <p:nvSpPr>
          <p:cNvPr id="17" name="Sous-titr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fr-FR" smtClean="0"/>
              <a:t>Cliquez pour modifier le style des sous-titres du masque</a:t>
            </a:r>
            <a:endParaRPr lang="en-US"/>
          </a:p>
        </p:txBody>
      </p:sp>
      <p:sp>
        <p:nvSpPr>
          <p:cNvPr id="6" name="Espace réservé de la date 29"/>
          <p:cNvSpPr>
            <a:spLocks noGrp="1"/>
          </p:cNvSpPr>
          <p:nvPr>
            <p:ph type="dt" sz="half" idx="10"/>
          </p:nvPr>
        </p:nvSpPr>
        <p:spPr/>
        <p:txBody>
          <a:bodyPr/>
          <a:lstStyle>
            <a:lvl1pPr>
              <a:defRPr/>
            </a:lvl1pPr>
          </a:lstStyle>
          <a:p>
            <a:pPr>
              <a:defRPr/>
            </a:pPr>
            <a:endParaRPr lang="en-US"/>
          </a:p>
        </p:txBody>
      </p:sp>
      <p:sp>
        <p:nvSpPr>
          <p:cNvPr id="7" name="Espace réservé du pied de page 18"/>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8" name="Espace réservé du numéro de diapositive 26"/>
          <p:cNvSpPr>
            <a:spLocks noGrp="1"/>
          </p:cNvSpPr>
          <p:nvPr>
            <p:ph type="sldNum" sz="quarter" idx="12"/>
          </p:nvPr>
        </p:nvSpPr>
        <p:spPr/>
        <p:txBody>
          <a:bodyPr/>
          <a:lstStyle>
            <a:lvl1pPr>
              <a:defRPr/>
            </a:lvl1pPr>
          </a:lstStyle>
          <a:p>
            <a:pPr>
              <a:defRPr/>
            </a:pPr>
            <a:fld id="{7D6A9413-6BA5-4A57-9365-43A4C4A70C7D}" type="slidenum">
              <a:rPr lang="en-US" altLang="fr-FR"/>
              <a:pPr>
                <a:defRPr/>
              </a:pPr>
              <a:t>‹N°›</a:t>
            </a:fld>
            <a:endParaRPr lang="en-US" altLang="fr-FR"/>
          </a:p>
        </p:txBody>
      </p:sp>
    </p:spTree>
    <p:extLst>
      <p:ext uri="{BB962C8B-B14F-4D97-AF65-F5344CB8AC3E}">
        <p14:creationId xmlns:p14="http://schemas.microsoft.com/office/powerpoint/2010/main" val="35494979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lgn="l">
              <a:defRPr/>
            </a:lvl1pPr>
          </a:lstStyle>
          <a:p>
            <a:r>
              <a:rPr lang="fr-FR" smtClean="0"/>
              <a:t>Cliquez pour modifier le style du titre</a:t>
            </a:r>
            <a:endParaRPr lang="en-US"/>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6" name="Espace réservé du numéro de diapositive 17"/>
          <p:cNvSpPr>
            <a:spLocks noGrp="1"/>
          </p:cNvSpPr>
          <p:nvPr>
            <p:ph type="sldNum" sz="quarter" idx="12"/>
          </p:nvPr>
        </p:nvSpPr>
        <p:spPr/>
        <p:txBody>
          <a:bodyPr/>
          <a:lstStyle>
            <a:lvl1pPr>
              <a:defRPr/>
            </a:lvl1pPr>
          </a:lstStyle>
          <a:p>
            <a:pPr>
              <a:defRPr/>
            </a:pPr>
            <a:fld id="{B0D90453-E7E1-48BD-B3F4-4821367EECC5}" type="slidenum">
              <a:rPr lang="en-US" altLang="fr-FR"/>
              <a:pPr>
                <a:defRPr/>
              </a:pPr>
              <a:t>‹N°›</a:t>
            </a:fld>
            <a:endParaRPr lang="en-US" altLang="fr-FR"/>
          </a:p>
        </p:txBody>
      </p:sp>
    </p:spTree>
    <p:extLst>
      <p:ext uri="{BB962C8B-B14F-4D97-AF65-F5344CB8AC3E}">
        <p14:creationId xmlns:p14="http://schemas.microsoft.com/office/powerpoint/2010/main" val="3337696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4" name="Forme libre 3"/>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5" name="Forme libre 4"/>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2" name="Titr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fr-FR" smtClean="0"/>
              <a:t>Cliquez pour modifier le style du titre</a:t>
            </a:r>
            <a:endParaRPr lang="en-US"/>
          </a:p>
        </p:txBody>
      </p:sp>
      <p:sp>
        <p:nvSpPr>
          <p:cNvPr id="3" name="Espace réservé du texte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fr-FR" smtClean="0"/>
              <a:t>Cliquez pour modifier les styles du texte du masque</a:t>
            </a:r>
          </a:p>
        </p:txBody>
      </p:sp>
      <p:sp>
        <p:nvSpPr>
          <p:cNvPr id="6" name="Espace réservé de la date 3"/>
          <p:cNvSpPr>
            <a:spLocks noGrp="1"/>
          </p:cNvSpPr>
          <p:nvPr>
            <p:ph type="dt" sz="half" idx="10"/>
          </p:nvPr>
        </p:nvSpPr>
        <p:spPr/>
        <p:txBody>
          <a:bodyPr/>
          <a:lstStyle>
            <a:lvl1pPr>
              <a:defRPr/>
            </a:lvl1pPr>
          </a:lstStyle>
          <a:p>
            <a:pPr>
              <a:defRPr/>
            </a:pPr>
            <a:endParaRPr lang="en-US"/>
          </a:p>
        </p:txBody>
      </p:sp>
      <p:sp>
        <p:nvSpPr>
          <p:cNvPr id="7" name="Espace réservé du pied de page 4"/>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8" name="Espace réservé du numéro de diapositive 5"/>
          <p:cNvSpPr>
            <a:spLocks noGrp="1"/>
          </p:cNvSpPr>
          <p:nvPr>
            <p:ph type="sldNum" sz="quarter" idx="12"/>
          </p:nvPr>
        </p:nvSpPr>
        <p:spPr/>
        <p:txBody>
          <a:bodyPr/>
          <a:lstStyle>
            <a:lvl1pPr>
              <a:defRPr/>
            </a:lvl1pPr>
          </a:lstStyle>
          <a:p>
            <a:pPr>
              <a:defRPr/>
            </a:pPr>
            <a:fld id="{EE87EE33-7181-403B-B4C6-61E77F2108E0}" type="slidenum">
              <a:rPr lang="en-US" altLang="fr-FR"/>
              <a:pPr>
                <a:defRPr/>
              </a:pPr>
              <a:t>‹N°›</a:t>
            </a:fld>
            <a:endParaRPr lang="en-US" altLang="fr-FR"/>
          </a:p>
        </p:txBody>
      </p:sp>
    </p:spTree>
    <p:extLst>
      <p:ext uri="{BB962C8B-B14F-4D97-AF65-F5344CB8AC3E}">
        <p14:creationId xmlns:p14="http://schemas.microsoft.com/office/powerpoint/2010/main" val="3236055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7467600" cy="1143000"/>
          </a:xfrm>
        </p:spPr>
        <p:txBody>
          <a:bodyPr/>
          <a:lstStyle/>
          <a:p>
            <a:r>
              <a:rPr lang="fr-FR" smtClean="0"/>
              <a:t>Cliquez pour modifier le style du titre</a:t>
            </a:r>
            <a:endParaRPr lang="en-US"/>
          </a:p>
        </p:txBody>
      </p:sp>
      <p:sp>
        <p:nvSpPr>
          <p:cNvPr id="3" name="Espace réservé du contenu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u contenu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7" name="Espace réservé du numéro de diapositive 17"/>
          <p:cNvSpPr>
            <a:spLocks noGrp="1"/>
          </p:cNvSpPr>
          <p:nvPr>
            <p:ph type="sldNum" sz="quarter" idx="12"/>
          </p:nvPr>
        </p:nvSpPr>
        <p:spPr/>
        <p:txBody>
          <a:bodyPr/>
          <a:lstStyle>
            <a:lvl1pPr>
              <a:defRPr/>
            </a:lvl1pPr>
          </a:lstStyle>
          <a:p>
            <a:pPr>
              <a:defRPr/>
            </a:pPr>
            <a:fld id="{EF19FD9F-4076-48CF-89DC-67CDFD929E4D}" type="slidenum">
              <a:rPr lang="en-US" altLang="fr-FR"/>
              <a:pPr>
                <a:defRPr/>
              </a:pPr>
              <a:t>‹N°›</a:t>
            </a:fld>
            <a:endParaRPr lang="en-US" altLang="fr-FR"/>
          </a:p>
        </p:txBody>
      </p:sp>
    </p:spTree>
    <p:extLst>
      <p:ext uri="{BB962C8B-B14F-4D97-AF65-F5344CB8AC3E}">
        <p14:creationId xmlns:p14="http://schemas.microsoft.com/office/powerpoint/2010/main" val="4431431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8229600" cy="1143000"/>
          </a:xfrm>
        </p:spPr>
        <p:txBody>
          <a:bodyPr/>
          <a:lstStyle>
            <a:lvl1pPr>
              <a:defRPr/>
            </a:lvl1pPr>
          </a:lstStyle>
          <a:p>
            <a:r>
              <a:rPr lang="fr-FR" smtClean="0"/>
              <a:t>Cliquez pour modifier le style du titre</a:t>
            </a:r>
            <a:endParaRPr lang="en-US"/>
          </a:p>
        </p:txBody>
      </p:sp>
      <p:sp>
        <p:nvSpPr>
          <p:cNvPr id="3" name="Espace réservé du texte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smtClean="0"/>
              <a:t>Cliquez pour modifier les styles du texte du masque</a:t>
            </a:r>
          </a:p>
        </p:txBody>
      </p:sp>
      <p:sp>
        <p:nvSpPr>
          <p:cNvPr id="4" name="Espace réservé du texte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fr-FR" smtClean="0"/>
              <a:t>Cliquez pour modifier les styles du texte du masque</a:t>
            </a:r>
          </a:p>
        </p:txBody>
      </p:sp>
      <p:sp>
        <p:nvSpPr>
          <p:cNvPr id="5" name="Espace réservé du contenu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contenu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7" name="Espace réservé de la date 9"/>
          <p:cNvSpPr>
            <a:spLocks noGrp="1"/>
          </p:cNvSpPr>
          <p:nvPr>
            <p:ph type="dt" sz="half" idx="10"/>
          </p:nvPr>
        </p:nvSpPr>
        <p:spPr/>
        <p:txBody>
          <a:bodyPr/>
          <a:lstStyle>
            <a:lvl1pPr>
              <a:defRPr/>
            </a:lvl1pPr>
          </a:lstStyle>
          <a:p>
            <a:pPr>
              <a:defRPr/>
            </a:pPr>
            <a:endParaRPr lang="en-US"/>
          </a:p>
        </p:txBody>
      </p:sp>
      <p:sp>
        <p:nvSpPr>
          <p:cNvPr id="8" name="Espace réservé du pied de page 21"/>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9" name="Espace réservé du numéro de diapositive 17"/>
          <p:cNvSpPr>
            <a:spLocks noGrp="1"/>
          </p:cNvSpPr>
          <p:nvPr>
            <p:ph type="sldNum" sz="quarter" idx="12"/>
          </p:nvPr>
        </p:nvSpPr>
        <p:spPr/>
        <p:txBody>
          <a:bodyPr/>
          <a:lstStyle>
            <a:lvl1pPr>
              <a:defRPr/>
            </a:lvl1pPr>
          </a:lstStyle>
          <a:p>
            <a:pPr>
              <a:defRPr/>
            </a:pPr>
            <a:fld id="{99B28248-C6F3-4BDF-BFCC-4AC5F0408D44}" type="slidenum">
              <a:rPr lang="en-US" altLang="fr-FR"/>
              <a:pPr>
                <a:defRPr/>
              </a:pPr>
              <a:t>‹N°›</a:t>
            </a:fld>
            <a:endParaRPr lang="en-US" altLang="fr-FR"/>
          </a:p>
        </p:txBody>
      </p:sp>
    </p:spTree>
    <p:extLst>
      <p:ext uri="{BB962C8B-B14F-4D97-AF65-F5344CB8AC3E}">
        <p14:creationId xmlns:p14="http://schemas.microsoft.com/office/powerpoint/2010/main" val="365357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a:xfrm>
            <a:off x="457200" y="274320"/>
            <a:ext cx="7470648" cy="1143000"/>
          </a:xfrm>
        </p:spPr>
        <p:txBody>
          <a:bodyPr/>
          <a:lstStyle>
            <a:lvl1pPr algn="l">
              <a:defRPr sz="4600"/>
            </a:lvl1pPr>
          </a:lstStyle>
          <a:p>
            <a:r>
              <a:rPr lang="fr-FR" smtClean="0"/>
              <a:t>Cliquez pour modifier le style du titre</a:t>
            </a:r>
            <a:endParaRPr lang="en-US"/>
          </a:p>
        </p:txBody>
      </p:sp>
      <p:sp>
        <p:nvSpPr>
          <p:cNvPr id="3" name="Espace réservé de la date 9"/>
          <p:cNvSpPr>
            <a:spLocks noGrp="1"/>
          </p:cNvSpPr>
          <p:nvPr>
            <p:ph type="dt" sz="half" idx="10"/>
          </p:nvPr>
        </p:nvSpPr>
        <p:spPr/>
        <p:txBody>
          <a:bodyPr/>
          <a:lstStyle>
            <a:lvl1pPr>
              <a:defRPr/>
            </a:lvl1pPr>
          </a:lstStyle>
          <a:p>
            <a:pPr>
              <a:defRPr/>
            </a:pPr>
            <a:endParaRPr lang="en-US"/>
          </a:p>
        </p:txBody>
      </p:sp>
      <p:sp>
        <p:nvSpPr>
          <p:cNvPr id="4" name="Espace réservé du pied de page 21"/>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5" name="Espace réservé du numéro de diapositive 17"/>
          <p:cNvSpPr>
            <a:spLocks noGrp="1"/>
          </p:cNvSpPr>
          <p:nvPr>
            <p:ph type="sldNum" sz="quarter" idx="12"/>
          </p:nvPr>
        </p:nvSpPr>
        <p:spPr/>
        <p:txBody>
          <a:bodyPr/>
          <a:lstStyle>
            <a:lvl1pPr>
              <a:defRPr/>
            </a:lvl1pPr>
          </a:lstStyle>
          <a:p>
            <a:pPr>
              <a:defRPr/>
            </a:pPr>
            <a:fld id="{385A267F-DD5B-4605-86F0-28A09EE6B69F}" type="slidenum">
              <a:rPr lang="en-US" altLang="fr-FR"/>
              <a:pPr>
                <a:defRPr/>
              </a:pPr>
              <a:t>‹N°›</a:t>
            </a:fld>
            <a:endParaRPr lang="en-US" altLang="fr-FR"/>
          </a:p>
        </p:txBody>
      </p:sp>
    </p:spTree>
    <p:extLst>
      <p:ext uri="{BB962C8B-B14F-4D97-AF65-F5344CB8AC3E}">
        <p14:creationId xmlns:p14="http://schemas.microsoft.com/office/powerpoint/2010/main" val="4095423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9"/>
          <p:cNvSpPr>
            <a:spLocks noGrp="1"/>
          </p:cNvSpPr>
          <p:nvPr>
            <p:ph type="dt" sz="half" idx="10"/>
          </p:nvPr>
        </p:nvSpPr>
        <p:spPr/>
        <p:txBody>
          <a:bodyPr/>
          <a:lstStyle>
            <a:lvl1pPr>
              <a:defRPr/>
            </a:lvl1pPr>
          </a:lstStyle>
          <a:p>
            <a:pPr>
              <a:defRPr/>
            </a:pPr>
            <a:endParaRPr lang="en-US"/>
          </a:p>
        </p:txBody>
      </p:sp>
      <p:sp>
        <p:nvSpPr>
          <p:cNvPr id="3" name="Espace réservé du pied de page 21"/>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4" name="Espace réservé du numéro de diapositive 17"/>
          <p:cNvSpPr>
            <a:spLocks noGrp="1"/>
          </p:cNvSpPr>
          <p:nvPr>
            <p:ph type="sldNum" sz="quarter" idx="12"/>
          </p:nvPr>
        </p:nvSpPr>
        <p:spPr/>
        <p:txBody>
          <a:bodyPr/>
          <a:lstStyle>
            <a:lvl1pPr>
              <a:defRPr/>
            </a:lvl1pPr>
          </a:lstStyle>
          <a:p>
            <a:pPr>
              <a:defRPr/>
            </a:pPr>
            <a:fld id="{E606A5E6-F675-466D-8F33-936451DB3125}" type="slidenum">
              <a:rPr lang="en-US" altLang="fr-FR"/>
              <a:pPr>
                <a:defRPr/>
              </a:pPr>
              <a:t>‹N°›</a:t>
            </a:fld>
            <a:endParaRPr lang="en-US" altLang="fr-FR"/>
          </a:p>
        </p:txBody>
      </p:sp>
    </p:spTree>
    <p:extLst>
      <p:ext uri="{BB962C8B-B14F-4D97-AF65-F5344CB8AC3E}">
        <p14:creationId xmlns:p14="http://schemas.microsoft.com/office/powerpoint/2010/main" val="115956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fr-FR" smtClean="0"/>
              <a:t>Cliquez pour modifier le style du titre</a:t>
            </a:r>
            <a:endParaRPr lang="en-US"/>
          </a:p>
        </p:txBody>
      </p:sp>
      <p:sp>
        <p:nvSpPr>
          <p:cNvPr id="3" name="Espace réservé du texte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fr-FR" smtClean="0"/>
              <a:t>Cliquez pour modifier les styles du texte du masque</a:t>
            </a:r>
          </a:p>
        </p:txBody>
      </p:sp>
      <p:sp>
        <p:nvSpPr>
          <p:cNvPr id="4" name="Espace réservé du contenu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5" name="Espace réservé de la date 4"/>
          <p:cNvSpPr>
            <a:spLocks noGrp="1"/>
          </p:cNvSpPr>
          <p:nvPr>
            <p:ph type="dt" sz="half" idx="10"/>
          </p:nvPr>
        </p:nvSpPr>
        <p:spPr/>
        <p:txBody>
          <a:bodyPr/>
          <a:lstStyle>
            <a:lvl1pPr>
              <a:defRPr/>
            </a:lvl1pPr>
          </a:lstStyle>
          <a:p>
            <a:pPr>
              <a:defRPr/>
            </a:pPr>
            <a:endParaRPr lang="en-US"/>
          </a:p>
        </p:txBody>
      </p:sp>
      <p:sp>
        <p:nvSpPr>
          <p:cNvPr id="6" name="Espace réservé du pied de page 5"/>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7" name="Espace réservé du numéro de diapositive 6"/>
          <p:cNvSpPr>
            <a:spLocks noGrp="1"/>
          </p:cNvSpPr>
          <p:nvPr>
            <p:ph type="sldNum" sz="quarter" idx="12"/>
          </p:nvPr>
        </p:nvSpPr>
        <p:spPr>
          <a:xfrm>
            <a:off x="8156575" y="6421438"/>
            <a:ext cx="762000" cy="365125"/>
          </a:xfrm>
        </p:spPr>
        <p:txBody>
          <a:bodyPr/>
          <a:lstStyle>
            <a:lvl1pPr>
              <a:defRPr/>
            </a:lvl1pPr>
          </a:lstStyle>
          <a:p>
            <a:pPr>
              <a:defRPr/>
            </a:pPr>
            <a:fld id="{317010E9-F935-49A5-AE7F-5C4A47F0DC00}" type="slidenum">
              <a:rPr lang="en-US" altLang="fr-FR"/>
              <a:pPr>
                <a:defRPr/>
              </a:pPr>
              <a:t>‹N°›</a:t>
            </a:fld>
            <a:endParaRPr lang="en-US" altLang="fr-FR"/>
          </a:p>
        </p:txBody>
      </p:sp>
    </p:spTree>
    <p:extLst>
      <p:ext uri="{BB962C8B-B14F-4D97-AF65-F5344CB8AC3E}">
        <p14:creationId xmlns:p14="http://schemas.microsoft.com/office/powerpoint/2010/main" val="1035461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lang="fr-FR" smtClean="0"/>
              <a:t>Cliquez pour modifier le style du titre</a:t>
            </a:r>
            <a:endParaRPr lang="en-US"/>
          </a:p>
        </p:txBody>
      </p:sp>
      <p:sp>
        <p:nvSpPr>
          <p:cNvPr id="3" name="Espace réservé pour une image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fr-FR" noProof="0" smtClean="0"/>
              <a:t>Cliquez sur l'icône pour ajouter une image</a:t>
            </a:r>
            <a:endParaRPr lang="en-US" noProof="0" dirty="0"/>
          </a:p>
        </p:txBody>
      </p:sp>
      <p:sp>
        <p:nvSpPr>
          <p:cNvPr id="4" name="Espace réservé du texte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fr-FR" smtClean="0"/>
              <a:t>Cliquez pour modifier les styles du texte du masque</a:t>
            </a:r>
          </a:p>
        </p:txBody>
      </p:sp>
      <p:sp>
        <p:nvSpPr>
          <p:cNvPr id="5" name="Espace réservé de la date 9"/>
          <p:cNvSpPr>
            <a:spLocks noGrp="1"/>
          </p:cNvSpPr>
          <p:nvPr>
            <p:ph type="dt" sz="half" idx="10"/>
          </p:nvPr>
        </p:nvSpPr>
        <p:spPr/>
        <p:txBody>
          <a:bodyPr/>
          <a:lstStyle>
            <a:lvl1pPr>
              <a:defRPr/>
            </a:lvl1pPr>
          </a:lstStyle>
          <a:p>
            <a:pPr>
              <a:defRPr/>
            </a:pPr>
            <a:endParaRPr lang="en-US"/>
          </a:p>
        </p:txBody>
      </p:sp>
      <p:sp>
        <p:nvSpPr>
          <p:cNvPr id="6" name="Espace réservé du pied de page 21"/>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7" name="Espace réservé du numéro de diapositive 17"/>
          <p:cNvSpPr>
            <a:spLocks noGrp="1"/>
          </p:cNvSpPr>
          <p:nvPr>
            <p:ph type="sldNum" sz="quarter" idx="12"/>
          </p:nvPr>
        </p:nvSpPr>
        <p:spPr/>
        <p:txBody>
          <a:bodyPr/>
          <a:lstStyle>
            <a:lvl1pPr>
              <a:defRPr/>
            </a:lvl1pPr>
          </a:lstStyle>
          <a:p>
            <a:pPr>
              <a:defRPr/>
            </a:pPr>
            <a:fld id="{E0B83021-3C56-4451-B85A-F478B8C13B14}" type="slidenum">
              <a:rPr lang="en-US" altLang="fr-FR"/>
              <a:pPr>
                <a:defRPr/>
              </a:pPr>
              <a:t>‹N°›</a:t>
            </a:fld>
            <a:endParaRPr lang="en-US" altLang="fr-FR"/>
          </a:p>
        </p:txBody>
      </p:sp>
    </p:spTree>
    <p:extLst>
      <p:ext uri="{BB962C8B-B14F-4D97-AF65-F5344CB8AC3E}">
        <p14:creationId xmlns:p14="http://schemas.microsoft.com/office/powerpoint/2010/main" val="1365643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en-US"/>
          </a:p>
        </p:txBody>
      </p:sp>
      <p:sp>
        <p:nvSpPr>
          <p:cNvPr id="3" name="Espace réservé du texte vertical 2"/>
          <p:cNvSpPr>
            <a:spLocks noGrp="1"/>
          </p:cNvSpPr>
          <p:nvPr>
            <p:ph type="body" orient="vert" idx="1"/>
          </p:nvPr>
        </p:nvSpPr>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6" name="Espace réservé du numéro de diapositive 17"/>
          <p:cNvSpPr>
            <a:spLocks noGrp="1"/>
          </p:cNvSpPr>
          <p:nvPr>
            <p:ph type="sldNum" sz="quarter" idx="12"/>
          </p:nvPr>
        </p:nvSpPr>
        <p:spPr/>
        <p:txBody>
          <a:bodyPr/>
          <a:lstStyle>
            <a:lvl1pPr>
              <a:defRPr/>
            </a:lvl1pPr>
          </a:lstStyle>
          <a:p>
            <a:pPr>
              <a:defRPr/>
            </a:pPr>
            <a:fld id="{65406115-8125-4CA8-98C8-E99E815B5AE4}" type="slidenum">
              <a:rPr lang="en-US" altLang="fr-FR"/>
              <a:pPr>
                <a:defRPr/>
              </a:pPr>
              <a:t>‹N°›</a:t>
            </a:fld>
            <a:endParaRPr lang="en-US" altLang="fr-FR"/>
          </a:p>
        </p:txBody>
      </p:sp>
    </p:spTree>
    <p:extLst>
      <p:ext uri="{BB962C8B-B14F-4D97-AF65-F5344CB8AC3E}">
        <p14:creationId xmlns:p14="http://schemas.microsoft.com/office/powerpoint/2010/main" val="514844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Cliquez pour modifier le style du titre</a:t>
            </a:r>
            <a:endParaRPr lang="en-US"/>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4" name="Espace réservé de la date 9"/>
          <p:cNvSpPr>
            <a:spLocks noGrp="1"/>
          </p:cNvSpPr>
          <p:nvPr>
            <p:ph type="dt" sz="half" idx="10"/>
          </p:nvPr>
        </p:nvSpPr>
        <p:spPr/>
        <p:txBody>
          <a:bodyPr/>
          <a:lstStyle>
            <a:lvl1pPr>
              <a:defRPr/>
            </a:lvl1pPr>
          </a:lstStyle>
          <a:p>
            <a:pPr>
              <a:defRPr/>
            </a:pPr>
            <a:endParaRPr lang="en-US"/>
          </a:p>
        </p:txBody>
      </p:sp>
      <p:sp>
        <p:nvSpPr>
          <p:cNvPr id="5" name="Espace réservé du pied de page 21"/>
          <p:cNvSpPr>
            <a:spLocks noGrp="1"/>
          </p:cNvSpPr>
          <p:nvPr>
            <p:ph type="ftr" sz="quarter" idx="11"/>
          </p:nvPr>
        </p:nvSpPr>
        <p:spPr/>
        <p:txBody>
          <a:bodyPr/>
          <a:lstStyle>
            <a:lvl1pPr>
              <a:defRPr/>
            </a:lvl1pPr>
          </a:lstStyle>
          <a:p>
            <a:pPr>
              <a:defRPr/>
            </a:pPr>
            <a:r>
              <a:rPr lang="fr-FR"/>
              <a:t>Commande des machines   3.MCC     Ali NEJMI</a:t>
            </a:r>
            <a:endParaRPr lang="en-US"/>
          </a:p>
        </p:txBody>
      </p:sp>
      <p:sp>
        <p:nvSpPr>
          <p:cNvPr id="6" name="Espace réservé du numéro de diapositive 17"/>
          <p:cNvSpPr>
            <a:spLocks noGrp="1"/>
          </p:cNvSpPr>
          <p:nvPr>
            <p:ph type="sldNum" sz="quarter" idx="12"/>
          </p:nvPr>
        </p:nvSpPr>
        <p:spPr/>
        <p:txBody>
          <a:bodyPr/>
          <a:lstStyle>
            <a:lvl1pPr>
              <a:defRPr/>
            </a:lvl1pPr>
          </a:lstStyle>
          <a:p>
            <a:pPr>
              <a:defRPr/>
            </a:pPr>
            <a:fld id="{E7DB22E1-4EE3-47C9-8CD4-895C73CE6C13}" type="slidenum">
              <a:rPr lang="en-US" altLang="fr-FR"/>
              <a:pPr>
                <a:defRPr/>
              </a:pPr>
              <a:t>‹N°›</a:t>
            </a:fld>
            <a:endParaRPr lang="en-US" altLang="fr-FR"/>
          </a:p>
        </p:txBody>
      </p:sp>
    </p:spTree>
    <p:extLst>
      <p:ext uri="{BB962C8B-B14F-4D97-AF65-F5344CB8AC3E}">
        <p14:creationId xmlns:p14="http://schemas.microsoft.com/office/powerpoint/2010/main" val="649648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12" name="Forme libre 11"/>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hangingPunct="1">
              <a:defRPr/>
            </a:pPr>
            <a:endParaRPr lang="en-US"/>
          </a:p>
        </p:txBody>
      </p:sp>
      <p:sp>
        <p:nvSpPr>
          <p:cNvPr id="16" name="Forme libre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hangingPunct="1">
              <a:defRPr/>
            </a:pPr>
            <a:endParaRPr lang="en-US"/>
          </a:p>
        </p:txBody>
      </p:sp>
      <p:sp>
        <p:nvSpPr>
          <p:cNvPr id="1028" name="Espace réservé du titre 8"/>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fr-FR" altLang="fr-FR" smtClean="0"/>
              <a:t>Cliquez pour modifier le style du titre</a:t>
            </a:r>
            <a:endParaRPr lang="en-US" altLang="fr-FR" smtClean="0"/>
          </a:p>
        </p:txBody>
      </p:sp>
      <p:sp>
        <p:nvSpPr>
          <p:cNvPr id="1029" name="Espace réservé du texte 29"/>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smtClean="0"/>
              <a:t>Cliquez pour modifier les styles du texte du masque</a:t>
            </a:r>
          </a:p>
          <a:p>
            <a:pPr lvl="1"/>
            <a:r>
              <a:rPr lang="fr-FR" altLang="fr-FR" smtClean="0"/>
              <a:t>Deuxième niveau</a:t>
            </a:r>
          </a:p>
          <a:p>
            <a:pPr lvl="2"/>
            <a:r>
              <a:rPr lang="fr-FR" altLang="fr-FR" smtClean="0"/>
              <a:t>Troisième niveau</a:t>
            </a:r>
          </a:p>
          <a:p>
            <a:pPr lvl="3"/>
            <a:r>
              <a:rPr lang="fr-FR" altLang="fr-FR" smtClean="0"/>
              <a:t>Quatrième niveau</a:t>
            </a:r>
          </a:p>
          <a:p>
            <a:pPr lvl="4"/>
            <a:r>
              <a:rPr lang="fr-FR" altLang="fr-FR" smtClean="0"/>
              <a:t>Cinquième niveau</a:t>
            </a:r>
            <a:endParaRPr lang="en-US" altLang="fr-FR" smtClean="0"/>
          </a:p>
        </p:txBody>
      </p:sp>
      <p:sp>
        <p:nvSpPr>
          <p:cNvPr id="10" name="Espace réservé de la date 9"/>
          <p:cNvSpPr>
            <a:spLocks noGrp="1"/>
          </p:cNvSpPr>
          <p:nvPr>
            <p:ph type="dt" sz="half" idx="2"/>
          </p:nvPr>
        </p:nvSpPr>
        <p:spPr>
          <a:xfrm>
            <a:off x="457200" y="6421438"/>
            <a:ext cx="2133600" cy="365125"/>
          </a:xfrm>
          <a:prstGeom prst="rect">
            <a:avLst/>
          </a:prstGeom>
        </p:spPr>
        <p:txBody>
          <a:bodyPr vert="horz" bIns="0" anchor="b"/>
          <a:lstStyle>
            <a:lvl1pPr algn="l" eaLnBrk="1" latinLnBrk="0" hangingPunct="1">
              <a:defRPr kumimoji="0" sz="1000">
                <a:solidFill>
                  <a:schemeClr val="tx2">
                    <a:shade val="50000"/>
                  </a:schemeClr>
                </a:solidFill>
                <a:latin typeface="Arial" pitchFamily="34" charset="0"/>
                <a:cs typeface="Arial" pitchFamily="34" charset="0"/>
              </a:defRPr>
            </a:lvl1pPr>
          </a:lstStyle>
          <a:p>
            <a:pPr>
              <a:defRPr/>
            </a:pPr>
            <a:endParaRPr lang="en-US"/>
          </a:p>
        </p:txBody>
      </p:sp>
      <p:sp>
        <p:nvSpPr>
          <p:cNvPr id="22" name="Espace réservé du pied de page 21"/>
          <p:cNvSpPr>
            <a:spLocks noGrp="1"/>
          </p:cNvSpPr>
          <p:nvPr>
            <p:ph type="ftr" sz="quarter" idx="3"/>
          </p:nvPr>
        </p:nvSpPr>
        <p:spPr>
          <a:xfrm>
            <a:off x="3124200" y="6421438"/>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Arial" pitchFamily="34" charset="0"/>
                <a:cs typeface="Arial" pitchFamily="34" charset="0"/>
              </a:defRPr>
            </a:lvl1pPr>
          </a:lstStyle>
          <a:p>
            <a:pPr>
              <a:defRPr/>
            </a:pPr>
            <a:r>
              <a:rPr lang="fr-FR"/>
              <a:t>Commande des machines   3.MCC     Ali NEJMI</a:t>
            </a:r>
            <a:endParaRPr lang="en-US"/>
          </a:p>
        </p:txBody>
      </p:sp>
      <p:sp>
        <p:nvSpPr>
          <p:cNvPr id="18" name="Espace réservé du numéro de diapositive 17"/>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a:solidFill>
                  <a:srgbClr val="292929"/>
                </a:solidFill>
              </a:defRPr>
            </a:lvl1pPr>
          </a:lstStyle>
          <a:p>
            <a:pPr>
              <a:defRPr/>
            </a:pPr>
            <a:fld id="{852082A7-A130-4A05-B86C-A6A716B40A41}" type="slidenum">
              <a:rPr lang="en-US" altLang="fr-FR"/>
              <a:pPr>
                <a:defRPr/>
              </a:pPr>
              <a:t>‹N°›</a:t>
            </a:fld>
            <a:endParaRPr lang="en-US" altLang="fr-FR"/>
          </a:p>
        </p:txBody>
      </p:sp>
    </p:spTree>
  </p:cSld>
  <p:clrMap bg1="lt1" tx1="dk1" bg2="lt2" tx2="dk2" accent1="accent1" accent2="accent2" accent3="accent3" accent4="accent4" accent5="accent5" accent6="accent6" hlink="hlink" folHlink="folHlink"/>
  <p:sldLayoutIdLst>
    <p:sldLayoutId id="2147484369" r:id="rId1"/>
    <p:sldLayoutId id="2147484361" r:id="rId2"/>
    <p:sldLayoutId id="2147484370" r:id="rId3"/>
    <p:sldLayoutId id="2147484362" r:id="rId4"/>
    <p:sldLayoutId id="2147484363" r:id="rId5"/>
    <p:sldLayoutId id="2147484364" r:id="rId6"/>
    <p:sldLayoutId id="2147484365" r:id="rId7"/>
    <p:sldLayoutId id="2147484371" r:id="rId8"/>
    <p:sldLayoutId id="2147484366" r:id="rId9"/>
    <p:sldLayoutId id="2147484367" r:id="rId10"/>
    <p:sldLayoutId id="2147484368" r:id="rId11"/>
  </p:sldLayoutIdLst>
  <p:hf hdr="0" dt="0"/>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Lucida Sans" pitchFamily="34" charset="0"/>
        </a:defRPr>
      </a:lvl2pPr>
      <a:lvl3pPr algn="l" rtl="0" eaLnBrk="0" fontAlgn="base" hangingPunct="0">
        <a:spcBef>
          <a:spcPct val="0"/>
        </a:spcBef>
        <a:spcAft>
          <a:spcPct val="0"/>
        </a:spcAft>
        <a:defRPr sz="4600">
          <a:solidFill>
            <a:schemeClr val="tx1"/>
          </a:solidFill>
          <a:latin typeface="Lucida Sans" pitchFamily="34" charset="0"/>
        </a:defRPr>
      </a:lvl3pPr>
      <a:lvl4pPr algn="l" rtl="0" eaLnBrk="0" fontAlgn="base" hangingPunct="0">
        <a:spcBef>
          <a:spcPct val="0"/>
        </a:spcBef>
        <a:spcAft>
          <a:spcPct val="0"/>
        </a:spcAft>
        <a:defRPr sz="4600">
          <a:solidFill>
            <a:schemeClr val="tx1"/>
          </a:solidFill>
          <a:latin typeface="Lucida Sans" pitchFamily="34" charset="0"/>
        </a:defRPr>
      </a:lvl4pPr>
      <a:lvl5pPr algn="l" rtl="0" eaLnBrk="0" fontAlgn="base" hangingPunct="0">
        <a:spcBef>
          <a:spcPct val="0"/>
        </a:spcBef>
        <a:spcAft>
          <a:spcPct val="0"/>
        </a:spcAft>
        <a:defRPr sz="4600">
          <a:solidFill>
            <a:schemeClr val="tx1"/>
          </a:solidFill>
          <a:latin typeface="Lucida Sans" pitchFamily="34" charset="0"/>
        </a:defRPr>
      </a:lvl5pPr>
      <a:lvl6pPr marL="457200" algn="l" rtl="0" fontAlgn="base">
        <a:spcBef>
          <a:spcPct val="0"/>
        </a:spcBef>
        <a:spcAft>
          <a:spcPct val="0"/>
        </a:spcAft>
        <a:defRPr sz="4600">
          <a:solidFill>
            <a:schemeClr val="tx1"/>
          </a:solidFill>
          <a:latin typeface="Lucida Sans" pitchFamily="34" charset="0"/>
        </a:defRPr>
      </a:lvl6pPr>
      <a:lvl7pPr marL="914400" algn="l" rtl="0" fontAlgn="base">
        <a:spcBef>
          <a:spcPct val="0"/>
        </a:spcBef>
        <a:spcAft>
          <a:spcPct val="0"/>
        </a:spcAft>
        <a:defRPr sz="4600">
          <a:solidFill>
            <a:schemeClr val="tx1"/>
          </a:solidFill>
          <a:latin typeface="Lucida Sans" pitchFamily="34" charset="0"/>
        </a:defRPr>
      </a:lvl7pPr>
      <a:lvl8pPr marL="1371600" algn="l" rtl="0" fontAlgn="base">
        <a:spcBef>
          <a:spcPct val="0"/>
        </a:spcBef>
        <a:spcAft>
          <a:spcPct val="0"/>
        </a:spcAft>
        <a:defRPr sz="4600">
          <a:solidFill>
            <a:schemeClr val="tx1"/>
          </a:solidFill>
          <a:latin typeface="Lucida Sans" pitchFamily="34" charset="0"/>
        </a:defRPr>
      </a:lvl8pPr>
      <a:lvl9pPr marL="1828800" algn="l" rtl="0" fontAlgn="base">
        <a:spcBef>
          <a:spcPct val="0"/>
        </a:spcBef>
        <a:spcAft>
          <a:spcPct val="0"/>
        </a:spcAft>
        <a:defRPr sz="4600">
          <a:solidFill>
            <a:schemeClr val="tx1"/>
          </a:solidFill>
          <a:latin typeface="Lucida Sans"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anose="020B0604020202020204"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hyperlink" Target="mailto:alinejmi@yahoo.fr" TargetMode="Externa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themeOverride" Target="../theme/themeOverride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hemeOverride" Target="../theme/themeOverride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hemeOverride" Target="../theme/themeOverride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hemeOverride" Target="../theme/themeOverride7.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1.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hemeOverride" Target="../theme/themeOverride8.xml"/><Relationship Id="rId6" Type="http://schemas.openxmlformats.org/officeDocument/2006/relationships/image" Target="../media/image28.png"/><Relationship Id="rId5" Type="http://schemas.openxmlformats.org/officeDocument/2006/relationships/image" Target="../media/image25.png"/><Relationship Id="rId4" Type="http://schemas.openxmlformats.org/officeDocument/2006/relationships/image" Target="../media/image1.jpeg"/></Relationships>
</file>

<file path=ppt/slides/_rels/slide23.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notesSlide" Target="../notesSlides/notesSlide16.xml"/><Relationship Id="rId7" Type="http://schemas.openxmlformats.org/officeDocument/2006/relationships/image" Target="../media/image31.emf"/><Relationship Id="rId2" Type="http://schemas.openxmlformats.org/officeDocument/2006/relationships/slideLayout" Target="../slideLayouts/slideLayout7.xml"/><Relationship Id="rId1" Type="http://schemas.openxmlformats.org/officeDocument/2006/relationships/themeOverride" Target="../theme/themeOverride9.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1.jpeg"/><Relationship Id="rId9" Type="http://schemas.openxmlformats.org/officeDocument/2006/relationships/image" Target="../media/image3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hemeOverride" Target="../theme/themeOverride1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1.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hemeOverride" Target="../theme/themeOverride1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1.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hemeOverride" Target="../theme/themeOverride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hemeOverride" Target="../theme/themeOverride13.xml"/><Relationship Id="rId4" Type="http://schemas.openxmlformats.org/officeDocument/2006/relationships/image" Target="../media/image1.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44.wmf"/><Relationship Id="rId3" Type="http://schemas.openxmlformats.org/officeDocument/2006/relationships/notesSlide" Target="../notesSlides/notesSlide23.xml"/><Relationship Id="rId7" Type="http://schemas.openxmlformats.org/officeDocument/2006/relationships/image" Target="../media/image43.wmf"/><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image" Target="../media/image42.wmf"/><Relationship Id="rId5" Type="http://schemas.openxmlformats.org/officeDocument/2006/relationships/image" Target="../media/image41.wmf"/><Relationship Id="rId4"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1.jpeg"/><Relationship Id="rId5" Type="http://schemas.openxmlformats.org/officeDocument/2006/relationships/image" Target="../media/image47.wmf"/><Relationship Id="rId4" Type="http://schemas.openxmlformats.org/officeDocument/2006/relationships/image" Target="../media/image46.wmf"/></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hemeOverride" Target="../theme/themeOverride14.xml"/><Relationship Id="rId6" Type="http://schemas.openxmlformats.org/officeDocument/2006/relationships/image" Target="../media/image48.wmf"/><Relationship Id="rId5" Type="http://schemas.openxmlformats.org/officeDocument/2006/relationships/image" Target="../media/image46.wmf"/><Relationship Id="rId4" Type="http://schemas.openxmlformats.org/officeDocument/2006/relationships/image" Target="../media/image1.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49.wmf"/><Relationship Id="rId2" Type="http://schemas.openxmlformats.org/officeDocument/2006/relationships/vmlDrawing" Target="../drawings/vmlDrawing2.vml"/><Relationship Id="rId1" Type="http://schemas.openxmlformats.org/officeDocument/2006/relationships/themeOverride" Target="../theme/themeOverride15.xml"/><Relationship Id="rId6" Type="http://schemas.openxmlformats.org/officeDocument/2006/relationships/oleObject" Target="../embeddings/oleObject2.bin"/><Relationship Id="rId5" Type="http://schemas.openxmlformats.org/officeDocument/2006/relationships/image" Target="../media/image1.jpeg"/><Relationship Id="rId4" Type="http://schemas.openxmlformats.org/officeDocument/2006/relationships/notesSlide" Target="../notesSlides/notesSlide26.xml"/></Relationships>
</file>

<file path=ppt/slides/_rels/slide34.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notesSlide" Target="../notesSlides/notesSlide27.xml"/><Relationship Id="rId7" Type="http://schemas.openxmlformats.org/officeDocument/2006/relationships/image" Target="../media/image51.wmf"/><Relationship Id="rId2" Type="http://schemas.openxmlformats.org/officeDocument/2006/relationships/slideLayout" Target="../slideLayouts/slideLayout7.xml"/><Relationship Id="rId1" Type="http://schemas.openxmlformats.org/officeDocument/2006/relationships/themeOverride" Target="../theme/themeOverride16.xml"/><Relationship Id="rId6" Type="http://schemas.openxmlformats.org/officeDocument/2006/relationships/image" Target="../media/image49.wmf"/><Relationship Id="rId5" Type="http://schemas.openxmlformats.org/officeDocument/2006/relationships/image" Target="../media/image50.wmf"/><Relationship Id="rId4" Type="http://schemas.openxmlformats.org/officeDocument/2006/relationships/image" Target="../media/image1.jpeg"/><Relationship Id="rId9" Type="http://schemas.openxmlformats.org/officeDocument/2006/relationships/image" Target="../media/image53.w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4.xml"/><Relationship Id="rId1" Type="http://schemas.openxmlformats.org/officeDocument/2006/relationships/themeOverride" Target="../theme/themeOverride17.xml"/><Relationship Id="rId6" Type="http://schemas.openxmlformats.org/officeDocument/2006/relationships/image" Target="../media/image48.wmf"/><Relationship Id="rId5" Type="http://schemas.openxmlformats.org/officeDocument/2006/relationships/image" Target="../media/image46.wmf"/><Relationship Id="rId4" Type="http://schemas.openxmlformats.org/officeDocument/2006/relationships/image" Target="../media/image1.jpe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hemeOverride" Target="../theme/themeOverride18.xml"/><Relationship Id="rId6" Type="http://schemas.openxmlformats.org/officeDocument/2006/relationships/image" Target="../media/image48.wmf"/><Relationship Id="rId5" Type="http://schemas.openxmlformats.org/officeDocument/2006/relationships/image" Target="../media/image46.wmf"/><Relationship Id="rId4" Type="http://schemas.openxmlformats.org/officeDocument/2006/relationships/image" Target="../media/image1.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themeOverride" Target="../theme/themeOverride19.xml"/><Relationship Id="rId4" Type="http://schemas.openxmlformats.org/officeDocument/2006/relationships/image" Target="../media/image1.jpe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hemeOverride" Target="../theme/themeOverride20.xml"/><Relationship Id="rId4" Type="http://schemas.openxmlformats.org/officeDocument/2006/relationships/image" Target="../media/image1.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4.xml"/><Relationship Id="rId1" Type="http://schemas.openxmlformats.org/officeDocument/2006/relationships/themeOverride" Target="../theme/themeOverride2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1.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hemeOverride" Target="../theme/themeOverride22.xml"/><Relationship Id="rId4" Type="http://schemas.openxmlformats.org/officeDocument/2006/relationships/image" Target="../media/image1.jpe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hemeOverride" Target="../theme/themeOverride23.xml"/><Relationship Id="rId5" Type="http://schemas.openxmlformats.org/officeDocument/2006/relationships/image" Target="../media/image56.png"/><Relationship Id="rId4" Type="http://schemas.openxmlformats.org/officeDocument/2006/relationships/image" Target="../media/image1.jpe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hemeOverride" Target="../theme/themeOverride24.xml"/><Relationship Id="rId6" Type="http://schemas.openxmlformats.org/officeDocument/2006/relationships/image" Target="../media/image58.wmf"/><Relationship Id="rId5" Type="http://schemas.openxmlformats.org/officeDocument/2006/relationships/image" Target="../media/image57.wmf"/><Relationship Id="rId4" Type="http://schemas.openxmlformats.org/officeDocument/2006/relationships/image" Target="../media/image1.jpe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hemeOverride" Target="../theme/themeOverride25.xml"/><Relationship Id="rId4" Type="http://schemas.openxmlformats.org/officeDocument/2006/relationships/image" Target="../media/image1.jpe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hemeOverride" Target="../theme/themeOverride26.xml"/><Relationship Id="rId4" Type="http://schemas.openxmlformats.org/officeDocument/2006/relationships/image" Target="../media/image1.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hemeOverride" Target="../theme/themeOverride27.xml"/><Relationship Id="rId4" Type="http://schemas.openxmlformats.org/officeDocument/2006/relationships/image" Target="../media/image1.jpe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59.wmf"/><Relationship Id="rId2" Type="http://schemas.openxmlformats.org/officeDocument/2006/relationships/vmlDrawing" Target="../drawings/vmlDrawing3.vml"/><Relationship Id="rId1" Type="http://schemas.openxmlformats.org/officeDocument/2006/relationships/themeOverride" Target="../theme/themeOverride28.xml"/><Relationship Id="rId6" Type="http://schemas.openxmlformats.org/officeDocument/2006/relationships/oleObject" Target="../embeddings/oleObject3.bin"/><Relationship Id="rId5" Type="http://schemas.openxmlformats.org/officeDocument/2006/relationships/image" Target="../media/image1.jpeg"/><Relationship Id="rId4" Type="http://schemas.openxmlformats.org/officeDocument/2006/relationships/notesSlide" Target="../notesSlides/notesSlide39.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hemeOverride" Target="../theme/themeOverride29.xml"/><Relationship Id="rId4" Type="http://schemas.openxmlformats.org/officeDocument/2006/relationships/image" Target="../media/image1.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hemeOverride" Target="../theme/themeOverride30.xml"/><Relationship Id="rId4" Type="http://schemas.openxmlformats.org/officeDocument/2006/relationships/image" Target="../media/image1.jpe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hemeOverride" Target="../theme/themeOverride31.xml"/><Relationship Id="rId4" Type="http://schemas.openxmlformats.org/officeDocument/2006/relationships/image" Target="../media/image1.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hemeOverride" Target="../theme/themeOverride32.xml"/><Relationship Id="rId4" Type="http://schemas.openxmlformats.org/officeDocument/2006/relationships/image" Target="../media/image1.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hemeOverride" Target="../theme/themeOverride33.xml"/><Relationship Id="rId4" Type="http://schemas.openxmlformats.org/officeDocument/2006/relationships/image" Target="../media/image1.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themeOverride" Target="../theme/themeOverride34.xml"/><Relationship Id="rId5" Type="http://schemas.openxmlformats.org/officeDocument/2006/relationships/image" Target="../media/image60.jpeg"/><Relationship Id="rId4" Type="http://schemas.openxmlformats.org/officeDocument/2006/relationships/image" Target="../media/image1.jpe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themeOverride" Target="../theme/themeOverride35.xml"/><Relationship Id="rId4" Type="http://schemas.openxmlformats.org/officeDocument/2006/relationships/image" Target="../media/image1.jpe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themeOverride" Target="../theme/themeOverride36.xml"/><Relationship Id="rId4" Type="http://schemas.openxmlformats.org/officeDocument/2006/relationships/image" Target="../media/image1.jpe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7.xml"/><Relationship Id="rId1" Type="http://schemas.openxmlformats.org/officeDocument/2006/relationships/themeOverride" Target="../theme/themeOverride37.xml"/><Relationship Id="rId4" Type="http://schemas.openxmlformats.org/officeDocument/2006/relationships/image" Target="../media/image1.jpe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7.xml"/><Relationship Id="rId1" Type="http://schemas.openxmlformats.org/officeDocument/2006/relationships/themeOverride" Target="../theme/themeOverride38.xml"/><Relationship Id="rId4" Type="http://schemas.openxmlformats.org/officeDocument/2006/relationships/image" Target="../media/image1.jpe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7.xml"/><Relationship Id="rId1" Type="http://schemas.openxmlformats.org/officeDocument/2006/relationships/themeOverride" Target="../theme/themeOverride39.xml"/><Relationship Id="rId4" Type="http://schemas.openxmlformats.org/officeDocument/2006/relationships/image" Target="../media/image1.jpe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7.xml"/><Relationship Id="rId1" Type="http://schemas.openxmlformats.org/officeDocument/2006/relationships/themeOverride" Target="../theme/themeOverride40.xml"/><Relationship Id="rId4" Type="http://schemas.openxmlformats.org/officeDocument/2006/relationships/image" Target="../media/image1.jpeg"/></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7.xml"/><Relationship Id="rId1" Type="http://schemas.openxmlformats.org/officeDocument/2006/relationships/themeOverride" Target="../theme/themeOverride41.xml"/><Relationship Id="rId4" Type="http://schemas.openxmlformats.org/officeDocument/2006/relationships/image" Target="../media/image1.jpe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themeOverride" Target="../theme/themeOverride42.xml"/><Relationship Id="rId5" Type="http://schemas.openxmlformats.org/officeDocument/2006/relationships/image" Target="../media/image61.png"/><Relationship Id="rId4" Type="http://schemas.openxmlformats.org/officeDocument/2006/relationships/image" Target="../media/image1.jpe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7.xml"/><Relationship Id="rId1" Type="http://schemas.openxmlformats.org/officeDocument/2006/relationships/themeOverride" Target="../theme/themeOverride43.xml"/><Relationship Id="rId4" Type="http://schemas.openxmlformats.org/officeDocument/2006/relationships/image" Target="../media/image1.jpe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7.xml"/><Relationship Id="rId1" Type="http://schemas.openxmlformats.org/officeDocument/2006/relationships/themeOverride" Target="../theme/themeOverride44.xml"/><Relationship Id="rId4" Type="http://schemas.openxmlformats.org/officeDocument/2006/relationships/image" Target="../media/image1.jpe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7.xml"/><Relationship Id="rId1" Type="http://schemas.openxmlformats.org/officeDocument/2006/relationships/themeOverride" Target="../theme/themeOverride45.xml"/><Relationship Id="rId4" Type="http://schemas.openxmlformats.org/officeDocument/2006/relationships/image" Target="../media/image1.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7.xml"/><Relationship Id="rId1" Type="http://schemas.openxmlformats.org/officeDocument/2006/relationships/themeOverride" Target="../theme/themeOverride46.xml"/><Relationship Id="rId4" Type="http://schemas.openxmlformats.org/officeDocument/2006/relationships/image" Target="../media/image1.jpeg"/></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63.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7.xml"/><Relationship Id="rId1" Type="http://schemas.openxmlformats.org/officeDocument/2006/relationships/themeOverride" Target="../theme/themeOverride47.xml"/><Relationship Id="rId4" Type="http://schemas.openxmlformats.org/officeDocument/2006/relationships/image" Target="../media/image1.jpe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7.xml"/><Relationship Id="rId1" Type="http://schemas.openxmlformats.org/officeDocument/2006/relationships/themeOverride" Target="../theme/themeOverride48.xml"/><Relationship Id="rId4" Type="http://schemas.openxmlformats.org/officeDocument/2006/relationships/image" Target="../media/image1.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themeOverride" Target="../theme/themeOverride49.xml"/><Relationship Id="rId4" Type="http://schemas.openxmlformats.org/officeDocument/2006/relationships/image" Target="../media/image1.jpe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7.xml"/><Relationship Id="rId1" Type="http://schemas.openxmlformats.org/officeDocument/2006/relationships/themeOverride" Target="../theme/themeOverride50.xml"/><Relationship Id="rId4" Type="http://schemas.openxmlformats.org/officeDocument/2006/relationships/image" Target="../media/image1.jpeg"/></Relationships>
</file>

<file path=ppt/slides/_rels/slide7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7.xml"/><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1.jpeg"/></Relationships>
</file>

<file path=ppt/slides/_rels/slide7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74700" y="850900"/>
            <a:ext cx="7772400" cy="1917700"/>
          </a:xfrm>
          <a:ln>
            <a:miter lim="800000"/>
            <a:headEnd/>
            <a:tailEnd/>
          </a:ln>
          <a:extLst/>
        </p:spPr>
        <p:txBody>
          <a:bodyPr/>
          <a:lstStyle/>
          <a:p>
            <a:pPr>
              <a:defRPr/>
            </a:pPr>
            <a:r>
              <a:rPr/>
              <a:t> </a:t>
            </a:r>
            <a:endParaRPr sz="3600"/>
          </a:p>
        </p:txBody>
      </p:sp>
      <p:sp>
        <p:nvSpPr>
          <p:cNvPr id="6147" name="Rectangle 3"/>
          <p:cNvSpPr>
            <a:spLocks noGrp="1" noChangeArrowheads="1"/>
          </p:cNvSpPr>
          <p:nvPr>
            <p:ph type="subTitle" idx="1"/>
          </p:nvPr>
        </p:nvSpPr>
        <p:spPr>
          <a:xfrm>
            <a:off x="573088" y="2005013"/>
            <a:ext cx="8342312" cy="738187"/>
          </a:xfrm>
        </p:spPr>
        <p:txBody>
          <a:bodyPr/>
          <a:lstStyle/>
          <a:p>
            <a:pPr>
              <a:lnSpc>
                <a:spcPct val="80000"/>
              </a:lnSpc>
            </a:pPr>
            <a:r>
              <a:rPr lang="en-US" altLang="fr-FR" sz="2400" smtClean="0"/>
              <a:t>MODULE 2</a:t>
            </a:r>
            <a:br>
              <a:rPr lang="en-US" altLang="fr-FR" sz="2400" smtClean="0"/>
            </a:br>
            <a:r>
              <a:rPr lang="en-US" altLang="fr-FR" sz="2400" smtClean="0"/>
              <a:t>ENTRAINEMENTS DU MOTEUR DC</a:t>
            </a:r>
          </a:p>
        </p:txBody>
      </p:sp>
      <p:sp>
        <p:nvSpPr>
          <p:cNvPr id="7" name="Espace réservé du pied de page 6"/>
          <p:cNvSpPr>
            <a:spLocks noGrp="1"/>
          </p:cNvSpPr>
          <p:nvPr>
            <p:ph type="ftr" sz="quarter" idx="11"/>
          </p:nvPr>
        </p:nvSpPr>
        <p:spPr/>
        <p:txBody>
          <a:bodyPr/>
          <a:lstStyle/>
          <a:p>
            <a:pPr>
              <a:defRPr/>
            </a:pPr>
            <a:r>
              <a:rPr lang="fr-FR"/>
              <a:t>Commande des machines   3.MCC     Ali NEJMI</a:t>
            </a:r>
            <a:endParaRPr lang="en-US" dirty="0"/>
          </a:p>
        </p:txBody>
      </p:sp>
      <p:sp>
        <p:nvSpPr>
          <p:cNvPr id="6149"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FA5BF60-1006-4C55-B9A6-BBAC2131C412}" type="slidenum">
              <a:rPr lang="en-US" altLang="fr-FR" sz="1000" smtClean="0">
                <a:solidFill>
                  <a:srgbClr val="292929"/>
                </a:solidFill>
                <a:latin typeface="Arial" panose="020B0604020202020204" pitchFamily="34" charset="0"/>
              </a:rPr>
              <a:pPr>
                <a:spcBef>
                  <a:spcPct val="0"/>
                </a:spcBef>
                <a:buClrTx/>
                <a:buSzTx/>
                <a:buFontTx/>
                <a:buNone/>
              </a:pPr>
              <a:t>1</a:t>
            </a:fld>
            <a:endParaRPr lang="en-US" altLang="fr-FR" sz="1000" smtClean="0">
              <a:solidFill>
                <a:srgbClr val="292929"/>
              </a:solidFill>
              <a:latin typeface="Arial" panose="020B0604020202020204" pitchFamily="34" charset="0"/>
            </a:endParaRPr>
          </a:p>
        </p:txBody>
      </p:sp>
      <p:sp>
        <p:nvSpPr>
          <p:cNvPr id="6150" name="Rectangle 4"/>
          <p:cNvSpPr>
            <a:spLocks noChangeArrowheads="1"/>
          </p:cNvSpPr>
          <p:nvPr/>
        </p:nvSpPr>
        <p:spPr bwMode="auto">
          <a:xfrm>
            <a:off x="182563" y="211138"/>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 name="Rectangle 2"/>
          <p:cNvSpPr txBox="1">
            <a:spLocks noChangeArrowheads="1"/>
          </p:cNvSpPr>
          <p:nvPr/>
        </p:nvSpPr>
        <p:spPr bwMode="auto">
          <a:xfrm>
            <a:off x="182563" y="1042738"/>
            <a:ext cx="8777287" cy="673768"/>
          </a:xfrm>
          <a:prstGeom prst="rect">
            <a:avLst/>
          </a:prstGeom>
          <a:noFill/>
          <a:ln w="9525">
            <a:noFill/>
            <a:miter lim="800000"/>
            <a:headEnd/>
            <a:tailEnd/>
          </a:ln>
          <a:effectLst/>
        </p:spPr>
        <p:txBody>
          <a:bodyPr anchor="ctr"/>
          <a:lstStyle/>
          <a:p>
            <a:pPr algn="r" eaLnBrk="1" hangingPunct="1">
              <a:defRPr/>
            </a:pPr>
            <a:r>
              <a:rPr lang="fr-FR" sz="2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Commande des machines </a:t>
            </a:r>
            <a:r>
              <a:rPr lang="fr-FR" sz="2800" b="1" cap="all" dirty="0" err="1">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rPr>
              <a:t>electriques</a:t>
            </a:r>
            <a:endParaRPr lang="fr-FR" sz="2800" b="1" cap="all"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latin typeface="+mj-lt"/>
              <a:ea typeface="+mj-ea"/>
              <a:cs typeface="+mj-cs"/>
            </a:endParaRPr>
          </a:p>
        </p:txBody>
      </p:sp>
      <p:sp>
        <p:nvSpPr>
          <p:cNvPr id="6152" name="Rectangle 4"/>
          <p:cNvSpPr>
            <a:spLocks noChangeArrowheads="1"/>
          </p:cNvSpPr>
          <p:nvPr/>
        </p:nvSpPr>
        <p:spPr bwMode="auto">
          <a:xfrm>
            <a:off x="2559050" y="3609975"/>
            <a:ext cx="45720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lnSpc>
                <a:spcPct val="80000"/>
              </a:lnSpc>
              <a:spcBef>
                <a:spcPct val="0"/>
              </a:spcBef>
              <a:buClrTx/>
              <a:buSzTx/>
              <a:buFontTx/>
              <a:buNone/>
            </a:pPr>
            <a:r>
              <a:rPr lang="en-US" altLang="fr-FR" sz="1600" dirty="0">
                <a:latin typeface="Arial" panose="020B0604020202020204" pitchFamily="34" charset="0"/>
              </a:rPr>
              <a:t>Ali NEJMI</a:t>
            </a:r>
          </a:p>
          <a:p>
            <a:pPr algn="ctr" eaLnBrk="1" hangingPunct="1">
              <a:lnSpc>
                <a:spcPct val="80000"/>
              </a:lnSpc>
              <a:spcBef>
                <a:spcPct val="0"/>
              </a:spcBef>
              <a:buClrTx/>
              <a:buSzTx/>
              <a:buFontTx/>
              <a:buNone/>
            </a:pPr>
            <a:r>
              <a:rPr lang="en-US" altLang="fr-FR" sz="1600" smtClean="0">
                <a:latin typeface="Arial" panose="020B0604020202020204" pitchFamily="34" charset="0"/>
              </a:rPr>
              <a:t>Version.2024</a:t>
            </a:r>
            <a:endParaRPr lang="en-US" altLang="fr-FR" sz="1600" dirty="0">
              <a:latin typeface="Arial" panose="020B0604020202020204" pitchFamily="34" charset="0"/>
            </a:endParaRPr>
          </a:p>
        </p:txBody>
      </p:sp>
      <p:sp>
        <p:nvSpPr>
          <p:cNvPr id="6153" name="ZoneTexte 6"/>
          <p:cNvSpPr txBox="1">
            <a:spLocks noChangeArrowheads="1"/>
          </p:cNvSpPr>
          <p:nvPr/>
        </p:nvSpPr>
        <p:spPr bwMode="auto">
          <a:xfrm>
            <a:off x="685800" y="4724400"/>
            <a:ext cx="8077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r">
              <a:buSzPct val="85000"/>
              <a:buFontTx/>
              <a:buNone/>
            </a:pPr>
            <a:r>
              <a:rPr lang="fr-FR" altLang="fr-FR" sz="1400" i="1">
                <a:solidFill>
                  <a:srgbClr val="FF0000"/>
                </a:solidFill>
                <a:latin typeface="Arial" panose="020B0604020202020204" pitchFamily="34" charset="0"/>
                <a:hlinkClick r:id="rId5"/>
              </a:rPr>
              <a:t>alinejmi@yahoo.fr</a:t>
            </a:r>
            <a:r>
              <a:rPr lang="fr-FR" altLang="fr-FR" sz="1400" i="1">
                <a:solidFill>
                  <a:srgbClr val="FF0000"/>
                </a:solidFill>
                <a:latin typeface="Arial" panose="020B0604020202020204" pitchFamily="34" charset="0"/>
              </a:rPr>
              <a:t>  </a:t>
            </a:r>
            <a:endParaRPr lang="fr-FR" altLang="fr-FR" sz="1400" i="1">
              <a:latin typeface="Arial" panose="020B0604020202020204" pitchFamily="34" charset="0"/>
            </a:endParaRPr>
          </a:p>
        </p:txBody>
      </p:sp>
      <p:sp>
        <p:nvSpPr>
          <p:cNvPr id="6154" name="Sous-titre 2"/>
          <p:cNvSpPr txBox="1">
            <a:spLocks/>
          </p:cNvSpPr>
          <p:nvPr/>
        </p:nvSpPr>
        <p:spPr bwMode="auto">
          <a:xfrm>
            <a:off x="182563" y="5430838"/>
            <a:ext cx="4038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Universté  Sultan  Moulay  Slimane</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Faculté  des  Sciences  et  Techniques,  Beni Mellal</a:t>
            </a:r>
          </a:p>
          <a:p>
            <a:pPr eaLnBrk="1" hangingPunct="1">
              <a:buClrTx/>
              <a:buSzTx/>
              <a:buFont typeface="Arial" panose="020B0604020202020204" pitchFamily="34" charset="0"/>
              <a:buNone/>
            </a:pPr>
            <a:r>
              <a:rPr lang="fr-FR" altLang="fr-FR" sz="1400">
                <a:solidFill>
                  <a:srgbClr val="0070C0"/>
                </a:solidFill>
                <a:latin typeface="Bradley Hand ITC" panose="03070402050302030203" pitchFamily="66" charset="0"/>
              </a:rPr>
              <a:t>Filière  Ingénieur  en  Génie  Electrique</a:t>
            </a:r>
          </a:p>
          <a:p>
            <a:pPr eaLnBrk="1" hangingPunct="1">
              <a:buClrTx/>
              <a:buSzTx/>
              <a:buFont typeface="Arial" panose="020B0604020202020204" pitchFamily="34" charset="0"/>
              <a:buNone/>
            </a:pPr>
            <a:endParaRPr lang="fr-FR" altLang="fr-FR" sz="1400">
              <a:solidFill>
                <a:srgbClr val="FF0000"/>
              </a:solidFill>
              <a:latin typeface="Bradley Hand ITC" panose="03070402050302030203" pitchFamily="66"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3" name="Espace réservé du numéro de diapositive 2"/>
          <p:cNvSpPr>
            <a:spLocks noGrp="1"/>
          </p:cNvSpPr>
          <p:nvPr>
            <p:ph type="sldNum" sz="quarter" idx="12"/>
          </p:nvPr>
        </p:nvSpPr>
        <p:spPr/>
        <p:txBody>
          <a:bodyPr/>
          <a:lstStyle/>
          <a:p>
            <a:pPr>
              <a:defRPr/>
            </a:pPr>
            <a:fld id="{E606A5E6-F675-466D-8F33-936451DB3125}" type="slidenum">
              <a:rPr lang="en-US" altLang="fr-FR" smtClean="0"/>
              <a:pPr>
                <a:defRPr/>
              </a:pPr>
              <a:t>2</a:t>
            </a:fld>
            <a:endParaRPr lang="en-US" altLang="fr-FR"/>
          </a:p>
        </p:txBody>
      </p:sp>
      <p:sp>
        <p:nvSpPr>
          <p:cNvPr id="4"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 name="Rectangle 2"/>
          <p:cNvSpPr txBox="1">
            <a:spLocks noChangeArrowheads="1"/>
          </p:cNvSpPr>
          <p:nvPr/>
        </p:nvSpPr>
        <p:spPr>
          <a:xfrm>
            <a:off x="2565400" y="274638"/>
            <a:ext cx="3987800" cy="1143000"/>
          </a:xfrm>
          <a:prstGeom prst="rect">
            <a:avLst/>
          </a:prstGeom>
        </p:spPr>
        <p:txBody>
          <a:bodyPr/>
          <a:lstStyle/>
          <a:p>
            <a:pPr algn="ctr">
              <a:defRPr/>
            </a:pPr>
            <a:r>
              <a:rPr lang="en-US" sz="3200" b="1" dirty="0" err="1" smtClean="0">
                <a:latin typeface="+mj-lt"/>
                <a:ea typeface="+mj-ea"/>
                <a:cs typeface="+mj-cs"/>
              </a:rPr>
              <a:t>Moteur</a:t>
            </a:r>
            <a:r>
              <a:rPr lang="en-US" sz="3200" b="1" dirty="0" smtClean="0">
                <a:latin typeface="+mj-lt"/>
                <a:ea typeface="+mj-ea"/>
                <a:cs typeface="+mj-cs"/>
              </a:rPr>
              <a:t> </a:t>
            </a:r>
            <a:r>
              <a:rPr lang="en-US" sz="3200" b="1" dirty="0" err="1" smtClean="0">
                <a:latin typeface="+mj-lt"/>
                <a:ea typeface="+mj-ea"/>
                <a:cs typeface="+mj-cs"/>
              </a:rPr>
              <a:t>linéaire</a:t>
            </a:r>
            <a:r>
              <a:rPr lang="en-US" sz="3200" b="1" dirty="0" smtClean="0">
                <a:latin typeface="+mj-lt"/>
                <a:ea typeface="+mj-ea"/>
                <a:cs typeface="+mj-cs"/>
              </a:rPr>
              <a:t> </a:t>
            </a:r>
            <a:r>
              <a:rPr lang="en-US" sz="3200" b="1" dirty="0" err="1" smtClean="0">
                <a:latin typeface="+mj-lt"/>
                <a:ea typeface="+mj-ea"/>
                <a:cs typeface="+mj-cs"/>
              </a:rPr>
              <a:t>primitif</a:t>
            </a:r>
            <a:endParaRPr lang="en-US" sz="3200" b="1" dirty="0">
              <a:latin typeface="+mj-lt"/>
              <a:ea typeface="+mj-ea"/>
              <a:cs typeface="+mj-cs"/>
            </a:endParaRPr>
          </a:p>
        </p:txBody>
      </p:sp>
      <p:pic>
        <p:nvPicPr>
          <p:cNvPr id="7" name="Image 6"/>
          <p:cNvPicPr>
            <a:picLocks noChangeAspect="1"/>
          </p:cNvPicPr>
          <p:nvPr/>
        </p:nvPicPr>
        <p:blipFill>
          <a:blip r:embed="rId2">
            <a:clrChange>
              <a:clrFrom>
                <a:srgbClr val="FFFFFF"/>
              </a:clrFrom>
              <a:clrTo>
                <a:srgbClr val="FFFFFF">
                  <a:alpha val="0"/>
                </a:srgbClr>
              </a:clrTo>
            </a:clrChange>
          </a:blip>
          <a:stretch>
            <a:fillRect/>
          </a:stretch>
        </p:blipFill>
        <p:spPr>
          <a:xfrm>
            <a:off x="2182481" y="4030329"/>
            <a:ext cx="4753638" cy="2391109"/>
          </a:xfrm>
          <a:prstGeom prst="rect">
            <a:avLst/>
          </a:prstGeom>
        </p:spPr>
      </p:pic>
      <p:sp>
        <p:nvSpPr>
          <p:cNvPr id="8" name="ZoneTexte 7"/>
          <p:cNvSpPr txBox="1"/>
          <p:nvPr/>
        </p:nvSpPr>
        <p:spPr>
          <a:xfrm>
            <a:off x="1180730" y="5041217"/>
            <a:ext cx="1118587" cy="369332"/>
          </a:xfrm>
          <a:prstGeom prst="rect">
            <a:avLst/>
          </a:prstGeom>
          <a:noFill/>
        </p:spPr>
        <p:txBody>
          <a:bodyPr wrap="square" rtlCol="0">
            <a:spAutoFit/>
          </a:bodyPr>
          <a:lstStyle/>
          <a:p>
            <a:r>
              <a:rPr lang="en-US" dirty="0" smtClean="0"/>
              <a:t>courant</a:t>
            </a:r>
            <a:endParaRPr lang="fr-FR" dirty="0"/>
          </a:p>
        </p:txBody>
      </p:sp>
      <p:sp>
        <p:nvSpPr>
          <p:cNvPr id="9" name="Rectangle 1"/>
          <p:cNvSpPr>
            <a:spLocks noChangeArrowheads="1"/>
          </p:cNvSpPr>
          <p:nvPr/>
        </p:nvSpPr>
        <p:spPr bwMode="auto">
          <a:xfrm>
            <a:off x="1382846" y="1952800"/>
            <a:ext cx="6376720" cy="1513243"/>
          </a:xfrm>
          <a:prstGeom prst="rect">
            <a:avLst/>
          </a:prstGeom>
          <a:noFill/>
          <a:ln>
            <a:noFill/>
          </a:ln>
          <a:effectLst/>
        </p:spPr>
        <p:txBody>
          <a:bodyPr vert="horz" wrap="square" lIns="0" tIns="-12696" rIns="0" bIns="-12696"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smtClean="0">
                <a:ln>
                  <a:noFill/>
                </a:ln>
                <a:solidFill>
                  <a:srgbClr val="202124"/>
                </a:solidFill>
                <a:effectLst/>
              </a:rPr>
              <a:t>La machine linéaire primitive est représentée graphiquement</a:t>
            </a:r>
            <a:r>
              <a:rPr kumimoji="0" lang="fr-FR" altLang="fr-FR" sz="2000" b="0" i="0" u="none" strike="noStrike" cap="none" normalizeH="0" dirty="0" smtClean="0">
                <a:ln>
                  <a:noFill/>
                </a:ln>
                <a:solidFill>
                  <a:srgbClr val="202124"/>
                </a:solidFill>
                <a:effectLst/>
              </a:rPr>
              <a:t> ci-après</a:t>
            </a:r>
            <a:r>
              <a:rPr kumimoji="0" lang="fr-FR" altLang="fr-FR" sz="2000" b="0" i="0" u="none" strike="noStrike" cap="none" normalizeH="0" baseline="0" dirty="0" smtClean="0">
                <a:ln>
                  <a:noFill/>
                </a:ln>
                <a:solidFill>
                  <a:srgbClr val="202124"/>
                </a:solidFill>
                <a:effectLst/>
              </a:rPr>
              <a:t>. Elle est constituée d'un conducteur de longueur active l qui peut se déplacer horizontalement perpendiculaire à un champ</a:t>
            </a:r>
            <a:r>
              <a:rPr kumimoji="0" lang="fr-FR" altLang="fr-FR" sz="2000" b="0" i="0" u="none" strike="noStrike" cap="none" normalizeH="0" dirty="0" smtClean="0">
                <a:ln>
                  <a:noFill/>
                </a:ln>
                <a:solidFill>
                  <a:srgbClr val="202124"/>
                </a:solidFill>
                <a:effectLst/>
              </a:rPr>
              <a:t> </a:t>
            </a:r>
            <a:r>
              <a:rPr kumimoji="0" lang="fr-FR" altLang="fr-FR" sz="2000" b="0" i="0" u="none" strike="noStrike" cap="none" normalizeH="0" baseline="0" dirty="0" smtClean="0">
                <a:ln>
                  <a:noFill/>
                </a:ln>
                <a:solidFill>
                  <a:srgbClr val="202124"/>
                </a:solidFill>
                <a:effectLst/>
              </a:rPr>
              <a:t>magnétique B.</a:t>
            </a:r>
            <a:r>
              <a:rPr kumimoji="0" lang="fr-FR" altLang="fr-FR" sz="2000" b="0" i="0" u="none" strike="noStrike" cap="none" normalizeH="0" baseline="0" dirty="0" smtClean="0">
                <a:ln>
                  <a:noFill/>
                </a:ln>
                <a:solidFill>
                  <a:schemeClr val="tx1"/>
                </a:solidFill>
                <a:effectLst/>
              </a:rPr>
              <a:t> </a:t>
            </a:r>
          </a:p>
        </p:txBody>
      </p:sp>
    </p:spTree>
    <p:extLst>
      <p:ext uri="{BB962C8B-B14F-4D97-AF65-F5344CB8AC3E}">
        <p14:creationId xmlns:p14="http://schemas.microsoft.com/office/powerpoint/2010/main" val="269243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3" name="Espace réservé du numéro de diapositive 2"/>
          <p:cNvSpPr>
            <a:spLocks noGrp="1"/>
          </p:cNvSpPr>
          <p:nvPr>
            <p:ph type="sldNum" sz="quarter" idx="12"/>
          </p:nvPr>
        </p:nvSpPr>
        <p:spPr/>
        <p:txBody>
          <a:bodyPr/>
          <a:lstStyle/>
          <a:p>
            <a:pPr>
              <a:defRPr/>
            </a:pPr>
            <a:fld id="{E606A5E6-F675-466D-8F33-936451DB3125}" type="slidenum">
              <a:rPr lang="en-US" altLang="fr-FR" smtClean="0"/>
              <a:pPr>
                <a:defRPr/>
              </a:pPr>
              <a:t>3</a:t>
            </a:fld>
            <a:endParaRPr lang="en-US" altLang="fr-FR"/>
          </a:p>
        </p:txBody>
      </p:sp>
      <p:sp>
        <p:nvSpPr>
          <p:cNvPr id="4"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 name="Rectangle 2"/>
          <p:cNvSpPr txBox="1">
            <a:spLocks noChangeArrowheads="1"/>
          </p:cNvSpPr>
          <p:nvPr/>
        </p:nvSpPr>
        <p:spPr>
          <a:xfrm>
            <a:off x="2565400" y="274638"/>
            <a:ext cx="3987800" cy="1143000"/>
          </a:xfrm>
          <a:prstGeom prst="rect">
            <a:avLst/>
          </a:prstGeom>
        </p:spPr>
        <p:txBody>
          <a:bodyPr/>
          <a:lstStyle/>
          <a:p>
            <a:pPr algn="ctr">
              <a:defRPr/>
            </a:pPr>
            <a:r>
              <a:rPr lang="en-US" sz="3200" b="1" dirty="0" err="1" smtClean="0">
                <a:latin typeface="+mj-lt"/>
                <a:ea typeface="+mj-ea"/>
                <a:cs typeface="+mj-cs"/>
              </a:rPr>
              <a:t>Moteur</a:t>
            </a:r>
            <a:r>
              <a:rPr lang="en-US" sz="3200" b="1" dirty="0" smtClean="0">
                <a:latin typeface="+mj-lt"/>
                <a:ea typeface="+mj-ea"/>
                <a:cs typeface="+mj-cs"/>
              </a:rPr>
              <a:t> </a:t>
            </a:r>
            <a:r>
              <a:rPr lang="en-US" sz="3200" b="1" dirty="0" err="1" smtClean="0">
                <a:latin typeface="+mj-lt"/>
                <a:ea typeface="+mj-ea"/>
                <a:cs typeface="+mj-cs"/>
              </a:rPr>
              <a:t>linéaire</a:t>
            </a:r>
            <a:r>
              <a:rPr lang="en-US" sz="3200" b="1" dirty="0" smtClean="0">
                <a:latin typeface="+mj-lt"/>
                <a:ea typeface="+mj-ea"/>
                <a:cs typeface="+mj-cs"/>
              </a:rPr>
              <a:t> </a:t>
            </a:r>
            <a:r>
              <a:rPr lang="en-US" sz="3200" b="1" dirty="0" err="1" smtClean="0">
                <a:latin typeface="+mj-lt"/>
                <a:ea typeface="+mj-ea"/>
                <a:cs typeface="+mj-cs"/>
              </a:rPr>
              <a:t>primitif</a:t>
            </a:r>
            <a:endParaRPr lang="en-US" sz="3200" b="1" dirty="0">
              <a:latin typeface="+mj-lt"/>
              <a:ea typeface="+mj-ea"/>
              <a:cs typeface="+mj-cs"/>
            </a:endParaRPr>
          </a:p>
        </p:txBody>
      </p:sp>
      <p:sp>
        <p:nvSpPr>
          <p:cNvPr id="6" name="Rectangle 1"/>
          <p:cNvSpPr>
            <a:spLocks noChangeArrowheads="1"/>
          </p:cNvSpPr>
          <p:nvPr/>
        </p:nvSpPr>
        <p:spPr bwMode="auto">
          <a:xfrm>
            <a:off x="958788" y="1556595"/>
            <a:ext cx="7194612" cy="2128796"/>
          </a:xfrm>
          <a:prstGeom prst="rect">
            <a:avLst/>
          </a:prstGeom>
          <a:noFill/>
          <a:ln>
            <a:noFill/>
          </a:ln>
          <a:effectLst/>
        </p:spPr>
        <p:txBody>
          <a:bodyPr vert="horz" wrap="square" lIns="0" tIns="-12696" rIns="0" bIns="-12696" numCol="1" anchor="ctr" anchorCtr="0" compatLnSpc="1">
            <a:prstTxWarp prst="textNoShape">
              <a:avLst/>
            </a:prstTxWarp>
            <a:spAutoFit/>
          </a:bodyPr>
          <a:lstStyle/>
          <a:p>
            <a:pPr lvl="0" algn="just"/>
            <a:r>
              <a:rPr kumimoji="0" lang="fr-FR" altLang="fr-FR" sz="2000" b="0" i="0" u="none" strike="noStrike" cap="none" normalizeH="0" baseline="0" dirty="0" smtClean="0">
                <a:ln>
                  <a:noFill/>
                </a:ln>
                <a:solidFill>
                  <a:srgbClr val="202124"/>
                </a:solidFill>
                <a:effectLst/>
              </a:rPr>
              <a:t>On suppose que le conducteur possède une résistance (R),est traversé par un courant I, et qu'il se déplace avec une vitesse (v) dans une direction perpendiculaire à la fois au courant</a:t>
            </a:r>
            <a:r>
              <a:rPr kumimoji="0" lang="fr-FR" altLang="fr-FR" sz="2000" b="0" i="0" u="none" strike="noStrike" cap="none" normalizeH="0" dirty="0" smtClean="0">
                <a:ln>
                  <a:noFill/>
                </a:ln>
                <a:solidFill>
                  <a:srgbClr val="202124"/>
                </a:solidFill>
                <a:effectLst/>
              </a:rPr>
              <a:t> et au champ B. U</a:t>
            </a:r>
            <a:r>
              <a:rPr kumimoji="0" lang="fr-FR" altLang="fr-FR" sz="2000" b="0" i="0" u="none" strike="noStrike" cap="none" normalizeH="0" baseline="0" dirty="0" smtClean="0">
                <a:ln>
                  <a:noFill/>
                </a:ln>
                <a:solidFill>
                  <a:srgbClr val="202124"/>
                </a:solidFill>
                <a:effectLst/>
              </a:rPr>
              <a:t>ne corde, attachée</a:t>
            </a:r>
            <a:r>
              <a:rPr kumimoji="0" lang="fr-FR" altLang="fr-FR" sz="2000" b="0" i="0" u="none" strike="noStrike" cap="none" normalizeH="0" dirty="0" smtClean="0">
                <a:ln>
                  <a:noFill/>
                </a:ln>
                <a:solidFill>
                  <a:srgbClr val="202124"/>
                </a:solidFill>
                <a:effectLst/>
              </a:rPr>
              <a:t> au conducteur, </a:t>
            </a:r>
            <a:r>
              <a:rPr kumimoji="0" lang="fr-FR" altLang="fr-FR" sz="2000" b="0" i="0" u="none" strike="noStrike" cap="none" normalizeH="0" baseline="0" dirty="0" smtClean="0">
                <a:ln>
                  <a:noFill/>
                </a:ln>
                <a:solidFill>
                  <a:srgbClr val="202124"/>
                </a:solidFill>
                <a:effectLst/>
              </a:rPr>
              <a:t>passe sur une poulie et supporte un poids (m) : la force de la corde agit comme une « charge » mécanique sur le conducteur. </a:t>
            </a:r>
            <a:r>
              <a:rPr lang="fr-FR" altLang="fr-FR" sz="2000" dirty="0">
                <a:solidFill>
                  <a:srgbClr val="202124"/>
                </a:solidFill>
              </a:rPr>
              <a:t>Le frottement est supposé nul.</a:t>
            </a:r>
            <a:r>
              <a:rPr kumimoji="0" lang="fr-FR" altLang="fr-FR" sz="2000" b="0" i="0" u="none" strike="noStrike" cap="none" normalizeH="0" baseline="0" dirty="0" smtClean="0">
                <a:ln>
                  <a:noFill/>
                </a:ln>
                <a:solidFill>
                  <a:schemeClr val="tx1"/>
                </a:solidFill>
                <a:effectLst/>
              </a:rPr>
              <a:t> </a:t>
            </a:r>
          </a:p>
        </p:txBody>
      </p:sp>
      <p:sp>
        <p:nvSpPr>
          <p:cNvPr id="10" name="Rectangle 2"/>
          <p:cNvSpPr>
            <a:spLocks noChangeArrowheads="1"/>
          </p:cNvSpPr>
          <p:nvPr/>
        </p:nvSpPr>
        <p:spPr bwMode="auto">
          <a:xfrm>
            <a:off x="958788" y="4212080"/>
            <a:ext cx="7194612" cy="897690"/>
          </a:xfrm>
          <a:prstGeom prst="rect">
            <a:avLst/>
          </a:prstGeom>
          <a:noFill/>
          <a:ln>
            <a:noFill/>
          </a:ln>
          <a:effectLst/>
        </p:spPr>
        <p:txBody>
          <a:bodyPr vert="horz" wrap="square" lIns="0" tIns="-12696" rIns="0" bIns="-12696"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smtClean="0">
                <a:ln>
                  <a:noFill/>
                </a:ln>
                <a:solidFill>
                  <a:schemeClr val="tx1"/>
                </a:solidFill>
                <a:effectLst/>
              </a:rPr>
              <a:t>On</a:t>
            </a:r>
            <a:r>
              <a:rPr kumimoji="0" lang="fr-FR" altLang="fr-FR" sz="2000" b="0" i="0" u="none" strike="noStrike" cap="none" normalizeH="0" dirty="0" smtClean="0">
                <a:ln>
                  <a:noFill/>
                </a:ln>
                <a:solidFill>
                  <a:schemeClr val="tx1"/>
                </a:solidFill>
                <a:effectLst/>
              </a:rPr>
              <a:t> s’intéresse au mouvement du conducteur, à la création de la force électromotrice et aux relations entre le courant et la force et entre la </a:t>
            </a:r>
            <a:r>
              <a:rPr kumimoji="0" lang="fr-FR" altLang="fr-FR" sz="2000" b="0" i="0" u="none" strike="noStrike" cap="none" normalizeH="0" dirty="0" err="1" smtClean="0">
                <a:ln>
                  <a:noFill/>
                </a:ln>
                <a:solidFill>
                  <a:schemeClr val="tx1"/>
                </a:solidFill>
                <a:effectLst/>
              </a:rPr>
              <a:t>fem</a:t>
            </a:r>
            <a:r>
              <a:rPr kumimoji="0" lang="fr-FR" altLang="fr-FR" sz="2000" b="0" i="0" u="none" strike="noStrike" cap="none" normalizeH="0" dirty="0" smtClean="0">
                <a:ln>
                  <a:noFill/>
                </a:ln>
                <a:solidFill>
                  <a:schemeClr val="tx1"/>
                </a:solidFill>
                <a:effectLst/>
              </a:rPr>
              <a:t> et la vitesse.</a:t>
            </a:r>
            <a:endParaRPr kumimoji="0" lang="fr-FR" altLang="fr-FR" sz="20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131313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3" name="Espace réservé du numéro de diapositive 2"/>
          <p:cNvSpPr>
            <a:spLocks noGrp="1"/>
          </p:cNvSpPr>
          <p:nvPr>
            <p:ph type="sldNum" sz="quarter" idx="12"/>
          </p:nvPr>
        </p:nvSpPr>
        <p:spPr/>
        <p:txBody>
          <a:bodyPr/>
          <a:lstStyle/>
          <a:p>
            <a:pPr>
              <a:defRPr/>
            </a:pPr>
            <a:fld id="{E606A5E6-F675-466D-8F33-936451DB3125}" type="slidenum">
              <a:rPr lang="en-US" altLang="fr-FR" smtClean="0"/>
              <a:pPr>
                <a:defRPr/>
              </a:pPr>
              <a:t>4</a:t>
            </a:fld>
            <a:endParaRPr lang="en-US" altLang="fr-FR"/>
          </a:p>
        </p:txBody>
      </p:sp>
      <p:sp>
        <p:nvSpPr>
          <p:cNvPr id="4"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 name="Rectangle 2"/>
          <p:cNvSpPr txBox="1">
            <a:spLocks noChangeArrowheads="1"/>
          </p:cNvSpPr>
          <p:nvPr/>
        </p:nvSpPr>
        <p:spPr>
          <a:xfrm>
            <a:off x="2565400" y="274638"/>
            <a:ext cx="3987800" cy="1143000"/>
          </a:xfrm>
          <a:prstGeom prst="rect">
            <a:avLst/>
          </a:prstGeom>
        </p:spPr>
        <p:txBody>
          <a:bodyPr/>
          <a:lstStyle/>
          <a:p>
            <a:pPr algn="ctr">
              <a:defRPr/>
            </a:pPr>
            <a:r>
              <a:rPr lang="fr-FR" sz="3200" b="1" dirty="0" smtClean="0">
                <a:latin typeface="+mj-lt"/>
                <a:ea typeface="+mj-ea"/>
                <a:cs typeface="+mj-cs"/>
              </a:rPr>
              <a:t>Moteur linéaire primitif</a:t>
            </a:r>
            <a:endParaRPr lang="fr-FR" sz="3200" b="1" dirty="0">
              <a:latin typeface="+mj-lt"/>
              <a:ea typeface="+mj-ea"/>
              <a:cs typeface="+mj-cs"/>
            </a:endParaRPr>
          </a:p>
        </p:txBody>
      </p:sp>
      <p:sp>
        <p:nvSpPr>
          <p:cNvPr id="6" name="Rectangle 1"/>
          <p:cNvSpPr>
            <a:spLocks noChangeArrowheads="1"/>
          </p:cNvSpPr>
          <p:nvPr/>
        </p:nvSpPr>
        <p:spPr bwMode="auto">
          <a:xfrm>
            <a:off x="1200270" y="2048119"/>
            <a:ext cx="7194612" cy="2128796"/>
          </a:xfrm>
          <a:prstGeom prst="rect">
            <a:avLst/>
          </a:prstGeom>
          <a:noFill/>
          <a:ln>
            <a:noFill/>
          </a:ln>
          <a:effectLst/>
        </p:spPr>
        <p:txBody>
          <a:bodyPr vert="horz" wrap="square" lIns="0" tIns="-12696" rIns="0" bIns="-12696" numCol="1" anchor="ctr" anchorCtr="0" compatLnSpc="1">
            <a:prstTxWarp prst="textNoShape">
              <a:avLst/>
            </a:prstTxWarp>
            <a:spAutoFit/>
          </a:bodyPr>
          <a:lstStyle/>
          <a:p>
            <a:pPr lvl="0" algn="just"/>
            <a:r>
              <a:rPr kumimoji="0" lang="fr-FR" altLang="fr-FR" sz="2000" b="0" i="0" u="sng" strike="noStrike" cap="none" normalizeH="0" baseline="0" dirty="0" smtClean="0">
                <a:ln>
                  <a:noFill/>
                </a:ln>
                <a:solidFill>
                  <a:schemeClr val="tx1"/>
                </a:solidFill>
                <a:effectLst/>
              </a:rPr>
              <a:t>Système</a:t>
            </a:r>
            <a:r>
              <a:rPr kumimoji="0" lang="fr-FR" altLang="fr-FR" sz="2000" b="0" i="0" u="sng" strike="noStrike" cap="none" normalizeH="0" dirty="0" smtClean="0">
                <a:ln>
                  <a:noFill/>
                </a:ln>
                <a:solidFill>
                  <a:schemeClr val="tx1"/>
                </a:solidFill>
                <a:effectLst/>
              </a:rPr>
              <a:t> au repos </a:t>
            </a:r>
            <a:r>
              <a:rPr kumimoji="0" lang="fr-FR" altLang="fr-FR" sz="2000" b="0" i="0" u="none" strike="noStrike" cap="none" normalizeH="0" dirty="0" smtClean="0">
                <a:ln>
                  <a:noFill/>
                </a:ln>
                <a:solidFill>
                  <a:schemeClr val="tx1"/>
                </a:solidFill>
                <a:effectLst/>
              </a:rPr>
              <a:t>:</a:t>
            </a:r>
          </a:p>
          <a:p>
            <a:pPr lvl="0" algn="just"/>
            <a:endParaRPr lang="fr-FR" altLang="fr-FR" sz="2000" baseline="0" dirty="0" smtClean="0"/>
          </a:p>
          <a:p>
            <a:pPr lvl="0" algn="just"/>
            <a:endParaRPr lang="fr-FR" altLang="fr-FR" sz="2000" dirty="0" smtClean="0"/>
          </a:p>
          <a:p>
            <a:pPr lvl="0" algn="just"/>
            <a:endParaRPr lang="fr-FR" altLang="fr-FR" sz="2000" dirty="0" smtClean="0"/>
          </a:p>
          <a:p>
            <a:pPr lvl="0" algn="just"/>
            <a:endParaRPr lang="fr-FR" altLang="fr-FR" sz="2000" dirty="0" smtClean="0"/>
          </a:p>
          <a:p>
            <a:pPr lvl="0" algn="just"/>
            <a:endParaRPr lang="fr-FR" altLang="fr-FR" sz="2000" baseline="0" dirty="0" smtClean="0"/>
          </a:p>
          <a:p>
            <a:pPr lvl="0" algn="just"/>
            <a:endParaRPr kumimoji="0" lang="fr-FR" altLang="fr-FR" sz="2000" b="0" i="0" u="none" strike="noStrike" cap="none" normalizeH="0" baseline="0" dirty="0" smtClean="0">
              <a:ln>
                <a:noFill/>
              </a:ln>
              <a:solidFill>
                <a:schemeClr val="tx1"/>
              </a:solidFill>
              <a:effectLst/>
            </a:endParaRPr>
          </a:p>
        </p:txBody>
      </p:sp>
      <mc:AlternateContent xmlns:mc="http://schemas.openxmlformats.org/markup-compatibility/2006" xmlns:a14="http://schemas.microsoft.com/office/drawing/2010/main">
        <mc:Choice Requires="a14">
          <p:sp>
            <p:nvSpPr>
              <p:cNvPr id="7" name="ZoneTexte 6"/>
              <p:cNvSpPr txBox="1"/>
              <p:nvPr/>
            </p:nvSpPr>
            <p:spPr>
              <a:xfrm>
                <a:off x="1701854" y="2799999"/>
                <a:ext cx="74049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𝑣</m:t>
                      </m:r>
                      <m:r>
                        <a:rPr lang="fr-FR" b="0" i="1" smtClean="0">
                          <a:latin typeface="Cambria Math" panose="02040503050406030204" pitchFamily="18" charset="0"/>
                        </a:rPr>
                        <m:t>=0</m:t>
                      </m:r>
                    </m:oMath>
                  </m:oMathPara>
                </a14:m>
                <a:endParaRPr lang="fr-FR" dirty="0"/>
              </a:p>
            </p:txBody>
          </p:sp>
        </mc:Choice>
        <mc:Fallback xmlns="">
          <p:sp>
            <p:nvSpPr>
              <p:cNvPr id="7" name="ZoneTexte 6"/>
              <p:cNvSpPr txBox="1">
                <a:spLocks noRot="1" noChangeAspect="1" noMove="1" noResize="1" noEditPoints="1" noAdjustHandles="1" noChangeArrowheads="1" noChangeShapeType="1" noTextEdit="1"/>
              </p:cNvSpPr>
              <p:nvPr/>
            </p:nvSpPr>
            <p:spPr>
              <a:xfrm>
                <a:off x="1701854" y="2799999"/>
                <a:ext cx="740494" cy="276999"/>
              </a:xfrm>
              <a:prstGeom prst="rect">
                <a:avLst/>
              </a:prstGeom>
              <a:blipFill>
                <a:blip r:embed="rId2"/>
                <a:stretch>
                  <a:fillRect b="-869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621955" y="3243610"/>
                <a:ext cx="11349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𝑃</m:t>
                          </m:r>
                        </m:e>
                        <m:sub>
                          <m:r>
                            <a:rPr lang="fr-FR" b="0" i="1" smtClean="0">
                              <a:latin typeface="Cambria Math" panose="02040503050406030204" pitchFamily="18" charset="0"/>
                            </a:rPr>
                            <m:t>𝑚</m:t>
                          </m:r>
                          <m:r>
                            <a:rPr lang="fr-FR" b="0" i="1" smtClean="0">
                              <a:latin typeface="Cambria Math" panose="02040503050406030204" pitchFamily="18" charset="0"/>
                            </a:rPr>
                            <m:t>é</m:t>
                          </m:r>
                          <m:r>
                            <a:rPr lang="fr-FR" b="0" i="1" smtClean="0">
                              <a:latin typeface="Cambria Math" panose="02040503050406030204" pitchFamily="18" charset="0"/>
                            </a:rPr>
                            <m:t>𝑐</m:t>
                          </m:r>
                        </m:sub>
                      </m:sSub>
                      <m:r>
                        <a:rPr lang="fr-FR" b="0" i="1" smtClean="0">
                          <a:latin typeface="Cambria Math" panose="02040503050406030204" pitchFamily="18" charset="0"/>
                        </a:rPr>
                        <m:t>=0</m:t>
                      </m:r>
                    </m:oMath>
                  </m:oMathPara>
                </a14:m>
                <a:endParaRPr lang="fr-FR" dirty="0"/>
              </a:p>
            </p:txBody>
          </p:sp>
        </mc:Choice>
        <mc:Fallback xmlns="">
          <p:sp>
            <p:nvSpPr>
              <p:cNvPr id="9" name="Rectangle 8"/>
              <p:cNvSpPr>
                <a:spLocks noRot="1" noChangeAspect="1" noMove="1" noResize="1" noEditPoints="1" noAdjustHandles="1" noChangeArrowheads="1" noChangeShapeType="1" noTextEdit="1"/>
              </p:cNvSpPr>
              <p:nvPr/>
            </p:nvSpPr>
            <p:spPr>
              <a:xfrm>
                <a:off x="1621955" y="3243610"/>
                <a:ext cx="1134926" cy="369332"/>
              </a:xfrm>
              <a:prstGeom prst="rect">
                <a:avLst/>
              </a:prstGeom>
              <a:blipFill>
                <a:blip r:embed="rId3"/>
                <a:stretch>
                  <a:fillRect b="-163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1495624" y="5613213"/>
                <a:ext cx="179388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𝑃</m:t>
                          </m:r>
                        </m:e>
                        <m:sub>
                          <m:r>
                            <a:rPr lang="fr-FR" b="0" i="1" smtClean="0">
                              <a:latin typeface="Cambria Math" panose="02040503050406030204" pitchFamily="18" charset="0"/>
                            </a:rPr>
                            <m:t>é</m:t>
                          </m:r>
                          <m:r>
                            <a:rPr lang="fr-FR" b="0" i="1" smtClean="0">
                              <a:latin typeface="Cambria Math" panose="02040503050406030204" pitchFamily="18" charset="0"/>
                            </a:rPr>
                            <m:t>𝑙</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𝑉</m:t>
                          </m:r>
                        </m:e>
                        <m:sub>
                          <m:r>
                            <a:rPr lang="fr-FR" b="0" i="1" smtClean="0">
                              <a:latin typeface="Cambria Math" panose="02040503050406030204" pitchFamily="18" charset="0"/>
                            </a:rPr>
                            <m:t>1</m:t>
                          </m:r>
                        </m:sub>
                      </m:sSub>
                      <m:r>
                        <a:rPr lang="fr-FR" b="0" i="1" smtClean="0">
                          <a:latin typeface="Cambria Math" panose="02040503050406030204" pitchFamily="18" charset="0"/>
                        </a:rPr>
                        <m:t>𝐼</m:t>
                      </m:r>
                      <m:r>
                        <a:rPr lang="fr-FR" b="0" i="1" smtClean="0">
                          <a:latin typeface="Cambria Math" panose="02040503050406030204" pitchFamily="18" charset="0"/>
                        </a:rPr>
                        <m:t>=</m:t>
                      </m:r>
                      <m:r>
                        <a:rPr lang="fr-FR" b="0" i="1" smtClean="0">
                          <a:latin typeface="Cambria Math" panose="02040503050406030204" pitchFamily="18" charset="0"/>
                        </a:rPr>
                        <m:t>𝑅</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𝐼</m:t>
                          </m:r>
                        </m:e>
                        <m:sup>
                          <m:r>
                            <a:rPr lang="fr-FR" b="0" i="1" smtClean="0">
                              <a:latin typeface="Cambria Math" panose="02040503050406030204" pitchFamily="18" charset="0"/>
                            </a:rPr>
                            <m:t>2</m:t>
                          </m:r>
                        </m:sup>
                      </m:sSup>
                    </m:oMath>
                  </m:oMathPara>
                </a14:m>
                <a:endParaRPr lang="fr-FR" dirty="0"/>
              </a:p>
            </p:txBody>
          </p:sp>
        </mc:Choice>
        <mc:Fallback xmlns="">
          <p:sp>
            <p:nvSpPr>
              <p:cNvPr id="11" name="Rectangle 10"/>
              <p:cNvSpPr>
                <a:spLocks noRot="1" noChangeAspect="1" noMove="1" noResize="1" noEditPoints="1" noAdjustHandles="1" noChangeArrowheads="1" noChangeShapeType="1" noTextEdit="1"/>
              </p:cNvSpPr>
              <p:nvPr/>
            </p:nvSpPr>
            <p:spPr>
              <a:xfrm>
                <a:off x="1495624" y="5613213"/>
                <a:ext cx="1793888" cy="369332"/>
              </a:xfrm>
              <a:prstGeom prst="rect">
                <a:avLst/>
              </a:prstGeom>
              <a:blipFill>
                <a:blip r:embed="rId4"/>
                <a:stretch>
                  <a:fillRect b="-3333"/>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621955" y="3807583"/>
                <a:ext cx="10201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𝐹</m:t>
                      </m:r>
                      <m:r>
                        <a:rPr lang="fr-FR" b="0" i="1" smtClean="0">
                          <a:latin typeface="Cambria Math" panose="02040503050406030204" pitchFamily="18" charset="0"/>
                        </a:rPr>
                        <m:t>=</m:t>
                      </m:r>
                      <m:r>
                        <a:rPr lang="fr-FR" b="0" i="1" smtClean="0">
                          <a:latin typeface="Cambria Math" panose="02040503050406030204" pitchFamily="18" charset="0"/>
                        </a:rPr>
                        <m:t>𝐵𝑙𝐼</m:t>
                      </m:r>
                    </m:oMath>
                  </m:oMathPara>
                </a14:m>
                <a:endParaRPr lang="fr-FR" dirty="0"/>
              </a:p>
            </p:txBody>
          </p:sp>
        </mc:Choice>
        <mc:Fallback xmlns="">
          <p:sp>
            <p:nvSpPr>
              <p:cNvPr id="12" name="Rectangle 11"/>
              <p:cNvSpPr>
                <a:spLocks noRot="1" noChangeAspect="1" noMove="1" noResize="1" noEditPoints="1" noAdjustHandles="1" noChangeArrowheads="1" noChangeShapeType="1" noTextEdit="1"/>
              </p:cNvSpPr>
              <p:nvPr/>
            </p:nvSpPr>
            <p:spPr>
              <a:xfrm>
                <a:off x="1621955" y="3807583"/>
                <a:ext cx="1020151" cy="369332"/>
              </a:xfrm>
              <a:prstGeom prst="rect">
                <a:avLst/>
              </a:prstGeom>
              <a:blipFill>
                <a:blip r:embed="rId5"/>
                <a:stretch>
                  <a:fillRect/>
                </a:stretch>
              </a:blipFill>
            </p:spPr>
            <p:txBody>
              <a:bodyPr/>
              <a:lstStyle/>
              <a:p>
                <a:r>
                  <a:rPr lang="fr-FR">
                    <a:noFill/>
                  </a:rPr>
                  <a:t> </a:t>
                </a:r>
              </a:p>
            </p:txBody>
          </p:sp>
        </mc:Fallback>
      </mc:AlternateContent>
      <p:sp>
        <p:nvSpPr>
          <p:cNvPr id="13" name="ZoneTexte 12"/>
          <p:cNvSpPr txBox="1"/>
          <p:nvPr/>
        </p:nvSpPr>
        <p:spPr>
          <a:xfrm>
            <a:off x="3338004" y="3236933"/>
            <a:ext cx="3551068" cy="369332"/>
          </a:xfrm>
          <a:prstGeom prst="rect">
            <a:avLst/>
          </a:prstGeom>
          <a:noFill/>
        </p:spPr>
        <p:txBody>
          <a:bodyPr wrap="square" rtlCol="0">
            <a:spAutoFit/>
          </a:bodyPr>
          <a:lstStyle/>
          <a:p>
            <a:r>
              <a:rPr lang="fr-FR" dirty="0" smtClean="0"/>
              <a:t>Aucun travail n’est fourni </a:t>
            </a:r>
            <a:endParaRPr lang="fr-FR" dirty="0"/>
          </a:p>
        </p:txBody>
      </p:sp>
      <p:sp>
        <p:nvSpPr>
          <p:cNvPr id="14" name="ZoneTexte 13"/>
          <p:cNvSpPr txBox="1"/>
          <p:nvPr/>
        </p:nvSpPr>
        <p:spPr>
          <a:xfrm>
            <a:off x="3275860" y="3807583"/>
            <a:ext cx="5119022" cy="369332"/>
          </a:xfrm>
          <a:prstGeom prst="rect">
            <a:avLst/>
          </a:prstGeom>
          <a:noFill/>
        </p:spPr>
        <p:txBody>
          <a:bodyPr wrap="square" rtlCol="0">
            <a:spAutoFit/>
          </a:bodyPr>
          <a:lstStyle/>
          <a:p>
            <a:r>
              <a:rPr lang="fr-FR" dirty="0" smtClean="0"/>
              <a:t>Force de Laplace développée par le conducteur</a:t>
            </a:r>
            <a:endParaRPr lang="fr-FR" dirty="0"/>
          </a:p>
        </p:txBody>
      </p:sp>
      <mc:AlternateContent xmlns:mc="http://schemas.openxmlformats.org/markup-compatibility/2006" xmlns:a14="http://schemas.microsoft.com/office/drawing/2010/main">
        <mc:Choice Requires="a14">
          <p:sp>
            <p:nvSpPr>
              <p:cNvPr id="15" name="Rectangle 14"/>
              <p:cNvSpPr/>
              <p:nvPr/>
            </p:nvSpPr>
            <p:spPr>
              <a:xfrm>
                <a:off x="1577729" y="4371556"/>
                <a:ext cx="166051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𝐹</m:t>
                      </m:r>
                      <m:r>
                        <a:rPr lang="fr-FR" b="0" i="1" smtClean="0">
                          <a:latin typeface="Cambria Math" panose="02040503050406030204" pitchFamily="18" charset="0"/>
                        </a:rPr>
                        <m:t>=</m:t>
                      </m:r>
                      <m:r>
                        <a:rPr lang="fr-FR" b="0" i="1" smtClean="0">
                          <a:latin typeface="Cambria Math" panose="02040503050406030204" pitchFamily="18" charset="0"/>
                        </a:rPr>
                        <m:t>𝐵𝑙𝐼</m:t>
                      </m:r>
                      <m:r>
                        <a:rPr lang="fr-FR" b="0" i="1" smtClean="0">
                          <a:latin typeface="Cambria Math" panose="02040503050406030204" pitchFamily="18" charset="0"/>
                        </a:rPr>
                        <m:t>=</m:t>
                      </m:r>
                      <m:r>
                        <a:rPr lang="fr-FR" b="0" i="1" smtClean="0">
                          <a:latin typeface="Cambria Math" panose="02040503050406030204" pitchFamily="18" charset="0"/>
                        </a:rPr>
                        <m:t>𝑚𝑔</m:t>
                      </m:r>
                    </m:oMath>
                  </m:oMathPara>
                </a14:m>
                <a:endParaRPr lang="fr-FR" dirty="0"/>
              </a:p>
            </p:txBody>
          </p:sp>
        </mc:Choice>
        <mc:Fallback xmlns="">
          <p:sp>
            <p:nvSpPr>
              <p:cNvPr id="15" name="Rectangle 14"/>
              <p:cNvSpPr>
                <a:spLocks noRot="1" noChangeAspect="1" noMove="1" noResize="1" noEditPoints="1" noAdjustHandles="1" noChangeArrowheads="1" noChangeShapeType="1" noTextEdit="1"/>
              </p:cNvSpPr>
              <p:nvPr/>
            </p:nvSpPr>
            <p:spPr>
              <a:xfrm>
                <a:off x="1577729" y="4371556"/>
                <a:ext cx="1660518" cy="369332"/>
              </a:xfrm>
              <a:prstGeom prst="rect">
                <a:avLst/>
              </a:prstGeom>
              <a:blipFill>
                <a:blip r:embed="rId6"/>
                <a:stretch>
                  <a:fillRect b="-8197"/>
                </a:stretch>
              </a:blipFill>
            </p:spPr>
            <p:txBody>
              <a:bodyPr/>
              <a:lstStyle/>
              <a:p>
                <a:r>
                  <a:rPr lang="fr-FR">
                    <a:noFill/>
                  </a:rPr>
                  <a:t> </a:t>
                </a:r>
              </a:p>
            </p:txBody>
          </p:sp>
        </mc:Fallback>
      </mc:AlternateContent>
      <p:sp>
        <p:nvSpPr>
          <p:cNvPr id="16" name="ZoneTexte 15"/>
          <p:cNvSpPr txBox="1"/>
          <p:nvPr/>
        </p:nvSpPr>
        <p:spPr>
          <a:xfrm>
            <a:off x="3547978" y="4375966"/>
            <a:ext cx="5119022" cy="369332"/>
          </a:xfrm>
          <a:prstGeom prst="rect">
            <a:avLst/>
          </a:prstGeom>
          <a:noFill/>
        </p:spPr>
        <p:txBody>
          <a:bodyPr wrap="square" rtlCol="0">
            <a:spAutoFit/>
          </a:bodyPr>
          <a:lstStyle/>
          <a:p>
            <a:r>
              <a:rPr lang="fr-FR" dirty="0" smtClean="0"/>
              <a:t>Équilibre des forces ( Loi de Newton)</a:t>
            </a:r>
            <a:endParaRPr lang="fr-FR" dirty="0"/>
          </a:p>
        </p:txBody>
      </p:sp>
      <p:sp>
        <p:nvSpPr>
          <p:cNvPr id="17" name="ZoneTexte 16"/>
          <p:cNvSpPr txBox="1"/>
          <p:nvPr/>
        </p:nvSpPr>
        <p:spPr>
          <a:xfrm>
            <a:off x="3567213" y="5613213"/>
            <a:ext cx="5119022" cy="646331"/>
          </a:xfrm>
          <a:prstGeom prst="rect">
            <a:avLst/>
          </a:prstGeom>
          <a:noFill/>
        </p:spPr>
        <p:txBody>
          <a:bodyPr wrap="square" rtlCol="0">
            <a:spAutoFit/>
          </a:bodyPr>
          <a:lstStyle/>
          <a:p>
            <a:r>
              <a:rPr lang="fr-FR" dirty="0" smtClean="0"/>
              <a:t>L’énergie électrique reçue par le conducteur est dissipée sous effet joule</a:t>
            </a:r>
            <a:endParaRPr lang="fr-FR" dirty="0"/>
          </a:p>
        </p:txBody>
      </p:sp>
      <p:sp>
        <p:nvSpPr>
          <p:cNvPr id="18" name="ZoneTexte 17"/>
          <p:cNvSpPr txBox="1"/>
          <p:nvPr/>
        </p:nvSpPr>
        <p:spPr>
          <a:xfrm>
            <a:off x="3275860" y="2724446"/>
            <a:ext cx="3551068" cy="369332"/>
          </a:xfrm>
          <a:prstGeom prst="rect">
            <a:avLst/>
          </a:prstGeom>
          <a:noFill/>
        </p:spPr>
        <p:txBody>
          <a:bodyPr wrap="square" rtlCol="0">
            <a:spAutoFit/>
          </a:bodyPr>
          <a:lstStyle/>
          <a:p>
            <a:r>
              <a:rPr lang="fr-FR" dirty="0" smtClean="0"/>
              <a:t>Système au repos</a:t>
            </a:r>
            <a:endParaRPr lang="fr-FR" dirty="0"/>
          </a:p>
        </p:txBody>
      </p:sp>
      <mc:AlternateContent xmlns:mc="http://schemas.openxmlformats.org/markup-compatibility/2006" xmlns:a14="http://schemas.microsoft.com/office/drawing/2010/main">
        <mc:Choice Requires="a14">
          <p:sp>
            <p:nvSpPr>
              <p:cNvPr id="19" name="Rectangle 18"/>
              <p:cNvSpPr/>
              <p:nvPr/>
            </p:nvSpPr>
            <p:spPr>
              <a:xfrm>
                <a:off x="1591081" y="4864574"/>
                <a:ext cx="984629" cy="5666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𝐼</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en-US" b="0" i="1" smtClean="0">
                              <a:latin typeface="Cambria Math" panose="02040503050406030204" pitchFamily="18" charset="0"/>
                            </a:rPr>
                            <m:t>𝑚𝑔</m:t>
                          </m:r>
                        </m:num>
                        <m:den>
                          <m:r>
                            <a:rPr lang="en-US" b="0" i="1" smtClean="0">
                              <a:latin typeface="Cambria Math" panose="02040503050406030204" pitchFamily="18" charset="0"/>
                            </a:rPr>
                            <m:t>𝐵𝑙</m:t>
                          </m:r>
                        </m:den>
                      </m:f>
                    </m:oMath>
                  </m:oMathPara>
                </a14:m>
                <a:endParaRPr lang="fr-FR" dirty="0"/>
              </a:p>
            </p:txBody>
          </p:sp>
        </mc:Choice>
        <mc:Fallback xmlns="">
          <p:sp>
            <p:nvSpPr>
              <p:cNvPr id="19" name="Rectangle 18"/>
              <p:cNvSpPr>
                <a:spLocks noRot="1" noChangeAspect="1" noMove="1" noResize="1" noEditPoints="1" noAdjustHandles="1" noChangeArrowheads="1" noChangeShapeType="1" noTextEdit="1"/>
              </p:cNvSpPr>
              <p:nvPr/>
            </p:nvSpPr>
            <p:spPr>
              <a:xfrm>
                <a:off x="1591081" y="4864574"/>
                <a:ext cx="984629" cy="566694"/>
              </a:xfrm>
              <a:prstGeom prst="rect">
                <a:avLst/>
              </a:prstGeom>
              <a:blipFill>
                <a:blip r:embed="rId7"/>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3228572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P spid="12" grpId="0"/>
      <p:bldP spid="13" grpId="0"/>
      <p:bldP spid="14" grpId="0"/>
      <p:bldP spid="15" grpId="0"/>
      <p:bldP spid="16" grpId="0"/>
      <p:bldP spid="17" grpId="0"/>
      <p:bldP spid="18" grpId="0"/>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3" name="Espace réservé du numéro de diapositive 2"/>
          <p:cNvSpPr>
            <a:spLocks noGrp="1"/>
          </p:cNvSpPr>
          <p:nvPr>
            <p:ph type="sldNum" sz="quarter" idx="12"/>
          </p:nvPr>
        </p:nvSpPr>
        <p:spPr/>
        <p:txBody>
          <a:bodyPr/>
          <a:lstStyle/>
          <a:p>
            <a:pPr>
              <a:defRPr/>
            </a:pPr>
            <a:fld id="{E606A5E6-F675-466D-8F33-936451DB3125}" type="slidenum">
              <a:rPr lang="en-US" altLang="fr-FR" smtClean="0"/>
              <a:pPr>
                <a:defRPr/>
              </a:pPr>
              <a:t>5</a:t>
            </a:fld>
            <a:endParaRPr lang="en-US" altLang="fr-FR"/>
          </a:p>
        </p:txBody>
      </p:sp>
      <p:sp>
        <p:nvSpPr>
          <p:cNvPr id="4"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 name="Rectangle 2"/>
          <p:cNvSpPr txBox="1">
            <a:spLocks noChangeArrowheads="1"/>
          </p:cNvSpPr>
          <p:nvPr/>
        </p:nvSpPr>
        <p:spPr>
          <a:xfrm>
            <a:off x="2565400" y="274638"/>
            <a:ext cx="3987800" cy="1143000"/>
          </a:xfrm>
          <a:prstGeom prst="rect">
            <a:avLst/>
          </a:prstGeom>
        </p:spPr>
        <p:txBody>
          <a:bodyPr/>
          <a:lstStyle/>
          <a:p>
            <a:pPr algn="ctr">
              <a:defRPr/>
            </a:pPr>
            <a:r>
              <a:rPr lang="fr-FR" sz="3200" b="1" dirty="0" smtClean="0">
                <a:latin typeface="+mj-lt"/>
                <a:ea typeface="+mj-ea"/>
                <a:cs typeface="+mj-cs"/>
              </a:rPr>
              <a:t>Moteur linéaire primitif</a:t>
            </a:r>
            <a:endParaRPr lang="fr-FR" sz="3200" b="1" dirty="0">
              <a:latin typeface="+mj-lt"/>
              <a:ea typeface="+mj-ea"/>
              <a:cs typeface="+mj-cs"/>
            </a:endParaRPr>
          </a:p>
        </p:txBody>
      </p:sp>
      <p:sp>
        <p:nvSpPr>
          <p:cNvPr id="6" name="Rectangle 1"/>
          <p:cNvSpPr>
            <a:spLocks noChangeArrowheads="1"/>
          </p:cNvSpPr>
          <p:nvPr/>
        </p:nvSpPr>
        <p:spPr bwMode="auto">
          <a:xfrm>
            <a:off x="1200270" y="2048119"/>
            <a:ext cx="7194612" cy="2128796"/>
          </a:xfrm>
          <a:prstGeom prst="rect">
            <a:avLst/>
          </a:prstGeom>
          <a:noFill/>
          <a:ln>
            <a:noFill/>
          </a:ln>
          <a:effectLst/>
        </p:spPr>
        <p:txBody>
          <a:bodyPr vert="horz" wrap="square" lIns="0" tIns="-12696" rIns="0" bIns="-12696" numCol="1" anchor="ctr" anchorCtr="0" compatLnSpc="1">
            <a:prstTxWarp prst="textNoShape">
              <a:avLst/>
            </a:prstTxWarp>
            <a:spAutoFit/>
          </a:bodyPr>
          <a:lstStyle/>
          <a:p>
            <a:pPr lvl="0" algn="just"/>
            <a:r>
              <a:rPr kumimoji="0" lang="fr-FR" altLang="fr-FR" sz="2000" b="0" i="0" u="sng" strike="noStrike" cap="none" normalizeH="0" baseline="0" dirty="0" smtClean="0">
                <a:ln>
                  <a:noFill/>
                </a:ln>
                <a:solidFill>
                  <a:schemeClr val="tx1"/>
                </a:solidFill>
                <a:effectLst/>
              </a:rPr>
              <a:t>Système</a:t>
            </a:r>
            <a:r>
              <a:rPr kumimoji="0" lang="fr-FR" altLang="fr-FR" sz="2000" b="0" i="0" u="sng" strike="noStrike" cap="none" normalizeH="0" dirty="0" smtClean="0">
                <a:ln>
                  <a:noFill/>
                </a:ln>
                <a:solidFill>
                  <a:schemeClr val="tx1"/>
                </a:solidFill>
                <a:effectLst/>
              </a:rPr>
              <a:t> en mouvement  </a:t>
            </a:r>
            <a:r>
              <a:rPr kumimoji="0" lang="fr-FR" altLang="fr-FR" sz="2000" b="0" i="0" u="none" strike="noStrike" cap="none" normalizeH="0" dirty="0" smtClean="0">
                <a:ln>
                  <a:noFill/>
                </a:ln>
                <a:solidFill>
                  <a:schemeClr val="tx1"/>
                </a:solidFill>
                <a:effectLst/>
              </a:rPr>
              <a:t>:</a:t>
            </a:r>
          </a:p>
          <a:p>
            <a:pPr lvl="0" algn="just"/>
            <a:endParaRPr lang="fr-FR" altLang="fr-FR" sz="2000" baseline="0" dirty="0" smtClean="0"/>
          </a:p>
          <a:p>
            <a:pPr lvl="0" algn="just"/>
            <a:endParaRPr lang="fr-FR" altLang="fr-FR" sz="2000" dirty="0" smtClean="0"/>
          </a:p>
          <a:p>
            <a:pPr lvl="0" algn="just"/>
            <a:endParaRPr lang="fr-FR" altLang="fr-FR" sz="2000" dirty="0" smtClean="0"/>
          </a:p>
          <a:p>
            <a:pPr lvl="0" algn="just"/>
            <a:endParaRPr lang="fr-FR" altLang="fr-FR" sz="2000" dirty="0" smtClean="0"/>
          </a:p>
          <a:p>
            <a:pPr lvl="0" algn="just"/>
            <a:endParaRPr lang="fr-FR" altLang="fr-FR" sz="2000" baseline="0" dirty="0" smtClean="0"/>
          </a:p>
          <a:p>
            <a:pPr lvl="0" algn="just"/>
            <a:endParaRPr kumimoji="0" lang="fr-FR" altLang="fr-FR" sz="2000" b="0" i="0" u="none" strike="noStrike" cap="none" normalizeH="0" baseline="0" dirty="0" smtClean="0">
              <a:ln>
                <a:noFill/>
              </a:ln>
              <a:solidFill>
                <a:schemeClr val="tx1"/>
              </a:solidFill>
              <a:effectLst/>
            </a:endParaRPr>
          </a:p>
        </p:txBody>
      </p:sp>
      <mc:AlternateContent xmlns:mc="http://schemas.openxmlformats.org/markup-compatibility/2006" xmlns:a14="http://schemas.microsoft.com/office/drawing/2010/main">
        <mc:Choice Requires="a14">
          <p:sp>
            <p:nvSpPr>
              <p:cNvPr id="7" name="ZoneTexte 6"/>
              <p:cNvSpPr txBox="1"/>
              <p:nvPr/>
            </p:nvSpPr>
            <p:spPr>
              <a:xfrm>
                <a:off x="1268607" y="2799999"/>
                <a:ext cx="86354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𝑣</m:t>
                      </m:r>
                      <m:r>
                        <a:rPr lang="en-US" b="0" i="1" smtClean="0">
                          <a:latin typeface="Cambria Math" panose="02040503050406030204" pitchFamily="18" charset="0"/>
                        </a:rPr>
                        <m:t>=</m:t>
                      </m:r>
                      <m:r>
                        <a:rPr lang="en-US" b="0" i="1" smtClean="0">
                          <a:latin typeface="Cambria Math" panose="02040503050406030204" pitchFamily="18" charset="0"/>
                        </a:rPr>
                        <m:t>𝐶𝑠𝑡</m:t>
                      </m:r>
                    </m:oMath>
                  </m:oMathPara>
                </a14:m>
                <a:endParaRPr lang="fr-FR" dirty="0"/>
              </a:p>
            </p:txBody>
          </p:sp>
        </mc:Choice>
        <mc:Fallback xmlns="">
          <p:sp>
            <p:nvSpPr>
              <p:cNvPr id="7" name="ZoneTexte 6"/>
              <p:cNvSpPr txBox="1">
                <a:spLocks noRot="1" noChangeAspect="1" noMove="1" noResize="1" noEditPoints="1" noAdjustHandles="1" noChangeArrowheads="1" noChangeShapeType="1" noTextEdit="1"/>
              </p:cNvSpPr>
              <p:nvPr/>
            </p:nvSpPr>
            <p:spPr>
              <a:xfrm>
                <a:off x="1268607" y="2799999"/>
                <a:ext cx="863546" cy="276999"/>
              </a:xfrm>
              <a:prstGeom prst="rect">
                <a:avLst/>
              </a:prstGeom>
              <a:blipFill>
                <a:blip r:embed="rId2"/>
                <a:stretch>
                  <a:fillRect l="-1408" r="-4225" b="-8696"/>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1188708" y="3243610"/>
                <a:ext cx="202523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𝑃</m:t>
                          </m:r>
                        </m:e>
                        <m:sub>
                          <m:r>
                            <a:rPr lang="fr-FR" b="0" i="1" smtClean="0">
                              <a:latin typeface="Cambria Math" panose="02040503050406030204" pitchFamily="18" charset="0"/>
                            </a:rPr>
                            <m:t>𝑚</m:t>
                          </m:r>
                          <m:r>
                            <a:rPr lang="fr-FR" b="0" i="1" smtClean="0">
                              <a:latin typeface="Cambria Math" panose="02040503050406030204" pitchFamily="18" charset="0"/>
                            </a:rPr>
                            <m:t>é</m:t>
                          </m:r>
                          <m:r>
                            <a:rPr lang="fr-FR" b="0" i="1" smtClean="0">
                              <a:latin typeface="Cambria Math" panose="02040503050406030204" pitchFamily="18" charset="0"/>
                            </a:rPr>
                            <m:t>𝑐</m:t>
                          </m:r>
                        </m:sub>
                      </m:sSub>
                      <m:r>
                        <a:rPr lang="fr-FR" b="0" i="1" smtClean="0">
                          <a:latin typeface="Cambria Math" panose="02040503050406030204" pitchFamily="18" charset="0"/>
                        </a:rPr>
                        <m:t>=</m:t>
                      </m:r>
                      <m:r>
                        <a:rPr lang="en-US" b="0" i="1" smtClean="0">
                          <a:latin typeface="Cambria Math" panose="02040503050406030204" pitchFamily="18" charset="0"/>
                        </a:rPr>
                        <m:t>𝐹𝑣</m:t>
                      </m:r>
                      <m:r>
                        <a:rPr lang="en-US" b="0" i="1" smtClean="0">
                          <a:latin typeface="Cambria Math" panose="02040503050406030204" pitchFamily="18" charset="0"/>
                        </a:rPr>
                        <m:t>=</m:t>
                      </m:r>
                      <m:r>
                        <a:rPr lang="fr-FR" i="1">
                          <a:latin typeface="Cambria Math" panose="02040503050406030204" pitchFamily="18" charset="0"/>
                        </a:rPr>
                        <m:t>𝐵𝑙</m:t>
                      </m:r>
                      <m:r>
                        <a:rPr lang="en-US" b="0" i="1" smtClean="0">
                          <a:latin typeface="Cambria Math" panose="02040503050406030204" pitchFamily="18" charset="0"/>
                        </a:rPr>
                        <m:t>𝐼𝑣</m:t>
                      </m:r>
                    </m:oMath>
                  </m:oMathPara>
                </a14:m>
                <a:endParaRPr lang="fr-FR" dirty="0"/>
              </a:p>
            </p:txBody>
          </p:sp>
        </mc:Choice>
        <mc:Fallback xmlns="">
          <p:sp>
            <p:nvSpPr>
              <p:cNvPr id="9" name="Rectangle 8"/>
              <p:cNvSpPr>
                <a:spLocks noRot="1" noChangeAspect="1" noMove="1" noResize="1" noEditPoints="1" noAdjustHandles="1" noChangeArrowheads="1" noChangeShapeType="1" noTextEdit="1"/>
              </p:cNvSpPr>
              <p:nvPr/>
            </p:nvSpPr>
            <p:spPr>
              <a:xfrm>
                <a:off x="1188708" y="3243610"/>
                <a:ext cx="2025234" cy="369332"/>
              </a:xfrm>
              <a:prstGeom prst="rect">
                <a:avLst/>
              </a:prstGeom>
              <a:blipFill>
                <a:blip r:embed="rId3"/>
                <a:stretch>
                  <a:fillRect b="-163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188708" y="3807583"/>
                <a:ext cx="102015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𝐹</m:t>
                      </m:r>
                      <m:r>
                        <a:rPr lang="fr-FR" b="0" i="1" smtClean="0">
                          <a:latin typeface="Cambria Math" panose="02040503050406030204" pitchFamily="18" charset="0"/>
                        </a:rPr>
                        <m:t>=</m:t>
                      </m:r>
                      <m:r>
                        <a:rPr lang="fr-FR" b="0" i="1" smtClean="0">
                          <a:latin typeface="Cambria Math" panose="02040503050406030204" pitchFamily="18" charset="0"/>
                        </a:rPr>
                        <m:t>𝐵𝑙𝐼</m:t>
                      </m:r>
                    </m:oMath>
                  </m:oMathPara>
                </a14:m>
                <a:endParaRPr lang="fr-FR" dirty="0"/>
              </a:p>
            </p:txBody>
          </p:sp>
        </mc:Choice>
        <mc:Fallback xmlns="">
          <p:sp>
            <p:nvSpPr>
              <p:cNvPr id="12" name="Rectangle 11"/>
              <p:cNvSpPr>
                <a:spLocks noRot="1" noChangeAspect="1" noMove="1" noResize="1" noEditPoints="1" noAdjustHandles="1" noChangeArrowheads="1" noChangeShapeType="1" noTextEdit="1"/>
              </p:cNvSpPr>
              <p:nvPr/>
            </p:nvSpPr>
            <p:spPr>
              <a:xfrm>
                <a:off x="1188708" y="3807583"/>
                <a:ext cx="1020151" cy="369332"/>
              </a:xfrm>
              <a:prstGeom prst="rect">
                <a:avLst/>
              </a:prstGeom>
              <a:blipFill>
                <a:blip r:embed="rId4"/>
                <a:stretch>
                  <a:fillRect/>
                </a:stretch>
              </a:blipFill>
            </p:spPr>
            <p:txBody>
              <a:bodyPr/>
              <a:lstStyle/>
              <a:p>
                <a:r>
                  <a:rPr lang="fr-FR">
                    <a:noFill/>
                  </a:rPr>
                  <a:t> </a:t>
                </a:r>
              </a:p>
            </p:txBody>
          </p:sp>
        </mc:Fallback>
      </mc:AlternateContent>
      <p:sp>
        <p:nvSpPr>
          <p:cNvPr id="13" name="ZoneTexte 12"/>
          <p:cNvSpPr txBox="1"/>
          <p:nvPr/>
        </p:nvSpPr>
        <p:spPr>
          <a:xfrm>
            <a:off x="3373515" y="3243610"/>
            <a:ext cx="5586335" cy="369332"/>
          </a:xfrm>
          <a:prstGeom prst="rect">
            <a:avLst/>
          </a:prstGeom>
          <a:noFill/>
        </p:spPr>
        <p:txBody>
          <a:bodyPr wrap="square" rtlCol="0">
            <a:spAutoFit/>
          </a:bodyPr>
          <a:lstStyle/>
          <a:p>
            <a:r>
              <a:rPr lang="fr-FR" dirty="0" smtClean="0"/>
              <a:t>Puissance mécanique développée pat le conducteur </a:t>
            </a:r>
            <a:endParaRPr lang="fr-FR" dirty="0"/>
          </a:p>
        </p:txBody>
      </p:sp>
      <p:sp>
        <p:nvSpPr>
          <p:cNvPr id="14" name="ZoneTexte 13"/>
          <p:cNvSpPr txBox="1"/>
          <p:nvPr/>
        </p:nvSpPr>
        <p:spPr>
          <a:xfrm>
            <a:off x="3275860" y="3807583"/>
            <a:ext cx="5119022" cy="369332"/>
          </a:xfrm>
          <a:prstGeom prst="rect">
            <a:avLst/>
          </a:prstGeom>
          <a:noFill/>
        </p:spPr>
        <p:txBody>
          <a:bodyPr wrap="square" rtlCol="0">
            <a:spAutoFit/>
          </a:bodyPr>
          <a:lstStyle/>
          <a:p>
            <a:r>
              <a:rPr lang="fr-FR" dirty="0" smtClean="0"/>
              <a:t>Force de Laplace développée par le conducteur</a:t>
            </a:r>
            <a:endParaRPr lang="fr-FR" dirty="0"/>
          </a:p>
        </p:txBody>
      </p:sp>
      <mc:AlternateContent xmlns:mc="http://schemas.openxmlformats.org/markup-compatibility/2006" xmlns:a14="http://schemas.microsoft.com/office/drawing/2010/main">
        <mc:Choice Requires="a14">
          <p:sp>
            <p:nvSpPr>
              <p:cNvPr id="15" name="Rectangle 14"/>
              <p:cNvSpPr/>
              <p:nvPr/>
            </p:nvSpPr>
            <p:spPr>
              <a:xfrm>
                <a:off x="1144482" y="4500856"/>
                <a:ext cx="16605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𝐹</m:t>
                      </m:r>
                      <m:r>
                        <a:rPr lang="fr-FR" b="0" i="1" smtClean="0">
                          <a:latin typeface="Cambria Math" panose="02040503050406030204" pitchFamily="18" charset="0"/>
                        </a:rPr>
                        <m:t>=</m:t>
                      </m:r>
                      <m:r>
                        <a:rPr lang="fr-FR" b="0" i="1" smtClean="0">
                          <a:latin typeface="Cambria Math" panose="02040503050406030204" pitchFamily="18" charset="0"/>
                        </a:rPr>
                        <m:t>𝐵𝑙𝐼</m:t>
                      </m:r>
                      <m:r>
                        <a:rPr lang="fr-FR" b="0" i="1" smtClean="0">
                          <a:latin typeface="Cambria Math" panose="02040503050406030204" pitchFamily="18" charset="0"/>
                        </a:rPr>
                        <m:t>=</m:t>
                      </m:r>
                      <m:r>
                        <a:rPr lang="fr-FR" b="0" i="1" smtClean="0">
                          <a:latin typeface="Cambria Math" panose="02040503050406030204" pitchFamily="18" charset="0"/>
                        </a:rPr>
                        <m:t>𝑚𝑔</m:t>
                      </m:r>
                    </m:oMath>
                  </m:oMathPara>
                </a14:m>
                <a:endParaRPr lang="fr-FR" dirty="0"/>
              </a:p>
            </p:txBody>
          </p:sp>
        </mc:Choice>
        <mc:Fallback xmlns="">
          <p:sp>
            <p:nvSpPr>
              <p:cNvPr id="15" name="Rectangle 14"/>
              <p:cNvSpPr>
                <a:spLocks noRot="1" noChangeAspect="1" noMove="1" noResize="1" noEditPoints="1" noAdjustHandles="1" noChangeArrowheads="1" noChangeShapeType="1" noTextEdit="1"/>
              </p:cNvSpPr>
              <p:nvPr/>
            </p:nvSpPr>
            <p:spPr>
              <a:xfrm>
                <a:off x="1144482" y="4500856"/>
                <a:ext cx="1660519" cy="369332"/>
              </a:xfrm>
              <a:prstGeom prst="rect">
                <a:avLst/>
              </a:prstGeom>
              <a:blipFill>
                <a:blip r:embed="rId5"/>
                <a:stretch>
                  <a:fillRect b="-8197"/>
                </a:stretch>
              </a:blipFill>
            </p:spPr>
            <p:txBody>
              <a:bodyPr/>
              <a:lstStyle/>
              <a:p>
                <a:r>
                  <a:rPr lang="fr-FR">
                    <a:noFill/>
                  </a:rPr>
                  <a:t> </a:t>
                </a:r>
              </a:p>
            </p:txBody>
          </p:sp>
        </mc:Fallback>
      </mc:AlternateContent>
      <p:sp>
        <p:nvSpPr>
          <p:cNvPr id="16" name="ZoneTexte 15"/>
          <p:cNvSpPr txBox="1"/>
          <p:nvPr/>
        </p:nvSpPr>
        <p:spPr>
          <a:xfrm>
            <a:off x="3547978" y="4505266"/>
            <a:ext cx="5119022" cy="369332"/>
          </a:xfrm>
          <a:prstGeom prst="rect">
            <a:avLst/>
          </a:prstGeom>
          <a:noFill/>
        </p:spPr>
        <p:txBody>
          <a:bodyPr wrap="square" rtlCol="0">
            <a:spAutoFit/>
          </a:bodyPr>
          <a:lstStyle/>
          <a:p>
            <a:r>
              <a:rPr lang="fr-FR" dirty="0" smtClean="0"/>
              <a:t>Équilibre des forces ( Loi de Newton)</a:t>
            </a:r>
            <a:endParaRPr lang="fr-FR" dirty="0"/>
          </a:p>
        </p:txBody>
      </p:sp>
      <p:sp>
        <p:nvSpPr>
          <p:cNvPr id="18" name="ZoneTexte 17"/>
          <p:cNvSpPr txBox="1"/>
          <p:nvPr/>
        </p:nvSpPr>
        <p:spPr>
          <a:xfrm>
            <a:off x="3275860" y="2724446"/>
            <a:ext cx="4465468" cy="369332"/>
          </a:xfrm>
          <a:prstGeom prst="rect">
            <a:avLst/>
          </a:prstGeom>
          <a:noFill/>
        </p:spPr>
        <p:txBody>
          <a:bodyPr wrap="square" rtlCol="0">
            <a:spAutoFit/>
          </a:bodyPr>
          <a:lstStyle/>
          <a:p>
            <a:r>
              <a:rPr lang="fr-FR" dirty="0" smtClean="0"/>
              <a:t>Système en </a:t>
            </a:r>
            <a:r>
              <a:rPr lang="fr-FR" dirty="0" err="1" smtClean="0"/>
              <a:t>mvt</a:t>
            </a:r>
            <a:r>
              <a:rPr lang="fr-FR" dirty="0" smtClean="0"/>
              <a:t> à vitesse constante</a:t>
            </a:r>
            <a:endParaRPr lang="fr-FR" dirty="0"/>
          </a:p>
        </p:txBody>
      </p:sp>
      <mc:AlternateContent xmlns:mc="http://schemas.openxmlformats.org/markup-compatibility/2006" xmlns:a14="http://schemas.microsoft.com/office/drawing/2010/main">
        <mc:Choice Requires="a14">
          <p:sp>
            <p:nvSpPr>
              <p:cNvPr id="19" name="Rectangle 18"/>
              <p:cNvSpPr/>
              <p:nvPr/>
            </p:nvSpPr>
            <p:spPr>
              <a:xfrm>
                <a:off x="1188708" y="5127011"/>
                <a:ext cx="984629" cy="5666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𝐼</m:t>
                      </m:r>
                      <m:r>
                        <a:rPr lang="fr-FR" b="0" i="1" smtClean="0">
                          <a:latin typeface="Cambria Math" panose="02040503050406030204" pitchFamily="18" charset="0"/>
                        </a:rPr>
                        <m:t>=</m:t>
                      </m:r>
                      <m:f>
                        <m:fPr>
                          <m:ctrlPr>
                            <a:rPr lang="fr-FR" b="0" i="1" smtClean="0">
                              <a:latin typeface="Cambria Math" panose="02040503050406030204" pitchFamily="18" charset="0"/>
                            </a:rPr>
                          </m:ctrlPr>
                        </m:fPr>
                        <m:num>
                          <m:r>
                            <a:rPr lang="en-US" b="0" i="1" smtClean="0">
                              <a:latin typeface="Cambria Math" panose="02040503050406030204" pitchFamily="18" charset="0"/>
                            </a:rPr>
                            <m:t>𝑚𝑔</m:t>
                          </m:r>
                        </m:num>
                        <m:den>
                          <m:r>
                            <a:rPr lang="en-US" b="0" i="1" smtClean="0">
                              <a:latin typeface="Cambria Math" panose="02040503050406030204" pitchFamily="18" charset="0"/>
                            </a:rPr>
                            <m:t>𝐵𝑙</m:t>
                          </m:r>
                        </m:den>
                      </m:f>
                    </m:oMath>
                  </m:oMathPara>
                </a14:m>
                <a:endParaRPr lang="fr-FR" dirty="0"/>
              </a:p>
            </p:txBody>
          </p:sp>
        </mc:Choice>
        <mc:Fallback xmlns="">
          <p:sp>
            <p:nvSpPr>
              <p:cNvPr id="19" name="Rectangle 18"/>
              <p:cNvSpPr>
                <a:spLocks noRot="1" noChangeAspect="1" noMove="1" noResize="1" noEditPoints="1" noAdjustHandles="1" noChangeArrowheads="1" noChangeShapeType="1" noTextEdit="1"/>
              </p:cNvSpPr>
              <p:nvPr/>
            </p:nvSpPr>
            <p:spPr>
              <a:xfrm>
                <a:off x="1188708" y="5127011"/>
                <a:ext cx="984629" cy="566694"/>
              </a:xfrm>
              <a:prstGeom prst="rect">
                <a:avLst/>
              </a:prstGeom>
              <a:blipFill>
                <a:blip r:embed="rId6"/>
                <a:stretch>
                  <a:fillRect/>
                </a:stretch>
              </a:blipFill>
            </p:spPr>
            <p:txBody>
              <a:bodyPr/>
              <a:lstStyle/>
              <a:p>
                <a:r>
                  <a:rPr lang="fr-FR">
                    <a:noFill/>
                  </a:rPr>
                  <a:t> </a:t>
                </a:r>
              </a:p>
            </p:txBody>
          </p:sp>
        </mc:Fallback>
      </mc:AlternateContent>
      <p:sp>
        <p:nvSpPr>
          <p:cNvPr id="20" name="ZoneTexte 19"/>
          <p:cNvSpPr txBox="1"/>
          <p:nvPr/>
        </p:nvSpPr>
        <p:spPr>
          <a:xfrm>
            <a:off x="3007082" y="5175957"/>
            <a:ext cx="5119022" cy="646331"/>
          </a:xfrm>
          <a:prstGeom prst="rect">
            <a:avLst/>
          </a:prstGeom>
          <a:noFill/>
        </p:spPr>
        <p:txBody>
          <a:bodyPr wrap="square" rtlCol="0">
            <a:spAutoFit/>
          </a:bodyPr>
          <a:lstStyle/>
          <a:p>
            <a:r>
              <a:rPr lang="fr-FR" dirty="0" smtClean="0"/>
              <a:t>Le courant ne change pas car la force de la charge ne change pas</a:t>
            </a:r>
            <a:endParaRPr lang="fr-FR" dirty="0"/>
          </a:p>
        </p:txBody>
      </p:sp>
    </p:spTree>
    <p:extLst>
      <p:ext uri="{BB962C8B-B14F-4D97-AF65-F5344CB8AC3E}">
        <p14:creationId xmlns:p14="http://schemas.microsoft.com/office/powerpoint/2010/main" val="1836256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2" grpId="0"/>
      <p:bldP spid="13" grpId="0"/>
      <p:bldP spid="14" grpId="0"/>
      <p:bldP spid="15" grpId="0"/>
      <p:bldP spid="16" grpId="0"/>
      <p:bldP spid="18" grpId="0"/>
      <p:bldP spid="19"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3" name="Espace réservé du numéro de diapositive 2"/>
          <p:cNvSpPr>
            <a:spLocks noGrp="1"/>
          </p:cNvSpPr>
          <p:nvPr>
            <p:ph type="sldNum" sz="quarter" idx="12"/>
          </p:nvPr>
        </p:nvSpPr>
        <p:spPr/>
        <p:txBody>
          <a:bodyPr/>
          <a:lstStyle/>
          <a:p>
            <a:pPr>
              <a:defRPr/>
            </a:pPr>
            <a:fld id="{E606A5E6-F675-466D-8F33-936451DB3125}" type="slidenum">
              <a:rPr lang="en-US" altLang="fr-FR" smtClean="0"/>
              <a:pPr>
                <a:defRPr/>
              </a:pPr>
              <a:t>6</a:t>
            </a:fld>
            <a:endParaRPr lang="en-US" altLang="fr-FR"/>
          </a:p>
        </p:txBody>
      </p:sp>
      <p:sp>
        <p:nvSpPr>
          <p:cNvPr id="4"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 name="Rectangle 2"/>
          <p:cNvSpPr txBox="1">
            <a:spLocks noChangeArrowheads="1"/>
          </p:cNvSpPr>
          <p:nvPr/>
        </p:nvSpPr>
        <p:spPr>
          <a:xfrm>
            <a:off x="2565400" y="274638"/>
            <a:ext cx="3987800" cy="1143000"/>
          </a:xfrm>
          <a:prstGeom prst="rect">
            <a:avLst/>
          </a:prstGeom>
        </p:spPr>
        <p:txBody>
          <a:bodyPr/>
          <a:lstStyle/>
          <a:p>
            <a:pPr algn="ctr">
              <a:defRPr/>
            </a:pPr>
            <a:r>
              <a:rPr lang="fr-FR" sz="3200" b="1" dirty="0" smtClean="0">
                <a:latin typeface="+mj-lt"/>
                <a:ea typeface="+mj-ea"/>
                <a:cs typeface="+mj-cs"/>
              </a:rPr>
              <a:t>Moteur linéaire primitif</a:t>
            </a:r>
            <a:endParaRPr lang="fr-FR" sz="3200" b="1" dirty="0">
              <a:latin typeface="+mj-lt"/>
              <a:ea typeface="+mj-ea"/>
              <a:cs typeface="+mj-cs"/>
            </a:endParaRPr>
          </a:p>
        </p:txBody>
      </p:sp>
      <p:sp>
        <p:nvSpPr>
          <p:cNvPr id="6" name="Rectangle 1"/>
          <p:cNvSpPr>
            <a:spLocks noChangeArrowheads="1"/>
          </p:cNvSpPr>
          <p:nvPr/>
        </p:nvSpPr>
        <p:spPr bwMode="auto">
          <a:xfrm>
            <a:off x="1144482" y="1861484"/>
            <a:ext cx="7194612" cy="282137"/>
          </a:xfrm>
          <a:prstGeom prst="rect">
            <a:avLst/>
          </a:prstGeom>
          <a:noFill/>
          <a:ln>
            <a:noFill/>
          </a:ln>
          <a:effectLst/>
        </p:spPr>
        <p:txBody>
          <a:bodyPr vert="horz" wrap="square" lIns="0" tIns="-12696" rIns="0" bIns="-12696" numCol="1" anchor="ctr" anchorCtr="0" compatLnSpc="1">
            <a:prstTxWarp prst="textNoShape">
              <a:avLst/>
            </a:prstTxWarp>
            <a:spAutoFit/>
          </a:bodyPr>
          <a:lstStyle/>
          <a:p>
            <a:pPr lvl="0" algn="just"/>
            <a:r>
              <a:rPr kumimoji="0" lang="fr-FR" altLang="fr-FR" sz="2000" b="0" i="0" u="sng" strike="noStrike" cap="none" normalizeH="0" baseline="0" dirty="0" smtClean="0">
                <a:ln>
                  <a:noFill/>
                </a:ln>
                <a:solidFill>
                  <a:schemeClr val="tx1"/>
                </a:solidFill>
                <a:effectLst/>
              </a:rPr>
              <a:t>Système</a:t>
            </a:r>
            <a:r>
              <a:rPr kumimoji="0" lang="fr-FR" altLang="fr-FR" sz="2000" b="0" i="0" u="sng" strike="noStrike" cap="none" normalizeH="0" dirty="0" smtClean="0">
                <a:ln>
                  <a:noFill/>
                </a:ln>
                <a:solidFill>
                  <a:schemeClr val="tx1"/>
                </a:solidFill>
                <a:effectLst/>
              </a:rPr>
              <a:t> en mouvement </a:t>
            </a:r>
            <a:r>
              <a:rPr kumimoji="0" lang="fr-FR" altLang="fr-FR" sz="2000" b="0" i="0" u="none" strike="noStrike" cap="none" normalizeH="0" dirty="0" smtClean="0">
                <a:ln>
                  <a:noFill/>
                </a:ln>
                <a:solidFill>
                  <a:schemeClr val="tx1"/>
                </a:solidFill>
                <a:effectLst/>
              </a:rPr>
              <a:t>:</a:t>
            </a:r>
            <a:endParaRPr kumimoji="0" lang="fr-FR" altLang="fr-FR" sz="2000" b="0" i="0" u="none" strike="noStrike" cap="none" normalizeH="0" baseline="0" dirty="0" smtClean="0">
              <a:ln>
                <a:noFill/>
              </a:ln>
              <a:solidFill>
                <a:schemeClr val="tx1"/>
              </a:solidFill>
              <a:effectLst/>
            </a:endParaRPr>
          </a:p>
        </p:txBody>
      </p:sp>
      <mc:AlternateContent xmlns:mc="http://schemas.openxmlformats.org/markup-compatibility/2006" xmlns:a14="http://schemas.microsoft.com/office/drawing/2010/main">
        <mc:Choice Requires="a14">
          <p:sp>
            <p:nvSpPr>
              <p:cNvPr id="17" name="Rectangle 16"/>
              <p:cNvSpPr/>
              <p:nvPr/>
            </p:nvSpPr>
            <p:spPr>
              <a:xfrm>
                <a:off x="1366424" y="3537252"/>
                <a:ext cx="25314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𝑃</m:t>
                          </m:r>
                        </m:e>
                        <m:sub>
                          <m:r>
                            <a:rPr lang="fr-FR" b="0" i="1" smtClean="0">
                              <a:latin typeface="Cambria Math" panose="02040503050406030204" pitchFamily="18" charset="0"/>
                            </a:rPr>
                            <m:t>é</m:t>
                          </m:r>
                          <m:r>
                            <a:rPr lang="fr-FR" b="0" i="1" smtClean="0">
                              <a:latin typeface="Cambria Math" panose="02040503050406030204" pitchFamily="18" charset="0"/>
                            </a:rPr>
                            <m:t>𝑙</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𝑉</m:t>
                          </m:r>
                        </m:e>
                        <m:sub>
                          <m:r>
                            <a:rPr lang="fr-FR" b="0" i="1" smtClean="0">
                              <a:latin typeface="Cambria Math" panose="02040503050406030204" pitchFamily="18" charset="0"/>
                            </a:rPr>
                            <m:t>2</m:t>
                          </m:r>
                        </m:sub>
                      </m:sSub>
                      <m:r>
                        <a:rPr lang="fr-FR" b="0" i="1" smtClean="0">
                          <a:latin typeface="Cambria Math" panose="02040503050406030204" pitchFamily="18" charset="0"/>
                        </a:rPr>
                        <m:t>𝐼</m:t>
                      </m:r>
                      <m:r>
                        <a:rPr lang="fr-FR" b="0" i="1" smtClean="0">
                          <a:latin typeface="Cambria Math" panose="02040503050406030204" pitchFamily="18" charset="0"/>
                        </a:rPr>
                        <m:t>=</m:t>
                      </m:r>
                      <m:r>
                        <a:rPr lang="fr-FR" b="0" i="1" smtClean="0">
                          <a:latin typeface="Cambria Math" panose="02040503050406030204" pitchFamily="18" charset="0"/>
                        </a:rPr>
                        <m:t>𝑅</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𝐼</m:t>
                          </m:r>
                        </m:e>
                        <m:sup>
                          <m:r>
                            <a:rPr lang="fr-FR" b="0" i="1" smtClean="0">
                              <a:latin typeface="Cambria Math" panose="02040503050406030204" pitchFamily="18" charset="0"/>
                            </a:rPr>
                            <m:t>2</m:t>
                          </m:r>
                        </m:sup>
                      </m:sSup>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𝑃</m:t>
                          </m:r>
                        </m:e>
                        <m:sub>
                          <m:r>
                            <a:rPr lang="fr-FR" b="0" i="1" smtClean="0">
                              <a:latin typeface="Cambria Math" panose="02040503050406030204" pitchFamily="18" charset="0"/>
                            </a:rPr>
                            <m:t>𝑚</m:t>
                          </m:r>
                          <m:r>
                            <a:rPr lang="fr-FR" b="0" i="1" smtClean="0">
                              <a:latin typeface="Cambria Math" panose="02040503050406030204" pitchFamily="18" charset="0"/>
                            </a:rPr>
                            <m:t>é</m:t>
                          </m:r>
                          <m:r>
                            <a:rPr lang="fr-FR" b="0" i="1" smtClean="0">
                              <a:latin typeface="Cambria Math" panose="02040503050406030204" pitchFamily="18" charset="0"/>
                            </a:rPr>
                            <m:t>𝑐</m:t>
                          </m:r>
                        </m:sub>
                      </m:sSub>
                    </m:oMath>
                  </m:oMathPara>
                </a14:m>
                <a:endParaRPr lang="fr-FR" dirty="0"/>
              </a:p>
            </p:txBody>
          </p:sp>
        </mc:Choice>
        <mc:Fallback xmlns="">
          <p:sp>
            <p:nvSpPr>
              <p:cNvPr id="17" name="Rectangle 16"/>
              <p:cNvSpPr>
                <a:spLocks noRot="1" noChangeAspect="1" noMove="1" noResize="1" noEditPoints="1" noAdjustHandles="1" noChangeArrowheads="1" noChangeShapeType="1" noTextEdit="1"/>
              </p:cNvSpPr>
              <p:nvPr/>
            </p:nvSpPr>
            <p:spPr>
              <a:xfrm>
                <a:off x="1366424" y="3537252"/>
                <a:ext cx="2531462" cy="369332"/>
              </a:xfrm>
              <a:prstGeom prst="rect">
                <a:avLst/>
              </a:prstGeom>
              <a:blipFill>
                <a:blip r:embed="rId2"/>
                <a:stretch>
                  <a:fillRect b="-1639"/>
                </a:stretch>
              </a:blipFill>
            </p:spPr>
            <p:txBody>
              <a:bodyPr/>
              <a:lstStyle/>
              <a:p>
                <a:r>
                  <a:rPr lang="fr-FR">
                    <a:noFill/>
                  </a:rPr>
                  <a:t> </a:t>
                </a:r>
              </a:p>
            </p:txBody>
          </p:sp>
        </mc:Fallback>
      </mc:AlternateContent>
      <p:sp>
        <p:nvSpPr>
          <p:cNvPr id="21" name="ZoneTexte 20"/>
          <p:cNvSpPr txBox="1"/>
          <p:nvPr/>
        </p:nvSpPr>
        <p:spPr>
          <a:xfrm>
            <a:off x="1366424" y="2400896"/>
            <a:ext cx="7682256" cy="923330"/>
          </a:xfrm>
          <a:prstGeom prst="rect">
            <a:avLst/>
          </a:prstGeom>
          <a:noFill/>
        </p:spPr>
        <p:txBody>
          <a:bodyPr wrap="square" rtlCol="0">
            <a:spAutoFit/>
          </a:bodyPr>
          <a:lstStyle/>
          <a:p>
            <a:pPr algn="just"/>
            <a:r>
              <a:rPr lang="fr-FR" dirty="0" smtClean="0"/>
              <a:t>L’énergie électrique reçue par le conducteur doit augmenter pour satisfaire en plus des pertes joules la puissance mécanique.</a:t>
            </a:r>
          </a:p>
          <a:p>
            <a:pPr algn="just"/>
            <a:r>
              <a:rPr lang="fr-FR" dirty="0" smtClean="0"/>
              <a:t>Puisque le courant est constant, la tension doit augmenter</a:t>
            </a:r>
            <a:endParaRPr lang="fr-FR" dirty="0"/>
          </a:p>
        </p:txBody>
      </p:sp>
      <mc:AlternateContent xmlns:mc="http://schemas.openxmlformats.org/markup-compatibility/2006" xmlns:a14="http://schemas.microsoft.com/office/drawing/2010/main">
        <mc:Choice Requires="a14">
          <p:sp>
            <p:nvSpPr>
              <p:cNvPr id="22" name="Rectangle 21"/>
              <p:cNvSpPr/>
              <p:nvPr/>
            </p:nvSpPr>
            <p:spPr>
              <a:xfrm>
                <a:off x="1331093" y="4297477"/>
                <a:ext cx="385477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𝑃</m:t>
                          </m:r>
                        </m:e>
                        <m:sub>
                          <m:r>
                            <a:rPr lang="fr-FR" b="0" i="1" smtClean="0">
                              <a:latin typeface="Cambria Math" panose="02040503050406030204" pitchFamily="18" charset="0"/>
                            </a:rPr>
                            <m:t>é</m:t>
                          </m:r>
                          <m:r>
                            <a:rPr lang="fr-FR" b="0" i="1" smtClean="0">
                              <a:latin typeface="Cambria Math" panose="02040503050406030204" pitchFamily="18" charset="0"/>
                            </a:rPr>
                            <m:t>𝑙</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𝑉</m:t>
                          </m:r>
                        </m:e>
                        <m:sub>
                          <m:r>
                            <a:rPr lang="fr-FR" b="0" i="1" smtClean="0">
                              <a:latin typeface="Cambria Math" panose="02040503050406030204" pitchFamily="18" charset="0"/>
                            </a:rPr>
                            <m:t>2</m:t>
                          </m:r>
                        </m:sub>
                      </m:sSub>
                      <m:r>
                        <a:rPr lang="fr-FR" b="0" i="1" smtClean="0">
                          <a:latin typeface="Cambria Math" panose="02040503050406030204" pitchFamily="18" charset="0"/>
                        </a:rPr>
                        <m:t>𝐼</m:t>
                      </m:r>
                      <m:r>
                        <a:rPr lang="fr-FR" b="0" i="1" smtClean="0">
                          <a:latin typeface="Cambria Math" panose="02040503050406030204" pitchFamily="18" charset="0"/>
                        </a:rPr>
                        <m:t>=</m:t>
                      </m:r>
                      <m:r>
                        <a:rPr lang="fr-FR" b="0" i="1" smtClean="0">
                          <a:latin typeface="Cambria Math" panose="02040503050406030204" pitchFamily="18" charset="0"/>
                        </a:rPr>
                        <m:t>𝑅</m:t>
                      </m:r>
                      <m:sSup>
                        <m:sSupPr>
                          <m:ctrlPr>
                            <a:rPr lang="fr-FR" b="0" i="1" smtClean="0">
                              <a:latin typeface="Cambria Math" panose="02040503050406030204" pitchFamily="18" charset="0"/>
                            </a:rPr>
                          </m:ctrlPr>
                        </m:sSupPr>
                        <m:e>
                          <m:r>
                            <a:rPr lang="fr-FR" b="0" i="1" smtClean="0">
                              <a:latin typeface="Cambria Math" panose="02040503050406030204" pitchFamily="18" charset="0"/>
                            </a:rPr>
                            <m:t>𝐼</m:t>
                          </m:r>
                        </m:e>
                        <m:sup>
                          <m:r>
                            <a:rPr lang="fr-FR" b="0" i="1" smtClean="0">
                              <a:latin typeface="Cambria Math" panose="02040503050406030204" pitchFamily="18" charset="0"/>
                            </a:rPr>
                            <m:t>2</m:t>
                          </m:r>
                        </m:sup>
                      </m:sSup>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𝑃</m:t>
                          </m:r>
                        </m:e>
                        <m:sub>
                          <m:r>
                            <a:rPr lang="fr-FR" b="0" i="1" smtClean="0">
                              <a:latin typeface="Cambria Math" panose="02040503050406030204" pitchFamily="18" charset="0"/>
                            </a:rPr>
                            <m:t>𝑚</m:t>
                          </m:r>
                          <m:r>
                            <a:rPr lang="fr-FR" b="0" i="1" smtClean="0">
                              <a:latin typeface="Cambria Math" panose="02040503050406030204" pitchFamily="18" charset="0"/>
                            </a:rPr>
                            <m:t>é</m:t>
                          </m:r>
                          <m:r>
                            <a:rPr lang="fr-FR" b="0" i="1" smtClean="0">
                              <a:latin typeface="Cambria Math" panose="02040503050406030204" pitchFamily="18" charset="0"/>
                            </a:rPr>
                            <m:t>𝑐</m:t>
                          </m:r>
                        </m:sub>
                      </m:sSub>
                      <m:r>
                        <a:rPr lang="fr-FR" b="0" i="1" smtClean="0">
                          <a:latin typeface="Cambria Math" panose="02040503050406030204" pitchFamily="18" charset="0"/>
                        </a:rPr>
                        <m:t>=</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𝑉</m:t>
                          </m:r>
                        </m:e>
                        <m:sub>
                          <m:r>
                            <a:rPr lang="fr-FR" b="0" i="1" smtClean="0">
                              <a:latin typeface="Cambria Math" panose="02040503050406030204" pitchFamily="18" charset="0"/>
                            </a:rPr>
                            <m:t>1</m:t>
                          </m:r>
                        </m:sub>
                      </m:sSub>
                      <m:r>
                        <m:rPr>
                          <m:sty m:val="p"/>
                        </m:rPr>
                        <a:rPr lang="fr-FR" b="0" i="0" smtClean="0">
                          <a:latin typeface="Cambria Math" panose="02040503050406030204" pitchFamily="18" charset="0"/>
                        </a:rPr>
                        <m:t>I</m:t>
                      </m:r>
                      <m:r>
                        <a:rPr lang="fr-FR" b="0" i="0" smtClean="0">
                          <a:latin typeface="Cambria Math" panose="02040503050406030204" pitchFamily="18" charset="0"/>
                        </a:rPr>
                        <m:t>=</m:t>
                      </m:r>
                      <m:r>
                        <a:rPr lang="fr-FR" i="1">
                          <a:latin typeface="Cambria Math" panose="02040503050406030204" pitchFamily="18" charset="0"/>
                        </a:rPr>
                        <m:t>𝐵𝑙𝐼𝑣</m:t>
                      </m:r>
                    </m:oMath>
                  </m:oMathPara>
                </a14:m>
                <a:endParaRPr lang="fr-FR" dirty="0"/>
              </a:p>
            </p:txBody>
          </p:sp>
        </mc:Choice>
        <mc:Fallback xmlns="">
          <p:sp>
            <p:nvSpPr>
              <p:cNvPr id="22" name="Rectangle 21"/>
              <p:cNvSpPr>
                <a:spLocks noRot="1" noChangeAspect="1" noMove="1" noResize="1" noEditPoints="1" noAdjustHandles="1" noChangeArrowheads="1" noChangeShapeType="1" noTextEdit="1"/>
              </p:cNvSpPr>
              <p:nvPr/>
            </p:nvSpPr>
            <p:spPr>
              <a:xfrm>
                <a:off x="1331093" y="4297477"/>
                <a:ext cx="3854773" cy="369332"/>
              </a:xfrm>
              <a:prstGeom prst="rect">
                <a:avLst/>
              </a:prstGeom>
              <a:blipFill>
                <a:blip r:embed="rId3"/>
                <a:stretch>
                  <a:fillRect b="-1639"/>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3" name="Rectangle 22"/>
              <p:cNvSpPr/>
              <p:nvPr/>
            </p:nvSpPr>
            <p:spPr>
              <a:xfrm>
                <a:off x="1331093" y="4894189"/>
                <a:ext cx="189205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m:t>
                          </m:r>
                          <m:r>
                            <a:rPr lang="fr-FR" b="0" i="1" smtClean="0">
                              <a:latin typeface="Cambria Math" panose="02040503050406030204" pitchFamily="18" charset="0"/>
                            </a:rPr>
                            <m:t>𝑉</m:t>
                          </m:r>
                        </m:e>
                        <m:sub>
                          <m:r>
                            <a:rPr lang="fr-FR" b="0" i="1" smtClean="0">
                              <a:latin typeface="Cambria Math" panose="02040503050406030204" pitchFamily="18" charset="0"/>
                            </a:rPr>
                            <m:t>2</m:t>
                          </m:r>
                        </m:sub>
                      </m:sSub>
                      <m:r>
                        <a:rPr lang="fr-FR" b="0" i="1" smtClean="0">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𝑉</m:t>
                          </m:r>
                        </m:e>
                        <m:sub>
                          <m:r>
                            <a:rPr lang="fr-FR" i="1">
                              <a:latin typeface="Cambria Math" panose="02040503050406030204" pitchFamily="18" charset="0"/>
                            </a:rPr>
                            <m:t>1</m:t>
                          </m:r>
                        </m:sub>
                      </m:sSub>
                      <m:r>
                        <a:rPr lang="fr-FR" b="0" i="1" smtClean="0">
                          <a:latin typeface="Cambria Math" panose="02040503050406030204" pitchFamily="18" charset="0"/>
                        </a:rPr>
                        <m:t>)</m:t>
                      </m:r>
                      <m:r>
                        <a:rPr lang="fr-FR" b="0" i="1" smtClean="0">
                          <a:latin typeface="Cambria Math" panose="02040503050406030204" pitchFamily="18" charset="0"/>
                        </a:rPr>
                        <m:t>𝐼</m:t>
                      </m:r>
                      <m:r>
                        <a:rPr lang="fr-FR" b="0" i="1" smtClean="0">
                          <a:latin typeface="Cambria Math" panose="02040503050406030204" pitchFamily="18" charset="0"/>
                        </a:rPr>
                        <m:t>=</m:t>
                      </m:r>
                      <m:r>
                        <a:rPr lang="fr-FR" i="1">
                          <a:latin typeface="Cambria Math" panose="02040503050406030204" pitchFamily="18" charset="0"/>
                        </a:rPr>
                        <m:t>𝐵𝑙𝐼𝑣</m:t>
                      </m:r>
                    </m:oMath>
                  </m:oMathPara>
                </a14:m>
                <a:endParaRPr lang="fr-FR" dirty="0"/>
              </a:p>
            </p:txBody>
          </p:sp>
        </mc:Choice>
        <mc:Fallback xmlns="">
          <p:sp>
            <p:nvSpPr>
              <p:cNvPr id="23" name="Rectangle 22"/>
              <p:cNvSpPr>
                <a:spLocks noRot="1" noChangeAspect="1" noMove="1" noResize="1" noEditPoints="1" noAdjustHandles="1" noChangeArrowheads="1" noChangeShapeType="1" noTextEdit="1"/>
              </p:cNvSpPr>
              <p:nvPr/>
            </p:nvSpPr>
            <p:spPr>
              <a:xfrm>
                <a:off x="1331093" y="4894189"/>
                <a:ext cx="1892056" cy="369332"/>
              </a:xfrm>
              <a:prstGeom prst="rect">
                <a:avLst/>
              </a:prstGeom>
              <a:blipFill>
                <a:blip r:embed="rId4"/>
                <a:stretch>
                  <a:fillRect b="-15000"/>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24" name="Rectangle 23"/>
              <p:cNvSpPr/>
              <p:nvPr/>
            </p:nvSpPr>
            <p:spPr>
              <a:xfrm>
                <a:off x="1401754" y="5473147"/>
                <a:ext cx="259462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fr-FR" b="0" i="1" smtClean="0">
                              <a:latin typeface="Cambria Math" panose="02040503050406030204" pitchFamily="18" charset="0"/>
                            </a:rPr>
                          </m:ctrlPr>
                        </m:sSubPr>
                        <m:e>
                          <m:r>
                            <a:rPr lang="fr-FR" b="0" i="1" smtClean="0">
                              <a:latin typeface="Cambria Math" panose="02040503050406030204" pitchFamily="18" charset="0"/>
                            </a:rPr>
                            <m:t>𝑓</m:t>
                          </m:r>
                          <m:r>
                            <a:rPr lang="fr-FR" b="0" i="1" smtClean="0">
                              <a:latin typeface="Cambria Math" panose="02040503050406030204" pitchFamily="18" charset="0"/>
                            </a:rPr>
                            <m:t>.</m:t>
                          </m:r>
                          <m:r>
                            <a:rPr lang="fr-FR" b="0" i="1" smtClean="0">
                              <a:latin typeface="Cambria Math" panose="02040503050406030204" pitchFamily="18" charset="0"/>
                            </a:rPr>
                            <m:t>𝑒</m:t>
                          </m:r>
                          <m:r>
                            <a:rPr lang="fr-FR" b="0" i="1" smtClean="0">
                              <a:latin typeface="Cambria Math" panose="02040503050406030204" pitchFamily="18" charset="0"/>
                            </a:rPr>
                            <m:t>.</m:t>
                          </m:r>
                          <m:r>
                            <a:rPr lang="fr-FR" b="0" i="1" smtClean="0">
                              <a:latin typeface="Cambria Math" panose="02040503050406030204" pitchFamily="18" charset="0"/>
                            </a:rPr>
                            <m:t>𝑚</m:t>
                          </m:r>
                          <m:r>
                            <a:rPr lang="fr-FR" b="0" i="1" smtClean="0">
                              <a:latin typeface="Cambria Math" panose="02040503050406030204" pitchFamily="18" charset="0"/>
                            </a:rPr>
                            <m:t>= </m:t>
                          </m:r>
                          <m:r>
                            <a:rPr lang="fr-FR" b="0" i="1" smtClean="0">
                              <a:latin typeface="Cambria Math" panose="02040503050406030204" pitchFamily="18" charset="0"/>
                            </a:rPr>
                            <m:t>𝑉</m:t>
                          </m:r>
                        </m:e>
                        <m:sub>
                          <m:r>
                            <a:rPr lang="fr-FR" b="0" i="1" smtClean="0">
                              <a:latin typeface="Cambria Math" panose="02040503050406030204" pitchFamily="18" charset="0"/>
                            </a:rPr>
                            <m:t>2</m:t>
                          </m:r>
                        </m:sub>
                      </m:sSub>
                      <m:r>
                        <a:rPr lang="fr-FR" b="0" i="1" smtClean="0">
                          <a:latin typeface="Cambria Math" panose="02040503050406030204" pitchFamily="18" charset="0"/>
                        </a:rPr>
                        <m:t>−</m:t>
                      </m:r>
                      <m:sSub>
                        <m:sSubPr>
                          <m:ctrlPr>
                            <a:rPr lang="fr-FR" i="1">
                              <a:latin typeface="Cambria Math" panose="02040503050406030204" pitchFamily="18" charset="0"/>
                            </a:rPr>
                          </m:ctrlPr>
                        </m:sSubPr>
                        <m:e>
                          <m:r>
                            <a:rPr lang="fr-FR" i="1">
                              <a:latin typeface="Cambria Math" panose="02040503050406030204" pitchFamily="18" charset="0"/>
                            </a:rPr>
                            <m:t>𝑉</m:t>
                          </m:r>
                        </m:e>
                        <m:sub>
                          <m:r>
                            <a:rPr lang="fr-FR" i="1">
                              <a:latin typeface="Cambria Math" panose="02040503050406030204" pitchFamily="18" charset="0"/>
                            </a:rPr>
                            <m:t>1</m:t>
                          </m:r>
                        </m:sub>
                      </m:sSub>
                      <m:r>
                        <a:rPr lang="fr-FR" b="0" i="1" smtClean="0">
                          <a:latin typeface="Cambria Math" panose="02040503050406030204" pitchFamily="18" charset="0"/>
                        </a:rPr>
                        <m:t>=</m:t>
                      </m:r>
                      <m:r>
                        <a:rPr lang="fr-FR" i="1">
                          <a:latin typeface="Cambria Math" panose="02040503050406030204" pitchFamily="18" charset="0"/>
                        </a:rPr>
                        <m:t>𝐵𝑙𝑣</m:t>
                      </m:r>
                    </m:oMath>
                  </m:oMathPara>
                </a14:m>
                <a:endParaRPr lang="fr-FR" dirty="0"/>
              </a:p>
            </p:txBody>
          </p:sp>
        </mc:Choice>
        <mc:Fallback xmlns="">
          <p:sp>
            <p:nvSpPr>
              <p:cNvPr id="24" name="Rectangle 23"/>
              <p:cNvSpPr>
                <a:spLocks noRot="1" noChangeAspect="1" noMove="1" noResize="1" noEditPoints="1" noAdjustHandles="1" noChangeArrowheads="1" noChangeShapeType="1" noTextEdit="1"/>
              </p:cNvSpPr>
              <p:nvPr/>
            </p:nvSpPr>
            <p:spPr>
              <a:xfrm>
                <a:off x="1401754" y="5473147"/>
                <a:ext cx="2594621" cy="369332"/>
              </a:xfrm>
              <a:prstGeom prst="rect">
                <a:avLst/>
              </a:prstGeom>
              <a:blipFill>
                <a:blip r:embed="rId5"/>
                <a:stretch>
                  <a:fillRect b="-15000"/>
                </a:stretch>
              </a:blipFill>
            </p:spPr>
            <p:txBody>
              <a:bodyPr/>
              <a:lstStyle/>
              <a:p>
                <a:r>
                  <a:rPr lang="fr-FR">
                    <a:noFill/>
                  </a:rPr>
                  <a:t> </a:t>
                </a:r>
              </a:p>
            </p:txBody>
          </p:sp>
        </mc:Fallback>
      </mc:AlternateContent>
      <p:sp>
        <p:nvSpPr>
          <p:cNvPr id="8" name="ZoneTexte 7"/>
          <p:cNvSpPr txBox="1"/>
          <p:nvPr/>
        </p:nvSpPr>
        <p:spPr>
          <a:xfrm>
            <a:off x="4484703" y="5443840"/>
            <a:ext cx="4215414" cy="369332"/>
          </a:xfrm>
          <a:prstGeom prst="rect">
            <a:avLst/>
          </a:prstGeom>
          <a:noFill/>
        </p:spPr>
        <p:txBody>
          <a:bodyPr wrap="square" rtlCol="0">
            <a:spAutoFit/>
          </a:bodyPr>
          <a:lstStyle/>
          <a:p>
            <a:r>
              <a:rPr lang="fr-FR" dirty="0" err="1" smtClean="0"/>
              <a:t>Fem</a:t>
            </a:r>
            <a:r>
              <a:rPr lang="fr-FR" dirty="0" smtClean="0"/>
              <a:t> induite aux bornes du conducteur</a:t>
            </a:r>
            <a:endParaRPr lang="fr-FR" dirty="0"/>
          </a:p>
        </p:txBody>
      </p:sp>
      <p:sp>
        <p:nvSpPr>
          <p:cNvPr id="10" name="ZoneTexte 9"/>
          <p:cNvSpPr txBox="1"/>
          <p:nvPr/>
        </p:nvSpPr>
        <p:spPr>
          <a:xfrm>
            <a:off x="4084053" y="3454926"/>
            <a:ext cx="4875797" cy="646331"/>
          </a:xfrm>
          <a:prstGeom prst="rect">
            <a:avLst/>
          </a:prstGeom>
          <a:noFill/>
        </p:spPr>
        <p:txBody>
          <a:bodyPr wrap="square" rtlCol="0">
            <a:spAutoFit/>
          </a:bodyPr>
          <a:lstStyle/>
          <a:p>
            <a:pPr algn="just"/>
            <a:r>
              <a:rPr lang="fr-FR" dirty="0" smtClean="0"/>
              <a:t>Le travail nécessaire pour augmenter l’énergie potentielle de la masse</a:t>
            </a:r>
            <a:endParaRPr lang="fr-FR" dirty="0"/>
          </a:p>
        </p:txBody>
      </p:sp>
      <p:cxnSp>
        <p:nvCxnSpPr>
          <p:cNvPr id="25" name="Connecteur droit avec flèche 24"/>
          <p:cNvCxnSpPr/>
          <p:nvPr/>
        </p:nvCxnSpPr>
        <p:spPr>
          <a:xfrm flipV="1">
            <a:off x="3577701" y="3700366"/>
            <a:ext cx="594804" cy="2784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2558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2" grpId="0"/>
      <p:bldP spid="23" grpId="0"/>
      <p:bldP spid="24" grpId="0"/>
      <p:bldP spid="8" grpId="0"/>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3" name="Espace réservé du numéro de diapositive 2"/>
          <p:cNvSpPr>
            <a:spLocks noGrp="1"/>
          </p:cNvSpPr>
          <p:nvPr>
            <p:ph type="sldNum" sz="quarter" idx="12"/>
          </p:nvPr>
        </p:nvSpPr>
        <p:spPr/>
        <p:txBody>
          <a:bodyPr/>
          <a:lstStyle/>
          <a:p>
            <a:pPr>
              <a:defRPr/>
            </a:pPr>
            <a:fld id="{E606A5E6-F675-466D-8F33-936451DB3125}" type="slidenum">
              <a:rPr lang="en-US" altLang="fr-FR" smtClean="0"/>
              <a:pPr>
                <a:defRPr/>
              </a:pPr>
              <a:t>7</a:t>
            </a:fld>
            <a:endParaRPr lang="en-US" altLang="fr-FR"/>
          </a:p>
        </p:txBody>
      </p:sp>
      <p:sp>
        <p:nvSpPr>
          <p:cNvPr id="4"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 name="Rectangle 2"/>
          <p:cNvSpPr txBox="1">
            <a:spLocks noChangeArrowheads="1"/>
          </p:cNvSpPr>
          <p:nvPr/>
        </p:nvSpPr>
        <p:spPr>
          <a:xfrm>
            <a:off x="2565400" y="274638"/>
            <a:ext cx="3987800" cy="1143000"/>
          </a:xfrm>
          <a:prstGeom prst="rect">
            <a:avLst/>
          </a:prstGeom>
        </p:spPr>
        <p:txBody>
          <a:bodyPr/>
          <a:lstStyle/>
          <a:p>
            <a:pPr algn="ctr">
              <a:defRPr/>
            </a:pPr>
            <a:r>
              <a:rPr lang="fr-FR" sz="3200" b="1" dirty="0" smtClean="0">
                <a:latin typeface="+mj-lt"/>
                <a:ea typeface="+mj-ea"/>
                <a:cs typeface="+mj-cs"/>
              </a:rPr>
              <a:t>Moteur linéaire primitif</a:t>
            </a:r>
            <a:endParaRPr lang="fr-FR" sz="3200" b="1" dirty="0">
              <a:latin typeface="+mj-lt"/>
              <a:ea typeface="+mj-ea"/>
              <a:cs typeface="+mj-cs"/>
            </a:endParaRPr>
          </a:p>
        </p:txBody>
      </p:sp>
      <p:sp>
        <p:nvSpPr>
          <p:cNvPr id="6" name="Rectangle 1"/>
          <p:cNvSpPr>
            <a:spLocks noChangeArrowheads="1"/>
          </p:cNvSpPr>
          <p:nvPr/>
        </p:nvSpPr>
        <p:spPr bwMode="auto">
          <a:xfrm>
            <a:off x="1055706" y="1720415"/>
            <a:ext cx="7194612" cy="282137"/>
          </a:xfrm>
          <a:prstGeom prst="rect">
            <a:avLst/>
          </a:prstGeom>
          <a:noFill/>
          <a:ln>
            <a:noFill/>
          </a:ln>
          <a:effectLst/>
        </p:spPr>
        <p:txBody>
          <a:bodyPr vert="horz" wrap="square" lIns="0" tIns="-12696" rIns="0" bIns="-12696" numCol="1" anchor="ctr" anchorCtr="0" compatLnSpc="1">
            <a:prstTxWarp prst="textNoShape">
              <a:avLst/>
            </a:prstTxWarp>
            <a:spAutoFit/>
          </a:bodyPr>
          <a:lstStyle/>
          <a:p>
            <a:pPr lvl="0" algn="just"/>
            <a:r>
              <a:rPr kumimoji="0" lang="fr-FR" altLang="fr-FR" sz="2000" b="0" i="0" u="sng" strike="noStrike" cap="none" normalizeH="0" baseline="0" dirty="0" smtClean="0">
                <a:ln>
                  <a:noFill/>
                </a:ln>
                <a:solidFill>
                  <a:schemeClr val="tx1"/>
                </a:solidFill>
                <a:effectLst/>
              </a:rPr>
              <a:t>Système</a:t>
            </a:r>
            <a:r>
              <a:rPr kumimoji="0" lang="fr-FR" altLang="fr-FR" sz="2000" b="0" i="0" u="sng" strike="noStrike" cap="none" normalizeH="0" dirty="0" smtClean="0">
                <a:ln>
                  <a:noFill/>
                </a:ln>
                <a:solidFill>
                  <a:schemeClr val="tx1"/>
                </a:solidFill>
                <a:effectLst/>
              </a:rPr>
              <a:t> en mouvement </a:t>
            </a:r>
            <a:r>
              <a:rPr kumimoji="0" lang="fr-FR" altLang="fr-FR" sz="2000" b="0" i="0" u="none" strike="noStrike" cap="none" normalizeH="0" dirty="0" smtClean="0">
                <a:ln>
                  <a:noFill/>
                </a:ln>
                <a:solidFill>
                  <a:schemeClr val="tx1"/>
                </a:solidFill>
                <a:effectLst/>
              </a:rPr>
              <a:t>:</a:t>
            </a:r>
            <a:endParaRPr kumimoji="0" lang="fr-FR" altLang="fr-FR" sz="2000" b="0" i="0" u="none" strike="noStrike" cap="none" normalizeH="0" baseline="0" dirty="0" smtClean="0">
              <a:ln>
                <a:noFill/>
              </a:ln>
              <a:solidFill>
                <a:schemeClr val="tx1"/>
              </a:solidFill>
              <a:effectLst/>
            </a:endParaRPr>
          </a:p>
        </p:txBody>
      </p:sp>
      <p:sp>
        <p:nvSpPr>
          <p:cNvPr id="7" name="ZoneTexte 6"/>
          <p:cNvSpPr txBox="1"/>
          <p:nvPr/>
        </p:nvSpPr>
        <p:spPr>
          <a:xfrm>
            <a:off x="1411550" y="2547891"/>
            <a:ext cx="6838768" cy="3139321"/>
          </a:xfrm>
          <a:prstGeom prst="rect">
            <a:avLst/>
          </a:prstGeom>
          <a:noFill/>
        </p:spPr>
        <p:txBody>
          <a:bodyPr wrap="square" rtlCol="0">
            <a:spAutoFit/>
          </a:bodyPr>
          <a:lstStyle/>
          <a:p>
            <a:pPr marL="285750" indent="-285750">
              <a:buFont typeface="Arial" panose="020B0604020202020204" pitchFamily="34" charset="0"/>
              <a:buChar char="•"/>
            </a:pPr>
            <a:r>
              <a:rPr lang="fr-FR" dirty="0" smtClean="0"/>
              <a:t>Une tension appelée </a:t>
            </a:r>
            <a:r>
              <a:rPr lang="fr-FR" dirty="0" err="1" smtClean="0"/>
              <a:t>fem</a:t>
            </a:r>
            <a:r>
              <a:rPr lang="fr-FR" dirty="0" smtClean="0"/>
              <a:t> est induite dans le conducteur en mouvement;</a:t>
            </a:r>
          </a:p>
          <a:p>
            <a:pPr marL="285750" indent="-285750">
              <a:buFont typeface="Arial" panose="020B0604020202020204" pitchFamily="34" charset="0"/>
              <a:buChar char="•"/>
            </a:pPr>
            <a:endParaRPr lang="fr-FR" dirty="0" smtClean="0"/>
          </a:p>
          <a:p>
            <a:pPr marL="285750" indent="-285750">
              <a:buFont typeface="Arial" panose="020B0604020202020204" pitchFamily="34" charset="0"/>
              <a:buChar char="•"/>
            </a:pPr>
            <a:r>
              <a:rPr lang="fr-FR" dirty="0" smtClean="0"/>
              <a:t>La tension appliquée au conducteur doit augmenter pour faire face à cette </a:t>
            </a:r>
            <a:r>
              <a:rPr lang="fr-FR" dirty="0" err="1" smtClean="0"/>
              <a:t>fem</a:t>
            </a:r>
            <a:r>
              <a:rPr lang="fr-FR" dirty="0" smtClean="0"/>
              <a:t> </a:t>
            </a:r>
            <a:r>
              <a:rPr lang="fr-FR" dirty="0"/>
              <a:t>(appelée force contre électromotrice dans le moteur)</a:t>
            </a:r>
            <a:r>
              <a:rPr lang="fr-FR" dirty="0" smtClean="0"/>
              <a:t>;</a:t>
            </a:r>
          </a:p>
          <a:p>
            <a:pPr marL="285750" indent="-285750">
              <a:buFont typeface="Arial" panose="020B0604020202020204" pitchFamily="34" charset="0"/>
              <a:buChar char="•"/>
            </a:pPr>
            <a:endParaRPr lang="fr-FR" dirty="0" smtClean="0"/>
          </a:p>
          <a:p>
            <a:pPr marL="285750" indent="-285750">
              <a:buFont typeface="Arial" panose="020B0604020202020204" pitchFamily="34" charset="0"/>
              <a:buChar char="•"/>
            </a:pPr>
            <a:r>
              <a:rPr lang="fr-FR" dirty="0" smtClean="0"/>
              <a:t>La </a:t>
            </a:r>
            <a:r>
              <a:rPr lang="fr-FR" dirty="0" err="1" smtClean="0"/>
              <a:t>fem</a:t>
            </a:r>
            <a:r>
              <a:rPr lang="fr-FR" dirty="0" smtClean="0"/>
              <a:t> est proportionnelle à B et à la vitesse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smtClean="0"/>
              <a:t>Le courant depend </a:t>
            </a:r>
            <a:r>
              <a:rPr lang="en-US" dirty="0" err="1" smtClean="0"/>
              <a:t>uniquement</a:t>
            </a:r>
            <a:r>
              <a:rPr lang="en-US" dirty="0" smtClean="0"/>
              <a:t> de la force </a:t>
            </a:r>
            <a:r>
              <a:rPr lang="en-US" dirty="0" err="1" smtClean="0"/>
              <a:t>mécanique</a:t>
            </a:r>
            <a:r>
              <a:rPr lang="en-US" dirty="0" smtClean="0"/>
              <a:t> (couple)</a:t>
            </a:r>
            <a:endParaRPr lang="fr-FR" dirty="0" smtClean="0"/>
          </a:p>
          <a:p>
            <a:pPr marL="285750" indent="-285750">
              <a:buFont typeface="Arial" panose="020B0604020202020204" pitchFamily="34" charset="0"/>
              <a:buChar char="•"/>
            </a:pPr>
            <a:endParaRPr lang="fr-FR" dirty="0"/>
          </a:p>
        </p:txBody>
      </p:sp>
    </p:spTree>
    <p:extLst>
      <p:ext uri="{BB962C8B-B14F-4D97-AF65-F5344CB8AC3E}">
        <p14:creationId xmlns:p14="http://schemas.microsoft.com/office/powerpoint/2010/main" val="287577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3" name="Espace réservé du numéro de diapositive 2"/>
          <p:cNvSpPr>
            <a:spLocks noGrp="1"/>
          </p:cNvSpPr>
          <p:nvPr>
            <p:ph type="sldNum" sz="quarter" idx="12"/>
          </p:nvPr>
        </p:nvSpPr>
        <p:spPr/>
        <p:txBody>
          <a:bodyPr/>
          <a:lstStyle/>
          <a:p>
            <a:pPr>
              <a:defRPr/>
            </a:pPr>
            <a:fld id="{E606A5E6-F675-466D-8F33-936451DB3125}" type="slidenum">
              <a:rPr lang="en-US" altLang="fr-FR" smtClean="0"/>
              <a:pPr>
                <a:defRPr/>
              </a:pPr>
              <a:t>8</a:t>
            </a:fld>
            <a:endParaRPr lang="en-US" altLang="fr-FR"/>
          </a:p>
        </p:txBody>
      </p:sp>
      <p:sp>
        <p:nvSpPr>
          <p:cNvPr id="4"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 name="Rectangle 2"/>
          <p:cNvSpPr txBox="1">
            <a:spLocks noChangeArrowheads="1"/>
          </p:cNvSpPr>
          <p:nvPr/>
        </p:nvSpPr>
        <p:spPr>
          <a:xfrm>
            <a:off x="2565400" y="274638"/>
            <a:ext cx="3987800" cy="1143000"/>
          </a:xfrm>
          <a:prstGeom prst="rect">
            <a:avLst/>
          </a:prstGeom>
        </p:spPr>
        <p:txBody>
          <a:bodyPr/>
          <a:lstStyle/>
          <a:p>
            <a:pPr algn="ctr">
              <a:defRPr/>
            </a:pPr>
            <a:r>
              <a:rPr lang="fr-FR" sz="3200" b="1" dirty="0" smtClean="0">
                <a:latin typeface="+mj-lt"/>
                <a:ea typeface="+mj-ea"/>
                <a:cs typeface="+mj-cs"/>
              </a:rPr>
              <a:t>Moteur linéaire primitif</a:t>
            </a:r>
            <a:endParaRPr lang="fr-FR" sz="3200" b="1" dirty="0">
              <a:latin typeface="+mj-lt"/>
              <a:ea typeface="+mj-ea"/>
              <a:cs typeface="+mj-cs"/>
            </a:endParaRPr>
          </a:p>
        </p:txBody>
      </p:sp>
      <p:sp>
        <p:nvSpPr>
          <p:cNvPr id="6" name="Rectangle 1"/>
          <p:cNvSpPr>
            <a:spLocks noChangeArrowheads="1"/>
          </p:cNvSpPr>
          <p:nvPr/>
        </p:nvSpPr>
        <p:spPr bwMode="auto">
          <a:xfrm>
            <a:off x="1055706" y="1720415"/>
            <a:ext cx="7194612" cy="282137"/>
          </a:xfrm>
          <a:prstGeom prst="rect">
            <a:avLst/>
          </a:prstGeom>
          <a:noFill/>
          <a:ln>
            <a:noFill/>
          </a:ln>
          <a:effectLst/>
        </p:spPr>
        <p:txBody>
          <a:bodyPr vert="horz" wrap="square" lIns="0" tIns="-12696" rIns="0" bIns="-12696" numCol="1" anchor="ctr" anchorCtr="0" compatLnSpc="1">
            <a:prstTxWarp prst="textNoShape">
              <a:avLst/>
            </a:prstTxWarp>
            <a:spAutoFit/>
          </a:bodyPr>
          <a:lstStyle/>
          <a:p>
            <a:pPr lvl="0" algn="just"/>
            <a:r>
              <a:rPr kumimoji="0" lang="fr-FR" altLang="fr-FR" sz="2000" b="0" i="0" u="sng" strike="noStrike" cap="none" normalizeH="0" baseline="0" dirty="0" smtClean="0">
                <a:ln>
                  <a:noFill/>
                </a:ln>
                <a:solidFill>
                  <a:schemeClr val="tx1"/>
                </a:solidFill>
                <a:effectLst/>
              </a:rPr>
              <a:t>Système</a:t>
            </a:r>
            <a:r>
              <a:rPr kumimoji="0" lang="fr-FR" altLang="fr-FR" sz="2000" b="0" i="0" u="sng" strike="noStrike" cap="none" normalizeH="0" dirty="0" smtClean="0">
                <a:ln>
                  <a:noFill/>
                </a:ln>
                <a:solidFill>
                  <a:schemeClr val="tx1"/>
                </a:solidFill>
                <a:effectLst/>
              </a:rPr>
              <a:t> en mouvement </a:t>
            </a:r>
            <a:r>
              <a:rPr kumimoji="0" lang="fr-FR" altLang="fr-FR" sz="2000" b="0" i="0" u="none" strike="noStrike" cap="none" normalizeH="0" dirty="0" smtClean="0">
                <a:ln>
                  <a:noFill/>
                </a:ln>
                <a:solidFill>
                  <a:schemeClr val="tx1"/>
                </a:solidFill>
                <a:effectLst/>
              </a:rPr>
              <a:t>:</a:t>
            </a:r>
            <a:endParaRPr kumimoji="0" lang="fr-FR" altLang="fr-FR" sz="2000" b="0" i="0" u="none" strike="noStrike" cap="none" normalizeH="0" baseline="0" dirty="0" smtClean="0">
              <a:ln>
                <a:noFill/>
              </a:ln>
              <a:solidFill>
                <a:schemeClr val="tx1"/>
              </a:solidFill>
              <a:effectLst/>
            </a:endParaRPr>
          </a:p>
        </p:txBody>
      </p:sp>
      <p:sp>
        <p:nvSpPr>
          <p:cNvPr id="7" name="ZoneTexte 6"/>
          <p:cNvSpPr txBox="1"/>
          <p:nvPr/>
        </p:nvSpPr>
        <p:spPr>
          <a:xfrm>
            <a:off x="1429059" y="2357996"/>
            <a:ext cx="6838768" cy="369332"/>
          </a:xfrm>
          <a:prstGeom prst="rect">
            <a:avLst/>
          </a:prstGeom>
          <a:noFill/>
        </p:spPr>
        <p:txBody>
          <a:bodyPr wrap="square" rtlCol="0">
            <a:spAutoFit/>
          </a:bodyPr>
          <a:lstStyle/>
          <a:p>
            <a:pPr marL="285750" indent="-285750">
              <a:buFont typeface="Arial" panose="020B0604020202020204" pitchFamily="34" charset="0"/>
              <a:buChar char="•"/>
            </a:pPr>
            <a:r>
              <a:rPr lang="en-US" dirty="0" err="1" smtClean="0"/>
              <a:t>Schéma</a:t>
            </a:r>
            <a:r>
              <a:rPr lang="en-US" dirty="0" smtClean="0"/>
              <a:t> </a:t>
            </a:r>
            <a:r>
              <a:rPr lang="en-US" dirty="0" err="1" smtClean="0"/>
              <a:t>électrique</a:t>
            </a:r>
            <a:r>
              <a:rPr lang="en-US" dirty="0" smtClean="0"/>
              <a:t> </a:t>
            </a:r>
            <a:r>
              <a:rPr lang="en-US" dirty="0" err="1" smtClean="0"/>
              <a:t>équivalent</a:t>
            </a:r>
            <a:endParaRPr lang="fr-FR" dirty="0" smtClean="0"/>
          </a:p>
        </p:txBody>
      </p:sp>
      <p:pic>
        <p:nvPicPr>
          <p:cNvPr id="8" name="Image 7"/>
          <p:cNvPicPr>
            <a:picLocks noChangeAspect="1"/>
          </p:cNvPicPr>
          <p:nvPr/>
        </p:nvPicPr>
        <p:blipFill>
          <a:blip r:embed="rId2">
            <a:clrChange>
              <a:clrFrom>
                <a:srgbClr val="FFFFFF"/>
              </a:clrFrom>
              <a:clrTo>
                <a:srgbClr val="FFFFFF">
                  <a:alpha val="0"/>
                </a:srgbClr>
              </a:clrTo>
            </a:clrChange>
          </a:blip>
          <a:stretch>
            <a:fillRect/>
          </a:stretch>
        </p:blipFill>
        <p:spPr>
          <a:xfrm>
            <a:off x="3008790" y="3256886"/>
            <a:ext cx="2810267" cy="2438740"/>
          </a:xfrm>
          <a:prstGeom prst="rect">
            <a:avLst/>
          </a:prstGeom>
        </p:spPr>
      </p:pic>
    </p:spTree>
    <p:extLst>
      <p:ext uri="{BB962C8B-B14F-4D97-AF65-F5344CB8AC3E}">
        <p14:creationId xmlns:p14="http://schemas.microsoft.com/office/powerpoint/2010/main" val="3133043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a:t>Commande des machines   3.MCC     Ali NEJMI</a:t>
            </a:r>
            <a:endParaRPr lang="en-US"/>
          </a:p>
        </p:txBody>
      </p:sp>
      <p:sp>
        <p:nvSpPr>
          <p:cNvPr id="819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D0ED277-EE78-449F-B5DE-3C620F79B611}" type="slidenum">
              <a:rPr lang="en-US" altLang="fr-FR" sz="1000" smtClean="0">
                <a:solidFill>
                  <a:srgbClr val="292929"/>
                </a:solidFill>
                <a:latin typeface="Arial" panose="020B0604020202020204" pitchFamily="34" charset="0"/>
              </a:rPr>
              <a:pPr>
                <a:spcBef>
                  <a:spcPct val="0"/>
                </a:spcBef>
                <a:buClrTx/>
                <a:buSzTx/>
                <a:buFontTx/>
                <a:buNone/>
              </a:pPr>
              <a:t>9</a:t>
            </a:fld>
            <a:endParaRPr lang="en-US" altLang="fr-FR" sz="1000" smtClean="0">
              <a:solidFill>
                <a:srgbClr val="292929"/>
              </a:solidFill>
              <a:latin typeface="Arial" panose="020B0604020202020204" pitchFamily="34" charset="0"/>
            </a:endParaRPr>
          </a:p>
        </p:txBody>
      </p:sp>
      <p:sp>
        <p:nvSpPr>
          <p:cNvPr id="8196" name="Rectangle 3"/>
          <p:cNvSpPr>
            <a:spLocks noChangeArrowheads="1"/>
          </p:cNvSpPr>
          <p:nvPr/>
        </p:nvSpPr>
        <p:spPr bwMode="auto">
          <a:xfrm>
            <a:off x="649288" y="1444625"/>
            <a:ext cx="7504112" cy="2862263"/>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2000" i="1" dirty="0">
                <a:latin typeface="Arial" panose="020B0604020202020204" pitchFamily="34" charset="0"/>
              </a:rPr>
              <a:t>La machine à courant continu – à collecteur mécanique – après avoir longtemps occupé une place dominante au sein des systèmes électromécaniques à vitesse variable, est en forte régression. Son succès, qui lui permet toujours d’occuper quelques niches sur le marché, est dû à la grande simplicité de son alimentation électronique et de sa commande comparativement à celles de ses concurrentes, les machines à commutation électronique ou sans balais (synchrones, asynchrones, à réluctance variable…).</a:t>
            </a:r>
            <a:endParaRPr lang="fr-FR" altLang="fr-FR" sz="2000" dirty="0">
              <a:latin typeface="Arial" panose="020B0604020202020204" pitchFamily="34" charset="0"/>
            </a:endParaRPr>
          </a:p>
        </p:txBody>
      </p:sp>
      <p:sp>
        <p:nvSpPr>
          <p:cNvPr id="5" name="Rectangle 2"/>
          <p:cNvSpPr txBox="1">
            <a:spLocks noChangeArrowheads="1"/>
          </p:cNvSpPr>
          <p:nvPr/>
        </p:nvSpPr>
        <p:spPr>
          <a:xfrm>
            <a:off x="2565400" y="274638"/>
            <a:ext cx="3987800" cy="1143000"/>
          </a:xfrm>
          <a:prstGeom prst="rect">
            <a:avLst/>
          </a:prstGeom>
        </p:spPr>
        <p:txBody>
          <a:bodyPr/>
          <a:lstStyle/>
          <a:p>
            <a:pPr>
              <a:defRPr/>
            </a:pPr>
            <a:r>
              <a:rPr lang="en-US" sz="3200" b="1" dirty="0">
                <a:latin typeface="+mj-lt"/>
                <a:ea typeface="+mj-ea"/>
                <a:cs typeface="+mj-cs"/>
              </a:rPr>
              <a:t>INTRODUCTION</a:t>
            </a:r>
          </a:p>
        </p:txBody>
      </p:sp>
      <p:sp>
        <p:nvSpPr>
          <p:cNvPr id="8198"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a:t>Commande des machines   3.MCC     Ali NEJMI</a:t>
            </a:r>
            <a:endParaRPr lang="en-US"/>
          </a:p>
        </p:txBody>
      </p:sp>
      <p:sp>
        <p:nvSpPr>
          <p:cNvPr id="1024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7FB5DF5-E489-428A-BF27-C43D64668C4B}" type="slidenum">
              <a:rPr lang="en-US" altLang="fr-FR" sz="1000" smtClean="0">
                <a:solidFill>
                  <a:srgbClr val="292929"/>
                </a:solidFill>
                <a:latin typeface="Arial" panose="020B0604020202020204" pitchFamily="34" charset="0"/>
              </a:rPr>
              <a:pPr>
                <a:spcBef>
                  <a:spcPct val="0"/>
                </a:spcBef>
                <a:buClrTx/>
                <a:buSzTx/>
                <a:buFontTx/>
                <a:buNone/>
              </a:pPr>
              <a:t>10</a:t>
            </a:fld>
            <a:endParaRPr lang="en-US" altLang="fr-FR" sz="1000" smtClean="0">
              <a:solidFill>
                <a:srgbClr val="292929"/>
              </a:solidFill>
              <a:latin typeface="Arial" panose="020B0604020202020204" pitchFamily="34" charset="0"/>
            </a:endParaRPr>
          </a:p>
        </p:txBody>
      </p:sp>
      <p:sp>
        <p:nvSpPr>
          <p:cNvPr id="4" name="Rectangle 3"/>
          <p:cNvSpPr/>
          <p:nvPr/>
        </p:nvSpPr>
        <p:spPr>
          <a:xfrm>
            <a:off x="642938" y="1322388"/>
            <a:ext cx="5376862" cy="3784600"/>
          </a:xfrm>
          <a:prstGeom prst="rect">
            <a:avLst/>
          </a:prstGeom>
        </p:spPr>
        <p:txBody>
          <a:bodyPr>
            <a:spAutoFit/>
          </a:bodyPr>
          <a:lstStyle/>
          <a:p>
            <a:pPr algn="just" eaLnBrk="1" hangingPunct="1">
              <a:buFont typeface="Wingdings" pitchFamily="2" charset="2"/>
              <a:buChar char="§"/>
              <a:defRPr/>
            </a:pPr>
            <a:r>
              <a:rPr lang="fr-FR" dirty="0"/>
              <a:t> </a:t>
            </a:r>
            <a:r>
              <a:rPr lang="fr-FR" sz="2000" b="1" dirty="0"/>
              <a:t>Inventé en 1836</a:t>
            </a:r>
          </a:p>
          <a:p>
            <a:pPr marL="182563" indent="349250" algn="just" eaLnBrk="1" hangingPunct="1">
              <a:buFont typeface="Courier New" pitchFamily="49" charset="0"/>
              <a:buChar char="o"/>
              <a:defRPr/>
            </a:pPr>
            <a:r>
              <a:rPr lang="fr-FR" sz="2000" dirty="0"/>
              <a:t>longtemps seul moteur électrique disponible</a:t>
            </a:r>
          </a:p>
          <a:p>
            <a:pPr marL="182563" indent="349250" algn="just" eaLnBrk="1" hangingPunct="1">
              <a:buFont typeface="Courier New" pitchFamily="49" charset="0"/>
              <a:buChar char="o"/>
              <a:defRPr/>
            </a:pPr>
            <a:r>
              <a:rPr lang="fr-FR" sz="2000" dirty="0"/>
              <a:t>gamme de puissance de 0,1 W à 4 MW</a:t>
            </a:r>
          </a:p>
          <a:p>
            <a:pPr algn="just" eaLnBrk="1" hangingPunct="1">
              <a:defRPr/>
            </a:pPr>
            <a:endParaRPr lang="fr-FR" sz="2000" dirty="0"/>
          </a:p>
          <a:p>
            <a:pPr algn="just" eaLnBrk="1" hangingPunct="1">
              <a:buFont typeface="Wingdings" pitchFamily="2" charset="2"/>
              <a:buChar char="§"/>
              <a:defRPr/>
            </a:pPr>
            <a:r>
              <a:rPr lang="fr-FR" sz="2000" b="1" dirty="0"/>
              <a:t> Utilisations</a:t>
            </a:r>
          </a:p>
          <a:p>
            <a:pPr marL="182563" indent="266700" algn="just" eaLnBrk="1" hangingPunct="1">
              <a:buFont typeface="Courier New" pitchFamily="49" charset="0"/>
              <a:buChar char="o"/>
              <a:defRPr/>
            </a:pPr>
            <a:r>
              <a:rPr lang="fr-FR" sz="2000" dirty="0"/>
              <a:t>petits moteurs et servomoteurs (&lt;100 W)</a:t>
            </a:r>
          </a:p>
          <a:p>
            <a:pPr marL="182563" indent="266700" algn="just" eaLnBrk="1" hangingPunct="1">
              <a:buFont typeface="Courier New" pitchFamily="49" charset="0"/>
              <a:buChar char="o"/>
              <a:defRPr/>
            </a:pPr>
            <a:r>
              <a:rPr lang="fr-FR" sz="2000" dirty="0"/>
              <a:t>appareils ménager et outils portables (variante moteur série, jusqu’à ~500 W)</a:t>
            </a:r>
          </a:p>
          <a:p>
            <a:pPr marL="182563" indent="266700" algn="just" eaLnBrk="1" hangingPunct="1">
              <a:buFont typeface="Courier New" pitchFamily="49" charset="0"/>
              <a:buChar char="o"/>
              <a:defRPr/>
            </a:pPr>
            <a:r>
              <a:rPr lang="fr-FR" sz="2000" dirty="0"/>
              <a:t>entraînements à vitesse variable </a:t>
            </a:r>
            <a:r>
              <a:rPr lang="pl-PL" sz="2000" dirty="0"/>
              <a:t>(~200 kW à ~4 MW)</a:t>
            </a:r>
          </a:p>
          <a:p>
            <a:pPr marL="182563" indent="266700" algn="just" eaLnBrk="1" hangingPunct="1">
              <a:buFont typeface="Courier New" pitchFamily="49" charset="0"/>
              <a:buChar char="o"/>
              <a:defRPr/>
            </a:pPr>
            <a:r>
              <a:rPr lang="fr-FR" sz="2000" dirty="0"/>
              <a:t>dynamos</a:t>
            </a:r>
          </a:p>
        </p:txBody>
      </p:sp>
      <p:pic>
        <p:nvPicPr>
          <p:cNvPr id="1024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43625" y="928688"/>
            <a:ext cx="1762125" cy="140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6"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0813" y="3214688"/>
            <a:ext cx="914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7"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86500" y="4643438"/>
            <a:ext cx="1638300"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8"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a:t>Commande des machines   3.MCC     Ali NEJMI</a:t>
            </a:r>
            <a:endParaRPr lang="en-US"/>
          </a:p>
        </p:txBody>
      </p:sp>
      <p:sp>
        <p:nvSpPr>
          <p:cNvPr id="1229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F97D1E3-1B76-465C-887A-D9374EE51A3A}" type="slidenum">
              <a:rPr lang="en-US" altLang="fr-FR" sz="1000" smtClean="0">
                <a:solidFill>
                  <a:srgbClr val="292929"/>
                </a:solidFill>
                <a:latin typeface="Arial" panose="020B0604020202020204" pitchFamily="34" charset="0"/>
              </a:rPr>
              <a:pPr>
                <a:spcBef>
                  <a:spcPct val="0"/>
                </a:spcBef>
                <a:buClrTx/>
                <a:buSzTx/>
                <a:buFontTx/>
                <a:buNone/>
              </a:pPr>
              <a:t>11</a:t>
            </a:fld>
            <a:endParaRPr lang="en-US" altLang="fr-FR" sz="1000" smtClean="0">
              <a:solidFill>
                <a:srgbClr val="292929"/>
              </a:solidFill>
              <a:latin typeface="Arial" panose="020B0604020202020204" pitchFamily="34" charset="0"/>
            </a:endParaRPr>
          </a:p>
        </p:txBody>
      </p:sp>
      <p:pic>
        <p:nvPicPr>
          <p:cNvPr id="4" name="Picture 1" descr="C:\Documents and Settings\Monsieur\Mes documents\Mes images\moteurcc1.gif"/>
          <p:cNvPicPr>
            <a:picLocks noChangeAspect="1" noChangeArrowheads="1"/>
          </p:cNvPicPr>
          <p:nvPr/>
        </p:nvPicPr>
        <p:blipFill>
          <a:blip r:embed="rId5">
            <a:clrChange>
              <a:clrFrom>
                <a:srgbClr val="FFFF00"/>
              </a:clrFrom>
              <a:clrTo>
                <a:srgbClr val="FFFF00">
                  <a:alpha val="0"/>
                </a:srgbClr>
              </a:clrTo>
            </a:clrChange>
            <a:extLst>
              <a:ext uri="{28A0092B-C50C-407E-A947-70E740481C1C}">
                <a14:useLocalDpi xmlns:a14="http://schemas.microsoft.com/office/drawing/2010/main" val="0"/>
              </a:ext>
            </a:extLst>
          </a:blip>
          <a:srcRect/>
          <a:stretch>
            <a:fillRect/>
          </a:stretch>
        </p:blipFill>
        <p:spPr bwMode="auto">
          <a:xfrm>
            <a:off x="2214563" y="922338"/>
            <a:ext cx="4775200" cy="345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ZoneTexte 4"/>
          <p:cNvSpPr txBox="1">
            <a:spLocks noChangeArrowheads="1"/>
          </p:cNvSpPr>
          <p:nvPr/>
        </p:nvSpPr>
        <p:spPr bwMode="auto">
          <a:xfrm>
            <a:off x="7429500" y="1136650"/>
            <a:ext cx="10715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i="1">
                <a:latin typeface="Arial" panose="020B0604020202020204" pitchFamily="34" charset="0"/>
              </a:rPr>
              <a:t>Porte balai</a:t>
            </a:r>
          </a:p>
        </p:txBody>
      </p:sp>
      <p:sp>
        <p:nvSpPr>
          <p:cNvPr id="12294" name="ZoneTexte 5"/>
          <p:cNvSpPr txBox="1">
            <a:spLocks noChangeArrowheads="1"/>
          </p:cNvSpPr>
          <p:nvPr/>
        </p:nvSpPr>
        <p:spPr bwMode="auto">
          <a:xfrm>
            <a:off x="5072063" y="3708400"/>
            <a:ext cx="12858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i="1">
                <a:latin typeface="Arial" panose="020B0604020202020204" pitchFamily="34" charset="0"/>
              </a:rPr>
              <a:t>Encoche</a:t>
            </a:r>
          </a:p>
        </p:txBody>
      </p:sp>
      <p:sp>
        <p:nvSpPr>
          <p:cNvPr id="12295" name="ZoneTexte 7"/>
          <p:cNvSpPr txBox="1">
            <a:spLocks noChangeArrowheads="1"/>
          </p:cNvSpPr>
          <p:nvPr/>
        </p:nvSpPr>
        <p:spPr bwMode="auto">
          <a:xfrm>
            <a:off x="7000875" y="3565525"/>
            <a:ext cx="1571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i="1">
                <a:latin typeface="Arial" panose="020B0604020202020204" pitchFamily="34" charset="0"/>
              </a:rPr>
              <a:t>Faisceaux</a:t>
            </a:r>
          </a:p>
        </p:txBody>
      </p:sp>
      <p:sp>
        <p:nvSpPr>
          <p:cNvPr id="12296" name="ZoneTexte 8"/>
          <p:cNvSpPr txBox="1">
            <a:spLocks noChangeArrowheads="1"/>
          </p:cNvSpPr>
          <p:nvPr/>
        </p:nvSpPr>
        <p:spPr bwMode="auto">
          <a:xfrm>
            <a:off x="2786063" y="993775"/>
            <a:ext cx="2643187"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i="1">
                <a:latin typeface="Arial" panose="020B0604020202020204" pitchFamily="34" charset="0"/>
              </a:rPr>
              <a:t>Circuit magnétique</a:t>
            </a:r>
          </a:p>
        </p:txBody>
      </p:sp>
      <p:sp>
        <p:nvSpPr>
          <p:cNvPr id="12297" name="ZoneTexte 9"/>
          <p:cNvSpPr txBox="1">
            <a:spLocks noChangeArrowheads="1"/>
          </p:cNvSpPr>
          <p:nvPr/>
        </p:nvSpPr>
        <p:spPr bwMode="auto">
          <a:xfrm>
            <a:off x="785813" y="2422525"/>
            <a:ext cx="10715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i="1">
                <a:latin typeface="Arial" panose="020B0604020202020204" pitchFamily="34" charset="0"/>
              </a:rPr>
              <a:t>Arbre</a:t>
            </a:r>
          </a:p>
        </p:txBody>
      </p:sp>
      <p:cxnSp>
        <p:nvCxnSpPr>
          <p:cNvPr id="11" name="Connecteur droit avec flèche 10"/>
          <p:cNvCxnSpPr/>
          <p:nvPr/>
        </p:nvCxnSpPr>
        <p:spPr>
          <a:xfrm>
            <a:off x="1714500" y="2922588"/>
            <a:ext cx="642938" cy="1587"/>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a:off x="3786188" y="1565275"/>
            <a:ext cx="571500" cy="357188"/>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Connecteur droit avec flèche 12"/>
          <p:cNvCxnSpPr/>
          <p:nvPr/>
        </p:nvCxnSpPr>
        <p:spPr>
          <a:xfrm rot="10800000" flipV="1">
            <a:off x="5857875" y="1493838"/>
            <a:ext cx="1500188" cy="42862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rot="10800000">
            <a:off x="5072063" y="2565400"/>
            <a:ext cx="2000250" cy="114300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Connecteur droit avec flèche 14"/>
          <p:cNvCxnSpPr/>
          <p:nvPr/>
        </p:nvCxnSpPr>
        <p:spPr>
          <a:xfrm rot="16200000" flipV="1">
            <a:off x="4250532" y="2958306"/>
            <a:ext cx="1143000" cy="50006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Connecteur droit avec flèche 15"/>
          <p:cNvCxnSpPr/>
          <p:nvPr/>
        </p:nvCxnSpPr>
        <p:spPr>
          <a:xfrm rot="10800000">
            <a:off x="5857875" y="2279650"/>
            <a:ext cx="1428750" cy="600075"/>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304" name="Rectangle 10"/>
          <p:cNvSpPr>
            <a:spLocks noChangeArrowheads="1"/>
          </p:cNvSpPr>
          <p:nvPr/>
        </p:nvSpPr>
        <p:spPr bwMode="auto">
          <a:xfrm>
            <a:off x="182563" y="227013"/>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pic>
        <p:nvPicPr>
          <p:cNvPr id="12305" name="Picture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01963" y="4927600"/>
            <a:ext cx="3140075"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06" name="ZoneTexte 1"/>
          <p:cNvSpPr txBox="1">
            <a:spLocks noChangeArrowheads="1"/>
          </p:cNvSpPr>
          <p:nvPr/>
        </p:nvSpPr>
        <p:spPr bwMode="auto">
          <a:xfrm>
            <a:off x="384175" y="265113"/>
            <a:ext cx="63849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400" b="1">
                <a:solidFill>
                  <a:srgbClr val="C00000"/>
                </a:solidFill>
                <a:latin typeface="Arial" panose="020B0604020202020204" pitchFamily="34" charset="0"/>
              </a:rPr>
              <a:t>Ensemble des composantes d’une MCC</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4"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from="(-#ppt_w/2)" to="(#ppt_x)" calcmode="lin" valueType="num">
                                      <p:cBhvr>
                                        <p:cTn id="7" dur="600" fill="hold">
                                          <p:stCondLst>
                                            <p:cond delay="0"/>
                                          </p:stCondLst>
                                        </p:cTn>
                                        <p:tgtEl>
                                          <p:spTgt spid="4"/>
                                        </p:tgtEl>
                                        <p:attrNameLst>
                                          <p:attrName>ppt_x</p:attrName>
                                        </p:attrNameLst>
                                      </p:cBhvr>
                                    </p:anim>
                                    <p:anim from="0" to="-1.0" calcmode="lin" valueType="num">
                                      <p:cBhvr>
                                        <p:cTn id="8" dur="200" decel="50000" autoRev="1" fill="hold">
                                          <p:stCondLst>
                                            <p:cond delay="600"/>
                                          </p:stCondLst>
                                        </p:cTn>
                                        <p:tgtEl>
                                          <p:spTgt spid="4"/>
                                        </p:tgtEl>
                                        <p:attrNameLst>
                                          <p:attrName>xshear</p:attrName>
                                        </p:attrNameLst>
                                      </p:cBhvr>
                                    </p:anim>
                                    <p:animScale>
                                      <p:cBhvr>
                                        <p:cTn id="9" dur="200" decel="100000" autoRev="1" fill="hold">
                                          <p:stCondLst>
                                            <p:cond delay="600"/>
                                          </p:stCondLst>
                                        </p:cTn>
                                        <p:tgtEl>
                                          <p:spTgt spid="4"/>
                                        </p:tgtEl>
                                      </p:cBhvr>
                                      <p:from x="100000" y="100000"/>
                                      <p:to x="80000" y="100000"/>
                                    </p:animScale>
                                    <p:anim by="(#ppt_h/3+#ppt_w*0.1)" calcmode="lin" valueType="num">
                                      <p:cBhvr additive="sum">
                                        <p:cTn id="10" dur="200" decel="100000" autoRev="1" fill="hold">
                                          <p:stCondLst>
                                            <p:cond delay="600"/>
                                          </p:stCondLst>
                                        </p:cTn>
                                        <p:tgtEl>
                                          <p:spTgt spid="4"/>
                                        </p:tgtEl>
                                        <p:attrNameLst>
                                          <p:attrName>ppt_x</p:attrName>
                                        </p:attrNameLst>
                                      </p:cBhvr>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xit" presetSubtype="4" fill="hold" nodeType="clickEffect">
                                  <p:stCondLst>
                                    <p:cond delay="0"/>
                                  </p:stCondLst>
                                  <p:childTnLst>
                                    <p:anim calcmode="lin" valueType="num">
                                      <p:cBhvr additive="base">
                                        <p:cTn id="14" dur="500"/>
                                        <p:tgtEl>
                                          <p:spTgt spid="4"/>
                                        </p:tgtEl>
                                        <p:attrNameLst>
                                          <p:attrName>ppt_x</p:attrName>
                                        </p:attrNameLst>
                                      </p:cBhvr>
                                      <p:tavLst>
                                        <p:tav tm="0">
                                          <p:val>
                                            <p:strVal val="ppt_x"/>
                                          </p:val>
                                        </p:tav>
                                        <p:tav tm="100000">
                                          <p:val>
                                            <p:strVal val="ppt_x"/>
                                          </p:val>
                                        </p:tav>
                                      </p:tavLst>
                                    </p:anim>
                                    <p:anim calcmode="lin" valueType="num">
                                      <p:cBhvr additive="base">
                                        <p:cTn id="15" dur="500"/>
                                        <p:tgtEl>
                                          <p:spTgt spid="4"/>
                                        </p:tgtEl>
                                        <p:attrNameLst>
                                          <p:attrName>ppt_y</p:attrName>
                                        </p:attrNameLst>
                                      </p:cBhvr>
                                      <p:tavLst>
                                        <p:tav tm="0">
                                          <p:val>
                                            <p:strVal val="ppt_y"/>
                                          </p:val>
                                        </p:tav>
                                        <p:tav tm="100000">
                                          <p:val>
                                            <p:strVal val="1+ppt_h/2"/>
                                          </p:val>
                                        </p:tav>
                                      </p:tavLst>
                                    </p:anim>
                                    <p:set>
                                      <p:cBhvr>
                                        <p:cTn id="16"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3492500" y="650875"/>
            <a:ext cx="3962400" cy="5759450"/>
            <a:chOff x="2200" y="300"/>
            <a:chExt cx="2496" cy="3628"/>
          </a:xfrm>
        </p:grpSpPr>
        <p:grpSp>
          <p:nvGrpSpPr>
            <p:cNvPr id="14352" name="Group 3"/>
            <p:cNvGrpSpPr>
              <a:grpSpLocks/>
            </p:cNvGrpSpPr>
            <p:nvPr/>
          </p:nvGrpSpPr>
          <p:grpSpPr bwMode="auto">
            <a:xfrm>
              <a:off x="2200" y="300"/>
              <a:ext cx="2496" cy="3628"/>
              <a:chOff x="2200" y="300"/>
              <a:chExt cx="2496" cy="3628"/>
            </a:xfrm>
          </p:grpSpPr>
          <p:sp>
            <p:nvSpPr>
              <p:cNvPr id="14355" name="Rectangle 4"/>
              <p:cNvSpPr>
                <a:spLocks noChangeArrowheads="1"/>
              </p:cNvSpPr>
              <p:nvPr/>
            </p:nvSpPr>
            <p:spPr bwMode="auto">
              <a:xfrm>
                <a:off x="2290" y="300"/>
                <a:ext cx="2406" cy="3628"/>
              </a:xfrm>
              <a:prstGeom prst="rect">
                <a:avLst/>
              </a:prstGeom>
              <a:solidFill>
                <a:srgbClr val="C0C0C0"/>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356" name="Rectangle 5"/>
              <p:cNvSpPr>
                <a:spLocks noChangeArrowheads="1"/>
              </p:cNvSpPr>
              <p:nvPr/>
            </p:nvSpPr>
            <p:spPr bwMode="auto">
              <a:xfrm>
                <a:off x="2789" y="799"/>
                <a:ext cx="1404" cy="263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357" name="Rectangle 6"/>
              <p:cNvSpPr>
                <a:spLocks noChangeArrowheads="1"/>
              </p:cNvSpPr>
              <p:nvPr/>
            </p:nvSpPr>
            <p:spPr bwMode="auto">
              <a:xfrm>
                <a:off x="2200" y="1389"/>
                <a:ext cx="680" cy="14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14353" name="Line 7"/>
            <p:cNvSpPr>
              <a:spLocks noChangeShapeType="1"/>
            </p:cNvSpPr>
            <p:nvPr/>
          </p:nvSpPr>
          <p:spPr bwMode="auto">
            <a:xfrm flipH="1">
              <a:off x="2290" y="1389"/>
              <a:ext cx="4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4354" name="Line 8"/>
            <p:cNvSpPr>
              <a:spLocks noChangeShapeType="1"/>
            </p:cNvSpPr>
            <p:nvPr/>
          </p:nvSpPr>
          <p:spPr bwMode="auto">
            <a:xfrm flipH="1">
              <a:off x="2290" y="2795"/>
              <a:ext cx="4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274441" name="Rectangle 9"/>
          <p:cNvSpPr>
            <a:spLocks noChangeArrowheads="1"/>
          </p:cNvSpPr>
          <p:nvPr/>
        </p:nvSpPr>
        <p:spPr bwMode="auto">
          <a:xfrm>
            <a:off x="6659563" y="1843088"/>
            <a:ext cx="796925" cy="3457575"/>
          </a:xfrm>
          <a:prstGeom prst="rect">
            <a:avLst/>
          </a:prstGeom>
          <a:gradFill rotWithShape="1">
            <a:gsLst>
              <a:gs pos="0">
                <a:srgbClr val="FF0000"/>
              </a:gs>
              <a:gs pos="100000">
                <a:srgbClr val="3333CC"/>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3200" b="1">
                <a:latin typeface="Arial" panose="020B0604020202020204" pitchFamily="34" charset="0"/>
              </a:rPr>
              <a:t>N</a:t>
            </a: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r>
              <a:rPr lang="fr-CH" altLang="fr-FR" sz="3200" b="1">
                <a:latin typeface="Arial" panose="020B0604020202020204" pitchFamily="34" charset="0"/>
              </a:rPr>
              <a:t>S</a:t>
            </a:r>
            <a:endParaRPr lang="fr-FR" altLang="fr-FR" sz="3200" b="1">
              <a:latin typeface="Arial" panose="020B0604020202020204" pitchFamily="34" charset="0"/>
            </a:endParaRPr>
          </a:p>
        </p:txBody>
      </p:sp>
      <p:grpSp>
        <p:nvGrpSpPr>
          <p:cNvPr id="4" name="Group 10"/>
          <p:cNvGrpSpPr>
            <a:grpSpLocks/>
          </p:cNvGrpSpPr>
          <p:nvPr/>
        </p:nvGrpSpPr>
        <p:grpSpPr bwMode="auto">
          <a:xfrm>
            <a:off x="3348038" y="2420938"/>
            <a:ext cx="935037" cy="2232025"/>
            <a:chOff x="2109" y="1389"/>
            <a:chExt cx="589" cy="1406"/>
          </a:xfrm>
        </p:grpSpPr>
        <p:sp>
          <p:nvSpPr>
            <p:cNvPr id="14345" name="Line 11"/>
            <p:cNvSpPr>
              <a:spLocks noChangeShapeType="1"/>
            </p:cNvSpPr>
            <p:nvPr/>
          </p:nvSpPr>
          <p:spPr bwMode="auto">
            <a:xfrm>
              <a:off x="233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46" name="Line 12"/>
            <p:cNvSpPr>
              <a:spLocks noChangeShapeType="1"/>
            </p:cNvSpPr>
            <p:nvPr/>
          </p:nvSpPr>
          <p:spPr bwMode="auto">
            <a:xfrm>
              <a:off x="242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47" name="Line 13"/>
            <p:cNvSpPr>
              <a:spLocks noChangeShapeType="1"/>
            </p:cNvSpPr>
            <p:nvPr/>
          </p:nvSpPr>
          <p:spPr bwMode="auto">
            <a:xfrm>
              <a:off x="2517"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48" name="Line 14"/>
            <p:cNvSpPr>
              <a:spLocks noChangeShapeType="1"/>
            </p:cNvSpPr>
            <p:nvPr/>
          </p:nvSpPr>
          <p:spPr bwMode="auto">
            <a:xfrm>
              <a:off x="260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49" name="Line 15"/>
            <p:cNvSpPr>
              <a:spLocks noChangeShapeType="1"/>
            </p:cNvSpPr>
            <p:nvPr/>
          </p:nvSpPr>
          <p:spPr bwMode="auto">
            <a:xfrm>
              <a:off x="269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4350" name="Text Box 16"/>
            <p:cNvSpPr txBox="1">
              <a:spLocks noChangeArrowheads="1"/>
            </p:cNvSpPr>
            <p:nvPr/>
          </p:nvSpPr>
          <p:spPr bwMode="auto">
            <a:xfrm>
              <a:off x="2109" y="1389"/>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FF0000"/>
                  </a:solidFill>
                  <a:latin typeface="Arial" panose="020B0604020202020204" pitchFamily="34" charset="0"/>
                </a:rPr>
                <a:t>B</a:t>
              </a:r>
              <a:endParaRPr lang="en-US" altLang="fr-FR" sz="1800" b="1">
                <a:solidFill>
                  <a:srgbClr val="FF0000"/>
                </a:solidFill>
                <a:latin typeface="Arial" panose="020B0604020202020204" pitchFamily="34" charset="0"/>
              </a:endParaRPr>
            </a:p>
          </p:txBody>
        </p:sp>
        <p:sp>
          <p:nvSpPr>
            <p:cNvPr id="14351" name="Line 17"/>
            <p:cNvSpPr>
              <a:spLocks noChangeShapeType="1"/>
            </p:cNvSpPr>
            <p:nvPr/>
          </p:nvSpPr>
          <p:spPr bwMode="auto">
            <a:xfrm>
              <a:off x="2155" y="1434"/>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274450" name="Rectangle 18"/>
          <p:cNvSpPr>
            <a:spLocks noChangeArrowheads="1"/>
          </p:cNvSpPr>
          <p:nvPr/>
        </p:nvSpPr>
        <p:spPr bwMode="auto">
          <a:xfrm>
            <a:off x="3924300" y="836613"/>
            <a:ext cx="207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Stator / Inducteur</a:t>
            </a:r>
            <a:endParaRPr lang="en-US" altLang="fr-FR" sz="1800" b="1">
              <a:latin typeface="Arial" panose="020B0604020202020204" pitchFamily="34" charset="0"/>
            </a:endParaRPr>
          </a:p>
        </p:txBody>
      </p:sp>
      <p:sp>
        <p:nvSpPr>
          <p:cNvPr id="14342" name="Rectangle 10"/>
          <p:cNvSpPr>
            <a:spLocks noChangeArrowheads="1"/>
          </p:cNvSpPr>
          <p:nvPr/>
        </p:nvSpPr>
        <p:spPr bwMode="auto">
          <a:xfrm>
            <a:off x="182563" y="146050"/>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1" name="Espace réservé du pied de page 1"/>
          <p:cNvSpPr>
            <a:spLocks noGrp="1"/>
          </p:cNvSpPr>
          <p:nvPr>
            <p:ph type="ftr" sz="quarter" idx="11"/>
          </p:nvPr>
        </p:nvSpPr>
        <p:spPr/>
        <p:txBody>
          <a:bodyPr/>
          <a:lstStyle/>
          <a:p>
            <a:pPr>
              <a:defRPr/>
            </a:pPr>
            <a:r>
              <a:rPr lang="fr-FR" dirty="0" smtClean="0"/>
              <a:t>Commande des machines   3.MCC     Ali NEJMI</a:t>
            </a:r>
            <a:endParaRPr lang="en-US" dirty="0"/>
          </a:p>
        </p:txBody>
      </p:sp>
      <p:sp>
        <p:nvSpPr>
          <p:cNvPr id="14344" name="Text Box 126"/>
          <p:cNvSpPr txBox="1">
            <a:spLocks noChangeArrowheads="1"/>
          </p:cNvSpPr>
          <p:nvPr/>
        </p:nvSpPr>
        <p:spPr bwMode="auto">
          <a:xfrm>
            <a:off x="300038" y="238125"/>
            <a:ext cx="5991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b="1">
                <a:solidFill>
                  <a:srgbClr val="C00000"/>
                </a:solidFill>
                <a:latin typeface="Arial" panose="020B0604020202020204" pitchFamily="34" charset="0"/>
              </a:rPr>
              <a:t>Génération d'un champ d'induction magnétique</a:t>
            </a:r>
            <a:endParaRPr lang="en-US" altLang="fr-FR" sz="2000" b="1">
              <a:solidFill>
                <a:srgbClr val="C00000"/>
              </a:solidFill>
              <a:latin typeface="Arial" panose="020B0604020202020204" pitchFamily="34" charset="0"/>
            </a:endParaRP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274450"/>
                                        </p:tgtEl>
                                        <p:attrNameLst>
                                          <p:attrName>style.visibility</p:attrName>
                                        </p:attrNameLst>
                                      </p:cBhvr>
                                      <p:to>
                                        <p:strVal val="visible"/>
                                      </p:to>
                                    </p:set>
                                    <p:anim calcmode="lin" valueType="num">
                                      <p:cBhvr additive="base">
                                        <p:cTn id="12" dur="500" fill="hold"/>
                                        <p:tgtEl>
                                          <p:spTgt spid="274450"/>
                                        </p:tgtEl>
                                        <p:attrNameLst>
                                          <p:attrName>ppt_x</p:attrName>
                                        </p:attrNameLst>
                                      </p:cBhvr>
                                      <p:tavLst>
                                        <p:tav tm="0">
                                          <p:val>
                                            <p:strVal val="0-#ppt_w/2"/>
                                          </p:val>
                                        </p:tav>
                                        <p:tav tm="100000">
                                          <p:val>
                                            <p:strVal val="#ppt_x"/>
                                          </p:val>
                                        </p:tav>
                                      </p:tavLst>
                                    </p:anim>
                                    <p:anim calcmode="lin" valueType="num">
                                      <p:cBhvr additive="base">
                                        <p:cTn id="13" dur="500" fill="hold"/>
                                        <p:tgtEl>
                                          <p:spTgt spid="274450"/>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274441"/>
                                        </p:tgtEl>
                                        <p:attrNameLst>
                                          <p:attrName>style.visibility</p:attrName>
                                        </p:attrNameLst>
                                      </p:cBhvr>
                                      <p:to>
                                        <p:strVal val="visible"/>
                                      </p:to>
                                    </p:set>
                                    <p:anim calcmode="lin" valueType="num">
                                      <p:cBhvr additive="base">
                                        <p:cTn id="18" dur="500" fill="hold"/>
                                        <p:tgtEl>
                                          <p:spTgt spid="274441"/>
                                        </p:tgtEl>
                                        <p:attrNameLst>
                                          <p:attrName>ppt_x</p:attrName>
                                        </p:attrNameLst>
                                      </p:cBhvr>
                                      <p:tavLst>
                                        <p:tav tm="0">
                                          <p:val>
                                            <p:strVal val="1+#ppt_w/2"/>
                                          </p:val>
                                        </p:tav>
                                        <p:tav tm="100000">
                                          <p:val>
                                            <p:strVal val="#ppt_x"/>
                                          </p:val>
                                        </p:tav>
                                      </p:tavLst>
                                    </p:anim>
                                    <p:anim calcmode="lin" valueType="num">
                                      <p:cBhvr additive="base">
                                        <p:cTn id="19" dur="500" fill="hold"/>
                                        <p:tgtEl>
                                          <p:spTgt spid="274441"/>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ppt_x</p:attrName>
                                        </p:attrNameLst>
                                      </p:cBhvr>
                                      <p:tavLst>
                                        <p:tav tm="0">
                                          <p:val>
                                            <p:strVal val="#ppt_x"/>
                                          </p:val>
                                        </p:tav>
                                        <p:tav tm="100000">
                                          <p:val>
                                            <p:strVal val="#ppt_x"/>
                                          </p:val>
                                        </p:tav>
                                      </p:tavLst>
                                    </p:anim>
                                    <p:anim calcmode="lin" valueType="num">
                                      <p:cBhvr>
                                        <p:cTn id="25" dur="500" fill="hold"/>
                                        <p:tgtEl>
                                          <p:spTgt spid="4"/>
                                        </p:tgtEl>
                                        <p:attrNameLst>
                                          <p:attrName>ppt_y</p:attrName>
                                        </p:attrNameLst>
                                      </p:cBhvr>
                                      <p:tavLst>
                                        <p:tav tm="0">
                                          <p:val>
                                            <p:strVal val="#ppt_y-#ppt_h/2"/>
                                          </p:val>
                                        </p:tav>
                                        <p:tav tm="100000">
                                          <p:val>
                                            <p:strVal val="#ppt_y"/>
                                          </p:val>
                                        </p:tav>
                                      </p:tavLst>
                                    </p:anim>
                                    <p:anim calcmode="lin" valueType="num">
                                      <p:cBhvr>
                                        <p:cTn id="26" dur="500" fill="hold"/>
                                        <p:tgtEl>
                                          <p:spTgt spid="4"/>
                                        </p:tgtEl>
                                        <p:attrNameLst>
                                          <p:attrName>ppt_w</p:attrName>
                                        </p:attrNameLst>
                                      </p:cBhvr>
                                      <p:tavLst>
                                        <p:tav tm="0">
                                          <p:val>
                                            <p:strVal val="#ppt_w"/>
                                          </p:val>
                                        </p:tav>
                                        <p:tav tm="100000">
                                          <p:val>
                                            <p:strVal val="#ppt_w"/>
                                          </p:val>
                                        </p:tav>
                                      </p:tavLst>
                                    </p:anim>
                                    <p:anim calcmode="lin" valueType="num">
                                      <p:cBhvr>
                                        <p:cTn id="27"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4441" grpId="0" animBg="1"/>
      <p:bldP spid="27445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a:grpSpLocks/>
          </p:cNvGrpSpPr>
          <p:nvPr/>
        </p:nvGrpSpPr>
        <p:grpSpPr bwMode="auto">
          <a:xfrm>
            <a:off x="3492500" y="692150"/>
            <a:ext cx="3962400" cy="5759450"/>
            <a:chOff x="2200" y="300"/>
            <a:chExt cx="2496" cy="3628"/>
          </a:xfrm>
        </p:grpSpPr>
        <p:grpSp>
          <p:nvGrpSpPr>
            <p:cNvPr id="16413" name="Group 3"/>
            <p:cNvGrpSpPr>
              <a:grpSpLocks/>
            </p:cNvGrpSpPr>
            <p:nvPr/>
          </p:nvGrpSpPr>
          <p:grpSpPr bwMode="auto">
            <a:xfrm>
              <a:off x="2200" y="300"/>
              <a:ext cx="2496" cy="3628"/>
              <a:chOff x="2200" y="300"/>
              <a:chExt cx="2496" cy="3628"/>
            </a:xfrm>
          </p:grpSpPr>
          <p:sp>
            <p:nvSpPr>
              <p:cNvPr id="16416" name="Rectangle 4"/>
              <p:cNvSpPr>
                <a:spLocks noChangeArrowheads="1"/>
              </p:cNvSpPr>
              <p:nvPr/>
            </p:nvSpPr>
            <p:spPr bwMode="auto">
              <a:xfrm>
                <a:off x="2290" y="300"/>
                <a:ext cx="2406" cy="3628"/>
              </a:xfrm>
              <a:prstGeom prst="rect">
                <a:avLst/>
              </a:prstGeom>
              <a:solidFill>
                <a:srgbClr val="C0C0C0"/>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6417" name="Rectangle 5"/>
              <p:cNvSpPr>
                <a:spLocks noChangeArrowheads="1"/>
              </p:cNvSpPr>
              <p:nvPr/>
            </p:nvSpPr>
            <p:spPr bwMode="auto">
              <a:xfrm>
                <a:off x="2789" y="799"/>
                <a:ext cx="1404" cy="263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6418" name="Rectangle 6"/>
              <p:cNvSpPr>
                <a:spLocks noChangeArrowheads="1"/>
              </p:cNvSpPr>
              <p:nvPr/>
            </p:nvSpPr>
            <p:spPr bwMode="auto">
              <a:xfrm>
                <a:off x="2200" y="1389"/>
                <a:ext cx="680" cy="140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16414" name="Line 7"/>
            <p:cNvSpPr>
              <a:spLocks noChangeShapeType="1"/>
            </p:cNvSpPr>
            <p:nvPr/>
          </p:nvSpPr>
          <p:spPr bwMode="auto">
            <a:xfrm flipH="1">
              <a:off x="2290" y="1389"/>
              <a:ext cx="4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15" name="Line 8"/>
            <p:cNvSpPr>
              <a:spLocks noChangeShapeType="1"/>
            </p:cNvSpPr>
            <p:nvPr/>
          </p:nvSpPr>
          <p:spPr bwMode="auto">
            <a:xfrm flipH="1">
              <a:off x="2290" y="2795"/>
              <a:ext cx="49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275465" name="Rectangle 9"/>
          <p:cNvSpPr>
            <a:spLocks noChangeArrowheads="1"/>
          </p:cNvSpPr>
          <p:nvPr/>
        </p:nvSpPr>
        <p:spPr bwMode="auto">
          <a:xfrm>
            <a:off x="6659563" y="1843088"/>
            <a:ext cx="796925" cy="3457575"/>
          </a:xfrm>
          <a:prstGeom prst="rect">
            <a:avLst/>
          </a:prstGeom>
          <a:gradFill rotWithShape="1">
            <a:gsLst>
              <a:gs pos="0">
                <a:srgbClr val="FF0000"/>
              </a:gs>
              <a:gs pos="100000">
                <a:srgbClr val="3333CC"/>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3200" b="1">
                <a:latin typeface="Arial" panose="020B0604020202020204" pitchFamily="34" charset="0"/>
              </a:rPr>
              <a:t>N</a:t>
            </a: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r>
              <a:rPr lang="fr-CH" altLang="fr-FR" sz="3200" b="1">
                <a:latin typeface="Arial" panose="020B0604020202020204" pitchFamily="34" charset="0"/>
              </a:rPr>
              <a:t>S</a:t>
            </a:r>
            <a:endParaRPr lang="fr-FR" altLang="fr-FR" sz="3200" b="1">
              <a:latin typeface="Arial" panose="020B0604020202020204" pitchFamily="34" charset="0"/>
            </a:endParaRPr>
          </a:p>
        </p:txBody>
      </p:sp>
      <p:grpSp>
        <p:nvGrpSpPr>
          <p:cNvPr id="16388" name="Group 10"/>
          <p:cNvGrpSpPr>
            <a:grpSpLocks/>
          </p:cNvGrpSpPr>
          <p:nvPr/>
        </p:nvGrpSpPr>
        <p:grpSpPr bwMode="auto">
          <a:xfrm>
            <a:off x="3348038" y="2420938"/>
            <a:ext cx="935037" cy="2232025"/>
            <a:chOff x="2109" y="1389"/>
            <a:chExt cx="589" cy="1406"/>
          </a:xfrm>
        </p:grpSpPr>
        <p:sp>
          <p:nvSpPr>
            <p:cNvPr id="16406" name="Line 11"/>
            <p:cNvSpPr>
              <a:spLocks noChangeShapeType="1"/>
            </p:cNvSpPr>
            <p:nvPr/>
          </p:nvSpPr>
          <p:spPr bwMode="auto">
            <a:xfrm>
              <a:off x="233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6407" name="Line 12"/>
            <p:cNvSpPr>
              <a:spLocks noChangeShapeType="1"/>
            </p:cNvSpPr>
            <p:nvPr/>
          </p:nvSpPr>
          <p:spPr bwMode="auto">
            <a:xfrm>
              <a:off x="242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6408" name="Line 13"/>
            <p:cNvSpPr>
              <a:spLocks noChangeShapeType="1"/>
            </p:cNvSpPr>
            <p:nvPr/>
          </p:nvSpPr>
          <p:spPr bwMode="auto">
            <a:xfrm>
              <a:off x="2517"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6409" name="Line 14"/>
            <p:cNvSpPr>
              <a:spLocks noChangeShapeType="1"/>
            </p:cNvSpPr>
            <p:nvPr/>
          </p:nvSpPr>
          <p:spPr bwMode="auto">
            <a:xfrm>
              <a:off x="260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6410" name="Line 15"/>
            <p:cNvSpPr>
              <a:spLocks noChangeShapeType="1"/>
            </p:cNvSpPr>
            <p:nvPr/>
          </p:nvSpPr>
          <p:spPr bwMode="auto">
            <a:xfrm>
              <a:off x="269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6411" name="Text Box 16"/>
            <p:cNvSpPr txBox="1">
              <a:spLocks noChangeArrowheads="1"/>
            </p:cNvSpPr>
            <p:nvPr/>
          </p:nvSpPr>
          <p:spPr bwMode="auto">
            <a:xfrm>
              <a:off x="2109" y="1389"/>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FF0000"/>
                  </a:solidFill>
                  <a:latin typeface="Arial" panose="020B0604020202020204" pitchFamily="34" charset="0"/>
                </a:rPr>
                <a:t>B</a:t>
              </a:r>
              <a:endParaRPr lang="en-US" altLang="fr-FR" sz="1800" b="1">
                <a:solidFill>
                  <a:srgbClr val="FF0000"/>
                </a:solidFill>
                <a:latin typeface="Arial" panose="020B0604020202020204" pitchFamily="34" charset="0"/>
              </a:endParaRPr>
            </a:p>
          </p:txBody>
        </p:sp>
        <p:sp>
          <p:nvSpPr>
            <p:cNvPr id="16412" name="Line 17"/>
            <p:cNvSpPr>
              <a:spLocks noChangeShapeType="1"/>
            </p:cNvSpPr>
            <p:nvPr/>
          </p:nvSpPr>
          <p:spPr bwMode="auto">
            <a:xfrm>
              <a:off x="2155" y="1434"/>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grpSp>
        <p:nvGrpSpPr>
          <p:cNvPr id="5" name="Group 18"/>
          <p:cNvGrpSpPr>
            <a:grpSpLocks/>
          </p:cNvGrpSpPr>
          <p:nvPr/>
        </p:nvGrpSpPr>
        <p:grpSpPr bwMode="auto">
          <a:xfrm>
            <a:off x="6659563" y="1844675"/>
            <a:ext cx="1439862" cy="3455988"/>
            <a:chOff x="4332" y="1026"/>
            <a:chExt cx="907" cy="2177"/>
          </a:xfrm>
        </p:grpSpPr>
        <p:sp>
          <p:nvSpPr>
            <p:cNvPr id="16394" name="Line 19"/>
            <p:cNvSpPr>
              <a:spLocks noChangeShapeType="1"/>
            </p:cNvSpPr>
            <p:nvPr/>
          </p:nvSpPr>
          <p:spPr bwMode="auto">
            <a:xfrm flipH="1">
              <a:off x="4336" y="2952"/>
              <a:ext cx="903" cy="0"/>
            </a:xfrm>
            <a:prstGeom prst="line">
              <a:avLst/>
            </a:prstGeom>
            <a:noFill/>
            <a:ln w="571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fr-FR"/>
            </a:p>
          </p:txBody>
        </p:sp>
        <p:sp>
          <p:nvSpPr>
            <p:cNvPr id="16395" name="Rectangle 20"/>
            <p:cNvSpPr>
              <a:spLocks noChangeArrowheads="1"/>
            </p:cNvSpPr>
            <p:nvPr/>
          </p:nvSpPr>
          <p:spPr bwMode="auto">
            <a:xfrm flipH="1">
              <a:off x="4337" y="1026"/>
              <a:ext cx="493" cy="2177"/>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3200" b="1">
                  <a:latin typeface="Arial" panose="020B0604020202020204" pitchFamily="34" charset="0"/>
                </a:rPr>
                <a:t>N</a:t>
              </a: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r>
                <a:rPr lang="fr-CH" altLang="fr-FR" sz="3200" b="1">
                  <a:latin typeface="Arial" panose="020B0604020202020204" pitchFamily="34" charset="0"/>
                </a:rPr>
                <a:t>S</a:t>
              </a:r>
              <a:endParaRPr lang="fr-FR" altLang="fr-FR" sz="3200" b="1">
                <a:latin typeface="Arial" panose="020B0604020202020204" pitchFamily="34" charset="0"/>
              </a:endParaRPr>
            </a:p>
          </p:txBody>
        </p:sp>
        <p:sp>
          <p:nvSpPr>
            <p:cNvPr id="16396" name="Line 21"/>
            <p:cNvSpPr>
              <a:spLocks noChangeShapeType="1"/>
            </p:cNvSpPr>
            <p:nvPr/>
          </p:nvSpPr>
          <p:spPr bwMode="auto">
            <a:xfrm flipH="1">
              <a:off x="4336" y="1362"/>
              <a:ext cx="903" cy="0"/>
            </a:xfrm>
            <a:prstGeom prst="line">
              <a:avLst/>
            </a:prstGeom>
            <a:noFill/>
            <a:ln w="571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fr-FR"/>
            </a:p>
          </p:txBody>
        </p:sp>
        <p:sp>
          <p:nvSpPr>
            <p:cNvPr id="16397" name="Line 22"/>
            <p:cNvSpPr>
              <a:spLocks noChangeShapeType="1"/>
            </p:cNvSpPr>
            <p:nvPr/>
          </p:nvSpPr>
          <p:spPr bwMode="auto">
            <a:xfrm flipH="1">
              <a:off x="4341" y="1465"/>
              <a:ext cx="498" cy="13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398" name="Line 23"/>
            <p:cNvSpPr>
              <a:spLocks noChangeShapeType="1"/>
            </p:cNvSpPr>
            <p:nvPr/>
          </p:nvSpPr>
          <p:spPr bwMode="auto">
            <a:xfrm flipH="1">
              <a:off x="4332" y="1613"/>
              <a:ext cx="498" cy="131"/>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399" name="Line 24"/>
            <p:cNvSpPr>
              <a:spLocks noChangeShapeType="1"/>
            </p:cNvSpPr>
            <p:nvPr/>
          </p:nvSpPr>
          <p:spPr bwMode="auto">
            <a:xfrm flipH="1">
              <a:off x="4332" y="1779"/>
              <a:ext cx="498" cy="131"/>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0" name="Line 25"/>
            <p:cNvSpPr>
              <a:spLocks noChangeShapeType="1"/>
            </p:cNvSpPr>
            <p:nvPr/>
          </p:nvSpPr>
          <p:spPr bwMode="auto">
            <a:xfrm flipH="1">
              <a:off x="4332" y="1947"/>
              <a:ext cx="498" cy="131"/>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1" name="Line 26"/>
            <p:cNvSpPr>
              <a:spLocks noChangeShapeType="1"/>
            </p:cNvSpPr>
            <p:nvPr/>
          </p:nvSpPr>
          <p:spPr bwMode="auto">
            <a:xfrm flipH="1">
              <a:off x="4332" y="2115"/>
              <a:ext cx="498" cy="13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2" name="Line 27"/>
            <p:cNvSpPr>
              <a:spLocks noChangeShapeType="1"/>
            </p:cNvSpPr>
            <p:nvPr/>
          </p:nvSpPr>
          <p:spPr bwMode="auto">
            <a:xfrm flipH="1">
              <a:off x="4332" y="2283"/>
              <a:ext cx="498" cy="132"/>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3" name="Line 28"/>
            <p:cNvSpPr>
              <a:spLocks noChangeShapeType="1"/>
            </p:cNvSpPr>
            <p:nvPr/>
          </p:nvSpPr>
          <p:spPr bwMode="auto">
            <a:xfrm flipH="1">
              <a:off x="4332" y="2450"/>
              <a:ext cx="498" cy="131"/>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4" name="Line 29"/>
            <p:cNvSpPr>
              <a:spLocks noChangeShapeType="1"/>
            </p:cNvSpPr>
            <p:nvPr/>
          </p:nvSpPr>
          <p:spPr bwMode="auto">
            <a:xfrm flipH="1">
              <a:off x="4332" y="2618"/>
              <a:ext cx="498" cy="131"/>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6405" name="Line 30"/>
            <p:cNvSpPr>
              <a:spLocks noChangeShapeType="1"/>
            </p:cNvSpPr>
            <p:nvPr/>
          </p:nvSpPr>
          <p:spPr bwMode="auto">
            <a:xfrm flipH="1">
              <a:off x="4332" y="2786"/>
              <a:ext cx="498" cy="131"/>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16390" name="Rectangle 31"/>
          <p:cNvSpPr>
            <a:spLocks noChangeArrowheads="1"/>
          </p:cNvSpPr>
          <p:nvPr/>
        </p:nvSpPr>
        <p:spPr bwMode="auto">
          <a:xfrm>
            <a:off x="3924300" y="836613"/>
            <a:ext cx="207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Stator / Inducteur</a:t>
            </a:r>
            <a:endParaRPr lang="en-US" altLang="fr-FR" sz="1800" b="1">
              <a:latin typeface="Arial" panose="020B0604020202020204" pitchFamily="34" charset="0"/>
            </a:endParaRPr>
          </a:p>
        </p:txBody>
      </p:sp>
      <p:sp>
        <p:nvSpPr>
          <p:cNvPr id="16391" name="Rectangle 10"/>
          <p:cNvSpPr>
            <a:spLocks noChangeArrowheads="1"/>
          </p:cNvSpPr>
          <p:nvPr/>
        </p:nvSpPr>
        <p:spPr bwMode="auto">
          <a:xfrm>
            <a:off x="182563" y="146050"/>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34" name="Espace réservé du pied de page 1"/>
          <p:cNvSpPr>
            <a:spLocks noGrp="1"/>
          </p:cNvSpPr>
          <p:nvPr>
            <p:ph type="ftr" sz="quarter" idx="11"/>
          </p:nvPr>
        </p:nvSpPr>
        <p:spPr/>
        <p:txBody>
          <a:bodyPr/>
          <a:lstStyle/>
          <a:p>
            <a:pPr>
              <a:defRPr/>
            </a:pPr>
            <a:r>
              <a:rPr lang="fr-FR" dirty="0" smtClean="0"/>
              <a:t>Commande des machines   3.MCC     Ali NEJMI</a:t>
            </a:r>
            <a:endParaRPr lang="en-US" dirty="0"/>
          </a:p>
        </p:txBody>
      </p:sp>
      <p:sp>
        <p:nvSpPr>
          <p:cNvPr id="16393" name="Text Box 126"/>
          <p:cNvSpPr txBox="1">
            <a:spLocks noChangeArrowheads="1"/>
          </p:cNvSpPr>
          <p:nvPr/>
        </p:nvSpPr>
        <p:spPr bwMode="auto">
          <a:xfrm>
            <a:off x="269875" y="222250"/>
            <a:ext cx="5991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b="1">
                <a:solidFill>
                  <a:srgbClr val="C00000"/>
                </a:solidFill>
                <a:latin typeface="Arial" panose="020B0604020202020204" pitchFamily="34" charset="0"/>
              </a:rPr>
              <a:t>Génération d'un champ d'induction magnétique</a:t>
            </a:r>
            <a:endParaRPr lang="en-US" altLang="fr-FR" sz="2000" b="1">
              <a:solidFill>
                <a:srgbClr val="C00000"/>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1" presetClass="exit" presetSubtype="0" fill="hold" grpId="0" nodeType="afterEffect">
                                  <p:stCondLst>
                                    <p:cond delay="0"/>
                                  </p:stCondLst>
                                  <p:childTnLst>
                                    <p:set>
                                      <p:cBhvr>
                                        <p:cTn id="11" dur="1" fill="hold">
                                          <p:stCondLst>
                                            <p:cond delay="0"/>
                                          </p:stCondLst>
                                        </p:cTn>
                                        <p:tgtEl>
                                          <p:spTgt spid="275465"/>
                                        </p:tgtEl>
                                        <p:attrNameLst>
                                          <p:attrName>style.visibility</p:attrName>
                                        </p:attrNameLst>
                                      </p:cBhvr>
                                      <p:to>
                                        <p:strVal val="hidden"/>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275465"/>
                                        </p:tgtEl>
                                        <p:attrNameLst>
                                          <p:attrName>style.visibility</p:attrName>
                                        </p:attrNameLst>
                                      </p:cBhvr>
                                      <p:to>
                                        <p:strVal val="visible"/>
                                      </p:to>
                                    </p:set>
                                  </p:childTnLst>
                                </p:cTn>
                              </p:par>
                              <p:par>
                                <p:cTn id="16" presetID="2" presetClass="exit" presetSubtype="2" fill="hold" nodeType="withEffect">
                                  <p:stCondLst>
                                    <p:cond delay="0"/>
                                  </p:stCondLst>
                                  <p:childTnLst>
                                    <p:anim calcmode="lin" valueType="num">
                                      <p:cBhvr additive="base">
                                        <p:cTn id="17" dur="500"/>
                                        <p:tgtEl>
                                          <p:spTgt spid="5"/>
                                        </p:tgtEl>
                                        <p:attrNameLst>
                                          <p:attrName>ppt_x</p:attrName>
                                        </p:attrNameLst>
                                      </p:cBhvr>
                                      <p:tavLst>
                                        <p:tav tm="0">
                                          <p:val>
                                            <p:strVal val="ppt_x"/>
                                          </p:val>
                                        </p:tav>
                                        <p:tav tm="100000">
                                          <p:val>
                                            <p:strVal val="1+ppt_w/2"/>
                                          </p:val>
                                        </p:tav>
                                      </p:tavLst>
                                    </p:anim>
                                    <p:anim calcmode="lin" valueType="num">
                                      <p:cBhvr additive="base">
                                        <p:cTn id="18" dur="500"/>
                                        <p:tgtEl>
                                          <p:spTgt spid="5"/>
                                        </p:tgtEl>
                                        <p:attrNameLst>
                                          <p:attrName>ppt_y</p:attrName>
                                        </p:attrNameLst>
                                      </p:cBhvr>
                                      <p:tavLst>
                                        <p:tav tm="0">
                                          <p:val>
                                            <p:strVal val="ppt_y"/>
                                          </p:val>
                                        </p:tav>
                                        <p:tav tm="100000">
                                          <p:val>
                                            <p:strVal val="ppt_y"/>
                                          </p:val>
                                        </p:tav>
                                      </p:tavLst>
                                    </p:anim>
                                    <p:set>
                                      <p:cBhvr>
                                        <p:cTn id="19"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65" grpId="0" animBg="1"/>
      <p:bldP spid="27546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838700" y="3744913"/>
            <a:ext cx="2741613" cy="2663825"/>
            <a:chOff x="292" y="1842"/>
            <a:chExt cx="1727" cy="1678"/>
          </a:xfrm>
        </p:grpSpPr>
        <p:grpSp>
          <p:nvGrpSpPr>
            <p:cNvPr id="18517" name="Group 3"/>
            <p:cNvGrpSpPr>
              <a:grpSpLocks/>
            </p:cNvGrpSpPr>
            <p:nvPr/>
          </p:nvGrpSpPr>
          <p:grpSpPr bwMode="auto">
            <a:xfrm>
              <a:off x="295" y="1842"/>
              <a:ext cx="1724" cy="1678"/>
              <a:chOff x="272" y="2160"/>
              <a:chExt cx="1724" cy="1678"/>
            </a:xfrm>
          </p:grpSpPr>
          <p:sp>
            <p:nvSpPr>
              <p:cNvPr id="18558" name="Oval 4"/>
              <p:cNvSpPr>
                <a:spLocks noChangeArrowheads="1"/>
              </p:cNvSpPr>
              <p:nvPr/>
            </p:nvSpPr>
            <p:spPr bwMode="auto">
              <a:xfrm>
                <a:off x="272" y="2160"/>
                <a:ext cx="1724" cy="1678"/>
              </a:xfrm>
              <a:prstGeom prst="ellipse">
                <a:avLst/>
              </a:prstGeom>
              <a:solidFill>
                <a:srgbClr val="C0C0C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559" name="Oval 5"/>
              <p:cNvSpPr>
                <a:spLocks noChangeArrowheads="1"/>
              </p:cNvSpPr>
              <p:nvPr/>
            </p:nvSpPr>
            <p:spPr bwMode="auto">
              <a:xfrm>
                <a:off x="476" y="2359"/>
                <a:ext cx="1315" cy="1280"/>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560" name="Oval 6"/>
              <p:cNvSpPr>
                <a:spLocks noChangeArrowheads="1"/>
              </p:cNvSpPr>
              <p:nvPr/>
            </p:nvSpPr>
            <p:spPr bwMode="auto">
              <a:xfrm>
                <a:off x="567" y="2432"/>
                <a:ext cx="1134" cy="1134"/>
              </a:xfrm>
              <a:prstGeom prst="ellipse">
                <a:avLst/>
              </a:prstGeom>
              <a:solidFill>
                <a:srgbClr val="C0C0C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18518" name="Rectangle 7"/>
            <p:cNvSpPr>
              <a:spLocks noChangeArrowheads="1"/>
            </p:cNvSpPr>
            <p:nvPr/>
          </p:nvSpPr>
          <p:spPr bwMode="auto">
            <a:xfrm rot="5400000">
              <a:off x="762" y="2566"/>
              <a:ext cx="178" cy="231"/>
            </a:xfrm>
            <a:prstGeom prst="rect">
              <a:avLst/>
            </a:prstGeom>
            <a:solidFill>
              <a:srgbClr val="3333CC"/>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b="1">
                  <a:latin typeface="Arial" panose="020B0604020202020204" pitchFamily="34" charset="0"/>
                </a:rPr>
                <a:t>S</a:t>
              </a:r>
              <a:endParaRPr lang="fr-FR" altLang="fr-FR" sz="1800" b="1">
                <a:latin typeface="Arial" panose="020B0604020202020204" pitchFamily="34" charset="0"/>
              </a:endParaRPr>
            </a:p>
          </p:txBody>
        </p:sp>
        <p:sp>
          <p:nvSpPr>
            <p:cNvPr id="18519" name="Rectangle 8"/>
            <p:cNvSpPr>
              <a:spLocks noChangeArrowheads="1"/>
            </p:cNvSpPr>
            <p:nvPr/>
          </p:nvSpPr>
          <p:spPr bwMode="auto">
            <a:xfrm>
              <a:off x="1053" y="2261"/>
              <a:ext cx="178" cy="25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b="1">
                  <a:latin typeface="Arial" panose="020B0604020202020204" pitchFamily="34" charset="0"/>
                </a:rPr>
                <a:t>N</a:t>
              </a:r>
              <a:endParaRPr lang="fr-FR" altLang="fr-FR" sz="1800" b="1">
                <a:latin typeface="Arial" panose="020B0604020202020204" pitchFamily="34" charset="0"/>
              </a:endParaRPr>
            </a:p>
          </p:txBody>
        </p:sp>
        <p:grpSp>
          <p:nvGrpSpPr>
            <p:cNvPr id="18520" name="Group 9"/>
            <p:cNvGrpSpPr>
              <a:grpSpLocks/>
            </p:cNvGrpSpPr>
            <p:nvPr/>
          </p:nvGrpSpPr>
          <p:grpSpPr bwMode="auto">
            <a:xfrm>
              <a:off x="292" y="1885"/>
              <a:ext cx="737" cy="737"/>
              <a:chOff x="2075" y="1208"/>
              <a:chExt cx="737" cy="737"/>
            </a:xfrm>
          </p:grpSpPr>
          <p:sp>
            <p:nvSpPr>
              <p:cNvPr id="18550" name="Oval 10"/>
              <p:cNvSpPr>
                <a:spLocks noChangeArrowheads="1"/>
              </p:cNvSpPr>
              <p:nvPr/>
            </p:nvSpPr>
            <p:spPr bwMode="auto">
              <a:xfrm>
                <a:off x="2375" y="1508"/>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551" name="Arc 11"/>
              <p:cNvSpPr>
                <a:spLocks/>
              </p:cNvSpPr>
              <p:nvPr/>
            </p:nvSpPr>
            <p:spPr bwMode="auto">
              <a:xfrm>
                <a:off x="2308" y="1441"/>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52" name="Arc 12"/>
              <p:cNvSpPr>
                <a:spLocks/>
              </p:cNvSpPr>
              <p:nvPr/>
            </p:nvSpPr>
            <p:spPr bwMode="auto">
              <a:xfrm>
                <a:off x="2256" y="1389"/>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53" name="Arc 13"/>
              <p:cNvSpPr>
                <a:spLocks/>
              </p:cNvSpPr>
              <p:nvPr/>
            </p:nvSpPr>
            <p:spPr bwMode="auto">
              <a:xfrm>
                <a:off x="2211" y="1344"/>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54" name="Arc 14"/>
              <p:cNvSpPr>
                <a:spLocks/>
              </p:cNvSpPr>
              <p:nvPr/>
            </p:nvSpPr>
            <p:spPr bwMode="auto">
              <a:xfrm>
                <a:off x="2165" y="1298"/>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55" name="Arc 15"/>
              <p:cNvSpPr>
                <a:spLocks/>
              </p:cNvSpPr>
              <p:nvPr/>
            </p:nvSpPr>
            <p:spPr bwMode="auto">
              <a:xfrm>
                <a:off x="2121" y="1254"/>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56" name="Arc 16"/>
              <p:cNvSpPr>
                <a:spLocks/>
              </p:cNvSpPr>
              <p:nvPr/>
            </p:nvSpPr>
            <p:spPr bwMode="auto">
              <a:xfrm>
                <a:off x="2075" y="1208"/>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57" name="Text Box 17"/>
              <p:cNvSpPr txBox="1">
                <a:spLocks noChangeArrowheads="1"/>
              </p:cNvSpPr>
              <p:nvPr/>
            </p:nvSpPr>
            <p:spPr bwMode="auto">
              <a:xfrm>
                <a:off x="2354" y="1490"/>
                <a:ext cx="1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200" b="1">
                    <a:latin typeface="Arial" panose="020B0604020202020204" pitchFamily="34" charset="0"/>
                  </a:rPr>
                  <a:t>X</a:t>
                </a:r>
                <a:endParaRPr lang="en-US" altLang="fr-FR" sz="1200" b="1">
                  <a:latin typeface="Arial" panose="020B0604020202020204" pitchFamily="34" charset="0"/>
                </a:endParaRPr>
              </a:p>
            </p:txBody>
          </p:sp>
        </p:grpSp>
        <p:grpSp>
          <p:nvGrpSpPr>
            <p:cNvPr id="18521" name="Group 18"/>
            <p:cNvGrpSpPr>
              <a:grpSpLocks/>
            </p:cNvGrpSpPr>
            <p:nvPr/>
          </p:nvGrpSpPr>
          <p:grpSpPr bwMode="auto">
            <a:xfrm>
              <a:off x="293" y="2752"/>
              <a:ext cx="737" cy="737"/>
              <a:chOff x="3334" y="300"/>
              <a:chExt cx="737" cy="737"/>
            </a:xfrm>
          </p:grpSpPr>
          <p:sp>
            <p:nvSpPr>
              <p:cNvPr id="18542" name="Oval 19"/>
              <p:cNvSpPr>
                <a:spLocks noChangeArrowheads="1"/>
              </p:cNvSpPr>
              <p:nvPr/>
            </p:nvSpPr>
            <p:spPr bwMode="auto">
              <a:xfrm>
                <a:off x="3634" y="600"/>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543" name="Arc 20"/>
              <p:cNvSpPr>
                <a:spLocks/>
              </p:cNvSpPr>
              <p:nvPr/>
            </p:nvSpPr>
            <p:spPr bwMode="auto">
              <a:xfrm>
                <a:off x="3567" y="533"/>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44" name="Arc 21"/>
              <p:cNvSpPr>
                <a:spLocks/>
              </p:cNvSpPr>
              <p:nvPr/>
            </p:nvSpPr>
            <p:spPr bwMode="auto">
              <a:xfrm>
                <a:off x="3515" y="481"/>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45" name="Arc 22"/>
              <p:cNvSpPr>
                <a:spLocks/>
              </p:cNvSpPr>
              <p:nvPr/>
            </p:nvSpPr>
            <p:spPr bwMode="auto">
              <a:xfrm>
                <a:off x="3470" y="436"/>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46" name="Arc 23"/>
              <p:cNvSpPr>
                <a:spLocks/>
              </p:cNvSpPr>
              <p:nvPr/>
            </p:nvSpPr>
            <p:spPr bwMode="auto">
              <a:xfrm>
                <a:off x="3424" y="390"/>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47" name="Arc 24"/>
              <p:cNvSpPr>
                <a:spLocks/>
              </p:cNvSpPr>
              <p:nvPr/>
            </p:nvSpPr>
            <p:spPr bwMode="auto">
              <a:xfrm>
                <a:off x="3380" y="346"/>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48" name="Arc 25"/>
              <p:cNvSpPr>
                <a:spLocks/>
              </p:cNvSpPr>
              <p:nvPr/>
            </p:nvSpPr>
            <p:spPr bwMode="auto">
              <a:xfrm>
                <a:off x="3334" y="300"/>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49" name="Oval 26"/>
              <p:cNvSpPr>
                <a:spLocks noChangeArrowheads="1"/>
              </p:cNvSpPr>
              <p:nvPr/>
            </p:nvSpPr>
            <p:spPr bwMode="auto">
              <a:xfrm>
                <a:off x="3680" y="646"/>
                <a:ext cx="45" cy="4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18522" name="Group 27"/>
            <p:cNvGrpSpPr>
              <a:grpSpLocks/>
            </p:cNvGrpSpPr>
            <p:nvPr/>
          </p:nvGrpSpPr>
          <p:grpSpPr bwMode="auto">
            <a:xfrm>
              <a:off x="1270" y="2752"/>
              <a:ext cx="737" cy="737"/>
              <a:chOff x="2075" y="1208"/>
              <a:chExt cx="737" cy="737"/>
            </a:xfrm>
          </p:grpSpPr>
          <p:sp>
            <p:nvSpPr>
              <p:cNvPr id="18534" name="Oval 28"/>
              <p:cNvSpPr>
                <a:spLocks noChangeArrowheads="1"/>
              </p:cNvSpPr>
              <p:nvPr/>
            </p:nvSpPr>
            <p:spPr bwMode="auto">
              <a:xfrm>
                <a:off x="2375" y="1508"/>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535" name="Arc 29"/>
              <p:cNvSpPr>
                <a:spLocks/>
              </p:cNvSpPr>
              <p:nvPr/>
            </p:nvSpPr>
            <p:spPr bwMode="auto">
              <a:xfrm>
                <a:off x="2308" y="1441"/>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36" name="Arc 30"/>
              <p:cNvSpPr>
                <a:spLocks/>
              </p:cNvSpPr>
              <p:nvPr/>
            </p:nvSpPr>
            <p:spPr bwMode="auto">
              <a:xfrm>
                <a:off x="2256" y="1389"/>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37" name="Arc 31"/>
              <p:cNvSpPr>
                <a:spLocks/>
              </p:cNvSpPr>
              <p:nvPr/>
            </p:nvSpPr>
            <p:spPr bwMode="auto">
              <a:xfrm>
                <a:off x="2211" y="1344"/>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38" name="Arc 32"/>
              <p:cNvSpPr>
                <a:spLocks/>
              </p:cNvSpPr>
              <p:nvPr/>
            </p:nvSpPr>
            <p:spPr bwMode="auto">
              <a:xfrm>
                <a:off x="2165" y="1298"/>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39" name="Arc 33"/>
              <p:cNvSpPr>
                <a:spLocks/>
              </p:cNvSpPr>
              <p:nvPr/>
            </p:nvSpPr>
            <p:spPr bwMode="auto">
              <a:xfrm>
                <a:off x="2121" y="1254"/>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40" name="Arc 34"/>
              <p:cNvSpPr>
                <a:spLocks/>
              </p:cNvSpPr>
              <p:nvPr/>
            </p:nvSpPr>
            <p:spPr bwMode="auto">
              <a:xfrm>
                <a:off x="2075" y="1208"/>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41" name="Text Box 35"/>
              <p:cNvSpPr txBox="1">
                <a:spLocks noChangeArrowheads="1"/>
              </p:cNvSpPr>
              <p:nvPr/>
            </p:nvSpPr>
            <p:spPr bwMode="auto">
              <a:xfrm>
                <a:off x="2354" y="1490"/>
                <a:ext cx="1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200" b="1">
                    <a:latin typeface="Arial" panose="020B0604020202020204" pitchFamily="34" charset="0"/>
                  </a:rPr>
                  <a:t>X</a:t>
                </a:r>
                <a:endParaRPr lang="en-US" altLang="fr-FR" sz="1200" b="1">
                  <a:latin typeface="Arial" panose="020B0604020202020204" pitchFamily="34" charset="0"/>
                </a:endParaRPr>
              </a:p>
            </p:txBody>
          </p:sp>
        </p:grpSp>
        <p:grpSp>
          <p:nvGrpSpPr>
            <p:cNvPr id="18523" name="Group 36"/>
            <p:cNvGrpSpPr>
              <a:grpSpLocks/>
            </p:cNvGrpSpPr>
            <p:nvPr/>
          </p:nvGrpSpPr>
          <p:grpSpPr bwMode="auto">
            <a:xfrm>
              <a:off x="1255" y="1864"/>
              <a:ext cx="737" cy="737"/>
              <a:chOff x="3334" y="300"/>
              <a:chExt cx="737" cy="737"/>
            </a:xfrm>
          </p:grpSpPr>
          <p:sp>
            <p:nvSpPr>
              <p:cNvPr id="18526" name="Oval 37"/>
              <p:cNvSpPr>
                <a:spLocks noChangeArrowheads="1"/>
              </p:cNvSpPr>
              <p:nvPr/>
            </p:nvSpPr>
            <p:spPr bwMode="auto">
              <a:xfrm>
                <a:off x="3634" y="600"/>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527" name="Arc 38"/>
              <p:cNvSpPr>
                <a:spLocks/>
              </p:cNvSpPr>
              <p:nvPr/>
            </p:nvSpPr>
            <p:spPr bwMode="auto">
              <a:xfrm>
                <a:off x="3567" y="533"/>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28" name="Arc 39"/>
              <p:cNvSpPr>
                <a:spLocks/>
              </p:cNvSpPr>
              <p:nvPr/>
            </p:nvSpPr>
            <p:spPr bwMode="auto">
              <a:xfrm>
                <a:off x="3515" y="481"/>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29" name="Arc 40"/>
              <p:cNvSpPr>
                <a:spLocks/>
              </p:cNvSpPr>
              <p:nvPr/>
            </p:nvSpPr>
            <p:spPr bwMode="auto">
              <a:xfrm>
                <a:off x="3470" y="436"/>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30" name="Arc 41"/>
              <p:cNvSpPr>
                <a:spLocks/>
              </p:cNvSpPr>
              <p:nvPr/>
            </p:nvSpPr>
            <p:spPr bwMode="auto">
              <a:xfrm>
                <a:off x="3424" y="390"/>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31" name="Arc 42"/>
              <p:cNvSpPr>
                <a:spLocks/>
              </p:cNvSpPr>
              <p:nvPr/>
            </p:nvSpPr>
            <p:spPr bwMode="auto">
              <a:xfrm>
                <a:off x="3380" y="346"/>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32" name="Arc 43"/>
              <p:cNvSpPr>
                <a:spLocks/>
              </p:cNvSpPr>
              <p:nvPr/>
            </p:nvSpPr>
            <p:spPr bwMode="auto">
              <a:xfrm>
                <a:off x="3334" y="300"/>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33" name="Oval 44"/>
              <p:cNvSpPr>
                <a:spLocks noChangeArrowheads="1"/>
              </p:cNvSpPr>
              <p:nvPr/>
            </p:nvSpPr>
            <p:spPr bwMode="auto">
              <a:xfrm>
                <a:off x="3680" y="646"/>
                <a:ext cx="45" cy="4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18524" name="Rectangle 45"/>
            <p:cNvSpPr>
              <a:spLocks noChangeArrowheads="1"/>
            </p:cNvSpPr>
            <p:nvPr/>
          </p:nvSpPr>
          <p:spPr bwMode="auto">
            <a:xfrm>
              <a:off x="1057" y="2881"/>
              <a:ext cx="178" cy="253"/>
            </a:xfrm>
            <a:prstGeom prst="rect">
              <a:avLst/>
            </a:prstGeom>
            <a:solidFill>
              <a:srgbClr val="FF0000"/>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b="1">
                  <a:latin typeface="Arial" panose="020B0604020202020204" pitchFamily="34" charset="0"/>
                </a:rPr>
                <a:t>N</a:t>
              </a:r>
              <a:endParaRPr lang="fr-FR" altLang="fr-FR" sz="1800" b="1">
                <a:latin typeface="Arial" panose="020B0604020202020204" pitchFamily="34" charset="0"/>
              </a:endParaRPr>
            </a:p>
          </p:txBody>
        </p:sp>
        <p:sp>
          <p:nvSpPr>
            <p:cNvPr id="18525" name="Rectangle 46"/>
            <p:cNvSpPr>
              <a:spLocks noChangeArrowheads="1"/>
            </p:cNvSpPr>
            <p:nvPr/>
          </p:nvSpPr>
          <p:spPr bwMode="auto">
            <a:xfrm rot="5400000">
              <a:off x="1342" y="2558"/>
              <a:ext cx="178" cy="231"/>
            </a:xfrm>
            <a:prstGeom prst="rect">
              <a:avLst/>
            </a:prstGeom>
            <a:solidFill>
              <a:srgbClr val="3333CC"/>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b="1">
                  <a:latin typeface="Arial" panose="020B0604020202020204" pitchFamily="34" charset="0"/>
                </a:rPr>
                <a:t>S</a:t>
              </a:r>
              <a:endParaRPr lang="fr-FR" altLang="fr-FR" sz="1800" b="1">
                <a:latin typeface="Arial" panose="020B0604020202020204" pitchFamily="34" charset="0"/>
              </a:endParaRPr>
            </a:p>
          </p:txBody>
        </p:sp>
      </p:grpSp>
      <p:sp>
        <p:nvSpPr>
          <p:cNvPr id="301103" name="Rectangle 47"/>
          <p:cNvSpPr>
            <a:spLocks noChangeArrowheads="1"/>
          </p:cNvSpPr>
          <p:nvPr/>
        </p:nvSpPr>
        <p:spPr bwMode="auto">
          <a:xfrm>
            <a:off x="2535238" y="5281613"/>
            <a:ext cx="282575" cy="1122362"/>
          </a:xfrm>
          <a:prstGeom prst="rect">
            <a:avLst/>
          </a:prstGeom>
          <a:gradFill rotWithShape="1">
            <a:gsLst>
              <a:gs pos="0">
                <a:srgbClr val="FF0000"/>
              </a:gs>
              <a:gs pos="100000">
                <a:srgbClr val="3333CC"/>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b="1">
                <a:latin typeface="Arial" panose="020B0604020202020204" pitchFamily="34" charset="0"/>
              </a:rPr>
              <a:t>N</a:t>
            </a: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r>
              <a:rPr lang="fr-CH" altLang="fr-FR" sz="1800" b="1">
                <a:latin typeface="Arial" panose="020B0604020202020204" pitchFamily="34" charset="0"/>
              </a:rPr>
              <a:t>S</a:t>
            </a:r>
            <a:endParaRPr lang="fr-FR" altLang="fr-FR" sz="1800" b="1">
              <a:latin typeface="Arial" panose="020B0604020202020204" pitchFamily="34" charset="0"/>
            </a:endParaRPr>
          </a:p>
        </p:txBody>
      </p:sp>
      <p:sp>
        <p:nvSpPr>
          <p:cNvPr id="301104" name="Rectangle 48"/>
          <p:cNvSpPr>
            <a:spLocks noChangeArrowheads="1"/>
          </p:cNvSpPr>
          <p:nvPr/>
        </p:nvSpPr>
        <p:spPr bwMode="auto">
          <a:xfrm rot="-5400000">
            <a:off x="3302794" y="4614069"/>
            <a:ext cx="282575" cy="1122363"/>
          </a:xfrm>
          <a:prstGeom prst="rect">
            <a:avLst/>
          </a:prstGeom>
          <a:gradFill rotWithShape="1">
            <a:gsLst>
              <a:gs pos="0">
                <a:srgbClr val="3333CC"/>
              </a:gs>
              <a:gs pos="100000">
                <a:srgbClr val="FF0000"/>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b="1">
                <a:latin typeface="Arial" panose="020B0604020202020204" pitchFamily="34" charset="0"/>
              </a:rPr>
              <a:t>S</a:t>
            </a: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r>
              <a:rPr lang="fr-CH" altLang="fr-FR" sz="1800" b="1">
                <a:latin typeface="Arial" panose="020B0604020202020204" pitchFamily="34" charset="0"/>
              </a:rPr>
              <a:t>N</a:t>
            </a:r>
            <a:endParaRPr lang="fr-FR" altLang="fr-FR" sz="1800" b="1">
              <a:latin typeface="Arial" panose="020B0604020202020204" pitchFamily="34" charset="0"/>
            </a:endParaRPr>
          </a:p>
        </p:txBody>
      </p:sp>
      <p:sp>
        <p:nvSpPr>
          <p:cNvPr id="301105" name="Rectangle 49"/>
          <p:cNvSpPr>
            <a:spLocks noChangeArrowheads="1"/>
          </p:cNvSpPr>
          <p:nvPr/>
        </p:nvSpPr>
        <p:spPr bwMode="auto">
          <a:xfrm rot="5400000">
            <a:off x="1802606" y="4596607"/>
            <a:ext cx="282575" cy="1122362"/>
          </a:xfrm>
          <a:prstGeom prst="rect">
            <a:avLst/>
          </a:prstGeom>
          <a:gradFill rotWithShape="1">
            <a:gsLst>
              <a:gs pos="0">
                <a:srgbClr val="3333CC"/>
              </a:gs>
              <a:gs pos="100000">
                <a:srgbClr val="FF0000"/>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b="1">
                <a:latin typeface="Arial" panose="020B0604020202020204" pitchFamily="34" charset="0"/>
              </a:rPr>
              <a:t>S</a:t>
            </a: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r>
              <a:rPr lang="fr-CH" altLang="fr-FR" sz="1800" b="1">
                <a:latin typeface="Arial" panose="020B0604020202020204" pitchFamily="34" charset="0"/>
              </a:rPr>
              <a:t>N</a:t>
            </a:r>
            <a:endParaRPr lang="fr-FR" altLang="fr-FR" sz="1800" b="1">
              <a:latin typeface="Arial" panose="020B0604020202020204" pitchFamily="34" charset="0"/>
            </a:endParaRPr>
          </a:p>
        </p:txBody>
      </p:sp>
      <p:sp>
        <p:nvSpPr>
          <p:cNvPr id="301106" name="Rectangle 50"/>
          <p:cNvSpPr>
            <a:spLocks noChangeArrowheads="1"/>
          </p:cNvSpPr>
          <p:nvPr/>
        </p:nvSpPr>
        <p:spPr bwMode="auto">
          <a:xfrm>
            <a:off x="2547938" y="3959225"/>
            <a:ext cx="282575" cy="1122363"/>
          </a:xfrm>
          <a:prstGeom prst="rect">
            <a:avLst/>
          </a:prstGeom>
          <a:gradFill rotWithShape="1">
            <a:gsLst>
              <a:gs pos="0">
                <a:srgbClr val="3333CC"/>
              </a:gs>
              <a:gs pos="100000">
                <a:srgbClr val="FF0000"/>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b="1">
                <a:latin typeface="Arial" panose="020B0604020202020204" pitchFamily="34" charset="0"/>
              </a:rPr>
              <a:t>S</a:t>
            </a: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r>
              <a:rPr lang="fr-CH" altLang="fr-FR" sz="1800" b="1">
                <a:latin typeface="Arial" panose="020B0604020202020204" pitchFamily="34" charset="0"/>
              </a:rPr>
              <a:t>N</a:t>
            </a:r>
            <a:endParaRPr lang="fr-FR" altLang="fr-FR" sz="1800" b="1">
              <a:latin typeface="Arial" panose="020B0604020202020204" pitchFamily="34" charset="0"/>
            </a:endParaRPr>
          </a:p>
        </p:txBody>
      </p:sp>
      <p:grpSp>
        <p:nvGrpSpPr>
          <p:cNvPr id="8" name="Group 51"/>
          <p:cNvGrpSpPr>
            <a:grpSpLocks/>
          </p:cNvGrpSpPr>
          <p:nvPr/>
        </p:nvGrpSpPr>
        <p:grpSpPr bwMode="auto">
          <a:xfrm>
            <a:off x="1490663" y="3979863"/>
            <a:ext cx="1169987" cy="1169987"/>
            <a:chOff x="2075" y="1208"/>
            <a:chExt cx="737" cy="737"/>
          </a:xfrm>
        </p:grpSpPr>
        <p:sp>
          <p:nvSpPr>
            <p:cNvPr id="18509" name="Oval 52"/>
            <p:cNvSpPr>
              <a:spLocks noChangeArrowheads="1"/>
            </p:cNvSpPr>
            <p:nvPr/>
          </p:nvSpPr>
          <p:spPr bwMode="auto">
            <a:xfrm>
              <a:off x="2375" y="1508"/>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510" name="Arc 53"/>
            <p:cNvSpPr>
              <a:spLocks/>
            </p:cNvSpPr>
            <p:nvPr/>
          </p:nvSpPr>
          <p:spPr bwMode="auto">
            <a:xfrm>
              <a:off x="2308" y="1441"/>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11" name="Arc 54"/>
            <p:cNvSpPr>
              <a:spLocks/>
            </p:cNvSpPr>
            <p:nvPr/>
          </p:nvSpPr>
          <p:spPr bwMode="auto">
            <a:xfrm>
              <a:off x="2256" y="1389"/>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12" name="Arc 55"/>
            <p:cNvSpPr>
              <a:spLocks/>
            </p:cNvSpPr>
            <p:nvPr/>
          </p:nvSpPr>
          <p:spPr bwMode="auto">
            <a:xfrm>
              <a:off x="2211" y="1344"/>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13" name="Arc 56"/>
            <p:cNvSpPr>
              <a:spLocks/>
            </p:cNvSpPr>
            <p:nvPr/>
          </p:nvSpPr>
          <p:spPr bwMode="auto">
            <a:xfrm>
              <a:off x="2165" y="1298"/>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14" name="Arc 57"/>
            <p:cNvSpPr>
              <a:spLocks/>
            </p:cNvSpPr>
            <p:nvPr/>
          </p:nvSpPr>
          <p:spPr bwMode="auto">
            <a:xfrm>
              <a:off x="2121" y="1254"/>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15" name="Arc 58"/>
            <p:cNvSpPr>
              <a:spLocks/>
            </p:cNvSpPr>
            <p:nvPr/>
          </p:nvSpPr>
          <p:spPr bwMode="auto">
            <a:xfrm>
              <a:off x="2075" y="1208"/>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16" name="Text Box 59"/>
            <p:cNvSpPr txBox="1">
              <a:spLocks noChangeArrowheads="1"/>
            </p:cNvSpPr>
            <p:nvPr/>
          </p:nvSpPr>
          <p:spPr bwMode="auto">
            <a:xfrm>
              <a:off x="2354" y="1490"/>
              <a:ext cx="1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200" b="1">
                  <a:latin typeface="Arial" panose="020B0604020202020204" pitchFamily="34" charset="0"/>
                </a:rPr>
                <a:t>X</a:t>
              </a:r>
              <a:endParaRPr lang="en-US" altLang="fr-FR" sz="1200" b="1">
                <a:latin typeface="Arial" panose="020B0604020202020204" pitchFamily="34" charset="0"/>
              </a:endParaRPr>
            </a:p>
          </p:txBody>
        </p:sp>
      </p:grpSp>
      <p:grpSp>
        <p:nvGrpSpPr>
          <p:cNvPr id="9" name="Group 60"/>
          <p:cNvGrpSpPr>
            <a:grpSpLocks/>
          </p:cNvGrpSpPr>
          <p:nvPr/>
        </p:nvGrpSpPr>
        <p:grpSpPr bwMode="auto">
          <a:xfrm>
            <a:off x="2716213" y="3979863"/>
            <a:ext cx="1169987" cy="1169987"/>
            <a:chOff x="3334" y="300"/>
            <a:chExt cx="737" cy="737"/>
          </a:xfrm>
        </p:grpSpPr>
        <p:sp>
          <p:nvSpPr>
            <p:cNvPr id="18501" name="Oval 61"/>
            <p:cNvSpPr>
              <a:spLocks noChangeArrowheads="1"/>
            </p:cNvSpPr>
            <p:nvPr/>
          </p:nvSpPr>
          <p:spPr bwMode="auto">
            <a:xfrm>
              <a:off x="3634" y="600"/>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502" name="Arc 62"/>
            <p:cNvSpPr>
              <a:spLocks/>
            </p:cNvSpPr>
            <p:nvPr/>
          </p:nvSpPr>
          <p:spPr bwMode="auto">
            <a:xfrm>
              <a:off x="3567" y="533"/>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03" name="Arc 63"/>
            <p:cNvSpPr>
              <a:spLocks/>
            </p:cNvSpPr>
            <p:nvPr/>
          </p:nvSpPr>
          <p:spPr bwMode="auto">
            <a:xfrm>
              <a:off x="3515" y="481"/>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04" name="Arc 64"/>
            <p:cNvSpPr>
              <a:spLocks/>
            </p:cNvSpPr>
            <p:nvPr/>
          </p:nvSpPr>
          <p:spPr bwMode="auto">
            <a:xfrm>
              <a:off x="3470" y="436"/>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05" name="Arc 65"/>
            <p:cNvSpPr>
              <a:spLocks/>
            </p:cNvSpPr>
            <p:nvPr/>
          </p:nvSpPr>
          <p:spPr bwMode="auto">
            <a:xfrm>
              <a:off x="3424" y="390"/>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06" name="Arc 66"/>
            <p:cNvSpPr>
              <a:spLocks/>
            </p:cNvSpPr>
            <p:nvPr/>
          </p:nvSpPr>
          <p:spPr bwMode="auto">
            <a:xfrm>
              <a:off x="3380" y="346"/>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07" name="Arc 67"/>
            <p:cNvSpPr>
              <a:spLocks/>
            </p:cNvSpPr>
            <p:nvPr/>
          </p:nvSpPr>
          <p:spPr bwMode="auto">
            <a:xfrm>
              <a:off x="3334" y="300"/>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08" name="Oval 68"/>
            <p:cNvSpPr>
              <a:spLocks noChangeArrowheads="1"/>
            </p:cNvSpPr>
            <p:nvPr/>
          </p:nvSpPr>
          <p:spPr bwMode="auto">
            <a:xfrm>
              <a:off x="3680" y="646"/>
              <a:ext cx="45" cy="4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10" name="Group 69"/>
          <p:cNvGrpSpPr>
            <a:grpSpLocks/>
          </p:cNvGrpSpPr>
          <p:nvPr/>
        </p:nvGrpSpPr>
        <p:grpSpPr bwMode="auto">
          <a:xfrm>
            <a:off x="2714625" y="5222875"/>
            <a:ext cx="1169988" cy="1169988"/>
            <a:chOff x="2075" y="1208"/>
            <a:chExt cx="737" cy="737"/>
          </a:xfrm>
        </p:grpSpPr>
        <p:sp>
          <p:nvSpPr>
            <p:cNvPr id="18493" name="Oval 70"/>
            <p:cNvSpPr>
              <a:spLocks noChangeArrowheads="1"/>
            </p:cNvSpPr>
            <p:nvPr/>
          </p:nvSpPr>
          <p:spPr bwMode="auto">
            <a:xfrm>
              <a:off x="2375" y="1508"/>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494" name="Arc 71"/>
            <p:cNvSpPr>
              <a:spLocks/>
            </p:cNvSpPr>
            <p:nvPr/>
          </p:nvSpPr>
          <p:spPr bwMode="auto">
            <a:xfrm>
              <a:off x="2308" y="1441"/>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95" name="Arc 72"/>
            <p:cNvSpPr>
              <a:spLocks/>
            </p:cNvSpPr>
            <p:nvPr/>
          </p:nvSpPr>
          <p:spPr bwMode="auto">
            <a:xfrm>
              <a:off x="2256" y="1389"/>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96" name="Arc 73"/>
            <p:cNvSpPr>
              <a:spLocks/>
            </p:cNvSpPr>
            <p:nvPr/>
          </p:nvSpPr>
          <p:spPr bwMode="auto">
            <a:xfrm>
              <a:off x="2211" y="1344"/>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97" name="Arc 74"/>
            <p:cNvSpPr>
              <a:spLocks/>
            </p:cNvSpPr>
            <p:nvPr/>
          </p:nvSpPr>
          <p:spPr bwMode="auto">
            <a:xfrm>
              <a:off x="2165" y="1298"/>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98" name="Arc 75"/>
            <p:cNvSpPr>
              <a:spLocks/>
            </p:cNvSpPr>
            <p:nvPr/>
          </p:nvSpPr>
          <p:spPr bwMode="auto">
            <a:xfrm>
              <a:off x="2121" y="1254"/>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99" name="Arc 76"/>
            <p:cNvSpPr>
              <a:spLocks/>
            </p:cNvSpPr>
            <p:nvPr/>
          </p:nvSpPr>
          <p:spPr bwMode="auto">
            <a:xfrm>
              <a:off x="2075" y="1208"/>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500" name="Text Box 77"/>
            <p:cNvSpPr txBox="1">
              <a:spLocks noChangeArrowheads="1"/>
            </p:cNvSpPr>
            <p:nvPr/>
          </p:nvSpPr>
          <p:spPr bwMode="auto">
            <a:xfrm>
              <a:off x="2354" y="1490"/>
              <a:ext cx="1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200" b="1">
                  <a:latin typeface="Arial" panose="020B0604020202020204" pitchFamily="34" charset="0"/>
                </a:rPr>
                <a:t>X</a:t>
              </a:r>
              <a:endParaRPr lang="en-US" altLang="fr-FR" sz="1200" b="1">
                <a:latin typeface="Arial" panose="020B0604020202020204" pitchFamily="34" charset="0"/>
              </a:endParaRPr>
            </a:p>
          </p:txBody>
        </p:sp>
      </p:grpSp>
      <p:grpSp>
        <p:nvGrpSpPr>
          <p:cNvPr id="11" name="Group 78"/>
          <p:cNvGrpSpPr>
            <a:grpSpLocks/>
          </p:cNvGrpSpPr>
          <p:nvPr/>
        </p:nvGrpSpPr>
        <p:grpSpPr bwMode="auto">
          <a:xfrm>
            <a:off x="1490663" y="5222875"/>
            <a:ext cx="1169987" cy="1169988"/>
            <a:chOff x="3334" y="300"/>
            <a:chExt cx="737" cy="737"/>
          </a:xfrm>
        </p:grpSpPr>
        <p:sp>
          <p:nvSpPr>
            <p:cNvPr id="18485" name="Oval 79"/>
            <p:cNvSpPr>
              <a:spLocks noChangeArrowheads="1"/>
            </p:cNvSpPr>
            <p:nvPr/>
          </p:nvSpPr>
          <p:spPr bwMode="auto">
            <a:xfrm>
              <a:off x="3634" y="600"/>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486" name="Arc 80"/>
            <p:cNvSpPr>
              <a:spLocks/>
            </p:cNvSpPr>
            <p:nvPr/>
          </p:nvSpPr>
          <p:spPr bwMode="auto">
            <a:xfrm>
              <a:off x="3567" y="533"/>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87" name="Arc 81"/>
            <p:cNvSpPr>
              <a:spLocks/>
            </p:cNvSpPr>
            <p:nvPr/>
          </p:nvSpPr>
          <p:spPr bwMode="auto">
            <a:xfrm>
              <a:off x="3515" y="481"/>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88" name="Arc 82"/>
            <p:cNvSpPr>
              <a:spLocks/>
            </p:cNvSpPr>
            <p:nvPr/>
          </p:nvSpPr>
          <p:spPr bwMode="auto">
            <a:xfrm>
              <a:off x="3470" y="436"/>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89" name="Arc 83"/>
            <p:cNvSpPr>
              <a:spLocks/>
            </p:cNvSpPr>
            <p:nvPr/>
          </p:nvSpPr>
          <p:spPr bwMode="auto">
            <a:xfrm>
              <a:off x="3424" y="390"/>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90" name="Arc 84"/>
            <p:cNvSpPr>
              <a:spLocks/>
            </p:cNvSpPr>
            <p:nvPr/>
          </p:nvSpPr>
          <p:spPr bwMode="auto">
            <a:xfrm>
              <a:off x="3380" y="346"/>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91" name="Arc 85"/>
            <p:cNvSpPr>
              <a:spLocks/>
            </p:cNvSpPr>
            <p:nvPr/>
          </p:nvSpPr>
          <p:spPr bwMode="auto">
            <a:xfrm>
              <a:off x="3334" y="300"/>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92" name="Oval 86"/>
            <p:cNvSpPr>
              <a:spLocks noChangeArrowheads="1"/>
            </p:cNvSpPr>
            <p:nvPr/>
          </p:nvSpPr>
          <p:spPr bwMode="auto">
            <a:xfrm>
              <a:off x="3680" y="646"/>
              <a:ext cx="45" cy="4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301143" name="Oval 87"/>
          <p:cNvSpPr>
            <a:spLocks noChangeArrowheads="1"/>
          </p:cNvSpPr>
          <p:nvPr/>
        </p:nvSpPr>
        <p:spPr bwMode="auto">
          <a:xfrm>
            <a:off x="1952625" y="1582738"/>
            <a:ext cx="215900" cy="215900"/>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301144" name="Arc 88"/>
          <p:cNvSpPr>
            <a:spLocks/>
          </p:cNvSpPr>
          <p:nvPr/>
        </p:nvSpPr>
        <p:spPr bwMode="auto">
          <a:xfrm>
            <a:off x="1846263" y="1476375"/>
            <a:ext cx="430212" cy="430213"/>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45" name="Arc 89"/>
          <p:cNvSpPr>
            <a:spLocks/>
          </p:cNvSpPr>
          <p:nvPr/>
        </p:nvSpPr>
        <p:spPr bwMode="auto">
          <a:xfrm>
            <a:off x="1763713" y="1393825"/>
            <a:ext cx="593725" cy="593725"/>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46" name="Arc 90"/>
          <p:cNvSpPr>
            <a:spLocks/>
          </p:cNvSpPr>
          <p:nvPr/>
        </p:nvSpPr>
        <p:spPr bwMode="auto">
          <a:xfrm>
            <a:off x="1692275" y="1322388"/>
            <a:ext cx="738188" cy="738187"/>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47" name="Arc 91"/>
          <p:cNvSpPr>
            <a:spLocks/>
          </p:cNvSpPr>
          <p:nvPr/>
        </p:nvSpPr>
        <p:spPr bwMode="auto">
          <a:xfrm>
            <a:off x="1619250" y="1249363"/>
            <a:ext cx="882650" cy="882650"/>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48" name="Arc 92"/>
          <p:cNvSpPr>
            <a:spLocks/>
          </p:cNvSpPr>
          <p:nvPr/>
        </p:nvSpPr>
        <p:spPr bwMode="auto">
          <a:xfrm>
            <a:off x="1549400" y="1179513"/>
            <a:ext cx="1025525" cy="1025525"/>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49" name="Arc 93"/>
          <p:cNvSpPr>
            <a:spLocks/>
          </p:cNvSpPr>
          <p:nvPr/>
        </p:nvSpPr>
        <p:spPr bwMode="auto">
          <a:xfrm>
            <a:off x="1476375" y="1106488"/>
            <a:ext cx="1169988" cy="1169987"/>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50" name="Text Box 94"/>
          <p:cNvSpPr txBox="1">
            <a:spLocks noChangeArrowheads="1"/>
          </p:cNvSpPr>
          <p:nvPr/>
        </p:nvSpPr>
        <p:spPr bwMode="auto">
          <a:xfrm>
            <a:off x="1919288" y="1554163"/>
            <a:ext cx="2857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200" b="1">
                <a:latin typeface="Arial" panose="020B0604020202020204" pitchFamily="34" charset="0"/>
              </a:rPr>
              <a:t>X</a:t>
            </a:r>
            <a:endParaRPr lang="en-US" altLang="fr-FR" sz="1200" b="1">
              <a:latin typeface="Arial" panose="020B0604020202020204" pitchFamily="34" charset="0"/>
            </a:endParaRPr>
          </a:p>
        </p:txBody>
      </p:sp>
      <p:sp>
        <p:nvSpPr>
          <p:cNvPr id="301151" name="Oval 95"/>
          <p:cNvSpPr>
            <a:spLocks noChangeArrowheads="1"/>
          </p:cNvSpPr>
          <p:nvPr/>
        </p:nvSpPr>
        <p:spPr bwMode="auto">
          <a:xfrm>
            <a:off x="3178175" y="1582738"/>
            <a:ext cx="215900" cy="215900"/>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301152" name="Arc 96"/>
          <p:cNvSpPr>
            <a:spLocks/>
          </p:cNvSpPr>
          <p:nvPr/>
        </p:nvSpPr>
        <p:spPr bwMode="auto">
          <a:xfrm>
            <a:off x="3071813" y="1476375"/>
            <a:ext cx="430212" cy="430213"/>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53" name="Arc 97"/>
          <p:cNvSpPr>
            <a:spLocks/>
          </p:cNvSpPr>
          <p:nvPr/>
        </p:nvSpPr>
        <p:spPr bwMode="auto">
          <a:xfrm>
            <a:off x="2989263" y="1393825"/>
            <a:ext cx="593725" cy="593725"/>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54" name="Arc 98"/>
          <p:cNvSpPr>
            <a:spLocks/>
          </p:cNvSpPr>
          <p:nvPr/>
        </p:nvSpPr>
        <p:spPr bwMode="auto">
          <a:xfrm>
            <a:off x="2917825" y="1322388"/>
            <a:ext cx="738188" cy="738187"/>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55" name="Arc 99"/>
          <p:cNvSpPr>
            <a:spLocks/>
          </p:cNvSpPr>
          <p:nvPr/>
        </p:nvSpPr>
        <p:spPr bwMode="auto">
          <a:xfrm>
            <a:off x="2844800" y="1249363"/>
            <a:ext cx="882650" cy="882650"/>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56" name="Arc 100"/>
          <p:cNvSpPr>
            <a:spLocks/>
          </p:cNvSpPr>
          <p:nvPr/>
        </p:nvSpPr>
        <p:spPr bwMode="auto">
          <a:xfrm>
            <a:off x="2774950" y="1179513"/>
            <a:ext cx="1025525" cy="1025525"/>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57" name="Arc 101"/>
          <p:cNvSpPr>
            <a:spLocks/>
          </p:cNvSpPr>
          <p:nvPr/>
        </p:nvSpPr>
        <p:spPr bwMode="auto">
          <a:xfrm>
            <a:off x="2701925" y="1106488"/>
            <a:ext cx="1169988" cy="1169987"/>
          </a:xfrm>
          <a:custGeom>
            <a:avLst/>
            <a:gdLst>
              <a:gd name="T0" fmla="*/ 2147483646 w 43200"/>
              <a:gd name="T1" fmla="*/ 0 h 43200"/>
              <a:gd name="T2" fmla="*/ 2147483646 w 43200"/>
              <a:gd name="T3" fmla="*/ 2147483646 h 43200"/>
              <a:gd name="T4" fmla="*/ 2147483646 w 43200"/>
              <a:gd name="T5" fmla="*/ 214748364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301158" name="Oval 102"/>
          <p:cNvSpPr>
            <a:spLocks noChangeArrowheads="1"/>
          </p:cNvSpPr>
          <p:nvPr/>
        </p:nvSpPr>
        <p:spPr bwMode="auto">
          <a:xfrm>
            <a:off x="3251200" y="1655763"/>
            <a:ext cx="71438" cy="71437"/>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12" name="Group 103"/>
          <p:cNvGrpSpPr>
            <a:grpSpLocks/>
          </p:cNvGrpSpPr>
          <p:nvPr/>
        </p:nvGrpSpPr>
        <p:grpSpPr bwMode="auto">
          <a:xfrm>
            <a:off x="2700338" y="2349500"/>
            <a:ext cx="1169987" cy="1169988"/>
            <a:chOff x="2075" y="1208"/>
            <a:chExt cx="737" cy="737"/>
          </a:xfrm>
        </p:grpSpPr>
        <p:sp>
          <p:nvSpPr>
            <p:cNvPr id="18477" name="Oval 104"/>
            <p:cNvSpPr>
              <a:spLocks noChangeArrowheads="1"/>
            </p:cNvSpPr>
            <p:nvPr/>
          </p:nvSpPr>
          <p:spPr bwMode="auto">
            <a:xfrm>
              <a:off x="2375" y="1508"/>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478" name="Arc 105"/>
            <p:cNvSpPr>
              <a:spLocks/>
            </p:cNvSpPr>
            <p:nvPr/>
          </p:nvSpPr>
          <p:spPr bwMode="auto">
            <a:xfrm>
              <a:off x="2308" y="1441"/>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79" name="Arc 106"/>
            <p:cNvSpPr>
              <a:spLocks/>
            </p:cNvSpPr>
            <p:nvPr/>
          </p:nvSpPr>
          <p:spPr bwMode="auto">
            <a:xfrm>
              <a:off x="2256" y="1389"/>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80" name="Arc 107"/>
            <p:cNvSpPr>
              <a:spLocks/>
            </p:cNvSpPr>
            <p:nvPr/>
          </p:nvSpPr>
          <p:spPr bwMode="auto">
            <a:xfrm>
              <a:off x="2211" y="1344"/>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81" name="Arc 108"/>
            <p:cNvSpPr>
              <a:spLocks/>
            </p:cNvSpPr>
            <p:nvPr/>
          </p:nvSpPr>
          <p:spPr bwMode="auto">
            <a:xfrm>
              <a:off x="2165" y="1298"/>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82" name="Arc 109"/>
            <p:cNvSpPr>
              <a:spLocks/>
            </p:cNvSpPr>
            <p:nvPr/>
          </p:nvSpPr>
          <p:spPr bwMode="auto">
            <a:xfrm>
              <a:off x="2121" y="1254"/>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83" name="Arc 110"/>
            <p:cNvSpPr>
              <a:spLocks/>
            </p:cNvSpPr>
            <p:nvPr/>
          </p:nvSpPr>
          <p:spPr bwMode="auto">
            <a:xfrm>
              <a:off x="2075" y="1208"/>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84" name="Text Box 111"/>
            <p:cNvSpPr txBox="1">
              <a:spLocks noChangeArrowheads="1"/>
            </p:cNvSpPr>
            <p:nvPr/>
          </p:nvSpPr>
          <p:spPr bwMode="auto">
            <a:xfrm>
              <a:off x="2354" y="1490"/>
              <a:ext cx="1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200" b="1">
                  <a:latin typeface="Arial" panose="020B0604020202020204" pitchFamily="34" charset="0"/>
                </a:rPr>
                <a:t>X</a:t>
              </a:r>
              <a:endParaRPr lang="en-US" altLang="fr-FR" sz="1200" b="1">
                <a:latin typeface="Arial" panose="020B0604020202020204" pitchFamily="34" charset="0"/>
              </a:endParaRPr>
            </a:p>
          </p:txBody>
        </p:sp>
      </p:grpSp>
      <p:grpSp>
        <p:nvGrpSpPr>
          <p:cNvPr id="13" name="Group 112"/>
          <p:cNvGrpSpPr>
            <a:grpSpLocks/>
          </p:cNvGrpSpPr>
          <p:nvPr/>
        </p:nvGrpSpPr>
        <p:grpSpPr bwMode="auto">
          <a:xfrm>
            <a:off x="1476375" y="2349500"/>
            <a:ext cx="1169988" cy="1169988"/>
            <a:chOff x="3334" y="300"/>
            <a:chExt cx="737" cy="737"/>
          </a:xfrm>
        </p:grpSpPr>
        <p:sp>
          <p:nvSpPr>
            <p:cNvPr id="18469" name="Oval 113"/>
            <p:cNvSpPr>
              <a:spLocks noChangeArrowheads="1"/>
            </p:cNvSpPr>
            <p:nvPr/>
          </p:nvSpPr>
          <p:spPr bwMode="auto">
            <a:xfrm>
              <a:off x="3634" y="600"/>
              <a:ext cx="136" cy="136"/>
            </a:xfrm>
            <a:prstGeom prst="ellipse">
              <a:avLst/>
            </a:prstGeom>
            <a:solidFill>
              <a:srgbClr val="FF0000"/>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470" name="Arc 114"/>
            <p:cNvSpPr>
              <a:spLocks/>
            </p:cNvSpPr>
            <p:nvPr/>
          </p:nvSpPr>
          <p:spPr bwMode="auto">
            <a:xfrm>
              <a:off x="3567" y="533"/>
              <a:ext cx="271" cy="271"/>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71" name="Arc 115"/>
            <p:cNvSpPr>
              <a:spLocks/>
            </p:cNvSpPr>
            <p:nvPr/>
          </p:nvSpPr>
          <p:spPr bwMode="auto">
            <a:xfrm>
              <a:off x="3515" y="481"/>
              <a:ext cx="374" cy="374"/>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72" name="Arc 116"/>
            <p:cNvSpPr>
              <a:spLocks/>
            </p:cNvSpPr>
            <p:nvPr/>
          </p:nvSpPr>
          <p:spPr bwMode="auto">
            <a:xfrm>
              <a:off x="3470" y="436"/>
              <a:ext cx="465" cy="465"/>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73" name="Arc 117"/>
            <p:cNvSpPr>
              <a:spLocks/>
            </p:cNvSpPr>
            <p:nvPr/>
          </p:nvSpPr>
          <p:spPr bwMode="auto">
            <a:xfrm>
              <a:off x="3424" y="390"/>
              <a:ext cx="556" cy="55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74" name="Arc 118"/>
            <p:cNvSpPr>
              <a:spLocks/>
            </p:cNvSpPr>
            <p:nvPr/>
          </p:nvSpPr>
          <p:spPr bwMode="auto">
            <a:xfrm>
              <a:off x="3380" y="346"/>
              <a:ext cx="646" cy="646"/>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75" name="Arc 119"/>
            <p:cNvSpPr>
              <a:spLocks/>
            </p:cNvSpPr>
            <p:nvPr/>
          </p:nvSpPr>
          <p:spPr bwMode="auto">
            <a:xfrm>
              <a:off x="3334" y="300"/>
              <a:ext cx="737" cy="737"/>
            </a:xfrm>
            <a:custGeom>
              <a:avLst/>
              <a:gdLst>
                <a:gd name="T0" fmla="*/ 0 w 43200"/>
                <a:gd name="T1" fmla="*/ 0 h 43200"/>
                <a:gd name="T2" fmla="*/ 0 w 43200"/>
                <a:gd name="T3" fmla="*/ 0 h 43200"/>
                <a:gd name="T4" fmla="*/ 0 w 43200"/>
                <a:gd name="T5" fmla="*/ 0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0021"/>
                    <a:pt x="9130" y="501"/>
                    <a:pt x="20698" y="18"/>
                  </a:cubicBezTo>
                  <a:lnTo>
                    <a:pt x="21600" y="21600"/>
                  </a:lnTo>
                  <a:lnTo>
                    <a:pt x="21599" y="0"/>
                  </a:lnTo>
                  <a:close/>
                </a:path>
              </a:pathLst>
            </a:custGeom>
            <a:noFill/>
            <a:ln w="9525">
              <a:solidFill>
                <a:srgbClr val="FF0000"/>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18476" name="Oval 120"/>
            <p:cNvSpPr>
              <a:spLocks noChangeArrowheads="1"/>
            </p:cNvSpPr>
            <p:nvPr/>
          </p:nvSpPr>
          <p:spPr bwMode="auto">
            <a:xfrm>
              <a:off x="3680" y="646"/>
              <a:ext cx="45" cy="45"/>
            </a:xfrm>
            <a:prstGeom prst="ellipse">
              <a:avLst/>
            </a:prstGeom>
            <a:solidFill>
              <a:schemeClr val="tx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301177" name="Line 121"/>
          <p:cNvSpPr>
            <a:spLocks noChangeShapeType="1"/>
          </p:cNvSpPr>
          <p:nvPr/>
        </p:nvSpPr>
        <p:spPr bwMode="auto">
          <a:xfrm>
            <a:off x="2668588" y="1204913"/>
            <a:ext cx="7937" cy="854075"/>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01178" name="Line 122"/>
          <p:cNvSpPr>
            <a:spLocks noChangeShapeType="1"/>
          </p:cNvSpPr>
          <p:nvPr/>
        </p:nvSpPr>
        <p:spPr bwMode="auto">
          <a:xfrm flipV="1">
            <a:off x="2674938" y="2473325"/>
            <a:ext cx="7937" cy="854075"/>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01179" name="Line 123"/>
          <p:cNvSpPr>
            <a:spLocks noChangeShapeType="1"/>
          </p:cNvSpPr>
          <p:nvPr/>
        </p:nvSpPr>
        <p:spPr bwMode="auto">
          <a:xfrm flipH="1">
            <a:off x="1673225" y="2284413"/>
            <a:ext cx="731838"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01180" name="Line 124"/>
          <p:cNvSpPr>
            <a:spLocks noChangeShapeType="1"/>
          </p:cNvSpPr>
          <p:nvPr/>
        </p:nvSpPr>
        <p:spPr bwMode="auto">
          <a:xfrm>
            <a:off x="2916238" y="2259013"/>
            <a:ext cx="700087"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301181" name="Text Box 125"/>
          <p:cNvSpPr txBox="1">
            <a:spLocks noChangeArrowheads="1"/>
          </p:cNvSpPr>
          <p:nvPr/>
        </p:nvSpPr>
        <p:spPr bwMode="auto">
          <a:xfrm>
            <a:off x="5041900" y="2952750"/>
            <a:ext cx="2354263"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a:latin typeface="Arial" panose="020B0604020202020204" pitchFamily="34" charset="0"/>
              </a:rPr>
              <a:t>Machine 4 pôles</a:t>
            </a:r>
          </a:p>
          <a:p>
            <a:pPr algn="ctr" eaLnBrk="1" hangingPunct="1">
              <a:spcBef>
                <a:spcPct val="0"/>
              </a:spcBef>
              <a:buClrTx/>
              <a:buSzTx/>
              <a:buFontTx/>
              <a:buNone/>
            </a:pPr>
            <a:r>
              <a:rPr lang="fr-CH" altLang="fr-FR" sz="1800">
                <a:latin typeface="Arial" panose="020B0604020202020204" pitchFamily="34" charset="0"/>
              </a:rPr>
              <a:t>(2 paires de pôles)</a:t>
            </a:r>
            <a:endParaRPr lang="en-US" altLang="fr-FR" sz="1800">
              <a:latin typeface="Arial" panose="020B0604020202020204" pitchFamily="34" charset="0"/>
            </a:endParaRPr>
          </a:p>
        </p:txBody>
      </p:sp>
      <p:sp>
        <p:nvSpPr>
          <p:cNvPr id="18466" name="Text Box 126"/>
          <p:cNvSpPr txBox="1">
            <a:spLocks noChangeArrowheads="1"/>
          </p:cNvSpPr>
          <p:nvPr/>
        </p:nvSpPr>
        <p:spPr bwMode="auto">
          <a:xfrm>
            <a:off x="284163" y="223838"/>
            <a:ext cx="5991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b="1">
                <a:solidFill>
                  <a:srgbClr val="C00000"/>
                </a:solidFill>
                <a:latin typeface="Arial" panose="020B0604020202020204" pitchFamily="34" charset="0"/>
              </a:rPr>
              <a:t>Génération d'un champ d'induction magnétique</a:t>
            </a:r>
            <a:endParaRPr lang="en-US" altLang="fr-FR" sz="2000" b="1">
              <a:solidFill>
                <a:srgbClr val="C00000"/>
              </a:solidFill>
              <a:latin typeface="Arial" panose="020B0604020202020204" pitchFamily="34" charset="0"/>
            </a:endParaRPr>
          </a:p>
        </p:txBody>
      </p:sp>
      <p:sp>
        <p:nvSpPr>
          <p:cNvPr id="18467" name="Rectangle 10"/>
          <p:cNvSpPr>
            <a:spLocks noChangeArrowheads="1"/>
          </p:cNvSpPr>
          <p:nvPr/>
        </p:nvSpPr>
        <p:spPr bwMode="auto">
          <a:xfrm>
            <a:off x="182563" y="146050"/>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8" name="Espace réservé du pied de page 1"/>
          <p:cNvSpPr>
            <a:spLocks noGrp="1"/>
          </p:cNvSpPr>
          <p:nvPr>
            <p:ph type="ftr" sz="quarter" idx="11"/>
          </p:nvPr>
        </p:nvSpPr>
        <p:spPr/>
        <p:txBody>
          <a:bodyPr/>
          <a:lstStyle/>
          <a:p>
            <a:pPr>
              <a:defRPr/>
            </a:pPr>
            <a:r>
              <a:rPr lang="fr-FR" dirty="0" smtClean="0"/>
              <a:t>Commande des machines   3.MCC     Ali NEJMI</a:t>
            </a:r>
            <a:endParaRPr lang="en-US" dirty="0"/>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01143"/>
                                        </p:tgtEl>
                                        <p:attrNameLst>
                                          <p:attrName>style.visibility</p:attrName>
                                        </p:attrNameLst>
                                      </p:cBhvr>
                                      <p:to>
                                        <p:strVal val="visible"/>
                                      </p:to>
                                    </p:set>
                                    <p:animEffect transition="in" filter="dissolve">
                                      <p:cBhvr>
                                        <p:cTn id="7" dur="500"/>
                                        <p:tgtEl>
                                          <p:spTgt spid="3011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01150"/>
                                        </p:tgtEl>
                                        <p:attrNameLst>
                                          <p:attrName>style.visibility</p:attrName>
                                        </p:attrNameLst>
                                      </p:cBhvr>
                                      <p:to>
                                        <p:strVal val="visible"/>
                                      </p:to>
                                    </p:set>
                                    <p:animEffect transition="in" filter="dissolve">
                                      <p:cBhvr>
                                        <p:cTn id="12" dur="500"/>
                                        <p:tgtEl>
                                          <p:spTgt spid="30115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01144"/>
                                        </p:tgtEl>
                                        <p:attrNameLst>
                                          <p:attrName>style.visibility</p:attrName>
                                        </p:attrNameLst>
                                      </p:cBhvr>
                                      <p:to>
                                        <p:strVal val="visible"/>
                                      </p:to>
                                    </p:set>
                                    <p:animEffect transition="in" filter="dissolve">
                                      <p:cBhvr>
                                        <p:cTn id="17" dur="500"/>
                                        <p:tgtEl>
                                          <p:spTgt spid="301144"/>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301145"/>
                                        </p:tgtEl>
                                        <p:attrNameLst>
                                          <p:attrName>style.visibility</p:attrName>
                                        </p:attrNameLst>
                                      </p:cBhvr>
                                      <p:to>
                                        <p:strVal val="visible"/>
                                      </p:to>
                                    </p:set>
                                    <p:animEffect transition="in" filter="dissolve">
                                      <p:cBhvr>
                                        <p:cTn id="20" dur="500"/>
                                        <p:tgtEl>
                                          <p:spTgt spid="301145"/>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301146"/>
                                        </p:tgtEl>
                                        <p:attrNameLst>
                                          <p:attrName>style.visibility</p:attrName>
                                        </p:attrNameLst>
                                      </p:cBhvr>
                                      <p:to>
                                        <p:strVal val="visible"/>
                                      </p:to>
                                    </p:set>
                                    <p:animEffect transition="in" filter="dissolve">
                                      <p:cBhvr>
                                        <p:cTn id="23" dur="500"/>
                                        <p:tgtEl>
                                          <p:spTgt spid="301146"/>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301147"/>
                                        </p:tgtEl>
                                        <p:attrNameLst>
                                          <p:attrName>style.visibility</p:attrName>
                                        </p:attrNameLst>
                                      </p:cBhvr>
                                      <p:to>
                                        <p:strVal val="visible"/>
                                      </p:to>
                                    </p:set>
                                    <p:animEffect transition="in" filter="dissolve">
                                      <p:cBhvr>
                                        <p:cTn id="26" dur="500"/>
                                        <p:tgtEl>
                                          <p:spTgt spid="301147"/>
                                        </p:tgtEl>
                                      </p:cBhvr>
                                    </p:animEffect>
                                  </p:childTnLst>
                                </p:cTn>
                              </p:par>
                              <p:par>
                                <p:cTn id="27" presetID="9" presetClass="entr" presetSubtype="0" fill="hold" grpId="0" nodeType="withEffect">
                                  <p:stCondLst>
                                    <p:cond delay="0"/>
                                  </p:stCondLst>
                                  <p:childTnLst>
                                    <p:set>
                                      <p:cBhvr>
                                        <p:cTn id="28" dur="1" fill="hold">
                                          <p:stCondLst>
                                            <p:cond delay="0"/>
                                          </p:stCondLst>
                                        </p:cTn>
                                        <p:tgtEl>
                                          <p:spTgt spid="301148"/>
                                        </p:tgtEl>
                                        <p:attrNameLst>
                                          <p:attrName>style.visibility</p:attrName>
                                        </p:attrNameLst>
                                      </p:cBhvr>
                                      <p:to>
                                        <p:strVal val="visible"/>
                                      </p:to>
                                    </p:set>
                                    <p:animEffect transition="in" filter="dissolve">
                                      <p:cBhvr>
                                        <p:cTn id="29" dur="500"/>
                                        <p:tgtEl>
                                          <p:spTgt spid="301148"/>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301149"/>
                                        </p:tgtEl>
                                        <p:attrNameLst>
                                          <p:attrName>style.visibility</p:attrName>
                                        </p:attrNameLst>
                                      </p:cBhvr>
                                      <p:to>
                                        <p:strVal val="visible"/>
                                      </p:to>
                                    </p:set>
                                    <p:animEffect transition="in" filter="dissolve">
                                      <p:cBhvr>
                                        <p:cTn id="32" dur="500"/>
                                        <p:tgtEl>
                                          <p:spTgt spid="3011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01151"/>
                                        </p:tgtEl>
                                        <p:attrNameLst>
                                          <p:attrName>style.visibility</p:attrName>
                                        </p:attrNameLst>
                                      </p:cBhvr>
                                      <p:to>
                                        <p:strVal val="visible"/>
                                      </p:to>
                                    </p:set>
                                    <p:animEffect transition="in" filter="dissolve">
                                      <p:cBhvr>
                                        <p:cTn id="37" dur="500"/>
                                        <p:tgtEl>
                                          <p:spTgt spid="30115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301158"/>
                                        </p:tgtEl>
                                        <p:attrNameLst>
                                          <p:attrName>style.visibility</p:attrName>
                                        </p:attrNameLst>
                                      </p:cBhvr>
                                      <p:to>
                                        <p:strVal val="visible"/>
                                      </p:to>
                                    </p:set>
                                    <p:animEffect transition="in" filter="dissolve">
                                      <p:cBhvr>
                                        <p:cTn id="42" dur="500"/>
                                        <p:tgtEl>
                                          <p:spTgt spid="3011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301152"/>
                                        </p:tgtEl>
                                        <p:attrNameLst>
                                          <p:attrName>style.visibility</p:attrName>
                                        </p:attrNameLst>
                                      </p:cBhvr>
                                      <p:to>
                                        <p:strVal val="visible"/>
                                      </p:to>
                                    </p:set>
                                    <p:animEffect transition="in" filter="dissolve">
                                      <p:cBhvr>
                                        <p:cTn id="47" dur="500"/>
                                        <p:tgtEl>
                                          <p:spTgt spid="301152"/>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301153"/>
                                        </p:tgtEl>
                                        <p:attrNameLst>
                                          <p:attrName>style.visibility</p:attrName>
                                        </p:attrNameLst>
                                      </p:cBhvr>
                                      <p:to>
                                        <p:strVal val="visible"/>
                                      </p:to>
                                    </p:set>
                                    <p:animEffect transition="in" filter="dissolve">
                                      <p:cBhvr>
                                        <p:cTn id="50" dur="500"/>
                                        <p:tgtEl>
                                          <p:spTgt spid="301153"/>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301154"/>
                                        </p:tgtEl>
                                        <p:attrNameLst>
                                          <p:attrName>style.visibility</p:attrName>
                                        </p:attrNameLst>
                                      </p:cBhvr>
                                      <p:to>
                                        <p:strVal val="visible"/>
                                      </p:to>
                                    </p:set>
                                    <p:animEffect transition="in" filter="dissolve">
                                      <p:cBhvr>
                                        <p:cTn id="53" dur="500"/>
                                        <p:tgtEl>
                                          <p:spTgt spid="301154"/>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301155"/>
                                        </p:tgtEl>
                                        <p:attrNameLst>
                                          <p:attrName>style.visibility</p:attrName>
                                        </p:attrNameLst>
                                      </p:cBhvr>
                                      <p:to>
                                        <p:strVal val="visible"/>
                                      </p:to>
                                    </p:set>
                                    <p:animEffect transition="in" filter="dissolve">
                                      <p:cBhvr>
                                        <p:cTn id="56" dur="500"/>
                                        <p:tgtEl>
                                          <p:spTgt spid="301155"/>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301156"/>
                                        </p:tgtEl>
                                        <p:attrNameLst>
                                          <p:attrName>style.visibility</p:attrName>
                                        </p:attrNameLst>
                                      </p:cBhvr>
                                      <p:to>
                                        <p:strVal val="visible"/>
                                      </p:to>
                                    </p:set>
                                    <p:animEffect transition="in" filter="dissolve">
                                      <p:cBhvr>
                                        <p:cTn id="59" dur="500"/>
                                        <p:tgtEl>
                                          <p:spTgt spid="301156"/>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301157"/>
                                        </p:tgtEl>
                                        <p:attrNameLst>
                                          <p:attrName>style.visibility</p:attrName>
                                        </p:attrNameLst>
                                      </p:cBhvr>
                                      <p:to>
                                        <p:strVal val="visible"/>
                                      </p:to>
                                    </p:set>
                                    <p:animEffect transition="in" filter="dissolve">
                                      <p:cBhvr>
                                        <p:cTn id="62" dur="500"/>
                                        <p:tgtEl>
                                          <p:spTgt spid="30115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301177"/>
                                        </p:tgtEl>
                                        <p:attrNameLst>
                                          <p:attrName>style.visibility</p:attrName>
                                        </p:attrNameLst>
                                      </p:cBhvr>
                                      <p:to>
                                        <p:strVal val="visible"/>
                                      </p:to>
                                    </p:set>
                                    <p:animEffect transition="in" filter="dissolve">
                                      <p:cBhvr>
                                        <p:cTn id="67" dur="500"/>
                                        <p:tgtEl>
                                          <p:spTgt spid="301177"/>
                                        </p:tgtEl>
                                      </p:cBhvr>
                                    </p:animEffect>
                                  </p:childTnLst>
                                </p:cTn>
                              </p:par>
                            </p:childTnLst>
                          </p:cTn>
                        </p:par>
                        <p:par>
                          <p:cTn id="68" fill="hold" nodeType="afterGroup">
                            <p:stCondLst>
                              <p:cond delay="500"/>
                            </p:stCondLst>
                            <p:childTnLst>
                              <p:par>
                                <p:cTn id="69" presetID="9" presetClass="entr" presetSubtype="0" fill="hold" nodeType="after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dissolve">
                                      <p:cBhvr>
                                        <p:cTn id="71" dur="500"/>
                                        <p:tgtEl>
                                          <p:spTgt spid="8"/>
                                        </p:tgtEl>
                                      </p:cBhvr>
                                    </p:animEffect>
                                  </p:childTnLst>
                                </p:cTn>
                              </p:par>
                              <p:par>
                                <p:cTn id="72" presetID="9" presetClass="entr" presetSubtype="0" fill="hold" nodeType="with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dissolve">
                                      <p:cBhvr>
                                        <p:cTn id="74" dur="500"/>
                                        <p:tgtEl>
                                          <p:spTgt spid="9"/>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301106"/>
                                        </p:tgtEl>
                                        <p:attrNameLst>
                                          <p:attrName>style.visibility</p:attrName>
                                        </p:attrNameLst>
                                      </p:cBhvr>
                                      <p:to>
                                        <p:strVal val="visible"/>
                                      </p:to>
                                    </p:set>
                                    <p:animEffect transition="in" filter="dissolve">
                                      <p:cBhvr>
                                        <p:cTn id="77" dur="500"/>
                                        <p:tgtEl>
                                          <p:spTgt spid="30110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9" presetClass="entr" presetSubtype="0" fill="hold" nodeType="clickEffect">
                                  <p:stCondLst>
                                    <p:cond delay="0"/>
                                  </p:stCondLst>
                                  <p:childTnLst>
                                    <p:set>
                                      <p:cBhvr>
                                        <p:cTn id="81" dur="1" fill="hold">
                                          <p:stCondLst>
                                            <p:cond delay="0"/>
                                          </p:stCondLst>
                                        </p:cTn>
                                        <p:tgtEl>
                                          <p:spTgt spid="12"/>
                                        </p:tgtEl>
                                        <p:attrNameLst>
                                          <p:attrName>style.visibility</p:attrName>
                                        </p:attrNameLst>
                                      </p:cBhvr>
                                      <p:to>
                                        <p:strVal val="visible"/>
                                      </p:to>
                                    </p:set>
                                    <p:animEffect transition="in" filter="dissolve">
                                      <p:cBhvr>
                                        <p:cTn id="82" dur="500"/>
                                        <p:tgtEl>
                                          <p:spTgt spid="12"/>
                                        </p:tgtEl>
                                      </p:cBhvr>
                                    </p:animEffect>
                                  </p:childTnLst>
                                </p:cTn>
                              </p:par>
                            </p:childTnLst>
                          </p:cTn>
                        </p:par>
                        <p:par>
                          <p:cTn id="83" fill="hold" nodeType="afterGroup">
                            <p:stCondLst>
                              <p:cond delay="500"/>
                            </p:stCondLst>
                            <p:childTnLst>
                              <p:par>
                                <p:cTn id="84" presetID="9" presetClass="entr" presetSubtype="0" fill="hold" nodeType="afterEffect">
                                  <p:stCondLst>
                                    <p:cond delay="0"/>
                                  </p:stCondLst>
                                  <p:childTnLst>
                                    <p:set>
                                      <p:cBhvr>
                                        <p:cTn id="85" dur="1" fill="hold">
                                          <p:stCondLst>
                                            <p:cond delay="0"/>
                                          </p:stCondLst>
                                        </p:cTn>
                                        <p:tgtEl>
                                          <p:spTgt spid="13"/>
                                        </p:tgtEl>
                                        <p:attrNameLst>
                                          <p:attrName>style.visibility</p:attrName>
                                        </p:attrNameLst>
                                      </p:cBhvr>
                                      <p:to>
                                        <p:strVal val="visible"/>
                                      </p:to>
                                    </p:set>
                                    <p:animEffect transition="in" filter="dissolve">
                                      <p:cBhvr>
                                        <p:cTn id="86" dur="500"/>
                                        <p:tgtEl>
                                          <p:spTgt spid="13"/>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9" presetClass="entr" presetSubtype="0" fill="hold" grpId="0" nodeType="clickEffect">
                                  <p:stCondLst>
                                    <p:cond delay="0"/>
                                  </p:stCondLst>
                                  <p:childTnLst>
                                    <p:set>
                                      <p:cBhvr>
                                        <p:cTn id="90" dur="1" fill="hold">
                                          <p:stCondLst>
                                            <p:cond delay="0"/>
                                          </p:stCondLst>
                                        </p:cTn>
                                        <p:tgtEl>
                                          <p:spTgt spid="301178"/>
                                        </p:tgtEl>
                                        <p:attrNameLst>
                                          <p:attrName>style.visibility</p:attrName>
                                        </p:attrNameLst>
                                      </p:cBhvr>
                                      <p:to>
                                        <p:strVal val="visible"/>
                                      </p:to>
                                    </p:set>
                                    <p:animEffect transition="in" filter="dissolve">
                                      <p:cBhvr>
                                        <p:cTn id="91" dur="500"/>
                                        <p:tgtEl>
                                          <p:spTgt spid="301178"/>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301179"/>
                                        </p:tgtEl>
                                        <p:attrNameLst>
                                          <p:attrName>style.visibility</p:attrName>
                                        </p:attrNameLst>
                                      </p:cBhvr>
                                      <p:to>
                                        <p:strVal val="visible"/>
                                      </p:to>
                                    </p:set>
                                    <p:animEffect transition="in" filter="dissolve">
                                      <p:cBhvr>
                                        <p:cTn id="94" dur="500"/>
                                        <p:tgtEl>
                                          <p:spTgt spid="301179"/>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301180"/>
                                        </p:tgtEl>
                                        <p:attrNameLst>
                                          <p:attrName>style.visibility</p:attrName>
                                        </p:attrNameLst>
                                      </p:cBhvr>
                                      <p:to>
                                        <p:strVal val="visible"/>
                                      </p:to>
                                    </p:set>
                                    <p:animEffect transition="in" filter="dissolve">
                                      <p:cBhvr>
                                        <p:cTn id="97" dur="500"/>
                                        <p:tgtEl>
                                          <p:spTgt spid="301180"/>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301103"/>
                                        </p:tgtEl>
                                        <p:attrNameLst>
                                          <p:attrName>style.visibility</p:attrName>
                                        </p:attrNameLst>
                                      </p:cBhvr>
                                      <p:to>
                                        <p:strVal val="visible"/>
                                      </p:to>
                                    </p:set>
                                    <p:animEffect transition="in" filter="dissolve">
                                      <p:cBhvr>
                                        <p:cTn id="102" dur="500"/>
                                        <p:tgtEl>
                                          <p:spTgt spid="301103"/>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301104"/>
                                        </p:tgtEl>
                                        <p:attrNameLst>
                                          <p:attrName>style.visibility</p:attrName>
                                        </p:attrNameLst>
                                      </p:cBhvr>
                                      <p:to>
                                        <p:strVal val="visible"/>
                                      </p:to>
                                    </p:set>
                                    <p:animEffect transition="in" filter="dissolve">
                                      <p:cBhvr>
                                        <p:cTn id="105" dur="500"/>
                                        <p:tgtEl>
                                          <p:spTgt spid="301104"/>
                                        </p:tgtEl>
                                      </p:cBhvr>
                                    </p:animEffect>
                                  </p:childTnLst>
                                </p:cTn>
                              </p:par>
                              <p:par>
                                <p:cTn id="106" presetID="9" presetClass="entr" presetSubtype="0" fill="hold" grpId="0" nodeType="withEffect">
                                  <p:stCondLst>
                                    <p:cond delay="0"/>
                                  </p:stCondLst>
                                  <p:childTnLst>
                                    <p:set>
                                      <p:cBhvr>
                                        <p:cTn id="107" dur="1" fill="hold">
                                          <p:stCondLst>
                                            <p:cond delay="0"/>
                                          </p:stCondLst>
                                        </p:cTn>
                                        <p:tgtEl>
                                          <p:spTgt spid="301105"/>
                                        </p:tgtEl>
                                        <p:attrNameLst>
                                          <p:attrName>style.visibility</p:attrName>
                                        </p:attrNameLst>
                                      </p:cBhvr>
                                      <p:to>
                                        <p:strVal val="visible"/>
                                      </p:to>
                                    </p:set>
                                    <p:animEffect transition="in" filter="dissolve">
                                      <p:cBhvr>
                                        <p:cTn id="108" dur="500"/>
                                        <p:tgtEl>
                                          <p:spTgt spid="301105"/>
                                        </p:tgtEl>
                                      </p:cBhvr>
                                    </p:animEffect>
                                  </p:childTnLst>
                                </p:cTn>
                              </p:par>
                              <p:par>
                                <p:cTn id="109" presetID="9" presetClass="entr" presetSubtype="0" fill="hold" nodeType="withEffect">
                                  <p:stCondLst>
                                    <p:cond delay="0"/>
                                  </p:stCondLst>
                                  <p:childTnLst>
                                    <p:set>
                                      <p:cBhvr>
                                        <p:cTn id="110" dur="1" fill="hold">
                                          <p:stCondLst>
                                            <p:cond delay="0"/>
                                          </p:stCondLst>
                                        </p:cTn>
                                        <p:tgtEl>
                                          <p:spTgt spid="10"/>
                                        </p:tgtEl>
                                        <p:attrNameLst>
                                          <p:attrName>style.visibility</p:attrName>
                                        </p:attrNameLst>
                                      </p:cBhvr>
                                      <p:to>
                                        <p:strVal val="visible"/>
                                      </p:to>
                                    </p:set>
                                    <p:animEffect transition="in" filter="dissolve">
                                      <p:cBhvr>
                                        <p:cTn id="111" dur="500"/>
                                        <p:tgtEl>
                                          <p:spTgt spid="10"/>
                                        </p:tgtEl>
                                      </p:cBhvr>
                                    </p:animEffect>
                                  </p:childTnLst>
                                </p:cTn>
                              </p:par>
                              <p:par>
                                <p:cTn id="112" presetID="9" presetClass="entr" presetSubtype="0" fill="hold" nodeType="withEffect">
                                  <p:stCondLst>
                                    <p:cond delay="0"/>
                                  </p:stCondLst>
                                  <p:childTnLst>
                                    <p:set>
                                      <p:cBhvr>
                                        <p:cTn id="113" dur="1" fill="hold">
                                          <p:stCondLst>
                                            <p:cond delay="0"/>
                                          </p:stCondLst>
                                        </p:cTn>
                                        <p:tgtEl>
                                          <p:spTgt spid="11"/>
                                        </p:tgtEl>
                                        <p:attrNameLst>
                                          <p:attrName>style.visibility</p:attrName>
                                        </p:attrNameLst>
                                      </p:cBhvr>
                                      <p:to>
                                        <p:strVal val="visible"/>
                                      </p:to>
                                    </p:set>
                                    <p:animEffect transition="in" filter="dissolve">
                                      <p:cBhvr>
                                        <p:cTn id="114" dur="500"/>
                                        <p:tgtEl>
                                          <p:spTgt spid="11"/>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nodeType="clickEffect">
                                  <p:stCondLst>
                                    <p:cond delay="0"/>
                                  </p:stCondLst>
                                  <p:childTnLst>
                                    <p:set>
                                      <p:cBhvr>
                                        <p:cTn id="118" dur="1" fill="hold">
                                          <p:stCondLst>
                                            <p:cond delay="0"/>
                                          </p:stCondLst>
                                        </p:cTn>
                                        <p:tgtEl>
                                          <p:spTgt spid="2"/>
                                        </p:tgtEl>
                                        <p:attrNameLst>
                                          <p:attrName>style.visibility</p:attrName>
                                        </p:attrNameLst>
                                      </p:cBhvr>
                                      <p:to>
                                        <p:strVal val="visible"/>
                                      </p:to>
                                    </p:set>
                                    <p:animEffect transition="in" filter="dissolve">
                                      <p:cBhvr>
                                        <p:cTn id="119" dur="500"/>
                                        <p:tgtEl>
                                          <p:spTgt spid="2"/>
                                        </p:tgtEl>
                                      </p:cBhvr>
                                    </p:animEffect>
                                  </p:childTnLst>
                                </p:cTn>
                              </p:par>
                            </p:childTnLst>
                          </p:cTn>
                        </p:par>
                        <p:par>
                          <p:cTn id="120" fill="hold" nodeType="afterGroup">
                            <p:stCondLst>
                              <p:cond delay="500"/>
                            </p:stCondLst>
                            <p:childTnLst>
                              <p:par>
                                <p:cTn id="121" presetID="9" presetClass="entr" presetSubtype="0" fill="hold" grpId="0" nodeType="afterEffect">
                                  <p:stCondLst>
                                    <p:cond delay="0"/>
                                  </p:stCondLst>
                                  <p:childTnLst>
                                    <p:set>
                                      <p:cBhvr>
                                        <p:cTn id="122" dur="1" fill="hold">
                                          <p:stCondLst>
                                            <p:cond delay="0"/>
                                          </p:stCondLst>
                                        </p:cTn>
                                        <p:tgtEl>
                                          <p:spTgt spid="301181">
                                            <p:txEl>
                                              <p:pRg st="0" end="0"/>
                                            </p:txEl>
                                          </p:spTgt>
                                        </p:tgtEl>
                                        <p:attrNameLst>
                                          <p:attrName>style.visibility</p:attrName>
                                        </p:attrNameLst>
                                      </p:cBhvr>
                                      <p:to>
                                        <p:strVal val="visible"/>
                                      </p:to>
                                    </p:set>
                                    <p:animEffect transition="in" filter="dissolve">
                                      <p:cBhvr>
                                        <p:cTn id="123" dur="500"/>
                                        <p:tgtEl>
                                          <p:spTgt spid="301181">
                                            <p:txEl>
                                              <p:pRg st="0" end="0"/>
                                            </p:txEl>
                                          </p:spTgt>
                                        </p:tgtEl>
                                      </p:cBhvr>
                                    </p:animEffect>
                                  </p:childTnLst>
                                </p:cTn>
                              </p:par>
                            </p:childTnLst>
                          </p:cTn>
                        </p:par>
                        <p:par>
                          <p:cTn id="124" fill="hold" nodeType="afterGroup">
                            <p:stCondLst>
                              <p:cond delay="1000"/>
                            </p:stCondLst>
                            <p:childTnLst>
                              <p:par>
                                <p:cTn id="125" presetID="9" presetClass="entr" presetSubtype="0" fill="hold" grpId="0" nodeType="afterEffect">
                                  <p:stCondLst>
                                    <p:cond delay="0"/>
                                  </p:stCondLst>
                                  <p:childTnLst>
                                    <p:set>
                                      <p:cBhvr>
                                        <p:cTn id="126" dur="1" fill="hold">
                                          <p:stCondLst>
                                            <p:cond delay="0"/>
                                          </p:stCondLst>
                                        </p:cTn>
                                        <p:tgtEl>
                                          <p:spTgt spid="301181">
                                            <p:txEl>
                                              <p:pRg st="1" end="1"/>
                                            </p:txEl>
                                          </p:spTgt>
                                        </p:tgtEl>
                                        <p:attrNameLst>
                                          <p:attrName>style.visibility</p:attrName>
                                        </p:attrNameLst>
                                      </p:cBhvr>
                                      <p:to>
                                        <p:strVal val="visible"/>
                                      </p:to>
                                    </p:set>
                                    <p:animEffect transition="in" filter="dissolve">
                                      <p:cBhvr>
                                        <p:cTn id="127" dur="500"/>
                                        <p:tgtEl>
                                          <p:spTgt spid="30118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103" grpId="0" animBg="1"/>
      <p:bldP spid="301104" grpId="0" animBg="1"/>
      <p:bldP spid="301105" grpId="0" animBg="1"/>
      <p:bldP spid="301106" grpId="0" animBg="1"/>
      <p:bldP spid="301143" grpId="0" animBg="1"/>
      <p:bldP spid="301144" grpId="0" animBg="1"/>
      <p:bldP spid="301145" grpId="0" animBg="1"/>
      <p:bldP spid="301146" grpId="0" animBg="1"/>
      <p:bldP spid="301147" grpId="0" animBg="1"/>
      <p:bldP spid="301148" grpId="0" animBg="1"/>
      <p:bldP spid="301149" grpId="0" animBg="1"/>
      <p:bldP spid="301150" grpId="0"/>
      <p:bldP spid="301151" grpId="0" animBg="1"/>
      <p:bldP spid="301152" grpId="0" animBg="1"/>
      <p:bldP spid="301153" grpId="0" animBg="1"/>
      <p:bldP spid="301154" grpId="0" animBg="1"/>
      <p:bldP spid="301155" grpId="0" animBg="1"/>
      <p:bldP spid="301156" grpId="0" animBg="1"/>
      <p:bldP spid="301157" grpId="0" animBg="1"/>
      <p:bldP spid="301158" grpId="0" animBg="1"/>
      <p:bldP spid="301177" grpId="0" animBg="1"/>
      <p:bldP spid="301178" grpId="0" animBg="1"/>
      <p:bldP spid="301179" grpId="0" animBg="1"/>
      <p:bldP spid="301180" grpId="0" animBg="1"/>
      <p:bldP spid="301181" grpId="0" build="allAtOnce"/>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Line 2"/>
          <p:cNvSpPr>
            <a:spLocks noChangeShapeType="1"/>
          </p:cNvSpPr>
          <p:nvPr/>
        </p:nvSpPr>
        <p:spPr bwMode="auto">
          <a:xfrm flipV="1">
            <a:off x="1714500" y="3735388"/>
            <a:ext cx="431800" cy="2159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 name="Group 3"/>
          <p:cNvGrpSpPr>
            <a:grpSpLocks/>
          </p:cNvGrpSpPr>
          <p:nvPr/>
        </p:nvGrpSpPr>
        <p:grpSpPr bwMode="auto">
          <a:xfrm>
            <a:off x="1330325" y="3140075"/>
            <a:ext cx="790575" cy="874713"/>
            <a:chOff x="476" y="1842"/>
            <a:chExt cx="498" cy="551"/>
          </a:xfrm>
        </p:grpSpPr>
        <p:sp>
          <p:nvSpPr>
            <p:cNvPr id="20561" name="Oval 4"/>
            <p:cNvSpPr>
              <a:spLocks noChangeArrowheads="1"/>
            </p:cNvSpPr>
            <p:nvPr/>
          </p:nvSpPr>
          <p:spPr bwMode="auto">
            <a:xfrm rot="1872782">
              <a:off x="476" y="1869"/>
              <a:ext cx="498" cy="498"/>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562" name="Line 5"/>
            <p:cNvSpPr>
              <a:spLocks noChangeShapeType="1"/>
            </p:cNvSpPr>
            <p:nvPr/>
          </p:nvSpPr>
          <p:spPr bwMode="auto">
            <a:xfrm rot="1872782" flipH="1">
              <a:off x="725" y="1842"/>
              <a:ext cx="0" cy="551"/>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563" name="Line 6"/>
            <p:cNvSpPr>
              <a:spLocks noChangeShapeType="1"/>
            </p:cNvSpPr>
            <p:nvPr/>
          </p:nvSpPr>
          <p:spPr bwMode="auto">
            <a:xfrm rot="1872782" flipH="1" flipV="1">
              <a:off x="498" y="1982"/>
              <a:ext cx="454" cy="27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564" name="Line 7"/>
            <p:cNvSpPr>
              <a:spLocks noChangeShapeType="1"/>
            </p:cNvSpPr>
            <p:nvPr/>
          </p:nvSpPr>
          <p:spPr bwMode="auto">
            <a:xfrm rot="1872782" flipH="1">
              <a:off x="498" y="1982"/>
              <a:ext cx="454" cy="27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20484" name="Rectangle 8"/>
          <p:cNvSpPr>
            <a:spLocks noChangeArrowheads="1"/>
          </p:cNvSpPr>
          <p:nvPr/>
        </p:nvSpPr>
        <p:spPr bwMode="auto">
          <a:xfrm>
            <a:off x="4210050" y="606425"/>
            <a:ext cx="3819525" cy="5759450"/>
          </a:xfrm>
          <a:prstGeom prst="rect">
            <a:avLst/>
          </a:prstGeom>
          <a:solidFill>
            <a:srgbClr val="C0C0C0"/>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485" name="Rectangle 9"/>
          <p:cNvSpPr>
            <a:spLocks noChangeArrowheads="1"/>
          </p:cNvSpPr>
          <p:nvPr/>
        </p:nvSpPr>
        <p:spPr bwMode="auto">
          <a:xfrm>
            <a:off x="7234238" y="1843088"/>
            <a:ext cx="796925" cy="3457575"/>
          </a:xfrm>
          <a:prstGeom prst="rect">
            <a:avLst/>
          </a:prstGeom>
          <a:gradFill rotWithShape="1">
            <a:gsLst>
              <a:gs pos="0">
                <a:srgbClr val="FF0000"/>
              </a:gs>
              <a:gs pos="100000">
                <a:srgbClr val="3333CC"/>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1800">
                <a:latin typeface="Arial" panose="020B0604020202020204" pitchFamily="34" charset="0"/>
              </a:rPr>
              <a:t>N</a:t>
            </a: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endParaRPr lang="fr-CH" altLang="fr-FR" sz="1800">
              <a:latin typeface="Arial" panose="020B0604020202020204" pitchFamily="34" charset="0"/>
            </a:endParaRPr>
          </a:p>
          <a:p>
            <a:pPr algn="ctr" eaLnBrk="1" hangingPunct="1">
              <a:spcBef>
                <a:spcPct val="0"/>
              </a:spcBef>
              <a:buClrTx/>
              <a:buSzTx/>
              <a:buFontTx/>
              <a:buNone/>
            </a:pPr>
            <a:r>
              <a:rPr lang="fr-CH" altLang="fr-FR" sz="1800">
                <a:latin typeface="Arial" panose="020B0604020202020204" pitchFamily="34" charset="0"/>
              </a:rPr>
              <a:t>S</a:t>
            </a:r>
            <a:endParaRPr lang="fr-FR" altLang="fr-FR" sz="1800">
              <a:latin typeface="Arial" panose="020B0604020202020204" pitchFamily="34" charset="0"/>
            </a:endParaRPr>
          </a:p>
        </p:txBody>
      </p:sp>
      <p:sp>
        <p:nvSpPr>
          <p:cNvPr id="20486" name="Rectangle 10"/>
          <p:cNvSpPr>
            <a:spLocks noChangeArrowheads="1"/>
          </p:cNvSpPr>
          <p:nvPr/>
        </p:nvSpPr>
        <p:spPr bwMode="auto">
          <a:xfrm>
            <a:off x="5002213" y="1484313"/>
            <a:ext cx="2228850" cy="41751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487" name="Rectangle 11"/>
          <p:cNvSpPr>
            <a:spLocks noChangeArrowheads="1"/>
          </p:cNvSpPr>
          <p:nvPr/>
        </p:nvSpPr>
        <p:spPr bwMode="auto">
          <a:xfrm>
            <a:off x="4067175" y="2420938"/>
            <a:ext cx="1079500" cy="2232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488" name="Line 12"/>
          <p:cNvSpPr>
            <a:spLocks noChangeShapeType="1"/>
          </p:cNvSpPr>
          <p:nvPr/>
        </p:nvSpPr>
        <p:spPr bwMode="auto">
          <a:xfrm flipH="1">
            <a:off x="4210050" y="2420938"/>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489" name="Line 13"/>
          <p:cNvSpPr>
            <a:spLocks noChangeShapeType="1"/>
          </p:cNvSpPr>
          <p:nvPr/>
        </p:nvSpPr>
        <p:spPr bwMode="auto">
          <a:xfrm flipH="1">
            <a:off x="4210050" y="4652963"/>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494" name="Text Box 14"/>
          <p:cNvSpPr txBox="1">
            <a:spLocks noChangeArrowheads="1"/>
          </p:cNvSpPr>
          <p:nvPr/>
        </p:nvSpPr>
        <p:spPr bwMode="auto">
          <a:xfrm>
            <a:off x="898525" y="1557338"/>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latin typeface="Arial" panose="020B0604020202020204" pitchFamily="34" charset="0"/>
              </a:rPr>
              <a:t>Rotor / Induit</a:t>
            </a:r>
            <a:endParaRPr lang="en-US" altLang="fr-FR" sz="1800">
              <a:latin typeface="Arial" panose="020B0604020202020204" pitchFamily="34" charset="0"/>
            </a:endParaRPr>
          </a:p>
        </p:txBody>
      </p:sp>
      <p:sp>
        <p:nvSpPr>
          <p:cNvPr id="276495" name="Line 15"/>
          <p:cNvSpPr>
            <a:spLocks noChangeShapeType="1"/>
          </p:cNvSpPr>
          <p:nvPr/>
        </p:nvSpPr>
        <p:spPr bwMode="auto">
          <a:xfrm flipV="1">
            <a:off x="2146300" y="2698750"/>
            <a:ext cx="0" cy="28892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496" name="Line 16"/>
          <p:cNvSpPr>
            <a:spLocks noChangeShapeType="1"/>
          </p:cNvSpPr>
          <p:nvPr/>
        </p:nvSpPr>
        <p:spPr bwMode="auto">
          <a:xfrm flipH="1">
            <a:off x="1800225" y="3836988"/>
            <a:ext cx="144463" cy="714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497" name="Arc 17"/>
          <p:cNvSpPr>
            <a:spLocks/>
          </p:cNvSpPr>
          <p:nvPr/>
        </p:nvSpPr>
        <p:spPr bwMode="auto">
          <a:xfrm>
            <a:off x="1570038" y="3179763"/>
            <a:ext cx="334962" cy="395287"/>
          </a:xfrm>
          <a:custGeom>
            <a:avLst/>
            <a:gdLst>
              <a:gd name="T0" fmla="*/ 0 w 18225"/>
              <a:gd name="T1" fmla="*/ 2147483646 h 21600"/>
              <a:gd name="T2" fmla="*/ 2147483646 w 18225"/>
              <a:gd name="T3" fmla="*/ 2147483646 h 21600"/>
              <a:gd name="T4" fmla="*/ 2147483646 w 18225"/>
              <a:gd name="T5" fmla="*/ 2147483646 h 21600"/>
              <a:gd name="T6" fmla="*/ 0 60000 65536"/>
              <a:gd name="T7" fmla="*/ 0 60000 65536"/>
              <a:gd name="T8" fmla="*/ 0 60000 65536"/>
              <a:gd name="T9" fmla="*/ 0 w 18225"/>
              <a:gd name="T10" fmla="*/ 0 h 21600"/>
              <a:gd name="T11" fmla="*/ 18225 w 18225"/>
              <a:gd name="T12" fmla="*/ 21600 h 21600"/>
            </a:gdLst>
            <a:ahLst/>
            <a:cxnLst>
              <a:cxn ang="T6">
                <a:pos x="T0" y="T1"/>
              </a:cxn>
              <a:cxn ang="T7">
                <a:pos x="T2" y="T3"/>
              </a:cxn>
              <a:cxn ang="T8">
                <a:pos x="T4" y="T5"/>
              </a:cxn>
            </a:cxnLst>
            <a:rect l="T9" t="T10" r="T11" b="T12"/>
            <a:pathLst>
              <a:path w="18225" h="21600" fill="none" extrusionOk="0">
                <a:moveTo>
                  <a:pt x="0" y="1766"/>
                </a:moveTo>
                <a:cubicBezTo>
                  <a:pt x="2701" y="601"/>
                  <a:pt x="5612" y="-1"/>
                  <a:pt x="8555" y="0"/>
                </a:cubicBezTo>
                <a:cubicBezTo>
                  <a:pt x="11912" y="0"/>
                  <a:pt x="15223" y="782"/>
                  <a:pt x="18225" y="2285"/>
                </a:cubicBezTo>
              </a:path>
              <a:path w="18225" h="21600" stroke="0" extrusionOk="0">
                <a:moveTo>
                  <a:pt x="0" y="1766"/>
                </a:moveTo>
                <a:cubicBezTo>
                  <a:pt x="2701" y="601"/>
                  <a:pt x="5612" y="-1"/>
                  <a:pt x="8555" y="0"/>
                </a:cubicBezTo>
                <a:cubicBezTo>
                  <a:pt x="11912" y="0"/>
                  <a:pt x="15223" y="782"/>
                  <a:pt x="18225" y="2285"/>
                </a:cubicBezTo>
                <a:lnTo>
                  <a:pt x="8555" y="21600"/>
                </a:lnTo>
                <a:lnTo>
                  <a:pt x="0" y="1766"/>
                </a:lnTo>
                <a:close/>
              </a:path>
            </a:pathLst>
          </a:custGeom>
          <a:noFill/>
          <a:ln w="762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276498" name="Line 18"/>
          <p:cNvSpPr>
            <a:spLocks noChangeShapeType="1"/>
          </p:cNvSpPr>
          <p:nvPr/>
        </p:nvSpPr>
        <p:spPr bwMode="auto">
          <a:xfrm flipV="1">
            <a:off x="2146300" y="3711575"/>
            <a:ext cx="0" cy="288925"/>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499" name="Line 19"/>
          <p:cNvSpPr>
            <a:spLocks noChangeShapeType="1"/>
          </p:cNvSpPr>
          <p:nvPr/>
        </p:nvSpPr>
        <p:spPr bwMode="auto">
          <a:xfrm flipV="1">
            <a:off x="1733550" y="2973388"/>
            <a:ext cx="431800" cy="2159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500" name="Line 20"/>
          <p:cNvSpPr>
            <a:spLocks noChangeShapeType="1"/>
          </p:cNvSpPr>
          <p:nvPr/>
        </p:nvSpPr>
        <p:spPr bwMode="auto">
          <a:xfrm>
            <a:off x="825500" y="2852738"/>
            <a:ext cx="936625"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501" name="Line 21"/>
          <p:cNvSpPr>
            <a:spLocks noChangeShapeType="1"/>
          </p:cNvSpPr>
          <p:nvPr/>
        </p:nvSpPr>
        <p:spPr bwMode="auto">
          <a:xfrm>
            <a:off x="1727200" y="2833688"/>
            <a:ext cx="0" cy="360362"/>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502" name="Line 22"/>
          <p:cNvSpPr>
            <a:spLocks noChangeShapeType="1"/>
          </p:cNvSpPr>
          <p:nvPr/>
        </p:nvSpPr>
        <p:spPr bwMode="auto">
          <a:xfrm>
            <a:off x="1727200" y="4002088"/>
            <a:ext cx="0" cy="360362"/>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503" name="Line 23"/>
          <p:cNvSpPr>
            <a:spLocks noChangeShapeType="1"/>
          </p:cNvSpPr>
          <p:nvPr/>
        </p:nvSpPr>
        <p:spPr bwMode="auto">
          <a:xfrm>
            <a:off x="793750" y="4325938"/>
            <a:ext cx="936625"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504" name="Line 24"/>
          <p:cNvSpPr>
            <a:spLocks noChangeShapeType="1"/>
          </p:cNvSpPr>
          <p:nvPr/>
        </p:nvSpPr>
        <p:spPr bwMode="auto">
          <a:xfrm flipV="1">
            <a:off x="2122488" y="2224088"/>
            <a:ext cx="1081087" cy="503237"/>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505" name="Line 25"/>
          <p:cNvSpPr>
            <a:spLocks noChangeShapeType="1"/>
          </p:cNvSpPr>
          <p:nvPr/>
        </p:nvSpPr>
        <p:spPr bwMode="auto">
          <a:xfrm>
            <a:off x="3187700" y="2219325"/>
            <a:ext cx="0" cy="12954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6506" name="Arc 26"/>
          <p:cNvSpPr>
            <a:spLocks/>
          </p:cNvSpPr>
          <p:nvPr/>
        </p:nvSpPr>
        <p:spPr bwMode="auto">
          <a:xfrm flipV="1">
            <a:off x="1550988" y="3575050"/>
            <a:ext cx="334962" cy="395288"/>
          </a:xfrm>
          <a:custGeom>
            <a:avLst/>
            <a:gdLst>
              <a:gd name="T0" fmla="*/ 0 w 18133"/>
              <a:gd name="T1" fmla="*/ 2147483646 h 21600"/>
              <a:gd name="T2" fmla="*/ 2147483646 w 18133"/>
              <a:gd name="T3" fmla="*/ 2147483646 h 21600"/>
              <a:gd name="T4" fmla="*/ 2147483646 w 18133"/>
              <a:gd name="T5" fmla="*/ 2147483646 h 21600"/>
              <a:gd name="T6" fmla="*/ 0 60000 65536"/>
              <a:gd name="T7" fmla="*/ 0 60000 65536"/>
              <a:gd name="T8" fmla="*/ 0 60000 65536"/>
              <a:gd name="T9" fmla="*/ 0 w 18133"/>
              <a:gd name="T10" fmla="*/ 0 h 21600"/>
              <a:gd name="T11" fmla="*/ 18133 w 18133"/>
              <a:gd name="T12" fmla="*/ 21600 h 21600"/>
            </a:gdLst>
            <a:ahLst/>
            <a:cxnLst>
              <a:cxn ang="T6">
                <a:pos x="T0" y="T1"/>
              </a:cxn>
              <a:cxn ang="T7">
                <a:pos x="T2" y="T3"/>
              </a:cxn>
              <a:cxn ang="T8">
                <a:pos x="T4" y="T5"/>
              </a:cxn>
            </a:cxnLst>
            <a:rect l="T9" t="T10" r="T11" b="T12"/>
            <a:pathLst>
              <a:path w="18133" h="21600" fill="none" extrusionOk="0">
                <a:moveTo>
                  <a:pt x="-1" y="1784"/>
                </a:moveTo>
                <a:cubicBezTo>
                  <a:pt x="2713" y="607"/>
                  <a:pt x="5640" y="-1"/>
                  <a:pt x="8598" y="0"/>
                </a:cubicBezTo>
                <a:cubicBezTo>
                  <a:pt x="11904" y="0"/>
                  <a:pt x="15166" y="758"/>
                  <a:pt x="18132" y="2218"/>
                </a:cubicBezTo>
              </a:path>
              <a:path w="18133" h="21600" stroke="0" extrusionOk="0">
                <a:moveTo>
                  <a:pt x="-1" y="1784"/>
                </a:moveTo>
                <a:cubicBezTo>
                  <a:pt x="2713" y="607"/>
                  <a:pt x="5640" y="-1"/>
                  <a:pt x="8598" y="0"/>
                </a:cubicBezTo>
                <a:cubicBezTo>
                  <a:pt x="11904" y="0"/>
                  <a:pt x="15166" y="758"/>
                  <a:pt x="18132" y="2218"/>
                </a:cubicBezTo>
                <a:lnTo>
                  <a:pt x="8598" y="21600"/>
                </a:lnTo>
                <a:lnTo>
                  <a:pt x="-1" y="1784"/>
                </a:lnTo>
                <a:close/>
              </a:path>
            </a:pathLst>
          </a:custGeom>
          <a:noFill/>
          <a:ln w="762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grpSp>
        <p:nvGrpSpPr>
          <p:cNvPr id="3" name="Group 27"/>
          <p:cNvGrpSpPr>
            <a:grpSpLocks/>
          </p:cNvGrpSpPr>
          <p:nvPr/>
        </p:nvGrpSpPr>
        <p:grpSpPr bwMode="auto">
          <a:xfrm>
            <a:off x="898525" y="620713"/>
            <a:ext cx="2032000" cy="873125"/>
            <a:chOff x="249" y="119"/>
            <a:chExt cx="1280" cy="550"/>
          </a:xfrm>
        </p:grpSpPr>
        <p:sp>
          <p:nvSpPr>
            <p:cNvPr id="20553" name="Text Box 28"/>
            <p:cNvSpPr txBox="1">
              <a:spLocks noChangeArrowheads="1"/>
            </p:cNvSpPr>
            <p:nvPr/>
          </p:nvSpPr>
          <p:spPr bwMode="auto">
            <a:xfrm>
              <a:off x="930" y="39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solidFill>
                    <a:srgbClr val="FF0000"/>
                  </a:solidFill>
                  <a:latin typeface="Arial" panose="020B0604020202020204" pitchFamily="34" charset="0"/>
                </a:rPr>
                <a:t>B</a:t>
              </a:r>
              <a:endParaRPr lang="en-US" altLang="fr-FR" sz="1800">
                <a:solidFill>
                  <a:srgbClr val="FF0000"/>
                </a:solidFill>
                <a:latin typeface="Arial" panose="020B0604020202020204" pitchFamily="34" charset="0"/>
              </a:endParaRPr>
            </a:p>
          </p:txBody>
        </p:sp>
        <p:sp>
          <p:nvSpPr>
            <p:cNvPr id="20554" name="Line 29"/>
            <p:cNvSpPr>
              <a:spLocks noChangeShapeType="1"/>
            </p:cNvSpPr>
            <p:nvPr/>
          </p:nvSpPr>
          <p:spPr bwMode="auto">
            <a:xfrm>
              <a:off x="975" y="391"/>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55" name="Text Box 30"/>
            <p:cNvSpPr txBox="1">
              <a:spLocks noChangeArrowheads="1"/>
            </p:cNvSpPr>
            <p:nvPr/>
          </p:nvSpPr>
          <p:spPr bwMode="auto">
            <a:xfrm>
              <a:off x="249" y="391"/>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solidFill>
                    <a:srgbClr val="0066FF"/>
                  </a:solidFill>
                  <a:latin typeface="Arial" panose="020B0604020202020204" pitchFamily="34" charset="0"/>
                </a:rPr>
                <a:t>F </a:t>
              </a:r>
              <a:endParaRPr lang="en-US" altLang="fr-FR" sz="1800">
                <a:solidFill>
                  <a:srgbClr val="0066FF"/>
                </a:solidFill>
                <a:latin typeface="Arial" panose="020B0604020202020204" pitchFamily="34" charset="0"/>
              </a:endParaRPr>
            </a:p>
          </p:txBody>
        </p:sp>
        <p:sp>
          <p:nvSpPr>
            <p:cNvPr id="20556" name="Line 31"/>
            <p:cNvSpPr>
              <a:spLocks noChangeShapeType="1"/>
            </p:cNvSpPr>
            <p:nvPr/>
          </p:nvSpPr>
          <p:spPr bwMode="auto">
            <a:xfrm>
              <a:off x="295" y="391"/>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57" name="Text Box 32"/>
            <p:cNvSpPr txBox="1">
              <a:spLocks noChangeArrowheads="1"/>
            </p:cNvSpPr>
            <p:nvPr/>
          </p:nvSpPr>
          <p:spPr bwMode="auto">
            <a:xfrm>
              <a:off x="431" y="391"/>
              <a:ext cx="42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latin typeface="Arial" panose="020B0604020202020204" pitchFamily="34" charset="0"/>
                </a:rPr>
                <a:t>= i dl</a:t>
              </a:r>
              <a:endParaRPr lang="en-US" altLang="fr-FR" sz="1800">
                <a:latin typeface="Arial" panose="020B0604020202020204" pitchFamily="34" charset="0"/>
              </a:endParaRPr>
            </a:p>
          </p:txBody>
        </p:sp>
        <p:sp>
          <p:nvSpPr>
            <p:cNvPr id="20558" name="Line 33"/>
            <p:cNvSpPr>
              <a:spLocks noChangeShapeType="1"/>
            </p:cNvSpPr>
            <p:nvPr/>
          </p:nvSpPr>
          <p:spPr bwMode="auto">
            <a:xfrm>
              <a:off x="703" y="391"/>
              <a:ext cx="1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59" name="Text Box 34"/>
            <p:cNvSpPr txBox="1">
              <a:spLocks noChangeArrowheads="1"/>
            </p:cNvSpPr>
            <p:nvPr/>
          </p:nvSpPr>
          <p:spPr bwMode="auto">
            <a:xfrm>
              <a:off x="793" y="436"/>
              <a:ext cx="18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latin typeface="Arial" panose="020B0604020202020204" pitchFamily="34" charset="0"/>
                </a:rPr>
                <a:t>^</a:t>
              </a:r>
              <a:endParaRPr lang="en-US" altLang="fr-FR" sz="1800">
                <a:latin typeface="Arial" panose="020B0604020202020204" pitchFamily="34" charset="0"/>
              </a:endParaRPr>
            </a:p>
          </p:txBody>
        </p:sp>
        <p:sp>
          <p:nvSpPr>
            <p:cNvPr id="20560" name="Text Box 35"/>
            <p:cNvSpPr txBox="1">
              <a:spLocks noChangeArrowheads="1"/>
            </p:cNvSpPr>
            <p:nvPr/>
          </p:nvSpPr>
          <p:spPr bwMode="auto">
            <a:xfrm>
              <a:off x="249" y="119"/>
              <a:ext cx="12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latin typeface="Arial" panose="020B0604020202020204" pitchFamily="34" charset="0"/>
                </a:rPr>
                <a:t>Force de Laplace</a:t>
              </a:r>
              <a:r>
                <a:rPr lang="fr-CH" altLang="fr-FR" sz="1800">
                  <a:solidFill>
                    <a:srgbClr val="0066FF"/>
                  </a:solidFill>
                  <a:latin typeface="Arial" panose="020B0604020202020204" pitchFamily="34" charset="0"/>
                </a:rPr>
                <a:t> </a:t>
              </a:r>
              <a:endParaRPr lang="en-US" altLang="fr-FR" sz="1800">
                <a:solidFill>
                  <a:srgbClr val="0066FF"/>
                </a:solidFill>
                <a:latin typeface="Arial" panose="020B0604020202020204" pitchFamily="34" charset="0"/>
              </a:endParaRPr>
            </a:p>
          </p:txBody>
        </p:sp>
      </p:grpSp>
      <p:grpSp>
        <p:nvGrpSpPr>
          <p:cNvPr id="20504" name="Group 36"/>
          <p:cNvGrpSpPr>
            <a:grpSpLocks/>
          </p:cNvGrpSpPr>
          <p:nvPr/>
        </p:nvGrpSpPr>
        <p:grpSpPr bwMode="auto">
          <a:xfrm>
            <a:off x="3922713" y="2420938"/>
            <a:ext cx="935037" cy="2232025"/>
            <a:chOff x="2109" y="1389"/>
            <a:chExt cx="589" cy="1406"/>
          </a:xfrm>
        </p:grpSpPr>
        <p:sp>
          <p:nvSpPr>
            <p:cNvPr id="20546" name="Line 37"/>
            <p:cNvSpPr>
              <a:spLocks noChangeShapeType="1"/>
            </p:cNvSpPr>
            <p:nvPr/>
          </p:nvSpPr>
          <p:spPr bwMode="auto">
            <a:xfrm>
              <a:off x="233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47" name="Line 38"/>
            <p:cNvSpPr>
              <a:spLocks noChangeShapeType="1"/>
            </p:cNvSpPr>
            <p:nvPr/>
          </p:nvSpPr>
          <p:spPr bwMode="auto">
            <a:xfrm>
              <a:off x="242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48" name="Line 39"/>
            <p:cNvSpPr>
              <a:spLocks noChangeShapeType="1"/>
            </p:cNvSpPr>
            <p:nvPr/>
          </p:nvSpPr>
          <p:spPr bwMode="auto">
            <a:xfrm>
              <a:off x="2517"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49" name="Line 40"/>
            <p:cNvSpPr>
              <a:spLocks noChangeShapeType="1"/>
            </p:cNvSpPr>
            <p:nvPr/>
          </p:nvSpPr>
          <p:spPr bwMode="auto">
            <a:xfrm>
              <a:off x="260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50" name="Line 41"/>
            <p:cNvSpPr>
              <a:spLocks noChangeShapeType="1"/>
            </p:cNvSpPr>
            <p:nvPr/>
          </p:nvSpPr>
          <p:spPr bwMode="auto">
            <a:xfrm>
              <a:off x="269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51" name="Text Box 42"/>
            <p:cNvSpPr txBox="1">
              <a:spLocks noChangeArrowheads="1"/>
            </p:cNvSpPr>
            <p:nvPr/>
          </p:nvSpPr>
          <p:spPr bwMode="auto">
            <a:xfrm>
              <a:off x="2109" y="1389"/>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solidFill>
                    <a:srgbClr val="FF0000"/>
                  </a:solidFill>
                  <a:latin typeface="Arial" panose="020B0604020202020204" pitchFamily="34" charset="0"/>
                </a:rPr>
                <a:t>B</a:t>
              </a:r>
              <a:endParaRPr lang="en-US" altLang="fr-FR" sz="1800">
                <a:solidFill>
                  <a:srgbClr val="FF0000"/>
                </a:solidFill>
                <a:latin typeface="Arial" panose="020B0604020202020204" pitchFamily="34" charset="0"/>
              </a:endParaRPr>
            </a:p>
          </p:txBody>
        </p:sp>
        <p:sp>
          <p:nvSpPr>
            <p:cNvPr id="20552" name="Line 43"/>
            <p:cNvSpPr>
              <a:spLocks noChangeShapeType="1"/>
            </p:cNvSpPr>
            <p:nvPr/>
          </p:nvSpPr>
          <p:spPr bwMode="auto">
            <a:xfrm>
              <a:off x="2155" y="1434"/>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grpSp>
        <p:nvGrpSpPr>
          <p:cNvPr id="5" name="Group 44"/>
          <p:cNvGrpSpPr>
            <a:grpSpLocks/>
          </p:cNvGrpSpPr>
          <p:nvPr/>
        </p:nvGrpSpPr>
        <p:grpSpPr bwMode="auto">
          <a:xfrm>
            <a:off x="3849688" y="2708275"/>
            <a:ext cx="1414462" cy="1584325"/>
            <a:chOff x="2063" y="1570"/>
            <a:chExt cx="891" cy="998"/>
          </a:xfrm>
        </p:grpSpPr>
        <p:sp>
          <p:nvSpPr>
            <p:cNvPr id="20536" name="Line 45"/>
            <p:cNvSpPr>
              <a:spLocks noChangeShapeType="1"/>
            </p:cNvSpPr>
            <p:nvPr/>
          </p:nvSpPr>
          <p:spPr bwMode="auto">
            <a:xfrm flipV="1">
              <a:off x="2513" y="1570"/>
              <a:ext cx="0" cy="998"/>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0537" name="Group 46"/>
            <p:cNvGrpSpPr>
              <a:grpSpLocks/>
            </p:cNvGrpSpPr>
            <p:nvPr/>
          </p:nvGrpSpPr>
          <p:grpSpPr bwMode="auto">
            <a:xfrm>
              <a:off x="2063" y="1573"/>
              <a:ext cx="891" cy="995"/>
              <a:chOff x="2063" y="1573"/>
              <a:chExt cx="891" cy="995"/>
            </a:xfrm>
          </p:grpSpPr>
          <p:sp>
            <p:nvSpPr>
              <p:cNvPr id="20538" name="Line 47"/>
              <p:cNvSpPr>
                <a:spLocks noChangeShapeType="1"/>
              </p:cNvSpPr>
              <p:nvPr/>
            </p:nvSpPr>
            <p:spPr bwMode="auto">
              <a:xfrm flipH="1" flipV="1">
                <a:off x="2082" y="1820"/>
                <a:ext cx="862" cy="499"/>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539" name="Line 48"/>
              <p:cNvSpPr>
                <a:spLocks noChangeShapeType="1"/>
              </p:cNvSpPr>
              <p:nvPr/>
            </p:nvSpPr>
            <p:spPr bwMode="auto">
              <a:xfrm flipH="1">
                <a:off x="2082" y="1820"/>
                <a:ext cx="862" cy="498"/>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540" name="Oval 49"/>
              <p:cNvSpPr>
                <a:spLocks noChangeArrowheads="1"/>
              </p:cNvSpPr>
              <p:nvPr/>
            </p:nvSpPr>
            <p:spPr bwMode="auto">
              <a:xfrm flipV="1">
                <a:off x="2421" y="2387"/>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541" name="Oval 50"/>
              <p:cNvSpPr>
                <a:spLocks noChangeArrowheads="1"/>
              </p:cNvSpPr>
              <p:nvPr/>
            </p:nvSpPr>
            <p:spPr bwMode="auto">
              <a:xfrm flipV="1">
                <a:off x="2425" y="157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542" name="Oval 51"/>
              <p:cNvSpPr>
                <a:spLocks noChangeArrowheads="1"/>
              </p:cNvSpPr>
              <p:nvPr/>
            </p:nvSpPr>
            <p:spPr bwMode="auto">
              <a:xfrm flipV="1">
                <a:off x="2063" y="218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543" name="Oval 52"/>
              <p:cNvSpPr>
                <a:spLocks noChangeArrowheads="1"/>
              </p:cNvSpPr>
              <p:nvPr/>
            </p:nvSpPr>
            <p:spPr bwMode="auto">
              <a:xfrm flipV="1">
                <a:off x="2769" y="1777"/>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544" name="Oval 53"/>
              <p:cNvSpPr>
                <a:spLocks noChangeArrowheads="1"/>
              </p:cNvSpPr>
              <p:nvPr/>
            </p:nvSpPr>
            <p:spPr bwMode="auto">
              <a:xfrm flipV="1">
                <a:off x="2065" y="1791"/>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545" name="Oval 54"/>
              <p:cNvSpPr>
                <a:spLocks noChangeArrowheads="1"/>
              </p:cNvSpPr>
              <p:nvPr/>
            </p:nvSpPr>
            <p:spPr bwMode="auto">
              <a:xfrm flipV="1">
                <a:off x="2773" y="219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grpSp>
        <p:nvGrpSpPr>
          <p:cNvPr id="7" name="Group 55"/>
          <p:cNvGrpSpPr>
            <a:grpSpLocks/>
          </p:cNvGrpSpPr>
          <p:nvPr/>
        </p:nvGrpSpPr>
        <p:grpSpPr bwMode="auto">
          <a:xfrm>
            <a:off x="2409825" y="1989138"/>
            <a:ext cx="504825" cy="2354262"/>
            <a:chOff x="1156" y="1253"/>
            <a:chExt cx="318" cy="1483"/>
          </a:xfrm>
        </p:grpSpPr>
        <p:sp>
          <p:nvSpPr>
            <p:cNvPr id="20530" name="Line 56"/>
            <p:cNvSpPr>
              <a:spLocks noChangeShapeType="1"/>
            </p:cNvSpPr>
            <p:nvPr/>
          </p:nvSpPr>
          <p:spPr bwMode="auto">
            <a:xfrm flipV="1">
              <a:off x="1247" y="2387"/>
              <a:ext cx="221" cy="1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31" name="Line 57"/>
            <p:cNvSpPr>
              <a:spLocks noChangeShapeType="1"/>
            </p:cNvSpPr>
            <p:nvPr/>
          </p:nvSpPr>
          <p:spPr bwMode="auto">
            <a:xfrm flipH="1">
              <a:off x="1156" y="1434"/>
              <a:ext cx="221" cy="10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32" name="Text Box 58"/>
            <p:cNvSpPr txBox="1">
              <a:spLocks noChangeArrowheads="1"/>
            </p:cNvSpPr>
            <p:nvPr/>
          </p:nvSpPr>
          <p:spPr bwMode="auto">
            <a:xfrm>
              <a:off x="1324" y="2503"/>
              <a:ext cx="14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latin typeface="Arial" panose="020B0604020202020204" pitchFamily="34" charset="0"/>
                </a:rPr>
                <a:t>i</a:t>
              </a:r>
              <a:endParaRPr lang="en-US" altLang="fr-FR" sz="1800">
                <a:latin typeface="Arial" panose="020B0604020202020204" pitchFamily="34" charset="0"/>
              </a:endParaRPr>
            </a:p>
          </p:txBody>
        </p:sp>
        <p:sp>
          <p:nvSpPr>
            <p:cNvPr id="20533" name="Line 59"/>
            <p:cNvSpPr>
              <a:spLocks noChangeShapeType="1"/>
            </p:cNvSpPr>
            <p:nvPr/>
          </p:nvSpPr>
          <p:spPr bwMode="auto">
            <a:xfrm>
              <a:off x="1338" y="2523"/>
              <a:ext cx="1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34" name="Text Box 60"/>
            <p:cNvSpPr txBox="1">
              <a:spLocks noChangeArrowheads="1"/>
            </p:cNvSpPr>
            <p:nvPr/>
          </p:nvSpPr>
          <p:spPr bwMode="auto">
            <a:xfrm>
              <a:off x="1156" y="1253"/>
              <a:ext cx="14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latin typeface="Arial" panose="020B0604020202020204" pitchFamily="34" charset="0"/>
                </a:rPr>
                <a:t>i</a:t>
              </a:r>
              <a:endParaRPr lang="en-US" altLang="fr-FR" sz="1800">
                <a:latin typeface="Arial" panose="020B0604020202020204" pitchFamily="34" charset="0"/>
              </a:endParaRPr>
            </a:p>
          </p:txBody>
        </p:sp>
        <p:sp>
          <p:nvSpPr>
            <p:cNvPr id="20535" name="Line 61"/>
            <p:cNvSpPr>
              <a:spLocks noChangeShapeType="1"/>
            </p:cNvSpPr>
            <p:nvPr/>
          </p:nvSpPr>
          <p:spPr bwMode="auto">
            <a:xfrm>
              <a:off x="1170" y="1273"/>
              <a:ext cx="1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grpSp>
        <p:nvGrpSpPr>
          <p:cNvPr id="8" name="Group 62"/>
          <p:cNvGrpSpPr>
            <a:grpSpLocks/>
          </p:cNvGrpSpPr>
          <p:nvPr/>
        </p:nvGrpSpPr>
        <p:grpSpPr bwMode="auto">
          <a:xfrm>
            <a:off x="4403725" y="2811463"/>
            <a:ext cx="338138" cy="1562100"/>
            <a:chOff x="2412" y="1771"/>
            <a:chExt cx="213" cy="984"/>
          </a:xfrm>
        </p:grpSpPr>
        <p:sp>
          <p:nvSpPr>
            <p:cNvPr id="20528" name="Oval 63"/>
            <p:cNvSpPr>
              <a:spLocks noChangeArrowheads="1"/>
            </p:cNvSpPr>
            <p:nvPr/>
          </p:nvSpPr>
          <p:spPr bwMode="auto">
            <a:xfrm flipV="1">
              <a:off x="2490" y="1771"/>
              <a:ext cx="45" cy="45"/>
            </a:xfrm>
            <a:prstGeom prst="ellipse">
              <a:avLst/>
            </a:prstGeom>
            <a:solidFill>
              <a:schemeClr val="tx2"/>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529" name="Text Box 64"/>
            <p:cNvSpPr txBox="1">
              <a:spLocks noChangeArrowheads="1"/>
            </p:cNvSpPr>
            <p:nvPr/>
          </p:nvSpPr>
          <p:spPr bwMode="auto">
            <a:xfrm flipV="1">
              <a:off x="2412" y="2522"/>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latin typeface="Arial" panose="020B0604020202020204" pitchFamily="34" charset="0"/>
                </a:rPr>
                <a:t>X</a:t>
              </a:r>
              <a:endParaRPr lang="en-US" altLang="fr-FR" sz="1800">
                <a:latin typeface="Arial" panose="020B0604020202020204" pitchFamily="34" charset="0"/>
              </a:endParaRPr>
            </a:p>
          </p:txBody>
        </p:sp>
      </p:grpSp>
      <p:grpSp>
        <p:nvGrpSpPr>
          <p:cNvPr id="9" name="Group 65"/>
          <p:cNvGrpSpPr>
            <a:grpSpLocks/>
          </p:cNvGrpSpPr>
          <p:nvPr/>
        </p:nvGrpSpPr>
        <p:grpSpPr bwMode="auto">
          <a:xfrm>
            <a:off x="3849688" y="2420938"/>
            <a:ext cx="1620837" cy="2238375"/>
            <a:chOff x="2063" y="1525"/>
            <a:chExt cx="1021" cy="1410"/>
          </a:xfrm>
        </p:grpSpPr>
        <p:sp>
          <p:nvSpPr>
            <p:cNvPr id="20521" name="Line 66"/>
            <p:cNvSpPr>
              <a:spLocks noChangeShapeType="1"/>
            </p:cNvSpPr>
            <p:nvPr/>
          </p:nvSpPr>
          <p:spPr bwMode="auto">
            <a:xfrm>
              <a:off x="2608" y="1797"/>
              <a:ext cx="317"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nvGrpSpPr>
            <p:cNvPr id="20522" name="Group 67"/>
            <p:cNvGrpSpPr>
              <a:grpSpLocks/>
            </p:cNvGrpSpPr>
            <p:nvPr/>
          </p:nvGrpSpPr>
          <p:grpSpPr bwMode="auto">
            <a:xfrm>
              <a:off x="2063" y="1525"/>
              <a:ext cx="1021" cy="1410"/>
              <a:chOff x="1292" y="1389"/>
              <a:chExt cx="1021" cy="1410"/>
            </a:xfrm>
          </p:grpSpPr>
          <p:sp>
            <p:nvSpPr>
              <p:cNvPr id="20524" name="Text Box 68"/>
              <p:cNvSpPr txBox="1">
                <a:spLocks noChangeArrowheads="1"/>
              </p:cNvSpPr>
              <p:nvPr/>
            </p:nvSpPr>
            <p:spPr bwMode="auto">
              <a:xfrm>
                <a:off x="2109" y="1389"/>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solidFill>
                      <a:srgbClr val="0066FF"/>
                    </a:solidFill>
                    <a:latin typeface="Arial" panose="020B0604020202020204" pitchFamily="34" charset="0"/>
                  </a:rPr>
                  <a:t>F</a:t>
                </a:r>
                <a:endParaRPr lang="en-US" altLang="fr-FR" sz="1800">
                  <a:solidFill>
                    <a:srgbClr val="0066FF"/>
                  </a:solidFill>
                  <a:latin typeface="Arial" panose="020B0604020202020204" pitchFamily="34" charset="0"/>
                </a:endParaRPr>
              </a:p>
            </p:txBody>
          </p:sp>
          <p:sp>
            <p:nvSpPr>
              <p:cNvPr id="20525" name="Line 69"/>
              <p:cNvSpPr>
                <a:spLocks noChangeShapeType="1"/>
              </p:cNvSpPr>
              <p:nvPr/>
            </p:nvSpPr>
            <p:spPr bwMode="auto">
              <a:xfrm>
                <a:off x="2154" y="1434"/>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26" name="Text Box 70"/>
              <p:cNvSpPr txBox="1">
                <a:spLocks noChangeArrowheads="1"/>
              </p:cNvSpPr>
              <p:nvPr/>
            </p:nvSpPr>
            <p:spPr bwMode="auto">
              <a:xfrm>
                <a:off x="1292" y="2568"/>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solidFill>
                      <a:srgbClr val="0066FF"/>
                    </a:solidFill>
                    <a:latin typeface="Arial" panose="020B0604020202020204" pitchFamily="34" charset="0"/>
                  </a:rPr>
                  <a:t>F</a:t>
                </a:r>
                <a:endParaRPr lang="en-US" altLang="fr-FR" sz="1800">
                  <a:solidFill>
                    <a:srgbClr val="0066FF"/>
                  </a:solidFill>
                  <a:latin typeface="Arial" panose="020B0604020202020204" pitchFamily="34" charset="0"/>
                </a:endParaRPr>
              </a:p>
            </p:txBody>
          </p:sp>
          <p:sp>
            <p:nvSpPr>
              <p:cNvPr id="20527" name="Line 71"/>
              <p:cNvSpPr>
                <a:spLocks noChangeShapeType="1"/>
              </p:cNvSpPr>
              <p:nvPr/>
            </p:nvSpPr>
            <p:spPr bwMode="auto">
              <a:xfrm>
                <a:off x="1337" y="2613"/>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20523" name="Line 72"/>
            <p:cNvSpPr>
              <a:spLocks noChangeShapeType="1"/>
            </p:cNvSpPr>
            <p:nvPr/>
          </p:nvSpPr>
          <p:spPr bwMode="auto">
            <a:xfrm flipH="1">
              <a:off x="2109" y="2614"/>
              <a:ext cx="317"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grpSp>
        <p:nvGrpSpPr>
          <p:cNvPr id="11" name="Group 73"/>
          <p:cNvGrpSpPr>
            <a:grpSpLocks/>
          </p:cNvGrpSpPr>
          <p:nvPr/>
        </p:nvGrpSpPr>
        <p:grpSpPr bwMode="auto">
          <a:xfrm>
            <a:off x="2193925" y="2492375"/>
            <a:ext cx="935038" cy="1223963"/>
            <a:chOff x="1020" y="1570"/>
            <a:chExt cx="589" cy="771"/>
          </a:xfrm>
        </p:grpSpPr>
        <p:sp>
          <p:nvSpPr>
            <p:cNvPr id="20515" name="Line 74"/>
            <p:cNvSpPr>
              <a:spLocks noChangeShapeType="1"/>
            </p:cNvSpPr>
            <p:nvPr/>
          </p:nvSpPr>
          <p:spPr bwMode="auto">
            <a:xfrm>
              <a:off x="1337" y="1661"/>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16" name="Line 75"/>
            <p:cNvSpPr>
              <a:spLocks noChangeShapeType="1"/>
            </p:cNvSpPr>
            <p:nvPr/>
          </p:nvSpPr>
          <p:spPr bwMode="auto">
            <a:xfrm>
              <a:off x="1156" y="2114"/>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17" name="Line 76"/>
            <p:cNvSpPr>
              <a:spLocks noChangeShapeType="1"/>
            </p:cNvSpPr>
            <p:nvPr/>
          </p:nvSpPr>
          <p:spPr bwMode="auto">
            <a:xfrm flipH="1">
              <a:off x="1020" y="2341"/>
              <a:ext cx="317"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18" name="Line 77"/>
            <p:cNvSpPr>
              <a:spLocks noChangeShapeType="1"/>
            </p:cNvSpPr>
            <p:nvPr/>
          </p:nvSpPr>
          <p:spPr bwMode="auto">
            <a:xfrm>
              <a:off x="1292" y="1570"/>
              <a:ext cx="317"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0519" name="Text Box 78"/>
            <p:cNvSpPr txBox="1">
              <a:spLocks noChangeArrowheads="1"/>
            </p:cNvSpPr>
            <p:nvPr/>
          </p:nvSpPr>
          <p:spPr bwMode="auto">
            <a:xfrm>
              <a:off x="1292" y="1616"/>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solidFill>
                    <a:srgbClr val="0066FF"/>
                  </a:solidFill>
                  <a:latin typeface="Arial" panose="020B0604020202020204" pitchFamily="34" charset="0"/>
                </a:rPr>
                <a:t>F</a:t>
              </a:r>
              <a:endParaRPr lang="en-US" altLang="fr-FR" sz="1800">
                <a:solidFill>
                  <a:srgbClr val="0066FF"/>
                </a:solidFill>
                <a:latin typeface="Arial" panose="020B0604020202020204" pitchFamily="34" charset="0"/>
              </a:endParaRPr>
            </a:p>
          </p:txBody>
        </p:sp>
        <p:sp>
          <p:nvSpPr>
            <p:cNvPr id="20520" name="Text Box 79"/>
            <p:cNvSpPr txBox="1">
              <a:spLocks noChangeArrowheads="1"/>
            </p:cNvSpPr>
            <p:nvPr/>
          </p:nvSpPr>
          <p:spPr bwMode="auto">
            <a:xfrm>
              <a:off x="1111" y="2069"/>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solidFill>
                    <a:srgbClr val="0066FF"/>
                  </a:solidFill>
                  <a:latin typeface="Arial" panose="020B0604020202020204" pitchFamily="34" charset="0"/>
                </a:rPr>
                <a:t>F</a:t>
              </a:r>
              <a:endParaRPr lang="en-US" altLang="fr-FR" sz="1800">
                <a:solidFill>
                  <a:srgbClr val="0066FF"/>
                </a:solidFill>
                <a:latin typeface="Arial" panose="020B0604020202020204" pitchFamily="34" charset="0"/>
              </a:endParaRPr>
            </a:p>
          </p:txBody>
        </p:sp>
      </p:grpSp>
      <p:sp>
        <p:nvSpPr>
          <p:cNvPr id="276560" name="Line 80"/>
          <p:cNvSpPr>
            <a:spLocks noChangeShapeType="1"/>
          </p:cNvSpPr>
          <p:nvPr/>
        </p:nvSpPr>
        <p:spPr bwMode="auto">
          <a:xfrm flipV="1">
            <a:off x="2122488" y="3495675"/>
            <a:ext cx="1081087" cy="503238"/>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0511" name="Rectangle 81"/>
          <p:cNvSpPr>
            <a:spLocks noChangeArrowheads="1"/>
          </p:cNvSpPr>
          <p:nvPr/>
        </p:nvSpPr>
        <p:spPr bwMode="auto">
          <a:xfrm>
            <a:off x="4498975" y="836613"/>
            <a:ext cx="1954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a:latin typeface="Arial" panose="020B0604020202020204" pitchFamily="34" charset="0"/>
              </a:rPr>
              <a:t>Stator / Inducteur</a:t>
            </a:r>
            <a:endParaRPr lang="en-US" altLang="fr-FR" sz="1800">
              <a:latin typeface="Arial" panose="020B0604020202020204" pitchFamily="34" charset="0"/>
            </a:endParaRPr>
          </a:p>
        </p:txBody>
      </p:sp>
      <p:sp>
        <p:nvSpPr>
          <p:cNvPr id="20512" name="Rectangle 10"/>
          <p:cNvSpPr>
            <a:spLocks noChangeArrowheads="1"/>
          </p:cNvSpPr>
          <p:nvPr/>
        </p:nvSpPr>
        <p:spPr bwMode="auto">
          <a:xfrm>
            <a:off x="182563" y="146050"/>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3" name="Espace réservé du pied de page 1"/>
          <p:cNvSpPr>
            <a:spLocks noGrp="1"/>
          </p:cNvSpPr>
          <p:nvPr>
            <p:ph type="ftr" sz="quarter" idx="11"/>
          </p:nvPr>
        </p:nvSpPr>
        <p:spPr/>
        <p:txBody>
          <a:bodyPr/>
          <a:lstStyle/>
          <a:p>
            <a:pPr>
              <a:defRPr/>
            </a:pPr>
            <a:r>
              <a:rPr lang="fr-FR" dirty="0" smtClean="0"/>
              <a:t>Commande des machines   3.MCC     Ali NEJMI</a:t>
            </a:r>
            <a:endParaRPr lang="en-US" dirty="0"/>
          </a:p>
        </p:txBody>
      </p:sp>
      <p:sp>
        <p:nvSpPr>
          <p:cNvPr id="20514" name="Rectangle 83"/>
          <p:cNvSpPr>
            <a:spLocks noChangeArrowheads="1"/>
          </p:cNvSpPr>
          <p:nvPr/>
        </p:nvSpPr>
        <p:spPr bwMode="auto">
          <a:xfrm>
            <a:off x="236538" y="211138"/>
            <a:ext cx="2622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Production du couple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276482"/>
                                        </p:tgtEl>
                                        <p:attrNameLst>
                                          <p:attrName>style.visibility</p:attrName>
                                        </p:attrNameLst>
                                      </p:cBhvr>
                                      <p:to>
                                        <p:strVal val="visible"/>
                                      </p:to>
                                    </p:set>
                                    <p:animEffect transition="in" filter="dissolve">
                                      <p:cBhvr>
                                        <p:cTn id="7" dur="500"/>
                                        <p:tgtEl>
                                          <p:spTgt spid="276482"/>
                                        </p:tgtEl>
                                      </p:cBhvr>
                                    </p:animEffect>
                                  </p:childTnLst>
                                </p:cTn>
                              </p:par>
                              <p:par>
                                <p:cTn id="8" presetID="9"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ssolve">
                                      <p:cBhvr>
                                        <p:cTn id="13" dur="500"/>
                                        <p:tgtEl>
                                          <p:spTgt spid="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76495"/>
                                        </p:tgtEl>
                                        <p:attrNameLst>
                                          <p:attrName>style.visibility</p:attrName>
                                        </p:attrNameLst>
                                      </p:cBhvr>
                                      <p:to>
                                        <p:strVal val="visible"/>
                                      </p:to>
                                    </p:set>
                                    <p:animEffect transition="in" filter="dissolve">
                                      <p:cBhvr>
                                        <p:cTn id="16" dur="500"/>
                                        <p:tgtEl>
                                          <p:spTgt spid="276495"/>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76496"/>
                                        </p:tgtEl>
                                        <p:attrNameLst>
                                          <p:attrName>style.visibility</p:attrName>
                                        </p:attrNameLst>
                                      </p:cBhvr>
                                      <p:to>
                                        <p:strVal val="visible"/>
                                      </p:to>
                                    </p:set>
                                    <p:animEffect transition="in" filter="dissolve">
                                      <p:cBhvr>
                                        <p:cTn id="19" dur="500"/>
                                        <p:tgtEl>
                                          <p:spTgt spid="27649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76497"/>
                                        </p:tgtEl>
                                        <p:attrNameLst>
                                          <p:attrName>style.visibility</p:attrName>
                                        </p:attrNameLst>
                                      </p:cBhvr>
                                      <p:to>
                                        <p:strVal val="visible"/>
                                      </p:to>
                                    </p:set>
                                    <p:animEffect transition="in" filter="dissolve">
                                      <p:cBhvr>
                                        <p:cTn id="22" dur="500"/>
                                        <p:tgtEl>
                                          <p:spTgt spid="27649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76498"/>
                                        </p:tgtEl>
                                        <p:attrNameLst>
                                          <p:attrName>style.visibility</p:attrName>
                                        </p:attrNameLst>
                                      </p:cBhvr>
                                      <p:to>
                                        <p:strVal val="visible"/>
                                      </p:to>
                                    </p:set>
                                    <p:animEffect transition="in" filter="dissolve">
                                      <p:cBhvr>
                                        <p:cTn id="25" dur="500"/>
                                        <p:tgtEl>
                                          <p:spTgt spid="27649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76499"/>
                                        </p:tgtEl>
                                        <p:attrNameLst>
                                          <p:attrName>style.visibility</p:attrName>
                                        </p:attrNameLst>
                                      </p:cBhvr>
                                      <p:to>
                                        <p:strVal val="visible"/>
                                      </p:to>
                                    </p:set>
                                    <p:animEffect transition="in" filter="dissolve">
                                      <p:cBhvr>
                                        <p:cTn id="28" dur="500"/>
                                        <p:tgtEl>
                                          <p:spTgt spid="27649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76500"/>
                                        </p:tgtEl>
                                        <p:attrNameLst>
                                          <p:attrName>style.visibility</p:attrName>
                                        </p:attrNameLst>
                                      </p:cBhvr>
                                      <p:to>
                                        <p:strVal val="visible"/>
                                      </p:to>
                                    </p:set>
                                    <p:animEffect transition="in" filter="dissolve">
                                      <p:cBhvr>
                                        <p:cTn id="31" dur="500"/>
                                        <p:tgtEl>
                                          <p:spTgt spid="27650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76501"/>
                                        </p:tgtEl>
                                        <p:attrNameLst>
                                          <p:attrName>style.visibility</p:attrName>
                                        </p:attrNameLst>
                                      </p:cBhvr>
                                      <p:to>
                                        <p:strVal val="visible"/>
                                      </p:to>
                                    </p:set>
                                    <p:animEffect transition="in" filter="dissolve">
                                      <p:cBhvr>
                                        <p:cTn id="34" dur="500"/>
                                        <p:tgtEl>
                                          <p:spTgt spid="276501"/>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76502"/>
                                        </p:tgtEl>
                                        <p:attrNameLst>
                                          <p:attrName>style.visibility</p:attrName>
                                        </p:attrNameLst>
                                      </p:cBhvr>
                                      <p:to>
                                        <p:strVal val="visible"/>
                                      </p:to>
                                    </p:set>
                                    <p:animEffect transition="in" filter="dissolve">
                                      <p:cBhvr>
                                        <p:cTn id="37" dur="500"/>
                                        <p:tgtEl>
                                          <p:spTgt spid="276502"/>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76503"/>
                                        </p:tgtEl>
                                        <p:attrNameLst>
                                          <p:attrName>style.visibility</p:attrName>
                                        </p:attrNameLst>
                                      </p:cBhvr>
                                      <p:to>
                                        <p:strVal val="visible"/>
                                      </p:to>
                                    </p:set>
                                    <p:animEffect transition="in" filter="dissolve">
                                      <p:cBhvr>
                                        <p:cTn id="40" dur="500"/>
                                        <p:tgtEl>
                                          <p:spTgt spid="276503"/>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276504"/>
                                        </p:tgtEl>
                                        <p:attrNameLst>
                                          <p:attrName>style.visibility</p:attrName>
                                        </p:attrNameLst>
                                      </p:cBhvr>
                                      <p:to>
                                        <p:strVal val="visible"/>
                                      </p:to>
                                    </p:set>
                                    <p:animEffect transition="in" filter="dissolve">
                                      <p:cBhvr>
                                        <p:cTn id="43" dur="500"/>
                                        <p:tgtEl>
                                          <p:spTgt spid="276504"/>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276505"/>
                                        </p:tgtEl>
                                        <p:attrNameLst>
                                          <p:attrName>style.visibility</p:attrName>
                                        </p:attrNameLst>
                                      </p:cBhvr>
                                      <p:to>
                                        <p:strVal val="visible"/>
                                      </p:to>
                                    </p:set>
                                    <p:animEffect transition="in" filter="dissolve">
                                      <p:cBhvr>
                                        <p:cTn id="46" dur="500"/>
                                        <p:tgtEl>
                                          <p:spTgt spid="276505"/>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276506"/>
                                        </p:tgtEl>
                                        <p:attrNameLst>
                                          <p:attrName>style.visibility</p:attrName>
                                        </p:attrNameLst>
                                      </p:cBhvr>
                                      <p:to>
                                        <p:strVal val="visible"/>
                                      </p:to>
                                    </p:set>
                                    <p:animEffect transition="in" filter="dissolve">
                                      <p:cBhvr>
                                        <p:cTn id="49" dur="500"/>
                                        <p:tgtEl>
                                          <p:spTgt spid="276506"/>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276560"/>
                                        </p:tgtEl>
                                        <p:attrNameLst>
                                          <p:attrName>style.visibility</p:attrName>
                                        </p:attrNameLst>
                                      </p:cBhvr>
                                      <p:to>
                                        <p:strVal val="visible"/>
                                      </p:to>
                                    </p:set>
                                    <p:animEffect transition="in" filter="dissolve">
                                      <p:cBhvr>
                                        <p:cTn id="52" dur="500"/>
                                        <p:tgtEl>
                                          <p:spTgt spid="276560"/>
                                        </p:tgtEl>
                                      </p:cBhvr>
                                    </p:animEffect>
                                  </p:childTnLst>
                                </p:cTn>
                              </p:par>
                            </p:childTnLst>
                          </p:cTn>
                        </p:par>
                        <p:par>
                          <p:cTn id="53" fill="hold" nodeType="afterGroup">
                            <p:stCondLst>
                              <p:cond delay="500"/>
                            </p:stCondLst>
                            <p:childTnLst>
                              <p:par>
                                <p:cTn id="54" presetID="2" presetClass="entr" presetSubtype="8" fill="hold" grpId="0" nodeType="afterEffect">
                                  <p:stCondLst>
                                    <p:cond delay="0"/>
                                  </p:stCondLst>
                                  <p:childTnLst>
                                    <p:set>
                                      <p:cBhvr>
                                        <p:cTn id="55" dur="1" fill="hold">
                                          <p:stCondLst>
                                            <p:cond delay="0"/>
                                          </p:stCondLst>
                                        </p:cTn>
                                        <p:tgtEl>
                                          <p:spTgt spid="276494"/>
                                        </p:tgtEl>
                                        <p:attrNameLst>
                                          <p:attrName>style.visibility</p:attrName>
                                        </p:attrNameLst>
                                      </p:cBhvr>
                                      <p:to>
                                        <p:strVal val="visible"/>
                                      </p:to>
                                    </p:set>
                                    <p:anim calcmode="lin" valueType="num">
                                      <p:cBhvr additive="base">
                                        <p:cTn id="56" dur="500" fill="hold"/>
                                        <p:tgtEl>
                                          <p:spTgt spid="276494"/>
                                        </p:tgtEl>
                                        <p:attrNameLst>
                                          <p:attrName>ppt_x</p:attrName>
                                        </p:attrNameLst>
                                      </p:cBhvr>
                                      <p:tavLst>
                                        <p:tav tm="0">
                                          <p:val>
                                            <p:strVal val="0-#ppt_w/2"/>
                                          </p:val>
                                        </p:tav>
                                        <p:tav tm="100000">
                                          <p:val>
                                            <p:strVal val="#ppt_x"/>
                                          </p:val>
                                        </p:tav>
                                      </p:tavLst>
                                    </p:anim>
                                    <p:anim calcmode="lin" valueType="num">
                                      <p:cBhvr additive="base">
                                        <p:cTn id="57" dur="500" fill="hold"/>
                                        <p:tgtEl>
                                          <p:spTgt spid="276494"/>
                                        </p:tgtEl>
                                        <p:attrNameLst>
                                          <p:attrName>ppt_y</p:attrName>
                                        </p:attrNameLst>
                                      </p:cBhvr>
                                      <p:tavLst>
                                        <p:tav tm="0">
                                          <p:val>
                                            <p:strVal val="#ppt_y"/>
                                          </p:val>
                                        </p:tav>
                                        <p:tav tm="100000">
                                          <p:val>
                                            <p:strVal val="#ppt_y"/>
                                          </p:val>
                                        </p:tav>
                                      </p:tavLst>
                                    </p:anim>
                                  </p:childTnLst>
                                </p:cTn>
                              </p:par>
                              <p:par>
                                <p:cTn id="58" presetID="9" presetClass="entr" presetSubtype="0" fill="hold" nodeType="withEffect">
                                  <p:stCondLst>
                                    <p:cond delay="0"/>
                                  </p:stCondLst>
                                  <p:childTnLst>
                                    <p:set>
                                      <p:cBhvr>
                                        <p:cTn id="59" dur="1" fill="hold">
                                          <p:stCondLst>
                                            <p:cond delay="0"/>
                                          </p:stCondLst>
                                        </p:cTn>
                                        <p:tgtEl>
                                          <p:spTgt spid="8"/>
                                        </p:tgtEl>
                                        <p:attrNameLst>
                                          <p:attrName>style.visibility</p:attrName>
                                        </p:attrNameLst>
                                      </p:cBhvr>
                                      <p:to>
                                        <p:strVal val="visible"/>
                                      </p:to>
                                    </p:set>
                                    <p:animEffect transition="in" filter="dissolve">
                                      <p:cBhvr>
                                        <p:cTn id="60" dur="500"/>
                                        <p:tgtEl>
                                          <p:spTgt spid="8"/>
                                        </p:tgtEl>
                                      </p:cBhvr>
                                    </p:animEffect>
                                  </p:childTnLst>
                                </p:cTn>
                              </p:par>
                              <p:par>
                                <p:cTn id="61" presetID="9" presetClass="entr" presetSubtype="0" fill="hold" nodeType="withEffect">
                                  <p:stCondLst>
                                    <p:cond delay="0"/>
                                  </p:stCondLst>
                                  <p:childTnLst>
                                    <p:set>
                                      <p:cBhvr>
                                        <p:cTn id="62" dur="1" fill="hold">
                                          <p:stCondLst>
                                            <p:cond delay="0"/>
                                          </p:stCondLst>
                                        </p:cTn>
                                        <p:tgtEl>
                                          <p:spTgt spid="7"/>
                                        </p:tgtEl>
                                        <p:attrNameLst>
                                          <p:attrName>style.visibility</p:attrName>
                                        </p:attrNameLst>
                                      </p:cBhvr>
                                      <p:to>
                                        <p:strVal val="visible"/>
                                      </p:to>
                                    </p:set>
                                    <p:animEffect transition="in" filter="dissolve">
                                      <p:cBhvr>
                                        <p:cTn id="63" dur="500"/>
                                        <p:tgtEl>
                                          <p:spTgt spid="7"/>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 presetClass="entr" presetSubtype="8" fill="hold" nodeType="clickEffect">
                                  <p:stCondLst>
                                    <p:cond delay="0"/>
                                  </p:stCondLst>
                                  <p:childTnLst>
                                    <p:set>
                                      <p:cBhvr>
                                        <p:cTn id="67" dur="1" fill="hold">
                                          <p:stCondLst>
                                            <p:cond delay="0"/>
                                          </p:stCondLst>
                                        </p:cTn>
                                        <p:tgtEl>
                                          <p:spTgt spid="3"/>
                                        </p:tgtEl>
                                        <p:attrNameLst>
                                          <p:attrName>style.visibility</p:attrName>
                                        </p:attrNameLst>
                                      </p:cBhvr>
                                      <p:to>
                                        <p:strVal val="visible"/>
                                      </p:to>
                                    </p:set>
                                    <p:anim calcmode="lin" valueType="num">
                                      <p:cBhvr additive="base">
                                        <p:cTn id="68" dur="500" fill="hold"/>
                                        <p:tgtEl>
                                          <p:spTgt spid="3"/>
                                        </p:tgtEl>
                                        <p:attrNameLst>
                                          <p:attrName>ppt_x</p:attrName>
                                        </p:attrNameLst>
                                      </p:cBhvr>
                                      <p:tavLst>
                                        <p:tav tm="0">
                                          <p:val>
                                            <p:strVal val="0-#ppt_w/2"/>
                                          </p:val>
                                        </p:tav>
                                        <p:tav tm="100000">
                                          <p:val>
                                            <p:strVal val="#ppt_x"/>
                                          </p:val>
                                        </p:tav>
                                      </p:tavLst>
                                    </p:anim>
                                    <p:anim calcmode="lin" valueType="num">
                                      <p:cBhvr additive="base">
                                        <p:cTn id="6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70" fill="hold" nodeType="clickPar">
                      <p:stCondLst>
                        <p:cond delay="indefinite"/>
                      </p:stCondLst>
                      <p:childTnLst>
                        <p:par>
                          <p:cTn id="71" fill="hold" nodeType="withGroup">
                            <p:stCondLst>
                              <p:cond delay="0"/>
                            </p:stCondLst>
                            <p:childTnLst>
                              <p:par>
                                <p:cTn id="72" presetID="9" presetClass="entr" presetSubtype="0" fill="hold" nodeType="clickEffect">
                                  <p:stCondLst>
                                    <p:cond delay="0"/>
                                  </p:stCondLst>
                                  <p:childTnLst>
                                    <p:set>
                                      <p:cBhvr>
                                        <p:cTn id="73" dur="1" fill="hold">
                                          <p:stCondLst>
                                            <p:cond delay="0"/>
                                          </p:stCondLst>
                                        </p:cTn>
                                        <p:tgtEl>
                                          <p:spTgt spid="9"/>
                                        </p:tgtEl>
                                        <p:attrNameLst>
                                          <p:attrName>style.visibility</p:attrName>
                                        </p:attrNameLst>
                                      </p:cBhvr>
                                      <p:to>
                                        <p:strVal val="visible"/>
                                      </p:to>
                                    </p:set>
                                    <p:animEffect transition="in" filter="dissolve">
                                      <p:cBhvr>
                                        <p:cTn id="74" dur="500"/>
                                        <p:tgtEl>
                                          <p:spTgt spid="9"/>
                                        </p:tgtEl>
                                      </p:cBhvr>
                                    </p:animEffect>
                                  </p:childTnLst>
                                </p:cTn>
                              </p:par>
                              <p:par>
                                <p:cTn id="75" presetID="9" presetClass="entr" presetSubtype="0" fill="hold" nodeType="withEffect">
                                  <p:stCondLst>
                                    <p:cond delay="0"/>
                                  </p:stCondLst>
                                  <p:childTnLst>
                                    <p:set>
                                      <p:cBhvr>
                                        <p:cTn id="76" dur="1" fill="hold">
                                          <p:stCondLst>
                                            <p:cond delay="0"/>
                                          </p:stCondLst>
                                        </p:cTn>
                                        <p:tgtEl>
                                          <p:spTgt spid="11"/>
                                        </p:tgtEl>
                                        <p:attrNameLst>
                                          <p:attrName>style.visibility</p:attrName>
                                        </p:attrNameLst>
                                      </p:cBhvr>
                                      <p:to>
                                        <p:strVal val="visible"/>
                                      </p:to>
                                    </p:set>
                                    <p:animEffect transition="in" filter="dissolve">
                                      <p:cBhvr>
                                        <p:cTn id="7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482" grpId="0" animBg="1"/>
      <p:bldP spid="276494" grpId="0"/>
      <p:bldP spid="276495" grpId="0" animBg="1"/>
      <p:bldP spid="276496" grpId="0" animBg="1"/>
      <p:bldP spid="276497" grpId="0" animBg="1"/>
      <p:bldP spid="276498" grpId="0" animBg="1"/>
      <p:bldP spid="276499" grpId="0" animBg="1"/>
      <p:bldP spid="276500" grpId="0" animBg="1"/>
      <p:bldP spid="276501" grpId="0" animBg="1"/>
      <p:bldP spid="276502" grpId="0" animBg="1"/>
      <p:bldP spid="276503" grpId="0" animBg="1"/>
      <p:bldP spid="276504" grpId="0" animBg="1"/>
      <p:bldP spid="276505" grpId="0" animBg="1"/>
      <p:bldP spid="276506" grpId="0" animBg="1"/>
      <p:bldP spid="27656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Line 2"/>
          <p:cNvSpPr>
            <a:spLocks noChangeShapeType="1"/>
          </p:cNvSpPr>
          <p:nvPr/>
        </p:nvSpPr>
        <p:spPr bwMode="auto">
          <a:xfrm flipV="1">
            <a:off x="1739900" y="3735388"/>
            <a:ext cx="431800" cy="21590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2531" name="Group 3"/>
          <p:cNvGrpSpPr>
            <a:grpSpLocks/>
          </p:cNvGrpSpPr>
          <p:nvPr/>
        </p:nvGrpSpPr>
        <p:grpSpPr bwMode="auto">
          <a:xfrm>
            <a:off x="1355725" y="3140075"/>
            <a:ext cx="790575" cy="874713"/>
            <a:chOff x="476" y="1842"/>
            <a:chExt cx="498" cy="551"/>
          </a:xfrm>
        </p:grpSpPr>
        <p:sp>
          <p:nvSpPr>
            <p:cNvPr id="22606" name="Oval 4"/>
            <p:cNvSpPr>
              <a:spLocks noChangeArrowheads="1"/>
            </p:cNvSpPr>
            <p:nvPr/>
          </p:nvSpPr>
          <p:spPr bwMode="auto">
            <a:xfrm rot="1872782">
              <a:off x="476" y="1869"/>
              <a:ext cx="498" cy="498"/>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sp>
          <p:nvSpPr>
            <p:cNvPr id="22607" name="Line 5"/>
            <p:cNvSpPr>
              <a:spLocks noChangeShapeType="1"/>
            </p:cNvSpPr>
            <p:nvPr/>
          </p:nvSpPr>
          <p:spPr bwMode="auto">
            <a:xfrm rot="1872782" flipH="1">
              <a:off x="725" y="1842"/>
              <a:ext cx="0" cy="551"/>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608" name="Line 6"/>
            <p:cNvSpPr>
              <a:spLocks noChangeShapeType="1"/>
            </p:cNvSpPr>
            <p:nvPr/>
          </p:nvSpPr>
          <p:spPr bwMode="auto">
            <a:xfrm rot="1872782" flipH="1" flipV="1">
              <a:off x="498" y="1982"/>
              <a:ext cx="454" cy="27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609" name="Line 7"/>
            <p:cNvSpPr>
              <a:spLocks noChangeShapeType="1"/>
            </p:cNvSpPr>
            <p:nvPr/>
          </p:nvSpPr>
          <p:spPr bwMode="auto">
            <a:xfrm rot="1872782" flipH="1">
              <a:off x="498" y="1982"/>
              <a:ext cx="454" cy="27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22532" name="Rectangle 8"/>
          <p:cNvSpPr>
            <a:spLocks noChangeArrowheads="1"/>
          </p:cNvSpPr>
          <p:nvPr/>
        </p:nvSpPr>
        <p:spPr bwMode="auto">
          <a:xfrm>
            <a:off x="4235450" y="692150"/>
            <a:ext cx="3819525" cy="5759450"/>
          </a:xfrm>
          <a:prstGeom prst="rect">
            <a:avLst/>
          </a:prstGeom>
          <a:solidFill>
            <a:srgbClr val="C0C0C0"/>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2533" name="Rectangle 9"/>
          <p:cNvSpPr>
            <a:spLocks noChangeArrowheads="1"/>
          </p:cNvSpPr>
          <p:nvPr/>
        </p:nvSpPr>
        <p:spPr bwMode="auto">
          <a:xfrm>
            <a:off x="7259638" y="1843088"/>
            <a:ext cx="796925" cy="3457575"/>
          </a:xfrm>
          <a:prstGeom prst="rect">
            <a:avLst/>
          </a:prstGeom>
          <a:gradFill rotWithShape="1">
            <a:gsLst>
              <a:gs pos="0">
                <a:srgbClr val="FF0000"/>
              </a:gs>
              <a:gs pos="100000">
                <a:srgbClr val="3333CC"/>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2000">
                <a:latin typeface="Arial" panose="020B0604020202020204" pitchFamily="34" charset="0"/>
              </a:rPr>
              <a:t>N</a:t>
            </a:r>
          </a:p>
          <a:p>
            <a:pPr algn="ctr" eaLnBrk="1" hangingPunct="1">
              <a:spcBef>
                <a:spcPct val="0"/>
              </a:spcBef>
              <a:buClrTx/>
              <a:buSzTx/>
              <a:buFontTx/>
              <a:buNone/>
            </a:pPr>
            <a:endParaRPr lang="fr-CH" altLang="fr-FR" sz="2000">
              <a:latin typeface="Arial" panose="020B0604020202020204" pitchFamily="34" charset="0"/>
            </a:endParaRPr>
          </a:p>
          <a:p>
            <a:pPr algn="ctr" eaLnBrk="1" hangingPunct="1">
              <a:spcBef>
                <a:spcPct val="0"/>
              </a:spcBef>
              <a:buClrTx/>
              <a:buSzTx/>
              <a:buFontTx/>
              <a:buNone/>
            </a:pPr>
            <a:endParaRPr lang="fr-CH" altLang="fr-FR" sz="2000">
              <a:latin typeface="Arial" panose="020B0604020202020204" pitchFamily="34" charset="0"/>
            </a:endParaRPr>
          </a:p>
          <a:p>
            <a:pPr algn="ctr" eaLnBrk="1" hangingPunct="1">
              <a:spcBef>
                <a:spcPct val="0"/>
              </a:spcBef>
              <a:buClrTx/>
              <a:buSzTx/>
              <a:buFontTx/>
              <a:buNone/>
            </a:pPr>
            <a:endParaRPr lang="fr-CH" altLang="fr-FR" sz="2000">
              <a:latin typeface="Arial" panose="020B0604020202020204" pitchFamily="34" charset="0"/>
            </a:endParaRPr>
          </a:p>
          <a:p>
            <a:pPr algn="ctr" eaLnBrk="1" hangingPunct="1">
              <a:spcBef>
                <a:spcPct val="0"/>
              </a:spcBef>
              <a:buClrTx/>
              <a:buSzTx/>
              <a:buFontTx/>
              <a:buNone/>
            </a:pPr>
            <a:endParaRPr lang="fr-CH" altLang="fr-FR" sz="2000">
              <a:latin typeface="Arial" panose="020B0604020202020204" pitchFamily="34" charset="0"/>
            </a:endParaRPr>
          </a:p>
          <a:p>
            <a:pPr algn="ctr" eaLnBrk="1" hangingPunct="1">
              <a:spcBef>
                <a:spcPct val="0"/>
              </a:spcBef>
              <a:buClrTx/>
              <a:buSzTx/>
              <a:buFontTx/>
              <a:buNone/>
            </a:pPr>
            <a:endParaRPr lang="fr-CH" altLang="fr-FR" sz="2000">
              <a:latin typeface="Arial" panose="020B0604020202020204" pitchFamily="34" charset="0"/>
            </a:endParaRPr>
          </a:p>
          <a:p>
            <a:pPr algn="ctr" eaLnBrk="1" hangingPunct="1">
              <a:spcBef>
                <a:spcPct val="0"/>
              </a:spcBef>
              <a:buClrTx/>
              <a:buSzTx/>
              <a:buFontTx/>
              <a:buNone/>
            </a:pPr>
            <a:r>
              <a:rPr lang="fr-CH" altLang="fr-FR" sz="2000">
                <a:latin typeface="Arial" panose="020B0604020202020204" pitchFamily="34" charset="0"/>
              </a:rPr>
              <a:t>S</a:t>
            </a:r>
            <a:endParaRPr lang="fr-FR" altLang="fr-FR" sz="2000">
              <a:latin typeface="Arial" panose="020B0604020202020204" pitchFamily="34" charset="0"/>
            </a:endParaRPr>
          </a:p>
        </p:txBody>
      </p:sp>
      <p:sp>
        <p:nvSpPr>
          <p:cNvPr id="22534" name="Rectangle 10"/>
          <p:cNvSpPr>
            <a:spLocks noChangeArrowheads="1"/>
          </p:cNvSpPr>
          <p:nvPr/>
        </p:nvSpPr>
        <p:spPr bwMode="auto">
          <a:xfrm>
            <a:off x="5027613" y="1484313"/>
            <a:ext cx="2228850" cy="41751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sp>
        <p:nvSpPr>
          <p:cNvPr id="22535" name="Rectangle 11"/>
          <p:cNvSpPr>
            <a:spLocks noChangeArrowheads="1"/>
          </p:cNvSpPr>
          <p:nvPr/>
        </p:nvSpPr>
        <p:spPr bwMode="auto">
          <a:xfrm>
            <a:off x="4092575" y="2420938"/>
            <a:ext cx="1079500" cy="2232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sp>
        <p:nvSpPr>
          <p:cNvPr id="22536" name="Line 12"/>
          <p:cNvSpPr>
            <a:spLocks noChangeShapeType="1"/>
          </p:cNvSpPr>
          <p:nvPr/>
        </p:nvSpPr>
        <p:spPr bwMode="auto">
          <a:xfrm flipH="1">
            <a:off x="4235450" y="2420938"/>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37" name="Line 13"/>
          <p:cNvSpPr>
            <a:spLocks noChangeShapeType="1"/>
          </p:cNvSpPr>
          <p:nvPr/>
        </p:nvSpPr>
        <p:spPr bwMode="auto">
          <a:xfrm flipH="1">
            <a:off x="4235450" y="4652963"/>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7518" name="Line 14"/>
          <p:cNvSpPr>
            <a:spLocks noChangeShapeType="1"/>
          </p:cNvSpPr>
          <p:nvPr/>
        </p:nvSpPr>
        <p:spPr bwMode="auto">
          <a:xfrm flipV="1">
            <a:off x="2171700" y="2698750"/>
            <a:ext cx="0" cy="288925"/>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7519" name="Line 15"/>
          <p:cNvSpPr>
            <a:spLocks noChangeShapeType="1"/>
          </p:cNvSpPr>
          <p:nvPr/>
        </p:nvSpPr>
        <p:spPr bwMode="auto">
          <a:xfrm flipH="1">
            <a:off x="1825625" y="3836988"/>
            <a:ext cx="144463" cy="71437"/>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7520" name="Line 16"/>
          <p:cNvSpPr>
            <a:spLocks noChangeShapeType="1"/>
          </p:cNvSpPr>
          <p:nvPr/>
        </p:nvSpPr>
        <p:spPr bwMode="auto">
          <a:xfrm flipV="1">
            <a:off x="2171700" y="3711575"/>
            <a:ext cx="0" cy="288925"/>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7521" name="Line 17"/>
          <p:cNvSpPr>
            <a:spLocks noChangeShapeType="1"/>
          </p:cNvSpPr>
          <p:nvPr/>
        </p:nvSpPr>
        <p:spPr bwMode="auto">
          <a:xfrm flipV="1">
            <a:off x="1758950" y="2973388"/>
            <a:ext cx="431800" cy="21590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42" name="Line 18"/>
          <p:cNvSpPr>
            <a:spLocks noChangeShapeType="1"/>
          </p:cNvSpPr>
          <p:nvPr/>
        </p:nvSpPr>
        <p:spPr bwMode="auto">
          <a:xfrm>
            <a:off x="850900" y="2852738"/>
            <a:ext cx="936625"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43" name="Line 19"/>
          <p:cNvSpPr>
            <a:spLocks noChangeShapeType="1"/>
          </p:cNvSpPr>
          <p:nvPr/>
        </p:nvSpPr>
        <p:spPr bwMode="auto">
          <a:xfrm>
            <a:off x="1752600" y="2833688"/>
            <a:ext cx="0" cy="36036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44" name="Line 20"/>
          <p:cNvSpPr>
            <a:spLocks noChangeShapeType="1"/>
          </p:cNvSpPr>
          <p:nvPr/>
        </p:nvSpPr>
        <p:spPr bwMode="auto">
          <a:xfrm>
            <a:off x="1752600" y="4002088"/>
            <a:ext cx="0" cy="36036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45" name="Line 21"/>
          <p:cNvSpPr>
            <a:spLocks noChangeShapeType="1"/>
          </p:cNvSpPr>
          <p:nvPr/>
        </p:nvSpPr>
        <p:spPr bwMode="auto">
          <a:xfrm>
            <a:off x="819150" y="4325938"/>
            <a:ext cx="936625"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7526" name="Line 22"/>
          <p:cNvSpPr>
            <a:spLocks noChangeShapeType="1"/>
          </p:cNvSpPr>
          <p:nvPr/>
        </p:nvSpPr>
        <p:spPr bwMode="auto">
          <a:xfrm flipV="1">
            <a:off x="2147888" y="2224088"/>
            <a:ext cx="1081087" cy="503237"/>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77527" name="Line 23"/>
          <p:cNvSpPr>
            <a:spLocks noChangeShapeType="1"/>
          </p:cNvSpPr>
          <p:nvPr/>
        </p:nvSpPr>
        <p:spPr bwMode="auto">
          <a:xfrm>
            <a:off x="3213100" y="2219325"/>
            <a:ext cx="0" cy="129540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48" name="Arc 24"/>
          <p:cNvSpPr>
            <a:spLocks/>
          </p:cNvSpPr>
          <p:nvPr/>
        </p:nvSpPr>
        <p:spPr bwMode="auto">
          <a:xfrm>
            <a:off x="1595438" y="3179763"/>
            <a:ext cx="334962" cy="395287"/>
          </a:xfrm>
          <a:custGeom>
            <a:avLst/>
            <a:gdLst>
              <a:gd name="T0" fmla="*/ 0 w 18225"/>
              <a:gd name="T1" fmla="*/ 2147483646 h 21600"/>
              <a:gd name="T2" fmla="*/ 2147483646 w 18225"/>
              <a:gd name="T3" fmla="*/ 2147483646 h 21600"/>
              <a:gd name="T4" fmla="*/ 2147483646 w 18225"/>
              <a:gd name="T5" fmla="*/ 2147483646 h 21600"/>
              <a:gd name="T6" fmla="*/ 0 60000 65536"/>
              <a:gd name="T7" fmla="*/ 0 60000 65536"/>
              <a:gd name="T8" fmla="*/ 0 60000 65536"/>
              <a:gd name="T9" fmla="*/ 0 w 18225"/>
              <a:gd name="T10" fmla="*/ 0 h 21600"/>
              <a:gd name="T11" fmla="*/ 18225 w 18225"/>
              <a:gd name="T12" fmla="*/ 21600 h 21600"/>
            </a:gdLst>
            <a:ahLst/>
            <a:cxnLst>
              <a:cxn ang="T6">
                <a:pos x="T0" y="T1"/>
              </a:cxn>
              <a:cxn ang="T7">
                <a:pos x="T2" y="T3"/>
              </a:cxn>
              <a:cxn ang="T8">
                <a:pos x="T4" y="T5"/>
              </a:cxn>
            </a:cxnLst>
            <a:rect l="T9" t="T10" r="T11" b="T12"/>
            <a:pathLst>
              <a:path w="18225" h="21600" fill="none" extrusionOk="0">
                <a:moveTo>
                  <a:pt x="0" y="1766"/>
                </a:moveTo>
                <a:cubicBezTo>
                  <a:pt x="2701" y="601"/>
                  <a:pt x="5612" y="-1"/>
                  <a:pt x="8555" y="0"/>
                </a:cubicBezTo>
                <a:cubicBezTo>
                  <a:pt x="11912" y="0"/>
                  <a:pt x="15223" y="782"/>
                  <a:pt x="18225" y="2285"/>
                </a:cubicBezTo>
              </a:path>
              <a:path w="18225" h="21600" stroke="0" extrusionOk="0">
                <a:moveTo>
                  <a:pt x="0" y="1766"/>
                </a:moveTo>
                <a:cubicBezTo>
                  <a:pt x="2701" y="601"/>
                  <a:pt x="5612" y="-1"/>
                  <a:pt x="8555" y="0"/>
                </a:cubicBezTo>
                <a:cubicBezTo>
                  <a:pt x="11912" y="0"/>
                  <a:pt x="15223" y="782"/>
                  <a:pt x="18225" y="2285"/>
                </a:cubicBezTo>
                <a:lnTo>
                  <a:pt x="8555" y="21600"/>
                </a:lnTo>
                <a:lnTo>
                  <a:pt x="0" y="1766"/>
                </a:lnTo>
                <a:close/>
              </a:path>
            </a:pathLst>
          </a:cu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22549" name="Arc 25"/>
          <p:cNvSpPr>
            <a:spLocks/>
          </p:cNvSpPr>
          <p:nvPr/>
        </p:nvSpPr>
        <p:spPr bwMode="auto">
          <a:xfrm flipV="1">
            <a:off x="1576388" y="3575050"/>
            <a:ext cx="334962" cy="395288"/>
          </a:xfrm>
          <a:custGeom>
            <a:avLst/>
            <a:gdLst>
              <a:gd name="T0" fmla="*/ 0 w 18133"/>
              <a:gd name="T1" fmla="*/ 2147483646 h 21600"/>
              <a:gd name="T2" fmla="*/ 2147483646 w 18133"/>
              <a:gd name="T3" fmla="*/ 2147483646 h 21600"/>
              <a:gd name="T4" fmla="*/ 2147483646 w 18133"/>
              <a:gd name="T5" fmla="*/ 2147483646 h 21600"/>
              <a:gd name="T6" fmla="*/ 0 60000 65536"/>
              <a:gd name="T7" fmla="*/ 0 60000 65536"/>
              <a:gd name="T8" fmla="*/ 0 60000 65536"/>
              <a:gd name="T9" fmla="*/ 0 w 18133"/>
              <a:gd name="T10" fmla="*/ 0 h 21600"/>
              <a:gd name="T11" fmla="*/ 18133 w 18133"/>
              <a:gd name="T12" fmla="*/ 21600 h 21600"/>
            </a:gdLst>
            <a:ahLst/>
            <a:cxnLst>
              <a:cxn ang="T6">
                <a:pos x="T0" y="T1"/>
              </a:cxn>
              <a:cxn ang="T7">
                <a:pos x="T2" y="T3"/>
              </a:cxn>
              <a:cxn ang="T8">
                <a:pos x="T4" y="T5"/>
              </a:cxn>
            </a:cxnLst>
            <a:rect l="T9" t="T10" r="T11" b="T12"/>
            <a:pathLst>
              <a:path w="18133" h="21600" fill="none" extrusionOk="0">
                <a:moveTo>
                  <a:pt x="-1" y="1784"/>
                </a:moveTo>
                <a:cubicBezTo>
                  <a:pt x="2713" y="607"/>
                  <a:pt x="5640" y="-1"/>
                  <a:pt x="8598" y="0"/>
                </a:cubicBezTo>
                <a:cubicBezTo>
                  <a:pt x="11904" y="0"/>
                  <a:pt x="15166" y="758"/>
                  <a:pt x="18132" y="2218"/>
                </a:cubicBezTo>
              </a:path>
              <a:path w="18133" h="21600" stroke="0" extrusionOk="0">
                <a:moveTo>
                  <a:pt x="-1" y="1784"/>
                </a:moveTo>
                <a:cubicBezTo>
                  <a:pt x="2713" y="607"/>
                  <a:pt x="5640" y="-1"/>
                  <a:pt x="8598" y="0"/>
                </a:cubicBezTo>
                <a:cubicBezTo>
                  <a:pt x="11904" y="0"/>
                  <a:pt x="15166" y="758"/>
                  <a:pt x="18132" y="2218"/>
                </a:cubicBezTo>
                <a:lnTo>
                  <a:pt x="8598" y="21600"/>
                </a:lnTo>
                <a:lnTo>
                  <a:pt x="-1" y="1784"/>
                </a:lnTo>
                <a:close/>
              </a:path>
            </a:pathLst>
          </a:cu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grpSp>
        <p:nvGrpSpPr>
          <p:cNvPr id="22550" name="Group 26"/>
          <p:cNvGrpSpPr>
            <a:grpSpLocks/>
          </p:cNvGrpSpPr>
          <p:nvPr/>
        </p:nvGrpSpPr>
        <p:grpSpPr bwMode="auto">
          <a:xfrm>
            <a:off x="3948113" y="2420938"/>
            <a:ext cx="935037" cy="2232025"/>
            <a:chOff x="2109" y="1389"/>
            <a:chExt cx="589" cy="1406"/>
          </a:xfrm>
        </p:grpSpPr>
        <p:sp>
          <p:nvSpPr>
            <p:cNvPr id="22599" name="Line 27"/>
            <p:cNvSpPr>
              <a:spLocks noChangeShapeType="1"/>
            </p:cNvSpPr>
            <p:nvPr/>
          </p:nvSpPr>
          <p:spPr bwMode="auto">
            <a:xfrm>
              <a:off x="233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600" name="Line 28"/>
            <p:cNvSpPr>
              <a:spLocks noChangeShapeType="1"/>
            </p:cNvSpPr>
            <p:nvPr/>
          </p:nvSpPr>
          <p:spPr bwMode="auto">
            <a:xfrm>
              <a:off x="242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601" name="Line 29"/>
            <p:cNvSpPr>
              <a:spLocks noChangeShapeType="1"/>
            </p:cNvSpPr>
            <p:nvPr/>
          </p:nvSpPr>
          <p:spPr bwMode="auto">
            <a:xfrm>
              <a:off x="2517"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602" name="Line 30"/>
            <p:cNvSpPr>
              <a:spLocks noChangeShapeType="1"/>
            </p:cNvSpPr>
            <p:nvPr/>
          </p:nvSpPr>
          <p:spPr bwMode="auto">
            <a:xfrm>
              <a:off x="260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603" name="Line 31"/>
            <p:cNvSpPr>
              <a:spLocks noChangeShapeType="1"/>
            </p:cNvSpPr>
            <p:nvPr/>
          </p:nvSpPr>
          <p:spPr bwMode="auto">
            <a:xfrm>
              <a:off x="269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604" name="Text Box 32"/>
            <p:cNvSpPr txBox="1">
              <a:spLocks noChangeArrowheads="1"/>
            </p:cNvSpPr>
            <p:nvPr/>
          </p:nvSpPr>
          <p:spPr bwMode="auto">
            <a:xfrm>
              <a:off x="2109" y="1389"/>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solidFill>
                    <a:srgbClr val="FF0000"/>
                  </a:solidFill>
                  <a:latin typeface="Arial" panose="020B0604020202020204" pitchFamily="34" charset="0"/>
                </a:rPr>
                <a:t>B</a:t>
              </a:r>
              <a:endParaRPr lang="en-US" altLang="fr-FR" sz="2000">
                <a:solidFill>
                  <a:srgbClr val="FF0000"/>
                </a:solidFill>
                <a:latin typeface="Arial" panose="020B0604020202020204" pitchFamily="34" charset="0"/>
              </a:endParaRPr>
            </a:p>
          </p:txBody>
        </p:sp>
        <p:sp>
          <p:nvSpPr>
            <p:cNvPr id="22605" name="Line 33"/>
            <p:cNvSpPr>
              <a:spLocks noChangeShapeType="1"/>
            </p:cNvSpPr>
            <p:nvPr/>
          </p:nvSpPr>
          <p:spPr bwMode="auto">
            <a:xfrm>
              <a:off x="2155" y="1434"/>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277538" name="Line 34"/>
          <p:cNvSpPr>
            <a:spLocks noChangeShapeType="1"/>
          </p:cNvSpPr>
          <p:nvPr/>
        </p:nvSpPr>
        <p:spPr bwMode="auto">
          <a:xfrm flipV="1">
            <a:off x="2579688" y="3789363"/>
            <a:ext cx="350837" cy="1635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77539" name="Line 35"/>
          <p:cNvSpPr>
            <a:spLocks noChangeShapeType="1"/>
          </p:cNvSpPr>
          <p:nvPr/>
        </p:nvSpPr>
        <p:spPr bwMode="auto">
          <a:xfrm flipH="1">
            <a:off x="2435225" y="2276475"/>
            <a:ext cx="350838" cy="16351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77540" name="Text Box 36"/>
          <p:cNvSpPr txBox="1">
            <a:spLocks noChangeArrowheads="1"/>
          </p:cNvSpPr>
          <p:nvPr/>
        </p:nvSpPr>
        <p:spPr bwMode="auto">
          <a:xfrm>
            <a:off x="2701925" y="3973513"/>
            <a:ext cx="242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latin typeface="Arial" panose="020B0604020202020204" pitchFamily="34" charset="0"/>
              </a:rPr>
              <a:t>i</a:t>
            </a:r>
            <a:endParaRPr lang="en-US" altLang="fr-FR" sz="2000">
              <a:latin typeface="Arial" panose="020B0604020202020204" pitchFamily="34" charset="0"/>
            </a:endParaRPr>
          </a:p>
        </p:txBody>
      </p:sp>
      <p:sp>
        <p:nvSpPr>
          <p:cNvPr id="277541" name="Line 37"/>
          <p:cNvSpPr>
            <a:spLocks noChangeShapeType="1"/>
          </p:cNvSpPr>
          <p:nvPr/>
        </p:nvSpPr>
        <p:spPr bwMode="auto">
          <a:xfrm>
            <a:off x="2724150" y="4005263"/>
            <a:ext cx="2159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77542" name="Text Box 38"/>
          <p:cNvSpPr txBox="1">
            <a:spLocks noChangeArrowheads="1"/>
          </p:cNvSpPr>
          <p:nvPr/>
        </p:nvSpPr>
        <p:spPr bwMode="auto">
          <a:xfrm>
            <a:off x="2435225" y="1989138"/>
            <a:ext cx="242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latin typeface="Arial" panose="020B0604020202020204" pitchFamily="34" charset="0"/>
              </a:rPr>
              <a:t>i</a:t>
            </a:r>
            <a:endParaRPr lang="en-US" altLang="fr-FR" sz="2000">
              <a:latin typeface="Arial" panose="020B0604020202020204" pitchFamily="34" charset="0"/>
            </a:endParaRPr>
          </a:p>
        </p:txBody>
      </p:sp>
      <p:sp>
        <p:nvSpPr>
          <p:cNvPr id="277543" name="Line 39"/>
          <p:cNvSpPr>
            <a:spLocks noChangeShapeType="1"/>
          </p:cNvSpPr>
          <p:nvPr/>
        </p:nvSpPr>
        <p:spPr bwMode="auto">
          <a:xfrm>
            <a:off x="2457450" y="2020888"/>
            <a:ext cx="2159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nvGrpSpPr>
          <p:cNvPr id="22557" name="Group 40"/>
          <p:cNvGrpSpPr>
            <a:grpSpLocks/>
          </p:cNvGrpSpPr>
          <p:nvPr/>
        </p:nvGrpSpPr>
        <p:grpSpPr bwMode="auto">
          <a:xfrm>
            <a:off x="3875088" y="2708275"/>
            <a:ext cx="1414462" cy="1695450"/>
            <a:chOff x="2063" y="1570"/>
            <a:chExt cx="891" cy="1068"/>
          </a:xfrm>
        </p:grpSpPr>
        <p:grpSp>
          <p:nvGrpSpPr>
            <p:cNvPr id="22586" name="Group 41"/>
            <p:cNvGrpSpPr>
              <a:grpSpLocks/>
            </p:cNvGrpSpPr>
            <p:nvPr/>
          </p:nvGrpSpPr>
          <p:grpSpPr bwMode="auto">
            <a:xfrm>
              <a:off x="2063" y="1570"/>
              <a:ext cx="891" cy="998"/>
              <a:chOff x="2063" y="1570"/>
              <a:chExt cx="891" cy="998"/>
            </a:xfrm>
          </p:grpSpPr>
          <p:sp>
            <p:nvSpPr>
              <p:cNvPr id="22589" name="Line 42"/>
              <p:cNvSpPr>
                <a:spLocks noChangeShapeType="1"/>
              </p:cNvSpPr>
              <p:nvPr/>
            </p:nvSpPr>
            <p:spPr bwMode="auto">
              <a:xfrm flipV="1">
                <a:off x="2513" y="1570"/>
                <a:ext cx="0" cy="998"/>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2590" name="Group 43"/>
              <p:cNvGrpSpPr>
                <a:grpSpLocks/>
              </p:cNvGrpSpPr>
              <p:nvPr/>
            </p:nvGrpSpPr>
            <p:grpSpPr bwMode="auto">
              <a:xfrm>
                <a:off x="2063" y="1573"/>
                <a:ext cx="891" cy="995"/>
                <a:chOff x="2063" y="1573"/>
                <a:chExt cx="891" cy="995"/>
              </a:xfrm>
            </p:grpSpPr>
            <p:sp>
              <p:nvSpPr>
                <p:cNvPr id="22591" name="Line 44"/>
                <p:cNvSpPr>
                  <a:spLocks noChangeShapeType="1"/>
                </p:cNvSpPr>
                <p:nvPr/>
              </p:nvSpPr>
              <p:spPr bwMode="auto">
                <a:xfrm flipH="1" flipV="1">
                  <a:off x="2082" y="1820"/>
                  <a:ext cx="862" cy="499"/>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92" name="Line 45"/>
                <p:cNvSpPr>
                  <a:spLocks noChangeShapeType="1"/>
                </p:cNvSpPr>
                <p:nvPr/>
              </p:nvSpPr>
              <p:spPr bwMode="auto">
                <a:xfrm flipH="1">
                  <a:off x="2082" y="1820"/>
                  <a:ext cx="862" cy="498"/>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93" name="Oval 46"/>
                <p:cNvSpPr>
                  <a:spLocks noChangeArrowheads="1"/>
                </p:cNvSpPr>
                <p:nvPr/>
              </p:nvSpPr>
              <p:spPr bwMode="auto">
                <a:xfrm flipV="1">
                  <a:off x="2421" y="2387"/>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sp>
              <p:nvSpPr>
                <p:cNvPr id="22594" name="Oval 47"/>
                <p:cNvSpPr>
                  <a:spLocks noChangeArrowheads="1"/>
                </p:cNvSpPr>
                <p:nvPr/>
              </p:nvSpPr>
              <p:spPr bwMode="auto">
                <a:xfrm flipV="1">
                  <a:off x="2425" y="157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sp>
              <p:nvSpPr>
                <p:cNvPr id="22595" name="Oval 48"/>
                <p:cNvSpPr>
                  <a:spLocks noChangeArrowheads="1"/>
                </p:cNvSpPr>
                <p:nvPr/>
              </p:nvSpPr>
              <p:spPr bwMode="auto">
                <a:xfrm flipV="1">
                  <a:off x="2063" y="218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sp>
              <p:nvSpPr>
                <p:cNvPr id="22596" name="Oval 49"/>
                <p:cNvSpPr>
                  <a:spLocks noChangeArrowheads="1"/>
                </p:cNvSpPr>
                <p:nvPr/>
              </p:nvSpPr>
              <p:spPr bwMode="auto">
                <a:xfrm flipV="1">
                  <a:off x="2769" y="1777"/>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sp>
              <p:nvSpPr>
                <p:cNvPr id="22597" name="Oval 50"/>
                <p:cNvSpPr>
                  <a:spLocks noChangeArrowheads="1"/>
                </p:cNvSpPr>
                <p:nvPr/>
              </p:nvSpPr>
              <p:spPr bwMode="auto">
                <a:xfrm flipV="1">
                  <a:off x="2065" y="1791"/>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sp>
              <p:nvSpPr>
                <p:cNvPr id="22598" name="Oval 51"/>
                <p:cNvSpPr>
                  <a:spLocks noChangeArrowheads="1"/>
                </p:cNvSpPr>
                <p:nvPr/>
              </p:nvSpPr>
              <p:spPr bwMode="auto">
                <a:xfrm flipV="1">
                  <a:off x="2773" y="219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grpSp>
        </p:grpSp>
        <p:sp>
          <p:nvSpPr>
            <p:cNvPr id="22587" name="Oval 52"/>
            <p:cNvSpPr>
              <a:spLocks noChangeArrowheads="1"/>
            </p:cNvSpPr>
            <p:nvPr/>
          </p:nvSpPr>
          <p:spPr bwMode="auto">
            <a:xfrm flipV="1">
              <a:off x="2490" y="1635"/>
              <a:ext cx="45" cy="45"/>
            </a:xfrm>
            <a:prstGeom prst="ellipse">
              <a:avLst/>
            </a:prstGeom>
            <a:solidFill>
              <a:schemeClr val="tx2"/>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2000">
                <a:latin typeface="Arial" panose="020B0604020202020204" pitchFamily="34" charset="0"/>
              </a:endParaRPr>
            </a:p>
          </p:txBody>
        </p:sp>
        <p:sp>
          <p:nvSpPr>
            <p:cNvPr id="22588" name="Text Box 53"/>
            <p:cNvSpPr txBox="1">
              <a:spLocks noChangeArrowheads="1"/>
            </p:cNvSpPr>
            <p:nvPr/>
          </p:nvSpPr>
          <p:spPr bwMode="auto">
            <a:xfrm flipV="1">
              <a:off x="2412" y="2386"/>
              <a:ext cx="22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latin typeface="Arial" panose="020B0604020202020204" pitchFamily="34" charset="0"/>
                </a:rPr>
                <a:t>X</a:t>
              </a:r>
              <a:endParaRPr lang="en-US" altLang="fr-FR" sz="2000">
                <a:latin typeface="Arial" panose="020B0604020202020204" pitchFamily="34" charset="0"/>
              </a:endParaRPr>
            </a:p>
          </p:txBody>
        </p:sp>
      </p:grpSp>
      <p:sp>
        <p:nvSpPr>
          <p:cNvPr id="277558" name="Line 54"/>
          <p:cNvSpPr>
            <a:spLocks noChangeShapeType="1"/>
          </p:cNvSpPr>
          <p:nvPr/>
        </p:nvSpPr>
        <p:spPr bwMode="auto">
          <a:xfrm>
            <a:off x="2722563" y="2636838"/>
            <a:ext cx="215900"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77559" name="Line 55"/>
          <p:cNvSpPr>
            <a:spLocks noChangeShapeType="1"/>
          </p:cNvSpPr>
          <p:nvPr/>
        </p:nvSpPr>
        <p:spPr bwMode="auto">
          <a:xfrm>
            <a:off x="2435225" y="3355975"/>
            <a:ext cx="215900"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77560" name="Line 56"/>
          <p:cNvSpPr>
            <a:spLocks noChangeShapeType="1"/>
          </p:cNvSpPr>
          <p:nvPr/>
        </p:nvSpPr>
        <p:spPr bwMode="auto">
          <a:xfrm flipH="1">
            <a:off x="2219325" y="3716338"/>
            <a:ext cx="503238"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61" name="Line 57"/>
          <p:cNvSpPr>
            <a:spLocks noChangeShapeType="1"/>
          </p:cNvSpPr>
          <p:nvPr/>
        </p:nvSpPr>
        <p:spPr bwMode="auto">
          <a:xfrm>
            <a:off x="4740275" y="2852738"/>
            <a:ext cx="503238"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nvGrpSpPr>
          <p:cNvPr id="22562" name="Group 58"/>
          <p:cNvGrpSpPr>
            <a:grpSpLocks/>
          </p:cNvGrpSpPr>
          <p:nvPr/>
        </p:nvGrpSpPr>
        <p:grpSpPr bwMode="auto">
          <a:xfrm>
            <a:off x="3875088" y="2420938"/>
            <a:ext cx="1638300" cy="2271712"/>
            <a:chOff x="1292" y="1389"/>
            <a:chExt cx="1032" cy="1431"/>
          </a:xfrm>
        </p:grpSpPr>
        <p:sp>
          <p:nvSpPr>
            <p:cNvPr id="22582" name="Text Box 59"/>
            <p:cNvSpPr txBox="1">
              <a:spLocks noChangeArrowheads="1"/>
            </p:cNvSpPr>
            <p:nvPr/>
          </p:nvSpPr>
          <p:spPr bwMode="auto">
            <a:xfrm>
              <a:off x="2109" y="1389"/>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solidFill>
                    <a:srgbClr val="0066FF"/>
                  </a:solidFill>
                  <a:latin typeface="Arial" panose="020B0604020202020204" pitchFamily="34" charset="0"/>
                </a:rPr>
                <a:t>F</a:t>
              </a:r>
              <a:endParaRPr lang="en-US" altLang="fr-FR" sz="2000">
                <a:solidFill>
                  <a:srgbClr val="0066FF"/>
                </a:solidFill>
                <a:latin typeface="Arial" panose="020B0604020202020204" pitchFamily="34" charset="0"/>
              </a:endParaRPr>
            </a:p>
          </p:txBody>
        </p:sp>
        <p:sp>
          <p:nvSpPr>
            <p:cNvPr id="22583" name="Line 60"/>
            <p:cNvSpPr>
              <a:spLocks noChangeShapeType="1"/>
            </p:cNvSpPr>
            <p:nvPr/>
          </p:nvSpPr>
          <p:spPr bwMode="auto">
            <a:xfrm>
              <a:off x="2154" y="1434"/>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84" name="Text Box 61"/>
            <p:cNvSpPr txBox="1">
              <a:spLocks noChangeArrowheads="1"/>
            </p:cNvSpPr>
            <p:nvPr/>
          </p:nvSpPr>
          <p:spPr bwMode="auto">
            <a:xfrm>
              <a:off x="1292" y="2568"/>
              <a:ext cx="21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solidFill>
                    <a:srgbClr val="0066FF"/>
                  </a:solidFill>
                  <a:latin typeface="Arial" panose="020B0604020202020204" pitchFamily="34" charset="0"/>
                </a:rPr>
                <a:t>F</a:t>
              </a:r>
              <a:endParaRPr lang="en-US" altLang="fr-FR" sz="2000">
                <a:solidFill>
                  <a:srgbClr val="0066FF"/>
                </a:solidFill>
                <a:latin typeface="Arial" panose="020B0604020202020204" pitchFamily="34" charset="0"/>
              </a:endParaRPr>
            </a:p>
          </p:txBody>
        </p:sp>
        <p:sp>
          <p:nvSpPr>
            <p:cNvPr id="22585" name="Line 62"/>
            <p:cNvSpPr>
              <a:spLocks noChangeShapeType="1"/>
            </p:cNvSpPr>
            <p:nvPr/>
          </p:nvSpPr>
          <p:spPr bwMode="auto">
            <a:xfrm>
              <a:off x="1337" y="2613"/>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22563" name="Line 63"/>
          <p:cNvSpPr>
            <a:spLocks noChangeShapeType="1"/>
          </p:cNvSpPr>
          <p:nvPr/>
        </p:nvSpPr>
        <p:spPr bwMode="auto">
          <a:xfrm flipH="1">
            <a:off x="3948113" y="4149725"/>
            <a:ext cx="503237"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77568" name="Line 64"/>
          <p:cNvSpPr>
            <a:spLocks noChangeShapeType="1"/>
          </p:cNvSpPr>
          <p:nvPr/>
        </p:nvSpPr>
        <p:spPr bwMode="auto">
          <a:xfrm>
            <a:off x="2651125" y="2492375"/>
            <a:ext cx="503238"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77569" name="Text Box 65"/>
          <p:cNvSpPr txBox="1">
            <a:spLocks noChangeArrowheads="1"/>
          </p:cNvSpPr>
          <p:nvPr/>
        </p:nvSpPr>
        <p:spPr bwMode="auto">
          <a:xfrm>
            <a:off x="2651125" y="2565400"/>
            <a:ext cx="342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solidFill>
                  <a:srgbClr val="0066FF"/>
                </a:solidFill>
                <a:latin typeface="Arial" panose="020B0604020202020204" pitchFamily="34" charset="0"/>
              </a:rPr>
              <a:t>F</a:t>
            </a:r>
            <a:endParaRPr lang="en-US" altLang="fr-FR" sz="2000">
              <a:solidFill>
                <a:srgbClr val="0066FF"/>
              </a:solidFill>
              <a:latin typeface="Arial" panose="020B0604020202020204" pitchFamily="34" charset="0"/>
            </a:endParaRPr>
          </a:p>
        </p:txBody>
      </p:sp>
      <p:sp>
        <p:nvSpPr>
          <p:cNvPr id="277570" name="Text Box 66"/>
          <p:cNvSpPr txBox="1">
            <a:spLocks noChangeArrowheads="1"/>
          </p:cNvSpPr>
          <p:nvPr/>
        </p:nvSpPr>
        <p:spPr bwMode="auto">
          <a:xfrm>
            <a:off x="2363788" y="3284538"/>
            <a:ext cx="342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solidFill>
                  <a:srgbClr val="0066FF"/>
                </a:solidFill>
                <a:latin typeface="Arial" panose="020B0604020202020204" pitchFamily="34" charset="0"/>
              </a:rPr>
              <a:t>F</a:t>
            </a:r>
            <a:endParaRPr lang="en-US" altLang="fr-FR" sz="2000">
              <a:solidFill>
                <a:srgbClr val="0066FF"/>
              </a:solidFill>
              <a:latin typeface="Arial" panose="020B0604020202020204" pitchFamily="34" charset="0"/>
            </a:endParaRPr>
          </a:p>
        </p:txBody>
      </p:sp>
      <p:sp>
        <p:nvSpPr>
          <p:cNvPr id="277571" name="Line 67"/>
          <p:cNvSpPr>
            <a:spLocks noChangeShapeType="1"/>
          </p:cNvSpPr>
          <p:nvPr/>
        </p:nvSpPr>
        <p:spPr bwMode="auto">
          <a:xfrm flipV="1">
            <a:off x="2147888" y="3495675"/>
            <a:ext cx="1081087" cy="503238"/>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2568" name="Rectangle 68"/>
          <p:cNvSpPr>
            <a:spLocks noChangeArrowheads="1"/>
          </p:cNvSpPr>
          <p:nvPr/>
        </p:nvSpPr>
        <p:spPr bwMode="auto">
          <a:xfrm>
            <a:off x="4524375" y="836613"/>
            <a:ext cx="2147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latin typeface="Arial" panose="020B0604020202020204" pitchFamily="34" charset="0"/>
              </a:rPr>
              <a:t>Stator / Inducteur</a:t>
            </a:r>
            <a:endParaRPr lang="en-US" altLang="fr-FR" sz="2000">
              <a:latin typeface="Arial" panose="020B0604020202020204" pitchFamily="34" charset="0"/>
            </a:endParaRPr>
          </a:p>
        </p:txBody>
      </p:sp>
      <p:sp>
        <p:nvSpPr>
          <p:cNvPr id="22569" name="Text Box 69"/>
          <p:cNvSpPr txBox="1">
            <a:spLocks noChangeArrowheads="1"/>
          </p:cNvSpPr>
          <p:nvPr/>
        </p:nvSpPr>
        <p:spPr bwMode="auto">
          <a:xfrm>
            <a:off x="923925" y="1557338"/>
            <a:ext cx="1800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latin typeface="Arial" panose="020B0604020202020204" pitchFamily="34" charset="0"/>
              </a:rPr>
              <a:t>Rotor / Induit</a:t>
            </a:r>
            <a:endParaRPr lang="en-US" altLang="fr-FR" sz="2000">
              <a:latin typeface="Arial" panose="020B0604020202020204" pitchFamily="34" charset="0"/>
            </a:endParaRPr>
          </a:p>
        </p:txBody>
      </p:sp>
      <p:grpSp>
        <p:nvGrpSpPr>
          <p:cNvPr id="22570" name="Group 70"/>
          <p:cNvGrpSpPr>
            <a:grpSpLocks/>
          </p:cNvGrpSpPr>
          <p:nvPr/>
        </p:nvGrpSpPr>
        <p:grpSpPr bwMode="auto">
          <a:xfrm>
            <a:off x="923925" y="620713"/>
            <a:ext cx="2236788" cy="903287"/>
            <a:chOff x="249" y="119"/>
            <a:chExt cx="1409" cy="569"/>
          </a:xfrm>
        </p:grpSpPr>
        <p:sp>
          <p:nvSpPr>
            <p:cNvPr id="22574" name="Text Box 71"/>
            <p:cNvSpPr txBox="1">
              <a:spLocks noChangeArrowheads="1"/>
            </p:cNvSpPr>
            <p:nvPr/>
          </p:nvSpPr>
          <p:spPr bwMode="auto">
            <a:xfrm>
              <a:off x="930" y="391"/>
              <a:ext cx="23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solidFill>
                    <a:srgbClr val="FF0000"/>
                  </a:solidFill>
                  <a:latin typeface="Arial" panose="020B0604020202020204" pitchFamily="34" charset="0"/>
                </a:rPr>
                <a:t>B</a:t>
              </a:r>
              <a:endParaRPr lang="en-US" altLang="fr-FR" sz="2000">
                <a:solidFill>
                  <a:srgbClr val="FF0000"/>
                </a:solidFill>
                <a:latin typeface="Arial" panose="020B0604020202020204" pitchFamily="34" charset="0"/>
              </a:endParaRPr>
            </a:p>
          </p:txBody>
        </p:sp>
        <p:sp>
          <p:nvSpPr>
            <p:cNvPr id="22575" name="Line 72"/>
            <p:cNvSpPr>
              <a:spLocks noChangeShapeType="1"/>
            </p:cNvSpPr>
            <p:nvPr/>
          </p:nvSpPr>
          <p:spPr bwMode="auto">
            <a:xfrm>
              <a:off x="975" y="391"/>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76" name="Text Box 73"/>
            <p:cNvSpPr txBox="1">
              <a:spLocks noChangeArrowheads="1"/>
            </p:cNvSpPr>
            <p:nvPr/>
          </p:nvSpPr>
          <p:spPr bwMode="auto">
            <a:xfrm>
              <a:off x="249" y="391"/>
              <a:ext cx="26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solidFill>
                    <a:srgbClr val="0066FF"/>
                  </a:solidFill>
                  <a:latin typeface="Arial" panose="020B0604020202020204" pitchFamily="34" charset="0"/>
                </a:rPr>
                <a:t>F </a:t>
              </a:r>
              <a:endParaRPr lang="en-US" altLang="fr-FR" sz="2000">
                <a:solidFill>
                  <a:srgbClr val="0066FF"/>
                </a:solidFill>
                <a:latin typeface="Arial" panose="020B0604020202020204" pitchFamily="34" charset="0"/>
              </a:endParaRPr>
            </a:p>
          </p:txBody>
        </p:sp>
        <p:sp>
          <p:nvSpPr>
            <p:cNvPr id="22577" name="Line 74"/>
            <p:cNvSpPr>
              <a:spLocks noChangeShapeType="1"/>
            </p:cNvSpPr>
            <p:nvPr/>
          </p:nvSpPr>
          <p:spPr bwMode="auto">
            <a:xfrm>
              <a:off x="295" y="391"/>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78" name="Text Box 75"/>
            <p:cNvSpPr txBox="1">
              <a:spLocks noChangeArrowheads="1"/>
            </p:cNvSpPr>
            <p:nvPr/>
          </p:nvSpPr>
          <p:spPr bwMode="auto">
            <a:xfrm>
              <a:off x="431" y="391"/>
              <a:ext cx="46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latin typeface="Arial" panose="020B0604020202020204" pitchFamily="34" charset="0"/>
                </a:rPr>
                <a:t>= i dl</a:t>
              </a:r>
              <a:endParaRPr lang="en-US" altLang="fr-FR" sz="2000">
                <a:latin typeface="Arial" panose="020B0604020202020204" pitchFamily="34" charset="0"/>
              </a:endParaRPr>
            </a:p>
          </p:txBody>
        </p:sp>
        <p:sp>
          <p:nvSpPr>
            <p:cNvPr id="22579" name="Line 76"/>
            <p:cNvSpPr>
              <a:spLocks noChangeShapeType="1"/>
            </p:cNvSpPr>
            <p:nvPr/>
          </p:nvSpPr>
          <p:spPr bwMode="auto">
            <a:xfrm>
              <a:off x="703" y="391"/>
              <a:ext cx="1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2580" name="Text Box 77"/>
            <p:cNvSpPr txBox="1">
              <a:spLocks noChangeArrowheads="1"/>
            </p:cNvSpPr>
            <p:nvPr/>
          </p:nvSpPr>
          <p:spPr bwMode="auto">
            <a:xfrm>
              <a:off x="793" y="436"/>
              <a:ext cx="19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latin typeface="Arial" panose="020B0604020202020204" pitchFamily="34" charset="0"/>
                </a:rPr>
                <a:t>^</a:t>
              </a:r>
              <a:endParaRPr lang="en-US" altLang="fr-FR" sz="2000">
                <a:latin typeface="Arial" panose="020B0604020202020204" pitchFamily="34" charset="0"/>
              </a:endParaRPr>
            </a:p>
          </p:txBody>
        </p:sp>
        <p:sp>
          <p:nvSpPr>
            <p:cNvPr id="22581" name="Text Box 78"/>
            <p:cNvSpPr txBox="1">
              <a:spLocks noChangeArrowheads="1"/>
            </p:cNvSpPr>
            <p:nvPr/>
          </p:nvSpPr>
          <p:spPr bwMode="auto">
            <a:xfrm>
              <a:off x="249" y="119"/>
              <a:ext cx="14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2000">
                  <a:latin typeface="Arial" panose="020B0604020202020204" pitchFamily="34" charset="0"/>
                </a:rPr>
                <a:t>Force de Laplace</a:t>
              </a:r>
              <a:r>
                <a:rPr lang="fr-CH" altLang="fr-FR" sz="2000">
                  <a:solidFill>
                    <a:srgbClr val="0066FF"/>
                  </a:solidFill>
                  <a:latin typeface="Arial" panose="020B0604020202020204" pitchFamily="34" charset="0"/>
                </a:rPr>
                <a:t> </a:t>
              </a:r>
              <a:endParaRPr lang="en-US" altLang="fr-FR" sz="2000">
                <a:solidFill>
                  <a:srgbClr val="0066FF"/>
                </a:solidFill>
                <a:latin typeface="Arial" panose="020B0604020202020204" pitchFamily="34" charset="0"/>
              </a:endParaRPr>
            </a:p>
          </p:txBody>
        </p:sp>
      </p:grpSp>
      <p:sp>
        <p:nvSpPr>
          <p:cNvPr id="22571" name="Rectangle 10"/>
          <p:cNvSpPr>
            <a:spLocks noChangeArrowheads="1"/>
          </p:cNvSpPr>
          <p:nvPr/>
        </p:nvSpPr>
        <p:spPr bwMode="auto">
          <a:xfrm>
            <a:off x="182563" y="146050"/>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0" name="Espace réservé du pied de page 1"/>
          <p:cNvSpPr>
            <a:spLocks noGrp="1"/>
          </p:cNvSpPr>
          <p:nvPr>
            <p:ph type="ftr" sz="quarter" idx="11"/>
          </p:nvPr>
        </p:nvSpPr>
        <p:spPr/>
        <p:txBody>
          <a:bodyPr/>
          <a:lstStyle/>
          <a:p>
            <a:pPr>
              <a:defRPr/>
            </a:pPr>
            <a:r>
              <a:rPr lang="fr-FR" dirty="0" smtClean="0"/>
              <a:t>Commande des machines   3.MCC     Ali NEJMI</a:t>
            </a:r>
            <a:endParaRPr lang="en-US" dirty="0"/>
          </a:p>
        </p:txBody>
      </p:sp>
      <p:sp>
        <p:nvSpPr>
          <p:cNvPr id="22573" name="Rectangle 80"/>
          <p:cNvSpPr>
            <a:spLocks noChangeArrowheads="1"/>
          </p:cNvSpPr>
          <p:nvPr/>
        </p:nvSpPr>
        <p:spPr bwMode="auto">
          <a:xfrm>
            <a:off x="236538" y="211138"/>
            <a:ext cx="2622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Production du couple </a:t>
            </a:r>
          </a:p>
        </p:txBody>
      </p:sp>
    </p:spTree>
  </p:cSld>
  <p:clrMapOvr>
    <a:masterClrMapping/>
  </p:clrMapOvr>
  <p:transition advClick="0" advTm="100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xit" presetSubtype="0" fill="hold" grpId="0" nodeType="withEffect">
                                  <p:stCondLst>
                                    <p:cond delay="0"/>
                                  </p:stCondLst>
                                  <p:childTnLst>
                                    <p:animEffect transition="out" filter="dissolve">
                                      <p:cBhvr>
                                        <p:cTn id="6" dur="500"/>
                                        <p:tgtEl>
                                          <p:spTgt spid="277521"/>
                                        </p:tgtEl>
                                      </p:cBhvr>
                                    </p:animEffect>
                                    <p:set>
                                      <p:cBhvr>
                                        <p:cTn id="7" dur="1" fill="hold">
                                          <p:stCondLst>
                                            <p:cond delay="499"/>
                                          </p:stCondLst>
                                        </p:cTn>
                                        <p:tgtEl>
                                          <p:spTgt spid="277521"/>
                                        </p:tgtEl>
                                        <p:attrNameLst>
                                          <p:attrName>style.visibility</p:attrName>
                                        </p:attrNameLst>
                                      </p:cBhvr>
                                      <p:to>
                                        <p:strVal val="hidden"/>
                                      </p:to>
                                    </p:set>
                                  </p:childTnLst>
                                </p:cTn>
                              </p:par>
                              <p:par>
                                <p:cTn id="8" presetID="9" presetClass="exit" presetSubtype="0" fill="hold" grpId="0" nodeType="withEffect">
                                  <p:stCondLst>
                                    <p:cond delay="0"/>
                                  </p:stCondLst>
                                  <p:childTnLst>
                                    <p:animEffect transition="out" filter="dissolve">
                                      <p:cBhvr>
                                        <p:cTn id="9" dur="500"/>
                                        <p:tgtEl>
                                          <p:spTgt spid="277518"/>
                                        </p:tgtEl>
                                      </p:cBhvr>
                                    </p:animEffect>
                                    <p:set>
                                      <p:cBhvr>
                                        <p:cTn id="10" dur="1" fill="hold">
                                          <p:stCondLst>
                                            <p:cond delay="499"/>
                                          </p:stCondLst>
                                        </p:cTn>
                                        <p:tgtEl>
                                          <p:spTgt spid="277518"/>
                                        </p:tgtEl>
                                        <p:attrNameLst>
                                          <p:attrName>style.visibility</p:attrName>
                                        </p:attrNameLst>
                                      </p:cBhvr>
                                      <p:to>
                                        <p:strVal val="hidden"/>
                                      </p:to>
                                    </p:set>
                                  </p:childTnLst>
                                </p:cTn>
                              </p:par>
                              <p:par>
                                <p:cTn id="11" presetID="9" presetClass="exit" presetSubtype="0" fill="hold" grpId="0" nodeType="withEffect">
                                  <p:stCondLst>
                                    <p:cond delay="0"/>
                                  </p:stCondLst>
                                  <p:childTnLst>
                                    <p:animEffect transition="out" filter="dissolve">
                                      <p:cBhvr>
                                        <p:cTn id="12" dur="500"/>
                                        <p:tgtEl>
                                          <p:spTgt spid="277526"/>
                                        </p:tgtEl>
                                      </p:cBhvr>
                                    </p:animEffect>
                                    <p:set>
                                      <p:cBhvr>
                                        <p:cTn id="13" dur="1" fill="hold">
                                          <p:stCondLst>
                                            <p:cond delay="499"/>
                                          </p:stCondLst>
                                        </p:cTn>
                                        <p:tgtEl>
                                          <p:spTgt spid="277526"/>
                                        </p:tgtEl>
                                        <p:attrNameLst>
                                          <p:attrName>style.visibility</p:attrName>
                                        </p:attrNameLst>
                                      </p:cBhvr>
                                      <p:to>
                                        <p:strVal val="hidden"/>
                                      </p:to>
                                    </p:set>
                                  </p:childTnLst>
                                </p:cTn>
                              </p:par>
                              <p:par>
                                <p:cTn id="14" presetID="9" presetClass="exit" presetSubtype="0" fill="hold" grpId="0" nodeType="withEffect">
                                  <p:stCondLst>
                                    <p:cond delay="0"/>
                                  </p:stCondLst>
                                  <p:childTnLst>
                                    <p:animEffect transition="out" filter="dissolve">
                                      <p:cBhvr>
                                        <p:cTn id="15" dur="500"/>
                                        <p:tgtEl>
                                          <p:spTgt spid="277527"/>
                                        </p:tgtEl>
                                      </p:cBhvr>
                                    </p:animEffect>
                                    <p:set>
                                      <p:cBhvr>
                                        <p:cTn id="16" dur="1" fill="hold">
                                          <p:stCondLst>
                                            <p:cond delay="499"/>
                                          </p:stCondLst>
                                        </p:cTn>
                                        <p:tgtEl>
                                          <p:spTgt spid="277527"/>
                                        </p:tgtEl>
                                        <p:attrNameLst>
                                          <p:attrName>style.visibility</p:attrName>
                                        </p:attrNameLst>
                                      </p:cBhvr>
                                      <p:to>
                                        <p:strVal val="hidden"/>
                                      </p:to>
                                    </p:set>
                                  </p:childTnLst>
                                </p:cTn>
                              </p:par>
                              <p:par>
                                <p:cTn id="17" presetID="9" presetClass="exit" presetSubtype="0" fill="hold" grpId="0" nodeType="withEffect">
                                  <p:stCondLst>
                                    <p:cond delay="0"/>
                                  </p:stCondLst>
                                  <p:childTnLst>
                                    <p:animEffect transition="out" filter="dissolve">
                                      <p:cBhvr>
                                        <p:cTn id="18" dur="500"/>
                                        <p:tgtEl>
                                          <p:spTgt spid="277571"/>
                                        </p:tgtEl>
                                      </p:cBhvr>
                                    </p:animEffect>
                                    <p:set>
                                      <p:cBhvr>
                                        <p:cTn id="19" dur="1" fill="hold">
                                          <p:stCondLst>
                                            <p:cond delay="499"/>
                                          </p:stCondLst>
                                        </p:cTn>
                                        <p:tgtEl>
                                          <p:spTgt spid="277571"/>
                                        </p:tgtEl>
                                        <p:attrNameLst>
                                          <p:attrName>style.visibility</p:attrName>
                                        </p:attrNameLst>
                                      </p:cBhvr>
                                      <p:to>
                                        <p:strVal val="hidden"/>
                                      </p:to>
                                    </p:set>
                                  </p:childTnLst>
                                </p:cTn>
                              </p:par>
                              <p:par>
                                <p:cTn id="20" presetID="9" presetClass="exit" presetSubtype="0" fill="hold" grpId="0" nodeType="withEffect">
                                  <p:stCondLst>
                                    <p:cond delay="0"/>
                                  </p:stCondLst>
                                  <p:childTnLst>
                                    <p:animEffect transition="out" filter="dissolve">
                                      <p:cBhvr>
                                        <p:cTn id="21" dur="500"/>
                                        <p:tgtEl>
                                          <p:spTgt spid="277520"/>
                                        </p:tgtEl>
                                      </p:cBhvr>
                                    </p:animEffect>
                                    <p:set>
                                      <p:cBhvr>
                                        <p:cTn id="22" dur="1" fill="hold">
                                          <p:stCondLst>
                                            <p:cond delay="499"/>
                                          </p:stCondLst>
                                        </p:cTn>
                                        <p:tgtEl>
                                          <p:spTgt spid="277520"/>
                                        </p:tgtEl>
                                        <p:attrNameLst>
                                          <p:attrName>style.visibility</p:attrName>
                                        </p:attrNameLst>
                                      </p:cBhvr>
                                      <p:to>
                                        <p:strVal val="hidden"/>
                                      </p:to>
                                    </p:set>
                                  </p:childTnLst>
                                </p:cTn>
                              </p:par>
                              <p:par>
                                <p:cTn id="23" presetID="9" presetClass="exit" presetSubtype="0" fill="hold" grpId="0" nodeType="withEffect">
                                  <p:stCondLst>
                                    <p:cond delay="0"/>
                                  </p:stCondLst>
                                  <p:childTnLst>
                                    <p:animEffect transition="out" filter="dissolve">
                                      <p:cBhvr>
                                        <p:cTn id="24" dur="500"/>
                                        <p:tgtEl>
                                          <p:spTgt spid="277519"/>
                                        </p:tgtEl>
                                      </p:cBhvr>
                                    </p:animEffect>
                                    <p:set>
                                      <p:cBhvr>
                                        <p:cTn id="25" dur="1" fill="hold">
                                          <p:stCondLst>
                                            <p:cond delay="499"/>
                                          </p:stCondLst>
                                        </p:cTn>
                                        <p:tgtEl>
                                          <p:spTgt spid="277519"/>
                                        </p:tgtEl>
                                        <p:attrNameLst>
                                          <p:attrName>style.visibility</p:attrName>
                                        </p:attrNameLst>
                                      </p:cBhvr>
                                      <p:to>
                                        <p:strVal val="hidden"/>
                                      </p:to>
                                    </p:set>
                                  </p:childTnLst>
                                </p:cTn>
                              </p:par>
                              <p:par>
                                <p:cTn id="26" presetID="9" presetClass="exit" presetSubtype="0" fill="hold" grpId="0" nodeType="withEffect">
                                  <p:stCondLst>
                                    <p:cond delay="0"/>
                                  </p:stCondLst>
                                  <p:childTnLst>
                                    <p:animEffect transition="out" filter="dissolve">
                                      <p:cBhvr>
                                        <p:cTn id="27" dur="500"/>
                                        <p:tgtEl>
                                          <p:spTgt spid="277538"/>
                                        </p:tgtEl>
                                      </p:cBhvr>
                                    </p:animEffect>
                                    <p:set>
                                      <p:cBhvr>
                                        <p:cTn id="28" dur="1" fill="hold">
                                          <p:stCondLst>
                                            <p:cond delay="499"/>
                                          </p:stCondLst>
                                        </p:cTn>
                                        <p:tgtEl>
                                          <p:spTgt spid="277538"/>
                                        </p:tgtEl>
                                        <p:attrNameLst>
                                          <p:attrName>style.visibility</p:attrName>
                                        </p:attrNameLst>
                                      </p:cBhvr>
                                      <p:to>
                                        <p:strVal val="hidden"/>
                                      </p:to>
                                    </p:set>
                                  </p:childTnLst>
                                </p:cTn>
                              </p:par>
                              <p:par>
                                <p:cTn id="29" presetID="9" presetClass="exit" presetSubtype="0" fill="hold" grpId="0" nodeType="withEffect">
                                  <p:stCondLst>
                                    <p:cond delay="0"/>
                                  </p:stCondLst>
                                  <p:childTnLst>
                                    <p:animEffect transition="out" filter="dissolve">
                                      <p:cBhvr>
                                        <p:cTn id="30" dur="500"/>
                                        <p:tgtEl>
                                          <p:spTgt spid="277540"/>
                                        </p:tgtEl>
                                      </p:cBhvr>
                                    </p:animEffect>
                                    <p:set>
                                      <p:cBhvr>
                                        <p:cTn id="31" dur="1" fill="hold">
                                          <p:stCondLst>
                                            <p:cond delay="499"/>
                                          </p:stCondLst>
                                        </p:cTn>
                                        <p:tgtEl>
                                          <p:spTgt spid="277540"/>
                                        </p:tgtEl>
                                        <p:attrNameLst>
                                          <p:attrName>style.visibility</p:attrName>
                                        </p:attrNameLst>
                                      </p:cBhvr>
                                      <p:to>
                                        <p:strVal val="hidden"/>
                                      </p:to>
                                    </p:set>
                                  </p:childTnLst>
                                </p:cTn>
                              </p:par>
                              <p:par>
                                <p:cTn id="32" presetID="9" presetClass="exit" presetSubtype="0" fill="hold" grpId="0" nodeType="withEffect">
                                  <p:stCondLst>
                                    <p:cond delay="0"/>
                                  </p:stCondLst>
                                  <p:childTnLst>
                                    <p:animEffect transition="out" filter="dissolve">
                                      <p:cBhvr>
                                        <p:cTn id="33" dur="500"/>
                                        <p:tgtEl>
                                          <p:spTgt spid="277541"/>
                                        </p:tgtEl>
                                      </p:cBhvr>
                                    </p:animEffect>
                                    <p:set>
                                      <p:cBhvr>
                                        <p:cTn id="34" dur="1" fill="hold">
                                          <p:stCondLst>
                                            <p:cond delay="499"/>
                                          </p:stCondLst>
                                        </p:cTn>
                                        <p:tgtEl>
                                          <p:spTgt spid="277541"/>
                                        </p:tgtEl>
                                        <p:attrNameLst>
                                          <p:attrName>style.visibility</p:attrName>
                                        </p:attrNameLst>
                                      </p:cBhvr>
                                      <p:to>
                                        <p:strVal val="hidden"/>
                                      </p:to>
                                    </p:set>
                                  </p:childTnLst>
                                </p:cTn>
                              </p:par>
                              <p:par>
                                <p:cTn id="35" presetID="9" presetClass="exit" presetSubtype="0" fill="hold" grpId="0" nodeType="withEffect">
                                  <p:stCondLst>
                                    <p:cond delay="0"/>
                                  </p:stCondLst>
                                  <p:childTnLst>
                                    <p:animEffect transition="out" filter="dissolve">
                                      <p:cBhvr>
                                        <p:cTn id="36" dur="500"/>
                                        <p:tgtEl>
                                          <p:spTgt spid="277539"/>
                                        </p:tgtEl>
                                      </p:cBhvr>
                                    </p:animEffect>
                                    <p:set>
                                      <p:cBhvr>
                                        <p:cTn id="37" dur="1" fill="hold">
                                          <p:stCondLst>
                                            <p:cond delay="499"/>
                                          </p:stCondLst>
                                        </p:cTn>
                                        <p:tgtEl>
                                          <p:spTgt spid="277539"/>
                                        </p:tgtEl>
                                        <p:attrNameLst>
                                          <p:attrName>style.visibility</p:attrName>
                                        </p:attrNameLst>
                                      </p:cBhvr>
                                      <p:to>
                                        <p:strVal val="hidden"/>
                                      </p:to>
                                    </p:set>
                                  </p:childTnLst>
                                </p:cTn>
                              </p:par>
                              <p:par>
                                <p:cTn id="38" presetID="9" presetClass="exit" presetSubtype="0" fill="hold" grpId="0" nodeType="withEffect">
                                  <p:stCondLst>
                                    <p:cond delay="0"/>
                                  </p:stCondLst>
                                  <p:childTnLst>
                                    <p:animEffect transition="out" filter="dissolve">
                                      <p:cBhvr>
                                        <p:cTn id="39" dur="500"/>
                                        <p:tgtEl>
                                          <p:spTgt spid="277542"/>
                                        </p:tgtEl>
                                      </p:cBhvr>
                                    </p:animEffect>
                                    <p:set>
                                      <p:cBhvr>
                                        <p:cTn id="40" dur="1" fill="hold">
                                          <p:stCondLst>
                                            <p:cond delay="499"/>
                                          </p:stCondLst>
                                        </p:cTn>
                                        <p:tgtEl>
                                          <p:spTgt spid="277542"/>
                                        </p:tgtEl>
                                        <p:attrNameLst>
                                          <p:attrName>style.visibility</p:attrName>
                                        </p:attrNameLst>
                                      </p:cBhvr>
                                      <p:to>
                                        <p:strVal val="hidden"/>
                                      </p:to>
                                    </p:set>
                                  </p:childTnLst>
                                </p:cTn>
                              </p:par>
                              <p:par>
                                <p:cTn id="41" presetID="9" presetClass="exit" presetSubtype="0" fill="hold" grpId="0" nodeType="withEffect">
                                  <p:stCondLst>
                                    <p:cond delay="0"/>
                                  </p:stCondLst>
                                  <p:childTnLst>
                                    <p:animEffect transition="out" filter="dissolve">
                                      <p:cBhvr>
                                        <p:cTn id="42" dur="500"/>
                                        <p:tgtEl>
                                          <p:spTgt spid="277543"/>
                                        </p:tgtEl>
                                      </p:cBhvr>
                                    </p:animEffect>
                                    <p:set>
                                      <p:cBhvr>
                                        <p:cTn id="43" dur="1" fill="hold">
                                          <p:stCondLst>
                                            <p:cond delay="499"/>
                                          </p:stCondLst>
                                        </p:cTn>
                                        <p:tgtEl>
                                          <p:spTgt spid="277543"/>
                                        </p:tgtEl>
                                        <p:attrNameLst>
                                          <p:attrName>style.visibility</p:attrName>
                                        </p:attrNameLst>
                                      </p:cBhvr>
                                      <p:to>
                                        <p:strVal val="hidden"/>
                                      </p:to>
                                    </p:set>
                                  </p:childTnLst>
                                </p:cTn>
                              </p:par>
                              <p:par>
                                <p:cTn id="44" presetID="9" presetClass="exit" presetSubtype="0" fill="hold" grpId="0" nodeType="withEffect">
                                  <p:stCondLst>
                                    <p:cond delay="0"/>
                                  </p:stCondLst>
                                  <p:childTnLst>
                                    <p:animEffect transition="out" filter="dissolve">
                                      <p:cBhvr>
                                        <p:cTn id="45" dur="500"/>
                                        <p:tgtEl>
                                          <p:spTgt spid="277506"/>
                                        </p:tgtEl>
                                      </p:cBhvr>
                                    </p:animEffect>
                                    <p:set>
                                      <p:cBhvr>
                                        <p:cTn id="46" dur="1" fill="hold">
                                          <p:stCondLst>
                                            <p:cond delay="499"/>
                                          </p:stCondLst>
                                        </p:cTn>
                                        <p:tgtEl>
                                          <p:spTgt spid="277506"/>
                                        </p:tgtEl>
                                        <p:attrNameLst>
                                          <p:attrName>style.visibility</p:attrName>
                                        </p:attrNameLst>
                                      </p:cBhvr>
                                      <p:to>
                                        <p:strVal val="hidden"/>
                                      </p:to>
                                    </p:set>
                                  </p:childTnLst>
                                </p:cTn>
                              </p:par>
                              <p:par>
                                <p:cTn id="47" presetID="9" presetClass="exit" presetSubtype="0" fill="hold" grpId="0" nodeType="withEffect">
                                  <p:stCondLst>
                                    <p:cond delay="0"/>
                                  </p:stCondLst>
                                  <p:childTnLst>
                                    <p:animEffect transition="out" filter="dissolve">
                                      <p:cBhvr>
                                        <p:cTn id="48" dur="500"/>
                                        <p:tgtEl>
                                          <p:spTgt spid="277568"/>
                                        </p:tgtEl>
                                      </p:cBhvr>
                                    </p:animEffect>
                                    <p:set>
                                      <p:cBhvr>
                                        <p:cTn id="49" dur="1" fill="hold">
                                          <p:stCondLst>
                                            <p:cond delay="499"/>
                                          </p:stCondLst>
                                        </p:cTn>
                                        <p:tgtEl>
                                          <p:spTgt spid="277568"/>
                                        </p:tgtEl>
                                        <p:attrNameLst>
                                          <p:attrName>style.visibility</p:attrName>
                                        </p:attrNameLst>
                                      </p:cBhvr>
                                      <p:to>
                                        <p:strVal val="hidden"/>
                                      </p:to>
                                    </p:set>
                                  </p:childTnLst>
                                </p:cTn>
                              </p:par>
                              <p:par>
                                <p:cTn id="50" presetID="9" presetClass="exit" presetSubtype="0" fill="hold" grpId="0" nodeType="withEffect">
                                  <p:stCondLst>
                                    <p:cond delay="0"/>
                                  </p:stCondLst>
                                  <p:childTnLst>
                                    <p:animEffect transition="out" filter="dissolve">
                                      <p:cBhvr>
                                        <p:cTn id="51" dur="500"/>
                                        <p:tgtEl>
                                          <p:spTgt spid="277558"/>
                                        </p:tgtEl>
                                      </p:cBhvr>
                                    </p:animEffect>
                                    <p:set>
                                      <p:cBhvr>
                                        <p:cTn id="52" dur="1" fill="hold">
                                          <p:stCondLst>
                                            <p:cond delay="499"/>
                                          </p:stCondLst>
                                        </p:cTn>
                                        <p:tgtEl>
                                          <p:spTgt spid="277558"/>
                                        </p:tgtEl>
                                        <p:attrNameLst>
                                          <p:attrName>style.visibility</p:attrName>
                                        </p:attrNameLst>
                                      </p:cBhvr>
                                      <p:to>
                                        <p:strVal val="hidden"/>
                                      </p:to>
                                    </p:set>
                                  </p:childTnLst>
                                </p:cTn>
                              </p:par>
                              <p:par>
                                <p:cTn id="53" presetID="9" presetClass="exit" presetSubtype="0" fill="hold" grpId="0" nodeType="withEffect">
                                  <p:stCondLst>
                                    <p:cond delay="0"/>
                                  </p:stCondLst>
                                  <p:childTnLst>
                                    <p:animEffect transition="out" filter="dissolve">
                                      <p:cBhvr>
                                        <p:cTn id="54" dur="500"/>
                                        <p:tgtEl>
                                          <p:spTgt spid="277569"/>
                                        </p:tgtEl>
                                      </p:cBhvr>
                                    </p:animEffect>
                                    <p:set>
                                      <p:cBhvr>
                                        <p:cTn id="55" dur="1" fill="hold">
                                          <p:stCondLst>
                                            <p:cond delay="499"/>
                                          </p:stCondLst>
                                        </p:cTn>
                                        <p:tgtEl>
                                          <p:spTgt spid="277569"/>
                                        </p:tgtEl>
                                        <p:attrNameLst>
                                          <p:attrName>style.visibility</p:attrName>
                                        </p:attrNameLst>
                                      </p:cBhvr>
                                      <p:to>
                                        <p:strVal val="hidden"/>
                                      </p:to>
                                    </p:set>
                                  </p:childTnLst>
                                </p:cTn>
                              </p:par>
                              <p:par>
                                <p:cTn id="56" presetID="9" presetClass="exit" presetSubtype="0" fill="hold" grpId="0" nodeType="withEffect">
                                  <p:stCondLst>
                                    <p:cond delay="0"/>
                                  </p:stCondLst>
                                  <p:childTnLst>
                                    <p:animEffect transition="out" filter="dissolve">
                                      <p:cBhvr>
                                        <p:cTn id="57" dur="500"/>
                                        <p:tgtEl>
                                          <p:spTgt spid="277559"/>
                                        </p:tgtEl>
                                      </p:cBhvr>
                                    </p:animEffect>
                                    <p:set>
                                      <p:cBhvr>
                                        <p:cTn id="58" dur="1" fill="hold">
                                          <p:stCondLst>
                                            <p:cond delay="499"/>
                                          </p:stCondLst>
                                        </p:cTn>
                                        <p:tgtEl>
                                          <p:spTgt spid="277559"/>
                                        </p:tgtEl>
                                        <p:attrNameLst>
                                          <p:attrName>style.visibility</p:attrName>
                                        </p:attrNameLst>
                                      </p:cBhvr>
                                      <p:to>
                                        <p:strVal val="hidden"/>
                                      </p:to>
                                    </p:set>
                                  </p:childTnLst>
                                </p:cTn>
                              </p:par>
                              <p:par>
                                <p:cTn id="59" presetID="9" presetClass="exit" presetSubtype="0" fill="hold" grpId="0" nodeType="withEffect">
                                  <p:stCondLst>
                                    <p:cond delay="0"/>
                                  </p:stCondLst>
                                  <p:childTnLst>
                                    <p:animEffect transition="out" filter="dissolve">
                                      <p:cBhvr>
                                        <p:cTn id="60" dur="500"/>
                                        <p:tgtEl>
                                          <p:spTgt spid="277570"/>
                                        </p:tgtEl>
                                      </p:cBhvr>
                                    </p:animEffect>
                                    <p:set>
                                      <p:cBhvr>
                                        <p:cTn id="61" dur="1" fill="hold">
                                          <p:stCondLst>
                                            <p:cond delay="499"/>
                                          </p:stCondLst>
                                        </p:cTn>
                                        <p:tgtEl>
                                          <p:spTgt spid="277570"/>
                                        </p:tgtEl>
                                        <p:attrNameLst>
                                          <p:attrName>style.visibility</p:attrName>
                                        </p:attrNameLst>
                                      </p:cBhvr>
                                      <p:to>
                                        <p:strVal val="hidden"/>
                                      </p:to>
                                    </p:set>
                                  </p:childTnLst>
                                </p:cTn>
                              </p:par>
                              <p:par>
                                <p:cTn id="62" presetID="9" presetClass="exit" presetSubtype="0" fill="hold" grpId="0" nodeType="withEffect">
                                  <p:stCondLst>
                                    <p:cond delay="0"/>
                                  </p:stCondLst>
                                  <p:childTnLst>
                                    <p:animEffect transition="out" filter="dissolve">
                                      <p:cBhvr>
                                        <p:cTn id="63" dur="500"/>
                                        <p:tgtEl>
                                          <p:spTgt spid="277560"/>
                                        </p:tgtEl>
                                      </p:cBhvr>
                                    </p:animEffect>
                                    <p:set>
                                      <p:cBhvr>
                                        <p:cTn id="64" dur="1" fill="hold">
                                          <p:stCondLst>
                                            <p:cond delay="499"/>
                                          </p:stCondLst>
                                        </p:cTn>
                                        <p:tgtEl>
                                          <p:spTgt spid="2775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7506" grpId="0" animBg="1"/>
      <p:bldP spid="277518" grpId="0" animBg="1"/>
      <p:bldP spid="277519" grpId="0" animBg="1"/>
      <p:bldP spid="277520" grpId="0" animBg="1"/>
      <p:bldP spid="277521" grpId="0" animBg="1"/>
      <p:bldP spid="277526" grpId="0" animBg="1"/>
      <p:bldP spid="277527" grpId="0" animBg="1"/>
      <p:bldP spid="277538" grpId="0" animBg="1"/>
      <p:bldP spid="277539" grpId="0" animBg="1"/>
      <p:bldP spid="277540" grpId="0"/>
      <p:bldP spid="277541" grpId="0" animBg="1"/>
      <p:bldP spid="277542" grpId="0"/>
      <p:bldP spid="277543" grpId="0" animBg="1"/>
      <p:bldP spid="277558" grpId="0" animBg="1"/>
      <p:bldP spid="277559" grpId="0" animBg="1"/>
      <p:bldP spid="277560" grpId="0" animBg="1"/>
      <p:bldP spid="277568" grpId="0" animBg="1"/>
      <p:bldP spid="277569" grpId="0"/>
      <p:bldP spid="277570" grpId="0"/>
      <p:bldP spid="27757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3635375" y="692150"/>
            <a:ext cx="3819525" cy="5759450"/>
          </a:xfrm>
          <a:prstGeom prst="rect">
            <a:avLst/>
          </a:prstGeom>
          <a:solidFill>
            <a:srgbClr val="C0C0C0"/>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579" name="Rectangle 3"/>
          <p:cNvSpPr>
            <a:spLocks noChangeArrowheads="1"/>
          </p:cNvSpPr>
          <p:nvPr/>
        </p:nvSpPr>
        <p:spPr bwMode="auto">
          <a:xfrm>
            <a:off x="6659563" y="1843088"/>
            <a:ext cx="796925" cy="3457575"/>
          </a:xfrm>
          <a:prstGeom prst="rect">
            <a:avLst/>
          </a:prstGeom>
          <a:gradFill rotWithShape="1">
            <a:gsLst>
              <a:gs pos="0">
                <a:srgbClr val="FF0000"/>
              </a:gs>
              <a:gs pos="100000">
                <a:srgbClr val="3333CC"/>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3200" b="1">
                <a:latin typeface="Arial" panose="020B0604020202020204" pitchFamily="34" charset="0"/>
              </a:rPr>
              <a:t>N</a:t>
            </a: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r>
              <a:rPr lang="fr-CH" altLang="fr-FR" sz="3200" b="1">
                <a:latin typeface="Arial" panose="020B0604020202020204" pitchFamily="34" charset="0"/>
              </a:rPr>
              <a:t>S</a:t>
            </a:r>
            <a:endParaRPr lang="fr-FR" altLang="fr-FR" sz="3200" b="1">
              <a:latin typeface="Arial" panose="020B0604020202020204" pitchFamily="34" charset="0"/>
            </a:endParaRPr>
          </a:p>
        </p:txBody>
      </p:sp>
      <p:sp>
        <p:nvSpPr>
          <p:cNvPr id="24580" name="Rectangle 4"/>
          <p:cNvSpPr>
            <a:spLocks noChangeArrowheads="1"/>
          </p:cNvSpPr>
          <p:nvPr/>
        </p:nvSpPr>
        <p:spPr bwMode="auto">
          <a:xfrm>
            <a:off x="4427538" y="1484313"/>
            <a:ext cx="2228850" cy="41751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581" name="Rectangle 5"/>
          <p:cNvSpPr>
            <a:spLocks noChangeArrowheads="1"/>
          </p:cNvSpPr>
          <p:nvPr/>
        </p:nvSpPr>
        <p:spPr bwMode="auto">
          <a:xfrm>
            <a:off x="3492500" y="2420938"/>
            <a:ext cx="1079500" cy="2232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582" name="Line 6"/>
          <p:cNvSpPr>
            <a:spLocks noChangeShapeType="1"/>
          </p:cNvSpPr>
          <p:nvPr/>
        </p:nvSpPr>
        <p:spPr bwMode="auto">
          <a:xfrm flipH="1">
            <a:off x="3635375" y="2420938"/>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583" name="Line 7"/>
          <p:cNvSpPr>
            <a:spLocks noChangeShapeType="1"/>
          </p:cNvSpPr>
          <p:nvPr/>
        </p:nvSpPr>
        <p:spPr bwMode="auto">
          <a:xfrm flipH="1">
            <a:off x="3635375" y="4652963"/>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584" name="Line 8"/>
          <p:cNvSpPr>
            <a:spLocks noChangeShapeType="1"/>
          </p:cNvSpPr>
          <p:nvPr/>
        </p:nvSpPr>
        <p:spPr bwMode="auto">
          <a:xfrm>
            <a:off x="250825" y="2852738"/>
            <a:ext cx="936625"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585" name="Line 9"/>
          <p:cNvSpPr>
            <a:spLocks noChangeShapeType="1"/>
          </p:cNvSpPr>
          <p:nvPr/>
        </p:nvSpPr>
        <p:spPr bwMode="auto">
          <a:xfrm>
            <a:off x="1152525" y="2833688"/>
            <a:ext cx="0" cy="36036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586" name="Line 10"/>
          <p:cNvSpPr>
            <a:spLocks noChangeShapeType="1"/>
          </p:cNvSpPr>
          <p:nvPr/>
        </p:nvSpPr>
        <p:spPr bwMode="auto">
          <a:xfrm>
            <a:off x="1152525" y="4002088"/>
            <a:ext cx="0" cy="36036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587" name="Line 11"/>
          <p:cNvSpPr>
            <a:spLocks noChangeShapeType="1"/>
          </p:cNvSpPr>
          <p:nvPr/>
        </p:nvSpPr>
        <p:spPr bwMode="auto">
          <a:xfrm>
            <a:off x="219075" y="4325938"/>
            <a:ext cx="936625"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 name="Group 12"/>
          <p:cNvGrpSpPr>
            <a:grpSpLocks/>
          </p:cNvGrpSpPr>
          <p:nvPr/>
        </p:nvGrpSpPr>
        <p:grpSpPr bwMode="auto">
          <a:xfrm>
            <a:off x="755650" y="3140075"/>
            <a:ext cx="790575" cy="874713"/>
            <a:chOff x="476" y="1842"/>
            <a:chExt cx="498" cy="551"/>
          </a:xfrm>
        </p:grpSpPr>
        <p:grpSp>
          <p:nvGrpSpPr>
            <p:cNvPr id="24632" name="Group 13"/>
            <p:cNvGrpSpPr>
              <a:grpSpLocks/>
            </p:cNvGrpSpPr>
            <p:nvPr/>
          </p:nvGrpSpPr>
          <p:grpSpPr bwMode="auto">
            <a:xfrm>
              <a:off x="476" y="1842"/>
              <a:ext cx="498" cy="551"/>
              <a:chOff x="476" y="1842"/>
              <a:chExt cx="498" cy="551"/>
            </a:xfrm>
          </p:grpSpPr>
          <p:sp>
            <p:nvSpPr>
              <p:cNvPr id="24636" name="Oval 14"/>
              <p:cNvSpPr>
                <a:spLocks noChangeArrowheads="1"/>
              </p:cNvSpPr>
              <p:nvPr/>
            </p:nvSpPr>
            <p:spPr bwMode="auto">
              <a:xfrm rot="1872782">
                <a:off x="476" y="1869"/>
                <a:ext cx="498" cy="498"/>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637" name="Line 15"/>
              <p:cNvSpPr>
                <a:spLocks noChangeShapeType="1"/>
              </p:cNvSpPr>
              <p:nvPr/>
            </p:nvSpPr>
            <p:spPr bwMode="auto">
              <a:xfrm rot="1872782" flipH="1">
                <a:off x="725" y="1842"/>
                <a:ext cx="0" cy="551"/>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638" name="Line 16"/>
              <p:cNvSpPr>
                <a:spLocks noChangeShapeType="1"/>
              </p:cNvSpPr>
              <p:nvPr/>
            </p:nvSpPr>
            <p:spPr bwMode="auto">
              <a:xfrm rot="1872782" flipH="1" flipV="1">
                <a:off x="498" y="1982"/>
                <a:ext cx="454" cy="27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639" name="Line 17"/>
              <p:cNvSpPr>
                <a:spLocks noChangeShapeType="1"/>
              </p:cNvSpPr>
              <p:nvPr/>
            </p:nvSpPr>
            <p:spPr bwMode="auto">
              <a:xfrm rot="1872782" flipH="1">
                <a:off x="498" y="1982"/>
                <a:ext cx="454" cy="27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24633" name="Group 18"/>
            <p:cNvGrpSpPr>
              <a:grpSpLocks/>
            </p:cNvGrpSpPr>
            <p:nvPr/>
          </p:nvGrpSpPr>
          <p:grpSpPr bwMode="auto">
            <a:xfrm>
              <a:off x="615" y="1867"/>
              <a:ext cx="223" cy="498"/>
              <a:chOff x="615" y="1867"/>
              <a:chExt cx="223" cy="498"/>
            </a:xfrm>
          </p:grpSpPr>
          <p:sp>
            <p:nvSpPr>
              <p:cNvPr id="24634" name="Arc 19"/>
              <p:cNvSpPr>
                <a:spLocks/>
              </p:cNvSpPr>
              <p:nvPr/>
            </p:nvSpPr>
            <p:spPr bwMode="auto">
              <a:xfrm>
                <a:off x="627" y="1867"/>
                <a:ext cx="211" cy="249"/>
              </a:xfrm>
              <a:custGeom>
                <a:avLst/>
                <a:gdLst>
                  <a:gd name="T0" fmla="*/ 0 w 18225"/>
                  <a:gd name="T1" fmla="*/ 0 h 21600"/>
                  <a:gd name="T2" fmla="*/ 0 w 18225"/>
                  <a:gd name="T3" fmla="*/ 0 h 21600"/>
                  <a:gd name="T4" fmla="*/ 0 w 18225"/>
                  <a:gd name="T5" fmla="*/ 0 h 21600"/>
                  <a:gd name="T6" fmla="*/ 0 60000 65536"/>
                  <a:gd name="T7" fmla="*/ 0 60000 65536"/>
                  <a:gd name="T8" fmla="*/ 0 60000 65536"/>
                  <a:gd name="T9" fmla="*/ 0 w 18225"/>
                  <a:gd name="T10" fmla="*/ 0 h 21600"/>
                  <a:gd name="T11" fmla="*/ 18225 w 18225"/>
                  <a:gd name="T12" fmla="*/ 21600 h 21600"/>
                </a:gdLst>
                <a:ahLst/>
                <a:cxnLst>
                  <a:cxn ang="T6">
                    <a:pos x="T0" y="T1"/>
                  </a:cxn>
                  <a:cxn ang="T7">
                    <a:pos x="T2" y="T3"/>
                  </a:cxn>
                  <a:cxn ang="T8">
                    <a:pos x="T4" y="T5"/>
                  </a:cxn>
                </a:cxnLst>
                <a:rect l="T9" t="T10" r="T11" b="T12"/>
                <a:pathLst>
                  <a:path w="18225" h="21600" fill="none" extrusionOk="0">
                    <a:moveTo>
                      <a:pt x="0" y="1766"/>
                    </a:moveTo>
                    <a:cubicBezTo>
                      <a:pt x="2701" y="601"/>
                      <a:pt x="5612" y="-1"/>
                      <a:pt x="8555" y="0"/>
                    </a:cubicBezTo>
                    <a:cubicBezTo>
                      <a:pt x="11912" y="0"/>
                      <a:pt x="15223" y="782"/>
                      <a:pt x="18225" y="2285"/>
                    </a:cubicBezTo>
                  </a:path>
                  <a:path w="18225" h="21600" stroke="0" extrusionOk="0">
                    <a:moveTo>
                      <a:pt x="0" y="1766"/>
                    </a:moveTo>
                    <a:cubicBezTo>
                      <a:pt x="2701" y="601"/>
                      <a:pt x="5612" y="-1"/>
                      <a:pt x="8555" y="0"/>
                    </a:cubicBezTo>
                    <a:cubicBezTo>
                      <a:pt x="11912" y="0"/>
                      <a:pt x="15223" y="782"/>
                      <a:pt x="18225" y="2285"/>
                    </a:cubicBezTo>
                    <a:lnTo>
                      <a:pt x="8555" y="21600"/>
                    </a:lnTo>
                    <a:lnTo>
                      <a:pt x="0" y="1766"/>
                    </a:lnTo>
                    <a:close/>
                  </a:path>
                </a:pathLst>
              </a:cu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24635" name="Arc 20"/>
              <p:cNvSpPr>
                <a:spLocks/>
              </p:cNvSpPr>
              <p:nvPr/>
            </p:nvSpPr>
            <p:spPr bwMode="auto">
              <a:xfrm flipV="1">
                <a:off x="615" y="2116"/>
                <a:ext cx="211" cy="249"/>
              </a:xfrm>
              <a:custGeom>
                <a:avLst/>
                <a:gdLst>
                  <a:gd name="T0" fmla="*/ 0 w 18133"/>
                  <a:gd name="T1" fmla="*/ 0 h 21600"/>
                  <a:gd name="T2" fmla="*/ 0 w 18133"/>
                  <a:gd name="T3" fmla="*/ 0 h 21600"/>
                  <a:gd name="T4" fmla="*/ 0 w 18133"/>
                  <a:gd name="T5" fmla="*/ 0 h 21600"/>
                  <a:gd name="T6" fmla="*/ 0 60000 65536"/>
                  <a:gd name="T7" fmla="*/ 0 60000 65536"/>
                  <a:gd name="T8" fmla="*/ 0 60000 65536"/>
                  <a:gd name="T9" fmla="*/ 0 w 18133"/>
                  <a:gd name="T10" fmla="*/ 0 h 21600"/>
                  <a:gd name="T11" fmla="*/ 18133 w 18133"/>
                  <a:gd name="T12" fmla="*/ 21600 h 21600"/>
                </a:gdLst>
                <a:ahLst/>
                <a:cxnLst>
                  <a:cxn ang="T6">
                    <a:pos x="T0" y="T1"/>
                  </a:cxn>
                  <a:cxn ang="T7">
                    <a:pos x="T2" y="T3"/>
                  </a:cxn>
                  <a:cxn ang="T8">
                    <a:pos x="T4" y="T5"/>
                  </a:cxn>
                </a:cxnLst>
                <a:rect l="T9" t="T10" r="T11" b="T12"/>
                <a:pathLst>
                  <a:path w="18133" h="21600" fill="none" extrusionOk="0">
                    <a:moveTo>
                      <a:pt x="-1" y="1784"/>
                    </a:moveTo>
                    <a:cubicBezTo>
                      <a:pt x="2713" y="607"/>
                      <a:pt x="5640" y="-1"/>
                      <a:pt x="8598" y="0"/>
                    </a:cubicBezTo>
                    <a:cubicBezTo>
                      <a:pt x="11904" y="0"/>
                      <a:pt x="15166" y="758"/>
                      <a:pt x="18132" y="2218"/>
                    </a:cubicBezTo>
                  </a:path>
                  <a:path w="18133" h="21600" stroke="0" extrusionOk="0">
                    <a:moveTo>
                      <a:pt x="-1" y="1784"/>
                    </a:moveTo>
                    <a:cubicBezTo>
                      <a:pt x="2713" y="607"/>
                      <a:pt x="5640" y="-1"/>
                      <a:pt x="8598" y="0"/>
                    </a:cubicBezTo>
                    <a:cubicBezTo>
                      <a:pt x="11904" y="0"/>
                      <a:pt x="15166" y="758"/>
                      <a:pt x="18132" y="2218"/>
                    </a:cubicBezTo>
                    <a:lnTo>
                      <a:pt x="8598" y="21600"/>
                    </a:lnTo>
                    <a:lnTo>
                      <a:pt x="-1" y="1784"/>
                    </a:lnTo>
                    <a:close/>
                  </a:path>
                </a:pathLst>
              </a:cu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grpSp>
      </p:grpSp>
      <p:grpSp>
        <p:nvGrpSpPr>
          <p:cNvPr id="24589" name="Group 21"/>
          <p:cNvGrpSpPr>
            <a:grpSpLocks/>
          </p:cNvGrpSpPr>
          <p:nvPr/>
        </p:nvGrpSpPr>
        <p:grpSpPr bwMode="auto">
          <a:xfrm>
            <a:off x="3348038" y="2420938"/>
            <a:ext cx="935037" cy="2232025"/>
            <a:chOff x="2109" y="1389"/>
            <a:chExt cx="589" cy="1406"/>
          </a:xfrm>
        </p:grpSpPr>
        <p:sp>
          <p:nvSpPr>
            <p:cNvPr id="24625" name="Line 22"/>
            <p:cNvSpPr>
              <a:spLocks noChangeShapeType="1"/>
            </p:cNvSpPr>
            <p:nvPr/>
          </p:nvSpPr>
          <p:spPr bwMode="auto">
            <a:xfrm>
              <a:off x="233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626" name="Line 23"/>
            <p:cNvSpPr>
              <a:spLocks noChangeShapeType="1"/>
            </p:cNvSpPr>
            <p:nvPr/>
          </p:nvSpPr>
          <p:spPr bwMode="auto">
            <a:xfrm>
              <a:off x="242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627" name="Line 24"/>
            <p:cNvSpPr>
              <a:spLocks noChangeShapeType="1"/>
            </p:cNvSpPr>
            <p:nvPr/>
          </p:nvSpPr>
          <p:spPr bwMode="auto">
            <a:xfrm>
              <a:off x="2517"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628" name="Line 25"/>
            <p:cNvSpPr>
              <a:spLocks noChangeShapeType="1"/>
            </p:cNvSpPr>
            <p:nvPr/>
          </p:nvSpPr>
          <p:spPr bwMode="auto">
            <a:xfrm>
              <a:off x="260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629" name="Line 26"/>
            <p:cNvSpPr>
              <a:spLocks noChangeShapeType="1"/>
            </p:cNvSpPr>
            <p:nvPr/>
          </p:nvSpPr>
          <p:spPr bwMode="auto">
            <a:xfrm>
              <a:off x="269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630" name="Text Box 27"/>
            <p:cNvSpPr txBox="1">
              <a:spLocks noChangeArrowheads="1"/>
            </p:cNvSpPr>
            <p:nvPr/>
          </p:nvSpPr>
          <p:spPr bwMode="auto">
            <a:xfrm>
              <a:off x="2109" y="1389"/>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FF0000"/>
                  </a:solidFill>
                  <a:latin typeface="Arial" panose="020B0604020202020204" pitchFamily="34" charset="0"/>
                </a:rPr>
                <a:t>B</a:t>
              </a:r>
              <a:endParaRPr lang="en-US" altLang="fr-FR" sz="1800" b="1">
                <a:solidFill>
                  <a:srgbClr val="FF0000"/>
                </a:solidFill>
                <a:latin typeface="Arial" panose="020B0604020202020204" pitchFamily="34" charset="0"/>
              </a:endParaRPr>
            </a:p>
          </p:txBody>
        </p:sp>
        <p:sp>
          <p:nvSpPr>
            <p:cNvPr id="24631" name="Line 28"/>
            <p:cNvSpPr>
              <a:spLocks noChangeShapeType="1"/>
            </p:cNvSpPr>
            <p:nvPr/>
          </p:nvSpPr>
          <p:spPr bwMode="auto">
            <a:xfrm>
              <a:off x="2155" y="1434"/>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278557" name="Line 29"/>
          <p:cNvSpPr>
            <a:spLocks noChangeShapeType="1"/>
          </p:cNvSpPr>
          <p:nvPr/>
        </p:nvSpPr>
        <p:spPr bwMode="auto">
          <a:xfrm>
            <a:off x="4140200" y="2852738"/>
            <a:ext cx="503238"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591" name="Text Box 30"/>
          <p:cNvSpPr txBox="1">
            <a:spLocks noChangeArrowheads="1"/>
          </p:cNvSpPr>
          <p:nvPr/>
        </p:nvSpPr>
        <p:spPr bwMode="auto">
          <a:xfrm>
            <a:off x="4572000" y="2420938"/>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0066FF"/>
                </a:solidFill>
                <a:latin typeface="Arial" panose="020B0604020202020204" pitchFamily="34" charset="0"/>
              </a:rPr>
              <a:t>F</a:t>
            </a:r>
            <a:endParaRPr lang="en-US" altLang="fr-FR" sz="1800" b="1">
              <a:solidFill>
                <a:srgbClr val="0066FF"/>
              </a:solidFill>
              <a:latin typeface="Arial" panose="020B0604020202020204" pitchFamily="34" charset="0"/>
            </a:endParaRPr>
          </a:p>
        </p:txBody>
      </p:sp>
      <p:sp>
        <p:nvSpPr>
          <p:cNvPr id="24592" name="Line 31"/>
          <p:cNvSpPr>
            <a:spLocks noChangeShapeType="1"/>
          </p:cNvSpPr>
          <p:nvPr/>
        </p:nvSpPr>
        <p:spPr bwMode="auto">
          <a:xfrm>
            <a:off x="4643438" y="2492375"/>
            <a:ext cx="215900"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593" name="Text Box 32"/>
          <p:cNvSpPr txBox="1">
            <a:spLocks noChangeArrowheads="1"/>
          </p:cNvSpPr>
          <p:nvPr/>
        </p:nvSpPr>
        <p:spPr bwMode="auto">
          <a:xfrm>
            <a:off x="3275013" y="4292600"/>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0066FF"/>
                </a:solidFill>
                <a:latin typeface="Arial" panose="020B0604020202020204" pitchFamily="34" charset="0"/>
              </a:rPr>
              <a:t>F</a:t>
            </a:r>
            <a:endParaRPr lang="en-US" altLang="fr-FR" sz="1800" b="1">
              <a:solidFill>
                <a:srgbClr val="0066FF"/>
              </a:solidFill>
              <a:latin typeface="Arial" panose="020B0604020202020204" pitchFamily="34" charset="0"/>
            </a:endParaRPr>
          </a:p>
        </p:txBody>
      </p:sp>
      <p:sp>
        <p:nvSpPr>
          <p:cNvPr id="24594" name="Line 33"/>
          <p:cNvSpPr>
            <a:spLocks noChangeShapeType="1"/>
          </p:cNvSpPr>
          <p:nvPr/>
        </p:nvSpPr>
        <p:spPr bwMode="auto">
          <a:xfrm>
            <a:off x="3346450" y="4364038"/>
            <a:ext cx="215900"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78562" name="Line 34"/>
          <p:cNvSpPr>
            <a:spLocks noChangeShapeType="1"/>
          </p:cNvSpPr>
          <p:nvPr/>
        </p:nvSpPr>
        <p:spPr bwMode="auto">
          <a:xfrm flipH="1">
            <a:off x="3348038" y="4149725"/>
            <a:ext cx="503237"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nvGrpSpPr>
          <p:cNvPr id="6" name="Group 35"/>
          <p:cNvGrpSpPr>
            <a:grpSpLocks/>
          </p:cNvGrpSpPr>
          <p:nvPr/>
        </p:nvGrpSpPr>
        <p:grpSpPr bwMode="auto">
          <a:xfrm>
            <a:off x="3275013" y="2708275"/>
            <a:ext cx="1414462" cy="1600200"/>
            <a:chOff x="2063" y="1570"/>
            <a:chExt cx="891" cy="1008"/>
          </a:xfrm>
        </p:grpSpPr>
        <p:grpSp>
          <p:nvGrpSpPr>
            <p:cNvPr id="24611" name="Group 36"/>
            <p:cNvGrpSpPr>
              <a:grpSpLocks/>
            </p:cNvGrpSpPr>
            <p:nvPr/>
          </p:nvGrpSpPr>
          <p:grpSpPr bwMode="auto">
            <a:xfrm>
              <a:off x="2063" y="1570"/>
              <a:ext cx="891" cy="998"/>
              <a:chOff x="2063" y="1570"/>
              <a:chExt cx="891" cy="998"/>
            </a:xfrm>
          </p:grpSpPr>
          <p:sp>
            <p:nvSpPr>
              <p:cNvPr id="24615" name="Line 37"/>
              <p:cNvSpPr>
                <a:spLocks noChangeShapeType="1"/>
              </p:cNvSpPr>
              <p:nvPr/>
            </p:nvSpPr>
            <p:spPr bwMode="auto">
              <a:xfrm flipV="1">
                <a:off x="2513" y="1570"/>
                <a:ext cx="0" cy="998"/>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4616" name="Group 38"/>
              <p:cNvGrpSpPr>
                <a:grpSpLocks/>
              </p:cNvGrpSpPr>
              <p:nvPr/>
            </p:nvGrpSpPr>
            <p:grpSpPr bwMode="auto">
              <a:xfrm>
                <a:off x="2063" y="1573"/>
                <a:ext cx="891" cy="995"/>
                <a:chOff x="2063" y="1573"/>
                <a:chExt cx="891" cy="995"/>
              </a:xfrm>
            </p:grpSpPr>
            <p:sp>
              <p:nvSpPr>
                <p:cNvPr id="24617" name="Line 39"/>
                <p:cNvSpPr>
                  <a:spLocks noChangeShapeType="1"/>
                </p:cNvSpPr>
                <p:nvPr/>
              </p:nvSpPr>
              <p:spPr bwMode="auto">
                <a:xfrm flipH="1" flipV="1">
                  <a:off x="2082" y="1820"/>
                  <a:ext cx="862" cy="499"/>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618" name="Line 40"/>
                <p:cNvSpPr>
                  <a:spLocks noChangeShapeType="1"/>
                </p:cNvSpPr>
                <p:nvPr/>
              </p:nvSpPr>
              <p:spPr bwMode="auto">
                <a:xfrm flipH="1">
                  <a:off x="2082" y="1820"/>
                  <a:ext cx="862" cy="498"/>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4619" name="Oval 41"/>
                <p:cNvSpPr>
                  <a:spLocks noChangeArrowheads="1"/>
                </p:cNvSpPr>
                <p:nvPr/>
              </p:nvSpPr>
              <p:spPr bwMode="auto">
                <a:xfrm flipV="1">
                  <a:off x="2421" y="2387"/>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620" name="Oval 42"/>
                <p:cNvSpPr>
                  <a:spLocks noChangeArrowheads="1"/>
                </p:cNvSpPr>
                <p:nvPr/>
              </p:nvSpPr>
              <p:spPr bwMode="auto">
                <a:xfrm flipV="1">
                  <a:off x="2425" y="157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621" name="Oval 43"/>
                <p:cNvSpPr>
                  <a:spLocks noChangeArrowheads="1"/>
                </p:cNvSpPr>
                <p:nvPr/>
              </p:nvSpPr>
              <p:spPr bwMode="auto">
                <a:xfrm flipV="1">
                  <a:off x="2063" y="218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622" name="Oval 44"/>
                <p:cNvSpPr>
                  <a:spLocks noChangeArrowheads="1"/>
                </p:cNvSpPr>
                <p:nvPr/>
              </p:nvSpPr>
              <p:spPr bwMode="auto">
                <a:xfrm flipV="1">
                  <a:off x="2769" y="1777"/>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623" name="Oval 45"/>
                <p:cNvSpPr>
                  <a:spLocks noChangeArrowheads="1"/>
                </p:cNvSpPr>
                <p:nvPr/>
              </p:nvSpPr>
              <p:spPr bwMode="auto">
                <a:xfrm flipV="1">
                  <a:off x="2065" y="1791"/>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624" name="Oval 46"/>
                <p:cNvSpPr>
                  <a:spLocks noChangeArrowheads="1"/>
                </p:cNvSpPr>
                <p:nvPr/>
              </p:nvSpPr>
              <p:spPr bwMode="auto">
                <a:xfrm flipV="1">
                  <a:off x="2773" y="219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grpSp>
          <p:nvGrpSpPr>
            <p:cNvPr id="24612" name="Group 47"/>
            <p:cNvGrpSpPr>
              <a:grpSpLocks/>
            </p:cNvGrpSpPr>
            <p:nvPr/>
          </p:nvGrpSpPr>
          <p:grpSpPr bwMode="auto">
            <a:xfrm>
              <a:off x="2412" y="1635"/>
              <a:ext cx="191" cy="943"/>
              <a:chOff x="2412" y="1635"/>
              <a:chExt cx="191" cy="943"/>
            </a:xfrm>
          </p:grpSpPr>
          <p:sp>
            <p:nvSpPr>
              <p:cNvPr id="24613" name="Oval 48"/>
              <p:cNvSpPr>
                <a:spLocks noChangeArrowheads="1"/>
              </p:cNvSpPr>
              <p:nvPr/>
            </p:nvSpPr>
            <p:spPr bwMode="auto">
              <a:xfrm flipV="1">
                <a:off x="2490" y="1635"/>
                <a:ext cx="45" cy="45"/>
              </a:xfrm>
              <a:prstGeom prst="ellipse">
                <a:avLst/>
              </a:prstGeom>
              <a:solidFill>
                <a:schemeClr val="tx2"/>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4614" name="Text Box 49"/>
              <p:cNvSpPr txBox="1">
                <a:spLocks noChangeArrowheads="1"/>
              </p:cNvSpPr>
              <p:nvPr/>
            </p:nvSpPr>
            <p:spPr bwMode="auto">
              <a:xfrm flipV="1">
                <a:off x="2412" y="2386"/>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400">
                    <a:latin typeface="Arial" panose="020B0604020202020204" pitchFamily="34" charset="0"/>
                  </a:rPr>
                  <a:t>X</a:t>
                </a:r>
                <a:endParaRPr lang="en-US" altLang="fr-FR" sz="1400">
                  <a:latin typeface="Arial" panose="020B0604020202020204" pitchFamily="34" charset="0"/>
                </a:endParaRPr>
              </a:p>
            </p:txBody>
          </p:sp>
        </p:grpSp>
      </p:grpSp>
      <p:sp>
        <p:nvSpPr>
          <p:cNvPr id="24597" name="Rectangle 50"/>
          <p:cNvSpPr>
            <a:spLocks noChangeArrowheads="1"/>
          </p:cNvSpPr>
          <p:nvPr/>
        </p:nvSpPr>
        <p:spPr bwMode="auto">
          <a:xfrm>
            <a:off x="3924300" y="836613"/>
            <a:ext cx="207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Stator / Inducteur</a:t>
            </a:r>
            <a:endParaRPr lang="en-US" altLang="fr-FR" sz="1800" b="1">
              <a:latin typeface="Arial" panose="020B0604020202020204" pitchFamily="34" charset="0"/>
            </a:endParaRPr>
          </a:p>
        </p:txBody>
      </p:sp>
      <p:sp>
        <p:nvSpPr>
          <p:cNvPr id="24598" name="Text Box 51"/>
          <p:cNvSpPr txBox="1">
            <a:spLocks noChangeArrowheads="1"/>
          </p:cNvSpPr>
          <p:nvPr/>
        </p:nvSpPr>
        <p:spPr bwMode="auto">
          <a:xfrm>
            <a:off x="323850" y="1557338"/>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Rotor / Induit</a:t>
            </a:r>
            <a:endParaRPr lang="en-US" altLang="fr-FR" sz="1800" b="1">
              <a:latin typeface="Arial" panose="020B0604020202020204" pitchFamily="34" charset="0"/>
            </a:endParaRPr>
          </a:p>
        </p:txBody>
      </p:sp>
      <p:grpSp>
        <p:nvGrpSpPr>
          <p:cNvPr id="24599" name="Group 52"/>
          <p:cNvGrpSpPr>
            <a:grpSpLocks/>
          </p:cNvGrpSpPr>
          <p:nvPr/>
        </p:nvGrpSpPr>
        <p:grpSpPr bwMode="auto">
          <a:xfrm>
            <a:off x="323850" y="620713"/>
            <a:ext cx="2114550" cy="869950"/>
            <a:chOff x="249" y="119"/>
            <a:chExt cx="1332" cy="548"/>
          </a:xfrm>
        </p:grpSpPr>
        <p:sp>
          <p:nvSpPr>
            <p:cNvPr id="24603" name="Text Box 53"/>
            <p:cNvSpPr txBox="1">
              <a:spLocks noChangeArrowheads="1"/>
            </p:cNvSpPr>
            <p:nvPr/>
          </p:nvSpPr>
          <p:spPr bwMode="auto">
            <a:xfrm>
              <a:off x="930" y="39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FF0000"/>
                  </a:solidFill>
                  <a:latin typeface="Arial" panose="020B0604020202020204" pitchFamily="34" charset="0"/>
                </a:rPr>
                <a:t>B</a:t>
              </a:r>
              <a:endParaRPr lang="en-US" altLang="fr-FR" sz="1800" b="1">
                <a:solidFill>
                  <a:srgbClr val="FF0000"/>
                </a:solidFill>
                <a:latin typeface="Arial" panose="020B0604020202020204" pitchFamily="34" charset="0"/>
              </a:endParaRPr>
            </a:p>
          </p:txBody>
        </p:sp>
        <p:sp>
          <p:nvSpPr>
            <p:cNvPr id="24604" name="Line 54"/>
            <p:cNvSpPr>
              <a:spLocks noChangeShapeType="1"/>
            </p:cNvSpPr>
            <p:nvPr/>
          </p:nvSpPr>
          <p:spPr bwMode="auto">
            <a:xfrm>
              <a:off x="975" y="391"/>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605" name="Text Box 55"/>
            <p:cNvSpPr txBox="1">
              <a:spLocks noChangeArrowheads="1"/>
            </p:cNvSpPr>
            <p:nvPr/>
          </p:nvSpPr>
          <p:spPr bwMode="auto">
            <a:xfrm>
              <a:off x="249" y="391"/>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0066FF"/>
                  </a:solidFill>
                  <a:latin typeface="Arial" panose="020B0604020202020204" pitchFamily="34" charset="0"/>
                </a:rPr>
                <a:t>F </a:t>
              </a:r>
              <a:endParaRPr lang="en-US" altLang="fr-FR" sz="1800" b="1">
                <a:solidFill>
                  <a:srgbClr val="0066FF"/>
                </a:solidFill>
                <a:latin typeface="Arial" panose="020B0604020202020204" pitchFamily="34" charset="0"/>
              </a:endParaRPr>
            </a:p>
          </p:txBody>
        </p:sp>
        <p:sp>
          <p:nvSpPr>
            <p:cNvPr id="24606" name="Line 56"/>
            <p:cNvSpPr>
              <a:spLocks noChangeShapeType="1"/>
            </p:cNvSpPr>
            <p:nvPr/>
          </p:nvSpPr>
          <p:spPr bwMode="auto">
            <a:xfrm>
              <a:off x="295" y="391"/>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607" name="Text Box 57"/>
            <p:cNvSpPr txBox="1">
              <a:spLocks noChangeArrowheads="1"/>
            </p:cNvSpPr>
            <p:nvPr/>
          </p:nvSpPr>
          <p:spPr bwMode="auto">
            <a:xfrm>
              <a:off x="431" y="391"/>
              <a:ext cx="4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 i dl</a:t>
              </a:r>
              <a:endParaRPr lang="en-US" altLang="fr-FR" sz="1800" b="1">
                <a:latin typeface="Arial" panose="020B0604020202020204" pitchFamily="34" charset="0"/>
              </a:endParaRPr>
            </a:p>
          </p:txBody>
        </p:sp>
        <p:sp>
          <p:nvSpPr>
            <p:cNvPr id="24608" name="Line 58"/>
            <p:cNvSpPr>
              <a:spLocks noChangeShapeType="1"/>
            </p:cNvSpPr>
            <p:nvPr/>
          </p:nvSpPr>
          <p:spPr bwMode="auto">
            <a:xfrm>
              <a:off x="703" y="391"/>
              <a:ext cx="1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4609" name="Text Box 59"/>
            <p:cNvSpPr txBox="1">
              <a:spLocks noChangeArrowheads="1"/>
            </p:cNvSpPr>
            <p:nvPr/>
          </p:nvSpPr>
          <p:spPr bwMode="auto">
            <a:xfrm>
              <a:off x="793" y="436"/>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a:t>
              </a:r>
              <a:endParaRPr lang="en-US" altLang="fr-FR" sz="1800" b="1">
                <a:latin typeface="Arial" panose="020B0604020202020204" pitchFamily="34" charset="0"/>
              </a:endParaRPr>
            </a:p>
          </p:txBody>
        </p:sp>
        <p:sp>
          <p:nvSpPr>
            <p:cNvPr id="24610" name="Text Box 60"/>
            <p:cNvSpPr txBox="1">
              <a:spLocks noChangeArrowheads="1"/>
            </p:cNvSpPr>
            <p:nvPr/>
          </p:nvSpPr>
          <p:spPr bwMode="auto">
            <a:xfrm>
              <a:off x="249" y="119"/>
              <a:ext cx="13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Force de Laplace</a:t>
              </a:r>
              <a:r>
                <a:rPr lang="fr-CH" altLang="fr-FR" sz="1800" b="1">
                  <a:solidFill>
                    <a:srgbClr val="0066FF"/>
                  </a:solidFill>
                  <a:latin typeface="Arial" panose="020B0604020202020204" pitchFamily="34" charset="0"/>
                </a:rPr>
                <a:t> </a:t>
              </a:r>
              <a:endParaRPr lang="en-US" altLang="fr-FR" sz="1800" b="1">
                <a:solidFill>
                  <a:srgbClr val="0066FF"/>
                </a:solidFill>
                <a:latin typeface="Arial" panose="020B0604020202020204" pitchFamily="34" charset="0"/>
              </a:endParaRPr>
            </a:p>
          </p:txBody>
        </p:sp>
      </p:grpSp>
      <p:sp>
        <p:nvSpPr>
          <p:cNvPr id="24600" name="Rectangle 10"/>
          <p:cNvSpPr>
            <a:spLocks noChangeArrowheads="1"/>
          </p:cNvSpPr>
          <p:nvPr/>
        </p:nvSpPr>
        <p:spPr bwMode="auto">
          <a:xfrm>
            <a:off x="182563" y="146050"/>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2" name="Espace réservé du pied de page 1"/>
          <p:cNvSpPr>
            <a:spLocks noGrp="1"/>
          </p:cNvSpPr>
          <p:nvPr>
            <p:ph type="ftr" sz="quarter" idx="11"/>
          </p:nvPr>
        </p:nvSpPr>
        <p:spPr/>
        <p:txBody>
          <a:bodyPr/>
          <a:lstStyle/>
          <a:p>
            <a:pPr>
              <a:defRPr/>
            </a:pPr>
            <a:r>
              <a:rPr lang="fr-FR" dirty="0" smtClean="0"/>
              <a:t>Commande des machines   3.MCC     Ali NEJMI</a:t>
            </a:r>
            <a:endParaRPr lang="en-US" dirty="0"/>
          </a:p>
        </p:txBody>
      </p:sp>
      <p:sp>
        <p:nvSpPr>
          <p:cNvPr id="24602" name="Rectangle 80"/>
          <p:cNvSpPr>
            <a:spLocks noChangeArrowheads="1"/>
          </p:cNvSpPr>
          <p:nvPr/>
        </p:nvSpPr>
        <p:spPr bwMode="auto">
          <a:xfrm>
            <a:off x="236538" y="211138"/>
            <a:ext cx="2622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Production du couple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8" presetClass="emph" presetSubtype="0" fill="hold" nodeType="afterEffect">
                                  <p:stCondLst>
                                    <p:cond delay="0"/>
                                  </p:stCondLst>
                                  <p:childTnLst>
                                    <p:animRot by="1800000">
                                      <p:cBhvr>
                                        <p:cTn id="6" dur="1000" fill="hold"/>
                                        <p:tgtEl>
                                          <p:spTgt spid="2"/>
                                        </p:tgtEl>
                                        <p:attrNameLst>
                                          <p:attrName>r</p:attrName>
                                        </p:attrNameLst>
                                      </p:cBhvr>
                                    </p:animRot>
                                  </p:childTnLst>
                                </p:cTn>
                              </p:par>
                              <p:par>
                                <p:cTn id="7" presetID="8" presetClass="emph" presetSubtype="0" fill="hold" nodeType="withEffect">
                                  <p:stCondLst>
                                    <p:cond delay="0"/>
                                  </p:stCondLst>
                                  <p:childTnLst>
                                    <p:animRot by="1800000">
                                      <p:cBhvr>
                                        <p:cTn id="8" dur="1000" fill="hold"/>
                                        <p:tgtEl>
                                          <p:spTgt spid="6"/>
                                        </p:tgtEl>
                                        <p:attrNameLst>
                                          <p:attrName>r</p:attrName>
                                        </p:attrNameLst>
                                      </p:cBhvr>
                                    </p:animRot>
                                  </p:childTnLst>
                                </p:cTn>
                              </p:par>
                              <p:par>
                                <p:cTn id="9" presetID="0" presetClass="path" presetSubtype="0" fill="hold" grpId="0" nodeType="withEffect">
                                  <p:stCondLst>
                                    <p:cond delay="0"/>
                                  </p:stCondLst>
                                  <p:childTnLst>
                                    <p:animMotion origin="layout" path="M 1.66667E-6 -7.40741E-7 L 0.03559 0.02107 " pathEditMode="relative" rAng="0" ptsTypes="AA">
                                      <p:cBhvr>
                                        <p:cTn id="10" dur="1000" fill="hold"/>
                                        <p:tgtEl>
                                          <p:spTgt spid="278557"/>
                                        </p:tgtEl>
                                        <p:attrNameLst>
                                          <p:attrName>ppt_x</p:attrName>
                                          <p:attrName>ppt_y</p:attrName>
                                        </p:attrNameLst>
                                      </p:cBhvr>
                                      <p:rCtr x="1771" y="1042"/>
                                    </p:animMotion>
                                  </p:childTnLst>
                                </p:cTn>
                              </p:par>
                              <p:par>
                                <p:cTn id="11" presetID="0" presetClass="path" presetSubtype="0" fill="hold" grpId="0" nodeType="withEffect">
                                  <p:stCondLst>
                                    <p:cond delay="0"/>
                                  </p:stCondLst>
                                  <p:childTnLst>
                                    <p:animMotion origin="layout" path="M 3.61111E-6 -1.11111E-6 L -0.03525 -0.01065 " pathEditMode="relative" rAng="0" ptsTypes="AA">
                                      <p:cBhvr>
                                        <p:cTn id="12" dur="1000" fill="hold"/>
                                        <p:tgtEl>
                                          <p:spTgt spid="278562"/>
                                        </p:tgtEl>
                                        <p:attrNameLst>
                                          <p:attrName>ppt_x</p:attrName>
                                          <p:attrName>ppt_y</p:attrName>
                                        </p:attrNameLst>
                                      </p:cBhvr>
                                      <p:rCtr x="-1771" y="-5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57" grpId="0" animBg="1"/>
      <p:bldP spid="27856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3635375" y="692150"/>
            <a:ext cx="3819525" cy="5759450"/>
          </a:xfrm>
          <a:prstGeom prst="rect">
            <a:avLst/>
          </a:prstGeom>
          <a:solidFill>
            <a:srgbClr val="C0C0C0"/>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27" name="Rectangle 3"/>
          <p:cNvSpPr>
            <a:spLocks noChangeArrowheads="1"/>
          </p:cNvSpPr>
          <p:nvPr/>
        </p:nvSpPr>
        <p:spPr bwMode="auto">
          <a:xfrm>
            <a:off x="6659563" y="1843088"/>
            <a:ext cx="796925" cy="3457575"/>
          </a:xfrm>
          <a:prstGeom prst="rect">
            <a:avLst/>
          </a:prstGeom>
          <a:gradFill rotWithShape="1">
            <a:gsLst>
              <a:gs pos="0">
                <a:srgbClr val="FF0000"/>
              </a:gs>
              <a:gs pos="100000">
                <a:srgbClr val="3333CC"/>
              </a:gs>
            </a:gsLst>
            <a:lin ang="5400000" scaled="1"/>
          </a:gra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buClrTx/>
              <a:buSzTx/>
              <a:buFontTx/>
              <a:buNone/>
            </a:pPr>
            <a:r>
              <a:rPr lang="fr-CH" altLang="fr-FR" sz="3200" b="1">
                <a:latin typeface="Arial" panose="020B0604020202020204" pitchFamily="34" charset="0"/>
              </a:rPr>
              <a:t>N</a:t>
            </a: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b="1">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endParaRPr lang="fr-CH" altLang="fr-FR" sz="3200">
              <a:latin typeface="Arial" panose="020B0604020202020204" pitchFamily="34" charset="0"/>
            </a:endParaRPr>
          </a:p>
          <a:p>
            <a:pPr algn="ctr" eaLnBrk="1" hangingPunct="1">
              <a:spcBef>
                <a:spcPct val="0"/>
              </a:spcBef>
              <a:buClrTx/>
              <a:buSzTx/>
              <a:buFontTx/>
              <a:buNone/>
            </a:pPr>
            <a:r>
              <a:rPr lang="fr-CH" altLang="fr-FR" sz="3200" b="1">
                <a:latin typeface="Arial" panose="020B0604020202020204" pitchFamily="34" charset="0"/>
              </a:rPr>
              <a:t>S</a:t>
            </a:r>
            <a:endParaRPr lang="fr-FR" altLang="fr-FR" sz="3200" b="1">
              <a:latin typeface="Arial" panose="020B0604020202020204" pitchFamily="34" charset="0"/>
            </a:endParaRPr>
          </a:p>
        </p:txBody>
      </p:sp>
      <p:sp>
        <p:nvSpPr>
          <p:cNvPr id="26628" name="Rectangle 4"/>
          <p:cNvSpPr>
            <a:spLocks noChangeArrowheads="1"/>
          </p:cNvSpPr>
          <p:nvPr/>
        </p:nvSpPr>
        <p:spPr bwMode="auto">
          <a:xfrm>
            <a:off x="4427538" y="1484313"/>
            <a:ext cx="2228850" cy="4175125"/>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29" name="Rectangle 5"/>
          <p:cNvSpPr>
            <a:spLocks noChangeArrowheads="1"/>
          </p:cNvSpPr>
          <p:nvPr/>
        </p:nvSpPr>
        <p:spPr bwMode="auto">
          <a:xfrm>
            <a:off x="3492500" y="2420938"/>
            <a:ext cx="1079500" cy="22320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30" name="Line 6"/>
          <p:cNvSpPr>
            <a:spLocks noChangeShapeType="1"/>
          </p:cNvSpPr>
          <p:nvPr/>
        </p:nvSpPr>
        <p:spPr bwMode="auto">
          <a:xfrm flipH="1">
            <a:off x="3635375" y="2420938"/>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631" name="Line 7"/>
          <p:cNvSpPr>
            <a:spLocks noChangeShapeType="1"/>
          </p:cNvSpPr>
          <p:nvPr/>
        </p:nvSpPr>
        <p:spPr bwMode="auto">
          <a:xfrm flipH="1">
            <a:off x="3635375" y="4652963"/>
            <a:ext cx="79216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632" name="Line 8"/>
          <p:cNvSpPr>
            <a:spLocks noChangeShapeType="1"/>
          </p:cNvSpPr>
          <p:nvPr/>
        </p:nvSpPr>
        <p:spPr bwMode="auto">
          <a:xfrm>
            <a:off x="250825" y="2852738"/>
            <a:ext cx="936625"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633" name="Line 9"/>
          <p:cNvSpPr>
            <a:spLocks noChangeShapeType="1"/>
          </p:cNvSpPr>
          <p:nvPr/>
        </p:nvSpPr>
        <p:spPr bwMode="auto">
          <a:xfrm>
            <a:off x="1152525" y="2833688"/>
            <a:ext cx="0" cy="36036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634" name="Line 10"/>
          <p:cNvSpPr>
            <a:spLocks noChangeShapeType="1"/>
          </p:cNvSpPr>
          <p:nvPr/>
        </p:nvSpPr>
        <p:spPr bwMode="auto">
          <a:xfrm>
            <a:off x="1152525" y="4002088"/>
            <a:ext cx="0" cy="360362"/>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635" name="Line 11"/>
          <p:cNvSpPr>
            <a:spLocks noChangeShapeType="1"/>
          </p:cNvSpPr>
          <p:nvPr/>
        </p:nvSpPr>
        <p:spPr bwMode="auto">
          <a:xfrm>
            <a:off x="219075" y="4325938"/>
            <a:ext cx="936625"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 name="Group 12"/>
          <p:cNvGrpSpPr>
            <a:grpSpLocks/>
          </p:cNvGrpSpPr>
          <p:nvPr/>
        </p:nvGrpSpPr>
        <p:grpSpPr bwMode="auto">
          <a:xfrm rot="-1935712">
            <a:off x="755650" y="3140075"/>
            <a:ext cx="790575" cy="874713"/>
            <a:chOff x="476" y="1842"/>
            <a:chExt cx="498" cy="551"/>
          </a:xfrm>
        </p:grpSpPr>
        <p:grpSp>
          <p:nvGrpSpPr>
            <p:cNvPr id="26686" name="Group 13"/>
            <p:cNvGrpSpPr>
              <a:grpSpLocks/>
            </p:cNvGrpSpPr>
            <p:nvPr/>
          </p:nvGrpSpPr>
          <p:grpSpPr bwMode="auto">
            <a:xfrm>
              <a:off x="476" y="1842"/>
              <a:ext cx="498" cy="551"/>
              <a:chOff x="476" y="1842"/>
              <a:chExt cx="498" cy="551"/>
            </a:xfrm>
          </p:grpSpPr>
          <p:sp>
            <p:nvSpPr>
              <p:cNvPr id="26690" name="Oval 14"/>
              <p:cNvSpPr>
                <a:spLocks noChangeArrowheads="1"/>
              </p:cNvSpPr>
              <p:nvPr/>
            </p:nvSpPr>
            <p:spPr bwMode="auto">
              <a:xfrm rot="1872782">
                <a:off x="476" y="1869"/>
                <a:ext cx="498" cy="498"/>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91" name="Line 15"/>
              <p:cNvSpPr>
                <a:spLocks noChangeShapeType="1"/>
              </p:cNvSpPr>
              <p:nvPr/>
            </p:nvSpPr>
            <p:spPr bwMode="auto">
              <a:xfrm rot="1872782" flipH="1">
                <a:off x="725" y="1842"/>
                <a:ext cx="0" cy="551"/>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692" name="Line 16"/>
              <p:cNvSpPr>
                <a:spLocks noChangeShapeType="1"/>
              </p:cNvSpPr>
              <p:nvPr/>
            </p:nvSpPr>
            <p:spPr bwMode="auto">
              <a:xfrm rot="1872782" flipH="1" flipV="1">
                <a:off x="498" y="1982"/>
                <a:ext cx="454" cy="27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693" name="Line 17"/>
              <p:cNvSpPr>
                <a:spLocks noChangeShapeType="1"/>
              </p:cNvSpPr>
              <p:nvPr/>
            </p:nvSpPr>
            <p:spPr bwMode="auto">
              <a:xfrm rot="1872782" flipH="1">
                <a:off x="498" y="1982"/>
                <a:ext cx="454" cy="272"/>
              </a:xfrm>
              <a:prstGeom prst="line">
                <a:avLst/>
              </a:prstGeom>
              <a:noFill/>
              <a:ln w="76200">
                <a:solidFill>
                  <a:schemeClr val="bg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26687" name="Group 18"/>
            <p:cNvGrpSpPr>
              <a:grpSpLocks/>
            </p:cNvGrpSpPr>
            <p:nvPr/>
          </p:nvGrpSpPr>
          <p:grpSpPr bwMode="auto">
            <a:xfrm>
              <a:off x="615" y="1867"/>
              <a:ext cx="223" cy="498"/>
              <a:chOff x="615" y="1867"/>
              <a:chExt cx="223" cy="498"/>
            </a:xfrm>
          </p:grpSpPr>
          <p:sp>
            <p:nvSpPr>
              <p:cNvPr id="26688" name="Arc 19"/>
              <p:cNvSpPr>
                <a:spLocks/>
              </p:cNvSpPr>
              <p:nvPr/>
            </p:nvSpPr>
            <p:spPr bwMode="auto">
              <a:xfrm>
                <a:off x="627" y="1867"/>
                <a:ext cx="211" cy="249"/>
              </a:xfrm>
              <a:custGeom>
                <a:avLst/>
                <a:gdLst>
                  <a:gd name="T0" fmla="*/ 0 w 18225"/>
                  <a:gd name="T1" fmla="*/ 0 h 21600"/>
                  <a:gd name="T2" fmla="*/ 0 w 18225"/>
                  <a:gd name="T3" fmla="*/ 0 h 21600"/>
                  <a:gd name="T4" fmla="*/ 0 w 18225"/>
                  <a:gd name="T5" fmla="*/ 0 h 21600"/>
                  <a:gd name="T6" fmla="*/ 0 60000 65536"/>
                  <a:gd name="T7" fmla="*/ 0 60000 65536"/>
                  <a:gd name="T8" fmla="*/ 0 60000 65536"/>
                  <a:gd name="T9" fmla="*/ 0 w 18225"/>
                  <a:gd name="T10" fmla="*/ 0 h 21600"/>
                  <a:gd name="T11" fmla="*/ 18225 w 18225"/>
                  <a:gd name="T12" fmla="*/ 21600 h 21600"/>
                </a:gdLst>
                <a:ahLst/>
                <a:cxnLst>
                  <a:cxn ang="T6">
                    <a:pos x="T0" y="T1"/>
                  </a:cxn>
                  <a:cxn ang="T7">
                    <a:pos x="T2" y="T3"/>
                  </a:cxn>
                  <a:cxn ang="T8">
                    <a:pos x="T4" y="T5"/>
                  </a:cxn>
                </a:cxnLst>
                <a:rect l="T9" t="T10" r="T11" b="T12"/>
                <a:pathLst>
                  <a:path w="18225" h="21600" fill="none" extrusionOk="0">
                    <a:moveTo>
                      <a:pt x="0" y="1766"/>
                    </a:moveTo>
                    <a:cubicBezTo>
                      <a:pt x="2701" y="601"/>
                      <a:pt x="5612" y="-1"/>
                      <a:pt x="8555" y="0"/>
                    </a:cubicBezTo>
                    <a:cubicBezTo>
                      <a:pt x="11912" y="0"/>
                      <a:pt x="15223" y="782"/>
                      <a:pt x="18225" y="2285"/>
                    </a:cubicBezTo>
                  </a:path>
                  <a:path w="18225" h="21600" stroke="0" extrusionOk="0">
                    <a:moveTo>
                      <a:pt x="0" y="1766"/>
                    </a:moveTo>
                    <a:cubicBezTo>
                      <a:pt x="2701" y="601"/>
                      <a:pt x="5612" y="-1"/>
                      <a:pt x="8555" y="0"/>
                    </a:cubicBezTo>
                    <a:cubicBezTo>
                      <a:pt x="11912" y="0"/>
                      <a:pt x="15223" y="782"/>
                      <a:pt x="18225" y="2285"/>
                    </a:cubicBezTo>
                    <a:lnTo>
                      <a:pt x="8555" y="21600"/>
                    </a:lnTo>
                    <a:lnTo>
                      <a:pt x="0" y="1766"/>
                    </a:lnTo>
                    <a:close/>
                  </a:path>
                </a:pathLst>
              </a:cu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sp>
            <p:nvSpPr>
              <p:cNvPr id="26689" name="Arc 20"/>
              <p:cNvSpPr>
                <a:spLocks/>
              </p:cNvSpPr>
              <p:nvPr/>
            </p:nvSpPr>
            <p:spPr bwMode="auto">
              <a:xfrm flipV="1">
                <a:off x="615" y="2116"/>
                <a:ext cx="211" cy="249"/>
              </a:xfrm>
              <a:custGeom>
                <a:avLst/>
                <a:gdLst>
                  <a:gd name="T0" fmla="*/ 0 w 18133"/>
                  <a:gd name="T1" fmla="*/ 0 h 21600"/>
                  <a:gd name="T2" fmla="*/ 0 w 18133"/>
                  <a:gd name="T3" fmla="*/ 0 h 21600"/>
                  <a:gd name="T4" fmla="*/ 0 w 18133"/>
                  <a:gd name="T5" fmla="*/ 0 h 21600"/>
                  <a:gd name="T6" fmla="*/ 0 60000 65536"/>
                  <a:gd name="T7" fmla="*/ 0 60000 65536"/>
                  <a:gd name="T8" fmla="*/ 0 60000 65536"/>
                  <a:gd name="T9" fmla="*/ 0 w 18133"/>
                  <a:gd name="T10" fmla="*/ 0 h 21600"/>
                  <a:gd name="T11" fmla="*/ 18133 w 18133"/>
                  <a:gd name="T12" fmla="*/ 21600 h 21600"/>
                </a:gdLst>
                <a:ahLst/>
                <a:cxnLst>
                  <a:cxn ang="T6">
                    <a:pos x="T0" y="T1"/>
                  </a:cxn>
                  <a:cxn ang="T7">
                    <a:pos x="T2" y="T3"/>
                  </a:cxn>
                  <a:cxn ang="T8">
                    <a:pos x="T4" y="T5"/>
                  </a:cxn>
                </a:cxnLst>
                <a:rect l="T9" t="T10" r="T11" b="T12"/>
                <a:pathLst>
                  <a:path w="18133" h="21600" fill="none" extrusionOk="0">
                    <a:moveTo>
                      <a:pt x="-1" y="1784"/>
                    </a:moveTo>
                    <a:cubicBezTo>
                      <a:pt x="2713" y="607"/>
                      <a:pt x="5640" y="-1"/>
                      <a:pt x="8598" y="0"/>
                    </a:cubicBezTo>
                    <a:cubicBezTo>
                      <a:pt x="11904" y="0"/>
                      <a:pt x="15166" y="758"/>
                      <a:pt x="18132" y="2218"/>
                    </a:cubicBezTo>
                  </a:path>
                  <a:path w="18133" h="21600" stroke="0" extrusionOk="0">
                    <a:moveTo>
                      <a:pt x="-1" y="1784"/>
                    </a:moveTo>
                    <a:cubicBezTo>
                      <a:pt x="2713" y="607"/>
                      <a:pt x="5640" y="-1"/>
                      <a:pt x="8598" y="0"/>
                    </a:cubicBezTo>
                    <a:cubicBezTo>
                      <a:pt x="11904" y="0"/>
                      <a:pt x="15166" y="758"/>
                      <a:pt x="18132" y="2218"/>
                    </a:cubicBezTo>
                    <a:lnTo>
                      <a:pt x="8598" y="21600"/>
                    </a:lnTo>
                    <a:lnTo>
                      <a:pt x="-1" y="1784"/>
                    </a:lnTo>
                    <a:close/>
                  </a:path>
                </a:pathLst>
              </a:custGeom>
              <a:noFill/>
              <a:ln w="762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fr-FR"/>
              </a:p>
            </p:txBody>
          </p:sp>
        </p:grpSp>
      </p:grpSp>
      <p:grpSp>
        <p:nvGrpSpPr>
          <p:cNvPr id="26637" name="Group 21"/>
          <p:cNvGrpSpPr>
            <a:grpSpLocks/>
          </p:cNvGrpSpPr>
          <p:nvPr/>
        </p:nvGrpSpPr>
        <p:grpSpPr bwMode="auto">
          <a:xfrm>
            <a:off x="3348038" y="2420938"/>
            <a:ext cx="935037" cy="2232025"/>
            <a:chOff x="2109" y="1389"/>
            <a:chExt cx="589" cy="1406"/>
          </a:xfrm>
        </p:grpSpPr>
        <p:sp>
          <p:nvSpPr>
            <p:cNvPr id="26679" name="Line 22"/>
            <p:cNvSpPr>
              <a:spLocks noChangeShapeType="1"/>
            </p:cNvSpPr>
            <p:nvPr/>
          </p:nvSpPr>
          <p:spPr bwMode="auto">
            <a:xfrm>
              <a:off x="233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80" name="Line 23"/>
            <p:cNvSpPr>
              <a:spLocks noChangeShapeType="1"/>
            </p:cNvSpPr>
            <p:nvPr/>
          </p:nvSpPr>
          <p:spPr bwMode="auto">
            <a:xfrm>
              <a:off x="2426"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81" name="Line 24"/>
            <p:cNvSpPr>
              <a:spLocks noChangeShapeType="1"/>
            </p:cNvSpPr>
            <p:nvPr/>
          </p:nvSpPr>
          <p:spPr bwMode="auto">
            <a:xfrm>
              <a:off x="2517"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82" name="Line 25"/>
            <p:cNvSpPr>
              <a:spLocks noChangeShapeType="1"/>
            </p:cNvSpPr>
            <p:nvPr/>
          </p:nvSpPr>
          <p:spPr bwMode="auto">
            <a:xfrm>
              <a:off x="260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83" name="Line 26"/>
            <p:cNvSpPr>
              <a:spLocks noChangeShapeType="1"/>
            </p:cNvSpPr>
            <p:nvPr/>
          </p:nvSpPr>
          <p:spPr bwMode="auto">
            <a:xfrm>
              <a:off x="2698" y="1389"/>
              <a:ext cx="0" cy="1406"/>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84" name="Text Box 27"/>
            <p:cNvSpPr txBox="1">
              <a:spLocks noChangeArrowheads="1"/>
            </p:cNvSpPr>
            <p:nvPr/>
          </p:nvSpPr>
          <p:spPr bwMode="auto">
            <a:xfrm>
              <a:off x="2109" y="1389"/>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FF0000"/>
                  </a:solidFill>
                  <a:latin typeface="Arial" panose="020B0604020202020204" pitchFamily="34" charset="0"/>
                </a:rPr>
                <a:t>B</a:t>
              </a:r>
              <a:endParaRPr lang="en-US" altLang="fr-FR" sz="1800" b="1">
                <a:solidFill>
                  <a:srgbClr val="FF0000"/>
                </a:solidFill>
                <a:latin typeface="Arial" panose="020B0604020202020204" pitchFamily="34" charset="0"/>
              </a:endParaRPr>
            </a:p>
          </p:txBody>
        </p:sp>
        <p:sp>
          <p:nvSpPr>
            <p:cNvPr id="26685" name="Line 28"/>
            <p:cNvSpPr>
              <a:spLocks noChangeShapeType="1"/>
            </p:cNvSpPr>
            <p:nvPr/>
          </p:nvSpPr>
          <p:spPr bwMode="auto">
            <a:xfrm>
              <a:off x="2155" y="1434"/>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sp>
        <p:nvSpPr>
          <p:cNvPr id="26638" name="Text Box 29"/>
          <p:cNvSpPr txBox="1">
            <a:spLocks noChangeArrowheads="1"/>
          </p:cNvSpPr>
          <p:nvPr/>
        </p:nvSpPr>
        <p:spPr bwMode="auto">
          <a:xfrm>
            <a:off x="4572000" y="2420938"/>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0066FF"/>
                </a:solidFill>
                <a:latin typeface="Arial" panose="020B0604020202020204" pitchFamily="34" charset="0"/>
              </a:rPr>
              <a:t>F</a:t>
            </a:r>
            <a:endParaRPr lang="en-US" altLang="fr-FR" sz="1800" b="1">
              <a:solidFill>
                <a:srgbClr val="0066FF"/>
              </a:solidFill>
              <a:latin typeface="Arial" panose="020B0604020202020204" pitchFamily="34" charset="0"/>
            </a:endParaRPr>
          </a:p>
        </p:txBody>
      </p:sp>
      <p:sp>
        <p:nvSpPr>
          <p:cNvPr id="26639" name="Line 30"/>
          <p:cNvSpPr>
            <a:spLocks noChangeShapeType="1"/>
          </p:cNvSpPr>
          <p:nvPr/>
        </p:nvSpPr>
        <p:spPr bwMode="auto">
          <a:xfrm>
            <a:off x="4643438" y="2492375"/>
            <a:ext cx="215900"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40" name="Text Box 31"/>
          <p:cNvSpPr txBox="1">
            <a:spLocks noChangeArrowheads="1"/>
          </p:cNvSpPr>
          <p:nvPr/>
        </p:nvSpPr>
        <p:spPr bwMode="auto">
          <a:xfrm>
            <a:off x="3275013" y="4292600"/>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0066FF"/>
                </a:solidFill>
                <a:latin typeface="Arial" panose="020B0604020202020204" pitchFamily="34" charset="0"/>
              </a:rPr>
              <a:t>F</a:t>
            </a:r>
            <a:endParaRPr lang="en-US" altLang="fr-FR" sz="1800" b="1">
              <a:solidFill>
                <a:srgbClr val="0066FF"/>
              </a:solidFill>
              <a:latin typeface="Arial" panose="020B0604020202020204" pitchFamily="34" charset="0"/>
            </a:endParaRPr>
          </a:p>
        </p:txBody>
      </p:sp>
      <p:sp>
        <p:nvSpPr>
          <p:cNvPr id="26641" name="Line 32"/>
          <p:cNvSpPr>
            <a:spLocks noChangeShapeType="1"/>
          </p:cNvSpPr>
          <p:nvPr/>
        </p:nvSpPr>
        <p:spPr bwMode="auto">
          <a:xfrm>
            <a:off x="3346450" y="4364038"/>
            <a:ext cx="215900"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grpSp>
        <p:nvGrpSpPr>
          <p:cNvPr id="6" name="Group 33"/>
          <p:cNvGrpSpPr>
            <a:grpSpLocks/>
          </p:cNvGrpSpPr>
          <p:nvPr/>
        </p:nvGrpSpPr>
        <p:grpSpPr bwMode="auto">
          <a:xfrm rot="-1850440">
            <a:off x="3276600" y="2708275"/>
            <a:ext cx="1414463" cy="1600200"/>
            <a:chOff x="2063" y="1570"/>
            <a:chExt cx="891" cy="1008"/>
          </a:xfrm>
        </p:grpSpPr>
        <p:grpSp>
          <p:nvGrpSpPr>
            <p:cNvPr id="26665" name="Group 34"/>
            <p:cNvGrpSpPr>
              <a:grpSpLocks/>
            </p:cNvGrpSpPr>
            <p:nvPr/>
          </p:nvGrpSpPr>
          <p:grpSpPr bwMode="auto">
            <a:xfrm>
              <a:off x="2063" y="1570"/>
              <a:ext cx="891" cy="998"/>
              <a:chOff x="2063" y="1570"/>
              <a:chExt cx="891" cy="998"/>
            </a:xfrm>
          </p:grpSpPr>
          <p:sp>
            <p:nvSpPr>
              <p:cNvPr id="26669" name="Line 35"/>
              <p:cNvSpPr>
                <a:spLocks noChangeShapeType="1"/>
              </p:cNvSpPr>
              <p:nvPr/>
            </p:nvSpPr>
            <p:spPr bwMode="auto">
              <a:xfrm flipV="1">
                <a:off x="2513" y="1570"/>
                <a:ext cx="0" cy="998"/>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6670" name="Group 36"/>
              <p:cNvGrpSpPr>
                <a:grpSpLocks/>
              </p:cNvGrpSpPr>
              <p:nvPr/>
            </p:nvGrpSpPr>
            <p:grpSpPr bwMode="auto">
              <a:xfrm>
                <a:off x="2063" y="1573"/>
                <a:ext cx="891" cy="995"/>
                <a:chOff x="2063" y="1573"/>
                <a:chExt cx="891" cy="995"/>
              </a:xfrm>
            </p:grpSpPr>
            <p:sp>
              <p:nvSpPr>
                <p:cNvPr id="26671" name="Line 37"/>
                <p:cNvSpPr>
                  <a:spLocks noChangeShapeType="1"/>
                </p:cNvSpPr>
                <p:nvPr/>
              </p:nvSpPr>
              <p:spPr bwMode="auto">
                <a:xfrm flipH="1" flipV="1">
                  <a:off x="2082" y="1820"/>
                  <a:ext cx="862" cy="499"/>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672" name="Line 38"/>
                <p:cNvSpPr>
                  <a:spLocks noChangeShapeType="1"/>
                </p:cNvSpPr>
                <p:nvPr/>
              </p:nvSpPr>
              <p:spPr bwMode="auto">
                <a:xfrm flipH="1">
                  <a:off x="2082" y="1820"/>
                  <a:ext cx="862" cy="498"/>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6673" name="Oval 39"/>
                <p:cNvSpPr>
                  <a:spLocks noChangeArrowheads="1"/>
                </p:cNvSpPr>
                <p:nvPr/>
              </p:nvSpPr>
              <p:spPr bwMode="auto">
                <a:xfrm flipV="1">
                  <a:off x="2421" y="2387"/>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74" name="Oval 40"/>
                <p:cNvSpPr>
                  <a:spLocks noChangeArrowheads="1"/>
                </p:cNvSpPr>
                <p:nvPr/>
              </p:nvSpPr>
              <p:spPr bwMode="auto">
                <a:xfrm flipV="1">
                  <a:off x="2425" y="157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75" name="Oval 41"/>
                <p:cNvSpPr>
                  <a:spLocks noChangeArrowheads="1"/>
                </p:cNvSpPr>
                <p:nvPr/>
              </p:nvSpPr>
              <p:spPr bwMode="auto">
                <a:xfrm flipV="1">
                  <a:off x="2063" y="218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76" name="Oval 42"/>
                <p:cNvSpPr>
                  <a:spLocks noChangeArrowheads="1"/>
                </p:cNvSpPr>
                <p:nvPr/>
              </p:nvSpPr>
              <p:spPr bwMode="auto">
                <a:xfrm flipV="1">
                  <a:off x="2769" y="1777"/>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77" name="Oval 43"/>
                <p:cNvSpPr>
                  <a:spLocks noChangeArrowheads="1"/>
                </p:cNvSpPr>
                <p:nvPr/>
              </p:nvSpPr>
              <p:spPr bwMode="auto">
                <a:xfrm flipV="1">
                  <a:off x="2065" y="1791"/>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78" name="Oval 44"/>
                <p:cNvSpPr>
                  <a:spLocks noChangeArrowheads="1"/>
                </p:cNvSpPr>
                <p:nvPr/>
              </p:nvSpPr>
              <p:spPr bwMode="auto">
                <a:xfrm flipV="1">
                  <a:off x="2773" y="2193"/>
                  <a:ext cx="181" cy="181"/>
                </a:xfrm>
                <a:prstGeom prst="ellipse">
                  <a:avLst/>
                </a:prstGeom>
                <a:solidFill>
                  <a:schemeClr val="bg1"/>
                </a:solidFill>
                <a:ln w="2857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grpSp>
          <p:nvGrpSpPr>
            <p:cNvPr id="26666" name="Group 45"/>
            <p:cNvGrpSpPr>
              <a:grpSpLocks/>
            </p:cNvGrpSpPr>
            <p:nvPr/>
          </p:nvGrpSpPr>
          <p:grpSpPr bwMode="auto">
            <a:xfrm>
              <a:off x="2412" y="1635"/>
              <a:ext cx="191" cy="943"/>
              <a:chOff x="2412" y="1635"/>
              <a:chExt cx="191" cy="943"/>
            </a:xfrm>
          </p:grpSpPr>
          <p:sp>
            <p:nvSpPr>
              <p:cNvPr id="26667" name="Oval 46"/>
              <p:cNvSpPr>
                <a:spLocks noChangeArrowheads="1"/>
              </p:cNvSpPr>
              <p:nvPr/>
            </p:nvSpPr>
            <p:spPr bwMode="auto">
              <a:xfrm flipV="1">
                <a:off x="2490" y="1635"/>
                <a:ext cx="45" cy="45"/>
              </a:xfrm>
              <a:prstGeom prst="ellipse">
                <a:avLst/>
              </a:prstGeom>
              <a:solidFill>
                <a:schemeClr val="tx2"/>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6668" name="Text Box 47"/>
              <p:cNvSpPr txBox="1">
                <a:spLocks noChangeArrowheads="1"/>
              </p:cNvSpPr>
              <p:nvPr/>
            </p:nvSpPr>
            <p:spPr bwMode="auto">
              <a:xfrm flipV="1">
                <a:off x="2412" y="2386"/>
                <a:ext cx="19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400">
                    <a:latin typeface="Arial" panose="020B0604020202020204" pitchFamily="34" charset="0"/>
                  </a:rPr>
                  <a:t>X</a:t>
                </a:r>
                <a:endParaRPr lang="en-US" altLang="fr-FR" sz="1400">
                  <a:latin typeface="Arial" panose="020B0604020202020204" pitchFamily="34" charset="0"/>
                </a:endParaRPr>
              </a:p>
            </p:txBody>
          </p:sp>
        </p:grpSp>
      </p:grpSp>
      <p:sp>
        <p:nvSpPr>
          <p:cNvPr id="279600" name="Line 48"/>
          <p:cNvSpPr>
            <a:spLocks noChangeShapeType="1"/>
          </p:cNvSpPr>
          <p:nvPr/>
        </p:nvSpPr>
        <p:spPr bwMode="auto">
          <a:xfrm>
            <a:off x="3779838" y="2924175"/>
            <a:ext cx="503237"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79601" name="Line 49"/>
          <p:cNvSpPr>
            <a:spLocks noChangeShapeType="1"/>
          </p:cNvSpPr>
          <p:nvPr/>
        </p:nvSpPr>
        <p:spPr bwMode="auto">
          <a:xfrm flipH="1">
            <a:off x="3708400" y="4076700"/>
            <a:ext cx="503238" cy="0"/>
          </a:xfrm>
          <a:prstGeom prst="line">
            <a:avLst/>
          </a:prstGeom>
          <a:noFill/>
          <a:ln w="57150">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45" name="Rectangle 50"/>
          <p:cNvSpPr>
            <a:spLocks noChangeArrowheads="1"/>
          </p:cNvSpPr>
          <p:nvPr/>
        </p:nvSpPr>
        <p:spPr bwMode="auto">
          <a:xfrm>
            <a:off x="3924300" y="836613"/>
            <a:ext cx="207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Stator / Inducteur</a:t>
            </a:r>
            <a:endParaRPr lang="en-US" altLang="fr-FR" sz="1800" b="1">
              <a:latin typeface="Arial" panose="020B0604020202020204" pitchFamily="34" charset="0"/>
            </a:endParaRPr>
          </a:p>
        </p:txBody>
      </p:sp>
      <p:sp>
        <p:nvSpPr>
          <p:cNvPr id="26646" name="Text Box 51"/>
          <p:cNvSpPr txBox="1">
            <a:spLocks noChangeArrowheads="1"/>
          </p:cNvSpPr>
          <p:nvPr/>
        </p:nvSpPr>
        <p:spPr bwMode="auto">
          <a:xfrm>
            <a:off x="323850" y="1557338"/>
            <a:ext cx="18002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Rotor / Induit</a:t>
            </a:r>
            <a:endParaRPr lang="en-US" altLang="fr-FR" sz="1800" b="1">
              <a:latin typeface="Arial" panose="020B0604020202020204" pitchFamily="34" charset="0"/>
            </a:endParaRPr>
          </a:p>
        </p:txBody>
      </p:sp>
      <p:grpSp>
        <p:nvGrpSpPr>
          <p:cNvPr id="26647" name="Group 52"/>
          <p:cNvGrpSpPr>
            <a:grpSpLocks/>
          </p:cNvGrpSpPr>
          <p:nvPr/>
        </p:nvGrpSpPr>
        <p:grpSpPr bwMode="auto">
          <a:xfrm>
            <a:off x="323850" y="620713"/>
            <a:ext cx="2114550" cy="869950"/>
            <a:chOff x="249" y="119"/>
            <a:chExt cx="1332" cy="548"/>
          </a:xfrm>
        </p:grpSpPr>
        <p:sp>
          <p:nvSpPr>
            <p:cNvPr id="26657" name="Text Box 53"/>
            <p:cNvSpPr txBox="1">
              <a:spLocks noChangeArrowheads="1"/>
            </p:cNvSpPr>
            <p:nvPr/>
          </p:nvSpPr>
          <p:spPr bwMode="auto">
            <a:xfrm>
              <a:off x="930" y="391"/>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FF0000"/>
                  </a:solidFill>
                  <a:latin typeface="Arial" panose="020B0604020202020204" pitchFamily="34" charset="0"/>
                </a:rPr>
                <a:t>B</a:t>
              </a:r>
              <a:endParaRPr lang="en-US" altLang="fr-FR" sz="1800" b="1">
                <a:solidFill>
                  <a:srgbClr val="FF0000"/>
                </a:solidFill>
                <a:latin typeface="Arial" panose="020B0604020202020204" pitchFamily="34" charset="0"/>
              </a:endParaRPr>
            </a:p>
          </p:txBody>
        </p:sp>
        <p:sp>
          <p:nvSpPr>
            <p:cNvPr id="26658" name="Line 54"/>
            <p:cNvSpPr>
              <a:spLocks noChangeShapeType="1"/>
            </p:cNvSpPr>
            <p:nvPr/>
          </p:nvSpPr>
          <p:spPr bwMode="auto">
            <a:xfrm>
              <a:off x="975" y="391"/>
              <a:ext cx="136" cy="0"/>
            </a:xfrm>
            <a:prstGeom prst="line">
              <a:avLst/>
            </a:prstGeom>
            <a:noFill/>
            <a:ln w="9525">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59" name="Text Box 55"/>
            <p:cNvSpPr txBox="1">
              <a:spLocks noChangeArrowheads="1"/>
            </p:cNvSpPr>
            <p:nvPr/>
          </p:nvSpPr>
          <p:spPr bwMode="auto">
            <a:xfrm>
              <a:off x="249" y="391"/>
              <a:ext cx="2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solidFill>
                    <a:srgbClr val="0066FF"/>
                  </a:solidFill>
                  <a:latin typeface="Arial" panose="020B0604020202020204" pitchFamily="34" charset="0"/>
                </a:rPr>
                <a:t>F </a:t>
              </a:r>
              <a:endParaRPr lang="en-US" altLang="fr-FR" sz="1800" b="1">
                <a:solidFill>
                  <a:srgbClr val="0066FF"/>
                </a:solidFill>
                <a:latin typeface="Arial" panose="020B0604020202020204" pitchFamily="34" charset="0"/>
              </a:endParaRPr>
            </a:p>
          </p:txBody>
        </p:sp>
        <p:sp>
          <p:nvSpPr>
            <p:cNvPr id="26660" name="Line 56"/>
            <p:cNvSpPr>
              <a:spLocks noChangeShapeType="1"/>
            </p:cNvSpPr>
            <p:nvPr/>
          </p:nvSpPr>
          <p:spPr bwMode="auto">
            <a:xfrm>
              <a:off x="295" y="391"/>
              <a:ext cx="136" cy="0"/>
            </a:xfrm>
            <a:prstGeom prst="line">
              <a:avLst/>
            </a:prstGeom>
            <a:noFill/>
            <a:ln w="9525">
              <a:solidFill>
                <a:srgbClr val="0066FF"/>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61" name="Text Box 57"/>
            <p:cNvSpPr txBox="1">
              <a:spLocks noChangeArrowheads="1"/>
            </p:cNvSpPr>
            <p:nvPr/>
          </p:nvSpPr>
          <p:spPr bwMode="auto">
            <a:xfrm>
              <a:off x="431" y="391"/>
              <a:ext cx="4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 i dl</a:t>
              </a:r>
              <a:endParaRPr lang="en-US" altLang="fr-FR" sz="1800" b="1">
                <a:latin typeface="Arial" panose="020B0604020202020204" pitchFamily="34" charset="0"/>
              </a:endParaRPr>
            </a:p>
          </p:txBody>
        </p:sp>
        <p:sp>
          <p:nvSpPr>
            <p:cNvPr id="26662" name="Line 58"/>
            <p:cNvSpPr>
              <a:spLocks noChangeShapeType="1"/>
            </p:cNvSpPr>
            <p:nvPr/>
          </p:nvSpPr>
          <p:spPr bwMode="auto">
            <a:xfrm>
              <a:off x="703" y="391"/>
              <a:ext cx="13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26663" name="Text Box 59"/>
            <p:cNvSpPr txBox="1">
              <a:spLocks noChangeArrowheads="1"/>
            </p:cNvSpPr>
            <p:nvPr/>
          </p:nvSpPr>
          <p:spPr bwMode="auto">
            <a:xfrm>
              <a:off x="793" y="436"/>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a:t>
              </a:r>
              <a:endParaRPr lang="en-US" altLang="fr-FR" sz="1800" b="1">
                <a:latin typeface="Arial" panose="020B0604020202020204" pitchFamily="34" charset="0"/>
              </a:endParaRPr>
            </a:p>
          </p:txBody>
        </p:sp>
        <p:sp>
          <p:nvSpPr>
            <p:cNvPr id="26664" name="Text Box 60"/>
            <p:cNvSpPr txBox="1">
              <a:spLocks noChangeArrowheads="1"/>
            </p:cNvSpPr>
            <p:nvPr/>
          </p:nvSpPr>
          <p:spPr bwMode="auto">
            <a:xfrm>
              <a:off x="249" y="119"/>
              <a:ext cx="13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Force de Laplace</a:t>
              </a:r>
              <a:r>
                <a:rPr lang="fr-CH" altLang="fr-FR" sz="1800" b="1">
                  <a:solidFill>
                    <a:srgbClr val="0066FF"/>
                  </a:solidFill>
                  <a:latin typeface="Arial" panose="020B0604020202020204" pitchFamily="34" charset="0"/>
                </a:rPr>
                <a:t> </a:t>
              </a:r>
              <a:endParaRPr lang="en-US" altLang="fr-FR" sz="1800" b="1">
                <a:solidFill>
                  <a:srgbClr val="0066FF"/>
                </a:solidFill>
                <a:latin typeface="Arial" panose="020B0604020202020204" pitchFamily="34" charset="0"/>
              </a:endParaRPr>
            </a:p>
          </p:txBody>
        </p:sp>
      </p:grpSp>
      <p:grpSp>
        <p:nvGrpSpPr>
          <p:cNvPr id="11" name="Group 61"/>
          <p:cNvGrpSpPr>
            <a:grpSpLocks/>
          </p:cNvGrpSpPr>
          <p:nvPr/>
        </p:nvGrpSpPr>
        <p:grpSpPr bwMode="auto">
          <a:xfrm>
            <a:off x="1547813" y="3860800"/>
            <a:ext cx="2159000" cy="1446213"/>
            <a:chOff x="975" y="2296"/>
            <a:chExt cx="1360" cy="911"/>
          </a:xfrm>
        </p:grpSpPr>
        <p:sp>
          <p:nvSpPr>
            <p:cNvPr id="26655" name="Line 62"/>
            <p:cNvSpPr>
              <a:spLocks noChangeShapeType="1"/>
            </p:cNvSpPr>
            <p:nvPr/>
          </p:nvSpPr>
          <p:spPr bwMode="auto">
            <a:xfrm>
              <a:off x="975" y="2296"/>
              <a:ext cx="816" cy="680"/>
            </a:xfrm>
            <a:prstGeom prst="line">
              <a:avLst/>
            </a:prstGeom>
            <a:noFill/>
            <a:ln w="76200">
              <a:solidFill>
                <a:srgbClr val="FF9900"/>
              </a:solidFill>
              <a:round/>
              <a:headEnd type="triangle" w="med" len="med"/>
              <a:tailEnd/>
            </a:ln>
            <a:extLst>
              <a:ext uri="{909E8E84-426E-40DD-AFC4-6F175D3DCCD1}">
                <a14:hiddenFill xmlns:a14="http://schemas.microsoft.com/office/drawing/2010/main">
                  <a:noFill/>
                </a14:hiddenFill>
              </a:ext>
            </a:extLst>
          </p:spPr>
          <p:txBody>
            <a:bodyPr/>
            <a:lstStyle/>
            <a:p>
              <a:endParaRPr lang="fr-FR"/>
            </a:p>
          </p:txBody>
        </p:sp>
        <p:sp>
          <p:nvSpPr>
            <p:cNvPr id="26656" name="Text Box 63"/>
            <p:cNvSpPr txBox="1">
              <a:spLocks noChangeArrowheads="1"/>
            </p:cNvSpPr>
            <p:nvPr/>
          </p:nvSpPr>
          <p:spPr bwMode="auto">
            <a:xfrm>
              <a:off x="1292" y="2976"/>
              <a:ext cx="104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Le collecteur</a:t>
              </a:r>
              <a:endParaRPr lang="en-US" altLang="fr-FR" sz="1800" b="1">
                <a:latin typeface="Arial" panose="020B0604020202020204" pitchFamily="34" charset="0"/>
              </a:endParaRPr>
            </a:p>
          </p:txBody>
        </p:sp>
      </p:grpSp>
      <p:grpSp>
        <p:nvGrpSpPr>
          <p:cNvPr id="12" name="Group 64"/>
          <p:cNvGrpSpPr>
            <a:grpSpLocks/>
          </p:cNvGrpSpPr>
          <p:nvPr/>
        </p:nvGrpSpPr>
        <p:grpSpPr bwMode="auto">
          <a:xfrm>
            <a:off x="971550" y="4005263"/>
            <a:ext cx="1655763" cy="1735137"/>
            <a:chOff x="612" y="2387"/>
            <a:chExt cx="1043" cy="1093"/>
          </a:xfrm>
        </p:grpSpPr>
        <p:sp>
          <p:nvSpPr>
            <p:cNvPr id="26653" name="Line 65"/>
            <p:cNvSpPr>
              <a:spLocks noChangeShapeType="1"/>
            </p:cNvSpPr>
            <p:nvPr/>
          </p:nvSpPr>
          <p:spPr bwMode="auto">
            <a:xfrm>
              <a:off x="748" y="2387"/>
              <a:ext cx="363" cy="862"/>
            </a:xfrm>
            <a:prstGeom prst="line">
              <a:avLst/>
            </a:prstGeom>
            <a:noFill/>
            <a:ln w="76200">
              <a:solidFill>
                <a:srgbClr val="FF9900"/>
              </a:solidFill>
              <a:round/>
              <a:headEnd type="triangle" w="med" len="med"/>
              <a:tailEnd/>
            </a:ln>
            <a:extLst>
              <a:ext uri="{909E8E84-426E-40DD-AFC4-6F175D3DCCD1}">
                <a14:hiddenFill xmlns:a14="http://schemas.microsoft.com/office/drawing/2010/main">
                  <a:noFill/>
                </a14:hiddenFill>
              </a:ext>
            </a:extLst>
          </p:spPr>
          <p:txBody>
            <a:bodyPr/>
            <a:lstStyle/>
            <a:p>
              <a:endParaRPr lang="fr-FR"/>
            </a:p>
          </p:txBody>
        </p:sp>
        <p:sp>
          <p:nvSpPr>
            <p:cNvPr id="26654" name="Text Box 66"/>
            <p:cNvSpPr txBox="1">
              <a:spLocks noChangeArrowheads="1"/>
            </p:cNvSpPr>
            <p:nvPr/>
          </p:nvSpPr>
          <p:spPr bwMode="auto">
            <a:xfrm>
              <a:off x="612" y="3249"/>
              <a:ext cx="104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CH" altLang="fr-FR" sz="1800" b="1">
                  <a:latin typeface="Arial" panose="020B0604020202020204" pitchFamily="34" charset="0"/>
                </a:rPr>
                <a:t>Charbons</a:t>
              </a:r>
              <a:endParaRPr lang="en-US" altLang="fr-FR" sz="1800" b="1">
                <a:latin typeface="Arial" panose="020B0604020202020204" pitchFamily="34" charset="0"/>
              </a:endParaRPr>
            </a:p>
          </p:txBody>
        </p:sp>
      </p:grpSp>
      <p:sp>
        <p:nvSpPr>
          <p:cNvPr id="26650" name="Rectangle 10"/>
          <p:cNvSpPr>
            <a:spLocks noChangeArrowheads="1"/>
          </p:cNvSpPr>
          <p:nvPr/>
        </p:nvSpPr>
        <p:spPr bwMode="auto">
          <a:xfrm>
            <a:off x="182563" y="146050"/>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8" name="Espace réservé du pied de page 1"/>
          <p:cNvSpPr>
            <a:spLocks noGrp="1"/>
          </p:cNvSpPr>
          <p:nvPr>
            <p:ph type="ftr" sz="quarter" idx="11"/>
          </p:nvPr>
        </p:nvSpPr>
        <p:spPr/>
        <p:txBody>
          <a:bodyPr/>
          <a:lstStyle/>
          <a:p>
            <a:pPr>
              <a:defRPr/>
            </a:pPr>
            <a:r>
              <a:rPr lang="fr-FR" dirty="0" smtClean="0"/>
              <a:t>Commande des machines   3.MCC     Ali NEJMI</a:t>
            </a:r>
            <a:endParaRPr lang="en-US" dirty="0"/>
          </a:p>
        </p:txBody>
      </p:sp>
      <p:sp>
        <p:nvSpPr>
          <p:cNvPr id="26652" name="Rectangle 80"/>
          <p:cNvSpPr>
            <a:spLocks noChangeArrowheads="1"/>
          </p:cNvSpPr>
          <p:nvPr/>
        </p:nvSpPr>
        <p:spPr bwMode="auto">
          <a:xfrm>
            <a:off x="236538" y="211138"/>
            <a:ext cx="26225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Production du couple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mph" presetSubtype="0" fill="hold" nodeType="clickEffect">
                                  <p:stCondLst>
                                    <p:cond delay="0"/>
                                  </p:stCondLst>
                                  <p:childTnLst>
                                    <p:animRot by="3600000">
                                      <p:cBhvr>
                                        <p:cTn id="6" dur="2000" fill="hold"/>
                                        <p:tgtEl>
                                          <p:spTgt spid="2"/>
                                        </p:tgtEl>
                                        <p:attrNameLst>
                                          <p:attrName>r</p:attrName>
                                        </p:attrNameLst>
                                      </p:cBhvr>
                                    </p:animRot>
                                  </p:childTnLst>
                                </p:cTn>
                              </p:par>
                              <p:par>
                                <p:cTn id="7" presetID="8" presetClass="emph" presetSubtype="0" fill="hold" nodeType="withEffect">
                                  <p:stCondLst>
                                    <p:cond delay="0"/>
                                  </p:stCondLst>
                                  <p:childTnLst>
                                    <p:animRot by="3600000">
                                      <p:cBhvr>
                                        <p:cTn id="8" dur="2000" fill="hold"/>
                                        <p:tgtEl>
                                          <p:spTgt spid="6"/>
                                        </p:tgtEl>
                                        <p:attrNameLst>
                                          <p:attrName>r</p:attrName>
                                        </p:attrNameLst>
                                      </p:cBhvr>
                                    </p:animRot>
                                  </p:childTnLst>
                                </p:cTn>
                              </p:par>
                              <p:par>
                                <p:cTn id="9" presetID="44" presetClass="path" presetSubtype="0" fill="hold" grpId="0" nodeType="withEffect">
                                  <p:stCondLst>
                                    <p:cond delay="0"/>
                                  </p:stCondLst>
                                  <p:childTnLst>
                                    <p:animMotion origin="layout" path="M 3.33333E-6 2.59259E-6 L 0.01875 -0.00787 C 0.02291 -0.00949 0.02882 -0.01042 0.03507 -0.01042 C 0.04201 -0.01042 0.04757 -0.00949 0.05173 -0.00787 L 0.07083 2.59259E-6 " pathEditMode="relative" rAng="0" ptsTypes="FffFF">
                                      <p:cBhvr>
                                        <p:cTn id="10" dur="2000" fill="hold"/>
                                        <p:tgtEl>
                                          <p:spTgt spid="279600"/>
                                        </p:tgtEl>
                                        <p:attrNameLst>
                                          <p:attrName>ppt_x</p:attrName>
                                          <p:attrName>ppt_y</p:attrName>
                                        </p:attrNameLst>
                                      </p:cBhvr>
                                      <p:rCtr x="3542" y="-532"/>
                                    </p:animMotion>
                                  </p:childTnLst>
                                </p:cTn>
                              </p:par>
                              <p:par>
                                <p:cTn id="11" presetID="44" presetClass="path" presetSubtype="0" fill="hold" grpId="0" nodeType="withEffect">
                                  <p:stCondLst>
                                    <p:cond delay="0"/>
                                  </p:stCondLst>
                                  <p:childTnLst>
                                    <p:animMotion origin="layout" path="M -1.38889E-6 -2.96296E-6 L -0.01979 0.0081 C -0.02396 0.00973 -0.03021 0.01065 -0.0368 0.01065 C -0.0441 0.01065 -0.05 0.00973 -0.05417 0.0081 L -0.0743 -2.96296E-6 " pathEditMode="relative" rAng="10800000" ptsTypes="FffFF">
                                      <p:cBhvr>
                                        <p:cTn id="12" dur="2000" fill="hold"/>
                                        <p:tgtEl>
                                          <p:spTgt spid="279601"/>
                                        </p:tgtEl>
                                        <p:attrNameLst>
                                          <p:attrName>ppt_x</p:attrName>
                                          <p:attrName>ppt_y</p:attrName>
                                        </p:attrNameLst>
                                      </p:cBhvr>
                                      <p:rCtr x="-3715" y="532"/>
                                    </p:animMotion>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dissolve">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9600" grpId="0" animBg="1"/>
      <p:bldP spid="27960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pic>
        <p:nvPicPr>
          <p:cNvPr id="89093" name="Picture 5" descr="C:\Documents and Settings\André\Bureau\CHAPITRE 3 Variateurs DC\FIGURES\GIF\flux.gif"/>
          <p:cNvPicPr>
            <a:picLocks noChangeAspect="1" noChangeArrowheads="1"/>
          </p:cNvPicPr>
          <p:nvPr/>
        </p:nvPicPr>
        <p:blipFill>
          <a:blip r:embed="rId5" cstate="print">
            <a:duotone>
              <a:prstClr val="black"/>
              <a:schemeClr val="tx1">
                <a:tint val="45000"/>
                <a:satMod val="400000"/>
              </a:schemeClr>
            </a:duotone>
            <a:lum bright="-40000" contrast="-40000"/>
          </a:blip>
          <a:srcRect/>
          <a:stretch>
            <a:fillRect/>
          </a:stretch>
        </p:blipFill>
        <p:spPr bwMode="auto">
          <a:xfrm>
            <a:off x="285720" y="3108400"/>
            <a:ext cx="4013200" cy="3144838"/>
          </a:xfrm>
          <a:prstGeom prst="rect">
            <a:avLst/>
          </a:prstGeom>
          <a:ln w="88900" cap="sq" cmpd="thickThin">
            <a:noFill/>
            <a:prstDash val="solid"/>
            <a:miter lim="800000"/>
          </a:ln>
          <a:effectLst>
            <a:innerShdw blurRad="76200">
              <a:srgbClr val="000000"/>
            </a:innerShdw>
          </a:effectLst>
        </p:spPr>
      </p:pic>
      <p:pic>
        <p:nvPicPr>
          <p:cNvPr id="89094" name="Picture 6" descr="C:\Documents and Settings\André\Bureau\CHAPITRE 3 Variateurs DC\FIGURES\GIF\moteur DC 1.gif"/>
          <p:cNvPicPr>
            <a:picLocks noChangeAspect="1" noChangeArrowheads="1"/>
          </p:cNvPicPr>
          <p:nvPr/>
        </p:nvPicPr>
        <p:blipFill>
          <a:blip r:embed="rId6" cstate="print">
            <a:lum bright="-40000" contrast="-40000"/>
            <a:duotone>
              <a:prstClr val="black"/>
              <a:schemeClr val="tx1">
                <a:tint val="45000"/>
                <a:satMod val="400000"/>
              </a:schemeClr>
            </a:duotone>
          </a:blip>
          <a:srcRect/>
          <a:stretch>
            <a:fillRect/>
          </a:stretch>
        </p:blipFill>
        <p:spPr bwMode="auto">
          <a:xfrm>
            <a:off x="4500562" y="2481500"/>
            <a:ext cx="4343400" cy="3751262"/>
          </a:xfrm>
          <a:prstGeom prst="rect">
            <a:avLst/>
          </a:prstGeom>
          <a:ln w="88900" cap="sq" cmpd="thickThin">
            <a:noFill/>
            <a:prstDash val="solid"/>
            <a:miter lim="800000"/>
          </a:ln>
          <a:effectLst>
            <a:innerShdw blurRad="76200">
              <a:srgbClr val="000000"/>
            </a:innerShdw>
          </a:effectLst>
        </p:spPr>
      </p:pic>
      <p:sp>
        <p:nvSpPr>
          <p:cNvPr id="28676" name="ZoneTexte 4"/>
          <p:cNvSpPr txBox="1">
            <a:spLocks noChangeArrowheads="1"/>
          </p:cNvSpPr>
          <p:nvPr/>
        </p:nvSpPr>
        <p:spPr bwMode="auto">
          <a:xfrm>
            <a:off x="271463" y="176213"/>
            <a:ext cx="24288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Le Flux</a:t>
            </a:r>
          </a:p>
        </p:txBody>
      </p:sp>
      <p:sp>
        <p:nvSpPr>
          <p:cNvPr id="28677" name="ZoneTexte 5"/>
          <p:cNvSpPr txBox="1">
            <a:spLocks noChangeArrowheads="1"/>
          </p:cNvSpPr>
          <p:nvPr/>
        </p:nvSpPr>
        <p:spPr bwMode="auto">
          <a:xfrm>
            <a:off x="285750" y="831850"/>
            <a:ext cx="85725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Le flux dépend essentiellement du courant de l’inducteur (courant d’excitation). Dans le cas des machines excitées par un courant , il est nécessaire de connaître la caractéristique magnétique, fondamentalement non linéaire, donnant le flux inducteur où l’on néglige généralement le phénomène d’hystérésis (figure</a:t>
            </a:r>
            <a:r>
              <a:rPr lang="fr-FR" altLang="fr-FR" sz="1800" b="1">
                <a:latin typeface="Arial" panose="020B0604020202020204" pitchFamily="34" charset="0"/>
              </a:rPr>
              <a:t>) </a:t>
            </a:r>
            <a:r>
              <a:rPr lang="fr-FR" altLang="fr-FR" sz="1800">
                <a:latin typeface="Arial" panose="020B0604020202020204" pitchFamily="34" charset="0"/>
              </a:rPr>
              <a:t>et la dépendance du courant d’induit (réaction d’induit) :</a:t>
            </a:r>
          </a:p>
        </p:txBody>
      </p:sp>
      <p:sp>
        <p:nvSpPr>
          <p:cNvPr id="28678"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EAA2535-5B2B-4EAD-8712-84852A315FFD}" type="slidenum">
              <a:rPr lang="fr-FR" altLang="fr-FR" sz="1000" smtClean="0">
                <a:solidFill>
                  <a:srgbClr val="292929"/>
                </a:solidFill>
                <a:latin typeface="Arial" panose="020B0604020202020204" pitchFamily="34" charset="0"/>
              </a:rPr>
              <a:pPr>
                <a:spcBef>
                  <a:spcPct val="0"/>
                </a:spcBef>
                <a:buClrTx/>
                <a:buSzTx/>
                <a:buFontTx/>
                <a:buNone/>
              </a:pPr>
              <a:t>19</a:t>
            </a:fld>
            <a:endParaRPr lang="fr-FR" altLang="fr-FR" sz="1000" smtClean="0">
              <a:solidFill>
                <a:srgbClr val="292929"/>
              </a:solidFill>
              <a:latin typeface="Arial" panose="020B0604020202020204" pitchFamily="34" charset="0"/>
            </a:endParaRPr>
          </a:p>
        </p:txBody>
      </p:sp>
      <p:sp>
        <p:nvSpPr>
          <p:cNvPr id="28679" name="Rectangle 10"/>
          <p:cNvSpPr>
            <a:spLocks noChangeArrowheads="1"/>
          </p:cNvSpPr>
          <p:nvPr/>
        </p:nvSpPr>
        <p:spPr bwMode="auto">
          <a:xfrm>
            <a:off x="182563" y="130175"/>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fr-FR"/>
              <a:t>Commande des machines   3.MCC     Ali NEJMI</a:t>
            </a:r>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pic>
        <p:nvPicPr>
          <p:cNvPr id="87046" name="Picture 6" descr="C:\Documents and Settings\André\Bureau\CHAPITRE 3 Variateurs DC\FIGURES\GIF\moteur DC 1.gif"/>
          <p:cNvPicPr>
            <a:picLocks noChangeAspect="1" noChangeArrowheads="1"/>
          </p:cNvPicPr>
          <p:nvPr/>
        </p:nvPicPr>
        <p:blipFill>
          <a:blip r:embed="rId5" cstate="print">
            <a:lum bright="-40000" contrast="-40000"/>
            <a:duotone>
              <a:prstClr val="black"/>
              <a:schemeClr val="tx1">
                <a:tint val="45000"/>
                <a:satMod val="400000"/>
              </a:schemeClr>
            </a:duotone>
          </a:blip>
          <a:srcRect/>
          <a:stretch>
            <a:fillRect/>
          </a:stretch>
        </p:blipFill>
        <p:spPr bwMode="auto">
          <a:xfrm>
            <a:off x="457200" y="2209800"/>
            <a:ext cx="3616325" cy="3122613"/>
          </a:xfrm>
          <a:prstGeom prst="rect">
            <a:avLst/>
          </a:prstGeom>
          <a:ln w="88900" cap="sq" cmpd="thickThin">
            <a:noFill/>
            <a:prstDash val="solid"/>
            <a:miter lim="800000"/>
          </a:ln>
          <a:effectLst>
            <a:innerShdw blurRad="76200">
              <a:srgbClr val="000000"/>
            </a:innerShdw>
          </a:effectLst>
        </p:spPr>
      </p:pic>
      <p:pic>
        <p:nvPicPr>
          <p:cNvPr id="87047" name="Picture 7" descr="C:\Documents and Settings\André\Bureau\CHAPITRE 3 Variateurs DC\FIGURES\GIF\moteur DC 1bis.gif"/>
          <p:cNvPicPr>
            <a:picLocks noChangeAspect="1" noChangeArrowheads="1"/>
          </p:cNvPicPr>
          <p:nvPr/>
        </p:nvPicPr>
        <p:blipFill>
          <a:blip r:embed="rId6" cstate="print">
            <a:duotone>
              <a:prstClr val="black"/>
              <a:schemeClr val="tx1">
                <a:tint val="45000"/>
                <a:satMod val="400000"/>
              </a:schemeClr>
            </a:duotone>
            <a:lum bright="-40000" contrast="-40000"/>
          </a:blip>
          <a:srcRect/>
          <a:stretch>
            <a:fillRect/>
          </a:stretch>
        </p:blipFill>
        <p:spPr bwMode="auto">
          <a:xfrm>
            <a:off x="4724400" y="2241550"/>
            <a:ext cx="3670300" cy="3168650"/>
          </a:xfrm>
          <a:prstGeom prst="rect">
            <a:avLst/>
          </a:prstGeom>
          <a:ln w="88900" cap="sq" cmpd="thickThin">
            <a:noFill/>
            <a:prstDash val="solid"/>
            <a:miter lim="800000"/>
          </a:ln>
          <a:effectLst>
            <a:innerShdw blurRad="76200">
              <a:srgbClr val="000000"/>
            </a:innerShdw>
          </a:effectLst>
        </p:spPr>
      </p:pic>
      <p:sp>
        <p:nvSpPr>
          <p:cNvPr id="30724" name="Text Box 8"/>
          <p:cNvSpPr txBox="1">
            <a:spLocks noChangeArrowheads="1"/>
          </p:cNvSpPr>
          <p:nvPr/>
        </p:nvSpPr>
        <p:spPr bwMode="auto">
          <a:xfrm>
            <a:off x="2286000" y="1428750"/>
            <a:ext cx="391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BE" altLang="fr-FR" sz="1800">
                <a:latin typeface="Arial" panose="020B0604020202020204" pitchFamily="34" charset="0"/>
              </a:rPr>
              <a:t>I</a:t>
            </a:r>
            <a:r>
              <a:rPr lang="fr-BE" altLang="fr-FR" sz="1800" baseline="-25000">
                <a:latin typeface="Arial" panose="020B0604020202020204" pitchFamily="34" charset="0"/>
              </a:rPr>
              <a:t>a</a:t>
            </a:r>
            <a:r>
              <a:rPr lang="fr-BE" altLang="fr-FR" sz="1800">
                <a:latin typeface="Arial" panose="020B0604020202020204" pitchFamily="34" charset="0"/>
              </a:rPr>
              <a:t> change de signe, I</a:t>
            </a:r>
            <a:r>
              <a:rPr lang="fr-BE" altLang="fr-FR" sz="1800" baseline="-25000">
                <a:latin typeface="Arial" panose="020B0604020202020204" pitchFamily="34" charset="0"/>
              </a:rPr>
              <a:t>e</a:t>
            </a:r>
            <a:r>
              <a:rPr lang="fr-BE" altLang="fr-FR" sz="1800">
                <a:latin typeface="Arial" panose="020B0604020202020204" pitchFamily="34" charset="0"/>
              </a:rPr>
              <a:t> inchangé</a:t>
            </a:r>
            <a:endParaRPr lang="fr-FR" altLang="fr-FR" sz="1800">
              <a:latin typeface="Arial" panose="020B0604020202020204" pitchFamily="34" charset="0"/>
            </a:endParaRPr>
          </a:p>
        </p:txBody>
      </p:sp>
      <p:sp>
        <p:nvSpPr>
          <p:cNvPr id="30725" name="ZoneTexte 5"/>
          <p:cNvSpPr txBox="1">
            <a:spLocks noChangeArrowheads="1"/>
          </p:cNvSpPr>
          <p:nvPr/>
        </p:nvSpPr>
        <p:spPr bwMode="auto">
          <a:xfrm>
            <a:off x="212725" y="160338"/>
            <a:ext cx="328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Sens du couple </a:t>
            </a:r>
          </a:p>
        </p:txBody>
      </p:sp>
      <p:sp>
        <p:nvSpPr>
          <p:cNvPr id="30726"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BC851FB-255A-45A7-8A79-B1C10A8B5A88}" type="slidenum">
              <a:rPr lang="fr-FR" altLang="fr-FR" sz="1000" smtClean="0">
                <a:solidFill>
                  <a:srgbClr val="292929"/>
                </a:solidFill>
                <a:latin typeface="Arial" panose="020B0604020202020204" pitchFamily="34" charset="0"/>
              </a:rPr>
              <a:pPr>
                <a:spcBef>
                  <a:spcPct val="0"/>
                </a:spcBef>
                <a:buClrTx/>
                <a:buSzTx/>
                <a:buFontTx/>
                <a:buNone/>
              </a:pPr>
              <a:t>20</a:t>
            </a:fld>
            <a:endParaRPr lang="fr-FR" altLang="fr-FR" sz="1000" smtClean="0">
              <a:solidFill>
                <a:srgbClr val="292929"/>
              </a:solidFill>
              <a:latin typeface="Arial" panose="020B0604020202020204" pitchFamily="34" charset="0"/>
            </a:endParaRPr>
          </a:p>
        </p:txBody>
      </p:sp>
      <p:sp>
        <p:nvSpPr>
          <p:cNvPr id="30727" name="Rectangle 10"/>
          <p:cNvSpPr>
            <a:spLocks noChangeArrowheads="1"/>
          </p:cNvSpPr>
          <p:nvPr/>
        </p:nvSpPr>
        <p:spPr bwMode="auto">
          <a:xfrm>
            <a:off x="182563" y="98425"/>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fr-FR"/>
              <a:t>Commande des machines   3.MCC     Ali NEJMI</a:t>
            </a:r>
            <a:endParaRPr lang="en-US"/>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pic>
        <p:nvPicPr>
          <p:cNvPr id="88070" name="Picture 6" descr="C:\Documents and Settings\André\Bureau\CHAPITRE 3 Variateurs DC\FIGURES\GIF\moteur DC 1.gif"/>
          <p:cNvPicPr>
            <a:picLocks noChangeAspect="1" noChangeArrowheads="1"/>
          </p:cNvPicPr>
          <p:nvPr/>
        </p:nvPicPr>
        <p:blipFill>
          <a:blip r:embed="rId5" cstate="print">
            <a:duotone>
              <a:prstClr val="black"/>
              <a:schemeClr val="tx1">
                <a:tint val="45000"/>
                <a:satMod val="400000"/>
              </a:schemeClr>
            </a:duotone>
            <a:lum bright="-40000" contrast="-40000"/>
          </a:blip>
          <a:srcRect/>
          <a:stretch>
            <a:fillRect/>
          </a:stretch>
        </p:blipFill>
        <p:spPr bwMode="auto">
          <a:xfrm>
            <a:off x="457200" y="2209800"/>
            <a:ext cx="3616325" cy="3122613"/>
          </a:xfrm>
          <a:prstGeom prst="rect">
            <a:avLst/>
          </a:prstGeom>
          <a:ln w="88900" cap="sq" cmpd="thickThin">
            <a:noFill/>
            <a:prstDash val="solid"/>
            <a:miter lim="800000"/>
          </a:ln>
          <a:effectLst>
            <a:innerShdw blurRad="76200">
              <a:srgbClr val="000000"/>
            </a:innerShdw>
          </a:effectLst>
        </p:spPr>
      </p:pic>
      <p:pic>
        <p:nvPicPr>
          <p:cNvPr id="88072" name="Picture 8" descr="C:\Documents and Settings\André\Bureau\moteur DC 1ter.gif"/>
          <p:cNvPicPr>
            <a:picLocks noChangeAspect="1" noChangeArrowheads="1"/>
          </p:cNvPicPr>
          <p:nvPr/>
        </p:nvPicPr>
        <p:blipFill>
          <a:blip r:embed="rId6" cstate="print">
            <a:lum bright="-40000" contrast="-40000"/>
            <a:duotone>
              <a:prstClr val="black"/>
              <a:schemeClr val="tx1">
                <a:tint val="45000"/>
                <a:satMod val="400000"/>
              </a:schemeClr>
            </a:duotone>
          </a:blip>
          <a:srcRect/>
          <a:stretch>
            <a:fillRect/>
          </a:stretch>
        </p:blipFill>
        <p:spPr bwMode="auto">
          <a:xfrm>
            <a:off x="4953000" y="2286000"/>
            <a:ext cx="3670300" cy="3168650"/>
          </a:xfrm>
          <a:prstGeom prst="rect">
            <a:avLst/>
          </a:prstGeom>
          <a:ln w="88900" cap="sq" cmpd="thickThin">
            <a:noFill/>
            <a:prstDash val="solid"/>
            <a:miter lim="800000"/>
          </a:ln>
          <a:effectLst>
            <a:innerShdw blurRad="76200">
              <a:srgbClr val="000000"/>
            </a:innerShdw>
          </a:effectLst>
        </p:spPr>
      </p:pic>
      <p:sp>
        <p:nvSpPr>
          <p:cNvPr id="32772" name="Text Box 9"/>
          <p:cNvSpPr txBox="1">
            <a:spLocks noChangeArrowheads="1"/>
          </p:cNvSpPr>
          <p:nvPr/>
        </p:nvSpPr>
        <p:spPr bwMode="auto">
          <a:xfrm>
            <a:off x="2428875" y="1428750"/>
            <a:ext cx="39163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BE" altLang="fr-FR" sz="1800">
                <a:latin typeface="Arial" panose="020B0604020202020204" pitchFamily="34" charset="0"/>
              </a:rPr>
              <a:t>I</a:t>
            </a:r>
            <a:r>
              <a:rPr lang="fr-BE" altLang="fr-FR" sz="1800" baseline="-25000">
                <a:latin typeface="Arial" panose="020B0604020202020204" pitchFamily="34" charset="0"/>
              </a:rPr>
              <a:t>e</a:t>
            </a:r>
            <a:r>
              <a:rPr lang="fr-BE" altLang="fr-FR" sz="1800">
                <a:latin typeface="Arial" panose="020B0604020202020204" pitchFamily="34" charset="0"/>
              </a:rPr>
              <a:t> change de signe, I</a:t>
            </a:r>
            <a:r>
              <a:rPr lang="fr-BE" altLang="fr-FR" sz="1800" baseline="-25000">
                <a:latin typeface="Arial" panose="020B0604020202020204" pitchFamily="34" charset="0"/>
              </a:rPr>
              <a:t>a</a:t>
            </a:r>
            <a:r>
              <a:rPr lang="fr-BE" altLang="fr-FR" sz="1800">
                <a:latin typeface="Arial" panose="020B0604020202020204" pitchFamily="34" charset="0"/>
              </a:rPr>
              <a:t> inchangé</a:t>
            </a:r>
            <a:endParaRPr lang="fr-FR" altLang="fr-FR" sz="1800">
              <a:latin typeface="Arial" panose="020B0604020202020204" pitchFamily="34" charset="0"/>
            </a:endParaRPr>
          </a:p>
        </p:txBody>
      </p:sp>
      <p:sp>
        <p:nvSpPr>
          <p:cNvPr id="32773"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225ED4F-50B7-4B03-86DA-5E46E27E2799}" type="slidenum">
              <a:rPr lang="fr-FR" altLang="fr-FR" sz="1000" smtClean="0">
                <a:solidFill>
                  <a:srgbClr val="292929"/>
                </a:solidFill>
                <a:latin typeface="Arial" panose="020B0604020202020204" pitchFamily="34" charset="0"/>
              </a:rPr>
              <a:pPr>
                <a:spcBef>
                  <a:spcPct val="0"/>
                </a:spcBef>
                <a:buClrTx/>
                <a:buSzTx/>
                <a:buFontTx/>
                <a:buNone/>
              </a:pPr>
              <a:t>21</a:t>
            </a:fld>
            <a:endParaRPr lang="fr-FR" altLang="fr-FR" sz="1000" smtClean="0">
              <a:solidFill>
                <a:srgbClr val="292929"/>
              </a:solidFill>
              <a:latin typeface="Arial" panose="020B0604020202020204" pitchFamily="34" charset="0"/>
            </a:endParaRPr>
          </a:p>
        </p:txBody>
      </p:sp>
      <p:sp>
        <p:nvSpPr>
          <p:cNvPr id="32774" name="Rectangle 10"/>
          <p:cNvSpPr>
            <a:spLocks noChangeArrowheads="1"/>
          </p:cNvSpPr>
          <p:nvPr/>
        </p:nvSpPr>
        <p:spPr bwMode="auto">
          <a:xfrm>
            <a:off x="182563" y="98425"/>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fr-FR"/>
              <a:t>Commande des machines   3.MCC     Ali NEJMI</a:t>
            </a:r>
            <a:endParaRPr lang="en-US"/>
          </a:p>
        </p:txBody>
      </p:sp>
      <p:sp>
        <p:nvSpPr>
          <p:cNvPr id="32776" name="ZoneTexte 5"/>
          <p:cNvSpPr txBox="1">
            <a:spLocks noChangeArrowheads="1"/>
          </p:cNvSpPr>
          <p:nvPr/>
        </p:nvSpPr>
        <p:spPr bwMode="auto">
          <a:xfrm>
            <a:off x="212725" y="160338"/>
            <a:ext cx="328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Sens du couple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pic>
        <p:nvPicPr>
          <p:cNvPr id="90116" name="Picture 4" descr="C:\Documents and Settings\André\Bureau\CHAPITRE 3 Variateurs DC\FIGURES\GIF\moteur DC 1.gif"/>
          <p:cNvPicPr>
            <a:picLocks noChangeAspect="1" noChangeArrowheads="1"/>
          </p:cNvPicPr>
          <p:nvPr/>
        </p:nvPicPr>
        <p:blipFill>
          <a:blip r:embed="rId5" cstate="print">
            <a:lum bright="-40000" contrast="-40000"/>
            <a:duotone>
              <a:prstClr val="black"/>
              <a:schemeClr val="tx1">
                <a:tint val="45000"/>
                <a:satMod val="400000"/>
              </a:schemeClr>
            </a:duotone>
          </a:blip>
          <a:srcRect/>
          <a:stretch>
            <a:fillRect/>
          </a:stretch>
        </p:blipFill>
        <p:spPr bwMode="auto">
          <a:xfrm>
            <a:off x="457200" y="2209800"/>
            <a:ext cx="3616325" cy="3122613"/>
          </a:xfrm>
          <a:prstGeom prst="rect">
            <a:avLst/>
          </a:prstGeom>
          <a:ln w="88900" cap="sq" cmpd="thickThin">
            <a:noFill/>
            <a:prstDash val="solid"/>
            <a:miter lim="800000"/>
          </a:ln>
          <a:effectLst>
            <a:innerShdw blurRad="76200">
              <a:srgbClr val="000000"/>
            </a:innerShdw>
          </a:effectLst>
        </p:spPr>
      </p:pic>
      <p:pic>
        <p:nvPicPr>
          <p:cNvPr id="90117" name="Picture 5" descr="C:\Documents and Settings\André\Bureau\CHAPITRE 3 Variateurs DC\FIGURES\GIF\moteur DC 1quater.gif"/>
          <p:cNvPicPr>
            <a:picLocks noChangeAspect="1" noChangeArrowheads="1"/>
          </p:cNvPicPr>
          <p:nvPr/>
        </p:nvPicPr>
        <p:blipFill>
          <a:blip r:embed="rId6" cstate="print">
            <a:duotone>
              <a:prstClr val="black"/>
              <a:schemeClr val="tx1">
                <a:tint val="45000"/>
                <a:satMod val="400000"/>
              </a:schemeClr>
            </a:duotone>
            <a:lum bright="-40000" contrast="-40000"/>
          </a:blip>
          <a:srcRect/>
          <a:stretch>
            <a:fillRect/>
          </a:stretch>
        </p:blipFill>
        <p:spPr bwMode="auto">
          <a:xfrm>
            <a:off x="4800600" y="2209800"/>
            <a:ext cx="3670300" cy="3168650"/>
          </a:xfrm>
          <a:prstGeom prst="rect">
            <a:avLst/>
          </a:prstGeom>
          <a:ln w="88900" cap="sq" cmpd="thickThin">
            <a:noFill/>
            <a:prstDash val="solid"/>
            <a:miter lim="800000"/>
          </a:ln>
          <a:effectLst>
            <a:innerShdw blurRad="76200">
              <a:srgbClr val="000000"/>
            </a:innerShdw>
          </a:effectLst>
        </p:spPr>
      </p:pic>
      <p:sp>
        <p:nvSpPr>
          <p:cNvPr id="34820" name="Text Box 6"/>
          <p:cNvSpPr txBox="1">
            <a:spLocks noChangeArrowheads="1"/>
          </p:cNvSpPr>
          <p:nvPr/>
        </p:nvSpPr>
        <p:spPr bwMode="auto">
          <a:xfrm>
            <a:off x="2786063" y="1285875"/>
            <a:ext cx="3222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BE" altLang="fr-FR" sz="1800">
                <a:latin typeface="Arial" panose="020B0604020202020204" pitchFamily="34" charset="0"/>
              </a:rPr>
              <a:t>I</a:t>
            </a:r>
            <a:r>
              <a:rPr lang="fr-BE" altLang="fr-FR" sz="1800" baseline="-25000">
                <a:latin typeface="Arial" panose="020B0604020202020204" pitchFamily="34" charset="0"/>
              </a:rPr>
              <a:t>a</a:t>
            </a:r>
            <a:r>
              <a:rPr lang="fr-BE" altLang="fr-FR" sz="1800">
                <a:latin typeface="Arial" panose="020B0604020202020204" pitchFamily="34" charset="0"/>
              </a:rPr>
              <a:t> et I</a:t>
            </a:r>
            <a:r>
              <a:rPr lang="fr-BE" altLang="fr-FR" sz="1800" baseline="-25000">
                <a:latin typeface="Arial" panose="020B0604020202020204" pitchFamily="34" charset="0"/>
              </a:rPr>
              <a:t>e  </a:t>
            </a:r>
            <a:r>
              <a:rPr lang="fr-BE" altLang="fr-FR" sz="1800">
                <a:latin typeface="Arial" panose="020B0604020202020204" pitchFamily="34" charset="0"/>
              </a:rPr>
              <a:t>changent de signe</a:t>
            </a:r>
            <a:endParaRPr lang="fr-FR" altLang="fr-FR" sz="1800">
              <a:latin typeface="Arial" panose="020B0604020202020204" pitchFamily="34" charset="0"/>
            </a:endParaRPr>
          </a:p>
        </p:txBody>
      </p:sp>
      <p:sp>
        <p:nvSpPr>
          <p:cNvPr id="34821"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CFB22B8-4C9F-4212-BA54-526F3FF81132}" type="slidenum">
              <a:rPr lang="fr-FR" altLang="fr-FR" sz="1000" smtClean="0">
                <a:solidFill>
                  <a:srgbClr val="292929"/>
                </a:solidFill>
                <a:latin typeface="Arial" panose="020B0604020202020204" pitchFamily="34" charset="0"/>
              </a:rPr>
              <a:pPr>
                <a:spcBef>
                  <a:spcPct val="0"/>
                </a:spcBef>
                <a:buClrTx/>
                <a:buSzTx/>
                <a:buFontTx/>
                <a:buNone/>
              </a:pPr>
              <a:t>22</a:t>
            </a:fld>
            <a:endParaRPr lang="fr-FR" altLang="fr-FR" sz="1000" smtClean="0">
              <a:solidFill>
                <a:srgbClr val="292929"/>
              </a:solidFill>
              <a:latin typeface="Arial" panose="020B0604020202020204" pitchFamily="34" charset="0"/>
            </a:endParaRPr>
          </a:p>
        </p:txBody>
      </p:sp>
      <p:sp>
        <p:nvSpPr>
          <p:cNvPr id="34822" name="Rectangle 10"/>
          <p:cNvSpPr>
            <a:spLocks noChangeArrowheads="1"/>
          </p:cNvSpPr>
          <p:nvPr/>
        </p:nvSpPr>
        <p:spPr bwMode="auto">
          <a:xfrm>
            <a:off x="182563" y="98425"/>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fr-FR"/>
              <a:t>Commande des machines   3.MCC     Ali NEJMI</a:t>
            </a:r>
            <a:endParaRPr lang="en-US"/>
          </a:p>
        </p:txBody>
      </p:sp>
      <p:sp>
        <p:nvSpPr>
          <p:cNvPr id="34824" name="ZoneTexte 5"/>
          <p:cNvSpPr txBox="1">
            <a:spLocks noChangeArrowheads="1"/>
          </p:cNvSpPr>
          <p:nvPr/>
        </p:nvSpPr>
        <p:spPr bwMode="auto">
          <a:xfrm>
            <a:off x="212725" y="160338"/>
            <a:ext cx="3286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Sens du couple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pic>
        <p:nvPicPr>
          <p:cNvPr id="150532" name="Picture 1028" descr="C:\Documents and Settings\André\Bureau\CHAPITRE 3 Variateurs DC\FIGURES\GIF\moteur dc 2.gif"/>
          <p:cNvPicPr>
            <a:picLocks noChangeAspect="1" noChangeArrowheads="1"/>
          </p:cNvPicPr>
          <p:nvPr/>
        </p:nvPicPr>
        <p:blipFill>
          <a:blip r:embed="rId5" cstate="print">
            <a:lum bright="-40000" contrast="-40000"/>
            <a:duotone>
              <a:prstClr val="black"/>
              <a:schemeClr val="tx1">
                <a:tint val="45000"/>
                <a:satMod val="400000"/>
              </a:schemeClr>
            </a:duotone>
          </a:blip>
          <a:srcRect/>
          <a:stretch>
            <a:fillRect/>
          </a:stretch>
        </p:blipFill>
        <p:spPr bwMode="auto">
          <a:xfrm>
            <a:off x="5029200" y="714375"/>
            <a:ext cx="3397250" cy="2520950"/>
          </a:xfrm>
          <a:prstGeom prst="rect">
            <a:avLst/>
          </a:prstGeom>
          <a:ln w="88900" cap="sq" cmpd="thickThin">
            <a:noFill/>
            <a:prstDash val="solid"/>
            <a:miter lim="800000"/>
          </a:ln>
          <a:effectLst>
            <a:innerShdw blurRad="76200">
              <a:srgbClr val="000000"/>
            </a:innerShdw>
          </a:effectLst>
        </p:spPr>
      </p:pic>
      <p:pic>
        <p:nvPicPr>
          <p:cNvPr id="150535" name="Picture 1031" descr="C:\USERS\genon_amilo\Bureau\génératrice dc 2.gif"/>
          <p:cNvPicPr>
            <a:picLocks noChangeAspect="1" noChangeArrowheads="1"/>
          </p:cNvPicPr>
          <p:nvPr/>
        </p:nvPicPr>
        <p:blipFill>
          <a:blip r:embed="rId6" cstate="print">
            <a:duotone>
              <a:prstClr val="black"/>
              <a:schemeClr val="tx1">
                <a:tint val="45000"/>
                <a:satMod val="400000"/>
              </a:schemeClr>
            </a:duotone>
            <a:lum bright="-40000" contrast="-40000"/>
          </a:blip>
          <a:srcRect/>
          <a:stretch>
            <a:fillRect/>
          </a:stretch>
        </p:blipFill>
        <p:spPr bwMode="auto">
          <a:xfrm>
            <a:off x="5029200" y="3657600"/>
            <a:ext cx="3419475" cy="2536825"/>
          </a:xfrm>
          <a:prstGeom prst="rect">
            <a:avLst/>
          </a:prstGeom>
          <a:ln w="88900" cap="sq" cmpd="thickThin">
            <a:noFill/>
            <a:prstDash val="solid"/>
            <a:miter lim="800000"/>
          </a:ln>
          <a:effectLst>
            <a:innerShdw blurRad="76200">
              <a:srgbClr val="000000"/>
            </a:innerShdw>
          </a:effectLst>
        </p:spPr>
      </p:pic>
      <p:sp>
        <p:nvSpPr>
          <p:cNvPr id="36868" name="Text Box 1032"/>
          <p:cNvSpPr txBox="1">
            <a:spLocks noChangeArrowheads="1"/>
          </p:cNvSpPr>
          <p:nvPr/>
        </p:nvSpPr>
        <p:spPr bwMode="auto">
          <a:xfrm>
            <a:off x="3405188" y="1565275"/>
            <a:ext cx="1471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BE" altLang="fr-FR" sz="1800">
                <a:latin typeface="Arial" panose="020B0604020202020204" pitchFamily="34" charset="0"/>
              </a:rPr>
              <a:t>MOTEUR</a:t>
            </a:r>
            <a:endParaRPr lang="fr-FR" altLang="fr-FR" sz="1800">
              <a:latin typeface="Arial" panose="020B0604020202020204" pitchFamily="34" charset="0"/>
            </a:endParaRPr>
          </a:p>
        </p:txBody>
      </p:sp>
      <p:sp>
        <p:nvSpPr>
          <p:cNvPr id="36869" name="Text Box 1033"/>
          <p:cNvSpPr txBox="1">
            <a:spLocks noChangeArrowheads="1"/>
          </p:cNvSpPr>
          <p:nvPr/>
        </p:nvSpPr>
        <p:spPr bwMode="auto">
          <a:xfrm>
            <a:off x="3186113" y="4572000"/>
            <a:ext cx="23002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BE" altLang="fr-FR" sz="1800">
                <a:latin typeface="Arial" panose="020B0604020202020204" pitchFamily="34" charset="0"/>
              </a:rPr>
              <a:t>GENERATRICE</a:t>
            </a:r>
            <a:endParaRPr lang="fr-FR" altLang="fr-FR" sz="1800">
              <a:latin typeface="Arial" panose="020B0604020202020204" pitchFamily="34" charset="0"/>
            </a:endParaRPr>
          </a:p>
        </p:txBody>
      </p:sp>
      <p:pic>
        <p:nvPicPr>
          <p:cNvPr id="36870" name="Object 103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881438" y="2160588"/>
            <a:ext cx="801687" cy="320675"/>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pic>
        <p:nvPicPr>
          <p:cNvPr id="36871" name="Object 103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35413" y="5105400"/>
            <a:ext cx="938212" cy="37465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pic>
        <p:nvPicPr>
          <p:cNvPr id="150540" name="Picture 1036" descr="C:\USERS\genon_amilo\Bureau\moteur DC 1+vitesse.gif"/>
          <p:cNvPicPr>
            <a:picLocks noChangeAspect="1" noChangeArrowheads="1"/>
          </p:cNvPicPr>
          <p:nvPr/>
        </p:nvPicPr>
        <p:blipFill>
          <a:blip r:embed="rId9" cstate="print">
            <a:lum bright="-40000" contrast="-40000"/>
            <a:duotone>
              <a:prstClr val="black"/>
              <a:schemeClr val="tx1">
                <a:tint val="45000"/>
                <a:satMod val="400000"/>
              </a:schemeClr>
            </a:duotone>
          </a:blip>
          <a:srcRect/>
          <a:stretch>
            <a:fillRect/>
          </a:stretch>
        </p:blipFill>
        <p:spPr bwMode="auto">
          <a:xfrm>
            <a:off x="152400" y="838200"/>
            <a:ext cx="2936875" cy="2536825"/>
          </a:xfrm>
          <a:prstGeom prst="rect">
            <a:avLst/>
          </a:prstGeom>
          <a:ln w="88900" cap="sq" cmpd="thickThin">
            <a:noFill/>
            <a:prstDash val="solid"/>
            <a:miter lim="800000"/>
          </a:ln>
          <a:effectLst>
            <a:innerShdw blurRad="76200">
              <a:srgbClr val="000000"/>
            </a:innerShdw>
          </a:effectLst>
        </p:spPr>
      </p:pic>
      <p:pic>
        <p:nvPicPr>
          <p:cNvPr id="150541" name="Picture 1037" descr="C:\USERS\genon_amilo\Bureau\génératrice DC 1 + vitesse.gif"/>
          <p:cNvPicPr>
            <a:picLocks noChangeAspect="1" noChangeArrowheads="1"/>
          </p:cNvPicPr>
          <p:nvPr/>
        </p:nvPicPr>
        <p:blipFill>
          <a:blip r:embed="rId10" cstate="print">
            <a:duotone>
              <a:prstClr val="black"/>
              <a:schemeClr val="tx1">
                <a:tint val="45000"/>
                <a:satMod val="400000"/>
              </a:schemeClr>
            </a:duotone>
            <a:lum bright="-40000" contrast="-40000"/>
          </a:blip>
          <a:srcRect/>
          <a:stretch>
            <a:fillRect/>
          </a:stretch>
        </p:blipFill>
        <p:spPr bwMode="auto">
          <a:xfrm>
            <a:off x="152400" y="3635375"/>
            <a:ext cx="2936875" cy="2536825"/>
          </a:xfrm>
          <a:prstGeom prst="rect">
            <a:avLst/>
          </a:prstGeom>
          <a:ln w="88900" cap="sq" cmpd="thickThin">
            <a:noFill/>
            <a:prstDash val="solid"/>
            <a:miter lim="800000"/>
          </a:ln>
          <a:effectLst>
            <a:innerShdw blurRad="76200">
              <a:srgbClr val="000000"/>
            </a:innerShdw>
          </a:effectLst>
        </p:spPr>
      </p:pic>
      <p:sp>
        <p:nvSpPr>
          <p:cNvPr id="36874" name="ZoneTexte 10"/>
          <p:cNvSpPr txBox="1">
            <a:spLocks noChangeArrowheads="1"/>
          </p:cNvSpPr>
          <p:nvPr/>
        </p:nvSpPr>
        <p:spPr bwMode="auto">
          <a:xfrm>
            <a:off x="185738" y="142875"/>
            <a:ext cx="30003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Réversibilité</a:t>
            </a:r>
          </a:p>
        </p:txBody>
      </p:sp>
      <p:sp>
        <p:nvSpPr>
          <p:cNvPr id="5132" name="Espace réservé du pied de page 12"/>
          <p:cNvSpPr>
            <a:spLocks noGrp="1"/>
          </p:cNvSpPr>
          <p:nvPr>
            <p:ph type="ftr" sz="quarter" idx="11"/>
          </p:nvPr>
        </p:nvSpPr>
        <p:spPr bwMode="auto">
          <a:ln>
            <a:miter lim="800000"/>
            <a:headEnd/>
            <a:tailEnd/>
          </a:ln>
        </p:spPr>
        <p:txBody>
          <a:bodyPr wrap="square" lIns="91440" tIns="45720" rIns="91440" bIns="45720" numCol="1" anchor="t" anchorCtr="0" compatLnSpc="1">
            <a:prstTxWarp prst="textNoShape">
              <a:avLst/>
            </a:prstTxWarp>
          </a:bodyPr>
          <a:lstStyle/>
          <a:p>
            <a:pPr>
              <a:defRPr/>
            </a:pPr>
            <a:r>
              <a:rPr lang="fr-FR"/>
              <a:t>Commande des machines   3.MCC     Ali NEJMI</a:t>
            </a:r>
          </a:p>
        </p:txBody>
      </p:sp>
      <p:sp>
        <p:nvSpPr>
          <p:cNvPr id="36876"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910DB3A-BA76-4400-809C-B5C04C3AEEBD}" type="slidenum">
              <a:rPr lang="fr-FR" altLang="fr-FR" sz="1000" smtClean="0">
                <a:solidFill>
                  <a:srgbClr val="292929"/>
                </a:solidFill>
                <a:latin typeface="Arial" panose="020B0604020202020204" pitchFamily="34" charset="0"/>
              </a:rPr>
              <a:pPr>
                <a:spcBef>
                  <a:spcPct val="0"/>
                </a:spcBef>
                <a:buClrTx/>
                <a:buSzTx/>
                <a:buFontTx/>
                <a:buNone/>
              </a:pPr>
              <a:t>23</a:t>
            </a:fld>
            <a:endParaRPr lang="fr-FR" altLang="fr-FR" sz="1000" smtClean="0">
              <a:solidFill>
                <a:srgbClr val="292929"/>
              </a:solidFill>
              <a:latin typeface="Arial" panose="020B0604020202020204" pitchFamily="34" charset="0"/>
            </a:endParaRPr>
          </a:p>
        </p:txBody>
      </p:sp>
      <p:sp>
        <p:nvSpPr>
          <p:cNvPr id="36877" name="Rectangle 10"/>
          <p:cNvSpPr>
            <a:spLocks noChangeArrowheads="1"/>
          </p:cNvSpPr>
          <p:nvPr/>
        </p:nvSpPr>
        <p:spPr bwMode="auto">
          <a:xfrm>
            <a:off x="182563" y="98425"/>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89C7A18B-4CA2-4DFD-B2EC-932E1BDE77E0}" type="slidenum">
              <a:rPr lang="fr-FR" altLang="fr-FR" sz="1000" smtClean="0">
                <a:solidFill>
                  <a:srgbClr val="292929"/>
                </a:solidFill>
                <a:latin typeface="Arial" panose="020B0604020202020204" pitchFamily="34" charset="0"/>
              </a:rPr>
              <a:pPr>
                <a:spcBef>
                  <a:spcPct val="0"/>
                </a:spcBef>
                <a:buClrTx/>
                <a:buSzTx/>
                <a:buFontTx/>
                <a:buNone/>
              </a:pPr>
              <a:t>24</a:t>
            </a:fld>
            <a:endParaRPr lang="fr-FR" altLang="fr-FR" sz="1000" smtClean="0">
              <a:solidFill>
                <a:srgbClr val="292929"/>
              </a:solidFill>
              <a:latin typeface="Arial" panose="020B0604020202020204" pitchFamily="34" charset="0"/>
            </a:endParaRPr>
          </a:p>
        </p:txBody>
      </p:sp>
      <p:sp>
        <p:nvSpPr>
          <p:cNvPr id="38915" name="Rectangle 3"/>
          <p:cNvSpPr>
            <a:spLocks noChangeArrowheads="1"/>
          </p:cNvSpPr>
          <p:nvPr/>
        </p:nvSpPr>
        <p:spPr bwMode="auto">
          <a:xfrm>
            <a:off x="357188" y="2227263"/>
            <a:ext cx="835818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2" panose="05020102010507070707" pitchFamily="18" charset="2"/>
              <a:buNone/>
            </a:pPr>
            <a:r>
              <a:rPr lang="fr-FR" altLang="fr-FR" sz="1800">
                <a:latin typeface="Arial" panose="020B0604020202020204" pitchFamily="34" charset="0"/>
              </a:rPr>
              <a:t>- Le principal problème de ces machines vient de la liaison entre les balais, ou « charbons » et le collecteur rotatif. Ainsi que le collecteur lui même comme indiqué plus haut et la complexité de sa réalisation.</a:t>
            </a:r>
          </a:p>
        </p:txBody>
      </p:sp>
      <p:sp>
        <p:nvSpPr>
          <p:cNvPr id="5" name="Rectangle 4"/>
          <p:cNvSpPr/>
          <p:nvPr/>
        </p:nvSpPr>
        <p:spPr>
          <a:xfrm>
            <a:off x="357188" y="428625"/>
            <a:ext cx="8429625" cy="1508125"/>
          </a:xfrm>
          <a:prstGeom prst="rect">
            <a:avLst/>
          </a:prstGeom>
        </p:spPr>
        <p:txBody>
          <a:bodyPr>
            <a:spAutoFit/>
          </a:bodyPr>
          <a:lstStyle/>
          <a:p>
            <a:pPr algn="ctr" eaLnBrk="1" hangingPunct="1">
              <a:defRPr/>
            </a:pPr>
            <a:endParaRPr lang="fr-FR" sz="2000" b="1" cap="small" dirty="0">
              <a:solidFill>
                <a:srgbClr val="0000EC"/>
              </a:solidFill>
            </a:endParaRPr>
          </a:p>
          <a:p>
            <a:pPr algn="just" eaLnBrk="1" hangingPunct="1">
              <a:defRPr/>
            </a:pPr>
            <a:endParaRPr lang="fr-FR" dirty="0"/>
          </a:p>
          <a:p>
            <a:pPr algn="just" eaLnBrk="1" hangingPunct="1">
              <a:defRPr/>
            </a:pPr>
            <a:r>
              <a:rPr lang="fr-FR" dirty="0"/>
              <a:t>+ L'avantage principal des machines à courant continu réside dans leur adaptation simple aux moyens permettant de régler leur vitesse, leur couple et leur sens de rotation.</a:t>
            </a:r>
          </a:p>
        </p:txBody>
      </p:sp>
      <p:sp>
        <p:nvSpPr>
          <p:cNvPr id="38917" name="Rectangle 5"/>
          <p:cNvSpPr>
            <a:spLocks noChangeArrowheads="1"/>
          </p:cNvSpPr>
          <p:nvPr/>
        </p:nvSpPr>
        <p:spPr bwMode="auto">
          <a:xfrm>
            <a:off x="785813" y="3403600"/>
            <a:ext cx="8001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Wingdings 2" panose="05020102010507070707" pitchFamily="18" charset="2"/>
              <a:buNone/>
            </a:pPr>
            <a:r>
              <a:rPr lang="fr-FR" altLang="fr-FR" sz="1800">
                <a:latin typeface="Arial" panose="020B0604020202020204" pitchFamily="34" charset="0"/>
              </a:rPr>
              <a:t>- Plus la vitesse de rotation est élevée, plus la pression des balais doit augmenter pour rester en contact avec le collecteur donc plus le frottement est important.</a:t>
            </a:r>
          </a:p>
          <a:p>
            <a:pPr algn="just" eaLnBrk="1" hangingPunct="1">
              <a:spcBef>
                <a:spcPct val="0"/>
              </a:spcBef>
              <a:buClrTx/>
              <a:buSzTx/>
              <a:buFontTx/>
              <a:buNone/>
            </a:pPr>
            <a:r>
              <a:rPr lang="fr-FR" altLang="fr-FR" sz="1800">
                <a:latin typeface="Arial" panose="020B0604020202020204" pitchFamily="34" charset="0"/>
              </a:rPr>
              <a:t> </a:t>
            </a:r>
          </a:p>
        </p:txBody>
      </p:sp>
      <p:sp>
        <p:nvSpPr>
          <p:cNvPr id="50182" name="Rectangle 3"/>
          <p:cNvSpPr>
            <a:spLocks noChangeArrowheads="1"/>
          </p:cNvSpPr>
          <p:nvPr/>
        </p:nvSpPr>
        <p:spPr bwMode="auto">
          <a:xfrm>
            <a:off x="417513" y="4413250"/>
            <a:ext cx="8215312"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449263" eaLnBrk="0" hangingPunct="0">
              <a:spcBef>
                <a:spcPct val="20000"/>
              </a:spcBef>
              <a:buClr>
                <a:schemeClr val="accent1"/>
              </a:buClr>
              <a:buSzPct val="80000"/>
              <a:buFont typeface="Wingdings 2" pitchFamily="18" charset="2"/>
              <a:buChar char=""/>
              <a:defRPr sz="3000">
                <a:solidFill>
                  <a:schemeClr val="tx1"/>
                </a:solidFill>
                <a:latin typeface="Book Antiqua" pitchFamily="18" charset="0"/>
              </a:defRPr>
            </a:lvl1pPr>
            <a:lvl2pPr marL="742950" indent="-285750" eaLnBrk="0" hangingPunct="0">
              <a:spcBef>
                <a:spcPct val="20000"/>
              </a:spcBef>
              <a:buClr>
                <a:schemeClr val="accent1"/>
              </a:buClr>
              <a:buSzPct val="90000"/>
              <a:buFont typeface="Wingdings 2" pitchFamily="18" charset="2"/>
              <a:buChar char=""/>
              <a:defRPr sz="2600">
                <a:solidFill>
                  <a:schemeClr val="tx1"/>
                </a:solidFill>
                <a:latin typeface="Book Antiqua" pitchFamily="18" charset="0"/>
              </a:defRPr>
            </a:lvl2pPr>
            <a:lvl3pPr marL="1143000" indent="-228600" eaLnBrk="0" hangingPunct="0">
              <a:spcBef>
                <a:spcPct val="20000"/>
              </a:spcBef>
              <a:buClr>
                <a:schemeClr val="accent2"/>
              </a:buClr>
              <a:buSzPct val="85000"/>
              <a:buFont typeface="Arial" pitchFamily="34" charset="0"/>
              <a:buChar char="○"/>
              <a:defRPr sz="2400">
                <a:solidFill>
                  <a:schemeClr val="tx1"/>
                </a:solidFill>
                <a:latin typeface="Book Antiqua" pitchFamily="18" charset="0"/>
              </a:defRPr>
            </a:lvl3pPr>
            <a:lvl4pPr marL="1600200" indent="-228600" eaLnBrk="0" hangingPunct="0">
              <a:spcBef>
                <a:spcPct val="20000"/>
              </a:spcBef>
              <a:buClr>
                <a:srgbClr val="8D89A4"/>
              </a:buClr>
              <a:buSzPct val="90000"/>
              <a:buFont typeface="Wingdings 2" pitchFamily="18" charset="2"/>
              <a:buChar char=""/>
              <a:defRPr sz="2000">
                <a:solidFill>
                  <a:schemeClr val="tx1"/>
                </a:solidFill>
                <a:latin typeface="Book Antiqua" pitchFamily="18" charset="0"/>
              </a:defRPr>
            </a:lvl4pPr>
            <a:lvl5pPr marL="2057400" indent="-228600" eaLnBrk="0" hangingPunct="0">
              <a:spcBef>
                <a:spcPct val="20000"/>
              </a:spcBef>
              <a:buClr>
                <a:srgbClr val="748560"/>
              </a:buClr>
              <a:buSzPct val="100000"/>
              <a:buFont typeface="Arial" pitchFamily="34" charset="0"/>
              <a:buChar char="-"/>
              <a:defRPr sz="2000">
                <a:solidFill>
                  <a:schemeClr val="tx1"/>
                </a:solidFill>
                <a:latin typeface="Book Antiqua" pitchFamily="18" charset="0"/>
              </a:defRPr>
            </a:lvl5pPr>
            <a:lvl6pPr marL="2514600" indent="-228600" eaLnBrk="0" fontAlgn="base" hangingPunct="0">
              <a:spcBef>
                <a:spcPct val="20000"/>
              </a:spcBef>
              <a:spcAft>
                <a:spcPct val="0"/>
              </a:spcAft>
              <a:buClr>
                <a:srgbClr val="748560"/>
              </a:buClr>
              <a:buSzPct val="100000"/>
              <a:buFont typeface="Arial" pitchFamily="34" charset="0"/>
              <a:buChar char="-"/>
              <a:defRPr sz="2000">
                <a:solidFill>
                  <a:schemeClr val="tx1"/>
                </a:solidFill>
                <a:latin typeface="Book Antiqua" pitchFamily="18" charset="0"/>
              </a:defRPr>
            </a:lvl6pPr>
            <a:lvl7pPr marL="2971800" indent="-228600" eaLnBrk="0" fontAlgn="base" hangingPunct="0">
              <a:spcBef>
                <a:spcPct val="20000"/>
              </a:spcBef>
              <a:spcAft>
                <a:spcPct val="0"/>
              </a:spcAft>
              <a:buClr>
                <a:srgbClr val="748560"/>
              </a:buClr>
              <a:buSzPct val="100000"/>
              <a:buFont typeface="Arial" pitchFamily="34" charset="0"/>
              <a:buChar char="-"/>
              <a:defRPr sz="2000">
                <a:solidFill>
                  <a:schemeClr val="tx1"/>
                </a:solidFill>
                <a:latin typeface="Book Antiqua" pitchFamily="18" charset="0"/>
              </a:defRPr>
            </a:lvl7pPr>
            <a:lvl8pPr marL="3429000" indent="-228600" eaLnBrk="0" fontAlgn="base" hangingPunct="0">
              <a:spcBef>
                <a:spcPct val="20000"/>
              </a:spcBef>
              <a:spcAft>
                <a:spcPct val="0"/>
              </a:spcAft>
              <a:buClr>
                <a:srgbClr val="748560"/>
              </a:buClr>
              <a:buSzPct val="100000"/>
              <a:buFont typeface="Arial" pitchFamily="34" charset="0"/>
              <a:buChar char="-"/>
              <a:defRPr sz="2000">
                <a:solidFill>
                  <a:schemeClr val="tx1"/>
                </a:solidFill>
                <a:latin typeface="Book Antiqua" pitchFamily="18" charset="0"/>
              </a:defRPr>
            </a:lvl8pPr>
            <a:lvl9pPr marL="3886200" indent="-228600" eaLnBrk="0" fontAlgn="base" hangingPunct="0">
              <a:spcBef>
                <a:spcPct val="20000"/>
              </a:spcBef>
              <a:spcAft>
                <a:spcPct val="0"/>
              </a:spcAft>
              <a:buClr>
                <a:srgbClr val="748560"/>
              </a:buClr>
              <a:buSzPct val="100000"/>
              <a:buFont typeface="Arial" pitchFamily="34" charset="0"/>
              <a:buChar char="-"/>
              <a:defRPr sz="2000">
                <a:solidFill>
                  <a:schemeClr val="tx1"/>
                </a:solidFill>
                <a:latin typeface="Book Antiqua" pitchFamily="18" charset="0"/>
              </a:defRPr>
            </a:lvl9pPr>
          </a:lstStyle>
          <a:p>
            <a:pPr indent="0" algn="just" eaLnBrk="1" hangingPunct="1">
              <a:spcBef>
                <a:spcPct val="0"/>
              </a:spcBef>
              <a:buClrTx/>
              <a:buSzTx/>
              <a:buFont typeface="Wingdings 2" pitchFamily="18" charset="2"/>
              <a:buNone/>
              <a:defRPr/>
            </a:pPr>
            <a:r>
              <a:rPr lang="fr-FR" altLang="fr-FR" sz="1800" dirty="0" smtClean="0">
                <a:latin typeface="Arial" pitchFamily="34" charset="0"/>
              </a:rPr>
              <a:t>- Aux vitesses élevées les balais doivent donc être remplacés très régulièrement.</a:t>
            </a:r>
          </a:p>
          <a:p>
            <a:pPr algn="just" eaLnBrk="1" hangingPunct="1">
              <a:spcBef>
                <a:spcPct val="0"/>
              </a:spcBef>
              <a:buClrTx/>
              <a:buSzTx/>
              <a:buFontTx/>
              <a:buNone/>
              <a:defRPr/>
            </a:pPr>
            <a:endParaRPr lang="fr-FR" altLang="fr-FR" sz="1800" dirty="0" smtClean="0">
              <a:latin typeface="Arial" pitchFamily="34" charset="0"/>
            </a:endParaRPr>
          </a:p>
          <a:p>
            <a:pPr indent="0" algn="just" eaLnBrk="1" hangingPunct="1">
              <a:spcBef>
                <a:spcPct val="0"/>
              </a:spcBef>
              <a:buClrTx/>
              <a:buSzTx/>
              <a:buFont typeface="Wingdings 2" pitchFamily="18" charset="2"/>
              <a:buNone/>
              <a:defRPr/>
            </a:pPr>
            <a:r>
              <a:rPr lang="fr-FR" altLang="fr-FR" sz="1800" dirty="0" smtClean="0">
                <a:latin typeface="Arial" pitchFamily="34" charset="0"/>
              </a:rPr>
              <a:t>- Le collecteur imposant des ruptures de contact provoque des arcs, qui usent rapidement le commutateur et génèrent des parasites dans le circuit d'alimentation, ainsi que par rayonnement électromagnétique.</a:t>
            </a:r>
          </a:p>
        </p:txBody>
      </p:sp>
      <p:sp>
        <p:nvSpPr>
          <p:cNvPr id="38919" name="Rectangle 37"/>
          <p:cNvSpPr>
            <a:spLocks noChangeArrowheads="1"/>
          </p:cNvSpPr>
          <p:nvPr/>
        </p:nvSpPr>
        <p:spPr bwMode="auto">
          <a:xfrm>
            <a:off x="182563" y="204788"/>
            <a:ext cx="8777287" cy="6407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fr-FR"/>
              <a:t>Commande des machines   3.MCC     Ali NEJMI</a:t>
            </a:r>
            <a:endParaRPr lang="en-US"/>
          </a:p>
        </p:txBody>
      </p:sp>
      <p:sp>
        <p:nvSpPr>
          <p:cNvPr id="38921" name="ZoneTexte 2"/>
          <p:cNvSpPr txBox="1">
            <a:spLocks noChangeArrowheads="1"/>
          </p:cNvSpPr>
          <p:nvPr/>
        </p:nvSpPr>
        <p:spPr bwMode="auto">
          <a:xfrm>
            <a:off x="357188" y="330200"/>
            <a:ext cx="51736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C00000"/>
                </a:solidFill>
                <a:latin typeface="Arial" panose="020B0604020202020204" pitchFamily="34" charset="0"/>
              </a:rPr>
              <a:t>Avantages et Inconvénients de la MCC</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40962" name="Rectangle 8"/>
          <p:cNvSpPr>
            <a:spLocks noChangeArrowheads="1"/>
          </p:cNvSpPr>
          <p:nvPr/>
        </p:nvSpPr>
        <p:spPr bwMode="auto">
          <a:xfrm>
            <a:off x="428625" y="857250"/>
            <a:ext cx="83581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a:solidFill>
                  <a:srgbClr val="C00000"/>
                </a:solidFill>
                <a:latin typeface="Arial" panose="020B0604020202020204" pitchFamily="34" charset="0"/>
              </a:rPr>
              <a:t>Moteur à excitation séparée</a:t>
            </a:r>
            <a:r>
              <a:rPr lang="fr-FR" altLang="fr-FR" sz="1800" b="1">
                <a:latin typeface="Arial" panose="020B0604020202020204" pitchFamily="34" charset="0"/>
              </a:rPr>
              <a:t> : </a:t>
            </a:r>
            <a:r>
              <a:rPr lang="fr-FR" altLang="fr-FR" sz="1800">
                <a:latin typeface="Arial" panose="020B0604020202020204" pitchFamily="34" charset="0"/>
              </a:rPr>
              <a:t>l’induit et l’inducteur sont alimentés par des sources séparées</a:t>
            </a:r>
          </a:p>
        </p:txBody>
      </p:sp>
      <p:sp>
        <p:nvSpPr>
          <p:cNvPr id="4096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Calibri" panose="020F0502020204030204" pitchFamily="34" charset="0"/>
            </a:endParaRPr>
          </a:p>
        </p:txBody>
      </p:sp>
      <p:pic>
        <p:nvPicPr>
          <p:cNvPr id="40964" name="Picture 6"/>
          <p:cNvPicPr>
            <a:picLocks noChangeAspect="1" noChangeArrowheads="1"/>
          </p:cNvPicPr>
          <p:nvPr/>
        </p:nvPicPr>
        <p:blipFill>
          <a:blip r:embed="rId5">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3857625" y="2571750"/>
            <a:ext cx="4673600"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7"/>
          <p:cNvSpPr>
            <a:spLocks noChangeArrowheads="1"/>
          </p:cNvSpPr>
          <p:nvPr/>
        </p:nvSpPr>
        <p:spPr bwMode="auto">
          <a:xfrm>
            <a:off x="500063" y="1928813"/>
            <a:ext cx="60928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 </a:t>
            </a:r>
            <a:r>
              <a:rPr lang="fr-FR" altLang="fr-FR" sz="1800" i="1">
                <a:latin typeface="Arial" panose="020B0604020202020204" pitchFamily="34" charset="0"/>
              </a:rPr>
              <a:t>Le couple est proportionnel au courant d’excitation</a:t>
            </a:r>
          </a:p>
        </p:txBody>
      </p:sp>
      <p:sp>
        <p:nvSpPr>
          <p:cNvPr id="10" name="Rectangle 9"/>
          <p:cNvSpPr/>
          <p:nvPr/>
        </p:nvSpPr>
        <p:spPr>
          <a:xfrm>
            <a:off x="500063" y="4716463"/>
            <a:ext cx="8358187" cy="1201737"/>
          </a:xfrm>
          <a:prstGeom prst="rect">
            <a:avLst/>
          </a:prstGeom>
        </p:spPr>
        <p:txBody>
          <a:bodyPr>
            <a:spAutoFit/>
          </a:bodyPr>
          <a:lstStyle/>
          <a:p>
            <a:pPr eaLnBrk="1" hangingPunct="1">
              <a:buFont typeface="Courier New" pitchFamily="49" charset="0"/>
              <a:buChar char="o"/>
              <a:defRPr/>
            </a:pPr>
            <a:r>
              <a:rPr lang="fr-FR" i="1" dirty="0"/>
              <a:t> en diminuant l’excitation</a:t>
            </a:r>
            <a:r>
              <a:rPr lang="fr-FR" dirty="0"/>
              <a:t>,</a:t>
            </a:r>
          </a:p>
          <a:p>
            <a:pPr marL="365125" eaLnBrk="1" hangingPunct="1">
              <a:defRPr/>
            </a:pPr>
            <a:r>
              <a:rPr lang="fr-FR" dirty="0"/>
              <a:t>- le couple baisse</a:t>
            </a:r>
          </a:p>
          <a:p>
            <a:pPr marL="365125" eaLnBrk="1" hangingPunct="1">
              <a:buFontTx/>
              <a:buChar char="-"/>
              <a:defRPr/>
            </a:pPr>
            <a:r>
              <a:rPr lang="fr-FR" dirty="0"/>
              <a:t>la vitesse augmente : c’est l’</a:t>
            </a:r>
            <a:r>
              <a:rPr lang="fr-FR" b="1" dirty="0"/>
              <a:t>atténuation de champ, qui permet la survitesse</a:t>
            </a:r>
            <a:endParaRPr lang="fr-FR" dirty="0"/>
          </a:p>
        </p:txBody>
      </p:sp>
      <p:sp>
        <p:nvSpPr>
          <p:cNvPr id="40967" name="Espace réservé du numéro de diapositive 1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5BB8A97-5038-4DAB-A69B-8E17E183B891}" type="slidenum">
              <a:rPr lang="fr-FR" altLang="fr-FR" sz="1000" smtClean="0">
                <a:solidFill>
                  <a:srgbClr val="292929"/>
                </a:solidFill>
                <a:latin typeface="Arial" panose="020B0604020202020204" pitchFamily="34" charset="0"/>
              </a:rPr>
              <a:pPr>
                <a:spcBef>
                  <a:spcPct val="0"/>
                </a:spcBef>
                <a:buClrTx/>
                <a:buSzTx/>
                <a:buFontTx/>
                <a:buNone/>
              </a:pPr>
              <a:t>25</a:t>
            </a:fld>
            <a:endParaRPr lang="fr-FR" altLang="fr-FR" sz="1000" smtClean="0">
              <a:solidFill>
                <a:srgbClr val="292929"/>
              </a:solidFill>
              <a:latin typeface="Arial" panose="020B0604020202020204" pitchFamily="34" charset="0"/>
            </a:endParaRPr>
          </a:p>
        </p:txBody>
      </p:sp>
      <p:sp>
        <p:nvSpPr>
          <p:cNvPr id="40968" name="Rectangle 10"/>
          <p:cNvSpPr>
            <a:spLocks noChangeArrowheads="1"/>
          </p:cNvSpPr>
          <p:nvPr/>
        </p:nvSpPr>
        <p:spPr bwMode="auto">
          <a:xfrm>
            <a:off x="166688" y="114300"/>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fr-FR"/>
              <a:t>Commande des machines   3.MCC     Ali NEJMI</a:t>
            </a:r>
            <a:endParaRPr lang="en-US"/>
          </a:p>
        </p:txBody>
      </p:sp>
      <p:sp>
        <p:nvSpPr>
          <p:cNvPr id="40970" name="Rectangle 1"/>
          <p:cNvSpPr>
            <a:spLocks noChangeArrowheads="1"/>
          </p:cNvSpPr>
          <p:nvPr/>
        </p:nvSpPr>
        <p:spPr bwMode="auto">
          <a:xfrm>
            <a:off x="188913" y="122238"/>
            <a:ext cx="7435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Les différents types de moteurs à courant continu</a:t>
            </a:r>
          </a:p>
        </p:txBody>
      </p:sp>
      <p:grpSp>
        <p:nvGrpSpPr>
          <p:cNvPr id="40971" name="Groupe 3"/>
          <p:cNvGrpSpPr>
            <a:grpSpLocks/>
          </p:cNvGrpSpPr>
          <p:nvPr/>
        </p:nvGrpSpPr>
        <p:grpSpPr bwMode="auto">
          <a:xfrm>
            <a:off x="782638" y="2928938"/>
            <a:ext cx="2808287" cy="790575"/>
            <a:chOff x="782585" y="2928938"/>
            <a:chExt cx="2808340" cy="790575"/>
          </a:xfrm>
        </p:grpSpPr>
        <p:pic>
          <p:nvPicPr>
            <p:cNvPr id="40972" name="Picture 7"/>
            <p:cNvPicPr>
              <a:picLocks noChangeAspect="1" noChangeArrowheads="1"/>
            </p:cNvPicPr>
            <p:nvPr/>
          </p:nvPicPr>
          <p:blipFill>
            <a:blip r:embed="rId6">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1000125" y="2928938"/>
              <a:ext cx="2590800"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3" name="ZoneTexte 2"/>
            <p:cNvSpPr txBox="1">
              <a:spLocks noChangeArrowheads="1"/>
            </p:cNvSpPr>
            <p:nvPr/>
          </p:nvSpPr>
          <p:spPr bwMode="auto">
            <a:xfrm>
              <a:off x="782585" y="2984389"/>
              <a:ext cx="1031465" cy="3693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panose="020B0604020202020204" pitchFamily="34" charset="0"/>
                </a:rPr>
                <a:t>C</a:t>
              </a:r>
              <a:r>
                <a:rPr lang="fr-FR" altLang="fr-FR" sz="1000" b="1" i="1">
                  <a:latin typeface="Arial" panose="020B0604020202020204" pitchFamily="34" charset="0"/>
                </a:rPr>
                <a:t>em</a:t>
              </a:r>
              <a:r>
                <a:rPr lang="fr-FR" altLang="fr-FR" sz="1800" b="1" i="1">
                  <a:latin typeface="Arial" panose="020B0604020202020204" pitchFamily="34" charset="0"/>
                </a:rPr>
                <a:t>(t)</a:t>
              </a: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43010" name="Rectangle 7"/>
          <p:cNvSpPr>
            <a:spLocks noChangeArrowheads="1"/>
          </p:cNvSpPr>
          <p:nvPr/>
        </p:nvSpPr>
        <p:spPr bwMode="auto">
          <a:xfrm>
            <a:off x="428625" y="811213"/>
            <a:ext cx="84296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a:solidFill>
                  <a:srgbClr val="C00000"/>
                </a:solidFill>
                <a:latin typeface="Arial" panose="020B0604020202020204" pitchFamily="34" charset="0"/>
              </a:rPr>
              <a:t>Moteur à aimants permanents</a:t>
            </a:r>
            <a:r>
              <a:rPr lang="fr-FR" altLang="fr-FR" sz="1800" b="1">
                <a:latin typeface="Arial" panose="020B0604020202020204" pitchFamily="34" charset="0"/>
              </a:rPr>
              <a:t> </a:t>
            </a:r>
            <a:r>
              <a:rPr lang="fr-FR" altLang="fr-FR" sz="1800">
                <a:latin typeface="Arial" panose="020B0604020202020204" pitchFamily="34" charset="0"/>
              </a:rPr>
              <a:t>: l’inducteur est réalisé avec des aimants permanents. Moteur de faible puissance ( jusqu'à 20 kW ) très utilisé en robotique.</a:t>
            </a:r>
          </a:p>
        </p:txBody>
      </p:sp>
      <p:sp>
        <p:nvSpPr>
          <p:cNvPr id="43011"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Calibri" panose="020F0502020204030204" pitchFamily="34" charset="0"/>
            </a:endParaRPr>
          </a:p>
        </p:txBody>
      </p:sp>
      <p:pic>
        <p:nvPicPr>
          <p:cNvPr id="43012" name="Picture 5"/>
          <p:cNvPicPr>
            <a:picLocks noChangeAspect="1" noChangeArrowheads="1"/>
          </p:cNvPicPr>
          <p:nvPr/>
        </p:nvPicPr>
        <p:blipFill>
          <a:blip r:embed="rId5">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4500563" y="1593850"/>
            <a:ext cx="3290887" cy="2268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Rectangle 5"/>
          <p:cNvSpPr>
            <a:spLocks noChangeArrowheads="1"/>
          </p:cNvSpPr>
          <p:nvPr/>
        </p:nvSpPr>
        <p:spPr bwMode="auto">
          <a:xfrm>
            <a:off x="928688" y="1951038"/>
            <a:ext cx="2036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 k</a:t>
            </a:r>
            <a:r>
              <a:rPr lang="fr-FR" altLang="fr-FR" sz="1800" baseline="-25000">
                <a:latin typeface="Arial" panose="020B0604020202020204" pitchFamily="34" charset="0"/>
              </a:rPr>
              <a:t>T</a:t>
            </a:r>
            <a:r>
              <a:rPr lang="fr-FR" altLang="fr-FR" sz="1800">
                <a:latin typeface="Arial" panose="020B0604020202020204" pitchFamily="34" charset="0"/>
              </a:rPr>
              <a:t> est ~constant</a:t>
            </a:r>
          </a:p>
        </p:txBody>
      </p:sp>
      <p:sp>
        <p:nvSpPr>
          <p:cNvPr id="43014" name="Rectangle 7"/>
          <p:cNvSpPr>
            <a:spLocks noChangeArrowheads="1"/>
          </p:cNvSpPr>
          <p:nvPr/>
        </p:nvSpPr>
        <p:spPr bwMode="auto">
          <a:xfrm>
            <a:off x="428625" y="4808538"/>
            <a:ext cx="84296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a:solidFill>
                  <a:srgbClr val="C00000"/>
                </a:solidFill>
                <a:latin typeface="Arial" panose="020B0604020202020204" pitchFamily="34" charset="0"/>
              </a:rPr>
              <a:t>Moteur à excitation série</a:t>
            </a:r>
            <a:r>
              <a:rPr lang="fr-FR" altLang="fr-FR" sz="1800" b="1">
                <a:latin typeface="Arial" panose="020B0604020202020204" pitchFamily="34" charset="0"/>
              </a:rPr>
              <a:t> : </a:t>
            </a:r>
            <a:r>
              <a:rPr lang="fr-FR" altLang="fr-FR" sz="1800">
                <a:latin typeface="Arial" panose="020B0604020202020204" pitchFamily="34" charset="0"/>
              </a:rPr>
              <a:t>l’induit et l’inducteur sont alimentés par la même source de tension. Ce type de moteur présente un très fort couple au démarrage.</a:t>
            </a:r>
          </a:p>
        </p:txBody>
      </p:sp>
      <p:sp>
        <p:nvSpPr>
          <p:cNvPr id="43015" name="Espace réservé du numéro de diapositive 8"/>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71F4670-D137-4594-906F-A6BE888BD344}" type="slidenum">
              <a:rPr lang="fr-FR" altLang="fr-FR" sz="1000" smtClean="0">
                <a:solidFill>
                  <a:srgbClr val="292929"/>
                </a:solidFill>
                <a:latin typeface="Arial" panose="020B0604020202020204" pitchFamily="34" charset="0"/>
              </a:rPr>
              <a:pPr>
                <a:spcBef>
                  <a:spcPct val="0"/>
                </a:spcBef>
                <a:buClrTx/>
                <a:buSzTx/>
                <a:buFontTx/>
                <a:buNone/>
              </a:pPr>
              <a:t>26</a:t>
            </a:fld>
            <a:endParaRPr lang="fr-FR" altLang="fr-FR" sz="1000" smtClean="0">
              <a:solidFill>
                <a:srgbClr val="292929"/>
              </a:solidFill>
              <a:latin typeface="Arial" panose="020B0604020202020204" pitchFamily="34" charset="0"/>
            </a:endParaRPr>
          </a:p>
        </p:txBody>
      </p:sp>
      <p:sp>
        <p:nvSpPr>
          <p:cNvPr id="43016" name="Rectangle 10"/>
          <p:cNvSpPr>
            <a:spLocks noChangeArrowheads="1"/>
          </p:cNvSpPr>
          <p:nvPr/>
        </p:nvSpPr>
        <p:spPr bwMode="auto">
          <a:xfrm>
            <a:off x="182563" y="146050"/>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 name="Espace réservé du pied de page 10"/>
          <p:cNvSpPr>
            <a:spLocks noGrp="1"/>
          </p:cNvSpPr>
          <p:nvPr>
            <p:ph type="ftr" sz="quarter" idx="11"/>
          </p:nvPr>
        </p:nvSpPr>
        <p:spPr/>
        <p:txBody>
          <a:bodyPr/>
          <a:lstStyle/>
          <a:p>
            <a:pPr>
              <a:defRPr/>
            </a:pPr>
            <a:r>
              <a:rPr lang="fr-FR"/>
              <a:t>Commande des machines   3.MCC     Ali NEJMI</a:t>
            </a:r>
            <a:endParaRPr lang="en-US"/>
          </a:p>
        </p:txBody>
      </p:sp>
      <p:grpSp>
        <p:nvGrpSpPr>
          <p:cNvPr id="43018" name="Groupe 1"/>
          <p:cNvGrpSpPr>
            <a:grpSpLocks/>
          </p:cNvGrpSpPr>
          <p:nvPr/>
        </p:nvGrpSpPr>
        <p:grpSpPr bwMode="auto">
          <a:xfrm>
            <a:off x="1185863" y="2593975"/>
            <a:ext cx="2039937" cy="395288"/>
            <a:chOff x="1186605" y="2593975"/>
            <a:chExt cx="2039195" cy="395288"/>
          </a:xfrm>
        </p:grpSpPr>
        <p:pic>
          <p:nvPicPr>
            <p:cNvPr id="43019" name="Picture 6"/>
            <p:cNvPicPr>
              <a:picLocks noChangeAspect="1" noChangeArrowheads="1"/>
            </p:cNvPicPr>
            <p:nvPr/>
          </p:nvPicPr>
          <p:blipFill>
            <a:blip r:embed="rId6">
              <a:clrChange>
                <a:clrFrom>
                  <a:srgbClr val="FFCC00"/>
                </a:clrFrom>
                <a:clrTo>
                  <a:srgbClr val="FFCC00">
                    <a:alpha val="0"/>
                  </a:srgbClr>
                </a:clrTo>
              </a:clrChange>
              <a:lum bright="-30000"/>
              <a:extLst>
                <a:ext uri="{28A0092B-C50C-407E-A947-70E740481C1C}">
                  <a14:useLocalDpi xmlns:a14="http://schemas.microsoft.com/office/drawing/2010/main" val="0"/>
                </a:ext>
              </a:extLst>
            </a:blip>
            <a:srcRect/>
            <a:stretch>
              <a:fillRect/>
            </a:stretch>
          </p:blipFill>
          <p:spPr bwMode="auto">
            <a:xfrm>
              <a:off x="1643063" y="2593975"/>
              <a:ext cx="1582737" cy="3952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3020" name="ZoneTexte 12"/>
            <p:cNvSpPr txBox="1">
              <a:spLocks noChangeArrowheads="1"/>
            </p:cNvSpPr>
            <p:nvPr/>
          </p:nvSpPr>
          <p:spPr bwMode="auto">
            <a:xfrm>
              <a:off x="1186605" y="2614668"/>
              <a:ext cx="1031465" cy="3693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panose="020B0604020202020204" pitchFamily="34" charset="0"/>
                </a:rPr>
                <a:t>C</a:t>
              </a:r>
              <a:r>
                <a:rPr lang="fr-FR" altLang="fr-FR" sz="1000" b="1" i="1">
                  <a:latin typeface="Arial" panose="020B0604020202020204" pitchFamily="34" charset="0"/>
                </a:rPr>
                <a:t>em</a:t>
              </a:r>
              <a:r>
                <a:rPr lang="fr-FR" altLang="fr-FR" sz="1800" b="1" i="1">
                  <a:latin typeface="Arial" panose="020B0604020202020204" pitchFamily="34" charset="0"/>
                </a:rPr>
                <a:t>(t)</a:t>
              </a: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45058"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Calibri" panose="020F0502020204030204" pitchFamily="34" charset="0"/>
            </a:endParaRPr>
          </a:p>
        </p:txBody>
      </p:sp>
      <p:sp>
        <p:nvSpPr>
          <p:cNvPr id="45059" name="Rectangle 4"/>
          <p:cNvSpPr>
            <a:spLocks noChangeArrowheads="1"/>
          </p:cNvSpPr>
          <p:nvPr/>
        </p:nvSpPr>
        <p:spPr bwMode="auto">
          <a:xfrm>
            <a:off x="571500" y="857250"/>
            <a:ext cx="4786313"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le courant d’excitation est le même que le courant d’induit</a:t>
            </a:r>
          </a:p>
          <a:p>
            <a:pPr algn="just"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le couple est donc proportionnel au carré du courant d’induit</a:t>
            </a:r>
          </a:p>
        </p:txBody>
      </p:sp>
      <p:pic>
        <p:nvPicPr>
          <p:cNvPr id="45060" name="Picture 5"/>
          <p:cNvPicPr>
            <a:picLocks noChangeAspect="1" noChangeArrowheads="1"/>
          </p:cNvPicPr>
          <p:nvPr/>
        </p:nvPicPr>
        <p:blipFill>
          <a:blip r:embed="rId5">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5572125" y="1143000"/>
            <a:ext cx="3108325" cy="2160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Rectangle 7"/>
          <p:cNvSpPr>
            <a:spLocks noChangeArrowheads="1"/>
          </p:cNvSpPr>
          <p:nvPr/>
        </p:nvSpPr>
        <p:spPr bwMode="auto">
          <a:xfrm>
            <a:off x="571500" y="3071813"/>
            <a:ext cx="39909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Courier New" panose="02070309020205020404" pitchFamily="49" charset="0"/>
              <a:buChar char="o"/>
            </a:pPr>
            <a:r>
              <a:rPr lang="fr-FR" altLang="fr-FR" sz="1800">
                <a:latin typeface="Arial" panose="020B0604020202020204" pitchFamily="34" charset="0"/>
              </a:rPr>
              <a:t>  donc, le couple est toujours positif</a:t>
            </a:r>
          </a:p>
        </p:txBody>
      </p:sp>
      <p:sp>
        <p:nvSpPr>
          <p:cNvPr id="9" name="Rectangle 8"/>
          <p:cNvSpPr/>
          <p:nvPr/>
        </p:nvSpPr>
        <p:spPr>
          <a:xfrm>
            <a:off x="581025" y="3714750"/>
            <a:ext cx="8429625" cy="1754188"/>
          </a:xfrm>
          <a:prstGeom prst="rect">
            <a:avLst/>
          </a:prstGeom>
        </p:spPr>
        <p:txBody>
          <a:bodyPr>
            <a:spAutoFit/>
          </a:bodyPr>
          <a:lstStyle/>
          <a:p>
            <a:pPr marL="266700" indent="-266700" algn="just" eaLnBrk="1" hangingPunct="1">
              <a:buFont typeface="Courier New" pitchFamily="49" charset="0"/>
              <a:buChar char="o"/>
              <a:defRPr/>
            </a:pPr>
            <a:r>
              <a:rPr lang="fr-FR" dirty="0"/>
              <a:t>ce moteur fonctionne aussi avec une alimentation AC</a:t>
            </a:r>
          </a:p>
          <a:p>
            <a:pPr algn="just" eaLnBrk="1" hangingPunct="1">
              <a:defRPr/>
            </a:pPr>
            <a:endParaRPr lang="fr-FR" b="1" i="1" dirty="0"/>
          </a:p>
          <a:p>
            <a:pPr algn="just" eaLnBrk="1" hangingPunct="1">
              <a:defRPr/>
            </a:pPr>
            <a:r>
              <a:rPr lang="fr-FR" b="1" i="1" dirty="0"/>
              <a:t>Utilisations</a:t>
            </a:r>
          </a:p>
          <a:p>
            <a:pPr algn="just" eaLnBrk="1" hangingPunct="1">
              <a:defRPr/>
            </a:pPr>
            <a:endParaRPr lang="fr-FR" b="1" i="1" dirty="0"/>
          </a:p>
          <a:p>
            <a:pPr marL="273050" indent="-273050" algn="just" eaLnBrk="1" hangingPunct="1">
              <a:buFont typeface="Courier New" pitchFamily="49" charset="0"/>
              <a:buChar char="o"/>
              <a:defRPr/>
            </a:pPr>
            <a:r>
              <a:rPr lang="fr-FR" dirty="0"/>
              <a:t>moteur de traction (trains, tramways), DC ou </a:t>
            </a:r>
            <a:r>
              <a:rPr lang="fr-FR" i="1" dirty="0"/>
              <a:t>f =16 2/3 Hz =50/3 Hz</a:t>
            </a:r>
          </a:p>
          <a:p>
            <a:pPr marL="273050" indent="-273050" algn="just" eaLnBrk="1" hangingPunct="1">
              <a:buFont typeface="Courier New" pitchFamily="49" charset="0"/>
              <a:buChar char="o"/>
              <a:defRPr/>
            </a:pPr>
            <a:r>
              <a:rPr lang="fr-FR" dirty="0"/>
              <a:t>moteur « universel », à 50 Hz, mais limité à ~500 W</a:t>
            </a:r>
          </a:p>
        </p:txBody>
      </p:sp>
      <p:sp>
        <p:nvSpPr>
          <p:cNvPr id="45063" name="Espace réservé du numéro de diapositive 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2644349-D442-4185-84C5-37DF16B161F5}" type="slidenum">
              <a:rPr lang="fr-FR" altLang="fr-FR" sz="1000" smtClean="0">
                <a:solidFill>
                  <a:srgbClr val="292929"/>
                </a:solidFill>
                <a:latin typeface="Arial" panose="020B0604020202020204" pitchFamily="34" charset="0"/>
              </a:rPr>
              <a:pPr>
                <a:spcBef>
                  <a:spcPct val="0"/>
                </a:spcBef>
                <a:buClrTx/>
                <a:buSzTx/>
                <a:buFontTx/>
                <a:buNone/>
              </a:pPr>
              <a:t>27</a:t>
            </a:fld>
            <a:endParaRPr lang="fr-FR" altLang="fr-FR" sz="1000" smtClean="0">
              <a:solidFill>
                <a:srgbClr val="292929"/>
              </a:solidFill>
              <a:latin typeface="Arial" panose="020B0604020202020204" pitchFamily="34" charset="0"/>
            </a:endParaRPr>
          </a:p>
        </p:txBody>
      </p:sp>
      <p:sp>
        <p:nvSpPr>
          <p:cNvPr id="45064" name="Rectangle 9"/>
          <p:cNvSpPr>
            <a:spLocks noChangeArrowheads="1"/>
          </p:cNvSpPr>
          <p:nvPr/>
        </p:nvSpPr>
        <p:spPr bwMode="auto">
          <a:xfrm>
            <a:off x="647700" y="438150"/>
            <a:ext cx="4064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Moteur à excitation série……</a:t>
            </a:r>
            <a:endParaRPr lang="fr-FR" altLang="fr-FR" sz="1800">
              <a:latin typeface="Arial" panose="020B0604020202020204" pitchFamily="34" charset="0"/>
            </a:endParaRPr>
          </a:p>
        </p:txBody>
      </p:sp>
      <p:sp>
        <p:nvSpPr>
          <p:cNvPr id="45065" name="Rectangle 10"/>
          <p:cNvSpPr>
            <a:spLocks noChangeArrowheads="1"/>
          </p:cNvSpPr>
          <p:nvPr/>
        </p:nvSpPr>
        <p:spPr bwMode="auto">
          <a:xfrm>
            <a:off x="182563" y="98425"/>
            <a:ext cx="8777287" cy="63071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 name="Espace réservé du pied de page 11"/>
          <p:cNvSpPr>
            <a:spLocks noGrp="1"/>
          </p:cNvSpPr>
          <p:nvPr>
            <p:ph type="ftr" sz="quarter" idx="11"/>
          </p:nvPr>
        </p:nvSpPr>
        <p:spPr/>
        <p:txBody>
          <a:bodyPr/>
          <a:lstStyle/>
          <a:p>
            <a:pPr>
              <a:defRPr/>
            </a:pPr>
            <a:r>
              <a:rPr lang="fr-FR"/>
              <a:t>Commande des machines   3.MCC     Ali NEJMI</a:t>
            </a:r>
            <a:endParaRPr lang="en-US"/>
          </a:p>
        </p:txBody>
      </p:sp>
      <p:grpSp>
        <p:nvGrpSpPr>
          <p:cNvPr id="45067" name="Groupe 1"/>
          <p:cNvGrpSpPr>
            <a:grpSpLocks/>
          </p:cNvGrpSpPr>
          <p:nvPr/>
        </p:nvGrpSpPr>
        <p:grpSpPr bwMode="auto">
          <a:xfrm>
            <a:off x="1843088" y="2379663"/>
            <a:ext cx="2201862" cy="468312"/>
            <a:chOff x="1843546" y="2379663"/>
            <a:chExt cx="2201404" cy="468312"/>
          </a:xfrm>
        </p:grpSpPr>
        <p:pic>
          <p:nvPicPr>
            <p:cNvPr id="45068" name="Picture 6"/>
            <p:cNvPicPr>
              <a:picLocks noChangeAspect="1" noChangeArrowheads="1"/>
            </p:cNvPicPr>
            <p:nvPr/>
          </p:nvPicPr>
          <p:blipFill>
            <a:blip r:embed="rId6">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2143125" y="2379663"/>
              <a:ext cx="19018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9" name="ZoneTexte 13"/>
            <p:cNvSpPr txBox="1">
              <a:spLocks noChangeArrowheads="1"/>
            </p:cNvSpPr>
            <p:nvPr/>
          </p:nvSpPr>
          <p:spPr bwMode="auto">
            <a:xfrm>
              <a:off x="1843546" y="2463895"/>
              <a:ext cx="1031465" cy="3693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panose="020B0604020202020204" pitchFamily="34" charset="0"/>
                </a:rPr>
                <a:t>C</a:t>
              </a:r>
              <a:r>
                <a:rPr lang="fr-FR" altLang="fr-FR" sz="1000" b="1" i="1">
                  <a:latin typeface="Arial" panose="020B0604020202020204" pitchFamily="34" charset="0"/>
                </a:rPr>
                <a:t>em</a:t>
              </a:r>
              <a:r>
                <a:rPr lang="fr-FR" altLang="fr-FR" sz="1800" b="1" i="1">
                  <a:latin typeface="Arial" panose="020B0604020202020204" pitchFamily="34" charset="0"/>
                </a:rPr>
                <a:t>(t)</a:t>
              </a:r>
            </a:p>
          </p:txBody>
        </p:sp>
      </p:gr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a:t>Commande des machines   3.MCC     Ali NEJMI</a:t>
            </a:r>
            <a:endParaRPr lang="en-US"/>
          </a:p>
        </p:txBody>
      </p:sp>
      <p:sp>
        <p:nvSpPr>
          <p:cNvPr id="4710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453F18E-8868-4564-A48F-424DC54B37B4}" type="slidenum">
              <a:rPr lang="en-US" altLang="fr-FR" sz="1000" smtClean="0">
                <a:solidFill>
                  <a:srgbClr val="292929"/>
                </a:solidFill>
                <a:latin typeface="Arial" panose="020B0604020202020204" pitchFamily="34" charset="0"/>
              </a:rPr>
              <a:pPr>
                <a:spcBef>
                  <a:spcPct val="0"/>
                </a:spcBef>
                <a:buClrTx/>
                <a:buSzTx/>
                <a:buFontTx/>
                <a:buNone/>
              </a:pPr>
              <a:t>28</a:t>
            </a:fld>
            <a:endParaRPr lang="en-US" altLang="fr-FR" sz="1000" smtClean="0">
              <a:solidFill>
                <a:srgbClr val="292929"/>
              </a:solidFill>
              <a:latin typeface="Arial" panose="020B0604020202020204" pitchFamily="34" charset="0"/>
            </a:endParaRPr>
          </a:p>
        </p:txBody>
      </p:sp>
      <p:sp>
        <p:nvSpPr>
          <p:cNvPr id="47108" name="Rectangle 2"/>
          <p:cNvSpPr>
            <a:spLocks noChangeArrowheads="1"/>
          </p:cNvSpPr>
          <p:nvPr/>
        </p:nvSpPr>
        <p:spPr bwMode="auto">
          <a:xfrm>
            <a:off x="236538" y="247650"/>
            <a:ext cx="34623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Caractéristiques mécaniques</a:t>
            </a:r>
            <a:r>
              <a:rPr lang="fr-FR" altLang="fr-FR" sz="2000" b="1">
                <a:latin typeface="Arial" panose="020B0604020202020204" pitchFamily="34" charset="0"/>
              </a:rPr>
              <a:t> </a:t>
            </a:r>
          </a:p>
        </p:txBody>
      </p:sp>
      <p:sp>
        <p:nvSpPr>
          <p:cNvPr id="5" name="Text Box 3"/>
          <p:cNvSpPr txBox="1">
            <a:spLocks noChangeArrowheads="1"/>
          </p:cNvSpPr>
          <p:nvPr/>
        </p:nvSpPr>
        <p:spPr bwMode="auto">
          <a:xfrm>
            <a:off x="1676400" y="1127125"/>
            <a:ext cx="4900613" cy="457200"/>
          </a:xfrm>
          <a:prstGeom prst="rect">
            <a:avLst/>
          </a:prstGeom>
          <a:blipFill dpi="0" rotWithShape="1">
            <a:blip r:embed="rId4"/>
            <a:srcRect/>
            <a:tile tx="0" ty="0" sx="100000" sy="100000" flip="none" algn="tl"/>
          </a:blip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latin typeface="Arial" panose="020B0604020202020204" pitchFamily="34" charset="0"/>
              </a:rPr>
              <a:t>Caractéristiques à flux constant</a:t>
            </a:r>
          </a:p>
        </p:txBody>
      </p:sp>
      <p:grpSp>
        <p:nvGrpSpPr>
          <p:cNvPr id="6" name="Group 4"/>
          <p:cNvGrpSpPr>
            <a:grpSpLocks/>
          </p:cNvGrpSpPr>
          <p:nvPr/>
        </p:nvGrpSpPr>
        <p:grpSpPr bwMode="auto">
          <a:xfrm>
            <a:off x="5257800" y="1219200"/>
            <a:ext cx="3578225" cy="3570288"/>
            <a:chOff x="3314" y="960"/>
            <a:chExt cx="2254" cy="2350"/>
          </a:xfrm>
        </p:grpSpPr>
        <p:sp>
          <p:nvSpPr>
            <p:cNvPr id="47127" name="Line 5"/>
            <p:cNvSpPr>
              <a:spLocks noChangeShapeType="1"/>
            </p:cNvSpPr>
            <p:nvPr/>
          </p:nvSpPr>
          <p:spPr bwMode="auto">
            <a:xfrm flipV="1">
              <a:off x="3575" y="1344"/>
              <a:ext cx="0" cy="1824"/>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7128" name="Line 6"/>
            <p:cNvSpPr>
              <a:spLocks noChangeShapeType="1"/>
            </p:cNvSpPr>
            <p:nvPr/>
          </p:nvSpPr>
          <p:spPr bwMode="auto">
            <a:xfrm>
              <a:off x="3488" y="2975"/>
              <a:ext cx="208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7129" name="Text Box 7"/>
            <p:cNvSpPr txBox="1">
              <a:spLocks noChangeArrowheads="1"/>
            </p:cNvSpPr>
            <p:nvPr/>
          </p:nvSpPr>
          <p:spPr bwMode="auto">
            <a:xfrm>
              <a:off x="3314" y="1440"/>
              <a:ext cx="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600">
                  <a:latin typeface="Calibri" panose="020F0502020204030204" pitchFamily="34" charset="0"/>
                </a:rPr>
                <a:t>ω</a:t>
              </a:r>
              <a:endParaRPr lang="fr-FR" altLang="fr-FR" sz="1600">
                <a:latin typeface="Arial" panose="020B0604020202020204" pitchFamily="34" charset="0"/>
              </a:endParaRPr>
            </a:p>
          </p:txBody>
        </p:sp>
        <p:sp>
          <p:nvSpPr>
            <p:cNvPr id="47130" name="Text Box 8"/>
            <p:cNvSpPr txBox="1">
              <a:spLocks noChangeArrowheads="1"/>
            </p:cNvSpPr>
            <p:nvPr/>
          </p:nvSpPr>
          <p:spPr bwMode="auto">
            <a:xfrm>
              <a:off x="5222" y="2688"/>
              <a:ext cx="34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U</a:t>
              </a:r>
            </a:p>
          </p:txBody>
        </p:sp>
        <p:sp>
          <p:nvSpPr>
            <p:cNvPr id="47131" name="Text Box 9"/>
            <p:cNvSpPr txBox="1">
              <a:spLocks noChangeArrowheads="1"/>
            </p:cNvSpPr>
            <p:nvPr/>
          </p:nvSpPr>
          <p:spPr bwMode="auto">
            <a:xfrm>
              <a:off x="4701" y="1537"/>
              <a:ext cx="347"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C3</a:t>
              </a:r>
            </a:p>
          </p:txBody>
        </p:sp>
        <p:sp>
          <p:nvSpPr>
            <p:cNvPr id="47132" name="Text Box 10"/>
            <p:cNvSpPr txBox="1">
              <a:spLocks noChangeArrowheads="1"/>
            </p:cNvSpPr>
            <p:nvPr/>
          </p:nvSpPr>
          <p:spPr bwMode="auto">
            <a:xfrm>
              <a:off x="4268" y="1537"/>
              <a:ext cx="433"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C2</a:t>
              </a:r>
            </a:p>
          </p:txBody>
        </p:sp>
        <p:sp>
          <p:nvSpPr>
            <p:cNvPr id="47133" name="Text Box 11"/>
            <p:cNvSpPr txBox="1">
              <a:spLocks noChangeArrowheads="1"/>
            </p:cNvSpPr>
            <p:nvPr/>
          </p:nvSpPr>
          <p:spPr bwMode="auto">
            <a:xfrm>
              <a:off x="3921" y="1537"/>
              <a:ext cx="434"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C1</a:t>
              </a:r>
            </a:p>
          </p:txBody>
        </p:sp>
        <p:sp>
          <p:nvSpPr>
            <p:cNvPr id="47134" name="Line 12"/>
            <p:cNvSpPr>
              <a:spLocks noChangeShapeType="1"/>
            </p:cNvSpPr>
            <p:nvPr/>
          </p:nvSpPr>
          <p:spPr bwMode="auto">
            <a:xfrm flipV="1">
              <a:off x="3575" y="1440"/>
              <a:ext cx="780" cy="153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7135" name="Line 13"/>
            <p:cNvSpPr>
              <a:spLocks noChangeShapeType="1"/>
            </p:cNvSpPr>
            <p:nvPr/>
          </p:nvSpPr>
          <p:spPr bwMode="auto">
            <a:xfrm flipV="1">
              <a:off x="3921" y="1440"/>
              <a:ext cx="780" cy="153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7136" name="Line 14"/>
            <p:cNvSpPr>
              <a:spLocks noChangeShapeType="1"/>
            </p:cNvSpPr>
            <p:nvPr/>
          </p:nvSpPr>
          <p:spPr bwMode="auto">
            <a:xfrm flipV="1">
              <a:off x="4355" y="1440"/>
              <a:ext cx="780" cy="153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7137" name="Text Box 15"/>
            <p:cNvSpPr txBox="1">
              <a:spLocks noChangeArrowheads="1"/>
            </p:cNvSpPr>
            <p:nvPr/>
          </p:nvSpPr>
          <p:spPr bwMode="auto">
            <a:xfrm rot="-3693940">
              <a:off x="3640" y="1997"/>
              <a:ext cx="48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à vide</a:t>
              </a:r>
            </a:p>
          </p:txBody>
        </p:sp>
        <p:sp>
          <p:nvSpPr>
            <p:cNvPr id="47138" name="AutoShape 16"/>
            <p:cNvSpPr>
              <a:spLocks/>
            </p:cNvSpPr>
            <p:nvPr/>
          </p:nvSpPr>
          <p:spPr bwMode="auto">
            <a:xfrm rot="-5400000">
              <a:off x="4848" y="1056"/>
              <a:ext cx="144" cy="528"/>
            </a:xfrm>
            <a:prstGeom prst="rightBrace">
              <a:avLst>
                <a:gd name="adj1" fmla="val 3055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47139" name="Text Box 17"/>
            <p:cNvSpPr txBox="1">
              <a:spLocks noChangeArrowheads="1"/>
            </p:cNvSpPr>
            <p:nvPr/>
          </p:nvSpPr>
          <p:spPr bwMode="auto">
            <a:xfrm>
              <a:off x="4512" y="960"/>
              <a:ext cx="691"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en charge</a:t>
              </a:r>
            </a:p>
          </p:txBody>
        </p:sp>
        <p:sp>
          <p:nvSpPr>
            <p:cNvPr id="47140" name="Text Box 18"/>
            <p:cNvSpPr txBox="1">
              <a:spLocks noChangeArrowheads="1"/>
            </p:cNvSpPr>
            <p:nvPr/>
          </p:nvSpPr>
          <p:spPr bwMode="auto">
            <a:xfrm>
              <a:off x="3881" y="3087"/>
              <a:ext cx="1675"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Courbes paramétrées en C</a:t>
              </a:r>
            </a:p>
          </p:txBody>
        </p:sp>
      </p:grpSp>
      <p:grpSp>
        <p:nvGrpSpPr>
          <p:cNvPr id="7" name="Group 19"/>
          <p:cNvGrpSpPr>
            <a:grpSpLocks/>
          </p:cNvGrpSpPr>
          <p:nvPr/>
        </p:nvGrpSpPr>
        <p:grpSpPr bwMode="auto">
          <a:xfrm>
            <a:off x="1219200" y="1828800"/>
            <a:ext cx="3530600" cy="2959100"/>
            <a:chOff x="779" y="1449"/>
            <a:chExt cx="2224" cy="1864"/>
          </a:xfrm>
        </p:grpSpPr>
        <p:sp>
          <p:nvSpPr>
            <p:cNvPr id="47116" name="Line 20"/>
            <p:cNvSpPr>
              <a:spLocks noChangeShapeType="1"/>
            </p:cNvSpPr>
            <p:nvPr/>
          </p:nvSpPr>
          <p:spPr bwMode="auto">
            <a:xfrm flipV="1">
              <a:off x="1008" y="1449"/>
              <a:ext cx="0" cy="172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7117" name="Line 21"/>
            <p:cNvSpPr>
              <a:spLocks noChangeShapeType="1"/>
            </p:cNvSpPr>
            <p:nvPr/>
          </p:nvSpPr>
          <p:spPr bwMode="auto">
            <a:xfrm>
              <a:off x="933" y="2994"/>
              <a:ext cx="1839"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47118" name="Line 22"/>
            <p:cNvSpPr>
              <a:spLocks noChangeShapeType="1"/>
            </p:cNvSpPr>
            <p:nvPr/>
          </p:nvSpPr>
          <p:spPr bwMode="auto">
            <a:xfrm>
              <a:off x="1008" y="1632"/>
              <a:ext cx="1610" cy="1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7119" name="Line 23"/>
            <p:cNvSpPr>
              <a:spLocks noChangeShapeType="1"/>
            </p:cNvSpPr>
            <p:nvPr/>
          </p:nvSpPr>
          <p:spPr bwMode="auto">
            <a:xfrm>
              <a:off x="1008" y="1904"/>
              <a:ext cx="1610" cy="18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7120" name="Line 24"/>
            <p:cNvSpPr>
              <a:spLocks noChangeShapeType="1"/>
            </p:cNvSpPr>
            <p:nvPr/>
          </p:nvSpPr>
          <p:spPr bwMode="auto">
            <a:xfrm>
              <a:off x="1008" y="2176"/>
              <a:ext cx="1610" cy="18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47121" name="Text Box 25"/>
            <p:cNvSpPr txBox="1">
              <a:spLocks noChangeArrowheads="1"/>
            </p:cNvSpPr>
            <p:nvPr/>
          </p:nvSpPr>
          <p:spPr bwMode="auto">
            <a:xfrm>
              <a:off x="779" y="1545"/>
              <a:ext cx="306"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l-GR" altLang="fr-FR" sz="1600">
                  <a:latin typeface="Calibri" panose="020F0502020204030204" pitchFamily="34" charset="0"/>
                </a:rPr>
                <a:t>ω</a:t>
              </a:r>
              <a:endParaRPr lang="fr-FR" altLang="fr-FR" sz="1600">
                <a:latin typeface="Arial" panose="020B0604020202020204" pitchFamily="34" charset="0"/>
              </a:endParaRPr>
            </a:p>
          </p:txBody>
        </p:sp>
        <p:sp>
          <p:nvSpPr>
            <p:cNvPr id="47122" name="Text Box 26"/>
            <p:cNvSpPr txBox="1">
              <a:spLocks noChangeArrowheads="1"/>
            </p:cNvSpPr>
            <p:nvPr/>
          </p:nvSpPr>
          <p:spPr bwMode="auto">
            <a:xfrm>
              <a:off x="2466" y="2722"/>
              <a:ext cx="306"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a:t>
              </a:r>
            </a:p>
          </p:txBody>
        </p:sp>
        <p:sp>
          <p:nvSpPr>
            <p:cNvPr id="47123" name="Text Box 27"/>
            <p:cNvSpPr txBox="1">
              <a:spLocks noChangeArrowheads="1"/>
            </p:cNvSpPr>
            <p:nvPr/>
          </p:nvSpPr>
          <p:spPr bwMode="auto">
            <a:xfrm>
              <a:off x="2620" y="2267"/>
              <a:ext cx="307" cy="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U1</a:t>
              </a:r>
            </a:p>
          </p:txBody>
        </p:sp>
        <p:sp>
          <p:nvSpPr>
            <p:cNvPr id="47124" name="Text Box 28"/>
            <p:cNvSpPr txBox="1">
              <a:spLocks noChangeArrowheads="1"/>
            </p:cNvSpPr>
            <p:nvPr/>
          </p:nvSpPr>
          <p:spPr bwMode="auto">
            <a:xfrm>
              <a:off x="2620" y="1992"/>
              <a:ext cx="383"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U2</a:t>
              </a:r>
            </a:p>
          </p:txBody>
        </p:sp>
        <p:sp>
          <p:nvSpPr>
            <p:cNvPr id="47125" name="Text Box 29"/>
            <p:cNvSpPr txBox="1">
              <a:spLocks noChangeArrowheads="1"/>
            </p:cNvSpPr>
            <p:nvPr/>
          </p:nvSpPr>
          <p:spPr bwMode="auto">
            <a:xfrm>
              <a:off x="2618" y="1721"/>
              <a:ext cx="38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U3</a:t>
              </a:r>
            </a:p>
          </p:txBody>
        </p:sp>
        <p:sp>
          <p:nvSpPr>
            <p:cNvPr id="47126" name="Text Box 30"/>
            <p:cNvSpPr txBox="1">
              <a:spLocks noChangeArrowheads="1"/>
            </p:cNvSpPr>
            <p:nvPr/>
          </p:nvSpPr>
          <p:spPr bwMode="auto">
            <a:xfrm>
              <a:off x="1248" y="3100"/>
              <a:ext cx="167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Courbes paramétrées en U</a:t>
              </a:r>
            </a:p>
          </p:txBody>
        </p:sp>
      </p:grpSp>
      <p:cxnSp>
        <p:nvCxnSpPr>
          <p:cNvPr id="33" name="Connecteur droit avec flèche 32"/>
          <p:cNvCxnSpPr/>
          <p:nvPr/>
        </p:nvCxnSpPr>
        <p:spPr>
          <a:xfrm rot="5400000" flipH="1" flipV="1">
            <a:off x="4451350" y="2352675"/>
            <a:ext cx="357188"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4" name="Connecteur droit avec flèche 33"/>
          <p:cNvCxnSpPr/>
          <p:nvPr/>
        </p:nvCxnSpPr>
        <p:spPr>
          <a:xfrm>
            <a:off x="8286750" y="2000250"/>
            <a:ext cx="357188" cy="15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66570" name="Rectangle 45"/>
          <p:cNvSpPr>
            <a:spLocks noChangeArrowheads="1"/>
          </p:cNvSpPr>
          <p:nvPr/>
        </p:nvSpPr>
        <p:spPr bwMode="auto">
          <a:xfrm>
            <a:off x="387350" y="5065713"/>
            <a:ext cx="84296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i="1">
                <a:solidFill>
                  <a:srgbClr val="C00000"/>
                </a:solidFill>
                <a:latin typeface="Arial" panose="020B0604020202020204" pitchFamily="34" charset="0"/>
              </a:rPr>
              <a:t>Remarque</a:t>
            </a:r>
            <a:r>
              <a:rPr lang="fr-FR" altLang="fr-FR" sz="1800" b="1" i="1">
                <a:latin typeface="Arial" panose="020B0604020202020204" pitchFamily="34" charset="0"/>
              </a:rPr>
              <a:t> : Pour inverser le sens de rotation, on inversera le courant dans l'induit. </a:t>
            </a:r>
            <a:r>
              <a:rPr lang="fr-FR" altLang="fr-FR" sz="1800">
                <a:latin typeface="Arial" panose="020B0604020202020204" pitchFamily="34" charset="0"/>
              </a:rPr>
              <a:t>« on pourrait aussi inverser les courant inducteur, mais cela n'est pas possible si le flux inducteur est créé par des aimants permanents ».</a:t>
            </a:r>
          </a:p>
        </p:txBody>
      </p:sp>
      <p:sp>
        <p:nvSpPr>
          <p:cNvPr id="47115" name="Rectangle 10"/>
          <p:cNvSpPr>
            <a:spLocks noChangeArrowheads="1"/>
          </p:cNvSpPr>
          <p:nvPr/>
        </p:nvSpPr>
        <p:spPr bwMode="auto">
          <a:xfrm>
            <a:off x="182563" y="179388"/>
            <a:ext cx="8777287" cy="63071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par>
                          <p:cTn id="7" fill="hold" nodeType="afterGroup">
                            <p:stCondLst>
                              <p:cond delay="500"/>
                            </p:stCondLst>
                            <p:childTnLst>
                              <p:par>
                                <p:cTn id="8" presetID="2" presetClass="entr" presetSubtype="2" fill="hold" nodeType="after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additive="base">
                                        <p:cTn id="10" dur="500" fill="hold"/>
                                        <p:tgtEl>
                                          <p:spTgt spid="6"/>
                                        </p:tgtEl>
                                        <p:attrNameLst>
                                          <p:attrName>ppt_x</p:attrName>
                                        </p:attrNameLst>
                                      </p:cBhvr>
                                      <p:tavLst>
                                        <p:tav tm="0">
                                          <p:val>
                                            <p:strVal val="1+#ppt_w/2"/>
                                          </p:val>
                                        </p:tav>
                                        <p:tav tm="100000">
                                          <p:val>
                                            <p:strVal val="#ppt_x"/>
                                          </p:val>
                                        </p:tav>
                                      </p:tavLst>
                                    </p:anim>
                                    <p:anim calcmode="lin" valueType="num">
                                      <p:cBhvr additive="base">
                                        <p:cTn id="11"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0-#ppt_w/2"/>
                                          </p:val>
                                        </p:tav>
                                        <p:tav tm="100000">
                                          <p:val>
                                            <p:strVal val="#ppt_x"/>
                                          </p:val>
                                        </p:tav>
                                      </p:tavLst>
                                    </p:anim>
                                    <p:anim calcmode="lin" valueType="num">
                                      <p:cBhvr additive="base">
                                        <p:cTn id="17"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6570"/>
                                        </p:tgtEl>
                                        <p:attrNameLst>
                                          <p:attrName>style.visibility</p:attrName>
                                        </p:attrNameLst>
                                      </p:cBhvr>
                                      <p:to>
                                        <p:strVal val="visible"/>
                                      </p:to>
                                    </p:set>
                                    <p:animEffect transition="in" filter="checkerboard(across)">
                                      <p:cBhvr>
                                        <p:cTn id="22" dur="500"/>
                                        <p:tgtEl>
                                          <p:spTgt spid="66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657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idx="1"/>
          </p:nvPr>
        </p:nvSpPr>
        <p:spPr>
          <a:xfrm>
            <a:off x="749300" y="1358900"/>
            <a:ext cx="2590800" cy="457200"/>
          </a:xfrm>
        </p:spPr>
        <p:txBody>
          <a:bodyPr/>
          <a:lstStyle/>
          <a:p>
            <a:pPr>
              <a:lnSpc>
                <a:spcPct val="90000"/>
              </a:lnSpc>
              <a:buFontTx/>
              <a:buNone/>
            </a:pPr>
            <a:r>
              <a:rPr lang="en-US" altLang="fr-FR" sz="1800" u="sng" smtClean="0"/>
              <a:t>Moteur DC</a:t>
            </a:r>
          </a:p>
        </p:txBody>
      </p:sp>
      <p:sp>
        <p:nvSpPr>
          <p:cNvPr id="13" name="Espace réservé du pied de page 12"/>
          <p:cNvSpPr>
            <a:spLocks noGrp="1"/>
          </p:cNvSpPr>
          <p:nvPr>
            <p:ph type="ftr" sz="quarter" idx="11"/>
          </p:nvPr>
        </p:nvSpPr>
        <p:spPr/>
        <p:txBody>
          <a:bodyPr/>
          <a:lstStyle/>
          <a:p>
            <a:pPr>
              <a:defRPr/>
            </a:pPr>
            <a:r>
              <a:rPr lang="fr-FR"/>
              <a:t>Commande des machines   3.MCC     Ali NEJMI</a:t>
            </a:r>
            <a:endParaRPr lang="en-US"/>
          </a:p>
        </p:txBody>
      </p:sp>
      <p:sp>
        <p:nvSpPr>
          <p:cNvPr id="49156" name="Espace réservé du numéro de diapositive 1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4B6BED5-EA25-4BA4-87BD-613FACD899D0}" type="slidenum">
              <a:rPr lang="en-US" altLang="fr-FR" sz="1000" smtClean="0">
                <a:solidFill>
                  <a:srgbClr val="292929"/>
                </a:solidFill>
                <a:latin typeface="Arial" panose="020B0604020202020204" pitchFamily="34" charset="0"/>
              </a:rPr>
              <a:pPr>
                <a:spcBef>
                  <a:spcPct val="0"/>
                </a:spcBef>
                <a:buClrTx/>
                <a:buSzTx/>
                <a:buFontTx/>
                <a:buNone/>
              </a:pPr>
              <a:t>29</a:t>
            </a:fld>
            <a:endParaRPr lang="en-US" altLang="fr-FR" sz="1000" smtClean="0">
              <a:solidFill>
                <a:srgbClr val="292929"/>
              </a:solidFill>
              <a:latin typeface="Arial" panose="020B0604020202020204" pitchFamily="34" charset="0"/>
            </a:endParaRPr>
          </a:p>
        </p:txBody>
      </p:sp>
      <p:sp>
        <p:nvSpPr>
          <p:cNvPr id="49157" name="Rectangle 4"/>
          <p:cNvSpPr>
            <a:spLocks noChangeArrowheads="1"/>
          </p:cNvSpPr>
          <p:nvPr/>
        </p:nvSpPr>
        <p:spPr bwMode="auto">
          <a:xfrm>
            <a:off x="730250" y="3692525"/>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Tx/>
              <a:buChar char="•"/>
            </a:pPr>
            <a:r>
              <a:rPr lang="en-US" altLang="fr-FR" sz="1800">
                <a:latin typeface="Arial" panose="020B0604020202020204" pitchFamily="34" charset="0"/>
              </a:rPr>
              <a:t>Plusieurs limitations:</a:t>
            </a:r>
          </a:p>
        </p:txBody>
      </p:sp>
      <p:sp>
        <p:nvSpPr>
          <p:cNvPr id="49158" name="Rectangle 5"/>
          <p:cNvSpPr>
            <a:spLocks noChangeArrowheads="1"/>
          </p:cNvSpPr>
          <p:nvPr/>
        </p:nvSpPr>
        <p:spPr bwMode="auto">
          <a:xfrm>
            <a:off x="730250" y="2320925"/>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lnSpc>
                <a:spcPct val="90000"/>
              </a:lnSpc>
              <a:buClrTx/>
              <a:buSzTx/>
              <a:buFontTx/>
              <a:buChar char="•"/>
            </a:pPr>
            <a:r>
              <a:rPr lang="en-US" altLang="fr-FR" sz="1800">
                <a:latin typeface="Arial" panose="020B0604020202020204" pitchFamily="34" charset="0"/>
              </a:rPr>
              <a:t>Avantage: commande précise en couple et en vitesse sans électronique sophistiquée</a:t>
            </a:r>
          </a:p>
        </p:txBody>
      </p:sp>
      <p:sp>
        <p:nvSpPr>
          <p:cNvPr id="49159" name="Rectangle 10"/>
          <p:cNvSpPr>
            <a:spLocks noChangeArrowheads="1"/>
          </p:cNvSpPr>
          <p:nvPr/>
        </p:nvSpPr>
        <p:spPr bwMode="auto">
          <a:xfrm>
            <a:off x="182563" y="165100"/>
            <a:ext cx="8777287" cy="63992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131" name="Rectangle 11"/>
          <p:cNvSpPr>
            <a:spLocks noChangeArrowheads="1"/>
          </p:cNvSpPr>
          <p:nvPr/>
        </p:nvSpPr>
        <p:spPr bwMode="auto">
          <a:xfrm>
            <a:off x="1127125" y="4306888"/>
            <a:ext cx="42545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Tx/>
              <a:buChar char="•"/>
            </a:pPr>
            <a:r>
              <a:rPr lang="en-US" altLang="fr-FR" sz="1800">
                <a:latin typeface="Arial" panose="020B0604020202020204" pitchFamily="34" charset="0"/>
              </a:rPr>
              <a:t>Maintenance régulière</a:t>
            </a:r>
          </a:p>
        </p:txBody>
      </p:sp>
      <p:sp>
        <p:nvSpPr>
          <p:cNvPr id="5132" name="Rectangle 12"/>
          <p:cNvSpPr>
            <a:spLocks noChangeArrowheads="1"/>
          </p:cNvSpPr>
          <p:nvPr/>
        </p:nvSpPr>
        <p:spPr bwMode="auto">
          <a:xfrm>
            <a:off x="5381625" y="4306888"/>
            <a:ext cx="2625725"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Tx/>
              <a:buChar char="•"/>
            </a:pPr>
            <a:r>
              <a:rPr lang="en-US" altLang="fr-FR" sz="1800">
                <a:latin typeface="Arial" panose="020B0604020202020204" pitchFamily="34" charset="0"/>
              </a:rPr>
              <a:t>Prix élevé</a:t>
            </a:r>
          </a:p>
        </p:txBody>
      </p:sp>
      <p:sp>
        <p:nvSpPr>
          <p:cNvPr id="5133" name="Rectangle 13"/>
          <p:cNvSpPr>
            <a:spLocks noChangeArrowheads="1"/>
          </p:cNvSpPr>
          <p:nvPr/>
        </p:nvSpPr>
        <p:spPr bwMode="auto">
          <a:xfrm>
            <a:off x="1127125" y="4906963"/>
            <a:ext cx="16827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Tx/>
              <a:buChar char="•"/>
            </a:pPr>
            <a:r>
              <a:rPr lang="en-US" altLang="fr-FR" sz="1800">
                <a:latin typeface="Arial" panose="020B0604020202020204" pitchFamily="34" charset="0"/>
              </a:rPr>
              <a:t>Lourd</a:t>
            </a:r>
          </a:p>
        </p:txBody>
      </p:sp>
      <p:sp>
        <p:nvSpPr>
          <p:cNvPr id="5134" name="Rectangle 14"/>
          <p:cNvSpPr>
            <a:spLocks noChangeArrowheads="1"/>
          </p:cNvSpPr>
          <p:nvPr/>
        </p:nvSpPr>
        <p:spPr bwMode="auto">
          <a:xfrm>
            <a:off x="5381625" y="4906963"/>
            <a:ext cx="33718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Tx/>
              <a:buChar char="•"/>
            </a:pPr>
            <a:r>
              <a:rPr lang="en-US" altLang="fr-FR" sz="1800">
                <a:latin typeface="Arial" panose="020B0604020202020204" pitchFamily="34" charset="0"/>
              </a:rPr>
              <a:t>Limitations en vitesse</a:t>
            </a:r>
          </a:p>
        </p:txBody>
      </p:sp>
      <p:sp>
        <p:nvSpPr>
          <p:cNvPr id="5135" name="Rectangle 15"/>
          <p:cNvSpPr>
            <a:spLocks noChangeArrowheads="1"/>
          </p:cNvSpPr>
          <p:nvPr/>
        </p:nvSpPr>
        <p:spPr bwMode="auto">
          <a:xfrm>
            <a:off x="1127125" y="5507038"/>
            <a:ext cx="2630488"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buClrTx/>
              <a:buSzTx/>
              <a:buFontTx/>
              <a:buChar char="•"/>
            </a:pPr>
            <a:r>
              <a:rPr lang="en-US" altLang="fr-FR" sz="1800">
                <a:latin typeface="Arial" panose="020B0604020202020204" pitchFamily="34" charset="0"/>
              </a:rPr>
              <a:t>Etincelle</a:t>
            </a:r>
          </a:p>
        </p:txBody>
      </p:sp>
      <p:sp>
        <p:nvSpPr>
          <p:cNvPr id="49165" name="ZoneTexte 2"/>
          <p:cNvSpPr txBox="1">
            <a:spLocks noChangeArrowheads="1"/>
          </p:cNvSpPr>
          <p:nvPr/>
        </p:nvSpPr>
        <p:spPr bwMode="auto">
          <a:xfrm>
            <a:off x="295275" y="498475"/>
            <a:ext cx="427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131"/>
                                        </p:tgtEl>
                                        <p:attrNameLst>
                                          <p:attrName>style.visibility</p:attrName>
                                        </p:attrNameLst>
                                      </p:cBhvr>
                                      <p:to>
                                        <p:strVal val="visible"/>
                                      </p:to>
                                    </p:set>
                                    <p:animEffect transition="in" filter="wipe(left)">
                                      <p:cBhvr>
                                        <p:cTn id="7" dur="500"/>
                                        <p:tgtEl>
                                          <p:spTgt spid="51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32"/>
                                        </p:tgtEl>
                                        <p:attrNameLst>
                                          <p:attrName>style.visibility</p:attrName>
                                        </p:attrNameLst>
                                      </p:cBhvr>
                                      <p:to>
                                        <p:strVal val="visible"/>
                                      </p:to>
                                    </p:set>
                                    <p:animEffect transition="in" filter="wipe(left)">
                                      <p:cBhvr>
                                        <p:cTn id="12" dur="500"/>
                                        <p:tgtEl>
                                          <p:spTgt spid="51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133"/>
                                        </p:tgtEl>
                                        <p:attrNameLst>
                                          <p:attrName>style.visibility</p:attrName>
                                        </p:attrNameLst>
                                      </p:cBhvr>
                                      <p:to>
                                        <p:strVal val="visible"/>
                                      </p:to>
                                    </p:set>
                                    <p:animEffect transition="in" filter="wipe(left)">
                                      <p:cBhvr>
                                        <p:cTn id="17" dur="500"/>
                                        <p:tgtEl>
                                          <p:spTgt spid="51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134"/>
                                        </p:tgtEl>
                                        <p:attrNameLst>
                                          <p:attrName>style.visibility</p:attrName>
                                        </p:attrNameLst>
                                      </p:cBhvr>
                                      <p:to>
                                        <p:strVal val="visible"/>
                                      </p:to>
                                    </p:set>
                                    <p:animEffect transition="in" filter="wipe(left)">
                                      <p:cBhvr>
                                        <p:cTn id="22" dur="500"/>
                                        <p:tgtEl>
                                          <p:spTgt spid="51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135"/>
                                        </p:tgtEl>
                                        <p:attrNameLst>
                                          <p:attrName>style.visibility</p:attrName>
                                        </p:attrNameLst>
                                      </p:cBhvr>
                                      <p:to>
                                        <p:strVal val="visible"/>
                                      </p:to>
                                    </p:set>
                                    <p:animEffect transition="in" filter="wipe(left)">
                                      <p:cBhvr>
                                        <p:cTn id="27" dur="500"/>
                                        <p:tgtEl>
                                          <p:spTgt spid="51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1" grpId="0"/>
      <p:bldP spid="5132" grpId="0"/>
      <p:bldP spid="5133" grpId="0"/>
      <p:bldP spid="5134" grpId="0"/>
      <p:bldP spid="51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Espace réservé du pied de page 48"/>
          <p:cNvSpPr>
            <a:spLocks noGrp="1"/>
          </p:cNvSpPr>
          <p:nvPr>
            <p:ph type="ftr" sz="quarter" idx="11"/>
          </p:nvPr>
        </p:nvSpPr>
        <p:spPr/>
        <p:txBody>
          <a:bodyPr/>
          <a:lstStyle/>
          <a:p>
            <a:pPr>
              <a:defRPr/>
            </a:pPr>
            <a:r>
              <a:rPr lang="fr-FR"/>
              <a:t>Commande des machines   3.MCC     Ali NEJMI</a:t>
            </a:r>
            <a:endParaRPr lang="en-US"/>
          </a:p>
        </p:txBody>
      </p:sp>
      <p:sp>
        <p:nvSpPr>
          <p:cNvPr id="51203" name="Espace réservé du numéro de diapositive 4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E63529AA-3755-4A20-AD51-95687EA1DE68}" type="slidenum">
              <a:rPr lang="en-US" altLang="fr-FR" sz="1000" smtClean="0">
                <a:solidFill>
                  <a:srgbClr val="292929"/>
                </a:solidFill>
                <a:latin typeface="Arial" panose="020B0604020202020204" pitchFamily="34" charset="0"/>
              </a:rPr>
              <a:pPr>
                <a:spcBef>
                  <a:spcPct val="0"/>
                </a:spcBef>
                <a:buClrTx/>
                <a:buSzTx/>
                <a:buFontTx/>
                <a:buNone/>
              </a:pPr>
              <a:t>30</a:t>
            </a:fld>
            <a:endParaRPr lang="en-US" altLang="fr-FR" sz="1000" smtClean="0">
              <a:solidFill>
                <a:srgbClr val="292929"/>
              </a:solidFill>
              <a:latin typeface="Arial" panose="020B0604020202020204" pitchFamily="34" charset="0"/>
            </a:endParaRPr>
          </a:p>
        </p:txBody>
      </p:sp>
      <p:grpSp>
        <p:nvGrpSpPr>
          <p:cNvPr id="51204" name="Group 21"/>
          <p:cNvGrpSpPr>
            <a:grpSpLocks/>
          </p:cNvGrpSpPr>
          <p:nvPr/>
        </p:nvGrpSpPr>
        <p:grpSpPr bwMode="auto">
          <a:xfrm>
            <a:off x="1743075" y="4918075"/>
            <a:ext cx="5046663" cy="481013"/>
            <a:chOff x="1098" y="3098"/>
            <a:chExt cx="3179" cy="303"/>
          </a:xfrm>
        </p:grpSpPr>
        <p:graphicFrame>
          <p:nvGraphicFramePr>
            <p:cNvPr id="51248" name="Object 12"/>
            <p:cNvGraphicFramePr>
              <a:graphicFrameLocks noChangeAspect="1"/>
            </p:cNvGraphicFramePr>
            <p:nvPr/>
          </p:nvGraphicFramePr>
          <p:xfrm>
            <a:off x="1098" y="3098"/>
            <a:ext cx="870" cy="303"/>
          </p:xfrm>
          <a:graphic>
            <a:graphicData uri="http://schemas.openxmlformats.org/presentationml/2006/ole">
              <mc:AlternateContent xmlns:mc="http://schemas.openxmlformats.org/markup-compatibility/2006">
                <mc:Choice xmlns:v="urn:schemas-microsoft-com:vml" Requires="v">
                  <p:oleObj spid="_x0000_s51259" name="Équation" r:id="rId4" imgW="837836" imgH="291973" progId="Equation.3">
                    <p:embed/>
                  </p:oleObj>
                </mc:Choice>
                <mc:Fallback>
                  <p:oleObj name="Équation" r:id="rId4" imgW="837836" imgH="291973" progId="Equation.3">
                    <p:embed/>
                    <p:pic>
                      <p:nvPicPr>
                        <p:cNvPr id="0"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8" y="3098"/>
                          <a:ext cx="870" cy="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49" name="Text Box 19"/>
            <p:cNvSpPr txBox="1">
              <a:spLocks noChangeArrowheads="1"/>
            </p:cNvSpPr>
            <p:nvPr/>
          </p:nvSpPr>
          <p:spPr bwMode="auto">
            <a:xfrm>
              <a:off x="2448" y="3168"/>
              <a:ext cx="182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Couple Electromagnétique</a:t>
              </a:r>
            </a:p>
          </p:txBody>
        </p:sp>
      </p:grpSp>
      <p:grpSp>
        <p:nvGrpSpPr>
          <p:cNvPr id="51205" name="Group 45"/>
          <p:cNvGrpSpPr>
            <a:grpSpLocks/>
          </p:cNvGrpSpPr>
          <p:nvPr/>
        </p:nvGrpSpPr>
        <p:grpSpPr bwMode="auto">
          <a:xfrm>
            <a:off x="2190750" y="5715000"/>
            <a:ext cx="3675063" cy="398463"/>
            <a:chOff x="1380" y="3600"/>
            <a:chExt cx="2315" cy="251"/>
          </a:xfrm>
        </p:grpSpPr>
        <p:sp>
          <p:nvSpPr>
            <p:cNvPr id="51247" name="Text Box 20"/>
            <p:cNvSpPr txBox="1">
              <a:spLocks noChangeArrowheads="1"/>
            </p:cNvSpPr>
            <p:nvPr/>
          </p:nvSpPr>
          <p:spPr bwMode="auto">
            <a:xfrm>
              <a:off x="2448" y="3600"/>
              <a:ext cx="124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f.c.e.m de l’induit</a:t>
              </a:r>
            </a:p>
          </p:txBody>
        </p:sp>
      </p:grpSp>
      <p:sp>
        <p:nvSpPr>
          <p:cNvPr id="51206" name="Rectangle 44"/>
          <p:cNvSpPr>
            <a:spLocks noChangeArrowheads="1"/>
          </p:cNvSpPr>
          <p:nvPr/>
        </p:nvSpPr>
        <p:spPr bwMode="auto">
          <a:xfrm>
            <a:off x="182563" y="223838"/>
            <a:ext cx="8777287" cy="63563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51207" name="Group 68"/>
          <p:cNvGrpSpPr>
            <a:grpSpLocks/>
          </p:cNvGrpSpPr>
          <p:nvPr/>
        </p:nvGrpSpPr>
        <p:grpSpPr bwMode="auto">
          <a:xfrm>
            <a:off x="609600" y="914400"/>
            <a:ext cx="7491413" cy="3676650"/>
            <a:chOff x="384" y="576"/>
            <a:chExt cx="4719" cy="2316"/>
          </a:xfrm>
        </p:grpSpPr>
        <p:pic>
          <p:nvPicPr>
            <p:cNvPr id="51211" name="Picture 16"/>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384" y="768"/>
              <a:ext cx="4704" cy="1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1212" name="Group 42"/>
            <p:cNvGrpSpPr>
              <a:grpSpLocks/>
            </p:cNvGrpSpPr>
            <p:nvPr/>
          </p:nvGrpSpPr>
          <p:grpSpPr bwMode="auto">
            <a:xfrm>
              <a:off x="3600" y="576"/>
              <a:ext cx="1503" cy="1652"/>
              <a:chOff x="3600" y="576"/>
              <a:chExt cx="1503" cy="1652"/>
            </a:xfrm>
          </p:grpSpPr>
          <p:sp>
            <p:nvSpPr>
              <p:cNvPr id="51241" name="Line 27"/>
              <p:cNvSpPr>
                <a:spLocks noChangeShapeType="1"/>
              </p:cNvSpPr>
              <p:nvPr/>
            </p:nvSpPr>
            <p:spPr bwMode="auto">
              <a:xfrm flipH="1">
                <a:off x="3936" y="1008"/>
                <a:ext cx="336"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a:p>
            </p:txBody>
          </p:sp>
          <p:sp>
            <p:nvSpPr>
              <p:cNvPr id="51242" name="Text Box 30"/>
              <p:cNvSpPr txBox="1">
                <a:spLocks noChangeArrowheads="1"/>
              </p:cNvSpPr>
              <p:nvPr/>
            </p:nvSpPr>
            <p:spPr bwMode="auto">
              <a:xfrm>
                <a:off x="3600" y="576"/>
                <a:ext cx="43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L</a:t>
                </a:r>
                <a:r>
                  <a:rPr lang="en-US" altLang="fr-FR" sz="1800" baseline="-25000">
                    <a:latin typeface="Arial" panose="020B0604020202020204" pitchFamily="34" charset="0"/>
                  </a:rPr>
                  <a:t>f</a:t>
                </a:r>
                <a:endParaRPr lang="en-US" altLang="fr-FR" sz="1800">
                  <a:latin typeface="Arial" panose="020B0604020202020204" pitchFamily="34" charset="0"/>
                </a:endParaRPr>
              </a:p>
            </p:txBody>
          </p:sp>
          <p:sp>
            <p:nvSpPr>
              <p:cNvPr id="51243" name="Text Box 31"/>
              <p:cNvSpPr txBox="1">
                <a:spLocks noChangeArrowheads="1"/>
              </p:cNvSpPr>
              <p:nvPr/>
            </p:nvSpPr>
            <p:spPr bwMode="auto">
              <a:xfrm>
                <a:off x="4320" y="576"/>
                <a:ext cx="48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R</a:t>
                </a:r>
                <a:r>
                  <a:rPr lang="en-US" altLang="fr-FR" sz="1800" baseline="-25000">
                    <a:latin typeface="Arial" panose="020B0604020202020204" pitchFamily="34" charset="0"/>
                  </a:rPr>
                  <a:t>f</a:t>
                </a:r>
                <a:endParaRPr lang="en-US" altLang="fr-FR" sz="1800">
                  <a:latin typeface="Arial" panose="020B0604020202020204" pitchFamily="34" charset="0"/>
                </a:endParaRPr>
              </a:p>
            </p:txBody>
          </p:sp>
          <p:sp>
            <p:nvSpPr>
              <p:cNvPr id="51244" name="Oval 35"/>
              <p:cNvSpPr>
                <a:spLocks noChangeArrowheads="1"/>
              </p:cNvSpPr>
              <p:nvPr/>
            </p:nvSpPr>
            <p:spPr bwMode="auto">
              <a:xfrm>
                <a:off x="5012" y="845"/>
                <a:ext cx="68" cy="68"/>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1245" name="Oval 38"/>
              <p:cNvSpPr>
                <a:spLocks noChangeArrowheads="1"/>
              </p:cNvSpPr>
              <p:nvPr/>
            </p:nvSpPr>
            <p:spPr bwMode="auto">
              <a:xfrm>
                <a:off x="5035" y="2160"/>
                <a:ext cx="68" cy="68"/>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1246" name="Text Box 40"/>
              <p:cNvSpPr txBox="1">
                <a:spLocks noChangeArrowheads="1"/>
              </p:cNvSpPr>
              <p:nvPr/>
            </p:nvSpPr>
            <p:spPr bwMode="auto">
              <a:xfrm>
                <a:off x="4105" y="1026"/>
                <a:ext cx="31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i</a:t>
                </a:r>
                <a:r>
                  <a:rPr lang="en-US" altLang="fr-FR" sz="1800" baseline="-25000">
                    <a:latin typeface="Arial" panose="020B0604020202020204" pitchFamily="34" charset="0"/>
                  </a:rPr>
                  <a:t>f</a:t>
                </a:r>
                <a:endParaRPr lang="en-US" altLang="fr-FR" sz="1800">
                  <a:latin typeface="Arial" panose="020B0604020202020204" pitchFamily="34" charset="0"/>
                </a:endParaRPr>
              </a:p>
            </p:txBody>
          </p:sp>
        </p:grpSp>
        <p:grpSp>
          <p:nvGrpSpPr>
            <p:cNvPr id="51213" name="Group 48"/>
            <p:cNvGrpSpPr>
              <a:grpSpLocks/>
            </p:cNvGrpSpPr>
            <p:nvPr/>
          </p:nvGrpSpPr>
          <p:grpSpPr bwMode="auto">
            <a:xfrm>
              <a:off x="385" y="576"/>
              <a:ext cx="2279" cy="1652"/>
              <a:chOff x="385" y="576"/>
              <a:chExt cx="2279" cy="1652"/>
            </a:xfrm>
          </p:grpSpPr>
          <p:sp>
            <p:nvSpPr>
              <p:cNvPr id="51230" name="Rectangle 7"/>
              <p:cNvSpPr>
                <a:spLocks noChangeArrowheads="1"/>
              </p:cNvSpPr>
              <p:nvPr/>
            </p:nvSpPr>
            <p:spPr bwMode="auto">
              <a:xfrm>
                <a:off x="2304" y="1728"/>
                <a:ext cx="144" cy="4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1231" name="Rectangle 8"/>
              <p:cNvSpPr>
                <a:spLocks noChangeArrowheads="1"/>
              </p:cNvSpPr>
              <p:nvPr/>
            </p:nvSpPr>
            <p:spPr bwMode="auto">
              <a:xfrm>
                <a:off x="2304" y="1152"/>
                <a:ext cx="144" cy="48"/>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1232" name="Oval 6"/>
              <p:cNvSpPr>
                <a:spLocks noChangeArrowheads="1"/>
              </p:cNvSpPr>
              <p:nvPr/>
            </p:nvSpPr>
            <p:spPr bwMode="auto">
              <a:xfrm>
                <a:off x="2088" y="1208"/>
                <a:ext cx="576" cy="528"/>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1233" name="Line 26"/>
              <p:cNvSpPr>
                <a:spLocks noChangeShapeType="1"/>
              </p:cNvSpPr>
              <p:nvPr/>
            </p:nvSpPr>
            <p:spPr bwMode="auto">
              <a:xfrm>
                <a:off x="1392" y="960"/>
                <a:ext cx="336" cy="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a:p>
            </p:txBody>
          </p:sp>
          <p:sp>
            <p:nvSpPr>
              <p:cNvPr id="51234" name="Text Box 28"/>
              <p:cNvSpPr txBox="1">
                <a:spLocks noChangeArrowheads="1"/>
              </p:cNvSpPr>
              <p:nvPr/>
            </p:nvSpPr>
            <p:spPr bwMode="auto">
              <a:xfrm>
                <a:off x="1863" y="1008"/>
                <a:ext cx="249"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a:t>
                </a:r>
              </a:p>
              <a:p>
                <a:pPr eaLnBrk="1" hangingPunct="1">
                  <a:spcBef>
                    <a:spcPct val="0"/>
                  </a:spcBef>
                  <a:buClrTx/>
                  <a:buSzTx/>
                  <a:buFontTx/>
                  <a:buNone/>
                </a:pPr>
                <a:endParaRPr lang="en-US" altLang="fr-FR" sz="1800">
                  <a:latin typeface="Arial" panose="020B0604020202020204" pitchFamily="34" charset="0"/>
                </a:endParaRPr>
              </a:p>
              <a:p>
                <a:pPr eaLnBrk="1" hangingPunct="1">
                  <a:spcBef>
                    <a:spcPct val="0"/>
                  </a:spcBef>
                  <a:buClrTx/>
                  <a:buSzTx/>
                  <a:buFontTx/>
                  <a:buNone/>
                </a:pPr>
                <a:r>
                  <a:rPr lang="en-US" altLang="fr-FR" sz="1800">
                    <a:latin typeface="Arial" panose="020B0604020202020204" pitchFamily="34" charset="0"/>
                  </a:rPr>
                  <a:t>e</a:t>
                </a:r>
                <a:r>
                  <a:rPr lang="en-US" altLang="fr-FR" sz="1800" baseline="-25000">
                    <a:latin typeface="Arial" panose="020B0604020202020204" pitchFamily="34" charset="0"/>
                  </a:rPr>
                  <a:t>a</a:t>
                </a:r>
                <a:endParaRPr lang="en-US" altLang="fr-FR" sz="1800">
                  <a:latin typeface="Arial" panose="020B0604020202020204" pitchFamily="34" charset="0"/>
                </a:endParaRPr>
              </a:p>
              <a:p>
                <a:pPr eaLnBrk="1" hangingPunct="1">
                  <a:spcBef>
                    <a:spcPct val="0"/>
                  </a:spcBef>
                  <a:buClrTx/>
                  <a:buSzTx/>
                  <a:buFontTx/>
                  <a:buNone/>
                </a:pPr>
                <a:endParaRPr lang="en-US" altLang="fr-FR" sz="1800">
                  <a:latin typeface="Arial" panose="020B0604020202020204" pitchFamily="34" charset="0"/>
                </a:endParaRPr>
              </a:p>
              <a:p>
                <a:pPr eaLnBrk="1" hangingPunct="1">
                  <a:spcBef>
                    <a:spcPct val="0"/>
                  </a:spcBef>
                  <a:buClrTx/>
                  <a:buSzTx/>
                  <a:buFontTx/>
                  <a:buNone/>
                </a:pPr>
                <a:r>
                  <a:rPr lang="en-US" altLang="fr-FR" sz="1800">
                    <a:latin typeface="Arial" panose="020B0604020202020204" pitchFamily="34" charset="0"/>
                  </a:rPr>
                  <a:t>_</a:t>
                </a:r>
              </a:p>
            </p:txBody>
          </p:sp>
          <p:sp>
            <p:nvSpPr>
              <p:cNvPr id="51235" name="Text Box 29"/>
              <p:cNvSpPr txBox="1">
                <a:spLocks noChangeArrowheads="1"/>
              </p:cNvSpPr>
              <p:nvPr/>
            </p:nvSpPr>
            <p:spPr bwMode="auto">
              <a:xfrm>
                <a:off x="1670" y="585"/>
                <a:ext cx="34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L</a:t>
                </a:r>
                <a:r>
                  <a:rPr lang="en-US" altLang="fr-FR" sz="1800" baseline="-25000">
                    <a:latin typeface="Arial" panose="020B0604020202020204" pitchFamily="34" charset="0"/>
                  </a:rPr>
                  <a:t>a</a:t>
                </a:r>
                <a:endParaRPr lang="en-US" altLang="fr-FR" sz="1800">
                  <a:latin typeface="Arial" panose="020B0604020202020204" pitchFamily="34" charset="0"/>
                </a:endParaRPr>
              </a:p>
            </p:txBody>
          </p:sp>
          <p:sp>
            <p:nvSpPr>
              <p:cNvPr id="51236" name="Text Box 32"/>
              <p:cNvSpPr txBox="1">
                <a:spLocks noChangeArrowheads="1"/>
              </p:cNvSpPr>
              <p:nvPr/>
            </p:nvSpPr>
            <p:spPr bwMode="auto">
              <a:xfrm>
                <a:off x="960" y="57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R</a:t>
                </a:r>
                <a:r>
                  <a:rPr lang="en-US" altLang="fr-FR" sz="1800" baseline="-25000">
                    <a:latin typeface="Arial" panose="020B0604020202020204" pitchFamily="34" charset="0"/>
                  </a:rPr>
                  <a:t>a</a:t>
                </a:r>
                <a:endParaRPr lang="en-US" altLang="fr-FR" sz="1800">
                  <a:latin typeface="Arial" panose="020B0604020202020204" pitchFamily="34" charset="0"/>
                </a:endParaRPr>
              </a:p>
            </p:txBody>
          </p:sp>
          <p:sp>
            <p:nvSpPr>
              <p:cNvPr id="51237" name="Oval 33"/>
              <p:cNvSpPr>
                <a:spLocks noChangeArrowheads="1"/>
              </p:cNvSpPr>
              <p:nvPr/>
            </p:nvSpPr>
            <p:spPr bwMode="auto">
              <a:xfrm>
                <a:off x="408" y="2160"/>
                <a:ext cx="68" cy="68"/>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1238" name="Oval 34"/>
              <p:cNvSpPr>
                <a:spLocks noChangeArrowheads="1"/>
              </p:cNvSpPr>
              <p:nvPr/>
            </p:nvSpPr>
            <p:spPr bwMode="auto">
              <a:xfrm>
                <a:off x="385" y="845"/>
                <a:ext cx="68" cy="68"/>
              </a:xfrm>
              <a:prstGeom prst="ellipse">
                <a:avLst/>
              </a:prstGeom>
              <a:solidFill>
                <a:schemeClr val="bg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1239" name="Text Box 39"/>
              <p:cNvSpPr txBox="1">
                <a:spLocks noChangeArrowheads="1"/>
              </p:cNvSpPr>
              <p:nvPr/>
            </p:nvSpPr>
            <p:spPr bwMode="auto">
              <a:xfrm>
                <a:off x="1371" y="948"/>
                <a:ext cx="26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i</a:t>
                </a:r>
                <a:r>
                  <a:rPr lang="en-US" altLang="fr-FR" sz="1800" baseline="-25000">
                    <a:latin typeface="Arial" panose="020B0604020202020204" pitchFamily="34" charset="0"/>
                  </a:rPr>
                  <a:t>a</a:t>
                </a:r>
                <a:endParaRPr lang="en-US" altLang="fr-FR" sz="1800">
                  <a:latin typeface="Arial" panose="020B0604020202020204" pitchFamily="34" charset="0"/>
                </a:endParaRPr>
              </a:p>
            </p:txBody>
          </p:sp>
          <p:sp>
            <p:nvSpPr>
              <p:cNvPr id="51240" name="Text Box 46"/>
              <p:cNvSpPr txBox="1">
                <a:spLocks noChangeArrowheads="1"/>
              </p:cNvSpPr>
              <p:nvPr/>
            </p:nvSpPr>
            <p:spPr bwMode="auto">
              <a:xfrm>
                <a:off x="476" y="1026"/>
                <a:ext cx="324"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a:t>
                </a:r>
              </a:p>
              <a:p>
                <a:pPr eaLnBrk="1" hangingPunct="1">
                  <a:spcBef>
                    <a:spcPct val="0"/>
                  </a:spcBef>
                  <a:buClrTx/>
                  <a:buSzTx/>
                  <a:buFontTx/>
                  <a:buNone/>
                </a:pPr>
                <a:endParaRPr lang="en-US" altLang="fr-FR" sz="1800">
                  <a:latin typeface="Arial" panose="020B0604020202020204" pitchFamily="34" charset="0"/>
                </a:endParaRPr>
              </a:p>
              <a:p>
                <a:pPr eaLnBrk="1" hangingPunct="1">
                  <a:spcBef>
                    <a:spcPct val="0"/>
                  </a:spcBef>
                  <a:buClrTx/>
                  <a:buSzTx/>
                  <a:buFontTx/>
                  <a:buNone/>
                </a:pPr>
                <a:r>
                  <a:rPr lang="en-US" altLang="fr-FR" sz="1800">
                    <a:latin typeface="Arial" panose="020B0604020202020204" pitchFamily="34" charset="0"/>
                  </a:rPr>
                  <a:t>V</a:t>
                </a:r>
                <a:r>
                  <a:rPr lang="en-US" altLang="fr-FR" sz="1800" baseline="-25000">
                    <a:latin typeface="Arial" panose="020B0604020202020204" pitchFamily="34" charset="0"/>
                  </a:rPr>
                  <a:t>t</a:t>
                </a:r>
                <a:endParaRPr lang="en-US" altLang="fr-FR" sz="1800">
                  <a:latin typeface="Arial" panose="020B0604020202020204" pitchFamily="34" charset="0"/>
                </a:endParaRPr>
              </a:p>
              <a:p>
                <a:pPr eaLnBrk="1" hangingPunct="1">
                  <a:spcBef>
                    <a:spcPct val="0"/>
                  </a:spcBef>
                  <a:buClrTx/>
                  <a:buSzTx/>
                  <a:buFontTx/>
                  <a:buNone/>
                </a:pPr>
                <a:endParaRPr lang="en-US" altLang="fr-FR" sz="1800">
                  <a:latin typeface="Arial" panose="020B0604020202020204" pitchFamily="34" charset="0"/>
                </a:endParaRPr>
              </a:p>
              <a:p>
                <a:pPr eaLnBrk="1" hangingPunct="1">
                  <a:spcBef>
                    <a:spcPct val="0"/>
                  </a:spcBef>
                  <a:buClrTx/>
                  <a:buSzTx/>
                  <a:buFontTx/>
                  <a:buNone/>
                </a:pPr>
                <a:r>
                  <a:rPr lang="en-US" altLang="fr-FR" sz="1800">
                    <a:latin typeface="Arial" panose="020B0604020202020204" pitchFamily="34" charset="0"/>
                  </a:rPr>
                  <a:t>_</a:t>
                </a:r>
              </a:p>
            </p:txBody>
          </p:sp>
        </p:grpSp>
        <p:sp>
          <p:nvSpPr>
            <p:cNvPr id="51214" name="Text Box 47"/>
            <p:cNvSpPr txBox="1">
              <a:spLocks noChangeArrowheads="1"/>
            </p:cNvSpPr>
            <p:nvPr/>
          </p:nvSpPr>
          <p:spPr bwMode="auto">
            <a:xfrm>
              <a:off x="4779" y="1026"/>
              <a:ext cx="324" cy="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a:t>
              </a:r>
            </a:p>
            <a:p>
              <a:pPr eaLnBrk="1" hangingPunct="1">
                <a:spcBef>
                  <a:spcPct val="0"/>
                </a:spcBef>
                <a:buClrTx/>
                <a:buSzTx/>
                <a:buFontTx/>
                <a:buNone/>
              </a:pPr>
              <a:endParaRPr lang="en-US" altLang="fr-FR" sz="1800">
                <a:latin typeface="Arial" panose="020B0604020202020204" pitchFamily="34" charset="0"/>
              </a:endParaRPr>
            </a:p>
            <a:p>
              <a:pPr eaLnBrk="1" hangingPunct="1">
                <a:spcBef>
                  <a:spcPct val="0"/>
                </a:spcBef>
                <a:buClrTx/>
                <a:buSzTx/>
                <a:buFontTx/>
                <a:buNone/>
              </a:pPr>
              <a:r>
                <a:rPr lang="en-US" altLang="fr-FR" sz="1800">
                  <a:latin typeface="Arial" panose="020B0604020202020204" pitchFamily="34" charset="0"/>
                </a:rPr>
                <a:t>V</a:t>
              </a:r>
              <a:r>
                <a:rPr lang="en-US" altLang="fr-FR" sz="1800" baseline="-25000">
                  <a:latin typeface="Arial" panose="020B0604020202020204" pitchFamily="34" charset="0"/>
                </a:rPr>
                <a:t>f</a:t>
              </a:r>
              <a:endParaRPr lang="en-US" altLang="fr-FR" sz="1800">
                <a:latin typeface="Arial" panose="020B0604020202020204" pitchFamily="34" charset="0"/>
              </a:endParaRPr>
            </a:p>
            <a:p>
              <a:pPr eaLnBrk="1" hangingPunct="1">
                <a:spcBef>
                  <a:spcPct val="0"/>
                </a:spcBef>
                <a:buClrTx/>
                <a:buSzTx/>
                <a:buFontTx/>
                <a:buNone/>
              </a:pPr>
              <a:endParaRPr lang="en-US" altLang="fr-FR" sz="1800">
                <a:latin typeface="Arial" panose="020B0604020202020204" pitchFamily="34" charset="0"/>
              </a:endParaRPr>
            </a:p>
            <a:p>
              <a:pPr eaLnBrk="1" hangingPunct="1">
                <a:spcBef>
                  <a:spcPct val="0"/>
                </a:spcBef>
                <a:buClrTx/>
                <a:buSzTx/>
                <a:buFontTx/>
                <a:buNone/>
              </a:pPr>
              <a:r>
                <a:rPr lang="en-US" altLang="fr-FR" sz="1800">
                  <a:latin typeface="Arial" panose="020B0604020202020204" pitchFamily="34" charset="0"/>
                </a:rPr>
                <a:t>_</a:t>
              </a:r>
            </a:p>
          </p:txBody>
        </p:sp>
        <p:grpSp>
          <p:nvGrpSpPr>
            <p:cNvPr id="51215" name="Group 53"/>
            <p:cNvGrpSpPr>
              <a:grpSpLocks noChangeAspect="1"/>
            </p:cNvGrpSpPr>
            <p:nvPr/>
          </p:nvGrpSpPr>
          <p:grpSpPr bwMode="auto">
            <a:xfrm>
              <a:off x="3513" y="2400"/>
              <a:ext cx="1371" cy="492"/>
              <a:chOff x="3513" y="2400"/>
              <a:chExt cx="1371" cy="492"/>
            </a:xfrm>
          </p:grpSpPr>
          <p:sp>
            <p:nvSpPr>
              <p:cNvPr id="51216" name="AutoShape 52"/>
              <p:cNvSpPr>
                <a:spLocks noChangeAspect="1" noChangeArrowheads="1" noTextEdit="1"/>
              </p:cNvSpPr>
              <p:nvPr/>
            </p:nvSpPr>
            <p:spPr bwMode="auto">
              <a:xfrm>
                <a:off x="3513" y="2400"/>
                <a:ext cx="1371" cy="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51217" name="Line 54"/>
              <p:cNvSpPr>
                <a:spLocks noChangeShapeType="1"/>
              </p:cNvSpPr>
              <p:nvPr/>
            </p:nvSpPr>
            <p:spPr bwMode="auto">
              <a:xfrm>
                <a:off x="4580" y="2655"/>
                <a:ext cx="261" cy="1"/>
              </a:xfrm>
              <a:prstGeom prst="line">
                <a:avLst/>
              </a:prstGeom>
              <a:noFill/>
              <a:ln w="14288">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1218" name="Rectangle 55"/>
              <p:cNvSpPr>
                <a:spLocks noChangeArrowheads="1"/>
              </p:cNvSpPr>
              <p:nvPr/>
            </p:nvSpPr>
            <p:spPr bwMode="auto">
              <a:xfrm>
                <a:off x="4619" y="2680"/>
                <a:ext cx="17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200">
                    <a:solidFill>
                      <a:srgbClr val="000000"/>
                    </a:solidFill>
                    <a:latin typeface="Bookman Old Style" panose="02050604050505020204" pitchFamily="18" charset="0"/>
                  </a:rPr>
                  <a:t>dt</a:t>
                </a:r>
                <a:endParaRPr lang="en-US" altLang="fr-FR" sz="1800">
                  <a:latin typeface="Arial" panose="020B0604020202020204" pitchFamily="34" charset="0"/>
                </a:endParaRPr>
              </a:p>
            </p:txBody>
          </p:sp>
          <p:sp>
            <p:nvSpPr>
              <p:cNvPr id="51219" name="Rectangle 56"/>
              <p:cNvSpPr>
                <a:spLocks noChangeArrowheads="1"/>
              </p:cNvSpPr>
              <p:nvPr/>
            </p:nvSpPr>
            <p:spPr bwMode="auto">
              <a:xfrm>
                <a:off x="4589" y="2428"/>
                <a:ext cx="16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200">
                    <a:solidFill>
                      <a:srgbClr val="000000"/>
                    </a:solidFill>
                    <a:latin typeface="Bookman Old Style" panose="02050604050505020204" pitchFamily="18" charset="0"/>
                  </a:rPr>
                  <a:t>di</a:t>
                </a:r>
                <a:endParaRPr lang="en-US" altLang="fr-FR" sz="1800">
                  <a:latin typeface="Arial" panose="020B0604020202020204" pitchFamily="34" charset="0"/>
                </a:endParaRPr>
              </a:p>
            </p:txBody>
          </p:sp>
          <p:sp>
            <p:nvSpPr>
              <p:cNvPr id="51220" name="Rectangle 57"/>
              <p:cNvSpPr>
                <a:spLocks noChangeArrowheads="1"/>
              </p:cNvSpPr>
              <p:nvPr/>
            </p:nvSpPr>
            <p:spPr bwMode="auto">
              <a:xfrm>
                <a:off x="4433" y="2542"/>
                <a:ext cx="106"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200">
                    <a:solidFill>
                      <a:srgbClr val="000000"/>
                    </a:solidFill>
                    <a:latin typeface="Bookman Old Style" panose="02050604050505020204" pitchFamily="18" charset="0"/>
                  </a:rPr>
                  <a:t>L</a:t>
                </a:r>
                <a:endParaRPr lang="en-US" altLang="fr-FR" sz="1800">
                  <a:latin typeface="Arial" panose="020B0604020202020204" pitchFamily="34" charset="0"/>
                </a:endParaRPr>
              </a:p>
            </p:txBody>
          </p:sp>
          <p:sp>
            <p:nvSpPr>
              <p:cNvPr id="51221" name="Rectangle 58"/>
              <p:cNvSpPr>
                <a:spLocks noChangeArrowheads="1"/>
              </p:cNvSpPr>
              <p:nvPr/>
            </p:nvSpPr>
            <p:spPr bwMode="auto">
              <a:xfrm>
                <a:off x="4121" y="2542"/>
                <a:ext cx="53"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200">
                    <a:solidFill>
                      <a:srgbClr val="000000"/>
                    </a:solidFill>
                    <a:latin typeface="Bookman Old Style" panose="02050604050505020204" pitchFamily="18" charset="0"/>
                  </a:rPr>
                  <a:t>i</a:t>
                </a:r>
                <a:endParaRPr lang="en-US" altLang="fr-FR" sz="1800">
                  <a:latin typeface="Arial" panose="020B0604020202020204" pitchFamily="34" charset="0"/>
                </a:endParaRPr>
              </a:p>
            </p:txBody>
          </p:sp>
          <p:sp>
            <p:nvSpPr>
              <p:cNvPr id="51222" name="Rectangle 59"/>
              <p:cNvSpPr>
                <a:spLocks noChangeArrowheads="1"/>
              </p:cNvSpPr>
              <p:nvPr/>
            </p:nvSpPr>
            <p:spPr bwMode="auto">
              <a:xfrm>
                <a:off x="3923" y="2542"/>
                <a:ext cx="12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200">
                    <a:solidFill>
                      <a:srgbClr val="000000"/>
                    </a:solidFill>
                    <a:latin typeface="Bookman Old Style" panose="02050604050505020204" pitchFamily="18" charset="0"/>
                  </a:rPr>
                  <a:t>R</a:t>
                </a:r>
                <a:endParaRPr lang="en-US" altLang="fr-FR" sz="1800">
                  <a:latin typeface="Arial" panose="020B0604020202020204" pitchFamily="34" charset="0"/>
                </a:endParaRPr>
              </a:p>
            </p:txBody>
          </p:sp>
          <p:sp>
            <p:nvSpPr>
              <p:cNvPr id="51223" name="Rectangle 60"/>
              <p:cNvSpPr>
                <a:spLocks noChangeArrowheads="1"/>
              </p:cNvSpPr>
              <p:nvPr/>
            </p:nvSpPr>
            <p:spPr bwMode="auto">
              <a:xfrm>
                <a:off x="3545" y="2542"/>
                <a:ext cx="92"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200">
                    <a:solidFill>
                      <a:srgbClr val="000000"/>
                    </a:solidFill>
                    <a:latin typeface="Bookman Old Style" panose="02050604050505020204" pitchFamily="18" charset="0"/>
                  </a:rPr>
                  <a:t>v</a:t>
                </a:r>
                <a:endParaRPr lang="en-US" altLang="fr-FR" sz="1800">
                  <a:latin typeface="Arial" panose="020B0604020202020204" pitchFamily="34" charset="0"/>
                </a:endParaRPr>
              </a:p>
            </p:txBody>
          </p:sp>
          <p:sp>
            <p:nvSpPr>
              <p:cNvPr id="51224" name="Rectangle 61"/>
              <p:cNvSpPr>
                <a:spLocks noChangeArrowheads="1"/>
              </p:cNvSpPr>
              <p:nvPr/>
            </p:nvSpPr>
            <p:spPr bwMode="auto">
              <a:xfrm>
                <a:off x="4762" y="2532"/>
                <a:ext cx="3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300">
                    <a:solidFill>
                      <a:srgbClr val="000000"/>
                    </a:solidFill>
                    <a:latin typeface="Bookman Old Style" panose="02050604050505020204" pitchFamily="18" charset="0"/>
                  </a:rPr>
                  <a:t>f</a:t>
                </a:r>
                <a:endParaRPr lang="en-US" altLang="fr-FR" sz="1800">
                  <a:latin typeface="Arial" panose="020B0604020202020204" pitchFamily="34" charset="0"/>
                </a:endParaRPr>
              </a:p>
            </p:txBody>
          </p:sp>
          <p:sp>
            <p:nvSpPr>
              <p:cNvPr id="51225" name="Rectangle 62"/>
              <p:cNvSpPr>
                <a:spLocks noChangeArrowheads="1"/>
              </p:cNvSpPr>
              <p:nvPr/>
            </p:nvSpPr>
            <p:spPr bwMode="auto">
              <a:xfrm>
                <a:off x="4184" y="2647"/>
                <a:ext cx="3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300">
                    <a:solidFill>
                      <a:srgbClr val="000000"/>
                    </a:solidFill>
                    <a:latin typeface="Bookman Old Style" panose="02050604050505020204" pitchFamily="18" charset="0"/>
                  </a:rPr>
                  <a:t>f</a:t>
                </a:r>
                <a:endParaRPr lang="en-US" altLang="fr-FR" sz="1800">
                  <a:latin typeface="Arial" panose="020B0604020202020204" pitchFamily="34" charset="0"/>
                </a:endParaRPr>
              </a:p>
            </p:txBody>
          </p:sp>
          <p:sp>
            <p:nvSpPr>
              <p:cNvPr id="51226" name="Rectangle 63"/>
              <p:cNvSpPr>
                <a:spLocks noChangeArrowheads="1"/>
              </p:cNvSpPr>
              <p:nvPr/>
            </p:nvSpPr>
            <p:spPr bwMode="auto">
              <a:xfrm>
                <a:off x="4066" y="2647"/>
                <a:ext cx="3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300">
                    <a:solidFill>
                      <a:srgbClr val="000000"/>
                    </a:solidFill>
                    <a:latin typeface="Bookman Old Style" panose="02050604050505020204" pitchFamily="18" charset="0"/>
                  </a:rPr>
                  <a:t>f</a:t>
                </a:r>
                <a:endParaRPr lang="en-US" altLang="fr-FR" sz="1800">
                  <a:latin typeface="Arial" panose="020B0604020202020204" pitchFamily="34" charset="0"/>
                </a:endParaRPr>
              </a:p>
            </p:txBody>
          </p:sp>
          <p:sp>
            <p:nvSpPr>
              <p:cNvPr id="51227" name="Rectangle 64"/>
              <p:cNvSpPr>
                <a:spLocks noChangeArrowheads="1"/>
              </p:cNvSpPr>
              <p:nvPr/>
            </p:nvSpPr>
            <p:spPr bwMode="auto">
              <a:xfrm>
                <a:off x="3664" y="2647"/>
                <a:ext cx="3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300">
                    <a:solidFill>
                      <a:srgbClr val="000000"/>
                    </a:solidFill>
                    <a:latin typeface="Bookman Old Style" panose="02050604050505020204" pitchFamily="18" charset="0"/>
                  </a:rPr>
                  <a:t>f</a:t>
                </a:r>
                <a:endParaRPr lang="en-US" altLang="fr-FR" sz="1800">
                  <a:latin typeface="Arial" panose="020B0604020202020204" pitchFamily="34" charset="0"/>
                </a:endParaRPr>
              </a:p>
            </p:txBody>
          </p:sp>
          <p:sp>
            <p:nvSpPr>
              <p:cNvPr id="51228" name="Rectangle 65"/>
              <p:cNvSpPr>
                <a:spLocks noChangeArrowheads="1"/>
              </p:cNvSpPr>
              <p:nvPr/>
            </p:nvSpPr>
            <p:spPr bwMode="auto">
              <a:xfrm>
                <a:off x="4295" y="2522"/>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200">
                    <a:solidFill>
                      <a:srgbClr val="000000"/>
                    </a:solidFill>
                    <a:latin typeface="Symbol" panose="05050102010706020507" pitchFamily="18" charset="2"/>
                  </a:rPr>
                  <a:t>+</a:t>
                </a:r>
                <a:endParaRPr lang="en-US" altLang="fr-FR" sz="1800">
                  <a:latin typeface="Arial" panose="020B0604020202020204" pitchFamily="34" charset="0"/>
                </a:endParaRPr>
              </a:p>
            </p:txBody>
          </p:sp>
          <p:sp>
            <p:nvSpPr>
              <p:cNvPr id="51229" name="Rectangle 66"/>
              <p:cNvSpPr>
                <a:spLocks noChangeArrowheads="1"/>
              </p:cNvSpPr>
              <p:nvPr/>
            </p:nvSpPr>
            <p:spPr bwMode="auto">
              <a:xfrm>
                <a:off x="3781" y="2522"/>
                <a:ext cx="97"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2200">
                    <a:solidFill>
                      <a:srgbClr val="000000"/>
                    </a:solidFill>
                    <a:latin typeface="Symbol" panose="05050102010706020507" pitchFamily="18" charset="2"/>
                  </a:rPr>
                  <a:t>=</a:t>
                </a:r>
                <a:endParaRPr lang="en-US" altLang="fr-FR" sz="1800">
                  <a:latin typeface="Arial" panose="020B0604020202020204" pitchFamily="34" charset="0"/>
                </a:endParaRPr>
              </a:p>
            </p:txBody>
          </p:sp>
        </p:grpSp>
      </p:grpSp>
      <p:pic>
        <p:nvPicPr>
          <p:cNvPr id="51208" name="Object 9"/>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12863" y="4003675"/>
            <a:ext cx="1862137"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09" name="Object 18"/>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190750" y="5721350"/>
            <a:ext cx="947738"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10" name="ZoneTexte 50"/>
          <p:cNvSpPr txBox="1">
            <a:spLocks noChangeArrowheads="1"/>
          </p:cNvSpPr>
          <p:nvPr/>
        </p:nvSpPr>
        <p:spPr bwMode="auto">
          <a:xfrm>
            <a:off x="295275" y="295275"/>
            <a:ext cx="427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Espace réservé du pied de page 16"/>
          <p:cNvSpPr>
            <a:spLocks noGrp="1"/>
          </p:cNvSpPr>
          <p:nvPr>
            <p:ph type="ftr" sz="quarter" idx="11"/>
          </p:nvPr>
        </p:nvSpPr>
        <p:spPr/>
        <p:txBody>
          <a:bodyPr/>
          <a:lstStyle/>
          <a:p>
            <a:pPr>
              <a:defRPr/>
            </a:pPr>
            <a:r>
              <a:rPr lang="fr-FR"/>
              <a:t>Commande des machines   3.MCC     Ali NEJMI</a:t>
            </a:r>
            <a:endParaRPr lang="en-US"/>
          </a:p>
        </p:txBody>
      </p:sp>
      <p:sp>
        <p:nvSpPr>
          <p:cNvPr id="53251" name="Espace réservé du numéro de diapositive 1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A6C27AD-41AC-45E7-994C-AC4F7754E22E}" type="slidenum">
              <a:rPr lang="en-US" altLang="fr-FR" sz="1000" smtClean="0">
                <a:solidFill>
                  <a:srgbClr val="292929"/>
                </a:solidFill>
                <a:latin typeface="Arial" panose="020B0604020202020204" pitchFamily="34" charset="0"/>
              </a:rPr>
              <a:pPr>
                <a:spcBef>
                  <a:spcPct val="0"/>
                </a:spcBef>
                <a:buClrTx/>
                <a:buSzTx/>
                <a:buFontTx/>
                <a:buNone/>
              </a:pPr>
              <a:t>31</a:t>
            </a:fld>
            <a:endParaRPr lang="en-US" altLang="fr-FR" sz="1000" smtClean="0">
              <a:solidFill>
                <a:srgbClr val="292929"/>
              </a:solidFill>
              <a:latin typeface="Arial" panose="020B0604020202020204" pitchFamily="34" charset="0"/>
            </a:endParaRPr>
          </a:p>
        </p:txBody>
      </p:sp>
      <p:grpSp>
        <p:nvGrpSpPr>
          <p:cNvPr id="2" name="Group 40"/>
          <p:cNvGrpSpPr>
            <a:grpSpLocks/>
          </p:cNvGrpSpPr>
          <p:nvPr/>
        </p:nvGrpSpPr>
        <p:grpSpPr bwMode="auto">
          <a:xfrm>
            <a:off x="1058863" y="2152650"/>
            <a:ext cx="3689350" cy="712788"/>
            <a:chOff x="667" y="1356"/>
            <a:chExt cx="2324" cy="449"/>
          </a:xfrm>
        </p:grpSpPr>
        <p:sp>
          <p:nvSpPr>
            <p:cNvPr id="53266" name="Text Box 32"/>
            <p:cNvSpPr txBox="1">
              <a:spLocks noChangeArrowheads="1"/>
            </p:cNvSpPr>
            <p:nvPr/>
          </p:nvSpPr>
          <p:spPr bwMode="auto">
            <a:xfrm>
              <a:off x="667" y="1356"/>
              <a:ext cx="126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En Régime établi,</a:t>
              </a:r>
            </a:p>
          </p:txBody>
        </p:sp>
      </p:grpSp>
      <p:grpSp>
        <p:nvGrpSpPr>
          <p:cNvPr id="3" name="Group 41"/>
          <p:cNvGrpSpPr>
            <a:grpSpLocks/>
          </p:cNvGrpSpPr>
          <p:nvPr/>
        </p:nvGrpSpPr>
        <p:grpSpPr bwMode="auto">
          <a:xfrm>
            <a:off x="1042988" y="3321050"/>
            <a:ext cx="4673600" cy="1347788"/>
            <a:chOff x="657" y="2092"/>
            <a:chExt cx="2944" cy="849"/>
          </a:xfrm>
        </p:grpSpPr>
        <p:sp>
          <p:nvSpPr>
            <p:cNvPr id="53265" name="Text Box 34"/>
            <p:cNvSpPr txBox="1">
              <a:spLocks noChangeArrowheads="1"/>
            </p:cNvSpPr>
            <p:nvPr/>
          </p:nvSpPr>
          <p:spPr bwMode="auto">
            <a:xfrm>
              <a:off x="657" y="2092"/>
              <a:ext cx="29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La vitesse en Régime établi est donnée par,</a:t>
              </a:r>
            </a:p>
          </p:txBody>
        </p:sp>
      </p:grpSp>
      <p:grpSp>
        <p:nvGrpSpPr>
          <p:cNvPr id="4" name="Group 42"/>
          <p:cNvGrpSpPr>
            <a:grpSpLocks/>
          </p:cNvGrpSpPr>
          <p:nvPr/>
        </p:nvGrpSpPr>
        <p:grpSpPr bwMode="auto">
          <a:xfrm>
            <a:off x="1295400" y="4868863"/>
            <a:ext cx="6405563" cy="1392237"/>
            <a:chOff x="816" y="3067"/>
            <a:chExt cx="4035" cy="877"/>
          </a:xfrm>
        </p:grpSpPr>
        <p:sp>
          <p:nvSpPr>
            <p:cNvPr id="53263" name="Text Box 35"/>
            <p:cNvSpPr txBox="1">
              <a:spLocks noChangeArrowheads="1"/>
            </p:cNvSpPr>
            <p:nvPr/>
          </p:nvSpPr>
          <p:spPr bwMode="auto">
            <a:xfrm>
              <a:off x="816" y="3067"/>
              <a:ext cx="403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Trois méthodes possibles pour le contrôle de vitesse :</a:t>
              </a:r>
              <a:endParaRPr lang="en-US" altLang="fr-FR" sz="1800">
                <a:latin typeface="Arial" panose="020B0604020202020204" pitchFamily="34" charset="0"/>
              </a:endParaRPr>
            </a:p>
          </p:txBody>
        </p:sp>
        <p:sp>
          <p:nvSpPr>
            <p:cNvPr id="53264" name="Text Box 36"/>
            <p:cNvSpPr txBox="1">
              <a:spLocks noChangeArrowheads="1"/>
            </p:cNvSpPr>
            <p:nvPr/>
          </p:nvSpPr>
          <p:spPr bwMode="auto">
            <a:xfrm>
              <a:off x="1587" y="3362"/>
              <a:ext cx="3082"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36588" indent="-28257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Arial" panose="020B0604020202020204" pitchFamily="34" charset="0"/>
                <a:buChar char="•"/>
              </a:pPr>
              <a:r>
                <a:rPr lang="en-US" altLang="fr-FR" sz="1800">
                  <a:latin typeface="Arial" panose="020B0604020202020204" pitchFamily="34" charset="0"/>
                </a:rPr>
                <a:t>Flux inducteur (courant d’excitation)</a:t>
              </a:r>
            </a:p>
            <a:p>
              <a:pPr eaLnBrk="1" hangingPunct="1">
                <a:spcBef>
                  <a:spcPct val="0"/>
                </a:spcBef>
                <a:buClrTx/>
                <a:buSzTx/>
                <a:buFont typeface="Arial" panose="020B0604020202020204" pitchFamily="34" charset="0"/>
                <a:buChar char="•"/>
              </a:pPr>
              <a:r>
                <a:rPr lang="en-US" altLang="fr-FR" sz="1800">
                  <a:latin typeface="Arial" panose="020B0604020202020204" pitchFamily="34" charset="0"/>
                </a:rPr>
                <a:t>Tension d’induit V</a:t>
              </a:r>
              <a:r>
                <a:rPr lang="en-US" altLang="fr-FR" sz="1800" baseline="-25000">
                  <a:latin typeface="Arial" panose="020B0604020202020204" pitchFamily="34" charset="0"/>
                </a:rPr>
                <a:t>t</a:t>
              </a:r>
            </a:p>
            <a:p>
              <a:pPr eaLnBrk="1" hangingPunct="1">
                <a:spcBef>
                  <a:spcPct val="0"/>
                </a:spcBef>
                <a:buClrTx/>
                <a:buSzTx/>
                <a:buFont typeface="Arial" panose="020B0604020202020204" pitchFamily="34" charset="0"/>
                <a:buChar char="•"/>
              </a:pPr>
              <a:r>
                <a:rPr lang="en-US" altLang="fr-FR" sz="1800">
                  <a:latin typeface="Arial" panose="020B0604020202020204" pitchFamily="34" charset="0"/>
                </a:rPr>
                <a:t>Résistance de l’induit Ra</a:t>
              </a:r>
            </a:p>
          </p:txBody>
        </p:sp>
      </p:grpSp>
      <p:sp>
        <p:nvSpPr>
          <p:cNvPr id="53255" name="Rectangle 37"/>
          <p:cNvSpPr>
            <a:spLocks noChangeArrowheads="1"/>
          </p:cNvSpPr>
          <p:nvPr/>
        </p:nvSpPr>
        <p:spPr bwMode="auto">
          <a:xfrm>
            <a:off x="182563" y="157163"/>
            <a:ext cx="8777287" cy="64071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53256" name="Group 39"/>
          <p:cNvGrpSpPr>
            <a:grpSpLocks/>
          </p:cNvGrpSpPr>
          <p:nvPr/>
        </p:nvGrpSpPr>
        <p:grpSpPr bwMode="auto">
          <a:xfrm>
            <a:off x="1084263" y="984250"/>
            <a:ext cx="4038600" cy="979488"/>
            <a:chOff x="683" y="620"/>
            <a:chExt cx="2544" cy="617"/>
          </a:xfrm>
        </p:grpSpPr>
        <p:sp>
          <p:nvSpPr>
            <p:cNvPr id="53262" name="Text Box 38"/>
            <p:cNvSpPr txBox="1">
              <a:spLocks noChangeArrowheads="1"/>
            </p:cNvSpPr>
            <p:nvPr/>
          </p:nvSpPr>
          <p:spPr bwMode="auto">
            <a:xfrm>
              <a:off x="683" y="620"/>
              <a:ext cx="16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Enroulement de l'induit:</a:t>
              </a:r>
            </a:p>
          </p:txBody>
        </p:sp>
      </p:grpSp>
      <p:pic>
        <p:nvPicPr>
          <p:cNvPr id="53257" name="Object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14613" y="1268413"/>
            <a:ext cx="250825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8" name="Object 3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51163" y="3897313"/>
            <a:ext cx="1987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9" name="Object 3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59113" y="2492375"/>
            <a:ext cx="1689100"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60" name="ZoneTexte 18"/>
          <p:cNvSpPr txBox="1">
            <a:spLocks noChangeArrowheads="1"/>
          </p:cNvSpPr>
          <p:nvPr/>
        </p:nvSpPr>
        <p:spPr bwMode="auto">
          <a:xfrm>
            <a:off x="295275" y="295275"/>
            <a:ext cx="427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
        <p:nvSpPr>
          <p:cNvPr id="53261" name="ZoneTexte 4"/>
          <p:cNvSpPr txBox="1">
            <a:spLocks noChangeArrowheads="1"/>
          </p:cNvSpPr>
          <p:nvPr/>
        </p:nvSpPr>
        <p:spPr bwMode="auto">
          <a:xfrm>
            <a:off x="4527550" y="3876675"/>
            <a:ext cx="612775" cy="369888"/>
          </a:xfrm>
          <a:prstGeom prst="rect">
            <a:avLst/>
          </a:prstGeom>
          <a:blipFill dpi="0" rotWithShape="1">
            <a:blip r:embed="rId6"/>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a:t>
            </a:r>
            <a:r>
              <a:rPr lang="fr-FR" altLang="fr-FR" sz="1000">
                <a:latin typeface="Arial" panose="020B0604020202020204" pitchFamily="34" charset="0"/>
              </a:rPr>
              <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36" name="Espace réservé du pied de page 35"/>
          <p:cNvSpPr>
            <a:spLocks noGrp="1"/>
          </p:cNvSpPr>
          <p:nvPr>
            <p:ph type="ftr" sz="quarter" idx="11"/>
          </p:nvPr>
        </p:nvSpPr>
        <p:spPr/>
        <p:txBody>
          <a:bodyPr/>
          <a:lstStyle/>
          <a:p>
            <a:pPr>
              <a:defRPr/>
            </a:pPr>
            <a:r>
              <a:rPr lang="fr-FR"/>
              <a:t>Commande des machines   3.MCC     Ali NEJMI</a:t>
            </a:r>
            <a:endParaRPr lang="en-US"/>
          </a:p>
        </p:txBody>
      </p:sp>
      <p:sp>
        <p:nvSpPr>
          <p:cNvPr id="55299" name="Espace réservé du numéro de diapositive 3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CEADD8F-7334-4F94-A997-D733FA4116DF}" type="slidenum">
              <a:rPr lang="en-US" altLang="fr-FR" sz="1000" smtClean="0">
                <a:solidFill>
                  <a:srgbClr val="292929"/>
                </a:solidFill>
                <a:latin typeface="Arial" panose="020B0604020202020204" pitchFamily="34" charset="0"/>
              </a:rPr>
              <a:pPr>
                <a:spcBef>
                  <a:spcPct val="0"/>
                </a:spcBef>
                <a:buClrTx/>
                <a:buSzTx/>
                <a:buFontTx/>
                <a:buNone/>
              </a:pPr>
              <a:t>32</a:t>
            </a:fld>
            <a:endParaRPr lang="en-US" altLang="fr-FR" sz="1000" smtClean="0">
              <a:solidFill>
                <a:srgbClr val="292929"/>
              </a:solidFill>
              <a:latin typeface="Arial" panose="020B0604020202020204" pitchFamily="34" charset="0"/>
            </a:endParaRPr>
          </a:p>
        </p:txBody>
      </p:sp>
      <p:pic>
        <p:nvPicPr>
          <p:cNvPr id="55300" name="Object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60763" y="841375"/>
            <a:ext cx="1987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1" name="Rectangle 12"/>
          <p:cNvSpPr>
            <a:spLocks noChangeArrowheads="1"/>
          </p:cNvSpPr>
          <p:nvPr/>
        </p:nvSpPr>
        <p:spPr bwMode="auto">
          <a:xfrm>
            <a:off x="182563" y="188913"/>
            <a:ext cx="8777287" cy="63912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2" name="Group 54"/>
          <p:cNvGrpSpPr>
            <a:grpSpLocks/>
          </p:cNvGrpSpPr>
          <p:nvPr/>
        </p:nvGrpSpPr>
        <p:grpSpPr bwMode="auto">
          <a:xfrm>
            <a:off x="1460500" y="1808163"/>
            <a:ext cx="354013" cy="3562350"/>
            <a:chOff x="920" y="1139"/>
            <a:chExt cx="223" cy="2244"/>
          </a:xfrm>
        </p:grpSpPr>
        <p:sp>
          <p:nvSpPr>
            <p:cNvPr id="55333" name="Line 16"/>
            <p:cNvSpPr>
              <a:spLocks noChangeShapeType="1"/>
            </p:cNvSpPr>
            <p:nvPr/>
          </p:nvSpPr>
          <p:spPr bwMode="auto">
            <a:xfrm flipV="1">
              <a:off x="1143" y="1255"/>
              <a:ext cx="0" cy="21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5334" name="Text Box 18"/>
            <p:cNvSpPr txBox="1">
              <a:spLocks noChangeArrowheads="1"/>
            </p:cNvSpPr>
            <p:nvPr/>
          </p:nvSpPr>
          <p:spPr bwMode="auto">
            <a:xfrm>
              <a:off x="920" y="1139"/>
              <a:ext cx="2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grpSp>
      <p:grpSp>
        <p:nvGrpSpPr>
          <p:cNvPr id="3" name="Group 55"/>
          <p:cNvGrpSpPr>
            <a:grpSpLocks/>
          </p:cNvGrpSpPr>
          <p:nvPr/>
        </p:nvGrpSpPr>
        <p:grpSpPr bwMode="auto">
          <a:xfrm>
            <a:off x="1582738" y="5178425"/>
            <a:ext cx="5664200" cy="366713"/>
            <a:chOff x="997" y="3262"/>
            <a:chExt cx="3568" cy="231"/>
          </a:xfrm>
        </p:grpSpPr>
        <p:sp>
          <p:nvSpPr>
            <p:cNvPr id="55331" name="Line 17"/>
            <p:cNvSpPr>
              <a:spLocks noChangeShapeType="1"/>
            </p:cNvSpPr>
            <p:nvPr/>
          </p:nvSpPr>
          <p:spPr bwMode="auto">
            <a:xfrm>
              <a:off x="997" y="3262"/>
              <a:ext cx="319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5332" name="Text Box 19"/>
            <p:cNvSpPr txBox="1">
              <a:spLocks noChangeArrowheads="1"/>
            </p:cNvSpPr>
            <p:nvPr/>
          </p:nvSpPr>
          <p:spPr bwMode="auto">
            <a:xfrm>
              <a:off x="4187" y="3262"/>
              <a:ext cx="3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C</a:t>
              </a:r>
              <a:r>
                <a:rPr lang="en-US" altLang="fr-FR" sz="1800" baseline="-25000">
                  <a:latin typeface="Arial" panose="020B0604020202020204" pitchFamily="34" charset="0"/>
                  <a:sym typeface="Symbol" panose="05050102010706020507" pitchFamily="18" charset="2"/>
                </a:rPr>
                <a:t>e</a:t>
              </a:r>
              <a:endParaRPr lang="en-US" altLang="fr-FR" sz="1800">
                <a:latin typeface="Arial" panose="020B0604020202020204" pitchFamily="34" charset="0"/>
                <a:sym typeface="Symbol" panose="05050102010706020507" pitchFamily="18" charset="2"/>
              </a:endParaRPr>
            </a:p>
          </p:txBody>
        </p:sp>
      </p:grpSp>
      <p:sp>
        <p:nvSpPr>
          <p:cNvPr id="51220" name="Line 20"/>
          <p:cNvSpPr>
            <a:spLocks noChangeShapeType="1"/>
          </p:cNvSpPr>
          <p:nvPr/>
        </p:nvSpPr>
        <p:spPr bwMode="auto">
          <a:xfrm>
            <a:off x="1473200" y="2846388"/>
            <a:ext cx="4776788" cy="3413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4" name="Group 56"/>
          <p:cNvGrpSpPr>
            <a:grpSpLocks/>
          </p:cNvGrpSpPr>
          <p:nvPr/>
        </p:nvGrpSpPr>
        <p:grpSpPr bwMode="auto">
          <a:xfrm>
            <a:off x="1801813" y="2330450"/>
            <a:ext cx="3903662" cy="2835275"/>
            <a:chOff x="1135" y="1468"/>
            <a:chExt cx="2459" cy="1786"/>
          </a:xfrm>
        </p:grpSpPr>
        <p:sp>
          <p:nvSpPr>
            <p:cNvPr id="55329" name="Freeform 24"/>
            <p:cNvSpPr>
              <a:spLocks/>
            </p:cNvSpPr>
            <p:nvPr/>
          </p:nvSpPr>
          <p:spPr bwMode="auto">
            <a:xfrm>
              <a:off x="1135" y="1673"/>
              <a:ext cx="2459" cy="1581"/>
            </a:xfrm>
            <a:custGeom>
              <a:avLst/>
              <a:gdLst>
                <a:gd name="T0" fmla="*/ 0 w 2459"/>
                <a:gd name="T1" fmla="*/ 1581 h 1581"/>
                <a:gd name="T2" fmla="*/ 344 w 2459"/>
                <a:gd name="T3" fmla="*/ 1117 h 1581"/>
                <a:gd name="T4" fmla="*/ 713 w 2459"/>
                <a:gd name="T5" fmla="*/ 799 h 1581"/>
                <a:gd name="T6" fmla="*/ 1401 w 2459"/>
                <a:gd name="T7" fmla="*/ 404 h 1581"/>
                <a:gd name="T8" fmla="*/ 2192 w 2459"/>
                <a:gd name="T9" fmla="*/ 85 h 1581"/>
                <a:gd name="T10" fmla="*/ 2459 w 2459"/>
                <a:gd name="T11" fmla="*/ 0 h 1581"/>
                <a:gd name="T12" fmla="*/ 0 60000 65536"/>
                <a:gd name="T13" fmla="*/ 0 60000 65536"/>
                <a:gd name="T14" fmla="*/ 0 60000 65536"/>
                <a:gd name="T15" fmla="*/ 0 60000 65536"/>
                <a:gd name="T16" fmla="*/ 0 60000 65536"/>
                <a:gd name="T17" fmla="*/ 0 60000 65536"/>
                <a:gd name="T18" fmla="*/ 0 w 2459"/>
                <a:gd name="T19" fmla="*/ 0 h 1581"/>
                <a:gd name="T20" fmla="*/ 2459 w 2459"/>
                <a:gd name="T21" fmla="*/ 1581 h 1581"/>
              </a:gdLst>
              <a:ahLst/>
              <a:cxnLst>
                <a:cxn ang="T12">
                  <a:pos x="T0" y="T1"/>
                </a:cxn>
                <a:cxn ang="T13">
                  <a:pos x="T2" y="T3"/>
                </a:cxn>
                <a:cxn ang="T14">
                  <a:pos x="T4" y="T5"/>
                </a:cxn>
                <a:cxn ang="T15">
                  <a:pos x="T6" y="T7"/>
                </a:cxn>
                <a:cxn ang="T16">
                  <a:pos x="T8" y="T9"/>
                </a:cxn>
                <a:cxn ang="T17">
                  <a:pos x="T10" y="T11"/>
                </a:cxn>
              </a:cxnLst>
              <a:rect l="T18" t="T19" r="T20" b="T21"/>
              <a:pathLst>
                <a:path w="2459" h="1581">
                  <a:moveTo>
                    <a:pt x="0" y="1581"/>
                  </a:moveTo>
                  <a:cubicBezTo>
                    <a:pt x="112" y="1414"/>
                    <a:pt x="225" y="1247"/>
                    <a:pt x="344" y="1117"/>
                  </a:cubicBezTo>
                  <a:cubicBezTo>
                    <a:pt x="463" y="987"/>
                    <a:pt x="537" y="918"/>
                    <a:pt x="713" y="799"/>
                  </a:cubicBezTo>
                  <a:cubicBezTo>
                    <a:pt x="889" y="680"/>
                    <a:pt x="1155" y="523"/>
                    <a:pt x="1401" y="404"/>
                  </a:cubicBezTo>
                  <a:cubicBezTo>
                    <a:pt x="1647" y="285"/>
                    <a:pt x="2016" y="152"/>
                    <a:pt x="2192" y="85"/>
                  </a:cubicBezTo>
                  <a:cubicBezTo>
                    <a:pt x="2368" y="18"/>
                    <a:pt x="2413" y="9"/>
                    <a:pt x="2459" y="0"/>
                  </a:cubicBezTo>
                </a:path>
              </a:pathLst>
            </a:custGeom>
            <a:noFill/>
            <a:ln w="28575" cmpd="sng">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55330" name="Text Box 28"/>
            <p:cNvSpPr txBox="1">
              <a:spLocks noChangeArrowheads="1"/>
            </p:cNvSpPr>
            <p:nvPr/>
          </p:nvSpPr>
          <p:spPr bwMode="auto">
            <a:xfrm>
              <a:off x="3272" y="1468"/>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FF0000"/>
                  </a:solidFill>
                  <a:latin typeface="Arial" panose="020B0604020202020204" pitchFamily="34" charset="0"/>
                </a:rPr>
                <a:t>C</a:t>
              </a:r>
              <a:r>
                <a:rPr lang="en-US" altLang="fr-FR" sz="1800" baseline="-25000">
                  <a:solidFill>
                    <a:srgbClr val="FF0000"/>
                  </a:solidFill>
                  <a:latin typeface="Arial" panose="020B0604020202020204" pitchFamily="34" charset="0"/>
                </a:rPr>
                <a:t>L</a:t>
              </a:r>
              <a:endParaRPr lang="en-US" altLang="fr-FR" sz="1800">
                <a:solidFill>
                  <a:srgbClr val="FF0000"/>
                </a:solidFill>
                <a:latin typeface="Arial" panose="020B0604020202020204" pitchFamily="34" charset="0"/>
              </a:endParaRPr>
            </a:p>
          </p:txBody>
        </p:sp>
      </p:grpSp>
      <p:grpSp>
        <p:nvGrpSpPr>
          <p:cNvPr id="5" name="Group 47"/>
          <p:cNvGrpSpPr>
            <a:grpSpLocks/>
          </p:cNvGrpSpPr>
          <p:nvPr/>
        </p:nvGrpSpPr>
        <p:grpSpPr bwMode="auto">
          <a:xfrm>
            <a:off x="1065213" y="2051050"/>
            <a:ext cx="709612" cy="760413"/>
            <a:chOff x="671" y="1292"/>
            <a:chExt cx="447" cy="479"/>
          </a:xfrm>
        </p:grpSpPr>
        <p:sp>
          <p:nvSpPr>
            <p:cNvPr id="55328" name="Freeform 37"/>
            <p:cNvSpPr>
              <a:spLocks/>
            </p:cNvSpPr>
            <p:nvPr/>
          </p:nvSpPr>
          <p:spPr bwMode="auto">
            <a:xfrm>
              <a:off x="946" y="1522"/>
              <a:ext cx="172" cy="249"/>
            </a:xfrm>
            <a:custGeom>
              <a:avLst/>
              <a:gdLst>
                <a:gd name="T0" fmla="*/ 0 w 172"/>
                <a:gd name="T1" fmla="*/ 0 h 249"/>
                <a:gd name="T2" fmla="*/ 103 w 172"/>
                <a:gd name="T3" fmla="*/ 68 h 249"/>
                <a:gd name="T4" fmla="*/ 172 w 172"/>
                <a:gd name="T5" fmla="*/ 249 h 249"/>
                <a:gd name="T6" fmla="*/ 0 60000 65536"/>
                <a:gd name="T7" fmla="*/ 0 60000 65536"/>
                <a:gd name="T8" fmla="*/ 0 60000 65536"/>
                <a:gd name="T9" fmla="*/ 0 w 172"/>
                <a:gd name="T10" fmla="*/ 0 h 249"/>
                <a:gd name="T11" fmla="*/ 172 w 172"/>
                <a:gd name="T12" fmla="*/ 249 h 249"/>
              </a:gdLst>
              <a:ahLst/>
              <a:cxnLst>
                <a:cxn ang="T6">
                  <a:pos x="T0" y="T1"/>
                </a:cxn>
                <a:cxn ang="T7">
                  <a:pos x="T2" y="T3"/>
                </a:cxn>
                <a:cxn ang="T8">
                  <a:pos x="T4" y="T5"/>
                </a:cxn>
              </a:cxnLst>
              <a:rect l="T9" t="T10" r="T11" b="T12"/>
              <a:pathLst>
                <a:path w="172" h="249">
                  <a:moveTo>
                    <a:pt x="0" y="0"/>
                  </a:moveTo>
                  <a:cubicBezTo>
                    <a:pt x="37" y="13"/>
                    <a:pt x="74" y="27"/>
                    <a:pt x="103" y="68"/>
                  </a:cubicBezTo>
                  <a:cubicBezTo>
                    <a:pt x="132" y="109"/>
                    <a:pt x="152" y="179"/>
                    <a:pt x="172" y="249"/>
                  </a:cubicBezTo>
                </a:path>
              </a:pathLst>
            </a:custGeom>
            <a:noFill/>
            <a:ln w="9525">
              <a:solidFill>
                <a:schemeClr val="tx1"/>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6" name="Group 53"/>
          <p:cNvGrpSpPr>
            <a:grpSpLocks/>
          </p:cNvGrpSpPr>
          <p:nvPr/>
        </p:nvGrpSpPr>
        <p:grpSpPr bwMode="auto">
          <a:xfrm>
            <a:off x="1473200" y="3187700"/>
            <a:ext cx="6088063" cy="1711325"/>
            <a:chOff x="928" y="2008"/>
            <a:chExt cx="3835" cy="1078"/>
          </a:xfrm>
        </p:grpSpPr>
        <p:grpSp>
          <p:nvGrpSpPr>
            <p:cNvPr id="55321" name="Group 48"/>
            <p:cNvGrpSpPr>
              <a:grpSpLocks/>
            </p:cNvGrpSpPr>
            <p:nvPr/>
          </p:nvGrpSpPr>
          <p:grpSpPr bwMode="auto">
            <a:xfrm>
              <a:off x="928" y="2162"/>
              <a:ext cx="3009" cy="924"/>
              <a:chOff x="928" y="2162"/>
              <a:chExt cx="3009" cy="924"/>
            </a:xfrm>
          </p:grpSpPr>
          <p:sp>
            <p:nvSpPr>
              <p:cNvPr id="55325" name="Line 21"/>
              <p:cNvSpPr>
                <a:spLocks noChangeShapeType="1"/>
              </p:cNvSpPr>
              <p:nvPr/>
            </p:nvSpPr>
            <p:spPr bwMode="auto">
              <a:xfrm>
                <a:off x="928" y="2162"/>
                <a:ext cx="3009" cy="2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5326" name="Line 22"/>
              <p:cNvSpPr>
                <a:spLocks noChangeShapeType="1"/>
              </p:cNvSpPr>
              <p:nvPr/>
            </p:nvSpPr>
            <p:spPr bwMode="auto">
              <a:xfrm>
                <a:off x="928" y="2549"/>
                <a:ext cx="3009" cy="2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5327" name="Line 23"/>
              <p:cNvSpPr>
                <a:spLocks noChangeShapeType="1"/>
              </p:cNvSpPr>
              <p:nvPr/>
            </p:nvSpPr>
            <p:spPr bwMode="auto">
              <a:xfrm>
                <a:off x="928" y="2871"/>
                <a:ext cx="3009" cy="2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55322" name="Group 40"/>
            <p:cNvGrpSpPr>
              <a:grpSpLocks/>
            </p:cNvGrpSpPr>
            <p:nvPr/>
          </p:nvGrpSpPr>
          <p:grpSpPr bwMode="auto">
            <a:xfrm>
              <a:off x="4084" y="2008"/>
              <a:ext cx="679" cy="541"/>
              <a:chOff x="4084" y="2008"/>
              <a:chExt cx="679" cy="541"/>
            </a:xfrm>
          </p:grpSpPr>
          <p:sp>
            <p:nvSpPr>
              <p:cNvPr id="55323" name="Line 38"/>
              <p:cNvSpPr>
                <a:spLocks noChangeShapeType="1"/>
              </p:cNvSpPr>
              <p:nvPr/>
            </p:nvSpPr>
            <p:spPr bwMode="auto">
              <a:xfrm flipH="1">
                <a:off x="4084" y="2008"/>
                <a:ext cx="103" cy="541"/>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a:lstStyle/>
              <a:p>
                <a:endParaRPr lang="fr-FR"/>
              </a:p>
            </p:txBody>
          </p:sp>
          <p:sp>
            <p:nvSpPr>
              <p:cNvPr id="55324" name="Text Box 39"/>
              <p:cNvSpPr txBox="1">
                <a:spLocks noChangeArrowheads="1"/>
              </p:cNvSpPr>
              <p:nvPr/>
            </p:nvSpPr>
            <p:spPr bwMode="auto">
              <a:xfrm>
                <a:off x="4187" y="2168"/>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a:t>
                </a:r>
                <a:r>
                  <a:rPr lang="en-US" altLang="fr-FR" sz="1800" baseline="-25000">
                    <a:latin typeface="Arial" panose="020B0604020202020204" pitchFamily="34" charset="0"/>
                  </a:rPr>
                  <a:t>t</a:t>
                </a:r>
                <a:r>
                  <a:rPr lang="en-US" altLang="fr-FR" sz="1800">
                    <a:latin typeface="Arial" panose="020B0604020202020204" pitchFamily="34" charset="0"/>
                  </a:rPr>
                  <a:t> ↓</a:t>
                </a:r>
              </a:p>
            </p:txBody>
          </p:sp>
        </p:grpSp>
      </p:grpSp>
      <p:grpSp>
        <p:nvGrpSpPr>
          <p:cNvPr id="9" name="Group 46"/>
          <p:cNvGrpSpPr>
            <a:grpSpLocks/>
          </p:cNvGrpSpPr>
          <p:nvPr/>
        </p:nvGrpSpPr>
        <p:grpSpPr bwMode="auto">
          <a:xfrm>
            <a:off x="1773238" y="3097213"/>
            <a:ext cx="2814637" cy="1546225"/>
            <a:chOff x="1117" y="1951"/>
            <a:chExt cx="1773" cy="974"/>
          </a:xfrm>
        </p:grpSpPr>
        <p:sp>
          <p:nvSpPr>
            <p:cNvPr id="55317" name="Line 42"/>
            <p:cNvSpPr>
              <a:spLocks noChangeAspect="1" noChangeShapeType="1"/>
            </p:cNvSpPr>
            <p:nvPr/>
          </p:nvSpPr>
          <p:spPr bwMode="auto">
            <a:xfrm>
              <a:off x="1135" y="1951"/>
              <a:ext cx="175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55318" name="Line 43"/>
            <p:cNvSpPr>
              <a:spLocks noChangeAspect="1" noChangeShapeType="1"/>
            </p:cNvSpPr>
            <p:nvPr/>
          </p:nvSpPr>
          <p:spPr bwMode="auto">
            <a:xfrm>
              <a:off x="1117" y="2621"/>
              <a:ext cx="524"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55319" name="Line 44"/>
            <p:cNvSpPr>
              <a:spLocks noChangeAspect="1" noChangeShapeType="1"/>
            </p:cNvSpPr>
            <p:nvPr/>
          </p:nvSpPr>
          <p:spPr bwMode="auto">
            <a:xfrm>
              <a:off x="1135" y="2269"/>
              <a:ext cx="102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55320" name="Line 45"/>
            <p:cNvSpPr>
              <a:spLocks noChangeAspect="1" noChangeShapeType="1"/>
            </p:cNvSpPr>
            <p:nvPr/>
          </p:nvSpPr>
          <p:spPr bwMode="auto">
            <a:xfrm>
              <a:off x="1127" y="2925"/>
              <a:ext cx="241"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55309" name="Group 51"/>
          <p:cNvGrpSpPr>
            <a:grpSpLocks/>
          </p:cNvGrpSpPr>
          <p:nvPr/>
        </p:nvGrpSpPr>
        <p:grpSpPr bwMode="auto">
          <a:xfrm>
            <a:off x="273050" y="941388"/>
            <a:ext cx="2457450" cy="463550"/>
            <a:chOff x="3924" y="963"/>
            <a:chExt cx="1206" cy="292"/>
          </a:xfrm>
        </p:grpSpPr>
        <p:sp>
          <p:nvSpPr>
            <p:cNvPr id="55315" name="Rectangle 50"/>
            <p:cNvSpPr>
              <a:spLocks noChangeArrowheads="1"/>
            </p:cNvSpPr>
            <p:nvPr/>
          </p:nvSpPr>
          <p:spPr bwMode="auto">
            <a:xfrm>
              <a:off x="3924" y="963"/>
              <a:ext cx="1005" cy="29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5316" name="Text Box 49"/>
            <p:cNvSpPr txBox="1">
              <a:spLocks noChangeArrowheads="1"/>
            </p:cNvSpPr>
            <p:nvPr/>
          </p:nvSpPr>
          <p:spPr bwMode="auto">
            <a:xfrm>
              <a:off x="4084" y="1016"/>
              <a:ext cx="10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Variation de V</a:t>
              </a:r>
              <a:r>
                <a:rPr lang="en-US" altLang="fr-FR" sz="1800" baseline="-25000">
                  <a:latin typeface="Arial" panose="020B0604020202020204" pitchFamily="34" charset="0"/>
                </a:rPr>
                <a:t>t</a:t>
              </a:r>
              <a:endParaRPr lang="en-US" altLang="fr-FR" sz="1800">
                <a:latin typeface="Arial" panose="020B0604020202020204" pitchFamily="34" charset="0"/>
              </a:endParaRPr>
            </a:p>
          </p:txBody>
        </p:sp>
      </p:grpSp>
      <p:sp>
        <p:nvSpPr>
          <p:cNvPr id="51252" name="Text Box 52"/>
          <p:cNvSpPr txBox="1">
            <a:spLocks noChangeArrowheads="1"/>
          </p:cNvSpPr>
          <p:nvPr/>
        </p:nvSpPr>
        <p:spPr bwMode="auto">
          <a:xfrm>
            <a:off x="2513013" y="5805488"/>
            <a:ext cx="44942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3300"/>
                </a:solidFill>
                <a:latin typeface="Arial" panose="020B0604020202020204" pitchFamily="34" charset="0"/>
              </a:rPr>
              <a:t>Nécessite une alimentation DC variable</a:t>
            </a:r>
            <a:endParaRPr lang="en-US" altLang="fr-FR" sz="1800" b="1">
              <a:solidFill>
                <a:srgbClr val="FF3300"/>
              </a:solidFill>
              <a:latin typeface="Arial" panose="020B0604020202020204" pitchFamily="34" charset="0"/>
            </a:endParaRPr>
          </a:p>
        </p:txBody>
      </p:sp>
      <p:pic>
        <p:nvPicPr>
          <p:cNvPr id="55311" name="Object 3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65213" y="2051050"/>
            <a:ext cx="44767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Text Box 38"/>
          <p:cNvSpPr txBox="1">
            <a:spLocks noChangeArrowheads="1"/>
          </p:cNvSpPr>
          <p:nvPr/>
        </p:nvSpPr>
        <p:spPr bwMode="auto">
          <a:xfrm>
            <a:off x="339725" y="1539875"/>
            <a:ext cx="1790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C</a:t>
            </a:r>
            <a:r>
              <a:rPr lang="en-US" altLang="fr-FR" sz="1800" b="1" baseline="-25000">
                <a:latin typeface="Arial" panose="020B0604020202020204" pitchFamily="34" charset="0"/>
              </a:rPr>
              <a:t>L   </a:t>
            </a:r>
            <a:r>
              <a:rPr lang="en-US" altLang="fr-FR" sz="1800" b="1">
                <a:latin typeface="Arial" panose="020B0604020202020204" pitchFamily="34" charset="0"/>
              </a:rPr>
              <a:t>variable</a:t>
            </a:r>
          </a:p>
        </p:txBody>
      </p:sp>
      <p:sp>
        <p:nvSpPr>
          <p:cNvPr id="55313" name="ZoneTexte 38"/>
          <p:cNvSpPr txBox="1">
            <a:spLocks noChangeArrowheads="1"/>
          </p:cNvSpPr>
          <p:nvPr/>
        </p:nvSpPr>
        <p:spPr bwMode="auto">
          <a:xfrm>
            <a:off x="295275" y="295275"/>
            <a:ext cx="427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
        <p:nvSpPr>
          <p:cNvPr id="55314" name="ZoneTexte 39"/>
          <p:cNvSpPr txBox="1">
            <a:spLocks noChangeArrowheads="1"/>
          </p:cNvSpPr>
          <p:nvPr/>
        </p:nvSpPr>
        <p:spPr bwMode="auto">
          <a:xfrm>
            <a:off x="5151438" y="809625"/>
            <a:ext cx="612775" cy="369888"/>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a:t>
            </a:r>
            <a:r>
              <a:rPr lang="fr-FR" altLang="fr-FR" sz="1000">
                <a:latin typeface="Arial" panose="020B0604020202020204" pitchFamily="34" charset="0"/>
              </a:rPr>
              <a:t>e</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1220"/>
                                        </p:tgtEl>
                                        <p:attrNameLst>
                                          <p:attrName>style.visibility</p:attrName>
                                        </p:attrNameLst>
                                      </p:cBhvr>
                                      <p:to>
                                        <p:strVal val="visible"/>
                                      </p:to>
                                    </p:set>
                                    <p:animEffect transition="in" filter="wipe(left)">
                                      <p:cBhvr>
                                        <p:cTn id="15" dur="500"/>
                                        <p:tgtEl>
                                          <p:spTgt spid="51220"/>
                                        </p:tgtEl>
                                      </p:cBhvr>
                                    </p:animEffect>
                                  </p:childTnLst>
                                </p:cTn>
                              </p:par>
                              <p:par>
                                <p:cTn id="16" presetID="23" presetClass="entr" presetSubtype="32"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 calcmode="lin" valueType="num">
                                      <p:cBhvr>
                                        <p:cTn id="18" dur="500" fill="hold"/>
                                        <p:tgtEl>
                                          <p:spTgt spid="38"/>
                                        </p:tgtEl>
                                        <p:attrNameLst>
                                          <p:attrName>ppt_w</p:attrName>
                                        </p:attrNameLst>
                                      </p:cBhvr>
                                      <p:tavLst>
                                        <p:tav tm="0">
                                          <p:val>
                                            <p:strVal val="4*#ppt_w"/>
                                          </p:val>
                                        </p:tav>
                                        <p:tav tm="100000">
                                          <p:val>
                                            <p:strVal val="#ppt_w"/>
                                          </p:val>
                                        </p:tav>
                                      </p:tavLst>
                                    </p:anim>
                                    <p:anim calcmode="lin" valueType="num">
                                      <p:cBhvr>
                                        <p:cTn id="19" dur="500" fill="hold"/>
                                        <p:tgtEl>
                                          <p:spTgt spid="38"/>
                                        </p:tgtEl>
                                        <p:attrNameLst>
                                          <p:attrName>ppt_h</p:attrName>
                                        </p:attrNameLst>
                                      </p:cBhvr>
                                      <p:tavLst>
                                        <p:tav tm="0">
                                          <p:val>
                                            <p:strVal val="4*#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4" fill="hold" nodeType="click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wipe(down)">
                                      <p:cBhvr>
                                        <p:cTn id="24" dur="500"/>
                                        <p:tgtEl>
                                          <p:spTgt spid="4"/>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10" presetClass="entr" presetSubtype="0" fill="hold"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1000"/>
                                        <p:tgtEl>
                                          <p:spTgt spid="6"/>
                                        </p:tgtEl>
                                      </p:cBhvr>
                                    </p:animEffect>
                                  </p:childTnLst>
                                </p:cTn>
                              </p:par>
                              <p:par>
                                <p:cTn id="35" presetID="10"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10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32" fill="hold" grpId="0" nodeType="clickEffect">
                                  <p:stCondLst>
                                    <p:cond delay="0"/>
                                  </p:stCondLst>
                                  <p:childTnLst>
                                    <p:set>
                                      <p:cBhvr>
                                        <p:cTn id="41" dur="1" fill="hold">
                                          <p:stCondLst>
                                            <p:cond delay="0"/>
                                          </p:stCondLst>
                                        </p:cTn>
                                        <p:tgtEl>
                                          <p:spTgt spid="51252"/>
                                        </p:tgtEl>
                                        <p:attrNameLst>
                                          <p:attrName>style.visibility</p:attrName>
                                        </p:attrNameLst>
                                      </p:cBhvr>
                                      <p:to>
                                        <p:strVal val="visible"/>
                                      </p:to>
                                    </p:set>
                                    <p:anim calcmode="lin" valueType="num">
                                      <p:cBhvr>
                                        <p:cTn id="42" dur="500" fill="hold"/>
                                        <p:tgtEl>
                                          <p:spTgt spid="51252"/>
                                        </p:tgtEl>
                                        <p:attrNameLst>
                                          <p:attrName>ppt_w</p:attrName>
                                        </p:attrNameLst>
                                      </p:cBhvr>
                                      <p:tavLst>
                                        <p:tav tm="0">
                                          <p:val>
                                            <p:strVal val="4*#ppt_w"/>
                                          </p:val>
                                        </p:tav>
                                        <p:tav tm="100000">
                                          <p:val>
                                            <p:strVal val="#ppt_w"/>
                                          </p:val>
                                        </p:tav>
                                      </p:tavLst>
                                    </p:anim>
                                    <p:anim calcmode="lin" valueType="num">
                                      <p:cBhvr>
                                        <p:cTn id="43" dur="500" fill="hold"/>
                                        <p:tgtEl>
                                          <p:spTgt spid="51252"/>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0" grpId="0" animBg="1"/>
      <p:bldP spid="51252" grpId="0"/>
      <p:bldP spid="38"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5"/>
          <a:srcRect/>
          <a:tile tx="0" ty="0" sx="100000" sy="100000" flip="none" algn="tl"/>
        </a:blipFill>
        <a:effectLst/>
      </p:bgPr>
    </p:bg>
    <p:spTree>
      <p:nvGrpSpPr>
        <p:cNvPr id="1" name=""/>
        <p:cNvGrpSpPr/>
        <p:nvPr/>
      </p:nvGrpSpPr>
      <p:grpSpPr>
        <a:xfrm>
          <a:off x="0" y="0"/>
          <a:ext cx="0" cy="0"/>
          <a:chOff x="0" y="0"/>
          <a:chExt cx="0" cy="0"/>
        </a:xfrm>
      </p:grpSpPr>
      <p:sp>
        <p:nvSpPr>
          <p:cNvPr id="57346" name="Rectangle 4"/>
          <p:cNvSpPr>
            <a:spLocks noChangeArrowheads="1"/>
          </p:cNvSpPr>
          <p:nvPr/>
        </p:nvSpPr>
        <p:spPr bwMode="auto">
          <a:xfrm>
            <a:off x="182563" y="188913"/>
            <a:ext cx="8777287" cy="6375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3493" name="Line 5"/>
          <p:cNvSpPr>
            <a:spLocks noChangeShapeType="1"/>
          </p:cNvSpPr>
          <p:nvPr/>
        </p:nvSpPr>
        <p:spPr bwMode="auto">
          <a:xfrm flipV="1">
            <a:off x="1814513" y="1992313"/>
            <a:ext cx="0" cy="3378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63494" name="Line 6"/>
          <p:cNvSpPr>
            <a:spLocks noChangeShapeType="1"/>
          </p:cNvSpPr>
          <p:nvPr/>
        </p:nvSpPr>
        <p:spPr bwMode="auto">
          <a:xfrm>
            <a:off x="1582738" y="5178425"/>
            <a:ext cx="50641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63495" name="Text Box 7"/>
          <p:cNvSpPr txBox="1">
            <a:spLocks noChangeArrowheads="1"/>
          </p:cNvSpPr>
          <p:nvPr/>
        </p:nvSpPr>
        <p:spPr bwMode="auto">
          <a:xfrm>
            <a:off x="1460500" y="1808163"/>
            <a:ext cx="341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sp>
        <p:nvSpPr>
          <p:cNvPr id="63496" name="Text Box 8"/>
          <p:cNvSpPr txBox="1">
            <a:spLocks noChangeArrowheads="1"/>
          </p:cNvSpPr>
          <p:nvPr/>
        </p:nvSpPr>
        <p:spPr bwMode="auto">
          <a:xfrm>
            <a:off x="6646863" y="5178425"/>
            <a:ext cx="600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C</a:t>
            </a:r>
            <a:r>
              <a:rPr lang="en-US" altLang="fr-FR" sz="1800" baseline="-25000">
                <a:latin typeface="Arial" panose="020B0604020202020204" pitchFamily="34" charset="0"/>
                <a:sym typeface="Symbol" panose="05050102010706020507" pitchFamily="18" charset="2"/>
              </a:rPr>
              <a:t>e</a:t>
            </a:r>
            <a:endParaRPr lang="en-US" altLang="fr-FR" sz="1800">
              <a:latin typeface="Arial" panose="020B0604020202020204" pitchFamily="34" charset="0"/>
              <a:sym typeface="Symbol" panose="05050102010706020507" pitchFamily="18" charset="2"/>
            </a:endParaRPr>
          </a:p>
        </p:txBody>
      </p:sp>
      <p:sp>
        <p:nvSpPr>
          <p:cNvPr id="63497" name="Line 9"/>
          <p:cNvSpPr>
            <a:spLocks noChangeShapeType="1"/>
          </p:cNvSpPr>
          <p:nvPr/>
        </p:nvSpPr>
        <p:spPr bwMode="auto">
          <a:xfrm>
            <a:off x="1473200" y="2846388"/>
            <a:ext cx="4776788" cy="3413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 name="Group 15"/>
          <p:cNvGrpSpPr>
            <a:grpSpLocks/>
          </p:cNvGrpSpPr>
          <p:nvPr/>
        </p:nvGrpSpPr>
        <p:grpSpPr bwMode="auto">
          <a:xfrm>
            <a:off x="1473200" y="3432175"/>
            <a:ext cx="4776788" cy="1466850"/>
            <a:chOff x="928" y="2162"/>
            <a:chExt cx="3009" cy="924"/>
          </a:xfrm>
        </p:grpSpPr>
        <p:sp>
          <p:nvSpPr>
            <p:cNvPr id="57366" name="Line 16"/>
            <p:cNvSpPr>
              <a:spLocks noChangeShapeType="1"/>
            </p:cNvSpPr>
            <p:nvPr/>
          </p:nvSpPr>
          <p:spPr bwMode="auto">
            <a:xfrm>
              <a:off x="928" y="2162"/>
              <a:ext cx="3009" cy="2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7367" name="Line 17"/>
            <p:cNvSpPr>
              <a:spLocks noChangeShapeType="1"/>
            </p:cNvSpPr>
            <p:nvPr/>
          </p:nvSpPr>
          <p:spPr bwMode="auto">
            <a:xfrm>
              <a:off x="928" y="2549"/>
              <a:ext cx="3009" cy="2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7368" name="Line 18"/>
            <p:cNvSpPr>
              <a:spLocks noChangeShapeType="1"/>
            </p:cNvSpPr>
            <p:nvPr/>
          </p:nvSpPr>
          <p:spPr bwMode="auto">
            <a:xfrm>
              <a:off x="928" y="2871"/>
              <a:ext cx="3009" cy="21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57353" name="Group 27"/>
          <p:cNvGrpSpPr>
            <a:grpSpLocks/>
          </p:cNvGrpSpPr>
          <p:nvPr/>
        </p:nvGrpSpPr>
        <p:grpSpPr bwMode="auto">
          <a:xfrm>
            <a:off x="339725" y="1036638"/>
            <a:ext cx="2241550" cy="463550"/>
            <a:chOff x="3924" y="963"/>
            <a:chExt cx="1179" cy="292"/>
          </a:xfrm>
        </p:grpSpPr>
        <p:sp>
          <p:nvSpPr>
            <p:cNvPr id="57364" name="Rectangle 28"/>
            <p:cNvSpPr>
              <a:spLocks noChangeArrowheads="1"/>
            </p:cNvSpPr>
            <p:nvPr/>
          </p:nvSpPr>
          <p:spPr bwMode="auto">
            <a:xfrm>
              <a:off x="3924" y="963"/>
              <a:ext cx="1005" cy="29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7365" name="Text Box 29"/>
            <p:cNvSpPr txBox="1">
              <a:spLocks noChangeArrowheads="1"/>
            </p:cNvSpPr>
            <p:nvPr/>
          </p:nvSpPr>
          <p:spPr bwMode="auto">
            <a:xfrm>
              <a:off x="4057" y="998"/>
              <a:ext cx="10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Variation de V</a:t>
              </a:r>
              <a:r>
                <a:rPr lang="en-US" altLang="fr-FR" sz="1800" baseline="-25000">
                  <a:latin typeface="Arial" panose="020B0604020202020204" pitchFamily="34" charset="0"/>
                </a:rPr>
                <a:t>t</a:t>
              </a:r>
              <a:endParaRPr lang="en-US" altLang="fr-FR" sz="1800">
                <a:latin typeface="Arial" panose="020B0604020202020204" pitchFamily="34" charset="0"/>
              </a:endParaRPr>
            </a:p>
          </p:txBody>
        </p:sp>
      </p:grpSp>
      <p:sp>
        <p:nvSpPr>
          <p:cNvPr id="57354" name="Text Box 30"/>
          <p:cNvSpPr txBox="1">
            <a:spLocks noChangeArrowheads="1"/>
          </p:cNvSpPr>
          <p:nvPr/>
        </p:nvSpPr>
        <p:spPr bwMode="auto">
          <a:xfrm>
            <a:off x="2513013" y="5805488"/>
            <a:ext cx="44942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3300"/>
                </a:solidFill>
                <a:latin typeface="Arial" panose="020B0604020202020204" pitchFamily="34" charset="0"/>
              </a:rPr>
              <a:t>Nécessite une alimentation DC variable</a:t>
            </a:r>
            <a:endParaRPr lang="en-US" altLang="fr-FR" sz="1800" b="1">
              <a:solidFill>
                <a:srgbClr val="FF3300"/>
              </a:solidFill>
              <a:latin typeface="Arial" panose="020B0604020202020204" pitchFamily="34" charset="0"/>
            </a:endParaRPr>
          </a:p>
        </p:txBody>
      </p:sp>
      <p:grpSp>
        <p:nvGrpSpPr>
          <p:cNvPr id="4" name="Group 33"/>
          <p:cNvGrpSpPr>
            <a:grpSpLocks/>
          </p:cNvGrpSpPr>
          <p:nvPr/>
        </p:nvGrpSpPr>
        <p:grpSpPr bwMode="auto">
          <a:xfrm>
            <a:off x="4502150" y="2144713"/>
            <a:ext cx="457200" cy="3033712"/>
            <a:chOff x="2836" y="1351"/>
            <a:chExt cx="288" cy="1911"/>
          </a:xfrm>
        </p:grpSpPr>
        <p:sp>
          <p:nvSpPr>
            <p:cNvPr id="57362" name="Line 31"/>
            <p:cNvSpPr>
              <a:spLocks noChangeShapeType="1"/>
            </p:cNvSpPr>
            <p:nvPr/>
          </p:nvSpPr>
          <p:spPr bwMode="auto">
            <a:xfrm flipV="1">
              <a:off x="2836" y="1370"/>
              <a:ext cx="0" cy="1892"/>
            </a:xfrm>
            <a:prstGeom prst="line">
              <a:avLst/>
            </a:prstGeom>
            <a:noFill/>
            <a:ln w="28575">
              <a:solidFill>
                <a:srgbClr val="FF0066"/>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57363" name="Text Box 32"/>
            <p:cNvSpPr txBox="1">
              <a:spLocks noChangeArrowheads="1"/>
            </p:cNvSpPr>
            <p:nvPr/>
          </p:nvSpPr>
          <p:spPr bwMode="auto">
            <a:xfrm>
              <a:off x="2849" y="1351"/>
              <a:ext cx="27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FF0000"/>
                  </a:solidFill>
                  <a:latin typeface="Arial" panose="020B0604020202020204" pitchFamily="34" charset="0"/>
                </a:rPr>
                <a:t>C</a:t>
              </a:r>
              <a:r>
                <a:rPr lang="en-US" altLang="fr-FR" sz="1800" baseline="-25000">
                  <a:solidFill>
                    <a:srgbClr val="FF0000"/>
                  </a:solidFill>
                  <a:latin typeface="Arial" panose="020B0604020202020204" pitchFamily="34" charset="0"/>
                </a:rPr>
                <a:t>L</a:t>
              </a:r>
              <a:endParaRPr lang="en-US" altLang="fr-FR" sz="1800">
                <a:solidFill>
                  <a:srgbClr val="FF0000"/>
                </a:solidFill>
                <a:latin typeface="Arial" panose="020B0604020202020204" pitchFamily="34" charset="0"/>
              </a:endParaRPr>
            </a:p>
          </p:txBody>
        </p:sp>
      </p:grpSp>
      <p:graphicFrame>
        <p:nvGraphicFramePr>
          <p:cNvPr id="63522" name="Object 34"/>
          <p:cNvGraphicFramePr>
            <a:graphicFrameLocks noGrp="1" noChangeAspect="1"/>
          </p:cNvGraphicFramePr>
          <p:nvPr>
            <p:ph idx="1"/>
          </p:nvPr>
        </p:nvGraphicFramePr>
        <p:xfrm>
          <a:off x="2940050" y="847725"/>
          <a:ext cx="2116138" cy="692150"/>
        </p:xfrm>
        <a:graphic>
          <a:graphicData uri="http://schemas.openxmlformats.org/presentationml/2006/ole">
            <mc:AlternateContent xmlns:mc="http://schemas.openxmlformats.org/markup-compatibility/2006">
              <mc:Choice xmlns:v="urn:schemas-microsoft-com:vml" Requires="v">
                <p:oleObj spid="_x0000_s57378" name="Equation" r:id="rId6" imgW="1320227" imgH="431613" progId="Equation.3">
                  <p:embed/>
                </p:oleObj>
              </mc:Choice>
              <mc:Fallback>
                <p:oleObj name="Equation" r:id="rId6" imgW="1320227" imgH="431613" progId="Equation.3">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40050" y="847725"/>
                        <a:ext cx="211613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Espace réservé du pied de page 22"/>
          <p:cNvSpPr>
            <a:spLocks noGrp="1"/>
          </p:cNvSpPr>
          <p:nvPr>
            <p:ph type="ftr" sz="quarter" idx="11"/>
          </p:nvPr>
        </p:nvSpPr>
        <p:spPr/>
        <p:txBody>
          <a:bodyPr/>
          <a:lstStyle/>
          <a:p>
            <a:pPr>
              <a:defRPr/>
            </a:pPr>
            <a:r>
              <a:rPr lang="fr-FR"/>
              <a:t>Commande des machines   3.MCC     Ali NEJMI</a:t>
            </a:r>
            <a:endParaRPr lang="en-US"/>
          </a:p>
        </p:txBody>
      </p:sp>
      <p:sp>
        <p:nvSpPr>
          <p:cNvPr id="57358" name="Espace réservé du numéro de diapositive 2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4194F74-D5B2-4ABE-BFDC-65F00D23B1FC}" type="slidenum">
              <a:rPr lang="en-US" altLang="fr-FR" sz="1000" smtClean="0">
                <a:solidFill>
                  <a:srgbClr val="292929"/>
                </a:solidFill>
                <a:latin typeface="Arial" panose="020B0604020202020204" pitchFamily="34" charset="0"/>
              </a:rPr>
              <a:pPr>
                <a:spcBef>
                  <a:spcPct val="0"/>
                </a:spcBef>
                <a:buClrTx/>
                <a:buSzTx/>
                <a:buFontTx/>
                <a:buNone/>
              </a:pPr>
              <a:t>33</a:t>
            </a:fld>
            <a:endParaRPr lang="en-US" altLang="fr-FR" sz="1000" smtClean="0">
              <a:solidFill>
                <a:srgbClr val="292929"/>
              </a:solidFill>
              <a:latin typeface="Arial" panose="020B0604020202020204" pitchFamily="34" charset="0"/>
            </a:endParaRPr>
          </a:p>
        </p:txBody>
      </p:sp>
      <p:sp>
        <p:nvSpPr>
          <p:cNvPr id="63526" name="Text Box 38"/>
          <p:cNvSpPr txBox="1">
            <a:spLocks noChangeArrowheads="1"/>
          </p:cNvSpPr>
          <p:nvPr/>
        </p:nvSpPr>
        <p:spPr bwMode="auto">
          <a:xfrm>
            <a:off x="339725" y="1539875"/>
            <a:ext cx="1790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C</a:t>
            </a:r>
            <a:r>
              <a:rPr lang="en-US" altLang="fr-FR" sz="1800" b="1" baseline="-25000">
                <a:latin typeface="Arial" panose="020B0604020202020204" pitchFamily="34" charset="0"/>
              </a:rPr>
              <a:t>L   </a:t>
            </a:r>
            <a:r>
              <a:rPr lang="en-US" altLang="fr-FR" sz="1800" b="1">
                <a:latin typeface="Arial" panose="020B0604020202020204" pitchFamily="34" charset="0"/>
              </a:rPr>
              <a:t>Constant</a:t>
            </a:r>
          </a:p>
        </p:txBody>
      </p:sp>
      <p:sp>
        <p:nvSpPr>
          <p:cNvPr id="57360" name="ZoneTexte 24"/>
          <p:cNvSpPr txBox="1">
            <a:spLocks noChangeArrowheads="1"/>
          </p:cNvSpPr>
          <p:nvPr/>
        </p:nvSpPr>
        <p:spPr bwMode="auto">
          <a:xfrm>
            <a:off x="295275" y="295275"/>
            <a:ext cx="427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
        <p:nvSpPr>
          <p:cNvPr id="57361" name="ZoneTexte 25"/>
          <p:cNvSpPr txBox="1">
            <a:spLocks noChangeArrowheads="1"/>
          </p:cNvSpPr>
          <p:nvPr/>
        </p:nvSpPr>
        <p:spPr bwMode="auto">
          <a:xfrm>
            <a:off x="4732338" y="782638"/>
            <a:ext cx="612775" cy="368300"/>
          </a:xfrm>
          <a:prstGeom prst="rect">
            <a:avLst/>
          </a:prstGeom>
          <a:blipFill dpi="0" rotWithShape="1">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a:t>
            </a:r>
            <a:r>
              <a:rPr lang="fr-FR" altLang="fr-FR" sz="1000">
                <a:latin typeface="Arial" panose="020B0604020202020204" pitchFamily="34" charset="0"/>
              </a:rPr>
              <a:t>e</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63522"/>
                                        </p:tgtEl>
                                        <p:attrNameLst>
                                          <p:attrName>style.visibility</p:attrName>
                                        </p:attrNameLst>
                                      </p:cBhvr>
                                      <p:to>
                                        <p:strVal val="visible"/>
                                      </p:to>
                                    </p:set>
                                    <p:animEffect transition="in" filter="wipe(left)">
                                      <p:cBhvr>
                                        <p:cTn id="7" dur="500"/>
                                        <p:tgtEl>
                                          <p:spTgt spid="635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par>
                                <p:cTn id="13" presetID="23" presetClass="entr" presetSubtype="32" fill="hold" grpId="0" nodeType="withEffect">
                                  <p:stCondLst>
                                    <p:cond delay="0"/>
                                  </p:stCondLst>
                                  <p:childTnLst>
                                    <p:set>
                                      <p:cBhvr>
                                        <p:cTn id="14" dur="1" fill="hold">
                                          <p:stCondLst>
                                            <p:cond delay="0"/>
                                          </p:stCondLst>
                                        </p:cTn>
                                        <p:tgtEl>
                                          <p:spTgt spid="63526"/>
                                        </p:tgtEl>
                                        <p:attrNameLst>
                                          <p:attrName>style.visibility</p:attrName>
                                        </p:attrNameLst>
                                      </p:cBhvr>
                                      <p:to>
                                        <p:strVal val="visible"/>
                                      </p:to>
                                    </p:set>
                                    <p:anim calcmode="lin" valueType="num">
                                      <p:cBhvr>
                                        <p:cTn id="15" dur="500" fill="hold"/>
                                        <p:tgtEl>
                                          <p:spTgt spid="63526"/>
                                        </p:tgtEl>
                                        <p:attrNameLst>
                                          <p:attrName>ppt_w</p:attrName>
                                        </p:attrNameLst>
                                      </p:cBhvr>
                                      <p:tavLst>
                                        <p:tav tm="0">
                                          <p:val>
                                            <p:strVal val="4*#ppt_w"/>
                                          </p:val>
                                        </p:tav>
                                        <p:tav tm="100000">
                                          <p:val>
                                            <p:strVal val="#ppt_w"/>
                                          </p:val>
                                        </p:tav>
                                      </p:tavLst>
                                    </p:anim>
                                    <p:anim calcmode="lin" valueType="num">
                                      <p:cBhvr>
                                        <p:cTn id="16" dur="500" fill="hold"/>
                                        <p:tgtEl>
                                          <p:spTgt spid="63526"/>
                                        </p:tgtEl>
                                        <p:attrNameLst>
                                          <p:attrName>ppt_h</p:attrName>
                                        </p:attrNameLst>
                                      </p:cBhvr>
                                      <p:tavLst>
                                        <p:tav tm="0">
                                          <p:val>
                                            <p:strVal val="4*#ppt_h"/>
                                          </p:val>
                                        </p:tav>
                                        <p:tav tm="100000">
                                          <p:val>
                                            <p:strVal val="#ppt_h"/>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xit" presetSubtype="0" fill="hold" grpId="0" nodeType="clickEffect">
                                  <p:stCondLst>
                                    <p:cond delay="0"/>
                                  </p:stCondLst>
                                  <p:childTnLst>
                                    <p:animEffect transition="out" filter="fade">
                                      <p:cBhvr>
                                        <p:cTn id="20" dur="500"/>
                                        <p:tgtEl>
                                          <p:spTgt spid="63495"/>
                                        </p:tgtEl>
                                      </p:cBhvr>
                                    </p:animEffect>
                                    <p:set>
                                      <p:cBhvr>
                                        <p:cTn id="21" dur="1" fill="hold">
                                          <p:stCondLst>
                                            <p:cond delay="499"/>
                                          </p:stCondLst>
                                        </p:cTn>
                                        <p:tgtEl>
                                          <p:spTgt spid="63495"/>
                                        </p:tgtEl>
                                        <p:attrNameLst>
                                          <p:attrName>style.visibility</p:attrName>
                                        </p:attrNameLst>
                                      </p:cBhvr>
                                      <p:to>
                                        <p:strVal val="hidden"/>
                                      </p:to>
                                    </p:set>
                                  </p:childTnLst>
                                </p:cTn>
                              </p:par>
                              <p:par>
                                <p:cTn id="22" presetID="10" presetClass="exit" presetSubtype="0" fill="hold" grpId="0" nodeType="withEffect">
                                  <p:stCondLst>
                                    <p:cond delay="0"/>
                                  </p:stCondLst>
                                  <p:childTnLst>
                                    <p:animEffect transition="out" filter="fade">
                                      <p:cBhvr>
                                        <p:cTn id="23" dur="500"/>
                                        <p:tgtEl>
                                          <p:spTgt spid="63493"/>
                                        </p:tgtEl>
                                      </p:cBhvr>
                                    </p:animEffect>
                                    <p:set>
                                      <p:cBhvr>
                                        <p:cTn id="24" dur="1" fill="hold">
                                          <p:stCondLst>
                                            <p:cond delay="499"/>
                                          </p:stCondLst>
                                        </p:cTn>
                                        <p:tgtEl>
                                          <p:spTgt spid="63493"/>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500"/>
                                        <p:tgtEl>
                                          <p:spTgt spid="63496"/>
                                        </p:tgtEl>
                                      </p:cBhvr>
                                    </p:animEffect>
                                    <p:set>
                                      <p:cBhvr>
                                        <p:cTn id="27" dur="1" fill="hold">
                                          <p:stCondLst>
                                            <p:cond delay="499"/>
                                          </p:stCondLst>
                                        </p:cTn>
                                        <p:tgtEl>
                                          <p:spTgt spid="63496"/>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500"/>
                                        <p:tgtEl>
                                          <p:spTgt spid="63494"/>
                                        </p:tgtEl>
                                      </p:cBhvr>
                                    </p:animEffect>
                                    <p:set>
                                      <p:cBhvr>
                                        <p:cTn id="30" dur="1" fill="hold">
                                          <p:stCondLst>
                                            <p:cond delay="499"/>
                                          </p:stCondLst>
                                        </p:cTn>
                                        <p:tgtEl>
                                          <p:spTgt spid="63494"/>
                                        </p:tgtEl>
                                        <p:attrNameLst>
                                          <p:attrName>style.visibility</p:attrName>
                                        </p:attrNameLst>
                                      </p:cBhvr>
                                      <p:to>
                                        <p:strVal val="hidden"/>
                                      </p:to>
                                    </p:set>
                                  </p:childTnLst>
                                </p:cTn>
                              </p:par>
                              <p:par>
                                <p:cTn id="31" presetID="10" presetClass="exit" presetSubtype="0" fill="hold" nodeType="withEffect">
                                  <p:stCondLst>
                                    <p:cond delay="0"/>
                                  </p:stCondLst>
                                  <p:childTnLst>
                                    <p:animEffect transition="out" filter="fade">
                                      <p:cBhvr>
                                        <p:cTn id="32" dur="500"/>
                                        <p:tgtEl>
                                          <p:spTgt spid="2"/>
                                        </p:tgtEl>
                                      </p:cBhvr>
                                    </p:animEffect>
                                    <p:set>
                                      <p:cBhvr>
                                        <p:cTn id="33" dur="1" fill="hold">
                                          <p:stCondLst>
                                            <p:cond delay="499"/>
                                          </p:stCondLst>
                                        </p:cTn>
                                        <p:tgtEl>
                                          <p:spTgt spid="2"/>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5" dur="500"/>
                                        <p:tgtEl>
                                          <p:spTgt spid="63497"/>
                                        </p:tgtEl>
                                      </p:cBhvr>
                                    </p:animEffect>
                                    <p:set>
                                      <p:cBhvr>
                                        <p:cTn id="36" dur="1" fill="hold">
                                          <p:stCondLst>
                                            <p:cond delay="499"/>
                                          </p:stCondLst>
                                        </p:cTn>
                                        <p:tgtEl>
                                          <p:spTgt spid="63497"/>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500"/>
                                        <p:tgtEl>
                                          <p:spTgt spid="4"/>
                                        </p:tgtEl>
                                      </p:cBhvr>
                                    </p:animEffect>
                                    <p:set>
                                      <p:cBhvr>
                                        <p:cTn id="39"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3" grpId="0" animBg="1"/>
      <p:bldP spid="63494" grpId="0" animBg="1"/>
      <p:bldP spid="63495" grpId="0"/>
      <p:bldP spid="63496" grpId="0"/>
      <p:bldP spid="63497" grpId="0" animBg="1"/>
      <p:bldP spid="63526"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59394" name="Rectangle 4"/>
          <p:cNvSpPr>
            <a:spLocks noChangeArrowheads="1"/>
          </p:cNvSpPr>
          <p:nvPr/>
        </p:nvSpPr>
        <p:spPr bwMode="auto">
          <a:xfrm>
            <a:off x="182563" y="128588"/>
            <a:ext cx="8777287" cy="64039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2" name="Group 5"/>
          <p:cNvGrpSpPr>
            <a:grpSpLocks/>
          </p:cNvGrpSpPr>
          <p:nvPr/>
        </p:nvGrpSpPr>
        <p:grpSpPr bwMode="auto">
          <a:xfrm>
            <a:off x="1460500" y="1811338"/>
            <a:ext cx="379413" cy="3559175"/>
            <a:chOff x="920" y="1141"/>
            <a:chExt cx="239" cy="2242"/>
          </a:xfrm>
        </p:grpSpPr>
        <p:sp>
          <p:nvSpPr>
            <p:cNvPr id="59420" name="Line 6"/>
            <p:cNvSpPr>
              <a:spLocks noChangeShapeType="1"/>
            </p:cNvSpPr>
            <p:nvPr/>
          </p:nvSpPr>
          <p:spPr bwMode="auto">
            <a:xfrm flipV="1">
              <a:off x="1143" y="1255"/>
              <a:ext cx="0" cy="212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9421" name="Text Box 7"/>
            <p:cNvSpPr txBox="1">
              <a:spLocks noChangeArrowheads="1"/>
            </p:cNvSpPr>
            <p:nvPr/>
          </p:nvSpPr>
          <p:spPr bwMode="auto">
            <a:xfrm>
              <a:off x="920" y="1141"/>
              <a:ext cx="23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V</a:t>
              </a:r>
              <a:r>
                <a:rPr lang="en-US" altLang="fr-FR" sz="1800" baseline="-25000">
                  <a:latin typeface="Arial" panose="020B0604020202020204" pitchFamily="34" charset="0"/>
                  <a:sym typeface="Symbol" panose="05050102010706020507" pitchFamily="18" charset="2"/>
                </a:rPr>
                <a:t>t</a:t>
              </a:r>
            </a:p>
          </p:txBody>
        </p:sp>
      </p:grpSp>
      <p:grpSp>
        <p:nvGrpSpPr>
          <p:cNvPr id="3" name="Group 30"/>
          <p:cNvGrpSpPr>
            <a:grpSpLocks/>
          </p:cNvGrpSpPr>
          <p:nvPr/>
        </p:nvGrpSpPr>
        <p:grpSpPr bwMode="auto">
          <a:xfrm>
            <a:off x="1582738" y="5178425"/>
            <a:ext cx="5464175" cy="366713"/>
            <a:chOff x="997" y="3262"/>
            <a:chExt cx="3442" cy="231"/>
          </a:xfrm>
        </p:grpSpPr>
        <p:sp>
          <p:nvSpPr>
            <p:cNvPr id="59418" name="Line 8"/>
            <p:cNvSpPr>
              <a:spLocks noChangeShapeType="1"/>
            </p:cNvSpPr>
            <p:nvPr/>
          </p:nvSpPr>
          <p:spPr bwMode="auto">
            <a:xfrm>
              <a:off x="997" y="3262"/>
              <a:ext cx="319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59419" name="Text Box 23"/>
            <p:cNvSpPr txBox="1">
              <a:spLocks noChangeArrowheads="1"/>
            </p:cNvSpPr>
            <p:nvPr/>
          </p:nvSpPr>
          <p:spPr bwMode="auto">
            <a:xfrm>
              <a:off x="4061" y="3262"/>
              <a:ext cx="37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grpSp>
      <p:sp>
        <p:nvSpPr>
          <p:cNvPr id="59423" name="Line 31"/>
          <p:cNvSpPr>
            <a:spLocks noChangeShapeType="1"/>
          </p:cNvSpPr>
          <p:nvPr/>
        </p:nvSpPr>
        <p:spPr bwMode="auto">
          <a:xfrm flipV="1">
            <a:off x="1814513" y="2428875"/>
            <a:ext cx="3440112" cy="2374900"/>
          </a:xfrm>
          <a:prstGeom prst="line">
            <a:avLst/>
          </a:prstGeom>
          <a:noFill/>
          <a:ln w="28575">
            <a:solidFill>
              <a:srgbClr val="FF0066"/>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28" name="Espace réservé du pied de page 27"/>
          <p:cNvSpPr>
            <a:spLocks noGrp="1"/>
          </p:cNvSpPr>
          <p:nvPr>
            <p:ph type="ftr" sz="quarter" idx="11"/>
          </p:nvPr>
        </p:nvSpPr>
        <p:spPr/>
        <p:txBody>
          <a:bodyPr/>
          <a:lstStyle/>
          <a:p>
            <a:pPr>
              <a:defRPr/>
            </a:pPr>
            <a:r>
              <a:rPr lang="fr-FR"/>
              <a:t>Commande des machines   3.MCC     Ali NEJMI</a:t>
            </a:r>
            <a:endParaRPr lang="en-US"/>
          </a:p>
        </p:txBody>
      </p:sp>
      <p:sp>
        <p:nvSpPr>
          <p:cNvPr id="59399" name="Espace réservé du numéro de diapositive 2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1B11D51-8973-49CA-A24D-843C1AAA2624}" type="slidenum">
              <a:rPr lang="en-US" altLang="fr-FR" sz="1000" smtClean="0">
                <a:solidFill>
                  <a:srgbClr val="292929"/>
                </a:solidFill>
                <a:latin typeface="Arial" panose="020B0604020202020204" pitchFamily="34" charset="0"/>
              </a:rPr>
              <a:pPr>
                <a:spcBef>
                  <a:spcPct val="0"/>
                </a:spcBef>
                <a:buClrTx/>
                <a:buSzTx/>
                <a:buFontTx/>
                <a:buNone/>
              </a:pPr>
              <a:t>34</a:t>
            </a:fld>
            <a:endParaRPr lang="en-US" altLang="fr-FR" sz="1000" smtClean="0">
              <a:solidFill>
                <a:srgbClr val="292929"/>
              </a:solidFill>
              <a:latin typeface="Arial" panose="020B0604020202020204" pitchFamily="34" charset="0"/>
            </a:endParaRPr>
          </a:p>
        </p:txBody>
      </p:sp>
      <p:pic>
        <p:nvPicPr>
          <p:cNvPr id="59427" name="Object 3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44838" y="1657350"/>
            <a:ext cx="211613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8"/>
          <p:cNvGrpSpPr>
            <a:grpSpLocks/>
          </p:cNvGrpSpPr>
          <p:nvPr/>
        </p:nvGrpSpPr>
        <p:grpSpPr bwMode="auto">
          <a:xfrm>
            <a:off x="931863" y="4803775"/>
            <a:ext cx="882650" cy="374650"/>
            <a:chOff x="587" y="3026"/>
            <a:chExt cx="556" cy="236"/>
          </a:xfrm>
        </p:grpSpPr>
        <p:sp>
          <p:nvSpPr>
            <p:cNvPr id="59417" name="AutoShape 36"/>
            <p:cNvSpPr>
              <a:spLocks/>
            </p:cNvSpPr>
            <p:nvPr/>
          </p:nvSpPr>
          <p:spPr bwMode="auto">
            <a:xfrm>
              <a:off x="997" y="3026"/>
              <a:ext cx="146" cy="236"/>
            </a:xfrm>
            <a:prstGeom prst="leftBrace">
              <a:avLst>
                <a:gd name="adj1" fmla="val 13470"/>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5" name="Group 44"/>
          <p:cNvGrpSpPr>
            <a:grpSpLocks/>
          </p:cNvGrpSpPr>
          <p:nvPr/>
        </p:nvGrpSpPr>
        <p:grpSpPr bwMode="auto">
          <a:xfrm>
            <a:off x="1182688" y="2265363"/>
            <a:ext cx="5046662" cy="323850"/>
            <a:chOff x="745" y="1427"/>
            <a:chExt cx="3179" cy="204"/>
          </a:xfrm>
        </p:grpSpPr>
        <p:sp>
          <p:nvSpPr>
            <p:cNvPr id="59415" name="Line 39"/>
            <p:cNvSpPr>
              <a:spLocks noChangeShapeType="1"/>
            </p:cNvSpPr>
            <p:nvPr/>
          </p:nvSpPr>
          <p:spPr bwMode="auto">
            <a:xfrm flipH="1">
              <a:off x="1143" y="1530"/>
              <a:ext cx="2167"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59416" name="Line 43"/>
            <p:cNvSpPr>
              <a:spLocks noChangeShapeType="1"/>
            </p:cNvSpPr>
            <p:nvPr/>
          </p:nvSpPr>
          <p:spPr bwMode="auto">
            <a:xfrm>
              <a:off x="3310" y="1530"/>
              <a:ext cx="614" cy="0"/>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6" name="Group 47"/>
          <p:cNvGrpSpPr>
            <a:grpSpLocks/>
          </p:cNvGrpSpPr>
          <p:nvPr/>
        </p:nvGrpSpPr>
        <p:grpSpPr bwMode="auto">
          <a:xfrm>
            <a:off x="5110163" y="2428875"/>
            <a:ext cx="285750" cy="3092450"/>
            <a:chOff x="3219" y="1530"/>
            <a:chExt cx="180" cy="1948"/>
          </a:xfrm>
        </p:grpSpPr>
        <p:sp>
          <p:nvSpPr>
            <p:cNvPr id="59414" name="Line 45"/>
            <p:cNvSpPr>
              <a:spLocks noChangeShapeType="1"/>
            </p:cNvSpPr>
            <p:nvPr/>
          </p:nvSpPr>
          <p:spPr bwMode="auto">
            <a:xfrm>
              <a:off x="3310" y="1530"/>
              <a:ext cx="0" cy="172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59404" name="Group 52"/>
          <p:cNvGrpSpPr>
            <a:grpSpLocks/>
          </p:cNvGrpSpPr>
          <p:nvPr/>
        </p:nvGrpSpPr>
        <p:grpSpPr bwMode="auto">
          <a:xfrm>
            <a:off x="411163" y="769938"/>
            <a:ext cx="2446337" cy="463550"/>
            <a:chOff x="3924" y="963"/>
            <a:chExt cx="1219" cy="292"/>
          </a:xfrm>
        </p:grpSpPr>
        <p:sp>
          <p:nvSpPr>
            <p:cNvPr id="59412" name="Rectangle 53"/>
            <p:cNvSpPr>
              <a:spLocks noChangeArrowheads="1"/>
            </p:cNvSpPr>
            <p:nvPr/>
          </p:nvSpPr>
          <p:spPr bwMode="auto">
            <a:xfrm>
              <a:off x="3924" y="963"/>
              <a:ext cx="1005" cy="29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9413" name="Text Box 54"/>
            <p:cNvSpPr txBox="1">
              <a:spLocks noChangeArrowheads="1"/>
            </p:cNvSpPr>
            <p:nvPr/>
          </p:nvSpPr>
          <p:spPr bwMode="auto">
            <a:xfrm>
              <a:off x="4057" y="998"/>
              <a:ext cx="108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Variation de  V</a:t>
              </a:r>
              <a:r>
                <a:rPr lang="en-US" altLang="fr-FR" sz="1800" baseline="-25000">
                  <a:latin typeface="Arial" panose="020B0604020202020204" pitchFamily="34" charset="0"/>
                </a:rPr>
                <a:t>t</a:t>
              </a:r>
              <a:endParaRPr lang="en-US" altLang="fr-FR" sz="1800">
                <a:latin typeface="Arial" panose="020B0604020202020204" pitchFamily="34" charset="0"/>
              </a:endParaRPr>
            </a:p>
          </p:txBody>
        </p:sp>
      </p:grpSp>
      <p:sp>
        <p:nvSpPr>
          <p:cNvPr id="59405" name="Text Box 55"/>
          <p:cNvSpPr txBox="1">
            <a:spLocks noChangeArrowheads="1"/>
          </p:cNvSpPr>
          <p:nvPr/>
        </p:nvSpPr>
        <p:spPr bwMode="auto">
          <a:xfrm>
            <a:off x="468313" y="1377950"/>
            <a:ext cx="1530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latin typeface="Arial" panose="020B0604020202020204" pitchFamily="34" charset="0"/>
              </a:rPr>
              <a:t>C</a:t>
            </a:r>
            <a:r>
              <a:rPr lang="en-US" altLang="fr-FR" sz="1800" b="1" baseline="-25000">
                <a:latin typeface="Arial" panose="020B0604020202020204" pitchFamily="34" charset="0"/>
              </a:rPr>
              <a:t>L  </a:t>
            </a:r>
            <a:r>
              <a:rPr lang="en-US" altLang="fr-FR" sz="1800" b="1">
                <a:latin typeface="Arial" panose="020B0604020202020204" pitchFamily="34" charset="0"/>
              </a:rPr>
              <a:t>Constant</a:t>
            </a:r>
          </a:p>
        </p:txBody>
      </p:sp>
      <p:pic>
        <p:nvPicPr>
          <p:cNvPr id="59406" name="Object 6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940050" y="847725"/>
            <a:ext cx="2116138"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7" name="Object 3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1863" y="4803775"/>
            <a:ext cx="5286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8" name="Object 4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110163" y="5214938"/>
            <a:ext cx="285750"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9" name="Object 4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182688" y="2265363"/>
            <a:ext cx="549275"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10" name="ZoneTexte 29"/>
          <p:cNvSpPr txBox="1">
            <a:spLocks noChangeArrowheads="1"/>
          </p:cNvSpPr>
          <p:nvPr/>
        </p:nvSpPr>
        <p:spPr bwMode="auto">
          <a:xfrm>
            <a:off x="295275" y="295275"/>
            <a:ext cx="427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
        <p:nvSpPr>
          <p:cNvPr id="59411" name="ZoneTexte 30"/>
          <p:cNvSpPr txBox="1">
            <a:spLocks noChangeArrowheads="1"/>
          </p:cNvSpPr>
          <p:nvPr/>
        </p:nvSpPr>
        <p:spPr bwMode="auto">
          <a:xfrm>
            <a:off x="4746625" y="795338"/>
            <a:ext cx="612775" cy="36830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a:t>
            </a:r>
            <a:r>
              <a:rPr lang="fr-FR" altLang="fr-FR" sz="1000">
                <a:latin typeface="Arial" panose="020B0604020202020204" pitchFamily="34" charset="0"/>
              </a:rPr>
              <a:t>e</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9427"/>
                                        </p:tgtEl>
                                        <p:attrNameLst>
                                          <p:attrName>style.visibility</p:attrName>
                                        </p:attrNameLst>
                                      </p:cBhvr>
                                      <p:to>
                                        <p:strVal val="visible"/>
                                      </p:to>
                                    </p:set>
                                    <p:animEffect transition="in" filter="wipe(left)">
                                      <p:cBhvr>
                                        <p:cTn id="7" dur="500"/>
                                        <p:tgtEl>
                                          <p:spTgt spid="59427"/>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9423"/>
                                        </p:tgtEl>
                                        <p:attrNameLst>
                                          <p:attrName>style.visibility</p:attrName>
                                        </p:attrNameLst>
                                      </p:cBhvr>
                                      <p:to>
                                        <p:strVal val="visible"/>
                                      </p:to>
                                    </p:set>
                                    <p:animEffect transition="in" filter="wipe(down)">
                                      <p:cBhvr>
                                        <p:cTn id="20" dur="500"/>
                                        <p:tgtEl>
                                          <p:spTgt spid="5942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5"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anim calcmode="lin" valueType="num">
                                      <p:cBhvr>
                                        <p:cTn id="26" dur="500" fill="hold"/>
                                        <p:tgtEl>
                                          <p:spTgt spid="4"/>
                                        </p:tgtEl>
                                        <p:attrNameLst>
                                          <p:attrName>style.rotation</p:attrName>
                                        </p:attrNameLst>
                                      </p:cBhvr>
                                      <p:tavLst>
                                        <p:tav tm="0">
                                          <p:val>
                                            <p:fltVal val="720"/>
                                          </p:val>
                                        </p:tav>
                                        <p:tav tm="100000">
                                          <p:val>
                                            <p:fltVal val="0"/>
                                          </p:val>
                                        </p:tav>
                                      </p:tavLst>
                                    </p:anim>
                                    <p:anim calcmode="lin" valueType="num">
                                      <p:cBhvr>
                                        <p:cTn id="27" dur="500" fill="hold"/>
                                        <p:tgtEl>
                                          <p:spTgt spid="4"/>
                                        </p:tgtEl>
                                        <p:attrNameLst>
                                          <p:attrName>ppt_h</p:attrName>
                                        </p:attrNameLst>
                                      </p:cBhvr>
                                      <p:tavLst>
                                        <p:tav tm="0">
                                          <p:val>
                                            <p:fltVal val="0"/>
                                          </p:val>
                                        </p:tav>
                                        <p:tav tm="100000">
                                          <p:val>
                                            <p:strVal val="#ppt_h"/>
                                          </p:val>
                                        </p:tav>
                                      </p:tavLst>
                                    </p:anim>
                                    <p:anim calcmode="lin" valueType="num">
                                      <p:cBhvr>
                                        <p:cTn id="28" dur="500" fill="hold"/>
                                        <p:tgtEl>
                                          <p:spTgt spid="4"/>
                                        </p:tgtEl>
                                        <p:attrNameLst>
                                          <p:attrName>ppt_w</p:attrName>
                                        </p:attrNameLst>
                                      </p:cBhvr>
                                      <p:tavLst>
                                        <p:tav tm="0">
                                          <p:val>
                                            <p:fltVal val="0"/>
                                          </p:val>
                                        </p:tav>
                                        <p:tav tm="100000">
                                          <p:val>
                                            <p:strVal val="#ppt_w"/>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2"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right)">
                                      <p:cBhvr>
                                        <p:cTn id="33" dur="500"/>
                                        <p:tgtEl>
                                          <p:spTgt spid="5"/>
                                        </p:tgtEl>
                                      </p:cBhvr>
                                    </p:animEffect>
                                  </p:childTnLst>
                                </p:cTn>
                              </p:par>
                            </p:childTnLst>
                          </p:cTn>
                        </p:par>
                        <p:par>
                          <p:cTn id="34" fill="hold" nodeType="afterGroup">
                            <p:stCondLst>
                              <p:cond delay="500"/>
                            </p:stCondLst>
                            <p:childTnLst>
                              <p:par>
                                <p:cTn id="35" presetID="22" presetClass="entr" presetSubtype="1" fill="hold" nodeType="after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up)">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32" name="Espace réservé du pied de page 31"/>
          <p:cNvSpPr>
            <a:spLocks noGrp="1"/>
          </p:cNvSpPr>
          <p:nvPr>
            <p:ph type="ftr" sz="quarter" idx="11"/>
          </p:nvPr>
        </p:nvSpPr>
        <p:spPr/>
        <p:txBody>
          <a:bodyPr/>
          <a:lstStyle/>
          <a:p>
            <a:pPr>
              <a:defRPr/>
            </a:pPr>
            <a:r>
              <a:rPr lang="fr-FR"/>
              <a:t>Commande des machines   3.MCC     Ali NEJMI</a:t>
            </a:r>
            <a:endParaRPr lang="en-US"/>
          </a:p>
        </p:txBody>
      </p:sp>
      <p:sp>
        <p:nvSpPr>
          <p:cNvPr id="61443" name="Espace réservé du numéro de diapositive 30"/>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67F8432-BC81-4896-8728-85CA6D42D676}" type="slidenum">
              <a:rPr lang="en-US" altLang="fr-FR" sz="1000" smtClean="0">
                <a:solidFill>
                  <a:srgbClr val="292929"/>
                </a:solidFill>
                <a:latin typeface="Arial" panose="020B0604020202020204" pitchFamily="34" charset="0"/>
              </a:rPr>
              <a:pPr>
                <a:spcBef>
                  <a:spcPct val="0"/>
                </a:spcBef>
                <a:buClrTx/>
                <a:buSzTx/>
                <a:buFontTx/>
                <a:buNone/>
              </a:pPr>
              <a:t>35</a:t>
            </a:fld>
            <a:endParaRPr lang="en-US" altLang="fr-FR" sz="1000" smtClean="0">
              <a:solidFill>
                <a:srgbClr val="292929"/>
              </a:solidFill>
              <a:latin typeface="Arial" panose="020B0604020202020204" pitchFamily="34" charset="0"/>
            </a:endParaRPr>
          </a:p>
        </p:txBody>
      </p:sp>
      <p:pic>
        <p:nvPicPr>
          <p:cNvPr id="61444" name="Object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98788" y="841375"/>
            <a:ext cx="1987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5" name="Rectangle 4"/>
          <p:cNvSpPr>
            <a:spLocks noChangeArrowheads="1"/>
          </p:cNvSpPr>
          <p:nvPr/>
        </p:nvSpPr>
        <p:spPr bwMode="auto">
          <a:xfrm>
            <a:off x="182563" y="207963"/>
            <a:ext cx="8777287" cy="63246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46" name="Line 5"/>
          <p:cNvSpPr>
            <a:spLocks noChangeShapeType="1"/>
          </p:cNvSpPr>
          <p:nvPr/>
        </p:nvSpPr>
        <p:spPr bwMode="auto">
          <a:xfrm flipV="1">
            <a:off x="1785938" y="2001838"/>
            <a:ext cx="0" cy="34242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61447" name="Line 6"/>
          <p:cNvSpPr>
            <a:spLocks noChangeShapeType="1"/>
          </p:cNvSpPr>
          <p:nvPr/>
        </p:nvSpPr>
        <p:spPr bwMode="auto">
          <a:xfrm>
            <a:off x="1582738" y="5178425"/>
            <a:ext cx="50641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61448" name="Text Box 7"/>
          <p:cNvSpPr txBox="1">
            <a:spLocks noChangeArrowheads="1"/>
          </p:cNvSpPr>
          <p:nvPr/>
        </p:nvSpPr>
        <p:spPr bwMode="auto">
          <a:xfrm>
            <a:off x="1473200" y="1798638"/>
            <a:ext cx="34131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sp>
        <p:nvSpPr>
          <p:cNvPr id="61449" name="Text Box 8"/>
          <p:cNvSpPr txBox="1">
            <a:spLocks noChangeArrowheads="1"/>
          </p:cNvSpPr>
          <p:nvPr/>
        </p:nvSpPr>
        <p:spPr bwMode="auto">
          <a:xfrm>
            <a:off x="6646863" y="5178425"/>
            <a:ext cx="600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C</a:t>
            </a:r>
            <a:r>
              <a:rPr lang="en-US" altLang="fr-FR" sz="1800" baseline="-25000">
                <a:latin typeface="Arial" panose="020B0604020202020204" pitchFamily="34" charset="0"/>
                <a:sym typeface="Symbol" panose="05050102010706020507" pitchFamily="18" charset="2"/>
              </a:rPr>
              <a:t>e</a:t>
            </a:r>
            <a:endParaRPr lang="en-US" altLang="fr-FR" sz="1800">
              <a:latin typeface="Arial" panose="020B0604020202020204" pitchFamily="34" charset="0"/>
              <a:sym typeface="Symbol" panose="05050102010706020507" pitchFamily="18" charset="2"/>
            </a:endParaRPr>
          </a:p>
        </p:txBody>
      </p:sp>
      <p:sp>
        <p:nvSpPr>
          <p:cNvPr id="61450" name="Line 9"/>
          <p:cNvSpPr>
            <a:spLocks noChangeShapeType="1"/>
          </p:cNvSpPr>
          <p:nvPr/>
        </p:nvSpPr>
        <p:spPr bwMode="auto">
          <a:xfrm>
            <a:off x="1308100" y="3187700"/>
            <a:ext cx="4776788" cy="3413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1451" name="Freeform 13"/>
          <p:cNvSpPr>
            <a:spLocks/>
          </p:cNvSpPr>
          <p:nvPr/>
        </p:nvSpPr>
        <p:spPr bwMode="auto">
          <a:xfrm>
            <a:off x="1801813" y="2655888"/>
            <a:ext cx="3903662" cy="2509837"/>
          </a:xfrm>
          <a:custGeom>
            <a:avLst/>
            <a:gdLst>
              <a:gd name="T0" fmla="*/ 0 w 2459"/>
              <a:gd name="T1" fmla="*/ 2147483646 h 1581"/>
              <a:gd name="T2" fmla="*/ 2147483646 w 2459"/>
              <a:gd name="T3" fmla="*/ 2147483646 h 1581"/>
              <a:gd name="T4" fmla="*/ 2147483646 w 2459"/>
              <a:gd name="T5" fmla="*/ 2147483646 h 1581"/>
              <a:gd name="T6" fmla="*/ 2147483646 w 2459"/>
              <a:gd name="T7" fmla="*/ 2147483646 h 1581"/>
              <a:gd name="T8" fmla="*/ 2147483646 w 2459"/>
              <a:gd name="T9" fmla="*/ 2147483646 h 1581"/>
              <a:gd name="T10" fmla="*/ 2147483646 w 2459"/>
              <a:gd name="T11" fmla="*/ 0 h 1581"/>
              <a:gd name="T12" fmla="*/ 0 60000 65536"/>
              <a:gd name="T13" fmla="*/ 0 60000 65536"/>
              <a:gd name="T14" fmla="*/ 0 60000 65536"/>
              <a:gd name="T15" fmla="*/ 0 60000 65536"/>
              <a:gd name="T16" fmla="*/ 0 60000 65536"/>
              <a:gd name="T17" fmla="*/ 0 60000 65536"/>
              <a:gd name="T18" fmla="*/ 0 w 2459"/>
              <a:gd name="T19" fmla="*/ 0 h 1581"/>
              <a:gd name="T20" fmla="*/ 2459 w 2459"/>
              <a:gd name="T21" fmla="*/ 1581 h 1581"/>
            </a:gdLst>
            <a:ahLst/>
            <a:cxnLst>
              <a:cxn ang="T12">
                <a:pos x="T0" y="T1"/>
              </a:cxn>
              <a:cxn ang="T13">
                <a:pos x="T2" y="T3"/>
              </a:cxn>
              <a:cxn ang="T14">
                <a:pos x="T4" y="T5"/>
              </a:cxn>
              <a:cxn ang="T15">
                <a:pos x="T6" y="T7"/>
              </a:cxn>
              <a:cxn ang="T16">
                <a:pos x="T8" y="T9"/>
              </a:cxn>
              <a:cxn ang="T17">
                <a:pos x="T10" y="T11"/>
              </a:cxn>
            </a:cxnLst>
            <a:rect l="T18" t="T19" r="T20" b="T21"/>
            <a:pathLst>
              <a:path w="2459" h="1581">
                <a:moveTo>
                  <a:pt x="0" y="1581"/>
                </a:moveTo>
                <a:cubicBezTo>
                  <a:pt x="112" y="1414"/>
                  <a:pt x="225" y="1247"/>
                  <a:pt x="344" y="1117"/>
                </a:cubicBezTo>
                <a:cubicBezTo>
                  <a:pt x="463" y="987"/>
                  <a:pt x="537" y="918"/>
                  <a:pt x="713" y="799"/>
                </a:cubicBezTo>
                <a:cubicBezTo>
                  <a:pt x="889" y="680"/>
                  <a:pt x="1155" y="523"/>
                  <a:pt x="1401" y="404"/>
                </a:cubicBezTo>
                <a:cubicBezTo>
                  <a:pt x="1647" y="285"/>
                  <a:pt x="2016" y="152"/>
                  <a:pt x="2192" y="85"/>
                </a:cubicBezTo>
                <a:cubicBezTo>
                  <a:pt x="2368" y="18"/>
                  <a:pt x="2413" y="9"/>
                  <a:pt x="2459" y="0"/>
                </a:cubicBezTo>
              </a:path>
            </a:pathLst>
          </a:custGeom>
          <a:noFill/>
          <a:ln w="28575" cmpd="sng">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1452" name="Line 24"/>
          <p:cNvSpPr>
            <a:spLocks noChangeShapeType="1"/>
          </p:cNvSpPr>
          <p:nvPr/>
        </p:nvSpPr>
        <p:spPr bwMode="auto">
          <a:xfrm>
            <a:off x="1814513" y="3389313"/>
            <a:ext cx="204787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nvGrpSpPr>
          <p:cNvPr id="2" name="Group 40"/>
          <p:cNvGrpSpPr>
            <a:grpSpLocks/>
          </p:cNvGrpSpPr>
          <p:nvPr/>
        </p:nvGrpSpPr>
        <p:grpSpPr bwMode="auto">
          <a:xfrm>
            <a:off x="1296988" y="3032125"/>
            <a:ext cx="6264275" cy="1619250"/>
            <a:chOff x="817" y="1910"/>
            <a:chExt cx="3946" cy="1020"/>
          </a:xfrm>
        </p:grpSpPr>
        <p:grpSp>
          <p:nvGrpSpPr>
            <p:cNvPr id="61464" name="Group 21"/>
            <p:cNvGrpSpPr>
              <a:grpSpLocks/>
            </p:cNvGrpSpPr>
            <p:nvPr/>
          </p:nvGrpSpPr>
          <p:grpSpPr bwMode="auto">
            <a:xfrm>
              <a:off x="4084" y="2008"/>
              <a:ext cx="679" cy="541"/>
              <a:chOff x="4084" y="2008"/>
              <a:chExt cx="679" cy="541"/>
            </a:xfrm>
          </p:grpSpPr>
          <p:sp>
            <p:nvSpPr>
              <p:cNvPr id="61472" name="Line 22"/>
              <p:cNvSpPr>
                <a:spLocks noChangeShapeType="1"/>
              </p:cNvSpPr>
              <p:nvPr/>
            </p:nvSpPr>
            <p:spPr bwMode="auto">
              <a:xfrm flipH="1">
                <a:off x="4084" y="2008"/>
                <a:ext cx="103" cy="541"/>
              </a:xfrm>
              <a:prstGeom prst="line">
                <a:avLst/>
              </a:prstGeom>
              <a:noFill/>
              <a:ln w="38100">
                <a:solidFill>
                  <a:srgbClr val="FF3300"/>
                </a:solidFill>
                <a:round/>
                <a:headEnd/>
                <a:tailEnd type="stealth" w="lg" len="lg"/>
              </a:ln>
              <a:extLst>
                <a:ext uri="{909E8E84-426E-40DD-AFC4-6F175D3DCCD1}">
                  <a14:hiddenFill xmlns:a14="http://schemas.microsoft.com/office/drawing/2010/main">
                    <a:noFill/>
                  </a14:hiddenFill>
                </a:ext>
              </a:extLst>
            </p:spPr>
            <p:txBody>
              <a:bodyPr/>
              <a:lstStyle/>
              <a:p>
                <a:endParaRPr lang="fr-FR"/>
              </a:p>
            </p:txBody>
          </p:sp>
          <p:sp>
            <p:nvSpPr>
              <p:cNvPr id="61473" name="Text Box 23"/>
              <p:cNvSpPr txBox="1">
                <a:spLocks noChangeArrowheads="1"/>
              </p:cNvSpPr>
              <p:nvPr/>
            </p:nvSpPr>
            <p:spPr bwMode="auto">
              <a:xfrm>
                <a:off x="4187" y="2168"/>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R</a:t>
                </a:r>
                <a:r>
                  <a:rPr lang="en-US" altLang="fr-FR" sz="1800" baseline="-25000">
                    <a:latin typeface="Arial" panose="020B0604020202020204" pitchFamily="34" charset="0"/>
                  </a:rPr>
                  <a:t>a</a:t>
                </a:r>
                <a:r>
                  <a:rPr lang="en-US" altLang="fr-FR" sz="1800">
                    <a:latin typeface="Arial" panose="020B0604020202020204" pitchFamily="34" charset="0"/>
                  </a:rPr>
                  <a:t> ↑</a:t>
                </a:r>
              </a:p>
            </p:txBody>
          </p:sp>
        </p:grpSp>
        <p:grpSp>
          <p:nvGrpSpPr>
            <p:cNvPr id="61465" name="Group 28"/>
            <p:cNvGrpSpPr>
              <a:grpSpLocks/>
            </p:cNvGrpSpPr>
            <p:nvPr/>
          </p:nvGrpSpPr>
          <p:grpSpPr bwMode="auto">
            <a:xfrm>
              <a:off x="817" y="1910"/>
              <a:ext cx="3016" cy="1020"/>
              <a:chOff x="817" y="1910"/>
              <a:chExt cx="3016" cy="1020"/>
            </a:xfrm>
          </p:grpSpPr>
          <p:sp>
            <p:nvSpPr>
              <p:cNvPr id="61466" name="Line 17"/>
              <p:cNvSpPr>
                <a:spLocks noChangeShapeType="1"/>
              </p:cNvSpPr>
              <p:nvPr/>
            </p:nvSpPr>
            <p:spPr bwMode="auto">
              <a:xfrm>
                <a:off x="824" y="1984"/>
                <a:ext cx="3009" cy="49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1467" name="Line 18"/>
              <p:cNvSpPr>
                <a:spLocks noChangeShapeType="1"/>
              </p:cNvSpPr>
              <p:nvPr/>
            </p:nvSpPr>
            <p:spPr bwMode="auto">
              <a:xfrm>
                <a:off x="817" y="1953"/>
                <a:ext cx="2770" cy="75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1468" name="Line 19"/>
              <p:cNvSpPr>
                <a:spLocks noChangeShapeType="1"/>
              </p:cNvSpPr>
              <p:nvPr/>
            </p:nvSpPr>
            <p:spPr bwMode="auto">
              <a:xfrm>
                <a:off x="817" y="1910"/>
                <a:ext cx="2615" cy="102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1469" name="Line 25"/>
              <p:cNvSpPr>
                <a:spLocks noChangeShapeType="1"/>
              </p:cNvSpPr>
              <p:nvPr/>
            </p:nvSpPr>
            <p:spPr bwMode="auto">
              <a:xfrm>
                <a:off x="1143" y="2381"/>
                <a:ext cx="85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61470" name="Line 26"/>
              <p:cNvSpPr>
                <a:spLocks noChangeShapeType="1"/>
              </p:cNvSpPr>
              <p:nvPr/>
            </p:nvSpPr>
            <p:spPr bwMode="auto">
              <a:xfrm>
                <a:off x="1135" y="2303"/>
                <a:ext cx="97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sp>
            <p:nvSpPr>
              <p:cNvPr id="61471" name="Line 27"/>
              <p:cNvSpPr>
                <a:spLocks noChangeShapeType="1"/>
              </p:cNvSpPr>
              <p:nvPr/>
            </p:nvSpPr>
            <p:spPr bwMode="auto">
              <a:xfrm>
                <a:off x="1135" y="2232"/>
                <a:ext cx="112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61454" name="Text Box 32"/>
          <p:cNvSpPr txBox="1">
            <a:spLocks noChangeArrowheads="1"/>
          </p:cNvSpPr>
          <p:nvPr/>
        </p:nvSpPr>
        <p:spPr bwMode="auto">
          <a:xfrm>
            <a:off x="5194300" y="2330450"/>
            <a:ext cx="436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FF0000"/>
                </a:solidFill>
                <a:latin typeface="Arial" panose="020B0604020202020204" pitchFamily="34" charset="0"/>
              </a:rPr>
              <a:t>C</a:t>
            </a:r>
            <a:r>
              <a:rPr lang="en-US" altLang="fr-FR" sz="1800" baseline="-25000">
                <a:solidFill>
                  <a:srgbClr val="FF0000"/>
                </a:solidFill>
                <a:latin typeface="Arial" panose="020B0604020202020204" pitchFamily="34" charset="0"/>
              </a:rPr>
              <a:t>L</a:t>
            </a:r>
            <a:endParaRPr lang="en-US" altLang="fr-FR" sz="1800">
              <a:solidFill>
                <a:srgbClr val="FF0000"/>
              </a:solidFill>
              <a:latin typeface="Arial" panose="020B0604020202020204" pitchFamily="34" charset="0"/>
            </a:endParaRPr>
          </a:p>
        </p:txBody>
      </p:sp>
      <p:grpSp>
        <p:nvGrpSpPr>
          <p:cNvPr id="5" name="Group 33"/>
          <p:cNvGrpSpPr>
            <a:grpSpLocks/>
          </p:cNvGrpSpPr>
          <p:nvPr/>
        </p:nvGrpSpPr>
        <p:grpSpPr bwMode="auto">
          <a:xfrm>
            <a:off x="1050925" y="2408238"/>
            <a:ext cx="709613" cy="760412"/>
            <a:chOff x="671" y="1292"/>
            <a:chExt cx="447" cy="479"/>
          </a:xfrm>
        </p:grpSpPr>
        <p:sp>
          <p:nvSpPr>
            <p:cNvPr id="61463" name="Freeform 35"/>
            <p:cNvSpPr>
              <a:spLocks/>
            </p:cNvSpPr>
            <p:nvPr/>
          </p:nvSpPr>
          <p:spPr bwMode="auto">
            <a:xfrm>
              <a:off x="946" y="1522"/>
              <a:ext cx="172" cy="249"/>
            </a:xfrm>
            <a:custGeom>
              <a:avLst/>
              <a:gdLst>
                <a:gd name="T0" fmla="*/ 0 w 172"/>
                <a:gd name="T1" fmla="*/ 0 h 249"/>
                <a:gd name="T2" fmla="*/ 103 w 172"/>
                <a:gd name="T3" fmla="*/ 68 h 249"/>
                <a:gd name="T4" fmla="*/ 172 w 172"/>
                <a:gd name="T5" fmla="*/ 249 h 249"/>
                <a:gd name="T6" fmla="*/ 0 60000 65536"/>
                <a:gd name="T7" fmla="*/ 0 60000 65536"/>
                <a:gd name="T8" fmla="*/ 0 60000 65536"/>
                <a:gd name="T9" fmla="*/ 0 w 172"/>
                <a:gd name="T10" fmla="*/ 0 h 249"/>
                <a:gd name="T11" fmla="*/ 172 w 172"/>
                <a:gd name="T12" fmla="*/ 249 h 249"/>
              </a:gdLst>
              <a:ahLst/>
              <a:cxnLst>
                <a:cxn ang="T6">
                  <a:pos x="T0" y="T1"/>
                </a:cxn>
                <a:cxn ang="T7">
                  <a:pos x="T2" y="T3"/>
                </a:cxn>
                <a:cxn ang="T8">
                  <a:pos x="T4" y="T5"/>
                </a:cxn>
              </a:cxnLst>
              <a:rect l="T9" t="T10" r="T11" b="T12"/>
              <a:pathLst>
                <a:path w="172" h="249">
                  <a:moveTo>
                    <a:pt x="0" y="0"/>
                  </a:moveTo>
                  <a:cubicBezTo>
                    <a:pt x="37" y="13"/>
                    <a:pt x="74" y="27"/>
                    <a:pt x="103" y="68"/>
                  </a:cubicBezTo>
                  <a:cubicBezTo>
                    <a:pt x="132" y="109"/>
                    <a:pt x="152" y="179"/>
                    <a:pt x="172" y="249"/>
                  </a:cubicBezTo>
                </a:path>
              </a:pathLst>
            </a:custGeom>
            <a:noFill/>
            <a:ln w="9525">
              <a:solidFill>
                <a:schemeClr val="tx1"/>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61456" name="Group 36"/>
          <p:cNvGrpSpPr>
            <a:grpSpLocks/>
          </p:cNvGrpSpPr>
          <p:nvPr/>
        </p:nvGrpSpPr>
        <p:grpSpPr bwMode="auto">
          <a:xfrm>
            <a:off x="334963" y="841375"/>
            <a:ext cx="2457450" cy="463550"/>
            <a:chOff x="3924" y="963"/>
            <a:chExt cx="1213" cy="292"/>
          </a:xfrm>
        </p:grpSpPr>
        <p:sp>
          <p:nvSpPr>
            <p:cNvPr id="61461" name="Rectangle 37"/>
            <p:cNvSpPr>
              <a:spLocks noChangeArrowheads="1"/>
            </p:cNvSpPr>
            <p:nvPr/>
          </p:nvSpPr>
          <p:spPr bwMode="auto">
            <a:xfrm>
              <a:off x="3924" y="963"/>
              <a:ext cx="1005" cy="29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1462" name="Text Box 38"/>
            <p:cNvSpPr txBox="1">
              <a:spLocks noChangeArrowheads="1"/>
            </p:cNvSpPr>
            <p:nvPr/>
          </p:nvSpPr>
          <p:spPr bwMode="auto">
            <a:xfrm>
              <a:off x="4057" y="998"/>
              <a:ext cx="10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Variation de R</a:t>
              </a:r>
              <a:r>
                <a:rPr lang="en-US" altLang="fr-FR" sz="1800" baseline="-25000">
                  <a:latin typeface="Arial" panose="020B0604020202020204" pitchFamily="34" charset="0"/>
                </a:rPr>
                <a:t>a</a:t>
              </a:r>
              <a:endParaRPr lang="en-US" altLang="fr-FR" sz="1800">
                <a:latin typeface="Arial" panose="020B0604020202020204" pitchFamily="34" charset="0"/>
              </a:endParaRPr>
            </a:p>
          </p:txBody>
        </p:sp>
      </p:grpSp>
      <p:sp>
        <p:nvSpPr>
          <p:cNvPr id="52263" name="Text Box 39"/>
          <p:cNvSpPr txBox="1">
            <a:spLocks noChangeArrowheads="1"/>
          </p:cNvSpPr>
          <p:nvPr/>
        </p:nvSpPr>
        <p:spPr bwMode="auto">
          <a:xfrm>
            <a:off x="2513013" y="5599113"/>
            <a:ext cx="3903662"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3300"/>
                </a:solidFill>
                <a:latin typeface="Arial" panose="020B0604020202020204" pitchFamily="34" charset="0"/>
              </a:rPr>
              <a:t>Contrôle simple</a:t>
            </a:r>
          </a:p>
          <a:p>
            <a:pPr eaLnBrk="1" hangingPunct="1">
              <a:spcBef>
                <a:spcPct val="0"/>
              </a:spcBef>
              <a:buClrTx/>
              <a:buSzTx/>
              <a:buFontTx/>
              <a:buNone/>
            </a:pPr>
            <a:r>
              <a:rPr lang="fr-FR" altLang="fr-FR" sz="1800" b="1">
                <a:solidFill>
                  <a:srgbClr val="FF3300"/>
                </a:solidFill>
                <a:latin typeface="Arial" panose="020B0604020202020204" pitchFamily="34" charset="0"/>
              </a:rPr>
              <a:t>Pertes dans la résistance externe</a:t>
            </a:r>
            <a:endParaRPr lang="en-US" altLang="fr-FR" sz="1800" b="1">
              <a:solidFill>
                <a:srgbClr val="FF3300"/>
              </a:solidFill>
              <a:latin typeface="Arial" panose="020B0604020202020204" pitchFamily="34" charset="0"/>
            </a:endParaRPr>
          </a:p>
        </p:txBody>
      </p:sp>
      <p:pic>
        <p:nvPicPr>
          <p:cNvPr id="61458" name="Object 3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50925" y="2408238"/>
            <a:ext cx="44767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59" name="ZoneTexte 33"/>
          <p:cNvSpPr txBox="1">
            <a:spLocks noChangeArrowheads="1"/>
          </p:cNvSpPr>
          <p:nvPr/>
        </p:nvSpPr>
        <p:spPr bwMode="auto">
          <a:xfrm>
            <a:off x="295275" y="295275"/>
            <a:ext cx="427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
        <p:nvSpPr>
          <p:cNvPr id="61460" name="ZoneTexte 34"/>
          <p:cNvSpPr txBox="1">
            <a:spLocks noChangeArrowheads="1"/>
          </p:cNvSpPr>
          <p:nvPr/>
        </p:nvSpPr>
        <p:spPr bwMode="auto">
          <a:xfrm>
            <a:off x="4568825" y="814388"/>
            <a:ext cx="614363" cy="369887"/>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a:t>
            </a:r>
            <a:r>
              <a:rPr lang="fr-FR" altLang="fr-FR" sz="1000">
                <a:latin typeface="Arial" panose="020B0604020202020204" pitchFamily="34" charset="0"/>
              </a:rPr>
              <a:t>e</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32" fill="hold" grpId="0" nodeType="clickEffect">
                                  <p:stCondLst>
                                    <p:cond delay="0"/>
                                  </p:stCondLst>
                                  <p:childTnLst>
                                    <p:set>
                                      <p:cBhvr>
                                        <p:cTn id="16" dur="1" fill="hold">
                                          <p:stCondLst>
                                            <p:cond delay="0"/>
                                          </p:stCondLst>
                                        </p:cTn>
                                        <p:tgtEl>
                                          <p:spTgt spid="52263"/>
                                        </p:tgtEl>
                                        <p:attrNameLst>
                                          <p:attrName>style.visibility</p:attrName>
                                        </p:attrNameLst>
                                      </p:cBhvr>
                                      <p:to>
                                        <p:strVal val="visible"/>
                                      </p:to>
                                    </p:set>
                                    <p:anim calcmode="lin" valueType="num">
                                      <p:cBhvr>
                                        <p:cTn id="17" dur="500" fill="hold"/>
                                        <p:tgtEl>
                                          <p:spTgt spid="52263"/>
                                        </p:tgtEl>
                                        <p:attrNameLst>
                                          <p:attrName>ppt_w</p:attrName>
                                        </p:attrNameLst>
                                      </p:cBhvr>
                                      <p:tavLst>
                                        <p:tav tm="0">
                                          <p:val>
                                            <p:strVal val="4*#ppt_w"/>
                                          </p:val>
                                        </p:tav>
                                        <p:tav tm="100000">
                                          <p:val>
                                            <p:strVal val="#ppt_w"/>
                                          </p:val>
                                        </p:tav>
                                      </p:tavLst>
                                    </p:anim>
                                    <p:anim calcmode="lin" valueType="num">
                                      <p:cBhvr>
                                        <p:cTn id="18" dur="500" fill="hold"/>
                                        <p:tgtEl>
                                          <p:spTgt spid="5226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63"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5" name="Espace réservé du pied de page 24"/>
          <p:cNvSpPr>
            <a:spLocks noGrp="1"/>
          </p:cNvSpPr>
          <p:nvPr>
            <p:ph type="ftr" sz="quarter" idx="11"/>
          </p:nvPr>
        </p:nvSpPr>
        <p:spPr/>
        <p:txBody>
          <a:bodyPr/>
          <a:lstStyle/>
          <a:p>
            <a:pPr>
              <a:defRPr/>
            </a:pPr>
            <a:r>
              <a:rPr lang="fr-FR"/>
              <a:t>Commande des machines   3.MCC     Ali NEJMI</a:t>
            </a:r>
            <a:endParaRPr lang="en-US"/>
          </a:p>
        </p:txBody>
      </p:sp>
      <p:sp>
        <p:nvSpPr>
          <p:cNvPr id="63491" name="Espace réservé du numéro de diapositive 2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149C1CE-BB08-45C2-B305-7DB9436027D0}" type="slidenum">
              <a:rPr lang="en-US" altLang="fr-FR" sz="1000" smtClean="0">
                <a:solidFill>
                  <a:srgbClr val="292929"/>
                </a:solidFill>
                <a:latin typeface="Arial" panose="020B0604020202020204" pitchFamily="34" charset="0"/>
              </a:rPr>
              <a:pPr>
                <a:spcBef>
                  <a:spcPct val="0"/>
                </a:spcBef>
                <a:buClrTx/>
                <a:buSzTx/>
                <a:buFontTx/>
                <a:buNone/>
              </a:pPr>
              <a:t>36</a:t>
            </a:fld>
            <a:endParaRPr lang="en-US" altLang="fr-FR" sz="1000" smtClean="0">
              <a:solidFill>
                <a:srgbClr val="292929"/>
              </a:solidFill>
              <a:latin typeface="Arial" panose="020B0604020202020204" pitchFamily="34" charset="0"/>
            </a:endParaRPr>
          </a:p>
        </p:txBody>
      </p:sp>
      <p:pic>
        <p:nvPicPr>
          <p:cNvPr id="63492" name="Object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98788" y="841375"/>
            <a:ext cx="1987550"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Rectangle 4"/>
          <p:cNvSpPr>
            <a:spLocks noChangeArrowheads="1"/>
          </p:cNvSpPr>
          <p:nvPr/>
        </p:nvSpPr>
        <p:spPr bwMode="auto">
          <a:xfrm>
            <a:off x="182563" y="192088"/>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3494" name="Line 5"/>
          <p:cNvSpPr>
            <a:spLocks noChangeShapeType="1"/>
          </p:cNvSpPr>
          <p:nvPr/>
        </p:nvSpPr>
        <p:spPr bwMode="auto">
          <a:xfrm flipV="1">
            <a:off x="1814513" y="1528763"/>
            <a:ext cx="0" cy="38973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63495" name="Line 6"/>
          <p:cNvSpPr>
            <a:spLocks noChangeShapeType="1"/>
          </p:cNvSpPr>
          <p:nvPr/>
        </p:nvSpPr>
        <p:spPr bwMode="auto">
          <a:xfrm>
            <a:off x="1582738" y="5178425"/>
            <a:ext cx="506412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63496" name="Text Box 7"/>
          <p:cNvSpPr txBox="1">
            <a:spLocks noChangeArrowheads="1"/>
          </p:cNvSpPr>
          <p:nvPr/>
        </p:nvSpPr>
        <p:spPr bwMode="auto">
          <a:xfrm>
            <a:off x="1433513" y="1397000"/>
            <a:ext cx="3413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sp>
        <p:nvSpPr>
          <p:cNvPr id="63497" name="Text Box 8"/>
          <p:cNvSpPr txBox="1">
            <a:spLocks noChangeArrowheads="1"/>
          </p:cNvSpPr>
          <p:nvPr/>
        </p:nvSpPr>
        <p:spPr bwMode="auto">
          <a:xfrm>
            <a:off x="6646863" y="5178425"/>
            <a:ext cx="60007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C</a:t>
            </a:r>
            <a:r>
              <a:rPr lang="en-US" altLang="fr-FR" sz="1800" baseline="-25000">
                <a:latin typeface="Arial" panose="020B0604020202020204" pitchFamily="34" charset="0"/>
                <a:sym typeface="Symbol" panose="05050102010706020507" pitchFamily="18" charset="2"/>
              </a:rPr>
              <a:t>e</a:t>
            </a:r>
            <a:endParaRPr lang="en-US" altLang="fr-FR" sz="1800">
              <a:latin typeface="Arial" panose="020B0604020202020204" pitchFamily="34" charset="0"/>
              <a:sym typeface="Symbol" panose="05050102010706020507" pitchFamily="18" charset="2"/>
            </a:endParaRPr>
          </a:p>
        </p:txBody>
      </p:sp>
      <p:sp>
        <p:nvSpPr>
          <p:cNvPr id="63498" name="Line 9"/>
          <p:cNvSpPr>
            <a:spLocks noChangeShapeType="1"/>
          </p:cNvSpPr>
          <p:nvPr/>
        </p:nvSpPr>
        <p:spPr bwMode="auto">
          <a:xfrm>
            <a:off x="1308100" y="3187700"/>
            <a:ext cx="4776788" cy="3413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3499" name="Freeform 10"/>
          <p:cNvSpPr>
            <a:spLocks/>
          </p:cNvSpPr>
          <p:nvPr/>
        </p:nvSpPr>
        <p:spPr bwMode="auto">
          <a:xfrm>
            <a:off x="1801813" y="2655888"/>
            <a:ext cx="3903662" cy="2509837"/>
          </a:xfrm>
          <a:custGeom>
            <a:avLst/>
            <a:gdLst>
              <a:gd name="T0" fmla="*/ 0 w 2459"/>
              <a:gd name="T1" fmla="*/ 2147483646 h 1581"/>
              <a:gd name="T2" fmla="*/ 2147483646 w 2459"/>
              <a:gd name="T3" fmla="*/ 2147483646 h 1581"/>
              <a:gd name="T4" fmla="*/ 2147483646 w 2459"/>
              <a:gd name="T5" fmla="*/ 2147483646 h 1581"/>
              <a:gd name="T6" fmla="*/ 2147483646 w 2459"/>
              <a:gd name="T7" fmla="*/ 2147483646 h 1581"/>
              <a:gd name="T8" fmla="*/ 2147483646 w 2459"/>
              <a:gd name="T9" fmla="*/ 2147483646 h 1581"/>
              <a:gd name="T10" fmla="*/ 2147483646 w 2459"/>
              <a:gd name="T11" fmla="*/ 0 h 1581"/>
              <a:gd name="T12" fmla="*/ 0 60000 65536"/>
              <a:gd name="T13" fmla="*/ 0 60000 65536"/>
              <a:gd name="T14" fmla="*/ 0 60000 65536"/>
              <a:gd name="T15" fmla="*/ 0 60000 65536"/>
              <a:gd name="T16" fmla="*/ 0 60000 65536"/>
              <a:gd name="T17" fmla="*/ 0 60000 65536"/>
              <a:gd name="T18" fmla="*/ 0 w 2459"/>
              <a:gd name="T19" fmla="*/ 0 h 1581"/>
              <a:gd name="T20" fmla="*/ 2459 w 2459"/>
              <a:gd name="T21" fmla="*/ 1581 h 1581"/>
            </a:gdLst>
            <a:ahLst/>
            <a:cxnLst>
              <a:cxn ang="T12">
                <a:pos x="T0" y="T1"/>
              </a:cxn>
              <a:cxn ang="T13">
                <a:pos x="T2" y="T3"/>
              </a:cxn>
              <a:cxn ang="T14">
                <a:pos x="T4" y="T5"/>
              </a:cxn>
              <a:cxn ang="T15">
                <a:pos x="T6" y="T7"/>
              </a:cxn>
              <a:cxn ang="T16">
                <a:pos x="T8" y="T9"/>
              </a:cxn>
              <a:cxn ang="T17">
                <a:pos x="T10" y="T11"/>
              </a:cxn>
            </a:cxnLst>
            <a:rect l="T18" t="T19" r="T20" b="T21"/>
            <a:pathLst>
              <a:path w="2459" h="1581">
                <a:moveTo>
                  <a:pt x="0" y="1581"/>
                </a:moveTo>
                <a:cubicBezTo>
                  <a:pt x="112" y="1414"/>
                  <a:pt x="225" y="1247"/>
                  <a:pt x="344" y="1117"/>
                </a:cubicBezTo>
                <a:cubicBezTo>
                  <a:pt x="463" y="987"/>
                  <a:pt x="537" y="918"/>
                  <a:pt x="713" y="799"/>
                </a:cubicBezTo>
                <a:cubicBezTo>
                  <a:pt x="889" y="680"/>
                  <a:pt x="1155" y="523"/>
                  <a:pt x="1401" y="404"/>
                </a:cubicBezTo>
                <a:cubicBezTo>
                  <a:pt x="1647" y="285"/>
                  <a:pt x="2016" y="152"/>
                  <a:pt x="2192" y="85"/>
                </a:cubicBezTo>
                <a:cubicBezTo>
                  <a:pt x="2368" y="18"/>
                  <a:pt x="2413" y="9"/>
                  <a:pt x="2459" y="0"/>
                </a:cubicBezTo>
              </a:path>
            </a:pathLst>
          </a:custGeom>
          <a:noFill/>
          <a:ln w="28575" cmpd="sng">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3500" name="Text Box 22"/>
          <p:cNvSpPr txBox="1">
            <a:spLocks noChangeArrowheads="1"/>
          </p:cNvSpPr>
          <p:nvPr/>
        </p:nvSpPr>
        <p:spPr bwMode="auto">
          <a:xfrm>
            <a:off x="5194300" y="2330450"/>
            <a:ext cx="436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FF0000"/>
                </a:solidFill>
                <a:latin typeface="Arial" panose="020B0604020202020204" pitchFamily="34" charset="0"/>
              </a:rPr>
              <a:t>C</a:t>
            </a:r>
            <a:r>
              <a:rPr lang="en-US" altLang="fr-FR" sz="1800" baseline="-25000">
                <a:solidFill>
                  <a:srgbClr val="FF0000"/>
                </a:solidFill>
                <a:latin typeface="Arial" panose="020B0604020202020204" pitchFamily="34" charset="0"/>
              </a:rPr>
              <a:t>L</a:t>
            </a:r>
            <a:endParaRPr lang="en-US" altLang="fr-FR" sz="1800">
              <a:solidFill>
                <a:srgbClr val="FF0000"/>
              </a:solidFill>
              <a:latin typeface="Arial" panose="020B0604020202020204" pitchFamily="34" charset="0"/>
            </a:endParaRPr>
          </a:p>
        </p:txBody>
      </p:sp>
      <p:grpSp>
        <p:nvGrpSpPr>
          <p:cNvPr id="2" name="Group 23"/>
          <p:cNvGrpSpPr>
            <a:grpSpLocks/>
          </p:cNvGrpSpPr>
          <p:nvPr/>
        </p:nvGrpSpPr>
        <p:grpSpPr bwMode="auto">
          <a:xfrm>
            <a:off x="1077913" y="2427288"/>
            <a:ext cx="709612" cy="760412"/>
            <a:chOff x="671" y="1292"/>
            <a:chExt cx="447" cy="479"/>
          </a:xfrm>
        </p:grpSpPr>
        <p:sp>
          <p:nvSpPr>
            <p:cNvPr id="63514" name="Freeform 25"/>
            <p:cNvSpPr>
              <a:spLocks/>
            </p:cNvSpPr>
            <p:nvPr/>
          </p:nvSpPr>
          <p:spPr bwMode="auto">
            <a:xfrm>
              <a:off x="946" y="1522"/>
              <a:ext cx="172" cy="249"/>
            </a:xfrm>
            <a:custGeom>
              <a:avLst/>
              <a:gdLst>
                <a:gd name="T0" fmla="*/ 0 w 172"/>
                <a:gd name="T1" fmla="*/ 0 h 249"/>
                <a:gd name="T2" fmla="*/ 103 w 172"/>
                <a:gd name="T3" fmla="*/ 68 h 249"/>
                <a:gd name="T4" fmla="*/ 172 w 172"/>
                <a:gd name="T5" fmla="*/ 249 h 249"/>
                <a:gd name="T6" fmla="*/ 0 60000 65536"/>
                <a:gd name="T7" fmla="*/ 0 60000 65536"/>
                <a:gd name="T8" fmla="*/ 0 60000 65536"/>
                <a:gd name="T9" fmla="*/ 0 w 172"/>
                <a:gd name="T10" fmla="*/ 0 h 249"/>
                <a:gd name="T11" fmla="*/ 172 w 172"/>
                <a:gd name="T12" fmla="*/ 249 h 249"/>
              </a:gdLst>
              <a:ahLst/>
              <a:cxnLst>
                <a:cxn ang="T6">
                  <a:pos x="T0" y="T1"/>
                </a:cxn>
                <a:cxn ang="T7">
                  <a:pos x="T2" y="T3"/>
                </a:cxn>
                <a:cxn ang="T8">
                  <a:pos x="T4" y="T5"/>
                </a:cxn>
              </a:cxnLst>
              <a:rect l="T9" t="T10" r="T11" b="T12"/>
              <a:pathLst>
                <a:path w="172" h="249">
                  <a:moveTo>
                    <a:pt x="0" y="0"/>
                  </a:moveTo>
                  <a:cubicBezTo>
                    <a:pt x="37" y="13"/>
                    <a:pt x="74" y="27"/>
                    <a:pt x="103" y="68"/>
                  </a:cubicBezTo>
                  <a:cubicBezTo>
                    <a:pt x="132" y="109"/>
                    <a:pt x="152" y="179"/>
                    <a:pt x="172" y="249"/>
                  </a:cubicBezTo>
                </a:path>
              </a:pathLst>
            </a:custGeom>
            <a:noFill/>
            <a:ln w="9525">
              <a:solidFill>
                <a:schemeClr val="tx1"/>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63502" name="Group 26"/>
          <p:cNvGrpSpPr>
            <a:grpSpLocks/>
          </p:cNvGrpSpPr>
          <p:nvPr/>
        </p:nvGrpSpPr>
        <p:grpSpPr bwMode="auto">
          <a:xfrm>
            <a:off x="322263" y="841375"/>
            <a:ext cx="2224087" cy="463550"/>
            <a:chOff x="3924" y="963"/>
            <a:chExt cx="1130" cy="292"/>
          </a:xfrm>
        </p:grpSpPr>
        <p:sp>
          <p:nvSpPr>
            <p:cNvPr id="63512" name="Rectangle 27"/>
            <p:cNvSpPr>
              <a:spLocks noChangeArrowheads="1"/>
            </p:cNvSpPr>
            <p:nvPr/>
          </p:nvSpPr>
          <p:spPr bwMode="auto">
            <a:xfrm>
              <a:off x="3924" y="963"/>
              <a:ext cx="1005" cy="292"/>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3513" name="Text Box 28"/>
            <p:cNvSpPr txBox="1">
              <a:spLocks noChangeArrowheads="1"/>
            </p:cNvSpPr>
            <p:nvPr/>
          </p:nvSpPr>
          <p:spPr bwMode="auto">
            <a:xfrm>
              <a:off x="4057" y="996"/>
              <a:ext cx="9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Variation de </a:t>
              </a:r>
              <a:r>
                <a:rPr lang="en-US" altLang="fr-FR" sz="1800">
                  <a:latin typeface="Arial" panose="020B0604020202020204" pitchFamily="34" charset="0"/>
                  <a:sym typeface="Symbol" panose="05050102010706020507" pitchFamily="18" charset="2"/>
                </a:rPr>
                <a:t></a:t>
              </a:r>
            </a:p>
          </p:txBody>
        </p:sp>
      </p:grpSp>
      <p:grpSp>
        <p:nvGrpSpPr>
          <p:cNvPr id="4" name="Group 32"/>
          <p:cNvGrpSpPr>
            <a:grpSpLocks/>
          </p:cNvGrpSpPr>
          <p:nvPr/>
        </p:nvGrpSpPr>
        <p:grpSpPr bwMode="auto">
          <a:xfrm>
            <a:off x="1473200" y="2001838"/>
            <a:ext cx="6088063" cy="2044700"/>
            <a:chOff x="928" y="1261"/>
            <a:chExt cx="3835" cy="1288"/>
          </a:xfrm>
        </p:grpSpPr>
        <p:sp>
          <p:nvSpPr>
            <p:cNvPr id="63508" name="Line 12"/>
            <p:cNvSpPr>
              <a:spLocks noChangeShapeType="1"/>
            </p:cNvSpPr>
            <p:nvPr/>
          </p:nvSpPr>
          <p:spPr bwMode="auto">
            <a:xfrm flipH="1">
              <a:off x="4084" y="2008"/>
              <a:ext cx="103" cy="541"/>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fr-FR"/>
            </a:p>
          </p:txBody>
        </p:sp>
        <p:sp>
          <p:nvSpPr>
            <p:cNvPr id="63509" name="Text Box 13"/>
            <p:cNvSpPr txBox="1">
              <a:spLocks noChangeArrowheads="1"/>
            </p:cNvSpPr>
            <p:nvPr/>
          </p:nvSpPr>
          <p:spPr bwMode="auto">
            <a:xfrm>
              <a:off x="4187" y="2168"/>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r>
                <a:rPr lang="en-US" altLang="fr-FR" sz="1800">
                  <a:latin typeface="Arial" panose="020B0604020202020204" pitchFamily="34" charset="0"/>
                </a:rPr>
                <a:t> ↓</a:t>
              </a:r>
            </a:p>
          </p:txBody>
        </p:sp>
        <p:sp>
          <p:nvSpPr>
            <p:cNvPr id="63510" name="Line 29"/>
            <p:cNvSpPr>
              <a:spLocks noChangeShapeType="1"/>
            </p:cNvSpPr>
            <p:nvPr/>
          </p:nvSpPr>
          <p:spPr bwMode="auto">
            <a:xfrm>
              <a:off x="928" y="1673"/>
              <a:ext cx="2996" cy="36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3511" name="Line 30"/>
            <p:cNvSpPr>
              <a:spLocks noChangeShapeType="1"/>
            </p:cNvSpPr>
            <p:nvPr/>
          </p:nvSpPr>
          <p:spPr bwMode="auto">
            <a:xfrm>
              <a:off x="1061" y="1261"/>
              <a:ext cx="2996" cy="6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54303" name="Text Box 31"/>
          <p:cNvSpPr txBox="1">
            <a:spLocks noChangeArrowheads="1"/>
          </p:cNvSpPr>
          <p:nvPr/>
        </p:nvSpPr>
        <p:spPr bwMode="auto">
          <a:xfrm>
            <a:off x="327025" y="5592763"/>
            <a:ext cx="8588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FF3300"/>
                </a:solidFill>
                <a:latin typeface="Arial" panose="020B0604020202020204" pitchFamily="34" charset="0"/>
              </a:rPr>
              <a:t>Contrôle impossible pour moteur DC à aimant permanent </a:t>
            </a:r>
          </a:p>
          <a:p>
            <a:pPr eaLnBrk="1" hangingPunct="1">
              <a:spcBef>
                <a:spcPct val="0"/>
              </a:spcBef>
              <a:buClrTx/>
              <a:buSzTx/>
              <a:buFontTx/>
              <a:buNone/>
            </a:pPr>
            <a:r>
              <a:rPr lang="fr-FR" altLang="fr-FR" sz="1800" b="1">
                <a:solidFill>
                  <a:srgbClr val="FF3300"/>
                </a:solidFill>
                <a:latin typeface="Arial" panose="020B0604020202020204" pitchFamily="34" charset="0"/>
              </a:rPr>
              <a:t>Réduit la capacité du couple maximal (le couple diminue si le flux diminue)</a:t>
            </a:r>
            <a:endParaRPr lang="en-US" altLang="fr-FR" sz="1800" b="1">
              <a:solidFill>
                <a:srgbClr val="FF3300"/>
              </a:solidFill>
              <a:latin typeface="Arial" panose="020B0604020202020204" pitchFamily="34" charset="0"/>
            </a:endParaRPr>
          </a:p>
        </p:txBody>
      </p:sp>
      <p:pic>
        <p:nvPicPr>
          <p:cNvPr id="63505" name="Object 2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77913" y="2427288"/>
            <a:ext cx="447675"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506" name="ZoneTexte 26"/>
          <p:cNvSpPr txBox="1">
            <a:spLocks noChangeArrowheads="1"/>
          </p:cNvSpPr>
          <p:nvPr/>
        </p:nvSpPr>
        <p:spPr bwMode="auto">
          <a:xfrm>
            <a:off x="295275" y="309563"/>
            <a:ext cx="4275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
        <p:nvSpPr>
          <p:cNvPr id="63507" name="ZoneTexte 27"/>
          <p:cNvSpPr txBox="1">
            <a:spLocks noChangeArrowheads="1"/>
          </p:cNvSpPr>
          <p:nvPr/>
        </p:nvSpPr>
        <p:spPr bwMode="auto">
          <a:xfrm>
            <a:off x="4565650" y="812800"/>
            <a:ext cx="612775" cy="369888"/>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a:t>
            </a:r>
            <a:r>
              <a:rPr lang="fr-FR" altLang="fr-FR" sz="1000">
                <a:latin typeface="Arial" panose="020B0604020202020204" pitchFamily="34" charset="0"/>
              </a:rPr>
              <a:t>e</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32" fill="hold" grpId="0" nodeType="clickEffect">
                                  <p:stCondLst>
                                    <p:cond delay="0"/>
                                  </p:stCondLst>
                                  <p:childTnLst>
                                    <p:set>
                                      <p:cBhvr>
                                        <p:cTn id="16" dur="1" fill="hold">
                                          <p:stCondLst>
                                            <p:cond delay="0"/>
                                          </p:stCondLst>
                                        </p:cTn>
                                        <p:tgtEl>
                                          <p:spTgt spid="54303"/>
                                        </p:tgtEl>
                                        <p:attrNameLst>
                                          <p:attrName>style.visibility</p:attrName>
                                        </p:attrNameLst>
                                      </p:cBhvr>
                                      <p:to>
                                        <p:strVal val="visible"/>
                                      </p:to>
                                    </p:set>
                                    <p:anim calcmode="lin" valueType="num">
                                      <p:cBhvr>
                                        <p:cTn id="17" dur="500" fill="hold"/>
                                        <p:tgtEl>
                                          <p:spTgt spid="54303"/>
                                        </p:tgtEl>
                                        <p:attrNameLst>
                                          <p:attrName>ppt_w</p:attrName>
                                        </p:attrNameLst>
                                      </p:cBhvr>
                                      <p:tavLst>
                                        <p:tav tm="0">
                                          <p:val>
                                            <p:strVal val="4*#ppt_w"/>
                                          </p:val>
                                        </p:tav>
                                        <p:tav tm="100000">
                                          <p:val>
                                            <p:strVal val="#ppt_w"/>
                                          </p:val>
                                        </p:tav>
                                      </p:tavLst>
                                    </p:anim>
                                    <p:anim calcmode="lin" valueType="num">
                                      <p:cBhvr>
                                        <p:cTn id="18" dur="500" fill="hold"/>
                                        <p:tgtEl>
                                          <p:spTgt spid="5430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03"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39" name="Espace réservé du pied de page 38"/>
          <p:cNvSpPr>
            <a:spLocks noGrp="1"/>
          </p:cNvSpPr>
          <p:nvPr>
            <p:ph type="ftr" sz="quarter" idx="11"/>
          </p:nvPr>
        </p:nvSpPr>
        <p:spPr/>
        <p:txBody>
          <a:bodyPr/>
          <a:lstStyle/>
          <a:p>
            <a:pPr>
              <a:defRPr/>
            </a:pPr>
            <a:r>
              <a:rPr lang="fr-FR"/>
              <a:t>Commande des machines   3.MCC     Ali NEJMI</a:t>
            </a:r>
            <a:endParaRPr lang="en-US"/>
          </a:p>
        </p:txBody>
      </p:sp>
      <p:sp>
        <p:nvSpPr>
          <p:cNvPr id="65539" name="Espace réservé du numéro de diapositive 37"/>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EAE7BF4-8973-41EE-ABFE-31CDA72280F7}" type="slidenum">
              <a:rPr lang="en-US" altLang="fr-FR" sz="1000" smtClean="0">
                <a:solidFill>
                  <a:srgbClr val="292929"/>
                </a:solidFill>
                <a:latin typeface="Arial" panose="020B0604020202020204" pitchFamily="34" charset="0"/>
              </a:rPr>
              <a:pPr>
                <a:spcBef>
                  <a:spcPct val="0"/>
                </a:spcBef>
                <a:buClrTx/>
                <a:buSzTx/>
                <a:buFontTx/>
                <a:buNone/>
              </a:pPr>
              <a:t>37</a:t>
            </a:fld>
            <a:endParaRPr lang="en-US" altLang="fr-FR" sz="1000" smtClean="0">
              <a:solidFill>
                <a:srgbClr val="292929"/>
              </a:solidFill>
              <a:latin typeface="Arial" panose="020B0604020202020204" pitchFamily="34" charset="0"/>
            </a:endParaRPr>
          </a:p>
        </p:txBody>
      </p:sp>
      <p:sp>
        <p:nvSpPr>
          <p:cNvPr id="65540" name="Rectangle 12"/>
          <p:cNvSpPr>
            <a:spLocks noChangeArrowheads="1"/>
          </p:cNvSpPr>
          <p:nvPr/>
        </p:nvSpPr>
        <p:spPr bwMode="auto">
          <a:xfrm>
            <a:off x="182563" y="207963"/>
            <a:ext cx="8777287" cy="62928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0192" name="Text Box 16"/>
          <p:cNvSpPr txBox="1">
            <a:spLocks noChangeArrowheads="1"/>
          </p:cNvSpPr>
          <p:nvPr/>
        </p:nvSpPr>
        <p:spPr bwMode="auto">
          <a:xfrm>
            <a:off x="606425" y="1712913"/>
            <a:ext cx="83026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Pour une large variation de vitesse :</a:t>
            </a:r>
          </a:p>
          <a:p>
            <a:pPr eaLnBrk="1" hangingPunct="1">
              <a:spcBef>
                <a:spcPct val="0"/>
              </a:spcBef>
              <a:buClrTx/>
              <a:buSzTx/>
              <a:buFontTx/>
              <a:buNone/>
            </a:pPr>
            <a:r>
              <a:rPr lang="en-US" altLang="fr-FR" sz="1800">
                <a:latin typeface="Arial" panose="020B0604020202020204" pitchFamily="34" charset="0"/>
              </a:rPr>
              <a:t>De 0 à </a:t>
            </a: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n</a:t>
            </a:r>
            <a:r>
              <a:rPr lang="en-US" altLang="fr-FR" sz="1800">
                <a:latin typeface="Arial" panose="020B0604020202020204" pitchFamily="34" charset="0"/>
                <a:sym typeface="Symbol" panose="05050102010706020507" pitchFamily="18" charset="2"/>
              </a:rPr>
              <a:t>   variation de tension d’induit,    au delà de </a:t>
            </a:r>
            <a:r>
              <a:rPr lang="en-US" altLang="fr-FR" sz="1800" baseline="-25000">
                <a:latin typeface="Arial" panose="020B0604020202020204" pitchFamily="34" charset="0"/>
                <a:sym typeface="Symbol" panose="05050102010706020507" pitchFamily="18" charset="2"/>
              </a:rPr>
              <a:t>n</a:t>
            </a:r>
            <a:r>
              <a:rPr lang="en-US" altLang="fr-FR" sz="1800">
                <a:latin typeface="Arial" panose="020B0604020202020204" pitchFamily="34" charset="0"/>
                <a:sym typeface="Symbol" panose="05050102010706020507" pitchFamily="18" charset="2"/>
              </a:rPr>
              <a:t>  diminution du flux</a:t>
            </a:r>
            <a:endParaRPr lang="en-US" altLang="fr-FR" sz="1800">
              <a:latin typeface="Arial" panose="020B0604020202020204" pitchFamily="34" charset="0"/>
            </a:endParaRPr>
          </a:p>
        </p:txBody>
      </p:sp>
      <p:sp>
        <p:nvSpPr>
          <p:cNvPr id="50193" name="Text Box 17"/>
          <p:cNvSpPr txBox="1">
            <a:spLocks noChangeArrowheads="1"/>
          </p:cNvSpPr>
          <p:nvPr/>
        </p:nvSpPr>
        <p:spPr bwMode="auto">
          <a:xfrm>
            <a:off x="644525" y="823913"/>
            <a:ext cx="7953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Contrôle de tension d’induit : conserve la capacité maximale du couple </a:t>
            </a:r>
            <a:endParaRPr lang="en-US" altLang="fr-FR" sz="1800">
              <a:latin typeface="Arial" panose="020B0604020202020204" pitchFamily="34" charset="0"/>
            </a:endParaRPr>
          </a:p>
        </p:txBody>
      </p:sp>
      <p:sp>
        <p:nvSpPr>
          <p:cNvPr id="50194" name="Text Box 18"/>
          <p:cNvSpPr txBox="1">
            <a:spLocks noChangeArrowheads="1"/>
          </p:cNvSpPr>
          <p:nvPr/>
        </p:nvSpPr>
        <p:spPr bwMode="auto">
          <a:xfrm>
            <a:off x="644525" y="1268413"/>
            <a:ext cx="79533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Contrôle du flux (càd réduire le flux): réduire la capacité maximale du couple</a:t>
            </a:r>
            <a:endParaRPr lang="en-US" altLang="fr-FR" sz="1800">
              <a:latin typeface="Arial" panose="020B0604020202020204" pitchFamily="34" charset="0"/>
            </a:endParaRPr>
          </a:p>
        </p:txBody>
      </p:sp>
      <p:grpSp>
        <p:nvGrpSpPr>
          <p:cNvPr id="2" name="Group 48"/>
          <p:cNvGrpSpPr>
            <a:grpSpLocks/>
          </p:cNvGrpSpPr>
          <p:nvPr/>
        </p:nvGrpSpPr>
        <p:grpSpPr bwMode="auto">
          <a:xfrm>
            <a:off x="1504950" y="2846388"/>
            <a:ext cx="623888" cy="3163887"/>
            <a:chOff x="948" y="1943"/>
            <a:chExt cx="393" cy="1993"/>
          </a:xfrm>
        </p:grpSpPr>
        <p:sp>
          <p:nvSpPr>
            <p:cNvPr id="65575" name="Line 19"/>
            <p:cNvSpPr>
              <a:spLocks noChangeAspect="1" noChangeShapeType="1"/>
            </p:cNvSpPr>
            <p:nvPr/>
          </p:nvSpPr>
          <p:spPr bwMode="auto">
            <a:xfrm>
              <a:off x="1341" y="1976"/>
              <a:ext cx="0" cy="1960"/>
            </a:xfrm>
            <a:prstGeom prst="line">
              <a:avLst/>
            </a:prstGeom>
            <a:noFill/>
            <a:ln w="9525">
              <a:solidFill>
                <a:schemeClr val="tx1"/>
              </a:solidFill>
              <a:round/>
              <a:headEnd type="triangle" w="lg" len="med"/>
              <a:tailEnd/>
            </a:ln>
            <a:extLst>
              <a:ext uri="{909E8E84-426E-40DD-AFC4-6F175D3DCCD1}">
                <a14:hiddenFill xmlns:a14="http://schemas.microsoft.com/office/drawing/2010/main">
                  <a:noFill/>
                </a14:hiddenFill>
              </a:ext>
            </a:extLst>
          </p:spPr>
          <p:txBody>
            <a:bodyPr/>
            <a:lstStyle/>
            <a:p>
              <a:endParaRPr lang="fr-FR"/>
            </a:p>
          </p:txBody>
        </p:sp>
        <p:sp>
          <p:nvSpPr>
            <p:cNvPr id="65576" name="Text Box 21"/>
            <p:cNvSpPr txBox="1">
              <a:spLocks noChangeAspect="1" noChangeArrowheads="1"/>
            </p:cNvSpPr>
            <p:nvPr/>
          </p:nvSpPr>
          <p:spPr bwMode="auto">
            <a:xfrm>
              <a:off x="948" y="1943"/>
              <a:ext cx="38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C</a:t>
              </a:r>
              <a:r>
                <a:rPr lang="en-US" altLang="fr-FR" sz="1800" baseline="-25000">
                  <a:latin typeface="Arial" panose="020B0604020202020204" pitchFamily="34" charset="0"/>
                </a:rPr>
                <a:t>e</a:t>
              </a:r>
              <a:endParaRPr lang="en-US" altLang="fr-FR" sz="1800">
                <a:latin typeface="Arial" panose="020B0604020202020204" pitchFamily="34" charset="0"/>
              </a:endParaRPr>
            </a:p>
          </p:txBody>
        </p:sp>
      </p:grpSp>
      <p:grpSp>
        <p:nvGrpSpPr>
          <p:cNvPr id="3" name="Group 49"/>
          <p:cNvGrpSpPr>
            <a:grpSpLocks/>
          </p:cNvGrpSpPr>
          <p:nvPr/>
        </p:nvGrpSpPr>
        <p:grpSpPr bwMode="auto">
          <a:xfrm>
            <a:off x="2128838" y="5826125"/>
            <a:ext cx="5564187" cy="366713"/>
            <a:chOff x="1341" y="3820"/>
            <a:chExt cx="3505" cy="231"/>
          </a:xfrm>
        </p:grpSpPr>
        <p:sp>
          <p:nvSpPr>
            <p:cNvPr id="65573" name="Line 20"/>
            <p:cNvSpPr>
              <a:spLocks noChangeAspect="1" noChangeShapeType="1"/>
            </p:cNvSpPr>
            <p:nvPr/>
          </p:nvSpPr>
          <p:spPr bwMode="auto">
            <a:xfrm>
              <a:off x="1341" y="3936"/>
              <a:ext cx="3248"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65574" name="Text Box 22"/>
            <p:cNvSpPr txBox="1">
              <a:spLocks noChangeAspect="1" noChangeArrowheads="1"/>
            </p:cNvSpPr>
            <p:nvPr/>
          </p:nvSpPr>
          <p:spPr bwMode="auto">
            <a:xfrm>
              <a:off x="4589" y="3820"/>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grpSp>
      <p:grpSp>
        <p:nvGrpSpPr>
          <p:cNvPr id="4" name="Group 57"/>
          <p:cNvGrpSpPr>
            <a:grpSpLocks/>
          </p:cNvGrpSpPr>
          <p:nvPr/>
        </p:nvGrpSpPr>
        <p:grpSpPr bwMode="auto">
          <a:xfrm>
            <a:off x="2141538" y="3648075"/>
            <a:ext cx="4864100" cy="1231900"/>
            <a:chOff x="1349" y="2448"/>
            <a:chExt cx="3064" cy="776"/>
          </a:xfrm>
        </p:grpSpPr>
        <p:sp>
          <p:nvSpPr>
            <p:cNvPr id="65571" name="Line 30"/>
            <p:cNvSpPr>
              <a:spLocks noChangeAspect="1" noChangeShapeType="1"/>
            </p:cNvSpPr>
            <p:nvPr/>
          </p:nvSpPr>
          <p:spPr bwMode="auto">
            <a:xfrm>
              <a:off x="1349" y="2456"/>
              <a:ext cx="1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72" name="Freeform 31"/>
            <p:cNvSpPr>
              <a:spLocks noChangeAspect="1"/>
            </p:cNvSpPr>
            <p:nvPr/>
          </p:nvSpPr>
          <p:spPr bwMode="auto">
            <a:xfrm>
              <a:off x="2805" y="2448"/>
              <a:ext cx="1608" cy="776"/>
            </a:xfrm>
            <a:custGeom>
              <a:avLst/>
              <a:gdLst>
                <a:gd name="T0" fmla="*/ 0 w 1608"/>
                <a:gd name="T1" fmla="*/ 0 h 776"/>
                <a:gd name="T2" fmla="*/ 424 w 1608"/>
                <a:gd name="T3" fmla="*/ 352 h 776"/>
                <a:gd name="T4" fmla="*/ 896 w 1608"/>
                <a:gd name="T5" fmla="*/ 640 h 776"/>
                <a:gd name="T6" fmla="*/ 1608 w 1608"/>
                <a:gd name="T7" fmla="*/ 776 h 776"/>
                <a:gd name="T8" fmla="*/ 0 60000 65536"/>
                <a:gd name="T9" fmla="*/ 0 60000 65536"/>
                <a:gd name="T10" fmla="*/ 0 60000 65536"/>
                <a:gd name="T11" fmla="*/ 0 60000 65536"/>
                <a:gd name="T12" fmla="*/ 0 w 1608"/>
                <a:gd name="T13" fmla="*/ 0 h 776"/>
                <a:gd name="T14" fmla="*/ 1608 w 1608"/>
                <a:gd name="T15" fmla="*/ 776 h 776"/>
              </a:gdLst>
              <a:ahLst/>
              <a:cxnLst>
                <a:cxn ang="T8">
                  <a:pos x="T0" y="T1"/>
                </a:cxn>
                <a:cxn ang="T9">
                  <a:pos x="T2" y="T3"/>
                </a:cxn>
                <a:cxn ang="T10">
                  <a:pos x="T4" y="T5"/>
                </a:cxn>
                <a:cxn ang="T11">
                  <a:pos x="T6" y="T7"/>
                </a:cxn>
              </a:cxnLst>
              <a:rect l="T12" t="T13" r="T14" b="T15"/>
              <a:pathLst>
                <a:path w="1608" h="776">
                  <a:moveTo>
                    <a:pt x="0" y="0"/>
                  </a:moveTo>
                  <a:cubicBezTo>
                    <a:pt x="137" y="122"/>
                    <a:pt x="275" y="245"/>
                    <a:pt x="424" y="352"/>
                  </a:cubicBezTo>
                  <a:cubicBezTo>
                    <a:pt x="573" y="459"/>
                    <a:pt x="699" y="569"/>
                    <a:pt x="896" y="640"/>
                  </a:cubicBezTo>
                  <a:cubicBezTo>
                    <a:pt x="1093" y="711"/>
                    <a:pt x="1350" y="743"/>
                    <a:pt x="1608" y="776"/>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5" name="Group 54"/>
          <p:cNvGrpSpPr>
            <a:grpSpLocks/>
          </p:cNvGrpSpPr>
          <p:nvPr/>
        </p:nvGrpSpPr>
        <p:grpSpPr bwMode="auto">
          <a:xfrm>
            <a:off x="5227638" y="3468688"/>
            <a:ext cx="3109912" cy="801687"/>
            <a:chOff x="3301" y="2335"/>
            <a:chExt cx="1959" cy="505"/>
          </a:xfrm>
        </p:grpSpPr>
        <p:sp>
          <p:nvSpPr>
            <p:cNvPr id="65569" name="Freeform 32"/>
            <p:cNvSpPr>
              <a:spLocks noChangeAspect="1"/>
            </p:cNvSpPr>
            <p:nvPr/>
          </p:nvSpPr>
          <p:spPr bwMode="auto">
            <a:xfrm>
              <a:off x="3301" y="2464"/>
              <a:ext cx="560" cy="376"/>
            </a:xfrm>
            <a:custGeom>
              <a:avLst/>
              <a:gdLst>
                <a:gd name="T0" fmla="*/ 560 w 560"/>
                <a:gd name="T1" fmla="*/ 0 h 376"/>
                <a:gd name="T2" fmla="*/ 408 w 560"/>
                <a:gd name="T3" fmla="*/ 64 h 376"/>
                <a:gd name="T4" fmla="*/ 248 w 560"/>
                <a:gd name="T5" fmla="*/ 136 h 376"/>
                <a:gd name="T6" fmla="*/ 344 w 560"/>
                <a:gd name="T7" fmla="*/ 232 h 376"/>
                <a:gd name="T8" fmla="*/ 0 w 560"/>
                <a:gd name="T9" fmla="*/ 376 h 376"/>
                <a:gd name="T10" fmla="*/ 0 60000 65536"/>
                <a:gd name="T11" fmla="*/ 0 60000 65536"/>
                <a:gd name="T12" fmla="*/ 0 60000 65536"/>
                <a:gd name="T13" fmla="*/ 0 60000 65536"/>
                <a:gd name="T14" fmla="*/ 0 60000 65536"/>
                <a:gd name="T15" fmla="*/ 0 w 560"/>
                <a:gd name="T16" fmla="*/ 0 h 376"/>
                <a:gd name="T17" fmla="*/ 560 w 560"/>
                <a:gd name="T18" fmla="*/ 376 h 376"/>
              </a:gdLst>
              <a:ahLst/>
              <a:cxnLst>
                <a:cxn ang="T10">
                  <a:pos x="T0" y="T1"/>
                </a:cxn>
                <a:cxn ang="T11">
                  <a:pos x="T2" y="T3"/>
                </a:cxn>
                <a:cxn ang="T12">
                  <a:pos x="T4" y="T5"/>
                </a:cxn>
                <a:cxn ang="T13">
                  <a:pos x="T6" y="T7"/>
                </a:cxn>
                <a:cxn ang="T14">
                  <a:pos x="T8" y="T9"/>
                </a:cxn>
              </a:cxnLst>
              <a:rect l="T15" t="T16" r="T17" b="T18"/>
              <a:pathLst>
                <a:path w="560" h="376">
                  <a:moveTo>
                    <a:pt x="560" y="0"/>
                  </a:moveTo>
                  <a:cubicBezTo>
                    <a:pt x="510" y="20"/>
                    <a:pt x="460" y="41"/>
                    <a:pt x="408" y="64"/>
                  </a:cubicBezTo>
                  <a:cubicBezTo>
                    <a:pt x="356" y="87"/>
                    <a:pt x="259" y="108"/>
                    <a:pt x="248" y="136"/>
                  </a:cubicBezTo>
                  <a:cubicBezTo>
                    <a:pt x="237" y="164"/>
                    <a:pt x="385" y="192"/>
                    <a:pt x="344" y="232"/>
                  </a:cubicBezTo>
                  <a:cubicBezTo>
                    <a:pt x="303" y="272"/>
                    <a:pt x="151" y="324"/>
                    <a:pt x="0" y="376"/>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5570" name="Text Box 33"/>
            <p:cNvSpPr txBox="1">
              <a:spLocks noChangeAspect="1" noChangeArrowheads="1"/>
            </p:cNvSpPr>
            <p:nvPr/>
          </p:nvSpPr>
          <p:spPr bwMode="auto">
            <a:xfrm>
              <a:off x="3867" y="2335"/>
              <a:ext cx="139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Capacité maximale </a:t>
              </a:r>
            </a:p>
            <a:p>
              <a:pPr eaLnBrk="1" hangingPunct="1">
                <a:spcBef>
                  <a:spcPct val="0"/>
                </a:spcBef>
                <a:buClrTx/>
                <a:buSzTx/>
                <a:buFontTx/>
                <a:buNone/>
              </a:pPr>
              <a:r>
                <a:rPr lang="en-US" altLang="fr-FR" sz="1800">
                  <a:latin typeface="Arial" panose="020B0604020202020204" pitchFamily="34" charset="0"/>
                </a:rPr>
                <a:t>du couple diminuée</a:t>
              </a:r>
            </a:p>
          </p:txBody>
        </p:sp>
      </p:grpSp>
      <p:grpSp>
        <p:nvGrpSpPr>
          <p:cNvPr id="6" name="Group 52"/>
          <p:cNvGrpSpPr>
            <a:grpSpLocks/>
          </p:cNvGrpSpPr>
          <p:nvPr/>
        </p:nvGrpSpPr>
        <p:grpSpPr bwMode="auto">
          <a:xfrm>
            <a:off x="4795838" y="3673475"/>
            <a:ext cx="2247900" cy="2363788"/>
            <a:chOff x="3021" y="2464"/>
            <a:chExt cx="1416" cy="1489"/>
          </a:xfrm>
        </p:grpSpPr>
        <p:sp>
          <p:nvSpPr>
            <p:cNvPr id="65566" name="Line 27"/>
            <p:cNvSpPr>
              <a:spLocks noChangeAspect="1" noChangeShapeType="1"/>
            </p:cNvSpPr>
            <p:nvPr/>
          </p:nvSpPr>
          <p:spPr bwMode="auto">
            <a:xfrm>
              <a:off x="3021" y="2464"/>
              <a:ext cx="272" cy="1477"/>
            </a:xfrm>
            <a:prstGeom prst="line">
              <a:avLst/>
            </a:prstGeom>
            <a:noFill/>
            <a:ln w="28575">
              <a:solidFill>
                <a:srgbClr val="1037D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67" name="Line 28"/>
            <p:cNvSpPr>
              <a:spLocks noChangeAspect="1" noChangeShapeType="1"/>
            </p:cNvSpPr>
            <p:nvPr/>
          </p:nvSpPr>
          <p:spPr bwMode="auto">
            <a:xfrm>
              <a:off x="3423" y="2739"/>
              <a:ext cx="372" cy="1214"/>
            </a:xfrm>
            <a:prstGeom prst="line">
              <a:avLst/>
            </a:prstGeom>
            <a:noFill/>
            <a:ln w="28575">
              <a:solidFill>
                <a:srgbClr val="1037D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68" name="Line 29"/>
            <p:cNvSpPr>
              <a:spLocks noChangeAspect="1" noChangeShapeType="1"/>
            </p:cNvSpPr>
            <p:nvPr/>
          </p:nvSpPr>
          <p:spPr bwMode="auto">
            <a:xfrm>
              <a:off x="3793" y="2840"/>
              <a:ext cx="644" cy="1095"/>
            </a:xfrm>
            <a:prstGeom prst="line">
              <a:avLst/>
            </a:prstGeom>
            <a:noFill/>
            <a:ln w="28575">
              <a:solidFill>
                <a:srgbClr val="1037DC"/>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7" name="Group 51"/>
          <p:cNvGrpSpPr>
            <a:grpSpLocks/>
          </p:cNvGrpSpPr>
          <p:nvPr/>
        </p:nvGrpSpPr>
        <p:grpSpPr bwMode="auto">
          <a:xfrm>
            <a:off x="2524125" y="3213100"/>
            <a:ext cx="1928813" cy="2835275"/>
            <a:chOff x="1590" y="2174"/>
            <a:chExt cx="1215" cy="1786"/>
          </a:xfrm>
        </p:grpSpPr>
        <p:sp>
          <p:nvSpPr>
            <p:cNvPr id="65560" name="Line 23"/>
            <p:cNvSpPr>
              <a:spLocks noChangeAspect="1" noChangeShapeType="1"/>
            </p:cNvSpPr>
            <p:nvPr/>
          </p:nvSpPr>
          <p:spPr bwMode="auto">
            <a:xfrm>
              <a:off x="1590"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61" name="Line 24"/>
            <p:cNvSpPr>
              <a:spLocks noChangeAspect="1" noChangeShapeType="1"/>
            </p:cNvSpPr>
            <p:nvPr/>
          </p:nvSpPr>
          <p:spPr bwMode="auto">
            <a:xfrm>
              <a:off x="2070"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62" name="Line 25"/>
            <p:cNvSpPr>
              <a:spLocks noChangeAspect="1" noChangeShapeType="1"/>
            </p:cNvSpPr>
            <p:nvPr/>
          </p:nvSpPr>
          <p:spPr bwMode="auto">
            <a:xfrm>
              <a:off x="2286"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63" name="Line 26"/>
            <p:cNvSpPr>
              <a:spLocks noChangeAspect="1" noChangeShapeType="1"/>
            </p:cNvSpPr>
            <p:nvPr/>
          </p:nvSpPr>
          <p:spPr bwMode="auto">
            <a:xfrm>
              <a:off x="2726"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64" name="Line 34"/>
            <p:cNvSpPr>
              <a:spLocks noChangeAspect="1" noChangeShapeType="1"/>
            </p:cNvSpPr>
            <p:nvPr/>
          </p:nvSpPr>
          <p:spPr bwMode="auto">
            <a:xfrm>
              <a:off x="1830"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65" name="Line 35"/>
            <p:cNvSpPr>
              <a:spLocks noChangeAspect="1" noChangeShapeType="1"/>
            </p:cNvSpPr>
            <p:nvPr/>
          </p:nvSpPr>
          <p:spPr bwMode="auto">
            <a:xfrm>
              <a:off x="2509" y="2174"/>
              <a:ext cx="80" cy="1786"/>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8" name="Group 55"/>
          <p:cNvGrpSpPr>
            <a:grpSpLocks/>
          </p:cNvGrpSpPr>
          <p:nvPr/>
        </p:nvGrpSpPr>
        <p:grpSpPr bwMode="auto">
          <a:xfrm>
            <a:off x="5434013" y="2584450"/>
            <a:ext cx="3475037" cy="552450"/>
            <a:chOff x="3583" y="1630"/>
            <a:chExt cx="2189" cy="348"/>
          </a:xfrm>
        </p:grpSpPr>
        <p:sp>
          <p:nvSpPr>
            <p:cNvPr id="65556" name="Line 36"/>
            <p:cNvSpPr>
              <a:spLocks noChangeAspect="1" noChangeShapeType="1"/>
            </p:cNvSpPr>
            <p:nvPr/>
          </p:nvSpPr>
          <p:spPr bwMode="auto">
            <a:xfrm>
              <a:off x="3583" y="1716"/>
              <a:ext cx="496"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57" name="Text Box 37"/>
            <p:cNvSpPr txBox="1">
              <a:spLocks noChangeAspect="1" noChangeArrowheads="1"/>
            </p:cNvSpPr>
            <p:nvPr/>
          </p:nvSpPr>
          <p:spPr bwMode="auto">
            <a:xfrm>
              <a:off x="4170" y="1630"/>
              <a:ext cx="1602"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panose="020B0604020202020204" pitchFamily="34" charset="0"/>
                </a:rPr>
                <a:t>Contrôle de la tension d’induit</a:t>
              </a:r>
            </a:p>
          </p:txBody>
        </p:sp>
        <p:sp>
          <p:nvSpPr>
            <p:cNvPr id="65558" name="Line 38"/>
            <p:cNvSpPr>
              <a:spLocks noChangeAspect="1" noChangeShapeType="1"/>
            </p:cNvSpPr>
            <p:nvPr/>
          </p:nvSpPr>
          <p:spPr bwMode="auto">
            <a:xfrm>
              <a:off x="3583" y="1900"/>
              <a:ext cx="496" cy="0"/>
            </a:xfrm>
            <a:prstGeom prst="line">
              <a:avLst/>
            </a:prstGeom>
            <a:noFill/>
            <a:ln w="28575">
              <a:solidFill>
                <a:srgbClr val="1037D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5559" name="Text Box 39"/>
            <p:cNvSpPr txBox="1">
              <a:spLocks noChangeAspect="1" noChangeArrowheads="1"/>
            </p:cNvSpPr>
            <p:nvPr/>
          </p:nvSpPr>
          <p:spPr bwMode="auto">
            <a:xfrm>
              <a:off x="4170" y="1784"/>
              <a:ext cx="931"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400">
                  <a:latin typeface="Arial" panose="020B0604020202020204" pitchFamily="34" charset="0"/>
                </a:rPr>
                <a:t>Contrôle du flux</a:t>
              </a:r>
            </a:p>
          </p:txBody>
        </p:sp>
      </p:grpSp>
      <p:grpSp>
        <p:nvGrpSpPr>
          <p:cNvPr id="9" name="Group 50"/>
          <p:cNvGrpSpPr>
            <a:grpSpLocks/>
          </p:cNvGrpSpPr>
          <p:nvPr/>
        </p:nvGrpSpPr>
        <p:grpSpPr bwMode="auto">
          <a:xfrm>
            <a:off x="4248150" y="2486025"/>
            <a:ext cx="801688" cy="3800475"/>
            <a:chOff x="2676" y="1716"/>
            <a:chExt cx="505" cy="2394"/>
          </a:xfrm>
        </p:grpSpPr>
        <p:sp>
          <p:nvSpPr>
            <p:cNvPr id="65554" name="Text Box 41"/>
            <p:cNvSpPr txBox="1">
              <a:spLocks noChangeAspect="1" noChangeArrowheads="1"/>
            </p:cNvSpPr>
            <p:nvPr/>
          </p:nvSpPr>
          <p:spPr bwMode="auto">
            <a:xfrm>
              <a:off x="2676" y="3879"/>
              <a:ext cx="50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n</a:t>
              </a:r>
              <a:endParaRPr lang="en-US" altLang="fr-FR" sz="1800">
                <a:latin typeface="Arial" panose="020B0604020202020204" pitchFamily="34" charset="0"/>
                <a:sym typeface="Symbol" panose="05050102010706020507" pitchFamily="18" charset="2"/>
              </a:endParaRPr>
            </a:p>
          </p:txBody>
        </p:sp>
        <p:sp>
          <p:nvSpPr>
            <p:cNvPr id="65555" name="Line 46"/>
            <p:cNvSpPr>
              <a:spLocks noChangeShapeType="1"/>
            </p:cNvSpPr>
            <p:nvPr/>
          </p:nvSpPr>
          <p:spPr bwMode="auto">
            <a:xfrm>
              <a:off x="2805" y="1716"/>
              <a:ext cx="0" cy="2219"/>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88081" name="Rectangle 40"/>
          <p:cNvSpPr>
            <a:spLocks noChangeArrowheads="1"/>
          </p:cNvSpPr>
          <p:nvPr/>
        </p:nvSpPr>
        <p:spPr bwMode="auto">
          <a:xfrm>
            <a:off x="5427663" y="4879975"/>
            <a:ext cx="118427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i="1">
                <a:latin typeface="Arial" panose="020B0604020202020204" pitchFamily="34" charset="0"/>
              </a:rPr>
              <a:t>défluxage</a:t>
            </a:r>
            <a:endParaRPr lang="fr-FR" altLang="fr-FR" sz="1800">
              <a:latin typeface="Arial" panose="020B0604020202020204" pitchFamily="34" charset="0"/>
            </a:endParaRPr>
          </a:p>
        </p:txBody>
      </p:sp>
      <p:sp>
        <p:nvSpPr>
          <p:cNvPr id="65553" name="ZoneTexte 40"/>
          <p:cNvSpPr txBox="1">
            <a:spLocks noChangeArrowheads="1"/>
          </p:cNvSpPr>
          <p:nvPr/>
        </p:nvSpPr>
        <p:spPr bwMode="auto">
          <a:xfrm>
            <a:off x="295275" y="295275"/>
            <a:ext cx="427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193"/>
                                        </p:tgtEl>
                                        <p:attrNameLst>
                                          <p:attrName>style.visibility</p:attrName>
                                        </p:attrNameLst>
                                      </p:cBhvr>
                                      <p:to>
                                        <p:strVal val="visible"/>
                                      </p:to>
                                    </p:set>
                                    <p:animEffect transition="in" filter="wipe(left)">
                                      <p:cBhvr>
                                        <p:cTn id="7" dur="500"/>
                                        <p:tgtEl>
                                          <p:spTgt spid="501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194"/>
                                        </p:tgtEl>
                                        <p:attrNameLst>
                                          <p:attrName>style.visibility</p:attrName>
                                        </p:attrNameLst>
                                      </p:cBhvr>
                                      <p:to>
                                        <p:strVal val="visible"/>
                                      </p:to>
                                    </p:set>
                                    <p:animEffect transition="in" filter="wipe(left)">
                                      <p:cBhvr>
                                        <p:cTn id="12" dur="500"/>
                                        <p:tgtEl>
                                          <p:spTgt spid="501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192"/>
                                        </p:tgtEl>
                                        <p:attrNameLst>
                                          <p:attrName>style.visibility</p:attrName>
                                        </p:attrNameLst>
                                      </p:cBhvr>
                                      <p:to>
                                        <p:strVal val="visible"/>
                                      </p:to>
                                    </p:set>
                                    <p:animEffect transition="in" filter="wipe(left)">
                                      <p:cBhvr>
                                        <p:cTn id="17" dur="500"/>
                                        <p:tgtEl>
                                          <p:spTgt spid="501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down)">
                                      <p:cBhvr>
                                        <p:cTn id="22" dur="500"/>
                                        <p:tgtEl>
                                          <p:spTgt spid="2"/>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left)">
                                      <p:cBhvr>
                                        <p:cTn id="26" dur="500"/>
                                        <p:tgtEl>
                                          <p:spTgt spid="3"/>
                                        </p:tgtEl>
                                      </p:cBhvr>
                                    </p:animEffect>
                                  </p:childTnLst>
                                </p:cTn>
                              </p:par>
                            </p:childTnLst>
                          </p:cTn>
                        </p:par>
                        <p:par>
                          <p:cTn id="27" fill="hold" nodeType="afterGroup">
                            <p:stCondLst>
                              <p:cond delay="1000"/>
                            </p:stCondLst>
                            <p:childTnLst>
                              <p:par>
                                <p:cTn id="28" presetID="22" presetClass="entr" presetSubtype="4"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wipe(down)">
                                      <p:cBhvr>
                                        <p:cTn id="35" dur="500"/>
                                        <p:tgtEl>
                                          <p:spTgt spid="7"/>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4"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down)">
                                      <p:cBhvr>
                                        <p:cTn id="40" dur="500"/>
                                        <p:tgtEl>
                                          <p:spTgt spid="6"/>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88081"/>
                                        </p:tgtEl>
                                        <p:attrNameLst>
                                          <p:attrName>style.visibility</p:attrName>
                                        </p:attrNameLst>
                                      </p:cBhvr>
                                      <p:to>
                                        <p:strVal val="visible"/>
                                      </p:to>
                                    </p:set>
                                    <p:animEffect transition="in" filter="checkerboard(across)">
                                      <p:cBhvr>
                                        <p:cTn id="45" dur="500"/>
                                        <p:tgtEl>
                                          <p:spTgt spid="8808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par>
                          <p:cTn id="51" fill="hold" nodeType="afterGroup">
                            <p:stCondLst>
                              <p:cond delay="500"/>
                            </p:stCondLst>
                            <p:childTnLst>
                              <p:par>
                                <p:cTn id="52" presetID="22" presetClass="entr" presetSubtype="2" fill="hold" nodeType="after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wipe(right)">
                                      <p:cBhvr>
                                        <p:cTn id="54" dur="500"/>
                                        <p:tgtEl>
                                          <p:spTgt spid="5"/>
                                        </p:tgtEl>
                                      </p:cBhvr>
                                    </p:animEffect>
                                  </p:childTnLst>
                                </p:cTn>
                              </p:par>
                            </p:childTnLst>
                          </p:cTn>
                        </p:par>
                        <p:par>
                          <p:cTn id="55" fill="hold" nodeType="afterGroup">
                            <p:stCondLst>
                              <p:cond delay="1000"/>
                            </p:stCondLst>
                            <p:childTnLst>
                              <p:par>
                                <p:cTn id="56" presetID="10" presetClass="entr" presetSubtype="0" fill="hold" nodeType="afterEffect">
                                  <p:stCondLst>
                                    <p:cond delay="0"/>
                                  </p:stCondLst>
                                  <p:childTnLst>
                                    <p:set>
                                      <p:cBhvr>
                                        <p:cTn id="57" dur="1" fill="hold">
                                          <p:stCondLst>
                                            <p:cond delay="0"/>
                                          </p:stCondLst>
                                        </p:cTn>
                                        <p:tgtEl>
                                          <p:spTgt spid="8"/>
                                        </p:tgtEl>
                                        <p:attrNameLst>
                                          <p:attrName>style.visibility</p:attrName>
                                        </p:attrNameLst>
                                      </p:cBhvr>
                                      <p:to>
                                        <p:strVal val="visible"/>
                                      </p:to>
                                    </p:set>
                                    <p:animEffect transition="in" filter="fade">
                                      <p:cBhvr>
                                        <p:cTn id="5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92" grpId="0"/>
      <p:bldP spid="50193" grpId="0"/>
      <p:bldP spid="50194" grpId="0"/>
      <p:bldP spid="88081"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34" name="Espace réservé du pied de page 33"/>
          <p:cNvSpPr>
            <a:spLocks noGrp="1"/>
          </p:cNvSpPr>
          <p:nvPr>
            <p:ph type="ftr" sz="quarter" idx="11"/>
          </p:nvPr>
        </p:nvSpPr>
        <p:spPr/>
        <p:txBody>
          <a:bodyPr/>
          <a:lstStyle/>
          <a:p>
            <a:pPr>
              <a:defRPr/>
            </a:pPr>
            <a:r>
              <a:rPr lang="fr-FR"/>
              <a:t>Commande des machines   3.MCC     Ali NEJMI</a:t>
            </a:r>
            <a:endParaRPr lang="en-US" dirty="0"/>
          </a:p>
        </p:txBody>
      </p:sp>
      <p:sp>
        <p:nvSpPr>
          <p:cNvPr id="67587" name="Espace réservé du numéro de diapositive 3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08763B7-B896-449F-BB80-094BB18EBDF2}" type="slidenum">
              <a:rPr lang="en-US" altLang="fr-FR" sz="1000" smtClean="0">
                <a:solidFill>
                  <a:srgbClr val="292929"/>
                </a:solidFill>
                <a:latin typeface="Arial" panose="020B0604020202020204" pitchFamily="34" charset="0"/>
              </a:rPr>
              <a:pPr>
                <a:spcBef>
                  <a:spcPct val="0"/>
                </a:spcBef>
                <a:buClrTx/>
                <a:buSzTx/>
                <a:buFontTx/>
                <a:buNone/>
              </a:pPr>
              <a:t>38</a:t>
            </a:fld>
            <a:endParaRPr lang="en-US" altLang="fr-FR" sz="1000" smtClean="0">
              <a:solidFill>
                <a:srgbClr val="292929"/>
              </a:solidFill>
              <a:latin typeface="Arial" panose="020B0604020202020204" pitchFamily="34" charset="0"/>
            </a:endParaRPr>
          </a:p>
        </p:txBody>
      </p:sp>
      <p:sp>
        <p:nvSpPr>
          <p:cNvPr id="67588" name="Rectangle 3"/>
          <p:cNvSpPr>
            <a:spLocks noChangeArrowheads="1"/>
          </p:cNvSpPr>
          <p:nvPr/>
        </p:nvSpPr>
        <p:spPr bwMode="auto">
          <a:xfrm>
            <a:off x="182563" y="223838"/>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2" name="Group 42"/>
          <p:cNvGrpSpPr>
            <a:grpSpLocks/>
          </p:cNvGrpSpPr>
          <p:nvPr/>
        </p:nvGrpSpPr>
        <p:grpSpPr bwMode="auto">
          <a:xfrm>
            <a:off x="1533525" y="2724150"/>
            <a:ext cx="6816725" cy="3800475"/>
            <a:chOff x="966" y="1716"/>
            <a:chExt cx="4294" cy="2394"/>
          </a:xfrm>
        </p:grpSpPr>
        <p:grpSp>
          <p:nvGrpSpPr>
            <p:cNvPr id="67591" name="Group 7"/>
            <p:cNvGrpSpPr>
              <a:grpSpLocks/>
            </p:cNvGrpSpPr>
            <p:nvPr/>
          </p:nvGrpSpPr>
          <p:grpSpPr bwMode="auto">
            <a:xfrm>
              <a:off x="966" y="1943"/>
              <a:ext cx="375" cy="1993"/>
              <a:chOff x="966" y="1943"/>
              <a:chExt cx="375" cy="1993"/>
            </a:xfrm>
          </p:grpSpPr>
          <p:sp>
            <p:nvSpPr>
              <p:cNvPr id="67617" name="Line 8"/>
              <p:cNvSpPr>
                <a:spLocks noChangeAspect="1" noChangeShapeType="1"/>
              </p:cNvSpPr>
              <p:nvPr/>
            </p:nvSpPr>
            <p:spPr bwMode="auto">
              <a:xfrm>
                <a:off x="1341" y="1976"/>
                <a:ext cx="0" cy="1960"/>
              </a:xfrm>
              <a:prstGeom prst="line">
                <a:avLst/>
              </a:prstGeom>
              <a:noFill/>
              <a:ln w="9525">
                <a:solidFill>
                  <a:schemeClr val="tx1"/>
                </a:solidFill>
                <a:round/>
                <a:headEnd type="triangle" w="lg" len="med"/>
                <a:tailEnd/>
              </a:ln>
              <a:extLst>
                <a:ext uri="{909E8E84-426E-40DD-AFC4-6F175D3DCCD1}">
                  <a14:hiddenFill xmlns:a14="http://schemas.microsoft.com/office/drawing/2010/main">
                    <a:noFill/>
                  </a14:hiddenFill>
                </a:ext>
              </a:extLst>
            </p:spPr>
            <p:txBody>
              <a:bodyPr/>
              <a:lstStyle/>
              <a:p>
                <a:endParaRPr lang="fr-FR"/>
              </a:p>
            </p:txBody>
          </p:sp>
          <p:sp>
            <p:nvSpPr>
              <p:cNvPr id="67618" name="Text Box 9"/>
              <p:cNvSpPr txBox="1">
                <a:spLocks noChangeAspect="1" noChangeArrowheads="1"/>
              </p:cNvSpPr>
              <p:nvPr/>
            </p:nvSpPr>
            <p:spPr bwMode="auto">
              <a:xfrm>
                <a:off x="966" y="1943"/>
                <a:ext cx="36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C</a:t>
                </a:r>
                <a:r>
                  <a:rPr lang="en-US" altLang="fr-FR" sz="1800" baseline="-25000">
                    <a:latin typeface="Arial" panose="020B0604020202020204" pitchFamily="34" charset="0"/>
                  </a:rPr>
                  <a:t>e</a:t>
                </a:r>
                <a:endParaRPr lang="en-US" altLang="fr-FR" sz="1800">
                  <a:latin typeface="Arial" panose="020B0604020202020204" pitchFamily="34" charset="0"/>
                </a:endParaRPr>
              </a:p>
            </p:txBody>
          </p:sp>
        </p:grpSp>
        <p:grpSp>
          <p:nvGrpSpPr>
            <p:cNvPr id="67592" name="Group 10"/>
            <p:cNvGrpSpPr>
              <a:grpSpLocks/>
            </p:cNvGrpSpPr>
            <p:nvPr/>
          </p:nvGrpSpPr>
          <p:grpSpPr bwMode="auto">
            <a:xfrm>
              <a:off x="1341" y="3820"/>
              <a:ext cx="3505" cy="231"/>
              <a:chOff x="1341" y="3820"/>
              <a:chExt cx="3505" cy="231"/>
            </a:xfrm>
          </p:grpSpPr>
          <p:sp>
            <p:nvSpPr>
              <p:cNvPr id="67615" name="Line 11"/>
              <p:cNvSpPr>
                <a:spLocks noChangeAspect="1" noChangeShapeType="1"/>
              </p:cNvSpPr>
              <p:nvPr/>
            </p:nvSpPr>
            <p:spPr bwMode="auto">
              <a:xfrm>
                <a:off x="1341" y="3936"/>
                <a:ext cx="3248"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67616" name="Text Box 12"/>
              <p:cNvSpPr txBox="1">
                <a:spLocks noChangeAspect="1" noChangeArrowheads="1"/>
              </p:cNvSpPr>
              <p:nvPr/>
            </p:nvSpPr>
            <p:spPr bwMode="auto">
              <a:xfrm>
                <a:off x="4589" y="3820"/>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grpSp>
        <p:sp>
          <p:nvSpPr>
            <p:cNvPr id="67593" name="Line 14"/>
            <p:cNvSpPr>
              <a:spLocks noChangeAspect="1" noChangeShapeType="1"/>
            </p:cNvSpPr>
            <p:nvPr/>
          </p:nvSpPr>
          <p:spPr bwMode="auto">
            <a:xfrm>
              <a:off x="1349" y="2456"/>
              <a:ext cx="1456"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7594" name="Freeform 15"/>
            <p:cNvSpPr>
              <a:spLocks noChangeAspect="1"/>
            </p:cNvSpPr>
            <p:nvPr/>
          </p:nvSpPr>
          <p:spPr bwMode="auto">
            <a:xfrm>
              <a:off x="2805" y="2448"/>
              <a:ext cx="1608" cy="776"/>
            </a:xfrm>
            <a:custGeom>
              <a:avLst/>
              <a:gdLst>
                <a:gd name="T0" fmla="*/ 0 w 1608"/>
                <a:gd name="T1" fmla="*/ 0 h 776"/>
                <a:gd name="T2" fmla="*/ 424 w 1608"/>
                <a:gd name="T3" fmla="*/ 352 h 776"/>
                <a:gd name="T4" fmla="*/ 896 w 1608"/>
                <a:gd name="T5" fmla="*/ 640 h 776"/>
                <a:gd name="T6" fmla="*/ 1608 w 1608"/>
                <a:gd name="T7" fmla="*/ 776 h 776"/>
                <a:gd name="T8" fmla="*/ 0 60000 65536"/>
                <a:gd name="T9" fmla="*/ 0 60000 65536"/>
                <a:gd name="T10" fmla="*/ 0 60000 65536"/>
                <a:gd name="T11" fmla="*/ 0 60000 65536"/>
                <a:gd name="T12" fmla="*/ 0 w 1608"/>
                <a:gd name="T13" fmla="*/ 0 h 776"/>
                <a:gd name="T14" fmla="*/ 1608 w 1608"/>
                <a:gd name="T15" fmla="*/ 776 h 776"/>
              </a:gdLst>
              <a:ahLst/>
              <a:cxnLst>
                <a:cxn ang="T8">
                  <a:pos x="T0" y="T1"/>
                </a:cxn>
                <a:cxn ang="T9">
                  <a:pos x="T2" y="T3"/>
                </a:cxn>
                <a:cxn ang="T10">
                  <a:pos x="T4" y="T5"/>
                </a:cxn>
                <a:cxn ang="T11">
                  <a:pos x="T6" y="T7"/>
                </a:cxn>
              </a:cxnLst>
              <a:rect l="T12" t="T13" r="T14" b="T15"/>
              <a:pathLst>
                <a:path w="1608" h="776">
                  <a:moveTo>
                    <a:pt x="0" y="0"/>
                  </a:moveTo>
                  <a:cubicBezTo>
                    <a:pt x="137" y="122"/>
                    <a:pt x="275" y="245"/>
                    <a:pt x="424" y="352"/>
                  </a:cubicBezTo>
                  <a:cubicBezTo>
                    <a:pt x="573" y="459"/>
                    <a:pt x="699" y="569"/>
                    <a:pt x="896" y="640"/>
                  </a:cubicBezTo>
                  <a:cubicBezTo>
                    <a:pt x="1093" y="711"/>
                    <a:pt x="1350" y="743"/>
                    <a:pt x="1608" y="776"/>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nvGrpSpPr>
            <p:cNvPr id="67595" name="Group 16"/>
            <p:cNvGrpSpPr>
              <a:grpSpLocks/>
            </p:cNvGrpSpPr>
            <p:nvPr/>
          </p:nvGrpSpPr>
          <p:grpSpPr bwMode="auto">
            <a:xfrm>
              <a:off x="3301" y="2335"/>
              <a:ext cx="1959" cy="505"/>
              <a:chOff x="3301" y="2335"/>
              <a:chExt cx="1959" cy="505"/>
            </a:xfrm>
          </p:grpSpPr>
          <p:sp>
            <p:nvSpPr>
              <p:cNvPr id="67613" name="Freeform 17"/>
              <p:cNvSpPr>
                <a:spLocks noChangeAspect="1"/>
              </p:cNvSpPr>
              <p:nvPr/>
            </p:nvSpPr>
            <p:spPr bwMode="auto">
              <a:xfrm>
                <a:off x="3301" y="2464"/>
                <a:ext cx="560" cy="376"/>
              </a:xfrm>
              <a:custGeom>
                <a:avLst/>
                <a:gdLst>
                  <a:gd name="T0" fmla="*/ 560 w 560"/>
                  <a:gd name="T1" fmla="*/ 0 h 376"/>
                  <a:gd name="T2" fmla="*/ 408 w 560"/>
                  <a:gd name="T3" fmla="*/ 64 h 376"/>
                  <a:gd name="T4" fmla="*/ 248 w 560"/>
                  <a:gd name="T5" fmla="*/ 136 h 376"/>
                  <a:gd name="T6" fmla="*/ 344 w 560"/>
                  <a:gd name="T7" fmla="*/ 232 h 376"/>
                  <a:gd name="T8" fmla="*/ 0 w 560"/>
                  <a:gd name="T9" fmla="*/ 376 h 376"/>
                  <a:gd name="T10" fmla="*/ 0 60000 65536"/>
                  <a:gd name="T11" fmla="*/ 0 60000 65536"/>
                  <a:gd name="T12" fmla="*/ 0 60000 65536"/>
                  <a:gd name="T13" fmla="*/ 0 60000 65536"/>
                  <a:gd name="T14" fmla="*/ 0 60000 65536"/>
                  <a:gd name="T15" fmla="*/ 0 w 560"/>
                  <a:gd name="T16" fmla="*/ 0 h 376"/>
                  <a:gd name="T17" fmla="*/ 560 w 560"/>
                  <a:gd name="T18" fmla="*/ 376 h 376"/>
                </a:gdLst>
                <a:ahLst/>
                <a:cxnLst>
                  <a:cxn ang="T10">
                    <a:pos x="T0" y="T1"/>
                  </a:cxn>
                  <a:cxn ang="T11">
                    <a:pos x="T2" y="T3"/>
                  </a:cxn>
                  <a:cxn ang="T12">
                    <a:pos x="T4" y="T5"/>
                  </a:cxn>
                  <a:cxn ang="T13">
                    <a:pos x="T6" y="T7"/>
                  </a:cxn>
                  <a:cxn ang="T14">
                    <a:pos x="T8" y="T9"/>
                  </a:cxn>
                </a:cxnLst>
                <a:rect l="T15" t="T16" r="T17" b="T18"/>
                <a:pathLst>
                  <a:path w="560" h="376">
                    <a:moveTo>
                      <a:pt x="560" y="0"/>
                    </a:moveTo>
                    <a:cubicBezTo>
                      <a:pt x="510" y="20"/>
                      <a:pt x="460" y="41"/>
                      <a:pt x="408" y="64"/>
                    </a:cubicBezTo>
                    <a:cubicBezTo>
                      <a:pt x="356" y="87"/>
                      <a:pt x="259" y="108"/>
                      <a:pt x="248" y="136"/>
                    </a:cubicBezTo>
                    <a:cubicBezTo>
                      <a:pt x="237" y="164"/>
                      <a:pt x="385" y="192"/>
                      <a:pt x="344" y="232"/>
                    </a:cubicBezTo>
                    <a:cubicBezTo>
                      <a:pt x="303" y="272"/>
                      <a:pt x="151" y="324"/>
                      <a:pt x="0" y="376"/>
                    </a:cubicBezTo>
                  </a:path>
                </a:pathLst>
              </a:custGeom>
              <a:noFill/>
              <a:ln w="9525">
                <a:solidFill>
                  <a:schemeClr val="tx1"/>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67614" name="Text Box 18"/>
              <p:cNvSpPr txBox="1">
                <a:spLocks noChangeAspect="1" noChangeArrowheads="1"/>
              </p:cNvSpPr>
              <p:nvPr/>
            </p:nvSpPr>
            <p:spPr bwMode="auto">
              <a:xfrm>
                <a:off x="3867" y="2335"/>
                <a:ext cx="1393"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Capacité maximale </a:t>
                </a:r>
              </a:p>
              <a:p>
                <a:pPr eaLnBrk="1" hangingPunct="1">
                  <a:spcBef>
                    <a:spcPct val="0"/>
                  </a:spcBef>
                  <a:buClrTx/>
                  <a:buSzTx/>
                  <a:buFontTx/>
                  <a:buNone/>
                </a:pPr>
                <a:r>
                  <a:rPr lang="en-US" altLang="fr-FR" sz="1800">
                    <a:latin typeface="Arial" panose="020B0604020202020204" pitchFamily="34" charset="0"/>
                  </a:rPr>
                  <a:t>du couple diminuée</a:t>
                </a:r>
              </a:p>
            </p:txBody>
          </p:sp>
        </p:grpSp>
        <p:grpSp>
          <p:nvGrpSpPr>
            <p:cNvPr id="67596" name="Group 19"/>
            <p:cNvGrpSpPr>
              <a:grpSpLocks/>
            </p:cNvGrpSpPr>
            <p:nvPr/>
          </p:nvGrpSpPr>
          <p:grpSpPr bwMode="auto">
            <a:xfrm>
              <a:off x="3021" y="2464"/>
              <a:ext cx="1416" cy="1489"/>
              <a:chOff x="3021" y="2464"/>
              <a:chExt cx="1416" cy="1489"/>
            </a:xfrm>
          </p:grpSpPr>
          <p:sp>
            <p:nvSpPr>
              <p:cNvPr id="67610" name="Line 20"/>
              <p:cNvSpPr>
                <a:spLocks noChangeAspect="1" noChangeShapeType="1"/>
              </p:cNvSpPr>
              <p:nvPr/>
            </p:nvSpPr>
            <p:spPr bwMode="auto">
              <a:xfrm>
                <a:off x="3021" y="2464"/>
                <a:ext cx="272" cy="1477"/>
              </a:xfrm>
              <a:prstGeom prst="line">
                <a:avLst/>
              </a:prstGeom>
              <a:noFill/>
              <a:ln w="28575">
                <a:solidFill>
                  <a:srgbClr val="1037D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7611" name="Line 21"/>
              <p:cNvSpPr>
                <a:spLocks noChangeAspect="1" noChangeShapeType="1"/>
              </p:cNvSpPr>
              <p:nvPr/>
            </p:nvSpPr>
            <p:spPr bwMode="auto">
              <a:xfrm>
                <a:off x="3423" y="2739"/>
                <a:ext cx="372" cy="1214"/>
              </a:xfrm>
              <a:prstGeom prst="line">
                <a:avLst/>
              </a:prstGeom>
              <a:noFill/>
              <a:ln w="28575">
                <a:solidFill>
                  <a:srgbClr val="1037DC"/>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7612" name="Line 22"/>
              <p:cNvSpPr>
                <a:spLocks noChangeAspect="1" noChangeShapeType="1"/>
              </p:cNvSpPr>
              <p:nvPr/>
            </p:nvSpPr>
            <p:spPr bwMode="auto">
              <a:xfrm>
                <a:off x="3793" y="2840"/>
                <a:ext cx="644" cy="1095"/>
              </a:xfrm>
              <a:prstGeom prst="line">
                <a:avLst/>
              </a:prstGeom>
              <a:noFill/>
              <a:ln w="28575">
                <a:solidFill>
                  <a:srgbClr val="1037DC"/>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67597" name="Group 23"/>
            <p:cNvGrpSpPr>
              <a:grpSpLocks/>
            </p:cNvGrpSpPr>
            <p:nvPr/>
          </p:nvGrpSpPr>
          <p:grpSpPr bwMode="auto">
            <a:xfrm>
              <a:off x="1590" y="2174"/>
              <a:ext cx="1215" cy="1786"/>
              <a:chOff x="1590" y="2174"/>
              <a:chExt cx="1215" cy="1786"/>
            </a:xfrm>
          </p:grpSpPr>
          <p:sp>
            <p:nvSpPr>
              <p:cNvPr id="67604" name="Line 24"/>
              <p:cNvSpPr>
                <a:spLocks noChangeAspect="1" noChangeShapeType="1"/>
              </p:cNvSpPr>
              <p:nvPr/>
            </p:nvSpPr>
            <p:spPr bwMode="auto">
              <a:xfrm>
                <a:off x="1590"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7605" name="Line 25"/>
              <p:cNvSpPr>
                <a:spLocks noChangeAspect="1" noChangeShapeType="1"/>
              </p:cNvSpPr>
              <p:nvPr/>
            </p:nvSpPr>
            <p:spPr bwMode="auto">
              <a:xfrm>
                <a:off x="2070"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7606" name="Line 26"/>
              <p:cNvSpPr>
                <a:spLocks noChangeAspect="1" noChangeShapeType="1"/>
              </p:cNvSpPr>
              <p:nvPr/>
            </p:nvSpPr>
            <p:spPr bwMode="auto">
              <a:xfrm>
                <a:off x="2286"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7607" name="Line 27"/>
              <p:cNvSpPr>
                <a:spLocks noChangeAspect="1" noChangeShapeType="1"/>
              </p:cNvSpPr>
              <p:nvPr/>
            </p:nvSpPr>
            <p:spPr bwMode="auto">
              <a:xfrm>
                <a:off x="2726"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7608" name="Line 28"/>
              <p:cNvSpPr>
                <a:spLocks noChangeAspect="1" noChangeShapeType="1"/>
              </p:cNvSpPr>
              <p:nvPr/>
            </p:nvSpPr>
            <p:spPr bwMode="auto">
              <a:xfrm>
                <a:off x="1830" y="2174"/>
                <a:ext cx="79" cy="176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7609" name="Line 29"/>
              <p:cNvSpPr>
                <a:spLocks noChangeAspect="1" noChangeShapeType="1"/>
              </p:cNvSpPr>
              <p:nvPr/>
            </p:nvSpPr>
            <p:spPr bwMode="auto">
              <a:xfrm>
                <a:off x="2509" y="2174"/>
                <a:ext cx="80" cy="1786"/>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67598" name="Group 35"/>
            <p:cNvGrpSpPr>
              <a:grpSpLocks/>
            </p:cNvGrpSpPr>
            <p:nvPr/>
          </p:nvGrpSpPr>
          <p:grpSpPr bwMode="auto">
            <a:xfrm>
              <a:off x="1497" y="1887"/>
              <a:ext cx="1527" cy="241"/>
              <a:chOff x="1497" y="1887"/>
              <a:chExt cx="1527" cy="241"/>
            </a:xfrm>
          </p:grpSpPr>
          <p:sp>
            <p:nvSpPr>
              <p:cNvPr id="67602" name="Text Box 36"/>
              <p:cNvSpPr txBox="1">
                <a:spLocks noChangeArrowheads="1"/>
              </p:cNvSpPr>
              <p:nvPr/>
            </p:nvSpPr>
            <p:spPr bwMode="auto">
              <a:xfrm>
                <a:off x="2868" y="1897"/>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i="1">
                    <a:latin typeface="Arial" panose="020B0604020202020204" pitchFamily="34" charset="0"/>
                  </a:rPr>
                  <a:t> </a:t>
                </a:r>
              </a:p>
            </p:txBody>
          </p:sp>
          <p:sp>
            <p:nvSpPr>
              <p:cNvPr id="67603" name="Text Box 37"/>
              <p:cNvSpPr txBox="1">
                <a:spLocks noChangeArrowheads="1"/>
              </p:cNvSpPr>
              <p:nvPr/>
            </p:nvSpPr>
            <p:spPr bwMode="auto">
              <a:xfrm>
                <a:off x="1497" y="1887"/>
                <a:ext cx="1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i="1">
                    <a:latin typeface="Arial" panose="020B0604020202020204" pitchFamily="34" charset="0"/>
                  </a:rPr>
                  <a:t> </a:t>
                </a:r>
              </a:p>
            </p:txBody>
          </p:sp>
        </p:grpSp>
        <p:grpSp>
          <p:nvGrpSpPr>
            <p:cNvPr id="67599" name="Group 38"/>
            <p:cNvGrpSpPr>
              <a:grpSpLocks/>
            </p:cNvGrpSpPr>
            <p:nvPr/>
          </p:nvGrpSpPr>
          <p:grpSpPr bwMode="auto">
            <a:xfrm>
              <a:off x="2676" y="1716"/>
              <a:ext cx="505" cy="2394"/>
              <a:chOff x="2676" y="1716"/>
              <a:chExt cx="505" cy="2394"/>
            </a:xfrm>
          </p:grpSpPr>
          <p:sp>
            <p:nvSpPr>
              <p:cNvPr id="67600" name="Text Box 39"/>
              <p:cNvSpPr txBox="1">
                <a:spLocks noChangeAspect="1" noChangeArrowheads="1"/>
              </p:cNvSpPr>
              <p:nvPr/>
            </p:nvSpPr>
            <p:spPr bwMode="auto">
              <a:xfrm>
                <a:off x="2676" y="3879"/>
                <a:ext cx="50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n</a:t>
                </a:r>
                <a:endParaRPr lang="en-US" altLang="fr-FR" sz="1800">
                  <a:latin typeface="Arial" panose="020B0604020202020204" pitchFamily="34" charset="0"/>
                  <a:sym typeface="Symbol" panose="05050102010706020507" pitchFamily="18" charset="2"/>
                </a:endParaRPr>
              </a:p>
            </p:txBody>
          </p:sp>
          <p:sp>
            <p:nvSpPr>
              <p:cNvPr id="67601" name="Line 40"/>
              <p:cNvSpPr>
                <a:spLocks noChangeShapeType="1"/>
              </p:cNvSpPr>
              <p:nvPr/>
            </p:nvSpPr>
            <p:spPr bwMode="auto">
              <a:xfrm>
                <a:off x="2805" y="1716"/>
                <a:ext cx="0" cy="2219"/>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grpSp>
      <p:sp>
        <p:nvSpPr>
          <p:cNvPr id="67590" name="ZoneTexte 35"/>
          <p:cNvSpPr txBox="1">
            <a:spLocks noChangeArrowheads="1"/>
          </p:cNvSpPr>
          <p:nvPr/>
        </p:nvSpPr>
        <p:spPr bwMode="auto">
          <a:xfrm>
            <a:off x="295275" y="309563"/>
            <a:ext cx="42751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3.33333E-6 4.77336E-6 L -3.33333E-6 -0.24052 " pathEditMode="relative" ptsTypes="AA">
                                      <p:cBhvr>
                                        <p:cTn id="6" dur="5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8" name="Espace réservé du pied de page 27"/>
          <p:cNvSpPr>
            <a:spLocks noGrp="1"/>
          </p:cNvSpPr>
          <p:nvPr>
            <p:ph type="ftr" sz="quarter" idx="11"/>
          </p:nvPr>
        </p:nvSpPr>
        <p:spPr/>
        <p:txBody>
          <a:bodyPr/>
          <a:lstStyle/>
          <a:p>
            <a:pPr>
              <a:defRPr/>
            </a:pPr>
            <a:r>
              <a:rPr lang="fr-FR"/>
              <a:t>Commande des machines   3.MCC     Ali NEJMI</a:t>
            </a:r>
            <a:endParaRPr lang="en-US"/>
          </a:p>
        </p:txBody>
      </p:sp>
      <p:sp>
        <p:nvSpPr>
          <p:cNvPr id="69635" name="Espace réservé du numéro de diapositive 26"/>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05F79FF-ABE1-4CD3-B5BE-9AAE2908D100}" type="slidenum">
              <a:rPr lang="en-US" altLang="fr-FR" sz="1000" smtClean="0">
                <a:solidFill>
                  <a:srgbClr val="292929"/>
                </a:solidFill>
                <a:latin typeface="Arial" panose="020B0604020202020204" pitchFamily="34" charset="0"/>
              </a:rPr>
              <a:pPr>
                <a:spcBef>
                  <a:spcPct val="0"/>
                </a:spcBef>
                <a:buClrTx/>
                <a:buSzTx/>
                <a:buFontTx/>
                <a:buNone/>
              </a:pPr>
              <a:t>39</a:t>
            </a:fld>
            <a:endParaRPr lang="en-US" altLang="fr-FR" sz="1000" smtClean="0">
              <a:solidFill>
                <a:srgbClr val="292929"/>
              </a:solidFill>
              <a:latin typeface="Arial" panose="020B0604020202020204" pitchFamily="34" charset="0"/>
            </a:endParaRPr>
          </a:p>
        </p:txBody>
      </p:sp>
      <p:sp>
        <p:nvSpPr>
          <p:cNvPr id="69636"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69637" name="Line 36"/>
          <p:cNvSpPr>
            <a:spLocks noChangeAspect="1" noChangeShapeType="1"/>
          </p:cNvSpPr>
          <p:nvPr/>
        </p:nvSpPr>
        <p:spPr bwMode="auto">
          <a:xfrm>
            <a:off x="2114550" y="1479550"/>
            <a:ext cx="0" cy="3111500"/>
          </a:xfrm>
          <a:prstGeom prst="line">
            <a:avLst/>
          </a:prstGeom>
          <a:noFill/>
          <a:ln w="9525">
            <a:solidFill>
              <a:schemeClr val="tx1"/>
            </a:solidFill>
            <a:round/>
            <a:headEnd type="triangle" w="lg" len="med"/>
            <a:tailEnd/>
          </a:ln>
          <a:extLst>
            <a:ext uri="{909E8E84-426E-40DD-AFC4-6F175D3DCCD1}">
              <a14:hiddenFill xmlns:a14="http://schemas.microsoft.com/office/drawing/2010/main">
                <a:noFill/>
              </a14:hiddenFill>
            </a:ext>
          </a:extLst>
        </p:spPr>
        <p:txBody>
          <a:bodyPr/>
          <a:lstStyle/>
          <a:p>
            <a:endParaRPr lang="fr-FR"/>
          </a:p>
        </p:txBody>
      </p:sp>
      <p:sp>
        <p:nvSpPr>
          <p:cNvPr id="69638" name="Text Box 37"/>
          <p:cNvSpPr txBox="1">
            <a:spLocks noChangeAspect="1" noChangeArrowheads="1"/>
          </p:cNvSpPr>
          <p:nvPr/>
        </p:nvSpPr>
        <p:spPr bwMode="auto">
          <a:xfrm>
            <a:off x="1697038" y="1427163"/>
            <a:ext cx="7254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C</a:t>
            </a:r>
            <a:r>
              <a:rPr lang="en-US" altLang="fr-FR" sz="1800" baseline="-25000">
                <a:latin typeface="Arial" panose="020B0604020202020204" pitchFamily="34" charset="0"/>
              </a:rPr>
              <a:t>e</a:t>
            </a:r>
            <a:endParaRPr lang="en-US" altLang="fr-FR" sz="1800">
              <a:latin typeface="Arial" panose="020B0604020202020204" pitchFamily="34" charset="0"/>
            </a:endParaRPr>
          </a:p>
        </p:txBody>
      </p:sp>
      <p:grpSp>
        <p:nvGrpSpPr>
          <p:cNvPr id="69639" name="Group 38"/>
          <p:cNvGrpSpPr>
            <a:grpSpLocks/>
          </p:cNvGrpSpPr>
          <p:nvPr/>
        </p:nvGrpSpPr>
        <p:grpSpPr bwMode="auto">
          <a:xfrm>
            <a:off x="2114550" y="4406900"/>
            <a:ext cx="5564188" cy="366713"/>
            <a:chOff x="1341" y="3820"/>
            <a:chExt cx="3505" cy="231"/>
          </a:xfrm>
        </p:grpSpPr>
        <p:sp>
          <p:nvSpPr>
            <p:cNvPr id="69663" name="Line 39"/>
            <p:cNvSpPr>
              <a:spLocks noChangeAspect="1" noChangeShapeType="1"/>
            </p:cNvSpPr>
            <p:nvPr/>
          </p:nvSpPr>
          <p:spPr bwMode="auto">
            <a:xfrm>
              <a:off x="1341" y="3936"/>
              <a:ext cx="3248" cy="0"/>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fr-FR"/>
            </a:p>
          </p:txBody>
        </p:sp>
        <p:sp>
          <p:nvSpPr>
            <p:cNvPr id="69664" name="Text Box 40"/>
            <p:cNvSpPr txBox="1">
              <a:spLocks noChangeAspect="1" noChangeArrowheads="1"/>
            </p:cNvSpPr>
            <p:nvPr/>
          </p:nvSpPr>
          <p:spPr bwMode="auto">
            <a:xfrm>
              <a:off x="4589" y="3820"/>
              <a:ext cx="25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p>
          </p:txBody>
        </p:sp>
      </p:grpSp>
      <p:sp>
        <p:nvSpPr>
          <p:cNvPr id="69640" name="Line 41"/>
          <p:cNvSpPr>
            <a:spLocks noChangeAspect="1" noChangeShapeType="1"/>
          </p:cNvSpPr>
          <p:nvPr/>
        </p:nvSpPr>
        <p:spPr bwMode="auto">
          <a:xfrm>
            <a:off x="2127250" y="2241550"/>
            <a:ext cx="2311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9641" name="Freeform 42"/>
          <p:cNvSpPr>
            <a:spLocks noChangeAspect="1"/>
          </p:cNvSpPr>
          <p:nvPr/>
        </p:nvSpPr>
        <p:spPr bwMode="auto">
          <a:xfrm>
            <a:off x="4438650" y="2228850"/>
            <a:ext cx="2552700" cy="1231900"/>
          </a:xfrm>
          <a:custGeom>
            <a:avLst/>
            <a:gdLst>
              <a:gd name="T0" fmla="*/ 0 w 1608"/>
              <a:gd name="T1" fmla="*/ 0 h 776"/>
              <a:gd name="T2" fmla="*/ 2147483646 w 1608"/>
              <a:gd name="T3" fmla="*/ 2147483646 h 776"/>
              <a:gd name="T4" fmla="*/ 2147483646 w 1608"/>
              <a:gd name="T5" fmla="*/ 2147483646 h 776"/>
              <a:gd name="T6" fmla="*/ 2147483646 w 1608"/>
              <a:gd name="T7" fmla="*/ 2147483646 h 776"/>
              <a:gd name="T8" fmla="*/ 0 60000 65536"/>
              <a:gd name="T9" fmla="*/ 0 60000 65536"/>
              <a:gd name="T10" fmla="*/ 0 60000 65536"/>
              <a:gd name="T11" fmla="*/ 0 60000 65536"/>
              <a:gd name="T12" fmla="*/ 0 w 1608"/>
              <a:gd name="T13" fmla="*/ 0 h 776"/>
              <a:gd name="T14" fmla="*/ 1608 w 1608"/>
              <a:gd name="T15" fmla="*/ 776 h 776"/>
            </a:gdLst>
            <a:ahLst/>
            <a:cxnLst>
              <a:cxn ang="T8">
                <a:pos x="T0" y="T1"/>
              </a:cxn>
              <a:cxn ang="T9">
                <a:pos x="T2" y="T3"/>
              </a:cxn>
              <a:cxn ang="T10">
                <a:pos x="T4" y="T5"/>
              </a:cxn>
              <a:cxn ang="T11">
                <a:pos x="T6" y="T7"/>
              </a:cxn>
            </a:cxnLst>
            <a:rect l="T12" t="T13" r="T14" b="T15"/>
            <a:pathLst>
              <a:path w="1608" h="776">
                <a:moveTo>
                  <a:pt x="0" y="0"/>
                </a:moveTo>
                <a:cubicBezTo>
                  <a:pt x="137" y="122"/>
                  <a:pt x="275" y="245"/>
                  <a:pt x="424" y="352"/>
                </a:cubicBezTo>
                <a:cubicBezTo>
                  <a:pt x="573" y="459"/>
                  <a:pt x="699" y="569"/>
                  <a:pt x="896" y="640"/>
                </a:cubicBezTo>
                <a:cubicBezTo>
                  <a:pt x="1093" y="711"/>
                  <a:pt x="1350" y="743"/>
                  <a:pt x="1608" y="776"/>
                </a:cubicBezTo>
              </a:path>
            </a:pathLst>
          </a:custGeom>
          <a:noFill/>
          <a:ln w="38100" cmpd="sng">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nvGrpSpPr>
          <p:cNvPr id="3" name="Group 57"/>
          <p:cNvGrpSpPr>
            <a:grpSpLocks/>
          </p:cNvGrpSpPr>
          <p:nvPr/>
        </p:nvGrpSpPr>
        <p:grpSpPr bwMode="auto">
          <a:xfrm>
            <a:off x="2362200" y="1338263"/>
            <a:ext cx="4746625" cy="385762"/>
            <a:chOff x="1497" y="1887"/>
            <a:chExt cx="2990" cy="243"/>
          </a:xfrm>
        </p:grpSpPr>
        <p:sp>
          <p:nvSpPr>
            <p:cNvPr id="69661" name="Text Box 58"/>
            <p:cNvSpPr txBox="1">
              <a:spLocks noChangeArrowheads="1"/>
            </p:cNvSpPr>
            <p:nvPr/>
          </p:nvSpPr>
          <p:spPr bwMode="auto">
            <a:xfrm>
              <a:off x="2868" y="1897"/>
              <a:ext cx="161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i="1">
                  <a:solidFill>
                    <a:srgbClr val="FF3300"/>
                  </a:solidFill>
                  <a:latin typeface="Arial" panose="020B0604020202020204" pitchFamily="34" charset="0"/>
                </a:rPr>
                <a:t>Puissance constante</a:t>
              </a:r>
            </a:p>
          </p:txBody>
        </p:sp>
        <p:sp>
          <p:nvSpPr>
            <p:cNvPr id="69662" name="Text Box 59"/>
            <p:cNvSpPr txBox="1">
              <a:spLocks noChangeArrowheads="1"/>
            </p:cNvSpPr>
            <p:nvPr/>
          </p:nvSpPr>
          <p:spPr bwMode="auto">
            <a:xfrm>
              <a:off x="1497" y="1887"/>
              <a:ext cx="125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i="1">
                  <a:latin typeface="Arial" panose="020B0604020202020204" pitchFamily="34" charset="0"/>
                </a:rPr>
                <a:t>Couple constant</a:t>
              </a:r>
            </a:p>
          </p:txBody>
        </p:sp>
      </p:grpSp>
      <p:grpSp>
        <p:nvGrpSpPr>
          <p:cNvPr id="69643" name="Group 60"/>
          <p:cNvGrpSpPr>
            <a:grpSpLocks/>
          </p:cNvGrpSpPr>
          <p:nvPr/>
        </p:nvGrpSpPr>
        <p:grpSpPr bwMode="auto">
          <a:xfrm>
            <a:off x="4233863" y="1066800"/>
            <a:ext cx="801687" cy="3800475"/>
            <a:chOff x="2676" y="1716"/>
            <a:chExt cx="505" cy="2394"/>
          </a:xfrm>
        </p:grpSpPr>
        <p:sp>
          <p:nvSpPr>
            <p:cNvPr id="69659" name="Text Box 61"/>
            <p:cNvSpPr txBox="1">
              <a:spLocks noChangeAspect="1" noChangeArrowheads="1"/>
            </p:cNvSpPr>
            <p:nvPr/>
          </p:nvSpPr>
          <p:spPr bwMode="auto">
            <a:xfrm>
              <a:off x="2676" y="3879"/>
              <a:ext cx="50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n</a:t>
              </a:r>
              <a:endParaRPr lang="en-US" altLang="fr-FR" sz="1800">
                <a:latin typeface="Arial" panose="020B0604020202020204" pitchFamily="34" charset="0"/>
                <a:sym typeface="Symbol" panose="05050102010706020507" pitchFamily="18" charset="2"/>
              </a:endParaRPr>
            </a:p>
          </p:txBody>
        </p:sp>
        <p:sp>
          <p:nvSpPr>
            <p:cNvPr id="69660" name="Line 62"/>
            <p:cNvSpPr>
              <a:spLocks noChangeShapeType="1"/>
            </p:cNvSpPr>
            <p:nvPr/>
          </p:nvSpPr>
          <p:spPr bwMode="auto">
            <a:xfrm>
              <a:off x="2805" y="1716"/>
              <a:ext cx="0" cy="2219"/>
            </a:xfrm>
            <a:prstGeom prst="line">
              <a:avLst/>
            </a:prstGeom>
            <a:noFill/>
            <a:ln w="285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68672" name="Line 64"/>
          <p:cNvSpPr>
            <a:spLocks noChangeShapeType="1"/>
          </p:cNvSpPr>
          <p:nvPr/>
        </p:nvSpPr>
        <p:spPr bwMode="auto">
          <a:xfrm flipV="1">
            <a:off x="2100263" y="2743200"/>
            <a:ext cx="2338387" cy="1846263"/>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8673" name="Line 65"/>
          <p:cNvSpPr>
            <a:spLocks noChangeShapeType="1"/>
          </p:cNvSpPr>
          <p:nvPr/>
        </p:nvSpPr>
        <p:spPr bwMode="auto">
          <a:xfrm>
            <a:off x="4438650" y="2743200"/>
            <a:ext cx="2552700"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68704" name="Text Box 96"/>
          <p:cNvSpPr txBox="1">
            <a:spLocks noChangeArrowheads="1"/>
          </p:cNvSpPr>
          <p:nvPr/>
        </p:nvSpPr>
        <p:spPr bwMode="auto">
          <a:xfrm>
            <a:off x="1098550" y="5145088"/>
            <a:ext cx="73437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latin typeface="Arial" panose="020B0604020202020204" pitchFamily="34" charset="0"/>
              </a:rPr>
              <a:t>0 to </a:t>
            </a:r>
            <a:r>
              <a:rPr lang="en-US" altLang="fr-FR" sz="1800">
                <a:latin typeface="Arial" panose="020B0604020202020204" pitchFamily="34" charset="0"/>
                <a:sym typeface="Symbol" panose="05050102010706020507" pitchFamily="18" charset="2"/>
              </a:rPr>
              <a:t></a:t>
            </a:r>
            <a:r>
              <a:rPr lang="en-US" altLang="fr-FR" sz="1800" baseline="-25000">
                <a:latin typeface="Arial" panose="020B0604020202020204" pitchFamily="34" charset="0"/>
                <a:sym typeface="Symbol" panose="05050102010706020507" pitchFamily="18" charset="2"/>
              </a:rPr>
              <a:t>n</a:t>
            </a:r>
            <a:r>
              <a:rPr lang="en-US" altLang="fr-FR" sz="1800">
                <a:latin typeface="Arial" panose="020B0604020202020204" pitchFamily="34" charset="0"/>
                <a:sym typeface="Symbol" panose="05050102010706020507" pitchFamily="18" charset="2"/>
              </a:rPr>
              <a:t>   tension d’induit,    au delà de </a:t>
            </a:r>
            <a:r>
              <a:rPr lang="en-US" altLang="fr-FR" sz="1800" baseline="-25000">
                <a:latin typeface="Arial" panose="020B0604020202020204" pitchFamily="34" charset="0"/>
                <a:sym typeface="Symbol" panose="05050102010706020507" pitchFamily="18" charset="2"/>
              </a:rPr>
              <a:t>n</a:t>
            </a:r>
            <a:r>
              <a:rPr lang="en-US" altLang="fr-FR" sz="1800">
                <a:latin typeface="Arial" panose="020B0604020202020204" pitchFamily="34" charset="0"/>
                <a:sym typeface="Symbol" panose="05050102010706020507" pitchFamily="18" charset="2"/>
              </a:rPr>
              <a:t>  dimunition du flux </a:t>
            </a:r>
            <a:r>
              <a:rPr lang="en-US" altLang="fr-FR" sz="1800">
                <a:latin typeface="Arial" panose="020B0604020202020204" pitchFamily="34" charset="0"/>
              </a:rPr>
              <a:t> </a:t>
            </a:r>
          </a:p>
        </p:txBody>
      </p:sp>
      <p:sp>
        <p:nvSpPr>
          <p:cNvPr id="68705" name="Text Box 97"/>
          <p:cNvSpPr txBox="1">
            <a:spLocks noChangeArrowheads="1"/>
          </p:cNvSpPr>
          <p:nvPr/>
        </p:nvSpPr>
        <p:spPr bwMode="auto">
          <a:xfrm>
            <a:off x="1354138" y="5746750"/>
            <a:ext cx="21685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FF3300"/>
                </a:solidFill>
                <a:latin typeface="Arial" panose="020B0604020202020204" pitchFamily="34" charset="0"/>
              </a:rPr>
              <a:t>P</a:t>
            </a:r>
            <a:r>
              <a:rPr lang="en-US" altLang="fr-FR" sz="1800" baseline="-25000">
                <a:solidFill>
                  <a:srgbClr val="FF3300"/>
                </a:solidFill>
                <a:latin typeface="Arial" panose="020B0604020202020204" pitchFamily="34" charset="0"/>
              </a:rPr>
              <a:t> </a:t>
            </a:r>
            <a:r>
              <a:rPr lang="en-US" altLang="fr-FR" sz="1800">
                <a:solidFill>
                  <a:srgbClr val="FF3300"/>
                </a:solidFill>
                <a:latin typeface="Arial" panose="020B0604020202020204" pitchFamily="34" charset="0"/>
              </a:rPr>
              <a:t>= E</a:t>
            </a:r>
            <a:r>
              <a:rPr lang="en-US" altLang="fr-FR" sz="1800" baseline="-25000">
                <a:solidFill>
                  <a:srgbClr val="FF3300"/>
                </a:solidFill>
                <a:latin typeface="Arial" panose="020B0604020202020204" pitchFamily="34" charset="0"/>
              </a:rPr>
              <a:t>a</a:t>
            </a:r>
            <a:r>
              <a:rPr lang="en-US" altLang="fr-FR" sz="1800">
                <a:solidFill>
                  <a:srgbClr val="FF3300"/>
                </a:solidFill>
                <a:latin typeface="Arial" panose="020B0604020202020204" pitchFamily="34" charset="0"/>
              </a:rPr>
              <a:t>I</a:t>
            </a:r>
            <a:r>
              <a:rPr lang="en-US" altLang="fr-FR" sz="1800" baseline="-25000">
                <a:solidFill>
                  <a:srgbClr val="FF3300"/>
                </a:solidFill>
                <a:latin typeface="Arial" panose="020B0604020202020204" pitchFamily="34" charset="0"/>
              </a:rPr>
              <a:t>a,n</a:t>
            </a:r>
            <a:r>
              <a:rPr lang="en-US" altLang="fr-FR" sz="1800">
                <a:solidFill>
                  <a:srgbClr val="FF3300"/>
                </a:solidFill>
                <a:latin typeface="Arial" panose="020B0604020202020204" pitchFamily="34" charset="0"/>
              </a:rPr>
              <a:t> = k</a:t>
            </a:r>
            <a:r>
              <a:rPr lang="en-US" altLang="fr-FR" sz="1800">
                <a:solidFill>
                  <a:srgbClr val="FF3300"/>
                </a:solidFill>
                <a:latin typeface="Arial" panose="020B0604020202020204" pitchFamily="34" charset="0"/>
                <a:sym typeface="Symbol" panose="05050102010706020507" pitchFamily="18" charset="2"/>
              </a:rPr>
              <a:t></a:t>
            </a:r>
            <a:r>
              <a:rPr lang="en-US" altLang="fr-FR" sz="1800" baseline="-25000">
                <a:solidFill>
                  <a:srgbClr val="FF3300"/>
                </a:solidFill>
                <a:latin typeface="Arial" panose="020B0604020202020204" pitchFamily="34" charset="0"/>
                <a:sym typeface="Symbol" panose="05050102010706020507" pitchFamily="18" charset="2"/>
              </a:rPr>
              <a:t>a</a:t>
            </a:r>
            <a:r>
              <a:rPr lang="en-US" altLang="fr-FR" sz="1800">
                <a:solidFill>
                  <a:srgbClr val="FF3300"/>
                </a:solidFill>
                <a:latin typeface="Arial" panose="020B0604020202020204" pitchFamily="34" charset="0"/>
                <a:sym typeface="Symbol" panose="05050102010706020507" pitchFamily="18" charset="2"/>
              </a:rPr>
              <a:t>I</a:t>
            </a:r>
            <a:r>
              <a:rPr lang="en-US" altLang="fr-FR" sz="1800" baseline="-25000">
                <a:solidFill>
                  <a:srgbClr val="FF3300"/>
                </a:solidFill>
                <a:latin typeface="Arial" panose="020B0604020202020204" pitchFamily="34" charset="0"/>
                <a:sym typeface="Symbol" panose="05050102010706020507" pitchFamily="18" charset="2"/>
              </a:rPr>
              <a:t>a,n</a:t>
            </a:r>
          </a:p>
        </p:txBody>
      </p:sp>
      <p:grpSp>
        <p:nvGrpSpPr>
          <p:cNvPr id="5" name="Group 101"/>
          <p:cNvGrpSpPr>
            <a:grpSpLocks/>
          </p:cNvGrpSpPr>
          <p:nvPr/>
        </p:nvGrpSpPr>
        <p:grpSpPr bwMode="auto">
          <a:xfrm>
            <a:off x="1506538" y="2447925"/>
            <a:ext cx="2932112" cy="366713"/>
            <a:chOff x="949" y="1542"/>
            <a:chExt cx="1847" cy="231"/>
          </a:xfrm>
        </p:grpSpPr>
        <p:sp>
          <p:nvSpPr>
            <p:cNvPr id="69657" name="Text Box 66"/>
            <p:cNvSpPr txBox="1">
              <a:spLocks noChangeArrowheads="1"/>
            </p:cNvSpPr>
            <p:nvPr/>
          </p:nvSpPr>
          <p:spPr bwMode="auto">
            <a:xfrm>
              <a:off x="949" y="1542"/>
              <a:ext cx="40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b="1">
                  <a:solidFill>
                    <a:srgbClr val="FF3300"/>
                  </a:solidFill>
                  <a:latin typeface="Arial" panose="020B0604020202020204" pitchFamily="34" charset="0"/>
                </a:rPr>
                <a:t>P</a:t>
              </a:r>
              <a:r>
                <a:rPr lang="en-US" altLang="fr-FR" sz="1800" b="1" baseline="-25000">
                  <a:solidFill>
                    <a:srgbClr val="FF3300"/>
                  </a:solidFill>
                  <a:latin typeface="Arial" panose="020B0604020202020204" pitchFamily="34" charset="0"/>
                </a:rPr>
                <a:t>max</a:t>
              </a:r>
              <a:endParaRPr lang="en-US" altLang="fr-FR" sz="1800" b="1">
                <a:solidFill>
                  <a:srgbClr val="FF3300"/>
                </a:solidFill>
                <a:latin typeface="Arial" panose="020B0604020202020204" pitchFamily="34" charset="0"/>
              </a:endParaRPr>
            </a:p>
          </p:txBody>
        </p:sp>
        <p:sp>
          <p:nvSpPr>
            <p:cNvPr id="69658" name="Line 98"/>
            <p:cNvSpPr>
              <a:spLocks noChangeShapeType="1"/>
            </p:cNvSpPr>
            <p:nvPr/>
          </p:nvSpPr>
          <p:spPr bwMode="auto">
            <a:xfrm flipH="1">
              <a:off x="1310" y="1728"/>
              <a:ext cx="1486"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68707" name="Text Box 99"/>
          <p:cNvSpPr txBox="1">
            <a:spLocks noChangeArrowheads="1"/>
          </p:cNvSpPr>
          <p:nvPr/>
        </p:nvSpPr>
        <p:spPr bwMode="auto">
          <a:xfrm>
            <a:off x="4711700" y="5746750"/>
            <a:ext cx="23415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FF3300"/>
                </a:solidFill>
                <a:latin typeface="Arial" panose="020B0604020202020204" pitchFamily="34" charset="0"/>
              </a:rPr>
              <a:t>P</a:t>
            </a:r>
            <a:r>
              <a:rPr lang="en-US" altLang="fr-FR" sz="1800" baseline="-25000">
                <a:solidFill>
                  <a:srgbClr val="FF3300"/>
                </a:solidFill>
                <a:latin typeface="Arial" panose="020B0604020202020204" pitchFamily="34" charset="0"/>
              </a:rPr>
              <a:t>n </a:t>
            </a:r>
            <a:r>
              <a:rPr lang="en-US" altLang="fr-FR" sz="1800">
                <a:solidFill>
                  <a:srgbClr val="FF3300"/>
                </a:solidFill>
                <a:latin typeface="Arial" panose="020B0604020202020204" pitchFamily="34" charset="0"/>
              </a:rPr>
              <a:t>= E</a:t>
            </a:r>
            <a:r>
              <a:rPr lang="en-US" altLang="fr-FR" sz="1800" baseline="-25000">
                <a:solidFill>
                  <a:srgbClr val="FF3300"/>
                </a:solidFill>
                <a:latin typeface="Arial" panose="020B0604020202020204" pitchFamily="34" charset="0"/>
              </a:rPr>
              <a:t>a</a:t>
            </a:r>
            <a:r>
              <a:rPr lang="en-US" altLang="fr-FR" sz="1800">
                <a:solidFill>
                  <a:srgbClr val="FF3300"/>
                </a:solidFill>
                <a:latin typeface="Arial" panose="020B0604020202020204" pitchFamily="34" charset="0"/>
              </a:rPr>
              <a:t>I</a:t>
            </a:r>
            <a:r>
              <a:rPr lang="en-US" altLang="fr-FR" sz="1800" baseline="-25000">
                <a:solidFill>
                  <a:srgbClr val="FF3300"/>
                </a:solidFill>
                <a:latin typeface="Arial" panose="020B0604020202020204" pitchFamily="34" charset="0"/>
              </a:rPr>
              <a:t>a,n</a:t>
            </a:r>
            <a:r>
              <a:rPr lang="en-US" altLang="fr-FR" sz="1800">
                <a:solidFill>
                  <a:srgbClr val="FF3300"/>
                </a:solidFill>
                <a:latin typeface="Arial" panose="020B0604020202020204" pitchFamily="34" charset="0"/>
              </a:rPr>
              <a:t> = k</a:t>
            </a:r>
            <a:r>
              <a:rPr lang="en-US" altLang="fr-FR" sz="1800">
                <a:solidFill>
                  <a:srgbClr val="FF3300"/>
                </a:solidFill>
                <a:latin typeface="Arial" panose="020B0604020202020204" pitchFamily="34" charset="0"/>
                <a:sym typeface="Symbol" panose="05050102010706020507" pitchFamily="18" charset="2"/>
              </a:rPr>
              <a:t></a:t>
            </a:r>
            <a:r>
              <a:rPr lang="en-US" altLang="fr-FR" sz="1800" baseline="-25000">
                <a:solidFill>
                  <a:srgbClr val="FF3300"/>
                </a:solidFill>
                <a:latin typeface="Arial" panose="020B0604020202020204" pitchFamily="34" charset="0"/>
                <a:sym typeface="Symbol" panose="05050102010706020507" pitchFamily="18" charset="2"/>
              </a:rPr>
              <a:t>a</a:t>
            </a:r>
            <a:r>
              <a:rPr lang="en-US" altLang="fr-FR" sz="1800">
                <a:solidFill>
                  <a:srgbClr val="FF3300"/>
                </a:solidFill>
                <a:latin typeface="Arial" panose="020B0604020202020204" pitchFamily="34" charset="0"/>
                <a:sym typeface="Symbol" panose="05050102010706020507" pitchFamily="18" charset="2"/>
              </a:rPr>
              <a:t></a:t>
            </a:r>
            <a:r>
              <a:rPr lang="en-US" altLang="fr-FR" sz="1800" baseline="-25000">
                <a:solidFill>
                  <a:srgbClr val="FF3300"/>
                </a:solidFill>
                <a:latin typeface="Arial" panose="020B0604020202020204" pitchFamily="34" charset="0"/>
                <a:sym typeface="Symbol" panose="05050102010706020507" pitchFamily="18" charset="2"/>
              </a:rPr>
              <a:t>n</a:t>
            </a:r>
            <a:r>
              <a:rPr lang="en-US" altLang="fr-FR" sz="1800">
                <a:solidFill>
                  <a:srgbClr val="FF3300"/>
                </a:solidFill>
                <a:latin typeface="Arial" panose="020B0604020202020204" pitchFamily="34" charset="0"/>
                <a:sym typeface="Symbol" panose="05050102010706020507" pitchFamily="18" charset="2"/>
              </a:rPr>
              <a:t>I</a:t>
            </a:r>
            <a:r>
              <a:rPr lang="en-US" altLang="fr-FR" sz="1800" baseline="-25000">
                <a:solidFill>
                  <a:srgbClr val="FF3300"/>
                </a:solidFill>
                <a:latin typeface="Arial" panose="020B0604020202020204" pitchFamily="34" charset="0"/>
                <a:sym typeface="Symbol" panose="05050102010706020507" pitchFamily="18" charset="2"/>
              </a:rPr>
              <a:t>a,n</a:t>
            </a:r>
          </a:p>
        </p:txBody>
      </p:sp>
      <p:sp>
        <p:nvSpPr>
          <p:cNvPr id="68708" name="Text Box 100"/>
          <p:cNvSpPr txBox="1">
            <a:spLocks noChangeArrowheads="1"/>
          </p:cNvSpPr>
          <p:nvPr/>
        </p:nvSpPr>
        <p:spPr bwMode="auto">
          <a:xfrm>
            <a:off x="5386388" y="6173788"/>
            <a:ext cx="1349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FF3300"/>
                </a:solidFill>
                <a:latin typeface="Arial" panose="020B0604020202020204" pitchFamily="34" charset="0"/>
                <a:sym typeface="Symbol" panose="05050102010706020507" pitchFamily="18" charset="2"/>
              </a:rPr>
              <a:t>   1/ </a:t>
            </a:r>
            <a:endParaRPr lang="en-US" altLang="fr-FR" sz="1800" baseline="-25000">
              <a:solidFill>
                <a:srgbClr val="FF3300"/>
              </a:solidFill>
              <a:latin typeface="Arial" panose="020B0604020202020204" pitchFamily="34" charset="0"/>
              <a:sym typeface="Symbol" panose="05050102010706020507" pitchFamily="18" charset="2"/>
            </a:endParaRPr>
          </a:p>
        </p:txBody>
      </p:sp>
      <p:sp>
        <p:nvSpPr>
          <p:cNvPr id="68710" name="Text Box 102"/>
          <p:cNvSpPr txBox="1">
            <a:spLocks noChangeAspect="1" noChangeArrowheads="1"/>
          </p:cNvSpPr>
          <p:nvPr/>
        </p:nvSpPr>
        <p:spPr bwMode="auto">
          <a:xfrm>
            <a:off x="1354138" y="1427163"/>
            <a:ext cx="469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en-US" altLang="fr-FR" sz="1800">
                <a:solidFill>
                  <a:srgbClr val="FF3300"/>
                </a:solidFill>
                <a:latin typeface="Arial" panose="020B0604020202020204" pitchFamily="34" charset="0"/>
              </a:rPr>
              <a:t>P</a:t>
            </a:r>
          </a:p>
        </p:txBody>
      </p:sp>
      <p:sp>
        <p:nvSpPr>
          <p:cNvPr id="69652" name="Rectangle 28"/>
          <p:cNvSpPr>
            <a:spLocks noChangeArrowheads="1"/>
          </p:cNvSpPr>
          <p:nvPr/>
        </p:nvSpPr>
        <p:spPr bwMode="auto">
          <a:xfrm>
            <a:off x="2238375" y="2890838"/>
            <a:ext cx="18843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commande </a:t>
            </a:r>
          </a:p>
          <a:p>
            <a:pPr eaLnBrk="1" hangingPunct="1">
              <a:spcBef>
                <a:spcPct val="0"/>
              </a:spcBef>
              <a:buClrTx/>
              <a:buSzTx/>
              <a:buFontTx/>
              <a:buNone/>
            </a:pPr>
            <a:r>
              <a:rPr lang="fr-FR" altLang="fr-FR" sz="1600">
                <a:latin typeface="Arial" panose="020B0604020202020204" pitchFamily="34" charset="0"/>
              </a:rPr>
              <a:t>préférentiellement </a:t>
            </a:r>
          </a:p>
          <a:p>
            <a:pPr eaLnBrk="1" hangingPunct="1">
              <a:spcBef>
                <a:spcPct val="0"/>
              </a:spcBef>
              <a:buClrTx/>
              <a:buSzTx/>
              <a:buFontTx/>
              <a:buNone/>
            </a:pPr>
            <a:r>
              <a:rPr lang="fr-FR" altLang="fr-FR" sz="1600">
                <a:latin typeface="Arial" panose="020B0604020202020204" pitchFamily="34" charset="0"/>
              </a:rPr>
              <a:t>par l'induit</a:t>
            </a:r>
          </a:p>
        </p:txBody>
      </p:sp>
      <p:sp>
        <p:nvSpPr>
          <p:cNvPr id="69653" name="Rectangle 29"/>
          <p:cNvSpPr>
            <a:spLocks noChangeArrowheads="1"/>
          </p:cNvSpPr>
          <p:nvPr/>
        </p:nvSpPr>
        <p:spPr bwMode="auto">
          <a:xfrm>
            <a:off x="4711700" y="2955925"/>
            <a:ext cx="188436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commande </a:t>
            </a:r>
          </a:p>
          <a:p>
            <a:pPr eaLnBrk="1" hangingPunct="1">
              <a:spcBef>
                <a:spcPct val="0"/>
              </a:spcBef>
              <a:buClrTx/>
              <a:buSzTx/>
              <a:buFontTx/>
              <a:buNone/>
            </a:pPr>
            <a:r>
              <a:rPr lang="fr-FR" altLang="fr-FR" sz="1600">
                <a:latin typeface="Arial" panose="020B0604020202020204" pitchFamily="34" charset="0"/>
              </a:rPr>
              <a:t>préférentiellement </a:t>
            </a:r>
          </a:p>
          <a:p>
            <a:pPr eaLnBrk="1" hangingPunct="1">
              <a:spcBef>
                <a:spcPct val="0"/>
              </a:spcBef>
              <a:buClrTx/>
              <a:buSzTx/>
              <a:buFontTx/>
              <a:buNone/>
            </a:pPr>
            <a:r>
              <a:rPr lang="fr-FR" altLang="fr-FR" sz="1600">
                <a:latin typeface="Arial" panose="020B0604020202020204" pitchFamily="34" charset="0"/>
              </a:rPr>
              <a:t>par l'inducteur</a:t>
            </a:r>
          </a:p>
        </p:txBody>
      </p:sp>
      <p:pic>
        <p:nvPicPr>
          <p:cNvPr id="69654" name="Picture 29"/>
          <p:cNvPicPr>
            <a:picLocks noChangeAspect="1" noChangeArrowheads="1"/>
          </p:cNvPicPr>
          <p:nvPr/>
        </p:nvPicPr>
        <p:blipFill>
          <a:blip r:embed="rId5">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6465888" y="3733800"/>
            <a:ext cx="925512"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55" name="Picture 31"/>
          <p:cNvPicPr>
            <a:picLocks noChangeAspect="1" noChangeArrowheads="1"/>
          </p:cNvPicPr>
          <p:nvPr/>
        </p:nvPicPr>
        <p:blipFill>
          <a:blip r:embed="rId6">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3481388" y="3838575"/>
            <a:ext cx="839787"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56" name="ZoneTexte 32"/>
          <p:cNvSpPr txBox="1">
            <a:spLocks noChangeArrowheads="1"/>
          </p:cNvSpPr>
          <p:nvPr/>
        </p:nvSpPr>
        <p:spPr bwMode="auto">
          <a:xfrm>
            <a:off x="295275" y="295275"/>
            <a:ext cx="42751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Commande des MCC</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8704"/>
                                        </p:tgtEl>
                                        <p:attrNameLst>
                                          <p:attrName>style.visibility</p:attrName>
                                        </p:attrNameLst>
                                      </p:cBhvr>
                                      <p:to>
                                        <p:strVal val="visible"/>
                                      </p:to>
                                    </p:set>
                                    <p:animEffect transition="in" filter="wipe(left)">
                                      <p:cBhvr>
                                        <p:cTn id="7" dur="500"/>
                                        <p:tgtEl>
                                          <p:spTgt spid="687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8705"/>
                                        </p:tgtEl>
                                        <p:attrNameLst>
                                          <p:attrName>style.visibility</p:attrName>
                                        </p:attrNameLst>
                                      </p:cBhvr>
                                      <p:to>
                                        <p:strVal val="visible"/>
                                      </p:to>
                                    </p:set>
                                    <p:animEffect transition="in" filter="wipe(left)">
                                      <p:cBhvr>
                                        <p:cTn id="12" dur="500"/>
                                        <p:tgtEl>
                                          <p:spTgt spid="687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8710"/>
                                        </p:tgtEl>
                                        <p:attrNameLst>
                                          <p:attrName>style.visibility</p:attrName>
                                        </p:attrNameLst>
                                      </p:cBhvr>
                                      <p:to>
                                        <p:strVal val="visible"/>
                                      </p:to>
                                    </p:set>
                                    <p:animEffect transition="in" filter="wipe(left)">
                                      <p:cBhvr>
                                        <p:cTn id="17" dur="500"/>
                                        <p:tgtEl>
                                          <p:spTgt spid="68710"/>
                                        </p:tgtEl>
                                      </p:cBhvr>
                                    </p:animEffect>
                                  </p:childTnLst>
                                </p:cTn>
                              </p:par>
                            </p:childTnLst>
                          </p:cTn>
                        </p:par>
                        <p:par>
                          <p:cTn id="18" fill="hold" nodeType="afterGroup">
                            <p:stCondLst>
                              <p:cond delay="500"/>
                            </p:stCondLst>
                            <p:childTnLst>
                              <p:par>
                                <p:cTn id="19" presetID="22" presetClass="entr" presetSubtype="4" fill="hold" grpId="0" nodeType="afterEffect">
                                  <p:stCondLst>
                                    <p:cond delay="0"/>
                                  </p:stCondLst>
                                  <p:childTnLst>
                                    <p:set>
                                      <p:cBhvr>
                                        <p:cTn id="20" dur="1" fill="hold">
                                          <p:stCondLst>
                                            <p:cond delay="0"/>
                                          </p:stCondLst>
                                        </p:cTn>
                                        <p:tgtEl>
                                          <p:spTgt spid="68672"/>
                                        </p:tgtEl>
                                        <p:attrNameLst>
                                          <p:attrName>style.visibility</p:attrName>
                                        </p:attrNameLst>
                                      </p:cBhvr>
                                      <p:to>
                                        <p:strVal val="visible"/>
                                      </p:to>
                                    </p:set>
                                    <p:animEffect transition="in" filter="wipe(down)">
                                      <p:cBhvr>
                                        <p:cTn id="21" dur="500"/>
                                        <p:tgtEl>
                                          <p:spTgt spid="68672"/>
                                        </p:tgtEl>
                                      </p:cBhvr>
                                    </p:animEffect>
                                  </p:childTnLst>
                                </p:cTn>
                              </p:par>
                            </p:childTnLst>
                          </p:cTn>
                        </p:par>
                        <p:par>
                          <p:cTn id="22" fill="hold" nodeType="afterGroup">
                            <p:stCondLst>
                              <p:cond delay="1000"/>
                            </p:stCondLst>
                            <p:childTnLst>
                              <p:par>
                                <p:cTn id="23" presetID="22" presetClass="entr" presetSubtype="8" fill="hold" nodeType="after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68707"/>
                                        </p:tgtEl>
                                        <p:attrNameLst>
                                          <p:attrName>style.visibility</p:attrName>
                                        </p:attrNameLst>
                                      </p:cBhvr>
                                      <p:to>
                                        <p:strVal val="visible"/>
                                      </p:to>
                                    </p:set>
                                    <p:animEffect transition="in" filter="wipe(left)">
                                      <p:cBhvr>
                                        <p:cTn id="30" dur="500"/>
                                        <p:tgtEl>
                                          <p:spTgt spid="6870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5" presetClass="entr" presetSubtype="0" fill="hold" grpId="0" nodeType="clickEffect">
                                  <p:stCondLst>
                                    <p:cond delay="0"/>
                                  </p:stCondLst>
                                  <p:childTnLst>
                                    <p:set>
                                      <p:cBhvr>
                                        <p:cTn id="34" dur="1" fill="hold">
                                          <p:stCondLst>
                                            <p:cond delay="0"/>
                                          </p:stCondLst>
                                        </p:cTn>
                                        <p:tgtEl>
                                          <p:spTgt spid="68708"/>
                                        </p:tgtEl>
                                        <p:attrNameLst>
                                          <p:attrName>style.visibility</p:attrName>
                                        </p:attrNameLst>
                                      </p:cBhvr>
                                      <p:to>
                                        <p:strVal val="visible"/>
                                      </p:to>
                                    </p:set>
                                    <p:animEffect transition="in" filter="fade">
                                      <p:cBhvr>
                                        <p:cTn id="35" dur="1000"/>
                                        <p:tgtEl>
                                          <p:spTgt spid="68708"/>
                                        </p:tgtEl>
                                      </p:cBhvr>
                                    </p:animEffect>
                                    <p:anim calcmode="lin" valueType="num">
                                      <p:cBhvr>
                                        <p:cTn id="36" dur="1000" fill="hold"/>
                                        <p:tgtEl>
                                          <p:spTgt spid="68708"/>
                                        </p:tgtEl>
                                        <p:attrNameLst>
                                          <p:attrName>style.rotation</p:attrName>
                                        </p:attrNameLst>
                                      </p:cBhvr>
                                      <p:tavLst>
                                        <p:tav tm="0">
                                          <p:val>
                                            <p:fltVal val="720"/>
                                          </p:val>
                                        </p:tav>
                                        <p:tav tm="100000">
                                          <p:val>
                                            <p:fltVal val="0"/>
                                          </p:val>
                                        </p:tav>
                                      </p:tavLst>
                                    </p:anim>
                                    <p:anim calcmode="lin" valueType="num">
                                      <p:cBhvr>
                                        <p:cTn id="37" dur="1000" fill="hold"/>
                                        <p:tgtEl>
                                          <p:spTgt spid="68708"/>
                                        </p:tgtEl>
                                        <p:attrNameLst>
                                          <p:attrName>ppt_h</p:attrName>
                                        </p:attrNameLst>
                                      </p:cBhvr>
                                      <p:tavLst>
                                        <p:tav tm="0">
                                          <p:val>
                                            <p:fltVal val="0"/>
                                          </p:val>
                                        </p:tav>
                                        <p:tav tm="100000">
                                          <p:val>
                                            <p:strVal val="#ppt_h"/>
                                          </p:val>
                                        </p:tav>
                                      </p:tavLst>
                                    </p:anim>
                                    <p:anim calcmode="lin" valueType="num">
                                      <p:cBhvr>
                                        <p:cTn id="38" dur="1000" fill="hold"/>
                                        <p:tgtEl>
                                          <p:spTgt spid="68708"/>
                                        </p:tgtEl>
                                        <p:attrNameLst>
                                          <p:attrName>ppt_w</p:attrName>
                                        </p:attrNameLst>
                                      </p:cBhvr>
                                      <p:tavLst>
                                        <p:tav tm="0">
                                          <p:val>
                                            <p:fltVal val="0"/>
                                          </p:val>
                                        </p:tav>
                                        <p:tav tm="100000">
                                          <p:val>
                                            <p:strVal val="#ppt_w"/>
                                          </p:val>
                                        </p:tav>
                                      </p:tavLst>
                                    </p:anim>
                                  </p:childTnLst>
                                </p:cTn>
                              </p:par>
                            </p:childTnLst>
                          </p:cTn>
                        </p:par>
                        <p:par>
                          <p:cTn id="39" fill="hold" nodeType="afterGroup">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68673"/>
                                        </p:tgtEl>
                                        <p:attrNameLst>
                                          <p:attrName>style.visibility</p:attrName>
                                        </p:attrNameLst>
                                      </p:cBhvr>
                                      <p:to>
                                        <p:strVal val="visible"/>
                                      </p:to>
                                    </p:set>
                                    <p:animEffect transition="in" filter="wipe(left)">
                                      <p:cBhvr>
                                        <p:cTn id="42" dur="500"/>
                                        <p:tgtEl>
                                          <p:spTgt spid="6867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72" grpId="0" animBg="1"/>
      <p:bldP spid="68673" grpId="0" animBg="1"/>
      <p:bldP spid="68704" grpId="0"/>
      <p:bldP spid="68705" grpId="0"/>
      <p:bldP spid="68707" grpId="0"/>
      <p:bldP spid="68708" grpId="0"/>
      <p:bldP spid="68710"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7" name="Espace réservé du pied de page 6"/>
          <p:cNvSpPr>
            <a:spLocks noGrp="1"/>
          </p:cNvSpPr>
          <p:nvPr>
            <p:ph type="ftr" sz="quarter" idx="11"/>
          </p:nvPr>
        </p:nvSpPr>
        <p:spPr/>
        <p:txBody>
          <a:bodyPr/>
          <a:lstStyle/>
          <a:p>
            <a:pPr>
              <a:defRPr/>
            </a:pPr>
            <a:r>
              <a:rPr lang="fr-FR"/>
              <a:t>Commande des machines   3.MCC     Ali NEJMI</a:t>
            </a:r>
          </a:p>
        </p:txBody>
      </p:sp>
      <p:sp>
        <p:nvSpPr>
          <p:cNvPr id="71683"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3753BB6-A377-46EA-8F99-859300F1CD8B}" type="slidenum">
              <a:rPr lang="fr-FR" altLang="fr-FR" sz="1000" smtClean="0">
                <a:solidFill>
                  <a:srgbClr val="292929"/>
                </a:solidFill>
                <a:latin typeface="Arial" panose="020B0604020202020204" pitchFamily="34" charset="0"/>
              </a:rPr>
              <a:pPr>
                <a:spcBef>
                  <a:spcPct val="0"/>
                </a:spcBef>
                <a:buClrTx/>
                <a:buSzTx/>
                <a:buFontTx/>
                <a:buNone/>
              </a:pPr>
              <a:t>40</a:t>
            </a:fld>
            <a:endParaRPr lang="fr-FR" altLang="fr-FR" sz="1000" smtClean="0">
              <a:solidFill>
                <a:srgbClr val="292929"/>
              </a:solidFill>
              <a:latin typeface="Arial" panose="020B0604020202020204" pitchFamily="34" charset="0"/>
            </a:endParaRPr>
          </a:p>
        </p:txBody>
      </p:sp>
      <p:sp>
        <p:nvSpPr>
          <p:cNvPr id="64514" name="Rectangle 2"/>
          <p:cNvSpPr>
            <a:spLocks noChangeArrowheads="1"/>
          </p:cNvSpPr>
          <p:nvPr/>
        </p:nvSpPr>
        <p:spPr bwMode="auto">
          <a:xfrm>
            <a:off x="2668588" y="381000"/>
            <a:ext cx="4230687" cy="461963"/>
          </a:xfrm>
          <a:prstGeom prst="rect">
            <a:avLst/>
          </a:prstGeom>
          <a:noFill/>
          <a:ln w="9525">
            <a:noFill/>
            <a:miter lim="800000"/>
            <a:headEnd/>
            <a:tailEnd/>
          </a:ln>
          <a:effectLst/>
        </p:spPr>
        <p:txBody>
          <a:bodyPr wrap="none">
            <a:spAutoFit/>
          </a:bodyPr>
          <a:lstStyle/>
          <a:p>
            <a:pPr eaLnBrk="1" hangingPunct="1">
              <a:defRPr/>
            </a:pPr>
            <a:r>
              <a:rPr lang="fr-FR" sz="2400" b="1" cap="small" dirty="0">
                <a:solidFill>
                  <a:srgbClr val="0000EC"/>
                </a:solidFill>
                <a:cs typeface="Times New Roman" pitchFamily="18" charset="0"/>
              </a:rPr>
              <a:t>Structures  des variateurs</a:t>
            </a:r>
          </a:p>
        </p:txBody>
      </p:sp>
      <p:sp>
        <p:nvSpPr>
          <p:cNvPr id="64515" name="Text Box 3"/>
          <p:cNvSpPr txBox="1">
            <a:spLocks noChangeArrowheads="1"/>
          </p:cNvSpPr>
          <p:nvPr/>
        </p:nvSpPr>
        <p:spPr bwMode="auto">
          <a:xfrm>
            <a:off x="1011238" y="2000250"/>
            <a:ext cx="6272212"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indent="36512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Wingdings" panose="05000000000000000000" pitchFamily="2" charset="2"/>
              <a:buChar char="§"/>
            </a:pPr>
            <a:r>
              <a:rPr lang="fr-FR" altLang="fr-FR" sz="1800">
                <a:latin typeface="Arial" panose="020B0604020202020204" pitchFamily="34" charset="0"/>
              </a:rPr>
              <a:t>nature de la source d ’énergie (continue ou alternative) ;</a:t>
            </a:r>
          </a:p>
          <a:p>
            <a:pPr eaLnBrk="1" hangingPunct="1">
              <a:spcBef>
                <a:spcPct val="0"/>
              </a:spcBef>
              <a:buClrTx/>
              <a:buSzTx/>
              <a:buFont typeface="Wingdings" panose="05000000000000000000" pitchFamily="2" charset="2"/>
              <a:buChar char="§"/>
            </a:pPr>
            <a:r>
              <a:rPr lang="fr-FR" altLang="fr-FR" sz="1800">
                <a:latin typeface="Arial" panose="020B0604020202020204" pitchFamily="34" charset="0"/>
              </a:rPr>
              <a:t>1 ou 2 sens de rotation ;</a:t>
            </a:r>
          </a:p>
          <a:p>
            <a:pPr eaLnBrk="1" hangingPunct="1">
              <a:spcBef>
                <a:spcPct val="0"/>
              </a:spcBef>
              <a:buClrTx/>
              <a:buSzTx/>
              <a:buFont typeface="Wingdings" panose="05000000000000000000" pitchFamily="2" charset="2"/>
              <a:buChar char="§"/>
            </a:pPr>
            <a:r>
              <a:rPr lang="fr-FR" altLang="fr-FR" sz="1800">
                <a:latin typeface="Arial" panose="020B0604020202020204" pitchFamily="34" charset="0"/>
              </a:rPr>
              <a:t>charge entraînante ou non ;</a:t>
            </a:r>
          </a:p>
          <a:p>
            <a:pPr eaLnBrk="1" hangingPunct="1">
              <a:spcBef>
                <a:spcPct val="0"/>
              </a:spcBef>
              <a:buClrTx/>
              <a:buSzTx/>
              <a:buFont typeface="Wingdings" panose="05000000000000000000" pitchFamily="2" charset="2"/>
              <a:buChar char="§"/>
            </a:pPr>
            <a:r>
              <a:rPr lang="fr-FR" altLang="fr-FR" sz="1800">
                <a:latin typeface="Arial" panose="020B0604020202020204" pitchFamily="34" charset="0"/>
              </a:rPr>
              <a:t>freinage naturel ou forcé ;</a:t>
            </a:r>
          </a:p>
          <a:p>
            <a:pPr eaLnBrk="1" hangingPunct="1">
              <a:spcBef>
                <a:spcPct val="0"/>
              </a:spcBef>
              <a:buClrTx/>
              <a:buSzTx/>
              <a:buFont typeface="Wingdings" panose="05000000000000000000" pitchFamily="2" charset="2"/>
              <a:buChar char="§"/>
            </a:pPr>
            <a:r>
              <a:rPr lang="fr-FR" altLang="fr-FR" sz="1800">
                <a:latin typeface="Arial" panose="020B0604020202020204" pitchFamily="34" charset="0"/>
              </a:rPr>
              <a:t>puissance du moteur ;</a:t>
            </a:r>
          </a:p>
          <a:p>
            <a:pPr eaLnBrk="1" hangingPunct="1">
              <a:spcBef>
                <a:spcPct val="0"/>
              </a:spcBef>
              <a:buClrTx/>
              <a:buSzTx/>
              <a:buFont typeface="Wingdings" panose="05000000000000000000" pitchFamily="2" charset="2"/>
              <a:buChar char="§"/>
            </a:pPr>
            <a:r>
              <a:rPr lang="fr-FR" altLang="fr-FR" sz="1800">
                <a:latin typeface="Arial" panose="020B0604020202020204" pitchFamily="34" charset="0"/>
              </a:rPr>
              <a:t>le moteur fonctionne en couple ou en vitesse ;</a:t>
            </a:r>
          </a:p>
          <a:p>
            <a:pPr eaLnBrk="1" hangingPunct="1">
              <a:spcBef>
                <a:spcPct val="0"/>
              </a:spcBef>
              <a:buClrTx/>
              <a:buSzTx/>
              <a:buFont typeface="Wingdings" panose="05000000000000000000" pitchFamily="2" charset="2"/>
              <a:buChar char="§"/>
            </a:pPr>
            <a:r>
              <a:rPr lang="fr-FR" altLang="fr-FR" sz="1800">
                <a:latin typeface="Arial" panose="020B0604020202020204" pitchFamily="34" charset="0"/>
              </a:rPr>
              <a:t>etc....</a:t>
            </a:r>
          </a:p>
        </p:txBody>
      </p:sp>
      <p:sp>
        <p:nvSpPr>
          <p:cNvPr id="64516" name="Text Box 4"/>
          <p:cNvSpPr txBox="1">
            <a:spLocks noChangeArrowheads="1"/>
          </p:cNvSpPr>
          <p:nvPr/>
        </p:nvSpPr>
        <p:spPr bwMode="auto">
          <a:xfrm>
            <a:off x="725488" y="5105400"/>
            <a:ext cx="76279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La structure interne des variateurs est liées à ces critères.</a:t>
            </a:r>
          </a:p>
          <a:p>
            <a:pPr eaLnBrk="1" hangingPunct="1">
              <a:spcBef>
                <a:spcPct val="0"/>
              </a:spcBef>
              <a:buClrTx/>
              <a:buSzTx/>
              <a:buFontTx/>
              <a:buNone/>
            </a:pPr>
            <a:r>
              <a:rPr lang="fr-FR" altLang="fr-FR" sz="1800">
                <a:latin typeface="Arial" panose="020B0604020202020204" pitchFamily="34" charset="0"/>
              </a:rPr>
              <a:t>On se limitera à la prise en compte des 4 premiers critères.</a:t>
            </a:r>
          </a:p>
        </p:txBody>
      </p:sp>
      <p:sp>
        <p:nvSpPr>
          <p:cNvPr id="64517" name="Rectangle 5"/>
          <p:cNvSpPr>
            <a:spLocks noChangeArrowheads="1"/>
          </p:cNvSpPr>
          <p:nvPr/>
        </p:nvSpPr>
        <p:spPr bwMode="auto">
          <a:xfrm>
            <a:off x="796925" y="1285875"/>
            <a:ext cx="5997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Plusieurs critères sont à prendre en compte :</a:t>
            </a:r>
          </a:p>
        </p:txBody>
      </p:sp>
      <p:sp>
        <p:nvSpPr>
          <p:cNvPr id="71688"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4517"/>
                                        </p:tgtEl>
                                        <p:attrNameLst>
                                          <p:attrName>style.visibility</p:attrName>
                                        </p:attrNameLst>
                                      </p:cBhvr>
                                      <p:to>
                                        <p:strVal val="visible"/>
                                      </p:to>
                                    </p:set>
                                    <p:anim calcmode="lin" valueType="num">
                                      <p:cBhvr>
                                        <p:cTn id="7" dur="500" fill="hold"/>
                                        <p:tgtEl>
                                          <p:spTgt spid="64517"/>
                                        </p:tgtEl>
                                        <p:attrNameLst>
                                          <p:attrName>ppt_w</p:attrName>
                                        </p:attrNameLst>
                                      </p:cBhvr>
                                      <p:tavLst>
                                        <p:tav tm="0">
                                          <p:val>
                                            <p:fltVal val="0"/>
                                          </p:val>
                                        </p:tav>
                                        <p:tav tm="100000">
                                          <p:val>
                                            <p:strVal val="#ppt_w"/>
                                          </p:val>
                                        </p:tav>
                                      </p:tavLst>
                                    </p:anim>
                                    <p:anim calcmode="lin" valueType="num">
                                      <p:cBhvr>
                                        <p:cTn id="8" dur="500" fill="hold"/>
                                        <p:tgtEl>
                                          <p:spTgt spid="6451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4515"/>
                                        </p:tgtEl>
                                        <p:attrNameLst>
                                          <p:attrName>style.visibility</p:attrName>
                                        </p:attrNameLst>
                                      </p:cBhvr>
                                      <p:to>
                                        <p:strVal val="visible"/>
                                      </p:to>
                                    </p:set>
                                    <p:anim calcmode="lin" valueType="num">
                                      <p:cBhvr>
                                        <p:cTn id="13" dur="500" fill="hold"/>
                                        <p:tgtEl>
                                          <p:spTgt spid="64515"/>
                                        </p:tgtEl>
                                        <p:attrNameLst>
                                          <p:attrName>ppt_w</p:attrName>
                                        </p:attrNameLst>
                                      </p:cBhvr>
                                      <p:tavLst>
                                        <p:tav tm="0">
                                          <p:val>
                                            <p:fltVal val="0"/>
                                          </p:val>
                                        </p:tav>
                                        <p:tav tm="100000">
                                          <p:val>
                                            <p:strVal val="#ppt_w"/>
                                          </p:val>
                                        </p:tav>
                                      </p:tavLst>
                                    </p:anim>
                                    <p:anim calcmode="lin" valueType="num">
                                      <p:cBhvr>
                                        <p:cTn id="14" dur="500" fill="hold"/>
                                        <p:tgtEl>
                                          <p:spTgt spid="64515"/>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64516"/>
                                        </p:tgtEl>
                                        <p:attrNameLst>
                                          <p:attrName>style.visibility</p:attrName>
                                        </p:attrNameLst>
                                      </p:cBhvr>
                                      <p:to>
                                        <p:strVal val="visible"/>
                                      </p:to>
                                    </p:set>
                                    <p:anim calcmode="lin" valueType="num">
                                      <p:cBhvr>
                                        <p:cTn id="19" dur="500" fill="hold"/>
                                        <p:tgtEl>
                                          <p:spTgt spid="64516"/>
                                        </p:tgtEl>
                                        <p:attrNameLst>
                                          <p:attrName>ppt_w</p:attrName>
                                        </p:attrNameLst>
                                      </p:cBhvr>
                                      <p:tavLst>
                                        <p:tav tm="0">
                                          <p:val>
                                            <p:fltVal val="0"/>
                                          </p:val>
                                        </p:tav>
                                        <p:tav tm="100000">
                                          <p:val>
                                            <p:strVal val="#ppt_w"/>
                                          </p:val>
                                        </p:tav>
                                      </p:tavLst>
                                    </p:anim>
                                    <p:anim calcmode="lin" valueType="num">
                                      <p:cBhvr>
                                        <p:cTn id="20" dur="500" fill="hold"/>
                                        <p:tgtEl>
                                          <p:spTgt spid="645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5" grpId="0"/>
      <p:bldP spid="64516" grpId="0" autoUpdateAnimBg="0"/>
      <p:bldP spid="6451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73730"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3E37BE3-36AA-4747-BA4A-69A58B49254D}" type="slidenum">
              <a:rPr lang="fr-FR" altLang="fr-FR" sz="1000" smtClean="0">
                <a:solidFill>
                  <a:srgbClr val="292929"/>
                </a:solidFill>
                <a:latin typeface="Arial" panose="020B0604020202020204" pitchFamily="34" charset="0"/>
              </a:rPr>
              <a:pPr>
                <a:spcBef>
                  <a:spcPct val="0"/>
                </a:spcBef>
                <a:buClrTx/>
                <a:buSzTx/>
                <a:buFontTx/>
                <a:buNone/>
              </a:pPr>
              <a:t>41</a:t>
            </a:fld>
            <a:endParaRPr lang="fr-FR" altLang="fr-FR" sz="1000" smtClean="0">
              <a:solidFill>
                <a:srgbClr val="292929"/>
              </a:solidFill>
              <a:latin typeface="Arial" panose="020B0604020202020204" pitchFamily="34" charset="0"/>
            </a:endParaRPr>
          </a:p>
        </p:txBody>
      </p:sp>
      <p:pic>
        <p:nvPicPr>
          <p:cNvPr id="73731" name="Picture 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19213" y="1638300"/>
            <a:ext cx="65055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3732" name="Rectangle 4"/>
          <p:cNvSpPr>
            <a:spLocks noChangeArrowheads="1"/>
          </p:cNvSpPr>
          <p:nvPr/>
        </p:nvSpPr>
        <p:spPr bwMode="auto">
          <a:xfrm>
            <a:off x="1785938" y="642938"/>
            <a:ext cx="6286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Les Différents types des convertisseurs</a:t>
            </a:r>
          </a:p>
        </p:txBody>
      </p:sp>
      <p:sp>
        <p:nvSpPr>
          <p:cNvPr id="73733" name="Rectangle 3"/>
          <p:cNvSpPr>
            <a:spLocks noChangeArrowheads="1"/>
          </p:cNvSpPr>
          <p:nvPr/>
        </p:nvSpPr>
        <p:spPr bwMode="auto">
          <a:xfrm>
            <a:off x="182563" y="255588"/>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 name="Espace réservé du pied de page 6"/>
          <p:cNvSpPr>
            <a:spLocks noGrp="1"/>
          </p:cNvSpPr>
          <p:nvPr>
            <p:ph type="ftr" sz="quarter" idx="11"/>
          </p:nvPr>
        </p:nvSpPr>
        <p:spPr/>
        <p:txBody>
          <a:bodyPr/>
          <a:lstStyle/>
          <a:p>
            <a:pPr>
              <a:defRPr/>
            </a:pPr>
            <a:r>
              <a:rPr lang="fr-FR"/>
              <a:t>Commande des machines   3.MCC     Ali NEJMI</a:t>
            </a:r>
            <a:endParaRPr lang="en-US"/>
          </a:p>
        </p:txBody>
      </p:sp>
      <p:sp>
        <p:nvSpPr>
          <p:cNvPr id="8" name="Rectangle 2"/>
          <p:cNvSpPr>
            <a:spLocks noChangeArrowheads="1"/>
          </p:cNvSpPr>
          <p:nvPr/>
        </p:nvSpPr>
        <p:spPr bwMode="auto">
          <a:xfrm>
            <a:off x="3741738" y="26828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4097" name="Rectangle 1"/>
          <p:cNvSpPr>
            <a:spLocks noChangeArrowheads="1"/>
          </p:cNvSpPr>
          <p:nvPr/>
        </p:nvSpPr>
        <p:spPr bwMode="auto">
          <a:xfrm>
            <a:off x="285750" y="700088"/>
            <a:ext cx="8501063" cy="706437"/>
          </a:xfrm>
          <a:prstGeom prst="rect">
            <a:avLst/>
          </a:prstGeom>
          <a:noFill/>
          <a:ln w="9525">
            <a:noFill/>
            <a:miter lim="800000"/>
            <a:headEnd/>
            <a:tailEnd/>
          </a:ln>
        </p:spPr>
        <p:txBody>
          <a:bodyPr anchor="ctr">
            <a:spAutoFit/>
          </a:bodyPr>
          <a:lstStyle/>
          <a:p>
            <a:pPr eaLnBrk="1" hangingPunct="1">
              <a:defRPr/>
            </a:pPr>
            <a:r>
              <a:rPr lang="fr-FR" sz="2000" b="1" cap="small" dirty="0">
                <a:solidFill>
                  <a:srgbClr val="C00000"/>
                </a:solidFill>
                <a:cs typeface="Times New Roman" pitchFamily="18" charset="0"/>
              </a:rPr>
              <a:t>Les dispositifs électroniques utilisés pour la variation de vitesse  des moteurs à courant continu</a:t>
            </a:r>
          </a:p>
        </p:txBody>
      </p:sp>
      <p:graphicFrame>
        <p:nvGraphicFramePr>
          <p:cNvPr id="12" name="Tableau 11"/>
          <p:cNvGraphicFramePr>
            <a:graphicFrameLocks noGrp="1"/>
          </p:cNvGraphicFramePr>
          <p:nvPr/>
        </p:nvGraphicFramePr>
        <p:xfrm>
          <a:off x="357188" y="1654175"/>
          <a:ext cx="8429624" cy="4929188"/>
        </p:xfrm>
        <a:graphic>
          <a:graphicData uri="http://schemas.openxmlformats.org/drawingml/2006/table">
            <a:tbl>
              <a:tblPr>
                <a:tableStyleId>{5C22544A-7EE6-4342-B048-85BDC9FD1C3A}</a:tableStyleId>
              </a:tblPr>
              <a:tblGrid>
                <a:gridCol w="2370819">
                  <a:extLst>
                    <a:ext uri="{9D8B030D-6E8A-4147-A177-3AD203B41FA5}">
                      <a16:colId xmlns:a16="http://schemas.microsoft.com/office/drawing/2014/main" val="20000"/>
                    </a:ext>
                  </a:extLst>
                </a:gridCol>
                <a:gridCol w="2700133">
                  <a:extLst>
                    <a:ext uri="{9D8B030D-6E8A-4147-A177-3AD203B41FA5}">
                      <a16:colId xmlns:a16="http://schemas.microsoft.com/office/drawing/2014/main" val="20001"/>
                    </a:ext>
                  </a:extLst>
                </a:gridCol>
                <a:gridCol w="3358672">
                  <a:extLst>
                    <a:ext uri="{9D8B030D-6E8A-4147-A177-3AD203B41FA5}">
                      <a16:colId xmlns:a16="http://schemas.microsoft.com/office/drawing/2014/main" val="20002"/>
                    </a:ext>
                  </a:extLst>
                </a:gridCol>
              </a:tblGrid>
              <a:tr h="2305587">
                <a:tc>
                  <a:txBody>
                    <a:bodyPr/>
                    <a:lstStyle/>
                    <a:p>
                      <a:pPr algn="l"/>
                      <a:r>
                        <a:rPr lang="fr-FR" sz="1800" b="0" kern="1200" dirty="0" smtClean="0">
                          <a:solidFill>
                            <a:schemeClr val="dk1"/>
                          </a:solidFill>
                          <a:latin typeface="Arial" pitchFamily="34" charset="0"/>
                          <a:ea typeface="+mn-ea"/>
                          <a:cs typeface="Arial" pitchFamily="34" charset="0"/>
                        </a:rPr>
                        <a:t>Redresseur contrôlé</a:t>
                      </a:r>
                    </a:p>
                    <a:p>
                      <a:pPr algn="l"/>
                      <a:r>
                        <a:rPr lang="fr-FR" sz="1800" b="0" kern="1200" dirty="0" smtClean="0">
                          <a:solidFill>
                            <a:schemeClr val="dk1"/>
                          </a:solidFill>
                          <a:latin typeface="Arial" pitchFamily="34" charset="0"/>
                          <a:ea typeface="+mn-ea"/>
                          <a:cs typeface="Arial" pitchFamily="34" charset="0"/>
                        </a:rPr>
                        <a:t>à tension variable</a:t>
                      </a: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800" dirty="0"/>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2400" b="1" kern="1200" dirty="0" smtClean="0">
                        <a:solidFill>
                          <a:srgbClr val="FF0000"/>
                        </a:solidFill>
                        <a:latin typeface="+mn-lt"/>
                        <a:ea typeface="+mn-ea"/>
                        <a:cs typeface="+mn-cs"/>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262360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kumimoji="0" lang="fr-FR" sz="2400" b="0" kern="1200" dirty="0" smtClean="0">
                        <a:solidFill>
                          <a:schemeClr val="dk1"/>
                        </a:solidFill>
                        <a:latin typeface="Times New Roman" pitchFamily="18" charset="0"/>
                        <a:ea typeface="+mn-ea"/>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endParaRPr kumimoji="0" lang="fr-FR" sz="2400" b="0" kern="1200" dirty="0" smtClean="0">
                        <a:solidFill>
                          <a:schemeClr val="dk1"/>
                        </a:solidFill>
                        <a:latin typeface="Times New Roman" pitchFamily="18" charset="0"/>
                        <a:ea typeface="+mn-ea"/>
                        <a:cs typeface="Times New Roman"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0" lang="fr-FR" sz="1800" b="0" kern="1200" dirty="0" smtClean="0">
                          <a:solidFill>
                            <a:schemeClr val="dk1"/>
                          </a:solidFill>
                          <a:latin typeface="Arial" pitchFamily="34" charset="0"/>
                          <a:ea typeface="+mn-ea"/>
                          <a:cs typeface="Arial" pitchFamily="34" charset="0"/>
                        </a:rPr>
                        <a:t>Hacheur</a:t>
                      </a:r>
                    </a:p>
                    <a:p>
                      <a:pPr marL="0" algn="l" rtl="0" eaLnBrk="1" latinLnBrk="0" hangingPunct="1"/>
                      <a:endParaRPr kumimoji="0" lang="fr-FR" sz="2400" b="0" kern="1200" dirty="0">
                        <a:solidFill>
                          <a:schemeClr val="dk1"/>
                        </a:solidFill>
                        <a:latin typeface="Times New Roman" pitchFamily="18" charset="0"/>
                        <a:ea typeface="+mn-ea"/>
                        <a:cs typeface="Times New Roman" pitchFamily="18" charset="0"/>
                      </a:endParaRPr>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800" dirty="0"/>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fr-FR" sz="1800" dirty="0"/>
                    </a:p>
                  </a:txBody>
                  <a:tcPr marL="91439" marR="9143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75793" name="Rectangle 5"/>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Calibri" panose="020F0502020204030204" pitchFamily="34" charset="0"/>
            </a:endParaRPr>
          </a:p>
        </p:txBody>
      </p:sp>
      <p:pic>
        <p:nvPicPr>
          <p:cNvPr id="614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6063" y="1928813"/>
            <a:ext cx="2568575"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p:cNvSpPr>
            <a:spLocks noChangeArrowheads="1"/>
          </p:cNvSpPr>
          <p:nvPr/>
        </p:nvSpPr>
        <p:spPr bwMode="auto">
          <a:xfrm>
            <a:off x="5500688" y="1806575"/>
            <a:ext cx="314325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solidFill>
                  <a:srgbClr val="FF0000"/>
                </a:solidFill>
                <a:latin typeface="Arial" panose="020B0604020202020204" pitchFamily="34" charset="0"/>
              </a:rPr>
              <a:t>Fournit à partir d’un réseau alternatif monophasé ou triphasé, une tension redressée de valeur moyenne variable</a:t>
            </a:r>
          </a:p>
        </p:txBody>
      </p:sp>
      <p:sp>
        <p:nvSpPr>
          <p:cNvPr id="75796"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Calibri" panose="020F0502020204030204" pitchFamily="34" charset="0"/>
            </a:endParaRPr>
          </a:p>
        </p:txBody>
      </p:sp>
      <p:pic>
        <p:nvPicPr>
          <p:cNvPr id="410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0188" y="4429125"/>
            <a:ext cx="2643187"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4" name="Rectangle 8"/>
          <p:cNvSpPr>
            <a:spLocks noChangeArrowheads="1"/>
          </p:cNvSpPr>
          <p:nvPr/>
        </p:nvSpPr>
        <p:spPr bwMode="auto">
          <a:xfrm>
            <a:off x="5500688" y="4098925"/>
            <a:ext cx="314325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solidFill>
                  <a:srgbClr val="FF0000"/>
                </a:solidFill>
                <a:latin typeface="Arial" panose="020B0604020202020204" pitchFamily="34" charset="0"/>
              </a:rPr>
              <a:t>Fournit à partir d’une source de tension continue fixe, une source de tension « continue » dont on  contrôle la valeur moyenne. </a:t>
            </a:r>
            <a:endParaRPr lang="fr-FR" altLang="fr-FR" sz="1800">
              <a:latin typeface="Arial" panose="020B0604020202020204" pitchFamily="34" charset="0"/>
            </a:endParaRPr>
          </a:p>
        </p:txBody>
      </p:sp>
      <p:sp>
        <p:nvSpPr>
          <p:cNvPr id="75799" name="Espace réservé du numéro de diapositive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205D937-81B1-4DD4-B30D-A1025B2E0FFC}" type="slidenum">
              <a:rPr lang="fr-FR" altLang="fr-FR" sz="1000" smtClean="0">
                <a:solidFill>
                  <a:srgbClr val="292929"/>
                </a:solidFill>
                <a:latin typeface="Arial" panose="020B0604020202020204" pitchFamily="34" charset="0"/>
              </a:rPr>
              <a:pPr>
                <a:spcBef>
                  <a:spcPct val="0"/>
                </a:spcBef>
                <a:buClrTx/>
                <a:buSzTx/>
                <a:buFontTx/>
                <a:buNone/>
              </a:pPr>
              <a:t>42</a:t>
            </a:fld>
            <a:endParaRPr lang="fr-FR" altLang="fr-FR" sz="1000" smtClean="0">
              <a:solidFill>
                <a:srgbClr val="292929"/>
              </a:solidFill>
              <a:latin typeface="Arial" panose="020B0604020202020204" pitchFamily="34" charset="0"/>
            </a:endParaRPr>
          </a:p>
        </p:txBody>
      </p:sp>
      <p:sp>
        <p:nvSpPr>
          <p:cNvPr id="75800" name="Rectangle 3"/>
          <p:cNvSpPr>
            <a:spLocks noChangeArrowheads="1"/>
          </p:cNvSpPr>
          <p:nvPr/>
        </p:nvSpPr>
        <p:spPr bwMode="auto">
          <a:xfrm>
            <a:off x="182563" y="2714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 name="Espace réservé du pied de page 12"/>
          <p:cNvSpPr>
            <a:spLocks noGrp="1"/>
          </p:cNvSpPr>
          <p:nvPr>
            <p:ph type="ftr" sz="quarter" idx="11"/>
          </p:nvPr>
        </p:nvSpPr>
        <p:spPr/>
        <p:txBody>
          <a:bodyPr/>
          <a:lstStyle/>
          <a:p>
            <a:pPr>
              <a:defRPr/>
            </a:pPr>
            <a:r>
              <a:rPr lang="fr-FR"/>
              <a:t>Commande des machines   3.MCC     Ali NEJMI</a:t>
            </a:r>
            <a:endParaRPr lang="en-US"/>
          </a:p>
        </p:txBody>
      </p:sp>
      <p:sp>
        <p:nvSpPr>
          <p:cNvPr id="14" name="Rectangle 2"/>
          <p:cNvSpPr>
            <a:spLocks noChangeArrowheads="1"/>
          </p:cNvSpPr>
          <p:nvPr/>
        </p:nvSpPr>
        <p:spPr bwMode="auto">
          <a:xfrm>
            <a:off x="2786063" y="271463"/>
            <a:ext cx="2555875"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409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1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1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6" presetClass="entr" presetSubtype="0" fill="hold" nodeType="clickEffect">
                                  <p:stCondLst>
                                    <p:cond delay="0"/>
                                  </p:stCondLst>
                                  <p:childTnLst>
                                    <p:set>
                                      <p:cBhvr>
                                        <p:cTn id="22" dur="1" fill="hold">
                                          <p:stCondLst>
                                            <p:cond delay="0"/>
                                          </p:stCondLst>
                                        </p:cTn>
                                        <p:tgtEl>
                                          <p:spTgt spid="4102"/>
                                        </p:tgtEl>
                                        <p:attrNameLst>
                                          <p:attrName>style.visibility</p:attrName>
                                        </p:attrNameLst>
                                      </p:cBhvr>
                                      <p:to>
                                        <p:strVal val="visible"/>
                                      </p:to>
                                    </p:set>
                                    <p:animEffect transition="in" filter="wipe(down)">
                                      <p:cBhvr>
                                        <p:cTn id="23" dur="580">
                                          <p:stCondLst>
                                            <p:cond delay="0"/>
                                          </p:stCondLst>
                                        </p:cTn>
                                        <p:tgtEl>
                                          <p:spTgt spid="4102"/>
                                        </p:tgtEl>
                                      </p:cBhvr>
                                    </p:animEffect>
                                    <p:anim calcmode="lin" valueType="num">
                                      <p:cBhvr>
                                        <p:cTn id="24" dur="1822" tmFilter="0,0; 0.14,0.36; 0.43,0.73; 0.71,0.91; 1.0,1.0">
                                          <p:stCondLst>
                                            <p:cond delay="0"/>
                                          </p:stCondLst>
                                        </p:cTn>
                                        <p:tgtEl>
                                          <p:spTgt spid="4102"/>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4102"/>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4102"/>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4102"/>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4102"/>
                                        </p:tgtEl>
                                        <p:attrNameLst>
                                          <p:attrName>ppt_y</p:attrName>
                                        </p:attrNameLst>
                                      </p:cBhvr>
                                      <p:tavLst>
                                        <p:tav tm="0" fmla="#ppt_y-sin(pi*$)/81">
                                          <p:val>
                                            <p:fltVal val="0"/>
                                          </p:val>
                                        </p:tav>
                                        <p:tav tm="100000">
                                          <p:val>
                                            <p:fltVal val="1"/>
                                          </p:val>
                                        </p:tav>
                                      </p:tavLst>
                                    </p:anim>
                                    <p:animScale>
                                      <p:cBhvr>
                                        <p:cTn id="29" dur="26">
                                          <p:stCondLst>
                                            <p:cond delay="650"/>
                                          </p:stCondLst>
                                        </p:cTn>
                                        <p:tgtEl>
                                          <p:spTgt spid="4102"/>
                                        </p:tgtEl>
                                      </p:cBhvr>
                                      <p:to x="100000" y="60000"/>
                                    </p:animScale>
                                    <p:animScale>
                                      <p:cBhvr>
                                        <p:cTn id="30" dur="166" decel="50000">
                                          <p:stCondLst>
                                            <p:cond delay="676"/>
                                          </p:stCondLst>
                                        </p:cTn>
                                        <p:tgtEl>
                                          <p:spTgt spid="4102"/>
                                        </p:tgtEl>
                                      </p:cBhvr>
                                      <p:to x="100000" y="100000"/>
                                    </p:animScale>
                                    <p:animScale>
                                      <p:cBhvr>
                                        <p:cTn id="31" dur="26">
                                          <p:stCondLst>
                                            <p:cond delay="1312"/>
                                          </p:stCondLst>
                                        </p:cTn>
                                        <p:tgtEl>
                                          <p:spTgt spid="4102"/>
                                        </p:tgtEl>
                                      </p:cBhvr>
                                      <p:to x="100000" y="80000"/>
                                    </p:animScale>
                                    <p:animScale>
                                      <p:cBhvr>
                                        <p:cTn id="32" dur="166" decel="50000">
                                          <p:stCondLst>
                                            <p:cond delay="1338"/>
                                          </p:stCondLst>
                                        </p:cTn>
                                        <p:tgtEl>
                                          <p:spTgt spid="4102"/>
                                        </p:tgtEl>
                                      </p:cBhvr>
                                      <p:to x="100000" y="100000"/>
                                    </p:animScale>
                                    <p:animScale>
                                      <p:cBhvr>
                                        <p:cTn id="33" dur="26">
                                          <p:stCondLst>
                                            <p:cond delay="1642"/>
                                          </p:stCondLst>
                                        </p:cTn>
                                        <p:tgtEl>
                                          <p:spTgt spid="4102"/>
                                        </p:tgtEl>
                                      </p:cBhvr>
                                      <p:to x="100000" y="90000"/>
                                    </p:animScale>
                                    <p:animScale>
                                      <p:cBhvr>
                                        <p:cTn id="34" dur="166" decel="50000">
                                          <p:stCondLst>
                                            <p:cond delay="1668"/>
                                          </p:stCondLst>
                                        </p:cTn>
                                        <p:tgtEl>
                                          <p:spTgt spid="4102"/>
                                        </p:tgtEl>
                                      </p:cBhvr>
                                      <p:to x="100000" y="100000"/>
                                    </p:animScale>
                                    <p:animScale>
                                      <p:cBhvr>
                                        <p:cTn id="35" dur="26">
                                          <p:stCondLst>
                                            <p:cond delay="1808"/>
                                          </p:stCondLst>
                                        </p:cTn>
                                        <p:tgtEl>
                                          <p:spTgt spid="4102"/>
                                        </p:tgtEl>
                                      </p:cBhvr>
                                      <p:to x="100000" y="95000"/>
                                    </p:animScale>
                                    <p:animScale>
                                      <p:cBhvr>
                                        <p:cTn id="36" dur="166" decel="50000">
                                          <p:stCondLst>
                                            <p:cond delay="1834"/>
                                          </p:stCondLst>
                                        </p:cTn>
                                        <p:tgtEl>
                                          <p:spTgt spid="4102"/>
                                        </p:tgtEl>
                                      </p:cBhvr>
                                      <p:to x="100000" y="100000"/>
                                    </p:animScale>
                                  </p:childTnLst>
                                </p:cTn>
                              </p:par>
                            </p:childTnLst>
                          </p:cTn>
                        </p:par>
                      </p:childTnLst>
                    </p:cTn>
                  </p:par>
                  <p:par>
                    <p:cTn id="37" fill="hold" nodeType="clickPar">
                      <p:stCondLst>
                        <p:cond delay="indefinite"/>
                      </p:stCondLst>
                      <p:childTnLst>
                        <p:par>
                          <p:cTn id="38" fill="hold" nodeType="withGroup">
                            <p:stCondLst>
                              <p:cond delay="0"/>
                            </p:stCondLst>
                            <p:childTnLst>
                              <p:par>
                                <p:cTn id="39" presetID="39" presetClass="entr" presetSubtype="0" accel="100000" fill="hold" grpId="0" nodeType="clickEffect">
                                  <p:stCondLst>
                                    <p:cond delay="0"/>
                                  </p:stCondLst>
                                  <p:childTnLst>
                                    <p:set>
                                      <p:cBhvr>
                                        <p:cTn id="40" dur="1" fill="hold">
                                          <p:stCondLst>
                                            <p:cond delay="0"/>
                                          </p:stCondLst>
                                        </p:cTn>
                                        <p:tgtEl>
                                          <p:spTgt spid="4104"/>
                                        </p:tgtEl>
                                        <p:attrNameLst>
                                          <p:attrName>style.visibility</p:attrName>
                                        </p:attrNameLst>
                                      </p:cBhvr>
                                      <p:to>
                                        <p:strVal val="visible"/>
                                      </p:to>
                                    </p:set>
                                    <p:anim calcmode="lin" valueType="num">
                                      <p:cBhvr>
                                        <p:cTn id="41" dur="500" fill="hold"/>
                                        <p:tgtEl>
                                          <p:spTgt spid="4104"/>
                                        </p:tgtEl>
                                        <p:attrNameLst>
                                          <p:attrName>ppt_h</p:attrName>
                                        </p:attrNameLst>
                                      </p:cBhvr>
                                      <p:tavLst>
                                        <p:tav tm="0">
                                          <p:val>
                                            <p:strVal val="#ppt_h/20"/>
                                          </p:val>
                                        </p:tav>
                                        <p:tav tm="50000">
                                          <p:val>
                                            <p:strVal val="#ppt_h/20"/>
                                          </p:val>
                                        </p:tav>
                                        <p:tav tm="100000">
                                          <p:val>
                                            <p:strVal val="#ppt_h"/>
                                          </p:val>
                                        </p:tav>
                                      </p:tavLst>
                                    </p:anim>
                                    <p:anim calcmode="lin" valueType="num">
                                      <p:cBhvr>
                                        <p:cTn id="42" dur="500" fill="hold"/>
                                        <p:tgtEl>
                                          <p:spTgt spid="4104"/>
                                        </p:tgtEl>
                                        <p:attrNameLst>
                                          <p:attrName>ppt_w</p:attrName>
                                        </p:attrNameLst>
                                      </p:cBhvr>
                                      <p:tavLst>
                                        <p:tav tm="0">
                                          <p:val>
                                            <p:strVal val="#ppt_w+.3"/>
                                          </p:val>
                                        </p:tav>
                                        <p:tav tm="50000">
                                          <p:val>
                                            <p:strVal val="#ppt_w+.3"/>
                                          </p:val>
                                        </p:tav>
                                        <p:tav tm="100000">
                                          <p:val>
                                            <p:strVal val="#ppt_w"/>
                                          </p:val>
                                        </p:tav>
                                      </p:tavLst>
                                    </p:anim>
                                    <p:anim calcmode="lin" valueType="num">
                                      <p:cBhvr>
                                        <p:cTn id="43" dur="500" fill="hold"/>
                                        <p:tgtEl>
                                          <p:spTgt spid="4104"/>
                                        </p:tgtEl>
                                        <p:attrNameLst>
                                          <p:attrName>ppt_x</p:attrName>
                                        </p:attrNameLst>
                                      </p:cBhvr>
                                      <p:tavLst>
                                        <p:tav tm="0">
                                          <p:val>
                                            <p:strVal val="#ppt_x-.3"/>
                                          </p:val>
                                        </p:tav>
                                        <p:tav tm="50000">
                                          <p:val>
                                            <p:strVal val="#ppt_x"/>
                                          </p:val>
                                        </p:tav>
                                        <p:tav tm="100000">
                                          <p:val>
                                            <p:strVal val="#ppt_x"/>
                                          </p:val>
                                        </p:tav>
                                      </p:tavLst>
                                    </p:anim>
                                    <p:anim calcmode="lin" valueType="num">
                                      <p:cBhvr>
                                        <p:cTn id="44" dur="500" fill="hold"/>
                                        <p:tgtEl>
                                          <p:spTgt spid="410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 grpId="0" autoUpdateAnimBg="0"/>
      <p:bldP spid="15" grpId="0" autoUpdateAnimBg="0"/>
      <p:bldP spid="4104" grpId="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19" name="Espace réservé du pied de page 18"/>
          <p:cNvSpPr>
            <a:spLocks noGrp="1"/>
          </p:cNvSpPr>
          <p:nvPr>
            <p:ph type="ftr" sz="quarter" idx="11"/>
          </p:nvPr>
        </p:nvSpPr>
        <p:spPr/>
        <p:txBody>
          <a:bodyPr/>
          <a:lstStyle/>
          <a:p>
            <a:pPr>
              <a:defRPr/>
            </a:pPr>
            <a:r>
              <a:rPr lang="fr-FR"/>
              <a:t>Commande des machines   3.MCC     Ali NEJMI</a:t>
            </a:r>
          </a:p>
        </p:txBody>
      </p:sp>
      <p:sp>
        <p:nvSpPr>
          <p:cNvPr id="77827"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EB6506D-460F-4162-B55E-84BD545FDD50}" type="slidenum">
              <a:rPr lang="fr-FR" altLang="fr-FR" sz="1000" smtClean="0">
                <a:solidFill>
                  <a:srgbClr val="292929"/>
                </a:solidFill>
                <a:latin typeface="Arial" panose="020B0604020202020204" pitchFamily="34" charset="0"/>
              </a:rPr>
              <a:pPr>
                <a:spcBef>
                  <a:spcPct val="0"/>
                </a:spcBef>
                <a:buClrTx/>
                <a:buSzTx/>
                <a:buFontTx/>
                <a:buNone/>
              </a:pPr>
              <a:t>43</a:t>
            </a:fld>
            <a:endParaRPr lang="fr-FR" altLang="fr-FR" sz="1000" smtClean="0">
              <a:solidFill>
                <a:srgbClr val="292929"/>
              </a:solidFill>
              <a:latin typeface="Arial" panose="020B0604020202020204" pitchFamily="34" charset="0"/>
            </a:endParaRPr>
          </a:p>
        </p:txBody>
      </p:sp>
      <p:sp>
        <p:nvSpPr>
          <p:cNvPr id="65538" name="Rectangle 2"/>
          <p:cNvSpPr>
            <a:spLocks noChangeArrowheads="1"/>
          </p:cNvSpPr>
          <p:nvPr/>
        </p:nvSpPr>
        <p:spPr bwMode="auto">
          <a:xfrm>
            <a:off x="709613" y="733425"/>
            <a:ext cx="3481387" cy="400050"/>
          </a:xfrm>
          <a:prstGeom prst="rect">
            <a:avLst/>
          </a:prstGeom>
          <a:noFill/>
          <a:ln w="9525">
            <a:noFill/>
            <a:miter lim="800000"/>
            <a:headEnd/>
            <a:tailEnd/>
          </a:ln>
          <a:effectLst/>
        </p:spPr>
        <p:txBody>
          <a:bodyPr wrap="none">
            <a:spAutoFit/>
          </a:bodyPr>
          <a:lstStyle/>
          <a:p>
            <a:pPr eaLnBrk="1" hangingPunct="1">
              <a:defRPr/>
            </a:pPr>
            <a:r>
              <a:rPr lang="fr-FR" sz="2000" b="1" cap="small" dirty="0">
                <a:cs typeface="Times New Roman" pitchFamily="18" charset="0"/>
              </a:rPr>
              <a:t>Alimentation par le réseau</a:t>
            </a:r>
          </a:p>
        </p:txBody>
      </p:sp>
      <p:grpSp>
        <p:nvGrpSpPr>
          <p:cNvPr id="2" name="Group 3"/>
          <p:cNvGrpSpPr>
            <a:grpSpLocks/>
          </p:cNvGrpSpPr>
          <p:nvPr/>
        </p:nvGrpSpPr>
        <p:grpSpPr bwMode="auto">
          <a:xfrm>
            <a:off x="1076325" y="1684338"/>
            <a:ext cx="7099300" cy="1371600"/>
            <a:chOff x="875" y="2928"/>
            <a:chExt cx="4472" cy="864"/>
          </a:xfrm>
        </p:grpSpPr>
        <p:sp>
          <p:nvSpPr>
            <p:cNvPr id="77833" name="Line 4"/>
            <p:cNvSpPr>
              <a:spLocks noChangeShapeType="1"/>
            </p:cNvSpPr>
            <p:nvPr/>
          </p:nvSpPr>
          <p:spPr bwMode="auto">
            <a:xfrm>
              <a:off x="1680" y="3408"/>
              <a:ext cx="16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77834" name="AutoShape 7"/>
            <p:cNvSpPr>
              <a:spLocks noChangeArrowheads="1"/>
            </p:cNvSpPr>
            <p:nvPr/>
          </p:nvSpPr>
          <p:spPr bwMode="auto">
            <a:xfrm rot="-1317020">
              <a:off x="4244" y="3168"/>
              <a:ext cx="480" cy="5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874" y="4988"/>
                  </a:moveTo>
                  <a:cubicBezTo>
                    <a:pt x="15288" y="3330"/>
                    <a:pt x="13094" y="2393"/>
                    <a:pt x="10800" y="2393"/>
                  </a:cubicBezTo>
                  <a:cubicBezTo>
                    <a:pt x="6156" y="2393"/>
                    <a:pt x="2393" y="6156"/>
                    <a:pt x="2393" y="10800"/>
                  </a:cubicBezTo>
                  <a:cubicBezTo>
                    <a:pt x="2392" y="12254"/>
                    <a:pt x="2770" y="13685"/>
                    <a:pt x="3488" y="14950"/>
                  </a:cubicBezTo>
                  <a:lnTo>
                    <a:pt x="1407" y="16131"/>
                  </a:lnTo>
                  <a:cubicBezTo>
                    <a:pt x="485" y="14506"/>
                    <a:pt x="0" y="12669"/>
                    <a:pt x="0" y="10800"/>
                  </a:cubicBezTo>
                  <a:cubicBezTo>
                    <a:pt x="0" y="4835"/>
                    <a:pt x="4835" y="0"/>
                    <a:pt x="10800" y="0"/>
                  </a:cubicBezTo>
                  <a:cubicBezTo>
                    <a:pt x="13747" y="-1"/>
                    <a:pt x="16566" y="1204"/>
                    <a:pt x="18603" y="3334"/>
                  </a:cubicBezTo>
                  <a:lnTo>
                    <a:pt x="20554" y="1467"/>
                  </a:lnTo>
                  <a:lnTo>
                    <a:pt x="20433" y="6976"/>
                  </a:lnTo>
                  <a:lnTo>
                    <a:pt x="14923" y="6854"/>
                  </a:lnTo>
                  <a:lnTo>
                    <a:pt x="16874" y="4988"/>
                  </a:lnTo>
                  <a:close/>
                </a:path>
              </a:pathLst>
            </a:custGeom>
            <a:solidFill>
              <a:schemeClr val="accent1"/>
            </a:solidFill>
            <a:ln w="9525">
              <a:solidFill>
                <a:schemeClr val="tx1"/>
              </a:solidFill>
              <a:miter lim="800000"/>
              <a:headEnd/>
              <a:tailEnd/>
            </a:ln>
          </p:spPr>
          <p:txBody>
            <a:bodyPr wrap="none" anchor="ctr"/>
            <a:lstStyle/>
            <a:p>
              <a:endParaRPr lang="fr-FR"/>
            </a:p>
          </p:txBody>
        </p:sp>
        <p:sp>
          <p:nvSpPr>
            <p:cNvPr id="77835" name="Text Box 8"/>
            <p:cNvSpPr txBox="1">
              <a:spLocks noChangeArrowheads="1"/>
            </p:cNvSpPr>
            <p:nvPr/>
          </p:nvSpPr>
          <p:spPr bwMode="auto">
            <a:xfrm>
              <a:off x="4426" y="3382"/>
              <a:ext cx="2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Symbol" panose="05050102010706020507" pitchFamily="18" charset="2"/>
                </a:rPr>
                <a:t>W</a:t>
              </a:r>
            </a:p>
          </p:txBody>
        </p:sp>
        <p:sp>
          <p:nvSpPr>
            <p:cNvPr id="77836" name="Text Box 9"/>
            <p:cNvSpPr txBox="1">
              <a:spLocks noChangeArrowheads="1"/>
            </p:cNvSpPr>
            <p:nvPr/>
          </p:nvSpPr>
          <p:spPr bwMode="auto">
            <a:xfrm>
              <a:off x="875" y="3120"/>
              <a:ext cx="871" cy="5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Réseau</a:t>
              </a:r>
            </a:p>
            <a:p>
              <a:pPr eaLnBrk="1" hangingPunct="1">
                <a:spcBef>
                  <a:spcPct val="0"/>
                </a:spcBef>
                <a:buClrTx/>
                <a:buSzTx/>
                <a:buFontTx/>
                <a:buNone/>
              </a:pPr>
              <a:r>
                <a:rPr lang="fr-FR" altLang="fr-FR" sz="1800">
                  <a:latin typeface="Arial" panose="020B0604020202020204" pitchFamily="34" charset="0"/>
                </a:rPr>
                <a:t>électrique</a:t>
              </a:r>
            </a:p>
          </p:txBody>
        </p:sp>
        <p:sp>
          <p:nvSpPr>
            <p:cNvPr id="77837" name="Text Box 10"/>
            <p:cNvSpPr txBox="1">
              <a:spLocks noChangeArrowheads="1"/>
            </p:cNvSpPr>
            <p:nvPr/>
          </p:nvSpPr>
          <p:spPr bwMode="auto">
            <a:xfrm>
              <a:off x="4714" y="3238"/>
              <a:ext cx="633" cy="294"/>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charge</a:t>
              </a:r>
            </a:p>
          </p:txBody>
        </p:sp>
        <p:sp>
          <p:nvSpPr>
            <p:cNvPr id="77838" name="Rectangle 11"/>
            <p:cNvSpPr>
              <a:spLocks noChangeArrowheads="1"/>
            </p:cNvSpPr>
            <p:nvPr/>
          </p:nvSpPr>
          <p:spPr bwMode="auto">
            <a:xfrm>
              <a:off x="2208" y="2928"/>
              <a:ext cx="608" cy="864"/>
            </a:xfrm>
            <a:prstGeom prst="rect">
              <a:avLst/>
            </a:prstGeom>
            <a:solidFill>
              <a:srgbClr val="FFFF00"/>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7839" name="Line 12"/>
            <p:cNvSpPr>
              <a:spLocks noChangeShapeType="1"/>
            </p:cNvSpPr>
            <p:nvPr/>
          </p:nvSpPr>
          <p:spPr bwMode="auto">
            <a:xfrm flipV="1">
              <a:off x="2216" y="2928"/>
              <a:ext cx="608" cy="86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77840" name="Text Box 13"/>
            <p:cNvSpPr txBox="1">
              <a:spLocks noChangeArrowheads="1"/>
            </p:cNvSpPr>
            <p:nvPr/>
          </p:nvSpPr>
          <p:spPr bwMode="auto">
            <a:xfrm>
              <a:off x="2216" y="2928"/>
              <a:ext cx="3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3200">
                  <a:latin typeface="Arial" panose="020B0604020202020204" pitchFamily="34" charset="0"/>
                  <a:sym typeface="Symbol" panose="05050102010706020507" pitchFamily="18" charset="2"/>
                </a:rPr>
                <a:t></a:t>
              </a:r>
              <a:endParaRPr lang="fr-FR" altLang="fr-FR" sz="3200">
                <a:latin typeface="Arial" panose="020B0604020202020204" pitchFamily="34" charset="0"/>
              </a:endParaRPr>
            </a:p>
          </p:txBody>
        </p:sp>
        <p:sp>
          <p:nvSpPr>
            <p:cNvPr id="77841" name="Text Box 14"/>
            <p:cNvSpPr txBox="1">
              <a:spLocks noChangeArrowheads="1"/>
            </p:cNvSpPr>
            <p:nvPr/>
          </p:nvSpPr>
          <p:spPr bwMode="auto">
            <a:xfrm>
              <a:off x="2520" y="3408"/>
              <a:ext cx="3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3200">
                  <a:latin typeface="Arial" panose="020B0604020202020204" pitchFamily="34" charset="0"/>
                </a:rPr>
                <a:t>=</a:t>
              </a:r>
            </a:p>
          </p:txBody>
        </p:sp>
        <p:sp>
          <p:nvSpPr>
            <p:cNvPr id="77842" name="Line 15"/>
            <p:cNvSpPr>
              <a:spLocks noChangeShapeType="1"/>
            </p:cNvSpPr>
            <p:nvPr/>
          </p:nvSpPr>
          <p:spPr bwMode="auto">
            <a:xfrm flipV="1">
              <a:off x="2544" y="3456"/>
              <a:ext cx="19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fr-FR"/>
            </a:p>
          </p:txBody>
        </p:sp>
        <p:sp>
          <p:nvSpPr>
            <p:cNvPr id="77843" name="Line 6"/>
            <p:cNvSpPr>
              <a:spLocks noChangeShapeType="1"/>
            </p:cNvSpPr>
            <p:nvPr/>
          </p:nvSpPr>
          <p:spPr bwMode="auto">
            <a:xfrm>
              <a:off x="3764" y="3408"/>
              <a:ext cx="960" cy="0"/>
            </a:xfrm>
            <a:prstGeom prst="line">
              <a:avLst/>
            </a:prstGeom>
            <a:noFill/>
            <a:ln w="2857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77844" name="Oval 5"/>
            <p:cNvSpPr>
              <a:spLocks noChangeArrowheads="1"/>
            </p:cNvSpPr>
            <p:nvPr/>
          </p:nvSpPr>
          <p:spPr bwMode="auto">
            <a:xfrm>
              <a:off x="3332" y="3024"/>
              <a:ext cx="768" cy="76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MCC</a:t>
              </a:r>
            </a:p>
            <a:p>
              <a:pPr eaLnBrk="1" hangingPunct="1">
                <a:spcBef>
                  <a:spcPct val="0"/>
                </a:spcBef>
                <a:buClrTx/>
                <a:buSzTx/>
                <a:buFontTx/>
                <a:buNone/>
              </a:pPr>
              <a:endParaRPr lang="fr-FR" altLang="fr-FR" sz="1800">
                <a:latin typeface="Arial" panose="020B0604020202020204" pitchFamily="34" charset="0"/>
              </a:endParaRPr>
            </a:p>
          </p:txBody>
        </p:sp>
      </p:grpSp>
      <p:sp>
        <p:nvSpPr>
          <p:cNvPr id="65552" name="Text Box 16"/>
          <p:cNvSpPr txBox="1">
            <a:spLocks noChangeArrowheads="1"/>
          </p:cNvSpPr>
          <p:nvPr/>
        </p:nvSpPr>
        <p:spPr bwMode="auto">
          <a:xfrm>
            <a:off x="1857375" y="4064000"/>
            <a:ext cx="4595813"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solidFill>
                  <a:srgbClr val="FF0000"/>
                </a:solidFill>
                <a:latin typeface="Arial" panose="020B0604020202020204" pitchFamily="34" charset="0"/>
              </a:rPr>
              <a:t>Le variateur est un redresseur commandé :</a:t>
            </a:r>
          </a:p>
          <a:p>
            <a:pPr eaLnBrk="1" hangingPunct="1">
              <a:spcBef>
                <a:spcPct val="0"/>
              </a:spcBef>
              <a:buClrTx/>
              <a:buSzTx/>
              <a:buFontTx/>
              <a:buNone/>
            </a:pPr>
            <a:r>
              <a:rPr lang="fr-FR" altLang="fr-FR" sz="1800">
                <a:solidFill>
                  <a:srgbClr val="FF0000"/>
                </a:solidFill>
                <a:latin typeface="Arial" panose="020B0604020202020204" pitchFamily="34" charset="0"/>
              </a:rPr>
              <a:t>	- soit avec un pont mixte ;</a:t>
            </a:r>
          </a:p>
          <a:p>
            <a:pPr eaLnBrk="1" hangingPunct="1">
              <a:spcBef>
                <a:spcPct val="0"/>
              </a:spcBef>
              <a:buClrTx/>
              <a:buSzTx/>
              <a:buFontTx/>
              <a:buNone/>
            </a:pPr>
            <a:r>
              <a:rPr lang="fr-FR" altLang="fr-FR" sz="1800">
                <a:solidFill>
                  <a:srgbClr val="FF0000"/>
                </a:solidFill>
                <a:latin typeface="Arial" panose="020B0604020202020204" pitchFamily="34" charset="0"/>
              </a:rPr>
              <a:t>	- soit avec un pont complet.</a:t>
            </a:r>
          </a:p>
        </p:txBody>
      </p:sp>
      <p:sp>
        <p:nvSpPr>
          <p:cNvPr id="77831"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2000"/>
                                  </p:stCondLst>
                                  <p:childTnLst>
                                    <p:set>
                                      <p:cBhvr>
                                        <p:cTn id="9" dur="1" fill="hold">
                                          <p:stCondLst>
                                            <p:cond delay="499"/>
                                          </p:stCondLst>
                                        </p:cTn>
                                        <p:tgtEl>
                                          <p:spTgt spid="655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52"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6" name="Espace réservé du pied de page 25"/>
          <p:cNvSpPr>
            <a:spLocks noGrp="1"/>
          </p:cNvSpPr>
          <p:nvPr>
            <p:ph type="ftr" sz="quarter" idx="11"/>
          </p:nvPr>
        </p:nvSpPr>
        <p:spPr/>
        <p:txBody>
          <a:bodyPr/>
          <a:lstStyle/>
          <a:p>
            <a:pPr>
              <a:defRPr/>
            </a:pPr>
            <a:r>
              <a:rPr lang="fr-FR"/>
              <a:t>Commande des machines   3.MCC     Ali NEJMI</a:t>
            </a:r>
          </a:p>
        </p:txBody>
      </p:sp>
      <p:sp>
        <p:nvSpPr>
          <p:cNvPr id="79875"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25F5E77-642E-40DE-AC62-19745BD045D0}" type="slidenum">
              <a:rPr lang="fr-FR" altLang="fr-FR" sz="1000" smtClean="0">
                <a:solidFill>
                  <a:srgbClr val="292929"/>
                </a:solidFill>
                <a:latin typeface="Arial" panose="020B0604020202020204" pitchFamily="34" charset="0"/>
              </a:rPr>
              <a:pPr>
                <a:spcBef>
                  <a:spcPct val="0"/>
                </a:spcBef>
                <a:buClrTx/>
                <a:buSzTx/>
                <a:buFontTx/>
                <a:buNone/>
              </a:pPr>
              <a:t>44</a:t>
            </a:fld>
            <a:endParaRPr lang="fr-FR" altLang="fr-FR" sz="1000" smtClean="0">
              <a:solidFill>
                <a:srgbClr val="292929"/>
              </a:solidFill>
              <a:latin typeface="Arial" panose="020B0604020202020204" pitchFamily="34" charset="0"/>
            </a:endParaRPr>
          </a:p>
        </p:txBody>
      </p:sp>
      <p:sp>
        <p:nvSpPr>
          <p:cNvPr id="66562" name="Rectangle 2"/>
          <p:cNvSpPr>
            <a:spLocks noChangeArrowheads="1"/>
          </p:cNvSpPr>
          <p:nvPr/>
        </p:nvSpPr>
        <p:spPr bwMode="auto">
          <a:xfrm>
            <a:off x="492125" y="636588"/>
            <a:ext cx="4894263" cy="400050"/>
          </a:xfrm>
          <a:prstGeom prst="rect">
            <a:avLst/>
          </a:prstGeom>
          <a:noFill/>
          <a:ln w="9525">
            <a:noFill/>
            <a:miter lim="800000"/>
            <a:headEnd/>
            <a:tailEnd/>
          </a:ln>
          <a:effectLst/>
        </p:spPr>
        <p:txBody>
          <a:bodyPr wrap="none">
            <a:spAutoFit/>
          </a:bodyPr>
          <a:lstStyle/>
          <a:p>
            <a:pPr eaLnBrk="1" hangingPunct="1">
              <a:defRPr/>
            </a:pPr>
            <a:r>
              <a:rPr lang="fr-FR" sz="2000" b="1" cap="small" dirty="0">
                <a:cs typeface="Times New Roman" pitchFamily="18" charset="0"/>
              </a:rPr>
              <a:t>Alimentation par le réseau monophasé</a:t>
            </a:r>
          </a:p>
        </p:txBody>
      </p:sp>
      <p:sp>
        <p:nvSpPr>
          <p:cNvPr id="79877" name="Rectangle 3"/>
          <p:cNvSpPr>
            <a:spLocks noChangeArrowheads="1"/>
          </p:cNvSpPr>
          <p:nvPr/>
        </p:nvSpPr>
        <p:spPr bwMode="auto">
          <a:xfrm>
            <a:off x="3500438" y="1214438"/>
            <a:ext cx="1452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FF0000"/>
                </a:solidFill>
                <a:latin typeface="Arial" panose="020B0604020202020204" pitchFamily="34" charset="0"/>
              </a:rPr>
              <a:t>P &lt; 10 kW</a:t>
            </a:r>
            <a:r>
              <a:rPr lang="fr-FR" altLang="fr-FR" sz="2000" b="1">
                <a:latin typeface="Arial" panose="020B0604020202020204" pitchFamily="34" charset="0"/>
              </a:rPr>
              <a:t> </a:t>
            </a:r>
          </a:p>
        </p:txBody>
      </p:sp>
      <p:sp>
        <p:nvSpPr>
          <p:cNvPr id="66568" name="Rectangle 8"/>
          <p:cNvSpPr>
            <a:spLocks noChangeArrowheads="1"/>
          </p:cNvSpPr>
          <p:nvPr/>
        </p:nvSpPr>
        <p:spPr bwMode="auto">
          <a:xfrm>
            <a:off x="5014913" y="2066925"/>
            <a:ext cx="352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Double pont PD2 complet</a:t>
            </a:r>
          </a:p>
        </p:txBody>
      </p:sp>
      <p:sp>
        <p:nvSpPr>
          <p:cNvPr id="66569" name="Rectangle 9"/>
          <p:cNvSpPr>
            <a:spLocks noChangeArrowheads="1"/>
          </p:cNvSpPr>
          <p:nvPr/>
        </p:nvSpPr>
        <p:spPr bwMode="auto">
          <a:xfrm>
            <a:off x="1554163" y="2065338"/>
            <a:ext cx="223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Pont PD2 mixte</a:t>
            </a:r>
          </a:p>
        </p:txBody>
      </p:sp>
      <p:grpSp>
        <p:nvGrpSpPr>
          <p:cNvPr id="2" name="Group 28"/>
          <p:cNvGrpSpPr>
            <a:grpSpLocks/>
          </p:cNvGrpSpPr>
          <p:nvPr/>
        </p:nvGrpSpPr>
        <p:grpSpPr bwMode="auto">
          <a:xfrm>
            <a:off x="5118100" y="2590800"/>
            <a:ext cx="3443288" cy="2344738"/>
            <a:chOff x="2562" y="1511"/>
            <a:chExt cx="2603" cy="1773"/>
          </a:xfrm>
        </p:grpSpPr>
        <p:sp>
          <p:nvSpPr>
            <p:cNvPr id="79891" name="Line 20"/>
            <p:cNvSpPr>
              <a:spLocks noChangeShapeType="1"/>
            </p:cNvSpPr>
            <p:nvPr/>
          </p:nvSpPr>
          <p:spPr bwMode="auto">
            <a:xfrm flipV="1">
              <a:off x="3664" y="1616"/>
              <a:ext cx="0" cy="166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79892" name="Line 21"/>
            <p:cNvSpPr>
              <a:spLocks noChangeShapeType="1"/>
            </p:cNvSpPr>
            <p:nvPr/>
          </p:nvSpPr>
          <p:spPr bwMode="auto">
            <a:xfrm>
              <a:off x="2562" y="2450"/>
              <a:ext cx="240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79893" name="Text Box 22"/>
            <p:cNvSpPr txBox="1">
              <a:spLocks noChangeArrowheads="1"/>
            </p:cNvSpPr>
            <p:nvPr/>
          </p:nvSpPr>
          <p:spPr bwMode="auto">
            <a:xfrm>
              <a:off x="3262" y="1511"/>
              <a:ext cx="602"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Symbol" panose="05050102010706020507" pitchFamily="18" charset="2"/>
                </a:rPr>
                <a:t>W</a:t>
              </a:r>
              <a:endParaRPr lang="fr-FR" altLang="fr-FR" sz="2000" b="1">
                <a:latin typeface="Arial" panose="020B0604020202020204" pitchFamily="34" charset="0"/>
              </a:endParaRPr>
            </a:p>
          </p:txBody>
        </p:sp>
        <p:sp>
          <p:nvSpPr>
            <p:cNvPr id="79894" name="Text Box 23"/>
            <p:cNvSpPr txBox="1">
              <a:spLocks noChangeArrowheads="1"/>
            </p:cNvSpPr>
            <p:nvPr/>
          </p:nvSpPr>
          <p:spPr bwMode="auto">
            <a:xfrm>
              <a:off x="4665" y="2137"/>
              <a:ext cx="50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panose="020B0604020202020204" pitchFamily="34" charset="0"/>
                </a:rPr>
                <a:t>C</a:t>
              </a:r>
              <a:endParaRPr lang="fr-FR" altLang="fr-FR" sz="2000" b="1">
                <a:latin typeface="Symbol" panose="05050102010706020507" pitchFamily="18" charset="2"/>
              </a:endParaRPr>
            </a:p>
          </p:txBody>
        </p:sp>
        <p:sp>
          <p:nvSpPr>
            <p:cNvPr id="79895" name="Oval 24"/>
            <p:cNvSpPr>
              <a:spLocks noChangeArrowheads="1"/>
            </p:cNvSpPr>
            <p:nvPr/>
          </p:nvSpPr>
          <p:spPr bwMode="auto">
            <a:xfrm>
              <a:off x="3762" y="2132"/>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1</a:t>
              </a:r>
            </a:p>
          </p:txBody>
        </p:sp>
        <p:sp>
          <p:nvSpPr>
            <p:cNvPr id="79896" name="Oval 25"/>
            <p:cNvSpPr>
              <a:spLocks noChangeArrowheads="1"/>
            </p:cNvSpPr>
            <p:nvPr/>
          </p:nvSpPr>
          <p:spPr bwMode="auto">
            <a:xfrm>
              <a:off x="3330" y="2132"/>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2</a:t>
              </a:r>
            </a:p>
          </p:txBody>
        </p:sp>
        <p:sp>
          <p:nvSpPr>
            <p:cNvPr id="79897" name="Oval 26"/>
            <p:cNvSpPr>
              <a:spLocks noChangeArrowheads="1"/>
            </p:cNvSpPr>
            <p:nvPr/>
          </p:nvSpPr>
          <p:spPr bwMode="auto">
            <a:xfrm>
              <a:off x="3330" y="251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3</a:t>
              </a:r>
            </a:p>
          </p:txBody>
        </p:sp>
        <p:sp>
          <p:nvSpPr>
            <p:cNvPr id="79898" name="Oval 27"/>
            <p:cNvSpPr>
              <a:spLocks noChangeArrowheads="1"/>
            </p:cNvSpPr>
            <p:nvPr/>
          </p:nvSpPr>
          <p:spPr bwMode="auto">
            <a:xfrm>
              <a:off x="3762" y="251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4</a:t>
              </a:r>
            </a:p>
          </p:txBody>
        </p:sp>
      </p:grpSp>
      <p:grpSp>
        <p:nvGrpSpPr>
          <p:cNvPr id="3" name="Group 38"/>
          <p:cNvGrpSpPr>
            <a:grpSpLocks/>
          </p:cNvGrpSpPr>
          <p:nvPr/>
        </p:nvGrpSpPr>
        <p:grpSpPr bwMode="auto">
          <a:xfrm>
            <a:off x="1165225" y="2578100"/>
            <a:ext cx="3443288" cy="2344738"/>
            <a:chOff x="713" y="1821"/>
            <a:chExt cx="2169" cy="1477"/>
          </a:xfrm>
        </p:grpSpPr>
        <p:sp>
          <p:nvSpPr>
            <p:cNvPr id="79886" name="Line 30"/>
            <p:cNvSpPr>
              <a:spLocks noChangeShapeType="1"/>
            </p:cNvSpPr>
            <p:nvPr/>
          </p:nvSpPr>
          <p:spPr bwMode="auto">
            <a:xfrm flipV="1">
              <a:off x="1631" y="1908"/>
              <a:ext cx="0" cy="139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79887" name="Line 31"/>
            <p:cNvSpPr>
              <a:spLocks noChangeShapeType="1"/>
            </p:cNvSpPr>
            <p:nvPr/>
          </p:nvSpPr>
          <p:spPr bwMode="auto">
            <a:xfrm>
              <a:off x="713" y="2603"/>
              <a:ext cx="2002"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79888" name="Text Box 32"/>
            <p:cNvSpPr txBox="1">
              <a:spLocks noChangeArrowheads="1"/>
            </p:cNvSpPr>
            <p:nvPr/>
          </p:nvSpPr>
          <p:spPr bwMode="auto">
            <a:xfrm>
              <a:off x="1296" y="1821"/>
              <a:ext cx="502"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Symbol" panose="05050102010706020507" pitchFamily="18" charset="2"/>
                </a:rPr>
                <a:t>W</a:t>
              </a:r>
              <a:endParaRPr lang="fr-FR" altLang="fr-FR" sz="2000" b="1">
                <a:latin typeface="Arial" panose="020B0604020202020204" pitchFamily="34" charset="0"/>
              </a:endParaRPr>
            </a:p>
          </p:txBody>
        </p:sp>
        <p:sp>
          <p:nvSpPr>
            <p:cNvPr id="79889" name="Text Box 33"/>
            <p:cNvSpPr txBox="1">
              <a:spLocks noChangeArrowheads="1"/>
            </p:cNvSpPr>
            <p:nvPr/>
          </p:nvSpPr>
          <p:spPr bwMode="auto">
            <a:xfrm>
              <a:off x="2465" y="2342"/>
              <a:ext cx="41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panose="020B0604020202020204" pitchFamily="34" charset="0"/>
                </a:rPr>
                <a:t>C</a:t>
              </a:r>
              <a:endParaRPr lang="fr-FR" altLang="fr-FR" sz="2000" b="1">
                <a:latin typeface="Symbol" panose="05050102010706020507" pitchFamily="18" charset="2"/>
              </a:endParaRPr>
            </a:p>
          </p:txBody>
        </p:sp>
        <p:sp>
          <p:nvSpPr>
            <p:cNvPr id="79890" name="Oval 34"/>
            <p:cNvSpPr>
              <a:spLocks noChangeArrowheads="1"/>
            </p:cNvSpPr>
            <p:nvPr/>
          </p:nvSpPr>
          <p:spPr bwMode="auto">
            <a:xfrm>
              <a:off x="1713" y="2338"/>
              <a:ext cx="200" cy="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1</a:t>
              </a:r>
            </a:p>
          </p:txBody>
        </p:sp>
      </p:grpSp>
      <p:sp>
        <p:nvSpPr>
          <p:cNvPr id="66599" name="Text Box 39"/>
          <p:cNvSpPr txBox="1">
            <a:spLocks noChangeArrowheads="1"/>
          </p:cNvSpPr>
          <p:nvPr/>
        </p:nvSpPr>
        <p:spPr bwMode="auto">
          <a:xfrm>
            <a:off x="1433513" y="5287963"/>
            <a:ext cx="225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0,65 ….. 9,3 kW</a:t>
            </a:r>
          </a:p>
        </p:txBody>
      </p:sp>
      <p:sp>
        <p:nvSpPr>
          <p:cNvPr id="66600" name="Text Box 40"/>
          <p:cNvSpPr txBox="1">
            <a:spLocks noChangeArrowheads="1"/>
          </p:cNvSpPr>
          <p:nvPr/>
        </p:nvSpPr>
        <p:spPr bwMode="auto">
          <a:xfrm>
            <a:off x="5646738" y="5324475"/>
            <a:ext cx="2182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0,6 ….. 8,6  kW</a:t>
            </a:r>
          </a:p>
        </p:txBody>
      </p:sp>
      <p:sp>
        <p:nvSpPr>
          <p:cNvPr id="79884"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7"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6569"/>
                                        </p:tgtEl>
                                        <p:attrNameLst>
                                          <p:attrName>style.visibility</p:attrName>
                                        </p:attrNameLst>
                                      </p:cBhvr>
                                      <p:to>
                                        <p:strVal val="visible"/>
                                      </p:to>
                                    </p:set>
                                    <p:anim calcmode="lin" valueType="num">
                                      <p:cBhvr additive="base">
                                        <p:cTn id="7" dur="500" fill="hold"/>
                                        <p:tgtEl>
                                          <p:spTgt spid="66569"/>
                                        </p:tgtEl>
                                        <p:attrNameLst>
                                          <p:attrName>ppt_x</p:attrName>
                                        </p:attrNameLst>
                                      </p:cBhvr>
                                      <p:tavLst>
                                        <p:tav tm="0">
                                          <p:val>
                                            <p:strVal val="0-#ppt_w/2"/>
                                          </p:val>
                                        </p:tav>
                                        <p:tav tm="100000">
                                          <p:val>
                                            <p:strVal val="#ppt_x"/>
                                          </p:val>
                                        </p:tav>
                                      </p:tavLst>
                                    </p:anim>
                                    <p:anim calcmode="lin" valueType="num">
                                      <p:cBhvr additive="base">
                                        <p:cTn id="8" dur="500" fill="hold"/>
                                        <p:tgtEl>
                                          <p:spTgt spid="66569"/>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100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2000"/>
                            </p:stCondLst>
                            <p:childTnLst>
                              <p:par>
                                <p:cTn id="15" presetID="2" presetClass="entr" presetSubtype="8" fill="hold" grpId="0" nodeType="afterEffect">
                                  <p:stCondLst>
                                    <p:cond delay="1000"/>
                                  </p:stCondLst>
                                  <p:childTnLst>
                                    <p:set>
                                      <p:cBhvr>
                                        <p:cTn id="16" dur="1" fill="hold">
                                          <p:stCondLst>
                                            <p:cond delay="0"/>
                                          </p:stCondLst>
                                        </p:cTn>
                                        <p:tgtEl>
                                          <p:spTgt spid="66599"/>
                                        </p:tgtEl>
                                        <p:attrNameLst>
                                          <p:attrName>style.visibility</p:attrName>
                                        </p:attrNameLst>
                                      </p:cBhvr>
                                      <p:to>
                                        <p:strVal val="visible"/>
                                      </p:to>
                                    </p:set>
                                    <p:anim calcmode="lin" valueType="num">
                                      <p:cBhvr additive="base">
                                        <p:cTn id="17" dur="500" fill="hold"/>
                                        <p:tgtEl>
                                          <p:spTgt spid="66599"/>
                                        </p:tgtEl>
                                        <p:attrNameLst>
                                          <p:attrName>ppt_x</p:attrName>
                                        </p:attrNameLst>
                                      </p:cBhvr>
                                      <p:tavLst>
                                        <p:tav tm="0">
                                          <p:val>
                                            <p:strVal val="0-#ppt_w/2"/>
                                          </p:val>
                                        </p:tav>
                                        <p:tav tm="100000">
                                          <p:val>
                                            <p:strVal val="#ppt_x"/>
                                          </p:val>
                                        </p:tav>
                                      </p:tavLst>
                                    </p:anim>
                                    <p:anim calcmode="lin" valueType="num">
                                      <p:cBhvr additive="base">
                                        <p:cTn id="18" dur="500" fill="hold"/>
                                        <p:tgtEl>
                                          <p:spTgt spid="66599"/>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66568"/>
                                        </p:tgtEl>
                                        <p:attrNameLst>
                                          <p:attrName>style.visibility</p:attrName>
                                        </p:attrNameLst>
                                      </p:cBhvr>
                                      <p:to>
                                        <p:strVal val="visible"/>
                                      </p:to>
                                    </p:set>
                                    <p:anim calcmode="lin" valueType="num">
                                      <p:cBhvr additive="base">
                                        <p:cTn id="23" dur="500" fill="hold"/>
                                        <p:tgtEl>
                                          <p:spTgt spid="66568"/>
                                        </p:tgtEl>
                                        <p:attrNameLst>
                                          <p:attrName>ppt_x</p:attrName>
                                        </p:attrNameLst>
                                      </p:cBhvr>
                                      <p:tavLst>
                                        <p:tav tm="0">
                                          <p:val>
                                            <p:strVal val="1+#ppt_w/2"/>
                                          </p:val>
                                        </p:tav>
                                        <p:tav tm="100000">
                                          <p:val>
                                            <p:strVal val="#ppt_x"/>
                                          </p:val>
                                        </p:tav>
                                      </p:tavLst>
                                    </p:anim>
                                    <p:anim calcmode="lin" valueType="num">
                                      <p:cBhvr additive="base">
                                        <p:cTn id="24" dur="500" fill="hold"/>
                                        <p:tgtEl>
                                          <p:spTgt spid="66568"/>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 presetClass="entr" presetSubtype="2" fill="hold" nodeType="afterEffect">
                                  <p:stCondLst>
                                    <p:cond delay="100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1+#ppt_w/2"/>
                                          </p:val>
                                        </p:tav>
                                        <p:tav tm="100000">
                                          <p:val>
                                            <p:strVal val="#ppt_x"/>
                                          </p:val>
                                        </p:tav>
                                      </p:tavLst>
                                    </p:anim>
                                    <p:anim calcmode="lin" valueType="num">
                                      <p:cBhvr additive="base">
                                        <p:cTn id="29" dur="500" fill="hold"/>
                                        <p:tgtEl>
                                          <p:spTgt spid="2"/>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2000"/>
                            </p:stCondLst>
                            <p:childTnLst>
                              <p:par>
                                <p:cTn id="31" presetID="2" presetClass="entr" presetSubtype="2" fill="hold" grpId="0" nodeType="afterEffect">
                                  <p:stCondLst>
                                    <p:cond delay="1000"/>
                                  </p:stCondLst>
                                  <p:childTnLst>
                                    <p:set>
                                      <p:cBhvr>
                                        <p:cTn id="32" dur="1" fill="hold">
                                          <p:stCondLst>
                                            <p:cond delay="0"/>
                                          </p:stCondLst>
                                        </p:cTn>
                                        <p:tgtEl>
                                          <p:spTgt spid="66600"/>
                                        </p:tgtEl>
                                        <p:attrNameLst>
                                          <p:attrName>style.visibility</p:attrName>
                                        </p:attrNameLst>
                                      </p:cBhvr>
                                      <p:to>
                                        <p:strVal val="visible"/>
                                      </p:to>
                                    </p:set>
                                    <p:anim calcmode="lin" valueType="num">
                                      <p:cBhvr additive="base">
                                        <p:cTn id="33" dur="500" fill="hold"/>
                                        <p:tgtEl>
                                          <p:spTgt spid="66600"/>
                                        </p:tgtEl>
                                        <p:attrNameLst>
                                          <p:attrName>ppt_x</p:attrName>
                                        </p:attrNameLst>
                                      </p:cBhvr>
                                      <p:tavLst>
                                        <p:tav tm="0">
                                          <p:val>
                                            <p:strVal val="1+#ppt_w/2"/>
                                          </p:val>
                                        </p:tav>
                                        <p:tav tm="100000">
                                          <p:val>
                                            <p:strVal val="#ppt_x"/>
                                          </p:val>
                                        </p:tav>
                                      </p:tavLst>
                                    </p:anim>
                                    <p:anim calcmode="lin" valueType="num">
                                      <p:cBhvr additive="base">
                                        <p:cTn id="34" dur="500" fill="hold"/>
                                        <p:tgtEl>
                                          <p:spTgt spid="6660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8" grpId="0" autoUpdateAnimBg="0"/>
      <p:bldP spid="66569" grpId="0" autoUpdateAnimBg="0"/>
      <p:bldP spid="66599" grpId="0" autoUpdateAnimBg="0"/>
      <p:bldP spid="66600"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5" name="Espace réservé du pied de page 24"/>
          <p:cNvSpPr>
            <a:spLocks noGrp="1"/>
          </p:cNvSpPr>
          <p:nvPr>
            <p:ph type="ftr" sz="quarter" idx="11"/>
          </p:nvPr>
        </p:nvSpPr>
        <p:spPr/>
        <p:txBody>
          <a:bodyPr/>
          <a:lstStyle/>
          <a:p>
            <a:pPr>
              <a:defRPr/>
            </a:pPr>
            <a:r>
              <a:rPr lang="fr-FR" dirty="0"/>
              <a:t>Commande des machines   3.MCC     Ali NEJMI</a:t>
            </a:r>
          </a:p>
        </p:txBody>
      </p:sp>
      <p:sp>
        <p:nvSpPr>
          <p:cNvPr id="81923"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F41E8DB-3ED5-48C7-ABB3-E8E6BDDAA8FC}" type="slidenum">
              <a:rPr lang="fr-FR" altLang="fr-FR" sz="1000" smtClean="0">
                <a:solidFill>
                  <a:srgbClr val="292929"/>
                </a:solidFill>
                <a:latin typeface="Arial" panose="020B0604020202020204" pitchFamily="34" charset="0"/>
              </a:rPr>
              <a:pPr>
                <a:spcBef>
                  <a:spcPct val="0"/>
                </a:spcBef>
                <a:buClrTx/>
                <a:buSzTx/>
                <a:buFontTx/>
                <a:buNone/>
              </a:pPr>
              <a:t>45</a:t>
            </a:fld>
            <a:endParaRPr lang="fr-FR" altLang="fr-FR" sz="1000" smtClean="0">
              <a:solidFill>
                <a:srgbClr val="292929"/>
              </a:solidFill>
              <a:latin typeface="Arial" panose="020B0604020202020204" pitchFamily="34" charset="0"/>
            </a:endParaRPr>
          </a:p>
        </p:txBody>
      </p:sp>
      <p:sp>
        <p:nvSpPr>
          <p:cNvPr id="81924" name="Rectangle 1026"/>
          <p:cNvSpPr>
            <a:spLocks noChangeArrowheads="1"/>
          </p:cNvSpPr>
          <p:nvPr/>
        </p:nvSpPr>
        <p:spPr bwMode="auto">
          <a:xfrm>
            <a:off x="3546475" y="1389063"/>
            <a:ext cx="1239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FF0000"/>
                </a:solidFill>
                <a:latin typeface="Arial" panose="020B0604020202020204" pitchFamily="34" charset="0"/>
              </a:rPr>
              <a:t>P &gt; 3 kW</a:t>
            </a:r>
          </a:p>
        </p:txBody>
      </p:sp>
      <p:sp>
        <p:nvSpPr>
          <p:cNvPr id="115715" name="Rectangle 1027"/>
          <p:cNvSpPr>
            <a:spLocks noChangeArrowheads="1"/>
          </p:cNvSpPr>
          <p:nvPr/>
        </p:nvSpPr>
        <p:spPr bwMode="auto">
          <a:xfrm>
            <a:off x="530225" y="636588"/>
            <a:ext cx="4586288" cy="400050"/>
          </a:xfrm>
          <a:prstGeom prst="rect">
            <a:avLst/>
          </a:prstGeom>
          <a:noFill/>
          <a:ln w="9525">
            <a:noFill/>
            <a:miter lim="800000"/>
            <a:headEnd/>
            <a:tailEnd/>
          </a:ln>
          <a:effectLst/>
        </p:spPr>
        <p:txBody>
          <a:bodyPr wrap="none">
            <a:spAutoFit/>
          </a:bodyPr>
          <a:lstStyle/>
          <a:p>
            <a:pPr eaLnBrk="1" hangingPunct="1">
              <a:defRPr/>
            </a:pPr>
            <a:r>
              <a:rPr lang="fr-FR" sz="2000" b="1" cap="small" dirty="0">
                <a:cs typeface="Times New Roman" pitchFamily="18" charset="0"/>
              </a:rPr>
              <a:t>Alimentation par le réseau triphasé</a:t>
            </a:r>
          </a:p>
        </p:txBody>
      </p:sp>
      <p:sp>
        <p:nvSpPr>
          <p:cNvPr id="115716" name="Rectangle 1028"/>
          <p:cNvSpPr>
            <a:spLocks noChangeArrowheads="1"/>
          </p:cNvSpPr>
          <p:nvPr/>
        </p:nvSpPr>
        <p:spPr bwMode="auto">
          <a:xfrm>
            <a:off x="1498600" y="2066925"/>
            <a:ext cx="25368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Pont PD3 complet</a:t>
            </a:r>
          </a:p>
        </p:txBody>
      </p:sp>
      <p:sp>
        <p:nvSpPr>
          <p:cNvPr id="115717" name="Rectangle 1029"/>
          <p:cNvSpPr>
            <a:spLocks noChangeArrowheads="1"/>
          </p:cNvSpPr>
          <p:nvPr/>
        </p:nvSpPr>
        <p:spPr bwMode="auto">
          <a:xfrm>
            <a:off x="4979988" y="2051050"/>
            <a:ext cx="3529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Double pont PD3 complet</a:t>
            </a:r>
          </a:p>
        </p:txBody>
      </p:sp>
      <p:grpSp>
        <p:nvGrpSpPr>
          <p:cNvPr id="2" name="Group 1030"/>
          <p:cNvGrpSpPr>
            <a:grpSpLocks/>
          </p:cNvGrpSpPr>
          <p:nvPr/>
        </p:nvGrpSpPr>
        <p:grpSpPr bwMode="auto">
          <a:xfrm>
            <a:off x="2728913" y="2590800"/>
            <a:ext cx="5832475" cy="2344738"/>
            <a:chOff x="756" y="1511"/>
            <a:chExt cx="4409" cy="1773"/>
          </a:xfrm>
        </p:grpSpPr>
        <p:sp>
          <p:nvSpPr>
            <p:cNvPr id="81939" name="Line 1031"/>
            <p:cNvSpPr>
              <a:spLocks noChangeShapeType="1"/>
            </p:cNvSpPr>
            <p:nvPr/>
          </p:nvSpPr>
          <p:spPr bwMode="auto">
            <a:xfrm flipV="1">
              <a:off x="3664" y="1616"/>
              <a:ext cx="0" cy="166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1940" name="Line 1032"/>
            <p:cNvSpPr>
              <a:spLocks noChangeShapeType="1"/>
            </p:cNvSpPr>
            <p:nvPr/>
          </p:nvSpPr>
          <p:spPr bwMode="auto">
            <a:xfrm>
              <a:off x="2562" y="2450"/>
              <a:ext cx="240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1941" name="Text Box 1033"/>
            <p:cNvSpPr txBox="1">
              <a:spLocks noChangeArrowheads="1"/>
            </p:cNvSpPr>
            <p:nvPr/>
          </p:nvSpPr>
          <p:spPr bwMode="auto">
            <a:xfrm>
              <a:off x="3262" y="1511"/>
              <a:ext cx="602"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Symbol" panose="05050102010706020507" pitchFamily="18" charset="2"/>
                </a:rPr>
                <a:t>W</a:t>
              </a:r>
              <a:endParaRPr lang="fr-FR" altLang="fr-FR" sz="2000" b="1">
                <a:latin typeface="Arial" panose="020B0604020202020204" pitchFamily="34" charset="0"/>
              </a:endParaRPr>
            </a:p>
          </p:txBody>
        </p:sp>
        <p:sp>
          <p:nvSpPr>
            <p:cNvPr id="81942" name="Text Box 1034"/>
            <p:cNvSpPr txBox="1">
              <a:spLocks noChangeArrowheads="1"/>
            </p:cNvSpPr>
            <p:nvPr/>
          </p:nvSpPr>
          <p:spPr bwMode="auto">
            <a:xfrm>
              <a:off x="4665" y="2137"/>
              <a:ext cx="50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panose="020B0604020202020204" pitchFamily="34" charset="0"/>
                </a:rPr>
                <a:t>C</a:t>
              </a:r>
              <a:endParaRPr lang="fr-FR" altLang="fr-FR" sz="2000" b="1">
                <a:latin typeface="Symbol" panose="05050102010706020507" pitchFamily="18" charset="2"/>
              </a:endParaRPr>
            </a:p>
          </p:txBody>
        </p:sp>
        <p:sp>
          <p:nvSpPr>
            <p:cNvPr id="81943" name="Oval 1035"/>
            <p:cNvSpPr>
              <a:spLocks noChangeArrowheads="1"/>
            </p:cNvSpPr>
            <p:nvPr/>
          </p:nvSpPr>
          <p:spPr bwMode="auto">
            <a:xfrm>
              <a:off x="3762" y="2132"/>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1</a:t>
              </a:r>
            </a:p>
          </p:txBody>
        </p:sp>
        <p:sp>
          <p:nvSpPr>
            <p:cNvPr id="81944" name="Oval 1036"/>
            <p:cNvSpPr>
              <a:spLocks noChangeArrowheads="1"/>
            </p:cNvSpPr>
            <p:nvPr/>
          </p:nvSpPr>
          <p:spPr bwMode="auto">
            <a:xfrm>
              <a:off x="3330" y="2132"/>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2</a:t>
              </a:r>
            </a:p>
          </p:txBody>
        </p:sp>
        <p:sp>
          <p:nvSpPr>
            <p:cNvPr id="81945" name="Oval 1037"/>
            <p:cNvSpPr>
              <a:spLocks noChangeArrowheads="1"/>
            </p:cNvSpPr>
            <p:nvPr/>
          </p:nvSpPr>
          <p:spPr bwMode="auto">
            <a:xfrm>
              <a:off x="3330" y="251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3</a:t>
              </a:r>
            </a:p>
          </p:txBody>
        </p:sp>
        <p:sp>
          <p:nvSpPr>
            <p:cNvPr id="81946" name="Oval 1038"/>
            <p:cNvSpPr>
              <a:spLocks noChangeArrowheads="1"/>
            </p:cNvSpPr>
            <p:nvPr/>
          </p:nvSpPr>
          <p:spPr bwMode="auto">
            <a:xfrm>
              <a:off x="3762" y="251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4</a:t>
              </a:r>
            </a:p>
          </p:txBody>
        </p:sp>
        <p:sp>
          <p:nvSpPr>
            <p:cNvPr id="81947" name="Oval 1038"/>
            <p:cNvSpPr>
              <a:spLocks noChangeArrowheads="1"/>
            </p:cNvSpPr>
            <p:nvPr/>
          </p:nvSpPr>
          <p:spPr bwMode="auto">
            <a:xfrm>
              <a:off x="756" y="251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4</a:t>
              </a:r>
            </a:p>
          </p:txBody>
        </p:sp>
      </p:grpSp>
      <p:grpSp>
        <p:nvGrpSpPr>
          <p:cNvPr id="3" name="Group 1039"/>
          <p:cNvGrpSpPr>
            <a:grpSpLocks/>
          </p:cNvGrpSpPr>
          <p:nvPr/>
        </p:nvGrpSpPr>
        <p:grpSpPr bwMode="auto">
          <a:xfrm>
            <a:off x="1165225" y="2578100"/>
            <a:ext cx="3443288" cy="2344738"/>
            <a:chOff x="713" y="1821"/>
            <a:chExt cx="2169" cy="1477"/>
          </a:xfrm>
        </p:grpSpPr>
        <p:sp>
          <p:nvSpPr>
            <p:cNvPr id="81934" name="Line 1040"/>
            <p:cNvSpPr>
              <a:spLocks noChangeShapeType="1"/>
            </p:cNvSpPr>
            <p:nvPr/>
          </p:nvSpPr>
          <p:spPr bwMode="auto">
            <a:xfrm flipV="1">
              <a:off x="1631" y="1908"/>
              <a:ext cx="0" cy="139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1935" name="Line 1041"/>
            <p:cNvSpPr>
              <a:spLocks noChangeShapeType="1"/>
            </p:cNvSpPr>
            <p:nvPr/>
          </p:nvSpPr>
          <p:spPr bwMode="auto">
            <a:xfrm>
              <a:off x="713" y="2603"/>
              <a:ext cx="2002"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81936" name="Text Box 1042"/>
            <p:cNvSpPr txBox="1">
              <a:spLocks noChangeArrowheads="1"/>
            </p:cNvSpPr>
            <p:nvPr/>
          </p:nvSpPr>
          <p:spPr bwMode="auto">
            <a:xfrm>
              <a:off x="1296" y="1821"/>
              <a:ext cx="502" cy="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Symbol" panose="05050102010706020507" pitchFamily="18" charset="2"/>
                </a:rPr>
                <a:t>W</a:t>
              </a:r>
              <a:endParaRPr lang="fr-FR" altLang="fr-FR" sz="2000" b="1">
                <a:latin typeface="Arial" panose="020B0604020202020204" pitchFamily="34" charset="0"/>
              </a:endParaRPr>
            </a:p>
          </p:txBody>
        </p:sp>
        <p:sp>
          <p:nvSpPr>
            <p:cNvPr id="81937" name="Text Box 1043"/>
            <p:cNvSpPr txBox="1">
              <a:spLocks noChangeArrowheads="1"/>
            </p:cNvSpPr>
            <p:nvPr/>
          </p:nvSpPr>
          <p:spPr bwMode="auto">
            <a:xfrm>
              <a:off x="2465" y="2342"/>
              <a:ext cx="41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panose="020B0604020202020204" pitchFamily="34" charset="0"/>
                </a:rPr>
                <a:t>C</a:t>
              </a:r>
              <a:endParaRPr lang="fr-FR" altLang="fr-FR" sz="2000" b="1">
                <a:latin typeface="Symbol" panose="05050102010706020507" pitchFamily="18" charset="2"/>
              </a:endParaRPr>
            </a:p>
          </p:txBody>
        </p:sp>
        <p:sp>
          <p:nvSpPr>
            <p:cNvPr id="81938" name="Oval 1044"/>
            <p:cNvSpPr>
              <a:spLocks noChangeArrowheads="1"/>
            </p:cNvSpPr>
            <p:nvPr/>
          </p:nvSpPr>
          <p:spPr bwMode="auto">
            <a:xfrm>
              <a:off x="1713" y="2338"/>
              <a:ext cx="200" cy="2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1</a:t>
              </a:r>
            </a:p>
          </p:txBody>
        </p:sp>
      </p:grpSp>
      <p:sp>
        <p:nvSpPr>
          <p:cNvPr id="115733" name="Text Box 1045"/>
          <p:cNvSpPr txBox="1">
            <a:spLocks noChangeArrowheads="1"/>
          </p:cNvSpPr>
          <p:nvPr/>
        </p:nvSpPr>
        <p:spPr bwMode="auto">
          <a:xfrm>
            <a:off x="1509713" y="5287963"/>
            <a:ext cx="21066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6 ….. 1690 kW</a:t>
            </a:r>
          </a:p>
        </p:txBody>
      </p:sp>
      <p:sp>
        <p:nvSpPr>
          <p:cNvPr id="115734" name="Text Box 1046"/>
          <p:cNvSpPr txBox="1">
            <a:spLocks noChangeArrowheads="1"/>
          </p:cNvSpPr>
          <p:nvPr/>
        </p:nvSpPr>
        <p:spPr bwMode="auto">
          <a:xfrm>
            <a:off x="5435600" y="5319713"/>
            <a:ext cx="2335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2,7 ….. 1530 kW</a:t>
            </a:r>
          </a:p>
        </p:txBody>
      </p:sp>
      <p:sp>
        <p:nvSpPr>
          <p:cNvPr id="81932"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7"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716"/>
                                        </p:tgtEl>
                                        <p:attrNameLst>
                                          <p:attrName>style.visibility</p:attrName>
                                        </p:attrNameLst>
                                      </p:cBhvr>
                                      <p:to>
                                        <p:strVal val="visible"/>
                                      </p:to>
                                    </p:set>
                                    <p:anim calcmode="lin" valueType="num">
                                      <p:cBhvr additive="base">
                                        <p:cTn id="7" dur="500" fill="hold"/>
                                        <p:tgtEl>
                                          <p:spTgt spid="115716"/>
                                        </p:tgtEl>
                                        <p:attrNameLst>
                                          <p:attrName>ppt_x</p:attrName>
                                        </p:attrNameLst>
                                      </p:cBhvr>
                                      <p:tavLst>
                                        <p:tav tm="0">
                                          <p:val>
                                            <p:strVal val="0-#ppt_w/2"/>
                                          </p:val>
                                        </p:tav>
                                        <p:tav tm="100000">
                                          <p:val>
                                            <p:strVal val="#ppt_x"/>
                                          </p:val>
                                        </p:tav>
                                      </p:tavLst>
                                    </p:anim>
                                    <p:anim calcmode="lin" valueType="num">
                                      <p:cBhvr additive="base">
                                        <p:cTn id="8" dur="500" fill="hold"/>
                                        <p:tgtEl>
                                          <p:spTgt spid="115716"/>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nodeType="afterEffect">
                                  <p:stCondLst>
                                    <p:cond delay="100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0-#ppt_w/2"/>
                                          </p:val>
                                        </p:tav>
                                        <p:tav tm="100000">
                                          <p:val>
                                            <p:strVal val="#ppt_x"/>
                                          </p:val>
                                        </p:tav>
                                      </p:tavLst>
                                    </p:anim>
                                    <p:anim calcmode="lin" valueType="num">
                                      <p:cBhvr additive="base">
                                        <p:cTn id="13" dur="500" fill="hold"/>
                                        <p:tgtEl>
                                          <p:spTgt spid="3"/>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2000"/>
                            </p:stCondLst>
                            <p:childTnLst>
                              <p:par>
                                <p:cTn id="15" presetID="2" presetClass="entr" presetSubtype="8" fill="hold" grpId="0" nodeType="afterEffect">
                                  <p:stCondLst>
                                    <p:cond delay="1000"/>
                                  </p:stCondLst>
                                  <p:childTnLst>
                                    <p:set>
                                      <p:cBhvr>
                                        <p:cTn id="16" dur="1" fill="hold">
                                          <p:stCondLst>
                                            <p:cond delay="0"/>
                                          </p:stCondLst>
                                        </p:cTn>
                                        <p:tgtEl>
                                          <p:spTgt spid="115733"/>
                                        </p:tgtEl>
                                        <p:attrNameLst>
                                          <p:attrName>style.visibility</p:attrName>
                                        </p:attrNameLst>
                                      </p:cBhvr>
                                      <p:to>
                                        <p:strVal val="visible"/>
                                      </p:to>
                                    </p:set>
                                    <p:anim calcmode="lin" valueType="num">
                                      <p:cBhvr additive="base">
                                        <p:cTn id="17" dur="500" fill="hold"/>
                                        <p:tgtEl>
                                          <p:spTgt spid="115733"/>
                                        </p:tgtEl>
                                        <p:attrNameLst>
                                          <p:attrName>ppt_x</p:attrName>
                                        </p:attrNameLst>
                                      </p:cBhvr>
                                      <p:tavLst>
                                        <p:tav tm="0">
                                          <p:val>
                                            <p:strVal val="0-#ppt_w/2"/>
                                          </p:val>
                                        </p:tav>
                                        <p:tav tm="100000">
                                          <p:val>
                                            <p:strVal val="#ppt_x"/>
                                          </p:val>
                                        </p:tav>
                                      </p:tavLst>
                                    </p:anim>
                                    <p:anim calcmode="lin" valueType="num">
                                      <p:cBhvr additive="base">
                                        <p:cTn id="18" dur="500" fill="hold"/>
                                        <p:tgtEl>
                                          <p:spTgt spid="115733"/>
                                        </p:tgtEl>
                                        <p:attrNameLst>
                                          <p:attrName>ppt_y</p:attrName>
                                        </p:attrNameLst>
                                      </p:cBhvr>
                                      <p:tavLst>
                                        <p:tav tm="0">
                                          <p:val>
                                            <p:strVal val="#ppt_y"/>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grpId="0" nodeType="clickEffect">
                                  <p:stCondLst>
                                    <p:cond delay="0"/>
                                  </p:stCondLst>
                                  <p:childTnLst>
                                    <p:set>
                                      <p:cBhvr>
                                        <p:cTn id="22" dur="1" fill="hold">
                                          <p:stCondLst>
                                            <p:cond delay="0"/>
                                          </p:stCondLst>
                                        </p:cTn>
                                        <p:tgtEl>
                                          <p:spTgt spid="115717"/>
                                        </p:tgtEl>
                                        <p:attrNameLst>
                                          <p:attrName>style.visibility</p:attrName>
                                        </p:attrNameLst>
                                      </p:cBhvr>
                                      <p:to>
                                        <p:strVal val="visible"/>
                                      </p:to>
                                    </p:set>
                                    <p:anim calcmode="lin" valueType="num">
                                      <p:cBhvr additive="base">
                                        <p:cTn id="23" dur="500" fill="hold"/>
                                        <p:tgtEl>
                                          <p:spTgt spid="115717"/>
                                        </p:tgtEl>
                                        <p:attrNameLst>
                                          <p:attrName>ppt_x</p:attrName>
                                        </p:attrNameLst>
                                      </p:cBhvr>
                                      <p:tavLst>
                                        <p:tav tm="0">
                                          <p:val>
                                            <p:strVal val="1+#ppt_w/2"/>
                                          </p:val>
                                        </p:tav>
                                        <p:tav tm="100000">
                                          <p:val>
                                            <p:strVal val="#ppt_x"/>
                                          </p:val>
                                        </p:tav>
                                      </p:tavLst>
                                    </p:anim>
                                    <p:anim calcmode="lin" valueType="num">
                                      <p:cBhvr additive="base">
                                        <p:cTn id="24" dur="500" fill="hold"/>
                                        <p:tgtEl>
                                          <p:spTgt spid="115717"/>
                                        </p:tgtEl>
                                        <p:attrNameLst>
                                          <p:attrName>ppt_y</p:attrName>
                                        </p:attrNameLst>
                                      </p:cBhvr>
                                      <p:tavLst>
                                        <p:tav tm="0">
                                          <p:val>
                                            <p:strVal val="#ppt_y"/>
                                          </p:val>
                                        </p:tav>
                                        <p:tav tm="100000">
                                          <p:val>
                                            <p:strVal val="#ppt_y"/>
                                          </p:val>
                                        </p:tav>
                                      </p:tavLst>
                                    </p:anim>
                                  </p:childTnLst>
                                </p:cTn>
                              </p:par>
                            </p:childTnLst>
                          </p:cTn>
                        </p:par>
                        <p:par>
                          <p:cTn id="25" fill="hold" nodeType="afterGroup">
                            <p:stCondLst>
                              <p:cond delay="500"/>
                            </p:stCondLst>
                            <p:childTnLst>
                              <p:par>
                                <p:cTn id="26" presetID="2" presetClass="entr" presetSubtype="2" fill="hold" nodeType="afterEffect">
                                  <p:stCondLst>
                                    <p:cond delay="100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1+#ppt_w/2"/>
                                          </p:val>
                                        </p:tav>
                                        <p:tav tm="100000">
                                          <p:val>
                                            <p:strVal val="#ppt_x"/>
                                          </p:val>
                                        </p:tav>
                                      </p:tavLst>
                                    </p:anim>
                                    <p:anim calcmode="lin" valueType="num">
                                      <p:cBhvr additive="base">
                                        <p:cTn id="29" dur="500" fill="hold"/>
                                        <p:tgtEl>
                                          <p:spTgt spid="2"/>
                                        </p:tgtEl>
                                        <p:attrNameLst>
                                          <p:attrName>ppt_y</p:attrName>
                                        </p:attrNameLst>
                                      </p:cBhvr>
                                      <p:tavLst>
                                        <p:tav tm="0">
                                          <p:val>
                                            <p:strVal val="#ppt_y"/>
                                          </p:val>
                                        </p:tav>
                                        <p:tav tm="100000">
                                          <p:val>
                                            <p:strVal val="#ppt_y"/>
                                          </p:val>
                                        </p:tav>
                                      </p:tavLst>
                                    </p:anim>
                                  </p:childTnLst>
                                </p:cTn>
                              </p:par>
                            </p:childTnLst>
                          </p:cTn>
                        </p:par>
                        <p:par>
                          <p:cTn id="30" fill="hold" nodeType="afterGroup">
                            <p:stCondLst>
                              <p:cond delay="2000"/>
                            </p:stCondLst>
                            <p:childTnLst>
                              <p:par>
                                <p:cTn id="31" presetID="2" presetClass="entr" presetSubtype="2" fill="hold" grpId="0" nodeType="afterEffect">
                                  <p:stCondLst>
                                    <p:cond delay="1000"/>
                                  </p:stCondLst>
                                  <p:childTnLst>
                                    <p:set>
                                      <p:cBhvr>
                                        <p:cTn id="32" dur="1" fill="hold">
                                          <p:stCondLst>
                                            <p:cond delay="0"/>
                                          </p:stCondLst>
                                        </p:cTn>
                                        <p:tgtEl>
                                          <p:spTgt spid="115734"/>
                                        </p:tgtEl>
                                        <p:attrNameLst>
                                          <p:attrName>style.visibility</p:attrName>
                                        </p:attrNameLst>
                                      </p:cBhvr>
                                      <p:to>
                                        <p:strVal val="visible"/>
                                      </p:to>
                                    </p:set>
                                    <p:anim calcmode="lin" valueType="num">
                                      <p:cBhvr additive="base">
                                        <p:cTn id="33" dur="500" fill="hold"/>
                                        <p:tgtEl>
                                          <p:spTgt spid="115734"/>
                                        </p:tgtEl>
                                        <p:attrNameLst>
                                          <p:attrName>ppt_x</p:attrName>
                                        </p:attrNameLst>
                                      </p:cBhvr>
                                      <p:tavLst>
                                        <p:tav tm="0">
                                          <p:val>
                                            <p:strVal val="1+#ppt_w/2"/>
                                          </p:val>
                                        </p:tav>
                                        <p:tav tm="100000">
                                          <p:val>
                                            <p:strVal val="#ppt_x"/>
                                          </p:val>
                                        </p:tav>
                                      </p:tavLst>
                                    </p:anim>
                                    <p:anim calcmode="lin" valueType="num">
                                      <p:cBhvr additive="base">
                                        <p:cTn id="34" dur="500" fill="hold"/>
                                        <p:tgtEl>
                                          <p:spTgt spid="1157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6" grpId="0" autoUpdateAnimBg="0"/>
      <p:bldP spid="115717" grpId="0" autoUpdateAnimBg="0"/>
      <p:bldP spid="115733" grpId="0" autoUpdateAnimBg="0"/>
      <p:bldP spid="115734"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5"/>
          <a:srcRect/>
          <a:tile tx="0" ty="0" sx="100000" sy="100000" flip="none" algn="tl"/>
        </a:blipFill>
        <a:effectLst/>
      </p:bgPr>
    </p:bg>
    <p:spTree>
      <p:nvGrpSpPr>
        <p:cNvPr id="1" name=""/>
        <p:cNvGrpSpPr/>
        <p:nvPr/>
      </p:nvGrpSpPr>
      <p:grpSpPr>
        <a:xfrm>
          <a:off x="0" y="0"/>
          <a:ext cx="0" cy="0"/>
          <a:chOff x="0" y="0"/>
          <a:chExt cx="0" cy="0"/>
        </a:xfrm>
      </p:grpSpPr>
      <p:sp>
        <p:nvSpPr>
          <p:cNvPr id="7" name="Rectangle 1"/>
          <p:cNvSpPr>
            <a:spLocks noChangeArrowheads="1"/>
          </p:cNvSpPr>
          <p:nvPr/>
        </p:nvSpPr>
        <p:spPr bwMode="auto">
          <a:xfrm>
            <a:off x="-1222375" y="796925"/>
            <a:ext cx="9144000" cy="400050"/>
          </a:xfrm>
          <a:prstGeom prst="rect">
            <a:avLst/>
          </a:prstGeom>
          <a:noFill/>
          <a:ln w="9525">
            <a:noFill/>
            <a:miter lim="800000"/>
            <a:headEnd/>
            <a:tailEnd/>
          </a:ln>
        </p:spPr>
        <p:txBody>
          <a:bodyPr anchor="ctr">
            <a:spAutoFit/>
          </a:bodyPr>
          <a:lstStyle/>
          <a:p>
            <a:pPr algn="ctr" eaLnBrk="1" hangingPunct="1">
              <a:defRPr/>
            </a:pPr>
            <a:r>
              <a:rPr lang="fr-FR" sz="2000" b="1" cap="small" dirty="0">
                <a:cs typeface="Times New Roman" pitchFamily="18" charset="0"/>
              </a:rPr>
              <a:t>Variateurs non réversibles ou unidirectionnels</a:t>
            </a:r>
          </a:p>
        </p:txBody>
      </p:sp>
      <p:sp>
        <p:nvSpPr>
          <p:cNvPr id="8" name="ZoneTexte 7"/>
          <p:cNvSpPr txBox="1">
            <a:spLocks noChangeArrowheads="1"/>
          </p:cNvSpPr>
          <p:nvPr/>
        </p:nvSpPr>
        <p:spPr bwMode="auto">
          <a:xfrm>
            <a:off x="571500" y="1357313"/>
            <a:ext cx="7643813"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Ces variateurs ne permettent le transfert de l’énergie que dans le sens     réseau </a:t>
            </a:r>
            <a:r>
              <a:rPr lang="fr-FR" altLang="fr-FR" sz="1800">
                <a:latin typeface="Arial" panose="020B0604020202020204" pitchFamily="34" charset="0"/>
                <a:sym typeface="Wingdings" panose="05000000000000000000" pitchFamily="2" charset="2"/>
              </a:rPr>
              <a:t> variateur  </a:t>
            </a:r>
            <a:r>
              <a:rPr lang="fr-FR" altLang="fr-FR" sz="1800">
                <a:latin typeface="Arial" panose="020B0604020202020204" pitchFamily="34" charset="0"/>
              </a:rPr>
              <a:t>moteur </a:t>
            </a:r>
            <a:r>
              <a:rPr lang="fr-FR" altLang="fr-FR" sz="1800">
                <a:latin typeface="Arial" panose="020B0604020202020204" pitchFamily="34" charset="0"/>
                <a:sym typeface="Wingdings" panose="05000000000000000000" pitchFamily="2" charset="2"/>
              </a:rPr>
              <a:t></a:t>
            </a:r>
            <a:r>
              <a:rPr lang="fr-FR" altLang="fr-FR" sz="1800">
                <a:latin typeface="Arial" panose="020B0604020202020204" pitchFamily="34" charset="0"/>
              </a:rPr>
              <a:t>charge.</a:t>
            </a:r>
          </a:p>
          <a:p>
            <a:pPr eaLnBrk="1" hangingPunct="1">
              <a:spcBef>
                <a:spcPct val="0"/>
              </a:spcBef>
              <a:buClrTx/>
              <a:buSzTx/>
              <a:buFontTx/>
              <a:buNone/>
            </a:pPr>
            <a:endParaRPr lang="fr-FR" altLang="fr-FR" sz="2000">
              <a:latin typeface="Arial" panose="020B0604020202020204" pitchFamily="34" charset="0"/>
            </a:endParaRPr>
          </a:p>
          <a:p>
            <a:pPr eaLnBrk="1" hangingPunct="1">
              <a:spcBef>
                <a:spcPct val="0"/>
              </a:spcBef>
              <a:buClrTx/>
              <a:buSzTx/>
              <a:buFontTx/>
              <a:buNone/>
            </a:pPr>
            <a:endParaRPr lang="fr-FR" altLang="fr-FR" sz="1800">
              <a:latin typeface="Arial" panose="020B0604020202020204" pitchFamily="34" charset="0"/>
            </a:endParaRPr>
          </a:p>
        </p:txBody>
      </p:sp>
      <p:sp>
        <p:nvSpPr>
          <p:cNvPr id="8397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aphicFrame>
        <p:nvGraphicFramePr>
          <p:cNvPr id="7170" name="Object 5"/>
          <p:cNvGraphicFramePr>
            <a:graphicFrameLocks noChangeAspect="1"/>
          </p:cNvGraphicFramePr>
          <p:nvPr/>
        </p:nvGraphicFramePr>
        <p:xfrm>
          <a:off x="260350" y="2892425"/>
          <a:ext cx="8501063" cy="2724150"/>
        </p:xfrm>
        <a:graphic>
          <a:graphicData uri="http://schemas.openxmlformats.org/presentationml/2006/ole">
            <mc:AlternateContent xmlns:mc="http://schemas.openxmlformats.org/markup-compatibility/2006">
              <mc:Choice xmlns:v="urn:schemas-microsoft-com:vml" Requires="v">
                <p:oleObj spid="_x0000_s83987" r:id="rId6" imgW="4772025" imgH="1533525" progId="">
                  <p:embed/>
                </p:oleObj>
              </mc:Choice>
              <mc:Fallback>
                <p:oleObj r:id="rId6" imgW="4772025" imgH="1533525" progId="">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0350" y="2892425"/>
                        <a:ext cx="8501063" cy="272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3974"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7D891F6-811D-45A3-AF2F-BB9DF0D2EDC4}" type="slidenum">
              <a:rPr lang="fr-FR" altLang="fr-FR" sz="1000" smtClean="0">
                <a:solidFill>
                  <a:srgbClr val="292929"/>
                </a:solidFill>
                <a:latin typeface="Arial" panose="020B0604020202020204" pitchFamily="34" charset="0"/>
              </a:rPr>
              <a:pPr>
                <a:spcBef>
                  <a:spcPct val="0"/>
                </a:spcBef>
                <a:buClrTx/>
                <a:buSzTx/>
                <a:buFontTx/>
                <a:buNone/>
              </a:pPr>
              <a:t>46</a:t>
            </a:fld>
            <a:endParaRPr lang="fr-FR" altLang="fr-FR" sz="1000" smtClean="0">
              <a:solidFill>
                <a:srgbClr val="292929"/>
              </a:solidFill>
              <a:latin typeface="Arial" panose="020B0604020202020204" pitchFamily="34" charset="0"/>
            </a:endParaRPr>
          </a:p>
        </p:txBody>
      </p:sp>
      <p:sp>
        <p:nvSpPr>
          <p:cNvPr id="83975" name="Rectangle 3"/>
          <p:cNvSpPr>
            <a:spLocks noChangeArrowheads="1"/>
          </p:cNvSpPr>
          <p:nvPr/>
        </p:nvSpPr>
        <p:spPr bwMode="auto">
          <a:xfrm>
            <a:off x="182563" y="2714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 name="Espace réservé du pied de page 8"/>
          <p:cNvSpPr>
            <a:spLocks noGrp="1"/>
          </p:cNvSpPr>
          <p:nvPr>
            <p:ph type="ftr" sz="quarter" idx="11"/>
          </p:nvPr>
        </p:nvSpPr>
        <p:spPr/>
        <p:txBody>
          <a:bodyPr/>
          <a:lstStyle/>
          <a:p>
            <a:pPr>
              <a:defRPr/>
            </a:pPr>
            <a:r>
              <a:rPr lang="fr-FR"/>
              <a:t>Commande des machines   3.MCC     Ali NEJMI</a:t>
            </a:r>
            <a:endParaRPr lang="en-US"/>
          </a:p>
        </p:txBody>
      </p:sp>
      <p:sp>
        <p:nvSpPr>
          <p:cNvPr id="10"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75"/>
                                  </p:iterate>
                                  <p:childTnLst>
                                    <p:set>
                                      <p:cBhvr>
                                        <p:cTn id="6" dur="1" fill="hold">
                                          <p:stCondLst>
                                            <p:cond delay="74"/>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7" presetClass="entr" presetSubtype="0" fill="hold" grpId="0" nodeType="clickEffect">
                                  <p:stCondLst>
                                    <p:cond delay="0"/>
                                  </p:stCondLst>
                                  <p:iterate type="lt">
                                    <p:tmPct val="50000"/>
                                  </p:iterate>
                                  <p:childTnLst>
                                    <p:set>
                                      <p:cBhvr>
                                        <p:cTn id="10" dur="1" fill="hold">
                                          <p:stCondLst>
                                            <p:cond delay="0"/>
                                          </p:stCondLst>
                                        </p:cTn>
                                        <p:tgtEl>
                                          <p:spTgt spid="8"/>
                                        </p:tgtEl>
                                        <p:attrNameLst>
                                          <p:attrName>style.visibility</p:attrName>
                                        </p:attrNameLst>
                                      </p:cBhvr>
                                      <p:to>
                                        <p:strVal val="visible"/>
                                      </p:to>
                                    </p:set>
                                    <p:anim calcmode="discrete" valueType="clr">
                                      <p:cBhvr override="childStyle">
                                        <p:cTn id="11" dur="80"/>
                                        <p:tgtEl>
                                          <p:spTgt spid="8"/>
                                        </p:tgtEl>
                                        <p:attrNameLst>
                                          <p:attrName>style.color</p:attrName>
                                        </p:attrNameLst>
                                      </p:cBhvr>
                                      <p:tavLst>
                                        <p:tav tm="0">
                                          <p:val>
                                            <p:clrVal>
                                              <a:schemeClr val="accent2"/>
                                            </p:clrVal>
                                          </p:val>
                                        </p:tav>
                                        <p:tav tm="50000">
                                          <p:val>
                                            <p:clrVal>
                                              <a:schemeClr val="hlink"/>
                                            </p:clrVal>
                                          </p:val>
                                        </p:tav>
                                      </p:tavLst>
                                    </p:anim>
                                    <p:anim calcmode="discrete" valueType="clr">
                                      <p:cBhvr>
                                        <p:cTn id="12" dur="80"/>
                                        <p:tgtEl>
                                          <p:spTgt spid="8"/>
                                        </p:tgtEl>
                                        <p:attrNameLst>
                                          <p:attrName>fillcolor</p:attrName>
                                        </p:attrNameLst>
                                      </p:cBhvr>
                                      <p:tavLst>
                                        <p:tav tm="0">
                                          <p:val>
                                            <p:clrVal>
                                              <a:schemeClr val="accent2"/>
                                            </p:clrVal>
                                          </p:val>
                                        </p:tav>
                                        <p:tav tm="50000">
                                          <p:val>
                                            <p:clrVal>
                                              <a:schemeClr val="hlink"/>
                                            </p:clrVal>
                                          </p:val>
                                        </p:tav>
                                      </p:tavLst>
                                    </p:anim>
                                    <p:set>
                                      <p:cBhvr>
                                        <p:cTn id="13" dur="80"/>
                                        <p:tgtEl>
                                          <p:spTgt spid="8"/>
                                        </p:tgtEl>
                                        <p:attrNameLst>
                                          <p:attrName>fill.type</p:attrName>
                                        </p:attrNameLst>
                                      </p:cBhvr>
                                      <p:to>
                                        <p:strVal val="solid"/>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34" presetClass="entr" presetSubtype="0" fill="hold" nodeType="clickEffect">
                                  <p:stCondLst>
                                    <p:cond delay="0"/>
                                  </p:stCondLst>
                                  <p:childTnLst>
                                    <p:set>
                                      <p:cBhvr>
                                        <p:cTn id="17" dur="1" fill="hold">
                                          <p:stCondLst>
                                            <p:cond delay="0"/>
                                          </p:stCondLst>
                                        </p:cTn>
                                        <p:tgtEl>
                                          <p:spTgt spid="7170"/>
                                        </p:tgtEl>
                                        <p:attrNameLst>
                                          <p:attrName>style.visibility</p:attrName>
                                        </p:attrNameLst>
                                      </p:cBhvr>
                                      <p:to>
                                        <p:strVal val="visible"/>
                                      </p:to>
                                    </p:set>
                                    <p:anim from="(-#ppt_w/2)" to="(#ppt_x)" calcmode="lin" valueType="num">
                                      <p:cBhvr>
                                        <p:cTn id="18" dur="600" fill="hold">
                                          <p:stCondLst>
                                            <p:cond delay="0"/>
                                          </p:stCondLst>
                                        </p:cTn>
                                        <p:tgtEl>
                                          <p:spTgt spid="7170"/>
                                        </p:tgtEl>
                                        <p:attrNameLst>
                                          <p:attrName>ppt_x</p:attrName>
                                        </p:attrNameLst>
                                      </p:cBhvr>
                                    </p:anim>
                                    <p:anim from="0" to="-1.0" calcmode="lin" valueType="num">
                                      <p:cBhvr>
                                        <p:cTn id="19" dur="200" decel="50000" autoRev="1" fill="hold">
                                          <p:stCondLst>
                                            <p:cond delay="600"/>
                                          </p:stCondLst>
                                        </p:cTn>
                                        <p:tgtEl>
                                          <p:spTgt spid="7170"/>
                                        </p:tgtEl>
                                        <p:attrNameLst>
                                          <p:attrName>xshear</p:attrName>
                                        </p:attrNameLst>
                                      </p:cBhvr>
                                    </p:anim>
                                    <p:animScale>
                                      <p:cBhvr>
                                        <p:cTn id="20" dur="200" decel="100000" autoRev="1" fill="hold">
                                          <p:stCondLst>
                                            <p:cond delay="600"/>
                                          </p:stCondLst>
                                        </p:cTn>
                                        <p:tgtEl>
                                          <p:spTgt spid="7170"/>
                                        </p:tgtEl>
                                      </p:cBhvr>
                                      <p:from x="100000" y="100000"/>
                                      <p:to x="80000" y="100000"/>
                                    </p:animScale>
                                    <p:anim by="(#ppt_h/3+#ppt_w*0.1)" calcmode="lin" valueType="num">
                                      <p:cBhvr additive="sum">
                                        <p:cTn id="21" dur="200" decel="100000" autoRev="1" fill="hold">
                                          <p:stCondLst>
                                            <p:cond delay="600"/>
                                          </p:stCondLst>
                                        </p:cTn>
                                        <p:tgtEl>
                                          <p:spTgt spid="7170"/>
                                        </p:tgtEl>
                                        <p:attrNameLst>
                                          <p:attrName>ppt_x</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utoUpdateAnimBg="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45" name="Espace réservé du pied de page 44"/>
          <p:cNvSpPr>
            <a:spLocks noGrp="1"/>
          </p:cNvSpPr>
          <p:nvPr>
            <p:ph type="ftr" sz="quarter" idx="11"/>
          </p:nvPr>
        </p:nvSpPr>
        <p:spPr/>
        <p:txBody>
          <a:bodyPr/>
          <a:lstStyle/>
          <a:p>
            <a:pPr>
              <a:defRPr/>
            </a:pPr>
            <a:r>
              <a:rPr lang="fr-FR"/>
              <a:t>Commande des machines   3.MCC     Ali NEJMI</a:t>
            </a:r>
          </a:p>
        </p:txBody>
      </p:sp>
      <p:sp>
        <p:nvSpPr>
          <p:cNvPr id="86019"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12A9D28-5FAF-407D-ACE9-86223EEF3FA1}" type="slidenum">
              <a:rPr lang="fr-FR" altLang="fr-FR" sz="1000" smtClean="0">
                <a:solidFill>
                  <a:srgbClr val="292929"/>
                </a:solidFill>
                <a:latin typeface="Arial" panose="020B0604020202020204" pitchFamily="34" charset="0"/>
              </a:rPr>
              <a:pPr>
                <a:spcBef>
                  <a:spcPct val="0"/>
                </a:spcBef>
                <a:buClrTx/>
                <a:buSzTx/>
                <a:buFontTx/>
                <a:buNone/>
              </a:pPr>
              <a:t>47</a:t>
            </a:fld>
            <a:endParaRPr lang="fr-FR" altLang="fr-FR" sz="1000" smtClean="0">
              <a:solidFill>
                <a:srgbClr val="292929"/>
              </a:solidFill>
              <a:latin typeface="Arial" panose="020B0604020202020204" pitchFamily="34" charset="0"/>
            </a:endParaRPr>
          </a:p>
        </p:txBody>
      </p:sp>
      <p:sp>
        <p:nvSpPr>
          <p:cNvPr id="86020" name="Text Box 2"/>
          <p:cNvSpPr txBox="1">
            <a:spLocks noChangeArrowheads="1"/>
          </p:cNvSpPr>
          <p:nvPr/>
        </p:nvSpPr>
        <p:spPr bwMode="auto">
          <a:xfrm>
            <a:off x="500063" y="357188"/>
            <a:ext cx="27193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Avec un pont mixte</a:t>
            </a:r>
          </a:p>
        </p:txBody>
      </p:sp>
      <p:grpSp>
        <p:nvGrpSpPr>
          <p:cNvPr id="2" name="Group 3"/>
          <p:cNvGrpSpPr>
            <a:grpSpLocks/>
          </p:cNvGrpSpPr>
          <p:nvPr/>
        </p:nvGrpSpPr>
        <p:grpSpPr bwMode="auto">
          <a:xfrm>
            <a:off x="2571750" y="1357313"/>
            <a:ext cx="4191000" cy="1916112"/>
            <a:chOff x="1536" y="1824"/>
            <a:chExt cx="2640" cy="1207"/>
          </a:xfrm>
        </p:grpSpPr>
        <p:sp>
          <p:nvSpPr>
            <p:cNvPr id="86026" name="Text Box 4"/>
            <p:cNvSpPr txBox="1">
              <a:spLocks noChangeArrowheads="1"/>
            </p:cNvSpPr>
            <p:nvPr/>
          </p:nvSpPr>
          <p:spPr bwMode="auto">
            <a:xfrm>
              <a:off x="1536" y="2256"/>
              <a:ext cx="62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Réseau</a:t>
              </a:r>
            </a:p>
          </p:txBody>
        </p:sp>
        <p:sp>
          <p:nvSpPr>
            <p:cNvPr id="86027" name="Line 5"/>
            <p:cNvSpPr>
              <a:spLocks noChangeShapeType="1"/>
            </p:cNvSpPr>
            <p:nvPr/>
          </p:nvSpPr>
          <p:spPr bwMode="auto">
            <a:xfrm>
              <a:off x="3931" y="1872"/>
              <a:ext cx="0"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28" name="Line 6"/>
            <p:cNvSpPr>
              <a:spLocks noChangeShapeType="1"/>
            </p:cNvSpPr>
            <p:nvPr/>
          </p:nvSpPr>
          <p:spPr bwMode="auto">
            <a:xfrm>
              <a:off x="2216" y="1872"/>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29" name="Line 7"/>
            <p:cNvSpPr>
              <a:spLocks noChangeShapeType="1"/>
            </p:cNvSpPr>
            <p:nvPr/>
          </p:nvSpPr>
          <p:spPr bwMode="auto">
            <a:xfrm>
              <a:off x="2052" y="203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0" name="Line 8"/>
            <p:cNvSpPr>
              <a:spLocks noChangeShapeType="1"/>
            </p:cNvSpPr>
            <p:nvPr/>
          </p:nvSpPr>
          <p:spPr bwMode="auto">
            <a:xfrm flipH="1">
              <a:off x="2052" y="2037"/>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1" name="Line 9"/>
            <p:cNvSpPr>
              <a:spLocks noChangeShapeType="1"/>
            </p:cNvSpPr>
            <p:nvPr/>
          </p:nvSpPr>
          <p:spPr bwMode="auto">
            <a:xfrm>
              <a:off x="2216" y="2037"/>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2" name="Line 10"/>
            <p:cNvSpPr>
              <a:spLocks noChangeShapeType="1"/>
            </p:cNvSpPr>
            <p:nvPr/>
          </p:nvSpPr>
          <p:spPr bwMode="auto">
            <a:xfrm>
              <a:off x="2052" y="2201"/>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3" name="Line 11"/>
            <p:cNvSpPr>
              <a:spLocks noChangeShapeType="1"/>
            </p:cNvSpPr>
            <p:nvPr/>
          </p:nvSpPr>
          <p:spPr bwMode="auto">
            <a:xfrm>
              <a:off x="2052" y="261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4" name="Line 12"/>
            <p:cNvSpPr>
              <a:spLocks noChangeShapeType="1"/>
            </p:cNvSpPr>
            <p:nvPr/>
          </p:nvSpPr>
          <p:spPr bwMode="auto">
            <a:xfrm flipH="1">
              <a:off x="2052" y="2613"/>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5" name="Line 13"/>
            <p:cNvSpPr>
              <a:spLocks noChangeShapeType="1"/>
            </p:cNvSpPr>
            <p:nvPr/>
          </p:nvSpPr>
          <p:spPr bwMode="auto">
            <a:xfrm>
              <a:off x="2216" y="2613"/>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6" name="Line 14"/>
            <p:cNvSpPr>
              <a:spLocks noChangeShapeType="1"/>
            </p:cNvSpPr>
            <p:nvPr/>
          </p:nvSpPr>
          <p:spPr bwMode="auto">
            <a:xfrm>
              <a:off x="2052" y="277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7" name="Line 15"/>
            <p:cNvSpPr>
              <a:spLocks noChangeShapeType="1"/>
            </p:cNvSpPr>
            <p:nvPr/>
          </p:nvSpPr>
          <p:spPr bwMode="auto">
            <a:xfrm>
              <a:off x="2787" y="1872"/>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8" name="Line 16"/>
            <p:cNvSpPr>
              <a:spLocks noChangeShapeType="1"/>
            </p:cNvSpPr>
            <p:nvPr/>
          </p:nvSpPr>
          <p:spPr bwMode="auto">
            <a:xfrm>
              <a:off x="2624" y="203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39" name="Line 17"/>
            <p:cNvSpPr>
              <a:spLocks noChangeShapeType="1"/>
            </p:cNvSpPr>
            <p:nvPr/>
          </p:nvSpPr>
          <p:spPr bwMode="auto">
            <a:xfrm flipH="1">
              <a:off x="2624" y="2037"/>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0" name="Line 18"/>
            <p:cNvSpPr>
              <a:spLocks noChangeShapeType="1"/>
            </p:cNvSpPr>
            <p:nvPr/>
          </p:nvSpPr>
          <p:spPr bwMode="auto">
            <a:xfrm>
              <a:off x="2787" y="2037"/>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1" name="Line 19"/>
            <p:cNvSpPr>
              <a:spLocks noChangeShapeType="1"/>
            </p:cNvSpPr>
            <p:nvPr/>
          </p:nvSpPr>
          <p:spPr bwMode="auto">
            <a:xfrm>
              <a:off x="2624" y="2201"/>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2" name="Line 20"/>
            <p:cNvSpPr>
              <a:spLocks noChangeShapeType="1"/>
            </p:cNvSpPr>
            <p:nvPr/>
          </p:nvSpPr>
          <p:spPr bwMode="auto">
            <a:xfrm>
              <a:off x="2624" y="261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3" name="Line 21"/>
            <p:cNvSpPr>
              <a:spLocks noChangeShapeType="1"/>
            </p:cNvSpPr>
            <p:nvPr/>
          </p:nvSpPr>
          <p:spPr bwMode="auto">
            <a:xfrm flipH="1">
              <a:off x="2624" y="2613"/>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4" name="Line 22"/>
            <p:cNvSpPr>
              <a:spLocks noChangeShapeType="1"/>
            </p:cNvSpPr>
            <p:nvPr/>
          </p:nvSpPr>
          <p:spPr bwMode="auto">
            <a:xfrm>
              <a:off x="2787" y="2613"/>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5" name="Line 23"/>
            <p:cNvSpPr>
              <a:spLocks noChangeShapeType="1"/>
            </p:cNvSpPr>
            <p:nvPr/>
          </p:nvSpPr>
          <p:spPr bwMode="auto">
            <a:xfrm>
              <a:off x="2624" y="277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6" name="Line 24"/>
            <p:cNvSpPr>
              <a:spLocks noChangeShapeType="1"/>
            </p:cNvSpPr>
            <p:nvPr/>
          </p:nvSpPr>
          <p:spPr bwMode="auto">
            <a:xfrm flipH="1">
              <a:off x="1644" y="2283"/>
              <a:ext cx="57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7" name="Line 25"/>
            <p:cNvSpPr>
              <a:spLocks noChangeShapeType="1"/>
            </p:cNvSpPr>
            <p:nvPr/>
          </p:nvSpPr>
          <p:spPr bwMode="auto">
            <a:xfrm flipH="1">
              <a:off x="1644" y="2530"/>
              <a:ext cx="114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8" name="Line 26"/>
            <p:cNvSpPr>
              <a:spLocks noChangeShapeType="1"/>
            </p:cNvSpPr>
            <p:nvPr/>
          </p:nvSpPr>
          <p:spPr bwMode="auto">
            <a:xfrm>
              <a:off x="2216" y="1872"/>
              <a:ext cx="171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49" name="Line 27"/>
            <p:cNvSpPr>
              <a:spLocks noChangeShapeType="1"/>
            </p:cNvSpPr>
            <p:nvPr/>
          </p:nvSpPr>
          <p:spPr bwMode="auto">
            <a:xfrm>
              <a:off x="2216" y="3024"/>
              <a:ext cx="171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50" name="Line 28"/>
            <p:cNvSpPr>
              <a:spLocks noChangeShapeType="1"/>
            </p:cNvSpPr>
            <p:nvPr/>
          </p:nvSpPr>
          <p:spPr bwMode="auto">
            <a:xfrm flipH="1">
              <a:off x="1971" y="2119"/>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51" name="Line 29"/>
            <p:cNvSpPr>
              <a:spLocks noChangeShapeType="1"/>
            </p:cNvSpPr>
            <p:nvPr/>
          </p:nvSpPr>
          <p:spPr bwMode="auto">
            <a:xfrm flipH="1">
              <a:off x="2543" y="2119"/>
              <a:ext cx="163"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52" name="Oval 30"/>
            <p:cNvSpPr>
              <a:spLocks noChangeArrowheads="1"/>
            </p:cNvSpPr>
            <p:nvPr/>
          </p:nvSpPr>
          <p:spPr bwMode="auto">
            <a:xfrm>
              <a:off x="3686" y="2201"/>
              <a:ext cx="490" cy="494"/>
            </a:xfrm>
            <a:prstGeom prst="ellipse">
              <a:avLst/>
            </a:prstGeom>
            <a:solidFill>
              <a:srgbClr val="FFFFFF"/>
            </a:solidFill>
            <a:ln w="28575">
              <a:solidFill>
                <a:schemeClr val="tx1"/>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6053" name="Text Box 31"/>
            <p:cNvSpPr txBox="1">
              <a:spLocks noChangeArrowheads="1"/>
            </p:cNvSpPr>
            <p:nvPr/>
          </p:nvSpPr>
          <p:spPr bwMode="auto">
            <a:xfrm>
              <a:off x="3768" y="2283"/>
              <a:ext cx="32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M</a:t>
              </a:r>
            </a:p>
            <a:p>
              <a:pPr eaLnBrk="1" hangingPunct="1">
                <a:spcBef>
                  <a:spcPct val="0"/>
                </a:spcBef>
                <a:buClrTx/>
                <a:buSzTx/>
                <a:buFontTx/>
                <a:buNone/>
              </a:pPr>
              <a:r>
                <a:rPr lang="fr-FR" altLang="fr-FR" sz="1800">
                  <a:latin typeface="Arial" panose="020B0604020202020204" pitchFamily="34" charset="0"/>
                </a:rPr>
                <a:t>=</a:t>
              </a:r>
            </a:p>
          </p:txBody>
        </p:sp>
        <p:sp>
          <p:nvSpPr>
            <p:cNvPr id="86054" name="Line 32"/>
            <p:cNvSpPr>
              <a:spLocks noChangeShapeType="1"/>
            </p:cNvSpPr>
            <p:nvPr/>
          </p:nvSpPr>
          <p:spPr bwMode="auto">
            <a:xfrm>
              <a:off x="3196" y="2366"/>
              <a:ext cx="327" cy="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55" name="Line 33"/>
            <p:cNvSpPr>
              <a:spLocks noChangeShapeType="1"/>
            </p:cNvSpPr>
            <p:nvPr/>
          </p:nvSpPr>
          <p:spPr bwMode="auto">
            <a:xfrm flipH="1">
              <a:off x="3196" y="2366"/>
              <a:ext cx="163" cy="164"/>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56" name="Line 34"/>
            <p:cNvSpPr>
              <a:spLocks noChangeShapeType="1"/>
            </p:cNvSpPr>
            <p:nvPr/>
          </p:nvSpPr>
          <p:spPr bwMode="auto">
            <a:xfrm>
              <a:off x="3359" y="2366"/>
              <a:ext cx="164" cy="164"/>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57" name="Line 35"/>
            <p:cNvSpPr>
              <a:spLocks noChangeShapeType="1"/>
            </p:cNvSpPr>
            <p:nvPr/>
          </p:nvSpPr>
          <p:spPr bwMode="auto">
            <a:xfrm>
              <a:off x="3196" y="2530"/>
              <a:ext cx="327" cy="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58" name="Line 36"/>
            <p:cNvSpPr>
              <a:spLocks noChangeShapeType="1"/>
            </p:cNvSpPr>
            <p:nvPr/>
          </p:nvSpPr>
          <p:spPr bwMode="auto">
            <a:xfrm>
              <a:off x="3359" y="1872"/>
              <a:ext cx="0" cy="1152"/>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6059" name="Text Box 37"/>
            <p:cNvSpPr txBox="1">
              <a:spLocks noChangeArrowheads="1"/>
            </p:cNvSpPr>
            <p:nvPr/>
          </p:nvSpPr>
          <p:spPr bwMode="auto">
            <a:xfrm>
              <a:off x="2880" y="2256"/>
              <a:ext cx="490"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DRL</a:t>
              </a:r>
            </a:p>
          </p:txBody>
        </p:sp>
        <p:sp>
          <p:nvSpPr>
            <p:cNvPr id="86060" name="Text Box 38"/>
            <p:cNvSpPr txBox="1">
              <a:spLocks noChangeArrowheads="1"/>
            </p:cNvSpPr>
            <p:nvPr/>
          </p:nvSpPr>
          <p:spPr bwMode="auto">
            <a:xfrm>
              <a:off x="2400" y="1824"/>
              <a:ext cx="431"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Th2</a:t>
              </a:r>
            </a:p>
          </p:txBody>
        </p:sp>
        <p:sp>
          <p:nvSpPr>
            <p:cNvPr id="86061" name="Text Box 39"/>
            <p:cNvSpPr txBox="1">
              <a:spLocks noChangeArrowheads="1"/>
            </p:cNvSpPr>
            <p:nvPr/>
          </p:nvSpPr>
          <p:spPr bwMode="auto">
            <a:xfrm>
              <a:off x="1824" y="182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Th1</a:t>
              </a:r>
            </a:p>
          </p:txBody>
        </p:sp>
        <p:sp>
          <p:nvSpPr>
            <p:cNvPr id="86062" name="Text Box 40"/>
            <p:cNvSpPr txBox="1">
              <a:spLocks noChangeArrowheads="1"/>
            </p:cNvSpPr>
            <p:nvPr/>
          </p:nvSpPr>
          <p:spPr bwMode="auto">
            <a:xfrm>
              <a:off x="1920" y="278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D1</a:t>
              </a:r>
            </a:p>
          </p:txBody>
        </p:sp>
        <p:sp>
          <p:nvSpPr>
            <p:cNvPr id="86063" name="Text Box 41"/>
            <p:cNvSpPr txBox="1">
              <a:spLocks noChangeArrowheads="1"/>
            </p:cNvSpPr>
            <p:nvPr/>
          </p:nvSpPr>
          <p:spPr bwMode="auto">
            <a:xfrm>
              <a:off x="2496" y="278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D2</a:t>
              </a:r>
            </a:p>
          </p:txBody>
        </p:sp>
      </p:grpSp>
      <p:sp>
        <p:nvSpPr>
          <p:cNvPr id="67626" name="Text Box 42"/>
          <p:cNvSpPr txBox="1">
            <a:spLocks noChangeArrowheads="1"/>
          </p:cNvSpPr>
          <p:nvPr/>
        </p:nvSpPr>
        <p:spPr bwMode="auto">
          <a:xfrm>
            <a:off x="3500438" y="3500438"/>
            <a:ext cx="222408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Schéma de principe</a:t>
            </a:r>
          </a:p>
        </p:txBody>
      </p:sp>
      <p:sp>
        <p:nvSpPr>
          <p:cNvPr id="67627" name="Text Box 43"/>
          <p:cNvSpPr txBox="1">
            <a:spLocks noChangeArrowheads="1"/>
          </p:cNvSpPr>
          <p:nvPr/>
        </p:nvSpPr>
        <p:spPr bwMode="auto">
          <a:xfrm>
            <a:off x="765175" y="4214813"/>
            <a:ext cx="78168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52425" indent="-352425">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Les Interrupteurs statiques (I.S) sont unidirectionnels en courant  (non réversible en couple).</a:t>
            </a:r>
          </a:p>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Un seul sens de rotation.</a:t>
            </a:r>
          </a:p>
          <a:p>
            <a:pPr eaLnBrk="1" hangingPunct="1">
              <a:spcBef>
                <a:spcPct val="0"/>
              </a:spcBef>
              <a:buClrTx/>
              <a:buSzTx/>
              <a:buFont typeface="Symbol" panose="05050102010706020507" pitchFamily="18" charset="2"/>
              <a:buChar char="®"/>
            </a:pPr>
            <a:r>
              <a:rPr lang="fr-FR" altLang="fr-FR" sz="1800">
                <a:solidFill>
                  <a:schemeClr val="accent1"/>
                </a:solidFill>
                <a:latin typeface="Arial" panose="020B0604020202020204" pitchFamily="34" charset="0"/>
              </a:rPr>
              <a:t>1 quadrant de fonctionnement (N°1).</a:t>
            </a:r>
            <a:endParaRPr lang="fr-FR" altLang="fr-FR" sz="1800">
              <a:latin typeface="Arial" panose="020B0604020202020204" pitchFamily="34" charset="0"/>
            </a:endParaRPr>
          </a:p>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Aucune contrainte de freinage.</a:t>
            </a:r>
          </a:p>
        </p:txBody>
      </p:sp>
      <p:sp>
        <p:nvSpPr>
          <p:cNvPr id="86024"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7"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67626"/>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7" presetClass="entr" presetSubtype="10" fill="hold" grpId="0" nodeType="clickEffect">
                                  <p:stCondLst>
                                    <p:cond delay="0"/>
                                  </p:stCondLst>
                                  <p:childTnLst>
                                    <p:set>
                                      <p:cBhvr>
                                        <p:cTn id="13" dur="1" fill="hold">
                                          <p:stCondLst>
                                            <p:cond delay="0"/>
                                          </p:stCondLst>
                                        </p:cTn>
                                        <p:tgtEl>
                                          <p:spTgt spid="67627"/>
                                        </p:tgtEl>
                                        <p:attrNameLst>
                                          <p:attrName>style.visibility</p:attrName>
                                        </p:attrNameLst>
                                      </p:cBhvr>
                                      <p:to>
                                        <p:strVal val="visible"/>
                                      </p:to>
                                    </p:set>
                                    <p:anim calcmode="lin" valueType="num">
                                      <p:cBhvr>
                                        <p:cTn id="14" dur="500" fill="hold"/>
                                        <p:tgtEl>
                                          <p:spTgt spid="67627"/>
                                        </p:tgtEl>
                                        <p:attrNameLst>
                                          <p:attrName>ppt_w</p:attrName>
                                        </p:attrNameLst>
                                      </p:cBhvr>
                                      <p:tavLst>
                                        <p:tav tm="0">
                                          <p:val>
                                            <p:fltVal val="0"/>
                                          </p:val>
                                        </p:tav>
                                        <p:tav tm="100000">
                                          <p:val>
                                            <p:strVal val="#ppt_w"/>
                                          </p:val>
                                        </p:tav>
                                      </p:tavLst>
                                    </p:anim>
                                    <p:anim calcmode="lin" valueType="num">
                                      <p:cBhvr>
                                        <p:cTn id="15" dur="500" fill="hold"/>
                                        <p:tgtEl>
                                          <p:spTgt spid="6762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26" grpId="0" autoUpdateAnimBg="0"/>
      <p:bldP spid="67627" grpId="0"/>
    </p:bldLst>
  </p:timing>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56" name="Espace réservé du pied de page 55"/>
          <p:cNvSpPr>
            <a:spLocks noGrp="1"/>
          </p:cNvSpPr>
          <p:nvPr>
            <p:ph type="ftr" sz="quarter" idx="11"/>
          </p:nvPr>
        </p:nvSpPr>
        <p:spPr/>
        <p:txBody>
          <a:bodyPr/>
          <a:lstStyle/>
          <a:p>
            <a:pPr>
              <a:defRPr/>
            </a:pPr>
            <a:r>
              <a:rPr lang="fr-FR"/>
              <a:t>Commande des machines   3.MCC     Ali NEJMI</a:t>
            </a:r>
          </a:p>
        </p:txBody>
      </p:sp>
      <p:sp>
        <p:nvSpPr>
          <p:cNvPr id="88067"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5F12832-4602-411F-8DB7-7AF1F19839FA}" type="slidenum">
              <a:rPr lang="fr-FR" altLang="fr-FR" sz="1000" smtClean="0">
                <a:solidFill>
                  <a:srgbClr val="292929"/>
                </a:solidFill>
                <a:latin typeface="Arial" panose="020B0604020202020204" pitchFamily="34" charset="0"/>
              </a:rPr>
              <a:pPr>
                <a:spcBef>
                  <a:spcPct val="0"/>
                </a:spcBef>
                <a:buClrTx/>
                <a:buSzTx/>
                <a:buFontTx/>
                <a:buNone/>
              </a:pPr>
              <a:t>48</a:t>
            </a:fld>
            <a:endParaRPr lang="fr-FR" altLang="fr-FR" sz="1000" smtClean="0">
              <a:solidFill>
                <a:srgbClr val="292929"/>
              </a:solidFill>
              <a:latin typeface="Arial" panose="020B0604020202020204" pitchFamily="34" charset="0"/>
            </a:endParaRPr>
          </a:p>
        </p:txBody>
      </p:sp>
      <p:grpSp>
        <p:nvGrpSpPr>
          <p:cNvPr id="2" name="Group 2"/>
          <p:cNvGrpSpPr>
            <a:grpSpLocks/>
          </p:cNvGrpSpPr>
          <p:nvPr/>
        </p:nvGrpSpPr>
        <p:grpSpPr bwMode="auto">
          <a:xfrm>
            <a:off x="5857875" y="1571625"/>
            <a:ext cx="838200" cy="1828800"/>
            <a:chOff x="3840" y="1392"/>
            <a:chExt cx="528" cy="1152"/>
          </a:xfrm>
        </p:grpSpPr>
        <p:sp>
          <p:nvSpPr>
            <p:cNvPr id="88118" name="Line 3"/>
            <p:cNvSpPr>
              <a:spLocks noChangeShapeType="1"/>
            </p:cNvSpPr>
            <p:nvPr/>
          </p:nvSpPr>
          <p:spPr bwMode="auto">
            <a:xfrm flipH="1">
              <a:off x="3840" y="139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88119" name="Line 4"/>
            <p:cNvSpPr>
              <a:spLocks noChangeShapeType="1"/>
            </p:cNvSpPr>
            <p:nvPr/>
          </p:nvSpPr>
          <p:spPr bwMode="auto">
            <a:xfrm flipH="1">
              <a:off x="3888" y="2544"/>
              <a:ext cx="4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grpSp>
      <p:sp>
        <p:nvSpPr>
          <p:cNvPr id="88069" name="Text Box 5"/>
          <p:cNvSpPr txBox="1">
            <a:spLocks noChangeArrowheads="1"/>
          </p:cNvSpPr>
          <p:nvPr/>
        </p:nvSpPr>
        <p:spPr bwMode="auto">
          <a:xfrm>
            <a:off x="1071563" y="642938"/>
            <a:ext cx="561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Si on veut un 2</a:t>
            </a:r>
            <a:r>
              <a:rPr lang="fr-FR" altLang="fr-FR" sz="1800" b="1" baseline="30000">
                <a:latin typeface="Arial" panose="020B0604020202020204" pitchFamily="34" charset="0"/>
              </a:rPr>
              <a:t>ème</a:t>
            </a:r>
            <a:r>
              <a:rPr lang="fr-FR" altLang="fr-FR" sz="1800" b="1">
                <a:latin typeface="Arial" panose="020B0604020202020204" pitchFamily="34" charset="0"/>
              </a:rPr>
              <a:t> sens de rotation moteur</a:t>
            </a:r>
          </a:p>
        </p:txBody>
      </p:sp>
      <p:sp>
        <p:nvSpPr>
          <p:cNvPr id="68614" name="Text Box 6"/>
          <p:cNvSpPr txBox="1">
            <a:spLocks noChangeArrowheads="1"/>
          </p:cNvSpPr>
          <p:nvPr/>
        </p:nvSpPr>
        <p:spPr bwMode="auto">
          <a:xfrm>
            <a:off x="1714500" y="3929063"/>
            <a:ext cx="6111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Il faut croiser les connexions sur le moteur (inversion de polarité) à l’aide d’un contacteur</a:t>
            </a:r>
          </a:p>
        </p:txBody>
      </p:sp>
      <p:grpSp>
        <p:nvGrpSpPr>
          <p:cNvPr id="3" name="Group 7"/>
          <p:cNvGrpSpPr>
            <a:grpSpLocks/>
          </p:cNvGrpSpPr>
          <p:nvPr/>
        </p:nvGrpSpPr>
        <p:grpSpPr bwMode="auto">
          <a:xfrm>
            <a:off x="2119313" y="1500188"/>
            <a:ext cx="5646737" cy="1916112"/>
            <a:chOff x="1488" y="1344"/>
            <a:chExt cx="3557" cy="1207"/>
          </a:xfrm>
        </p:grpSpPr>
        <p:sp>
          <p:nvSpPr>
            <p:cNvPr id="88078" name="Text Box 8"/>
            <p:cNvSpPr txBox="1">
              <a:spLocks noChangeArrowheads="1"/>
            </p:cNvSpPr>
            <p:nvPr/>
          </p:nvSpPr>
          <p:spPr bwMode="auto">
            <a:xfrm>
              <a:off x="1488" y="1776"/>
              <a:ext cx="62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Réseau</a:t>
              </a:r>
            </a:p>
          </p:txBody>
        </p:sp>
        <p:sp>
          <p:nvSpPr>
            <p:cNvPr id="88079" name="Line 9"/>
            <p:cNvSpPr>
              <a:spLocks noChangeShapeType="1"/>
            </p:cNvSpPr>
            <p:nvPr/>
          </p:nvSpPr>
          <p:spPr bwMode="auto">
            <a:xfrm>
              <a:off x="4800" y="1392"/>
              <a:ext cx="0"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0" name="Line 10"/>
            <p:cNvSpPr>
              <a:spLocks noChangeShapeType="1"/>
            </p:cNvSpPr>
            <p:nvPr/>
          </p:nvSpPr>
          <p:spPr bwMode="auto">
            <a:xfrm>
              <a:off x="2168" y="1392"/>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1" name="Line 11"/>
            <p:cNvSpPr>
              <a:spLocks noChangeShapeType="1"/>
            </p:cNvSpPr>
            <p:nvPr/>
          </p:nvSpPr>
          <p:spPr bwMode="auto">
            <a:xfrm>
              <a:off x="2004" y="155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2" name="Line 12"/>
            <p:cNvSpPr>
              <a:spLocks noChangeShapeType="1"/>
            </p:cNvSpPr>
            <p:nvPr/>
          </p:nvSpPr>
          <p:spPr bwMode="auto">
            <a:xfrm flipH="1">
              <a:off x="2004" y="1557"/>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3" name="Line 13"/>
            <p:cNvSpPr>
              <a:spLocks noChangeShapeType="1"/>
            </p:cNvSpPr>
            <p:nvPr/>
          </p:nvSpPr>
          <p:spPr bwMode="auto">
            <a:xfrm>
              <a:off x="2168" y="1557"/>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4" name="Line 14"/>
            <p:cNvSpPr>
              <a:spLocks noChangeShapeType="1"/>
            </p:cNvSpPr>
            <p:nvPr/>
          </p:nvSpPr>
          <p:spPr bwMode="auto">
            <a:xfrm>
              <a:off x="2004" y="1721"/>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5" name="Line 15"/>
            <p:cNvSpPr>
              <a:spLocks noChangeShapeType="1"/>
            </p:cNvSpPr>
            <p:nvPr/>
          </p:nvSpPr>
          <p:spPr bwMode="auto">
            <a:xfrm>
              <a:off x="2004" y="213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6" name="Line 16"/>
            <p:cNvSpPr>
              <a:spLocks noChangeShapeType="1"/>
            </p:cNvSpPr>
            <p:nvPr/>
          </p:nvSpPr>
          <p:spPr bwMode="auto">
            <a:xfrm flipH="1">
              <a:off x="2004" y="2133"/>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7" name="Line 17"/>
            <p:cNvSpPr>
              <a:spLocks noChangeShapeType="1"/>
            </p:cNvSpPr>
            <p:nvPr/>
          </p:nvSpPr>
          <p:spPr bwMode="auto">
            <a:xfrm>
              <a:off x="2168" y="2133"/>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8" name="Line 18"/>
            <p:cNvSpPr>
              <a:spLocks noChangeShapeType="1"/>
            </p:cNvSpPr>
            <p:nvPr/>
          </p:nvSpPr>
          <p:spPr bwMode="auto">
            <a:xfrm>
              <a:off x="2004" y="229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89" name="Line 19"/>
            <p:cNvSpPr>
              <a:spLocks noChangeShapeType="1"/>
            </p:cNvSpPr>
            <p:nvPr/>
          </p:nvSpPr>
          <p:spPr bwMode="auto">
            <a:xfrm>
              <a:off x="2739" y="1392"/>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0" name="Line 20"/>
            <p:cNvSpPr>
              <a:spLocks noChangeShapeType="1"/>
            </p:cNvSpPr>
            <p:nvPr/>
          </p:nvSpPr>
          <p:spPr bwMode="auto">
            <a:xfrm>
              <a:off x="2576" y="155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1" name="Line 21"/>
            <p:cNvSpPr>
              <a:spLocks noChangeShapeType="1"/>
            </p:cNvSpPr>
            <p:nvPr/>
          </p:nvSpPr>
          <p:spPr bwMode="auto">
            <a:xfrm flipH="1">
              <a:off x="2576" y="1557"/>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2" name="Line 22"/>
            <p:cNvSpPr>
              <a:spLocks noChangeShapeType="1"/>
            </p:cNvSpPr>
            <p:nvPr/>
          </p:nvSpPr>
          <p:spPr bwMode="auto">
            <a:xfrm>
              <a:off x="2739" y="1557"/>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3" name="Line 23"/>
            <p:cNvSpPr>
              <a:spLocks noChangeShapeType="1"/>
            </p:cNvSpPr>
            <p:nvPr/>
          </p:nvSpPr>
          <p:spPr bwMode="auto">
            <a:xfrm>
              <a:off x="2576" y="1721"/>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4" name="Line 24"/>
            <p:cNvSpPr>
              <a:spLocks noChangeShapeType="1"/>
            </p:cNvSpPr>
            <p:nvPr/>
          </p:nvSpPr>
          <p:spPr bwMode="auto">
            <a:xfrm>
              <a:off x="2576" y="213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5" name="Line 25"/>
            <p:cNvSpPr>
              <a:spLocks noChangeShapeType="1"/>
            </p:cNvSpPr>
            <p:nvPr/>
          </p:nvSpPr>
          <p:spPr bwMode="auto">
            <a:xfrm flipH="1">
              <a:off x="2576" y="2133"/>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6" name="Line 26"/>
            <p:cNvSpPr>
              <a:spLocks noChangeShapeType="1"/>
            </p:cNvSpPr>
            <p:nvPr/>
          </p:nvSpPr>
          <p:spPr bwMode="auto">
            <a:xfrm>
              <a:off x="2739" y="2133"/>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7" name="Line 27"/>
            <p:cNvSpPr>
              <a:spLocks noChangeShapeType="1"/>
            </p:cNvSpPr>
            <p:nvPr/>
          </p:nvSpPr>
          <p:spPr bwMode="auto">
            <a:xfrm>
              <a:off x="2576" y="229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8" name="Line 28"/>
            <p:cNvSpPr>
              <a:spLocks noChangeShapeType="1"/>
            </p:cNvSpPr>
            <p:nvPr/>
          </p:nvSpPr>
          <p:spPr bwMode="auto">
            <a:xfrm flipH="1">
              <a:off x="1596" y="1803"/>
              <a:ext cx="57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099" name="Line 29"/>
            <p:cNvSpPr>
              <a:spLocks noChangeShapeType="1"/>
            </p:cNvSpPr>
            <p:nvPr/>
          </p:nvSpPr>
          <p:spPr bwMode="auto">
            <a:xfrm flipH="1">
              <a:off x="1596" y="2050"/>
              <a:ext cx="114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00" name="Line 30"/>
            <p:cNvSpPr>
              <a:spLocks noChangeShapeType="1"/>
            </p:cNvSpPr>
            <p:nvPr/>
          </p:nvSpPr>
          <p:spPr bwMode="auto">
            <a:xfrm>
              <a:off x="2168" y="1392"/>
              <a:ext cx="171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01" name="Line 31"/>
            <p:cNvSpPr>
              <a:spLocks noChangeShapeType="1"/>
            </p:cNvSpPr>
            <p:nvPr/>
          </p:nvSpPr>
          <p:spPr bwMode="auto">
            <a:xfrm>
              <a:off x="2168" y="2544"/>
              <a:ext cx="171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02" name="Line 32"/>
            <p:cNvSpPr>
              <a:spLocks noChangeShapeType="1"/>
            </p:cNvSpPr>
            <p:nvPr/>
          </p:nvSpPr>
          <p:spPr bwMode="auto">
            <a:xfrm flipH="1">
              <a:off x="1923" y="1639"/>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03" name="Line 33"/>
            <p:cNvSpPr>
              <a:spLocks noChangeShapeType="1"/>
            </p:cNvSpPr>
            <p:nvPr/>
          </p:nvSpPr>
          <p:spPr bwMode="auto">
            <a:xfrm flipH="1">
              <a:off x="2495" y="1639"/>
              <a:ext cx="163"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04" name="Oval 34"/>
            <p:cNvSpPr>
              <a:spLocks noChangeArrowheads="1"/>
            </p:cNvSpPr>
            <p:nvPr/>
          </p:nvSpPr>
          <p:spPr bwMode="auto">
            <a:xfrm>
              <a:off x="4555" y="1721"/>
              <a:ext cx="490" cy="494"/>
            </a:xfrm>
            <a:prstGeom prst="ellipse">
              <a:avLst/>
            </a:prstGeom>
            <a:solidFill>
              <a:srgbClr val="FFFFFF"/>
            </a:solidFill>
            <a:ln w="28575">
              <a:solidFill>
                <a:schemeClr val="tx1"/>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8105" name="Text Box 35"/>
            <p:cNvSpPr txBox="1">
              <a:spLocks noChangeArrowheads="1"/>
            </p:cNvSpPr>
            <p:nvPr/>
          </p:nvSpPr>
          <p:spPr bwMode="auto">
            <a:xfrm>
              <a:off x="4637" y="1803"/>
              <a:ext cx="32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M</a:t>
              </a:r>
            </a:p>
            <a:p>
              <a:pPr eaLnBrk="1" hangingPunct="1">
                <a:spcBef>
                  <a:spcPct val="0"/>
                </a:spcBef>
                <a:buClrTx/>
                <a:buSzTx/>
                <a:buFontTx/>
                <a:buNone/>
              </a:pPr>
              <a:r>
                <a:rPr lang="fr-FR" altLang="fr-FR" sz="1800">
                  <a:latin typeface="Arial" panose="020B0604020202020204" pitchFamily="34" charset="0"/>
                </a:rPr>
                <a:t>=</a:t>
              </a:r>
            </a:p>
          </p:txBody>
        </p:sp>
        <p:sp>
          <p:nvSpPr>
            <p:cNvPr id="88106" name="Line 36"/>
            <p:cNvSpPr>
              <a:spLocks noChangeShapeType="1"/>
            </p:cNvSpPr>
            <p:nvPr/>
          </p:nvSpPr>
          <p:spPr bwMode="auto">
            <a:xfrm>
              <a:off x="3148" y="1886"/>
              <a:ext cx="327" cy="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07" name="Line 37"/>
            <p:cNvSpPr>
              <a:spLocks noChangeShapeType="1"/>
            </p:cNvSpPr>
            <p:nvPr/>
          </p:nvSpPr>
          <p:spPr bwMode="auto">
            <a:xfrm flipH="1">
              <a:off x="3148" y="1886"/>
              <a:ext cx="163" cy="164"/>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08" name="Line 38"/>
            <p:cNvSpPr>
              <a:spLocks noChangeShapeType="1"/>
            </p:cNvSpPr>
            <p:nvPr/>
          </p:nvSpPr>
          <p:spPr bwMode="auto">
            <a:xfrm>
              <a:off x="3311" y="1886"/>
              <a:ext cx="164" cy="164"/>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09" name="Line 39"/>
            <p:cNvSpPr>
              <a:spLocks noChangeShapeType="1"/>
            </p:cNvSpPr>
            <p:nvPr/>
          </p:nvSpPr>
          <p:spPr bwMode="auto">
            <a:xfrm>
              <a:off x="3148" y="2050"/>
              <a:ext cx="327" cy="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10" name="Line 40"/>
            <p:cNvSpPr>
              <a:spLocks noChangeShapeType="1"/>
            </p:cNvSpPr>
            <p:nvPr/>
          </p:nvSpPr>
          <p:spPr bwMode="auto">
            <a:xfrm>
              <a:off x="3311" y="1392"/>
              <a:ext cx="0" cy="1152"/>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88111" name="Text Box 41"/>
            <p:cNvSpPr txBox="1">
              <a:spLocks noChangeArrowheads="1"/>
            </p:cNvSpPr>
            <p:nvPr/>
          </p:nvSpPr>
          <p:spPr bwMode="auto">
            <a:xfrm>
              <a:off x="2832" y="1776"/>
              <a:ext cx="490"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DRL</a:t>
              </a:r>
            </a:p>
          </p:txBody>
        </p:sp>
        <p:sp>
          <p:nvSpPr>
            <p:cNvPr id="88112" name="Text Box 42"/>
            <p:cNvSpPr txBox="1">
              <a:spLocks noChangeArrowheads="1"/>
            </p:cNvSpPr>
            <p:nvPr/>
          </p:nvSpPr>
          <p:spPr bwMode="auto">
            <a:xfrm>
              <a:off x="2352" y="1344"/>
              <a:ext cx="431"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Th2</a:t>
              </a:r>
            </a:p>
          </p:txBody>
        </p:sp>
        <p:sp>
          <p:nvSpPr>
            <p:cNvPr id="88113" name="Text Box 43"/>
            <p:cNvSpPr txBox="1">
              <a:spLocks noChangeArrowheads="1"/>
            </p:cNvSpPr>
            <p:nvPr/>
          </p:nvSpPr>
          <p:spPr bwMode="auto">
            <a:xfrm>
              <a:off x="1776" y="134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Th1</a:t>
              </a:r>
            </a:p>
          </p:txBody>
        </p:sp>
        <p:sp>
          <p:nvSpPr>
            <p:cNvPr id="88114" name="Text Box 44"/>
            <p:cNvSpPr txBox="1">
              <a:spLocks noChangeArrowheads="1"/>
            </p:cNvSpPr>
            <p:nvPr/>
          </p:nvSpPr>
          <p:spPr bwMode="auto">
            <a:xfrm>
              <a:off x="1872" y="230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D1</a:t>
              </a:r>
            </a:p>
          </p:txBody>
        </p:sp>
        <p:sp>
          <p:nvSpPr>
            <p:cNvPr id="88115" name="Text Box 45"/>
            <p:cNvSpPr txBox="1">
              <a:spLocks noChangeArrowheads="1"/>
            </p:cNvSpPr>
            <p:nvPr/>
          </p:nvSpPr>
          <p:spPr bwMode="auto">
            <a:xfrm>
              <a:off x="2448" y="230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D2</a:t>
              </a:r>
            </a:p>
          </p:txBody>
        </p:sp>
        <p:sp>
          <p:nvSpPr>
            <p:cNvPr id="88116" name="Line 46"/>
            <p:cNvSpPr>
              <a:spLocks noChangeShapeType="1"/>
            </p:cNvSpPr>
            <p:nvPr/>
          </p:nvSpPr>
          <p:spPr bwMode="auto">
            <a:xfrm flipH="1">
              <a:off x="4368" y="1392"/>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88117" name="Line 47"/>
            <p:cNvSpPr>
              <a:spLocks noChangeShapeType="1"/>
            </p:cNvSpPr>
            <p:nvPr/>
          </p:nvSpPr>
          <p:spPr bwMode="auto">
            <a:xfrm flipH="1">
              <a:off x="4368" y="2544"/>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grpSp>
      <p:sp>
        <p:nvSpPr>
          <p:cNvPr id="68656" name="Text Box 48"/>
          <p:cNvSpPr txBox="1">
            <a:spLocks noChangeArrowheads="1"/>
          </p:cNvSpPr>
          <p:nvPr/>
        </p:nvSpPr>
        <p:spPr bwMode="auto">
          <a:xfrm>
            <a:off x="1785938" y="5110163"/>
            <a:ext cx="70723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Symbol" panose="05050102010706020507" pitchFamily="18" charset="2"/>
              <a:buChar char="®"/>
            </a:pPr>
            <a:r>
              <a:rPr lang="fr-FR" altLang="fr-FR" sz="1800">
                <a:solidFill>
                  <a:schemeClr val="accent1"/>
                </a:solidFill>
                <a:latin typeface="Arial" panose="020B0604020202020204" pitchFamily="34" charset="0"/>
              </a:rPr>
              <a:t> 2 quadrants de fonctionnement (N°1 et 3).</a:t>
            </a:r>
            <a:endParaRPr lang="fr-FR" altLang="fr-FR" sz="1800">
              <a:latin typeface="Arial" panose="020B0604020202020204" pitchFamily="34" charset="0"/>
            </a:endParaRPr>
          </a:p>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Les conclusions précédentes restent identiques</a:t>
            </a:r>
          </a:p>
        </p:txBody>
      </p:sp>
      <p:grpSp>
        <p:nvGrpSpPr>
          <p:cNvPr id="4" name="Group 50"/>
          <p:cNvGrpSpPr>
            <a:grpSpLocks/>
          </p:cNvGrpSpPr>
          <p:nvPr/>
        </p:nvGrpSpPr>
        <p:grpSpPr bwMode="auto">
          <a:xfrm>
            <a:off x="5857875" y="1571625"/>
            <a:ext cx="838200" cy="1828800"/>
            <a:chOff x="3840" y="1392"/>
            <a:chExt cx="528" cy="1152"/>
          </a:xfrm>
        </p:grpSpPr>
        <p:sp>
          <p:nvSpPr>
            <p:cNvPr id="88076" name="Line 51"/>
            <p:cNvSpPr>
              <a:spLocks noChangeShapeType="1"/>
            </p:cNvSpPr>
            <p:nvPr/>
          </p:nvSpPr>
          <p:spPr bwMode="auto">
            <a:xfrm flipH="1">
              <a:off x="3888" y="1392"/>
              <a:ext cx="480"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88077" name="Line 52"/>
            <p:cNvSpPr>
              <a:spLocks noChangeShapeType="1"/>
            </p:cNvSpPr>
            <p:nvPr/>
          </p:nvSpPr>
          <p:spPr bwMode="auto">
            <a:xfrm>
              <a:off x="3840" y="1392"/>
              <a:ext cx="528"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grpSp>
      <p:sp>
        <p:nvSpPr>
          <p:cNvPr id="88074"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5"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0"/>
                                  </p:stCondLst>
                                  <p:childTnLst>
                                    <p:set>
                                      <p:cBhvr>
                                        <p:cTn id="9" dur="1" fill="hold">
                                          <p:stCondLst>
                                            <p:cond delay="499"/>
                                          </p:stCondLst>
                                        </p:cTn>
                                        <p:tgtEl>
                                          <p:spTgt spid="2"/>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5" presetClass="exit" presetSubtype="10" fill="hold" nodeType="clickEffect">
                                  <p:stCondLst>
                                    <p:cond delay="0"/>
                                  </p:stCondLst>
                                  <p:childTnLst>
                                    <p:animEffect transition="out" filter="checkerboard(across)">
                                      <p:cBhvr>
                                        <p:cTn id="13" dur="500"/>
                                        <p:tgtEl>
                                          <p:spTgt spid="2"/>
                                        </p:tgtEl>
                                      </p:cBhvr>
                                    </p:animEffect>
                                    <p:set>
                                      <p:cBhvr>
                                        <p:cTn id="14" dur="1" fill="hold">
                                          <p:stCondLst>
                                            <p:cond delay="499"/>
                                          </p:stCondLst>
                                        </p:cTn>
                                        <p:tgtEl>
                                          <p:spTgt spid="2"/>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checkerboard(across)">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68614"/>
                                        </p:tgtEl>
                                        <p:attrNameLst>
                                          <p:attrName>style.visibility</p:attrName>
                                        </p:attrNameLst>
                                      </p:cBhvr>
                                      <p:to>
                                        <p:strVal val="visible"/>
                                      </p:to>
                                    </p:set>
                                    <p:anim calcmode="lin" valueType="num">
                                      <p:cBhvr>
                                        <p:cTn id="24" dur="500" fill="hold"/>
                                        <p:tgtEl>
                                          <p:spTgt spid="68614"/>
                                        </p:tgtEl>
                                        <p:attrNameLst>
                                          <p:attrName>ppt_w</p:attrName>
                                        </p:attrNameLst>
                                      </p:cBhvr>
                                      <p:tavLst>
                                        <p:tav tm="0">
                                          <p:val>
                                            <p:fltVal val="0"/>
                                          </p:val>
                                        </p:tav>
                                        <p:tav tm="100000">
                                          <p:val>
                                            <p:strVal val="#ppt_w"/>
                                          </p:val>
                                        </p:tav>
                                      </p:tavLst>
                                    </p:anim>
                                    <p:anim calcmode="lin" valueType="num">
                                      <p:cBhvr>
                                        <p:cTn id="25" dur="500" fill="hold"/>
                                        <p:tgtEl>
                                          <p:spTgt spid="68614"/>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17" presetClass="entr" presetSubtype="10" fill="hold" grpId="0" nodeType="clickEffect">
                                  <p:stCondLst>
                                    <p:cond delay="0"/>
                                  </p:stCondLst>
                                  <p:childTnLst>
                                    <p:set>
                                      <p:cBhvr>
                                        <p:cTn id="29" dur="1" fill="hold">
                                          <p:stCondLst>
                                            <p:cond delay="0"/>
                                          </p:stCondLst>
                                        </p:cTn>
                                        <p:tgtEl>
                                          <p:spTgt spid="68656"/>
                                        </p:tgtEl>
                                        <p:attrNameLst>
                                          <p:attrName>style.visibility</p:attrName>
                                        </p:attrNameLst>
                                      </p:cBhvr>
                                      <p:to>
                                        <p:strVal val="visible"/>
                                      </p:to>
                                    </p:set>
                                    <p:anim calcmode="lin" valueType="num">
                                      <p:cBhvr>
                                        <p:cTn id="30" dur="500" fill="hold"/>
                                        <p:tgtEl>
                                          <p:spTgt spid="68656"/>
                                        </p:tgtEl>
                                        <p:attrNameLst>
                                          <p:attrName>ppt_w</p:attrName>
                                        </p:attrNameLst>
                                      </p:cBhvr>
                                      <p:tavLst>
                                        <p:tav tm="0">
                                          <p:val>
                                            <p:fltVal val="0"/>
                                          </p:val>
                                        </p:tav>
                                        <p:tav tm="100000">
                                          <p:val>
                                            <p:strVal val="#ppt_w"/>
                                          </p:val>
                                        </p:tav>
                                      </p:tavLst>
                                    </p:anim>
                                    <p:anim calcmode="lin" valueType="num">
                                      <p:cBhvr>
                                        <p:cTn id="31" dur="500" fill="hold"/>
                                        <p:tgtEl>
                                          <p:spTgt spid="6865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4" grpId="0"/>
      <p:bldP spid="68656" grpId="0"/>
    </p:bldLst>
  </p:timing>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41" name="Espace réservé du pied de page 40"/>
          <p:cNvSpPr>
            <a:spLocks noGrp="1"/>
          </p:cNvSpPr>
          <p:nvPr>
            <p:ph type="ftr" sz="quarter" idx="11"/>
          </p:nvPr>
        </p:nvSpPr>
        <p:spPr/>
        <p:txBody>
          <a:bodyPr/>
          <a:lstStyle/>
          <a:p>
            <a:pPr>
              <a:defRPr/>
            </a:pPr>
            <a:r>
              <a:rPr lang="fr-FR"/>
              <a:t>Commande des machines   3.MCC     Ali NEJMI</a:t>
            </a:r>
          </a:p>
        </p:txBody>
      </p:sp>
      <p:sp>
        <p:nvSpPr>
          <p:cNvPr id="90115"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71E3122-8F94-4D13-8E09-27186E8261E8}" type="slidenum">
              <a:rPr lang="fr-FR" altLang="fr-FR" sz="1000" smtClean="0">
                <a:solidFill>
                  <a:srgbClr val="292929"/>
                </a:solidFill>
                <a:latin typeface="Arial" panose="020B0604020202020204" pitchFamily="34" charset="0"/>
              </a:rPr>
              <a:pPr>
                <a:spcBef>
                  <a:spcPct val="0"/>
                </a:spcBef>
                <a:buClrTx/>
                <a:buSzTx/>
                <a:buFontTx/>
                <a:buNone/>
              </a:pPr>
              <a:t>49</a:t>
            </a:fld>
            <a:endParaRPr lang="fr-FR" altLang="fr-FR" sz="1000" smtClean="0">
              <a:solidFill>
                <a:srgbClr val="292929"/>
              </a:solidFill>
              <a:latin typeface="Arial" panose="020B0604020202020204" pitchFamily="34" charset="0"/>
            </a:endParaRPr>
          </a:p>
        </p:txBody>
      </p:sp>
      <p:grpSp>
        <p:nvGrpSpPr>
          <p:cNvPr id="90116" name="Group 2"/>
          <p:cNvGrpSpPr>
            <a:grpSpLocks/>
          </p:cNvGrpSpPr>
          <p:nvPr/>
        </p:nvGrpSpPr>
        <p:grpSpPr bwMode="auto">
          <a:xfrm>
            <a:off x="1500188" y="2143125"/>
            <a:ext cx="5257800" cy="2647950"/>
            <a:chOff x="1776" y="1488"/>
            <a:chExt cx="3312" cy="1668"/>
          </a:xfrm>
        </p:grpSpPr>
        <p:sp>
          <p:nvSpPr>
            <p:cNvPr id="90122" name="Rectangle 3"/>
            <p:cNvSpPr>
              <a:spLocks noChangeArrowheads="1"/>
            </p:cNvSpPr>
            <p:nvPr/>
          </p:nvSpPr>
          <p:spPr bwMode="auto">
            <a:xfrm>
              <a:off x="3179" y="1488"/>
              <a:ext cx="477" cy="1668"/>
            </a:xfrm>
            <a:prstGeom prst="rect">
              <a:avLst/>
            </a:prstGeom>
            <a:solidFill>
              <a:srgbClr val="C0C0C0"/>
            </a:solidFill>
            <a:ln w="9525">
              <a:solidFill>
                <a:srgbClr val="000000"/>
              </a:solidFill>
              <a:prstDash val="sysDot"/>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0123" name="Rectangle 4"/>
            <p:cNvSpPr>
              <a:spLocks noChangeArrowheads="1"/>
            </p:cNvSpPr>
            <p:nvPr/>
          </p:nvSpPr>
          <p:spPr bwMode="auto">
            <a:xfrm>
              <a:off x="2463" y="1488"/>
              <a:ext cx="477" cy="1668"/>
            </a:xfrm>
            <a:prstGeom prst="rect">
              <a:avLst/>
            </a:prstGeom>
            <a:solidFill>
              <a:srgbClr val="C0C0C0"/>
            </a:solidFill>
            <a:ln w="9525">
              <a:solidFill>
                <a:srgbClr val="000000"/>
              </a:solidFill>
              <a:prstDash val="sysDot"/>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0124" name="Text Box 5"/>
            <p:cNvSpPr txBox="1">
              <a:spLocks noChangeArrowheads="1"/>
            </p:cNvSpPr>
            <p:nvPr/>
          </p:nvSpPr>
          <p:spPr bwMode="auto">
            <a:xfrm>
              <a:off x="1776" y="2112"/>
              <a:ext cx="62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Réseau</a:t>
              </a:r>
            </a:p>
          </p:txBody>
        </p:sp>
        <p:sp>
          <p:nvSpPr>
            <p:cNvPr id="90125" name="Line 6"/>
            <p:cNvSpPr>
              <a:spLocks noChangeShapeType="1"/>
            </p:cNvSpPr>
            <p:nvPr/>
          </p:nvSpPr>
          <p:spPr bwMode="auto">
            <a:xfrm>
              <a:off x="4788" y="1599"/>
              <a:ext cx="0" cy="14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26" name="Line 7"/>
            <p:cNvSpPr>
              <a:spLocks noChangeShapeType="1"/>
            </p:cNvSpPr>
            <p:nvPr/>
          </p:nvSpPr>
          <p:spPr bwMode="auto">
            <a:xfrm>
              <a:off x="2687" y="1599"/>
              <a:ext cx="0" cy="14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27" name="Line 8"/>
            <p:cNvSpPr>
              <a:spLocks noChangeShapeType="1"/>
            </p:cNvSpPr>
            <p:nvPr/>
          </p:nvSpPr>
          <p:spPr bwMode="auto">
            <a:xfrm>
              <a:off x="2486" y="1807"/>
              <a:ext cx="4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28" name="Line 9"/>
            <p:cNvSpPr>
              <a:spLocks noChangeShapeType="1"/>
            </p:cNvSpPr>
            <p:nvPr/>
          </p:nvSpPr>
          <p:spPr bwMode="auto">
            <a:xfrm flipH="1">
              <a:off x="2486" y="1807"/>
              <a:ext cx="201"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29" name="Line 10"/>
            <p:cNvSpPr>
              <a:spLocks noChangeShapeType="1"/>
            </p:cNvSpPr>
            <p:nvPr/>
          </p:nvSpPr>
          <p:spPr bwMode="auto">
            <a:xfrm>
              <a:off x="2687" y="1807"/>
              <a:ext cx="200"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0" name="Line 11"/>
            <p:cNvSpPr>
              <a:spLocks noChangeShapeType="1"/>
            </p:cNvSpPr>
            <p:nvPr/>
          </p:nvSpPr>
          <p:spPr bwMode="auto">
            <a:xfrm>
              <a:off x="2486" y="2014"/>
              <a:ext cx="4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1" name="Line 12"/>
            <p:cNvSpPr>
              <a:spLocks noChangeShapeType="1"/>
            </p:cNvSpPr>
            <p:nvPr/>
          </p:nvSpPr>
          <p:spPr bwMode="auto">
            <a:xfrm>
              <a:off x="2486" y="2533"/>
              <a:ext cx="4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2" name="Line 13"/>
            <p:cNvSpPr>
              <a:spLocks noChangeShapeType="1"/>
            </p:cNvSpPr>
            <p:nvPr/>
          </p:nvSpPr>
          <p:spPr bwMode="auto">
            <a:xfrm flipH="1">
              <a:off x="2486" y="2533"/>
              <a:ext cx="201"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3" name="Line 14"/>
            <p:cNvSpPr>
              <a:spLocks noChangeShapeType="1"/>
            </p:cNvSpPr>
            <p:nvPr/>
          </p:nvSpPr>
          <p:spPr bwMode="auto">
            <a:xfrm>
              <a:off x="2687" y="2533"/>
              <a:ext cx="200"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4" name="Line 15"/>
            <p:cNvSpPr>
              <a:spLocks noChangeShapeType="1"/>
            </p:cNvSpPr>
            <p:nvPr/>
          </p:nvSpPr>
          <p:spPr bwMode="auto">
            <a:xfrm>
              <a:off x="2486" y="2740"/>
              <a:ext cx="4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5" name="Line 16"/>
            <p:cNvSpPr>
              <a:spLocks noChangeShapeType="1"/>
            </p:cNvSpPr>
            <p:nvPr/>
          </p:nvSpPr>
          <p:spPr bwMode="auto">
            <a:xfrm>
              <a:off x="3387" y="1599"/>
              <a:ext cx="0" cy="14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6" name="Line 17"/>
            <p:cNvSpPr>
              <a:spLocks noChangeShapeType="1"/>
            </p:cNvSpPr>
            <p:nvPr/>
          </p:nvSpPr>
          <p:spPr bwMode="auto">
            <a:xfrm>
              <a:off x="3187" y="1807"/>
              <a:ext cx="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7" name="Line 18"/>
            <p:cNvSpPr>
              <a:spLocks noChangeShapeType="1"/>
            </p:cNvSpPr>
            <p:nvPr/>
          </p:nvSpPr>
          <p:spPr bwMode="auto">
            <a:xfrm flipH="1">
              <a:off x="3187" y="1807"/>
              <a:ext cx="200"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8" name="Line 19"/>
            <p:cNvSpPr>
              <a:spLocks noChangeShapeType="1"/>
            </p:cNvSpPr>
            <p:nvPr/>
          </p:nvSpPr>
          <p:spPr bwMode="auto">
            <a:xfrm>
              <a:off x="3387" y="1807"/>
              <a:ext cx="200"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39" name="Line 20"/>
            <p:cNvSpPr>
              <a:spLocks noChangeShapeType="1"/>
            </p:cNvSpPr>
            <p:nvPr/>
          </p:nvSpPr>
          <p:spPr bwMode="auto">
            <a:xfrm>
              <a:off x="3187" y="2014"/>
              <a:ext cx="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0" name="Line 21"/>
            <p:cNvSpPr>
              <a:spLocks noChangeShapeType="1"/>
            </p:cNvSpPr>
            <p:nvPr/>
          </p:nvSpPr>
          <p:spPr bwMode="auto">
            <a:xfrm>
              <a:off x="3187" y="2533"/>
              <a:ext cx="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1" name="Line 22"/>
            <p:cNvSpPr>
              <a:spLocks noChangeShapeType="1"/>
            </p:cNvSpPr>
            <p:nvPr/>
          </p:nvSpPr>
          <p:spPr bwMode="auto">
            <a:xfrm flipH="1">
              <a:off x="3187" y="2533"/>
              <a:ext cx="200"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2" name="Line 23"/>
            <p:cNvSpPr>
              <a:spLocks noChangeShapeType="1"/>
            </p:cNvSpPr>
            <p:nvPr/>
          </p:nvSpPr>
          <p:spPr bwMode="auto">
            <a:xfrm>
              <a:off x="3387" y="2533"/>
              <a:ext cx="200" cy="20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3" name="Line 24"/>
            <p:cNvSpPr>
              <a:spLocks noChangeShapeType="1"/>
            </p:cNvSpPr>
            <p:nvPr/>
          </p:nvSpPr>
          <p:spPr bwMode="auto">
            <a:xfrm>
              <a:off x="3187" y="2740"/>
              <a:ext cx="4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4" name="Line 25"/>
            <p:cNvSpPr>
              <a:spLocks noChangeShapeType="1"/>
            </p:cNvSpPr>
            <p:nvPr/>
          </p:nvSpPr>
          <p:spPr bwMode="auto">
            <a:xfrm flipH="1">
              <a:off x="1986" y="2118"/>
              <a:ext cx="7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5" name="Line 26"/>
            <p:cNvSpPr>
              <a:spLocks noChangeShapeType="1"/>
            </p:cNvSpPr>
            <p:nvPr/>
          </p:nvSpPr>
          <p:spPr bwMode="auto">
            <a:xfrm flipH="1">
              <a:off x="1986" y="2429"/>
              <a:ext cx="14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6" name="Line 27"/>
            <p:cNvSpPr>
              <a:spLocks noChangeShapeType="1"/>
            </p:cNvSpPr>
            <p:nvPr/>
          </p:nvSpPr>
          <p:spPr bwMode="auto">
            <a:xfrm>
              <a:off x="2687" y="1599"/>
              <a:ext cx="2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7" name="Line 28"/>
            <p:cNvSpPr>
              <a:spLocks noChangeShapeType="1"/>
            </p:cNvSpPr>
            <p:nvPr/>
          </p:nvSpPr>
          <p:spPr bwMode="auto">
            <a:xfrm>
              <a:off x="2687" y="3051"/>
              <a:ext cx="21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8" name="Line 29"/>
            <p:cNvSpPr>
              <a:spLocks noChangeShapeType="1"/>
            </p:cNvSpPr>
            <p:nvPr/>
          </p:nvSpPr>
          <p:spPr bwMode="auto">
            <a:xfrm flipH="1">
              <a:off x="2386" y="1910"/>
              <a:ext cx="20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49" name="Line 30"/>
            <p:cNvSpPr>
              <a:spLocks noChangeShapeType="1"/>
            </p:cNvSpPr>
            <p:nvPr/>
          </p:nvSpPr>
          <p:spPr bwMode="auto">
            <a:xfrm flipH="1">
              <a:off x="2463" y="2600"/>
              <a:ext cx="2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0150" name="Oval 31"/>
            <p:cNvSpPr>
              <a:spLocks noChangeArrowheads="1"/>
            </p:cNvSpPr>
            <p:nvPr/>
          </p:nvSpPr>
          <p:spPr bwMode="auto">
            <a:xfrm>
              <a:off x="4487" y="2014"/>
              <a:ext cx="601" cy="622"/>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0151" name="Text Box 32"/>
            <p:cNvSpPr txBox="1">
              <a:spLocks noChangeArrowheads="1"/>
            </p:cNvSpPr>
            <p:nvPr/>
          </p:nvSpPr>
          <p:spPr bwMode="auto">
            <a:xfrm>
              <a:off x="4588" y="2118"/>
              <a:ext cx="400"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M</a:t>
              </a:r>
            </a:p>
            <a:p>
              <a:pPr eaLnBrk="1" hangingPunct="1">
                <a:spcBef>
                  <a:spcPct val="0"/>
                </a:spcBef>
                <a:buClrTx/>
                <a:buSzTx/>
                <a:buFontTx/>
                <a:buNone/>
              </a:pPr>
              <a:r>
                <a:rPr lang="fr-FR" altLang="fr-FR" sz="1800">
                  <a:latin typeface="Arial" panose="020B0604020202020204" pitchFamily="34" charset="0"/>
                </a:rPr>
                <a:t>=</a:t>
              </a:r>
            </a:p>
          </p:txBody>
        </p:sp>
        <p:sp>
          <p:nvSpPr>
            <p:cNvPr id="90152" name="Text Box 33"/>
            <p:cNvSpPr txBox="1">
              <a:spLocks noChangeArrowheads="1"/>
            </p:cNvSpPr>
            <p:nvPr/>
          </p:nvSpPr>
          <p:spPr bwMode="auto">
            <a:xfrm>
              <a:off x="1986" y="2711"/>
              <a:ext cx="528"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Th2</a:t>
              </a:r>
            </a:p>
          </p:txBody>
        </p:sp>
        <p:sp>
          <p:nvSpPr>
            <p:cNvPr id="90153" name="Text Box 34"/>
            <p:cNvSpPr txBox="1">
              <a:spLocks noChangeArrowheads="1"/>
            </p:cNvSpPr>
            <p:nvPr/>
          </p:nvSpPr>
          <p:spPr bwMode="auto">
            <a:xfrm>
              <a:off x="1986" y="1599"/>
              <a:ext cx="50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Th1</a:t>
              </a:r>
            </a:p>
          </p:txBody>
        </p:sp>
        <p:sp>
          <p:nvSpPr>
            <p:cNvPr id="90154" name="Text Box 35"/>
            <p:cNvSpPr txBox="1">
              <a:spLocks noChangeArrowheads="1"/>
            </p:cNvSpPr>
            <p:nvPr/>
          </p:nvSpPr>
          <p:spPr bwMode="auto">
            <a:xfrm>
              <a:off x="3776" y="1599"/>
              <a:ext cx="50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D1</a:t>
              </a:r>
            </a:p>
          </p:txBody>
        </p:sp>
        <p:sp>
          <p:nvSpPr>
            <p:cNvPr id="90155" name="Text Box 36"/>
            <p:cNvSpPr txBox="1">
              <a:spLocks noChangeArrowheads="1"/>
            </p:cNvSpPr>
            <p:nvPr/>
          </p:nvSpPr>
          <p:spPr bwMode="auto">
            <a:xfrm>
              <a:off x="3776" y="2711"/>
              <a:ext cx="500"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D2</a:t>
              </a:r>
            </a:p>
          </p:txBody>
        </p:sp>
      </p:grpSp>
      <p:sp>
        <p:nvSpPr>
          <p:cNvPr id="90117" name="Text Box 37"/>
          <p:cNvSpPr txBox="1">
            <a:spLocks noChangeArrowheads="1"/>
          </p:cNvSpPr>
          <p:nvPr/>
        </p:nvSpPr>
        <p:spPr bwMode="auto">
          <a:xfrm>
            <a:off x="6572250" y="4357688"/>
            <a:ext cx="1981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Ce bloc assure la fonction DRL</a:t>
            </a:r>
          </a:p>
        </p:txBody>
      </p:sp>
      <p:sp>
        <p:nvSpPr>
          <p:cNvPr id="90118" name="Text Box 38"/>
          <p:cNvSpPr txBox="1">
            <a:spLocks noChangeArrowheads="1"/>
          </p:cNvSpPr>
          <p:nvPr/>
        </p:nvSpPr>
        <p:spPr bwMode="auto">
          <a:xfrm>
            <a:off x="785813" y="1071563"/>
            <a:ext cx="6767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Industriellement on utilise plutôt la structure suivante.</a:t>
            </a:r>
          </a:p>
        </p:txBody>
      </p:sp>
      <p:sp>
        <p:nvSpPr>
          <p:cNvPr id="90119" name="Line 40"/>
          <p:cNvSpPr>
            <a:spLocks noChangeShapeType="1"/>
          </p:cNvSpPr>
          <p:nvPr/>
        </p:nvSpPr>
        <p:spPr bwMode="auto">
          <a:xfrm flipH="1" flipV="1">
            <a:off x="4286250" y="3500438"/>
            <a:ext cx="2286000" cy="928687"/>
          </a:xfrm>
          <a:prstGeom prst="line">
            <a:avLst/>
          </a:prstGeom>
          <a:noFill/>
          <a:ln w="9525">
            <a:solidFill>
              <a:schemeClr val="tx1"/>
            </a:solidFill>
            <a:round/>
            <a:headEnd/>
            <a:tailEnd type="oval" w="med" len="med"/>
          </a:ln>
          <a:extLst>
            <a:ext uri="{909E8E84-426E-40DD-AFC4-6F175D3DCCD1}">
              <a14:hiddenFill xmlns:a14="http://schemas.microsoft.com/office/drawing/2010/main">
                <a:noFill/>
              </a14:hiddenFill>
            </a:ext>
          </a:extLst>
        </p:spPr>
        <p:txBody>
          <a:bodyPr wrap="none" anchor="ctr"/>
          <a:lstStyle/>
          <a:p>
            <a:endParaRPr lang="fr-FR"/>
          </a:p>
        </p:txBody>
      </p:sp>
      <p:sp>
        <p:nvSpPr>
          <p:cNvPr id="90120"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3"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41" name="Espace réservé du pied de page 40"/>
          <p:cNvSpPr>
            <a:spLocks noGrp="1"/>
          </p:cNvSpPr>
          <p:nvPr>
            <p:ph type="ftr" sz="quarter" idx="11"/>
          </p:nvPr>
        </p:nvSpPr>
        <p:spPr/>
        <p:txBody>
          <a:bodyPr/>
          <a:lstStyle/>
          <a:p>
            <a:pPr>
              <a:defRPr/>
            </a:pPr>
            <a:r>
              <a:rPr lang="fr-FR"/>
              <a:t>Commande des machines   3.MCC     Ali NEJMI</a:t>
            </a:r>
          </a:p>
        </p:txBody>
      </p:sp>
      <p:sp>
        <p:nvSpPr>
          <p:cNvPr id="92163"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BFD28B1-6946-4C31-B81C-389DA1F790A7}" type="slidenum">
              <a:rPr lang="fr-FR" altLang="fr-FR" sz="1000" smtClean="0">
                <a:solidFill>
                  <a:srgbClr val="292929"/>
                </a:solidFill>
                <a:latin typeface="Arial" panose="020B0604020202020204" pitchFamily="34" charset="0"/>
              </a:rPr>
              <a:pPr>
                <a:spcBef>
                  <a:spcPct val="0"/>
                </a:spcBef>
                <a:buClrTx/>
                <a:buSzTx/>
                <a:buFontTx/>
                <a:buNone/>
              </a:pPr>
              <a:t>50</a:t>
            </a:fld>
            <a:endParaRPr lang="fr-FR" altLang="fr-FR" sz="1000" smtClean="0">
              <a:solidFill>
                <a:srgbClr val="292929"/>
              </a:solidFill>
              <a:latin typeface="Arial" panose="020B0604020202020204" pitchFamily="34" charset="0"/>
            </a:endParaRPr>
          </a:p>
        </p:txBody>
      </p:sp>
      <p:sp>
        <p:nvSpPr>
          <p:cNvPr id="92164" name="Text Box 2"/>
          <p:cNvSpPr txBox="1">
            <a:spLocks noChangeArrowheads="1"/>
          </p:cNvSpPr>
          <p:nvPr/>
        </p:nvSpPr>
        <p:spPr bwMode="auto">
          <a:xfrm>
            <a:off x="571500" y="428625"/>
            <a:ext cx="3025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C00000"/>
                </a:solidFill>
                <a:latin typeface="Arial" panose="020B0604020202020204" pitchFamily="34" charset="0"/>
              </a:rPr>
              <a:t>Avec un pont complet</a:t>
            </a:r>
          </a:p>
        </p:txBody>
      </p:sp>
      <p:grpSp>
        <p:nvGrpSpPr>
          <p:cNvPr id="2" name="Group 3"/>
          <p:cNvGrpSpPr>
            <a:grpSpLocks/>
          </p:cNvGrpSpPr>
          <p:nvPr/>
        </p:nvGrpSpPr>
        <p:grpSpPr bwMode="auto">
          <a:xfrm>
            <a:off x="2590800" y="1447800"/>
            <a:ext cx="4191000" cy="1916113"/>
            <a:chOff x="1632" y="1392"/>
            <a:chExt cx="2640" cy="1207"/>
          </a:xfrm>
        </p:grpSpPr>
        <p:sp>
          <p:nvSpPr>
            <p:cNvPr id="92170" name="Text Box 4"/>
            <p:cNvSpPr txBox="1">
              <a:spLocks noChangeArrowheads="1"/>
            </p:cNvSpPr>
            <p:nvPr/>
          </p:nvSpPr>
          <p:spPr bwMode="auto">
            <a:xfrm>
              <a:off x="1632" y="1824"/>
              <a:ext cx="62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Réseau</a:t>
              </a:r>
            </a:p>
          </p:txBody>
        </p:sp>
        <p:sp>
          <p:nvSpPr>
            <p:cNvPr id="92171" name="Line 5"/>
            <p:cNvSpPr>
              <a:spLocks noChangeShapeType="1"/>
            </p:cNvSpPr>
            <p:nvPr/>
          </p:nvSpPr>
          <p:spPr bwMode="auto">
            <a:xfrm>
              <a:off x="4027" y="1440"/>
              <a:ext cx="0"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72" name="Line 6"/>
            <p:cNvSpPr>
              <a:spLocks noChangeShapeType="1"/>
            </p:cNvSpPr>
            <p:nvPr/>
          </p:nvSpPr>
          <p:spPr bwMode="auto">
            <a:xfrm>
              <a:off x="2312" y="1440"/>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73" name="Line 7"/>
            <p:cNvSpPr>
              <a:spLocks noChangeShapeType="1"/>
            </p:cNvSpPr>
            <p:nvPr/>
          </p:nvSpPr>
          <p:spPr bwMode="auto">
            <a:xfrm>
              <a:off x="2148" y="1605"/>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74" name="Line 8"/>
            <p:cNvSpPr>
              <a:spLocks noChangeShapeType="1"/>
            </p:cNvSpPr>
            <p:nvPr/>
          </p:nvSpPr>
          <p:spPr bwMode="auto">
            <a:xfrm flipH="1">
              <a:off x="2148" y="1605"/>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75" name="Line 9"/>
            <p:cNvSpPr>
              <a:spLocks noChangeShapeType="1"/>
            </p:cNvSpPr>
            <p:nvPr/>
          </p:nvSpPr>
          <p:spPr bwMode="auto">
            <a:xfrm>
              <a:off x="2312" y="1605"/>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76" name="Line 10"/>
            <p:cNvSpPr>
              <a:spLocks noChangeShapeType="1"/>
            </p:cNvSpPr>
            <p:nvPr/>
          </p:nvSpPr>
          <p:spPr bwMode="auto">
            <a:xfrm>
              <a:off x="2148" y="1769"/>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77" name="Line 11"/>
            <p:cNvSpPr>
              <a:spLocks noChangeShapeType="1"/>
            </p:cNvSpPr>
            <p:nvPr/>
          </p:nvSpPr>
          <p:spPr bwMode="auto">
            <a:xfrm>
              <a:off x="2148" y="2181"/>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78" name="Line 12"/>
            <p:cNvSpPr>
              <a:spLocks noChangeShapeType="1"/>
            </p:cNvSpPr>
            <p:nvPr/>
          </p:nvSpPr>
          <p:spPr bwMode="auto">
            <a:xfrm flipH="1">
              <a:off x="2148" y="2181"/>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79" name="Line 13"/>
            <p:cNvSpPr>
              <a:spLocks noChangeShapeType="1"/>
            </p:cNvSpPr>
            <p:nvPr/>
          </p:nvSpPr>
          <p:spPr bwMode="auto">
            <a:xfrm>
              <a:off x="2312" y="2181"/>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0" name="Line 14"/>
            <p:cNvSpPr>
              <a:spLocks noChangeShapeType="1"/>
            </p:cNvSpPr>
            <p:nvPr/>
          </p:nvSpPr>
          <p:spPr bwMode="auto">
            <a:xfrm>
              <a:off x="2148" y="2345"/>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1" name="Line 15"/>
            <p:cNvSpPr>
              <a:spLocks noChangeShapeType="1"/>
            </p:cNvSpPr>
            <p:nvPr/>
          </p:nvSpPr>
          <p:spPr bwMode="auto">
            <a:xfrm>
              <a:off x="2883" y="1440"/>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2" name="Line 16"/>
            <p:cNvSpPr>
              <a:spLocks noChangeShapeType="1"/>
            </p:cNvSpPr>
            <p:nvPr/>
          </p:nvSpPr>
          <p:spPr bwMode="auto">
            <a:xfrm>
              <a:off x="2720" y="1605"/>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3" name="Line 17"/>
            <p:cNvSpPr>
              <a:spLocks noChangeShapeType="1"/>
            </p:cNvSpPr>
            <p:nvPr/>
          </p:nvSpPr>
          <p:spPr bwMode="auto">
            <a:xfrm flipH="1">
              <a:off x="2720" y="1605"/>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4" name="Line 18"/>
            <p:cNvSpPr>
              <a:spLocks noChangeShapeType="1"/>
            </p:cNvSpPr>
            <p:nvPr/>
          </p:nvSpPr>
          <p:spPr bwMode="auto">
            <a:xfrm>
              <a:off x="2883" y="1605"/>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5" name="Line 19"/>
            <p:cNvSpPr>
              <a:spLocks noChangeShapeType="1"/>
            </p:cNvSpPr>
            <p:nvPr/>
          </p:nvSpPr>
          <p:spPr bwMode="auto">
            <a:xfrm>
              <a:off x="2720" y="1769"/>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6" name="Line 20"/>
            <p:cNvSpPr>
              <a:spLocks noChangeShapeType="1"/>
            </p:cNvSpPr>
            <p:nvPr/>
          </p:nvSpPr>
          <p:spPr bwMode="auto">
            <a:xfrm>
              <a:off x="2720" y="2181"/>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7" name="Line 21"/>
            <p:cNvSpPr>
              <a:spLocks noChangeShapeType="1"/>
            </p:cNvSpPr>
            <p:nvPr/>
          </p:nvSpPr>
          <p:spPr bwMode="auto">
            <a:xfrm flipH="1">
              <a:off x="2720" y="2181"/>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8" name="Line 22"/>
            <p:cNvSpPr>
              <a:spLocks noChangeShapeType="1"/>
            </p:cNvSpPr>
            <p:nvPr/>
          </p:nvSpPr>
          <p:spPr bwMode="auto">
            <a:xfrm>
              <a:off x="2883" y="2181"/>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89" name="Line 23"/>
            <p:cNvSpPr>
              <a:spLocks noChangeShapeType="1"/>
            </p:cNvSpPr>
            <p:nvPr/>
          </p:nvSpPr>
          <p:spPr bwMode="auto">
            <a:xfrm>
              <a:off x="2720" y="2345"/>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90" name="Line 24"/>
            <p:cNvSpPr>
              <a:spLocks noChangeShapeType="1"/>
            </p:cNvSpPr>
            <p:nvPr/>
          </p:nvSpPr>
          <p:spPr bwMode="auto">
            <a:xfrm flipH="1">
              <a:off x="1740" y="1851"/>
              <a:ext cx="57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91" name="Line 25"/>
            <p:cNvSpPr>
              <a:spLocks noChangeShapeType="1"/>
            </p:cNvSpPr>
            <p:nvPr/>
          </p:nvSpPr>
          <p:spPr bwMode="auto">
            <a:xfrm flipH="1">
              <a:off x="1740" y="2098"/>
              <a:ext cx="114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92" name="Line 26"/>
            <p:cNvSpPr>
              <a:spLocks noChangeShapeType="1"/>
            </p:cNvSpPr>
            <p:nvPr/>
          </p:nvSpPr>
          <p:spPr bwMode="auto">
            <a:xfrm>
              <a:off x="2312" y="1440"/>
              <a:ext cx="171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93" name="Line 27"/>
            <p:cNvSpPr>
              <a:spLocks noChangeShapeType="1"/>
            </p:cNvSpPr>
            <p:nvPr/>
          </p:nvSpPr>
          <p:spPr bwMode="auto">
            <a:xfrm>
              <a:off x="2312" y="2592"/>
              <a:ext cx="171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94" name="Line 28"/>
            <p:cNvSpPr>
              <a:spLocks noChangeShapeType="1"/>
            </p:cNvSpPr>
            <p:nvPr/>
          </p:nvSpPr>
          <p:spPr bwMode="auto">
            <a:xfrm flipH="1">
              <a:off x="2067" y="1687"/>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95" name="Line 29"/>
            <p:cNvSpPr>
              <a:spLocks noChangeShapeType="1"/>
            </p:cNvSpPr>
            <p:nvPr/>
          </p:nvSpPr>
          <p:spPr bwMode="auto">
            <a:xfrm flipH="1">
              <a:off x="2639" y="1687"/>
              <a:ext cx="163"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196" name="Oval 30"/>
            <p:cNvSpPr>
              <a:spLocks noChangeArrowheads="1"/>
            </p:cNvSpPr>
            <p:nvPr/>
          </p:nvSpPr>
          <p:spPr bwMode="auto">
            <a:xfrm>
              <a:off x="3782" y="1769"/>
              <a:ext cx="490" cy="494"/>
            </a:xfrm>
            <a:prstGeom prst="ellipse">
              <a:avLst/>
            </a:prstGeom>
            <a:solidFill>
              <a:srgbClr val="FFFFFF"/>
            </a:solidFill>
            <a:ln w="28575">
              <a:solidFill>
                <a:schemeClr val="tx1"/>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2197" name="Text Box 31"/>
            <p:cNvSpPr txBox="1">
              <a:spLocks noChangeArrowheads="1"/>
            </p:cNvSpPr>
            <p:nvPr/>
          </p:nvSpPr>
          <p:spPr bwMode="auto">
            <a:xfrm>
              <a:off x="3864" y="1851"/>
              <a:ext cx="32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M</a:t>
              </a:r>
            </a:p>
            <a:p>
              <a:pPr eaLnBrk="1" hangingPunct="1">
                <a:spcBef>
                  <a:spcPct val="0"/>
                </a:spcBef>
                <a:buClrTx/>
                <a:buSzTx/>
                <a:buFontTx/>
                <a:buNone/>
              </a:pPr>
              <a:r>
                <a:rPr lang="fr-FR" altLang="fr-FR" sz="1800">
                  <a:latin typeface="Arial" panose="020B0604020202020204" pitchFamily="34" charset="0"/>
                </a:rPr>
                <a:t>=</a:t>
              </a:r>
            </a:p>
          </p:txBody>
        </p:sp>
        <p:sp>
          <p:nvSpPr>
            <p:cNvPr id="92198" name="Text Box 32"/>
            <p:cNvSpPr txBox="1">
              <a:spLocks noChangeArrowheads="1"/>
            </p:cNvSpPr>
            <p:nvPr/>
          </p:nvSpPr>
          <p:spPr bwMode="auto">
            <a:xfrm>
              <a:off x="2496" y="1392"/>
              <a:ext cx="431"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Th2</a:t>
              </a:r>
            </a:p>
          </p:txBody>
        </p:sp>
        <p:sp>
          <p:nvSpPr>
            <p:cNvPr id="92199" name="Text Box 33"/>
            <p:cNvSpPr txBox="1">
              <a:spLocks noChangeArrowheads="1"/>
            </p:cNvSpPr>
            <p:nvPr/>
          </p:nvSpPr>
          <p:spPr bwMode="auto">
            <a:xfrm>
              <a:off x="1920" y="1392"/>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Th1</a:t>
              </a:r>
            </a:p>
          </p:txBody>
        </p:sp>
        <p:sp>
          <p:nvSpPr>
            <p:cNvPr id="92200" name="Text Box 34"/>
            <p:cNvSpPr txBox="1">
              <a:spLocks noChangeArrowheads="1"/>
            </p:cNvSpPr>
            <p:nvPr/>
          </p:nvSpPr>
          <p:spPr bwMode="auto">
            <a:xfrm>
              <a:off x="1920" y="2352"/>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Th4</a:t>
              </a:r>
            </a:p>
          </p:txBody>
        </p:sp>
        <p:sp>
          <p:nvSpPr>
            <p:cNvPr id="92201" name="Text Box 35"/>
            <p:cNvSpPr txBox="1">
              <a:spLocks noChangeArrowheads="1"/>
            </p:cNvSpPr>
            <p:nvPr/>
          </p:nvSpPr>
          <p:spPr bwMode="auto">
            <a:xfrm>
              <a:off x="2496" y="2352"/>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Th3</a:t>
              </a:r>
            </a:p>
          </p:txBody>
        </p:sp>
        <p:sp>
          <p:nvSpPr>
            <p:cNvPr id="92202" name="Line 36"/>
            <p:cNvSpPr>
              <a:spLocks noChangeShapeType="1"/>
            </p:cNvSpPr>
            <p:nvPr/>
          </p:nvSpPr>
          <p:spPr bwMode="auto">
            <a:xfrm flipH="1">
              <a:off x="2064" y="2256"/>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2203" name="Line 37"/>
            <p:cNvSpPr>
              <a:spLocks noChangeShapeType="1"/>
            </p:cNvSpPr>
            <p:nvPr/>
          </p:nvSpPr>
          <p:spPr bwMode="auto">
            <a:xfrm flipH="1">
              <a:off x="2640" y="2256"/>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70694" name="Text Box 38"/>
          <p:cNvSpPr txBox="1">
            <a:spLocks noChangeArrowheads="1"/>
          </p:cNvSpPr>
          <p:nvPr/>
        </p:nvSpPr>
        <p:spPr bwMode="auto">
          <a:xfrm>
            <a:off x="3733800" y="3505200"/>
            <a:ext cx="25844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Schéma de principe</a:t>
            </a:r>
          </a:p>
        </p:txBody>
      </p:sp>
      <p:sp>
        <p:nvSpPr>
          <p:cNvPr id="70695" name="Text Box 39"/>
          <p:cNvSpPr txBox="1">
            <a:spLocks noChangeArrowheads="1"/>
          </p:cNvSpPr>
          <p:nvPr/>
        </p:nvSpPr>
        <p:spPr bwMode="auto">
          <a:xfrm>
            <a:off x="928688" y="4286250"/>
            <a:ext cx="76438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Les I.S. sont unidirectionnels en courant  (non réversible en couple).</a:t>
            </a:r>
          </a:p>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2  sens de rotation.</a:t>
            </a:r>
          </a:p>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a:t>
            </a:r>
            <a:r>
              <a:rPr lang="fr-FR" altLang="fr-FR" sz="1800">
                <a:solidFill>
                  <a:schemeClr val="accent1"/>
                </a:solidFill>
                <a:latin typeface="Arial" panose="020B0604020202020204" pitchFamily="34" charset="0"/>
              </a:rPr>
              <a:t>2 quadrants de fonctionnement (N°1 et 4).</a:t>
            </a:r>
            <a:endParaRPr lang="fr-FR" altLang="fr-FR" sz="1800">
              <a:latin typeface="Arial" panose="020B0604020202020204" pitchFamily="34" charset="0"/>
            </a:endParaRPr>
          </a:p>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Freinage statique (quadrant N°4). </a:t>
            </a:r>
          </a:p>
        </p:txBody>
      </p:sp>
      <p:sp>
        <p:nvSpPr>
          <p:cNvPr id="92168"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43"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70694"/>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7" presetClass="entr" presetSubtype="10" fill="hold" grpId="0" nodeType="clickEffect">
                                  <p:stCondLst>
                                    <p:cond delay="0"/>
                                  </p:stCondLst>
                                  <p:childTnLst>
                                    <p:set>
                                      <p:cBhvr>
                                        <p:cTn id="13" dur="1" fill="hold">
                                          <p:stCondLst>
                                            <p:cond delay="0"/>
                                          </p:stCondLst>
                                        </p:cTn>
                                        <p:tgtEl>
                                          <p:spTgt spid="70695"/>
                                        </p:tgtEl>
                                        <p:attrNameLst>
                                          <p:attrName>style.visibility</p:attrName>
                                        </p:attrNameLst>
                                      </p:cBhvr>
                                      <p:to>
                                        <p:strVal val="visible"/>
                                      </p:to>
                                    </p:set>
                                    <p:anim calcmode="lin" valueType="num">
                                      <p:cBhvr>
                                        <p:cTn id="14" dur="500" fill="hold"/>
                                        <p:tgtEl>
                                          <p:spTgt spid="70695"/>
                                        </p:tgtEl>
                                        <p:attrNameLst>
                                          <p:attrName>ppt_w</p:attrName>
                                        </p:attrNameLst>
                                      </p:cBhvr>
                                      <p:tavLst>
                                        <p:tav tm="0">
                                          <p:val>
                                            <p:fltVal val="0"/>
                                          </p:val>
                                        </p:tav>
                                        <p:tav tm="100000">
                                          <p:val>
                                            <p:strVal val="#ppt_w"/>
                                          </p:val>
                                        </p:tav>
                                      </p:tavLst>
                                    </p:anim>
                                    <p:anim calcmode="lin" valueType="num">
                                      <p:cBhvr>
                                        <p:cTn id="15" dur="500" fill="hold"/>
                                        <p:tgtEl>
                                          <p:spTgt spid="7069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94" grpId="0" autoUpdateAnimBg="0"/>
      <p:bldP spid="70695" grpId="0"/>
    </p:bldLst>
  </p:timing>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53" name="Espace réservé du pied de page 52"/>
          <p:cNvSpPr>
            <a:spLocks noGrp="1"/>
          </p:cNvSpPr>
          <p:nvPr>
            <p:ph type="ftr" sz="quarter" idx="11"/>
          </p:nvPr>
        </p:nvSpPr>
        <p:spPr/>
        <p:txBody>
          <a:bodyPr/>
          <a:lstStyle/>
          <a:p>
            <a:pPr>
              <a:defRPr/>
            </a:pPr>
            <a:r>
              <a:rPr lang="fr-FR"/>
              <a:t>Commande des machines   3.MCC     Ali NEJMI</a:t>
            </a:r>
          </a:p>
        </p:txBody>
      </p:sp>
      <p:sp>
        <p:nvSpPr>
          <p:cNvPr id="94211"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3697041-E690-4600-9D03-370410F293B2}" type="slidenum">
              <a:rPr lang="fr-FR" altLang="fr-FR" sz="1000" smtClean="0">
                <a:solidFill>
                  <a:srgbClr val="292929"/>
                </a:solidFill>
                <a:latin typeface="Arial" panose="020B0604020202020204" pitchFamily="34" charset="0"/>
              </a:rPr>
              <a:pPr>
                <a:spcBef>
                  <a:spcPct val="0"/>
                </a:spcBef>
                <a:buClrTx/>
                <a:buSzTx/>
                <a:buFontTx/>
                <a:buNone/>
              </a:pPr>
              <a:t>51</a:t>
            </a:fld>
            <a:endParaRPr lang="fr-FR" altLang="fr-FR" sz="1000" smtClean="0">
              <a:solidFill>
                <a:srgbClr val="292929"/>
              </a:solidFill>
              <a:latin typeface="Arial" panose="020B0604020202020204" pitchFamily="34" charset="0"/>
            </a:endParaRPr>
          </a:p>
        </p:txBody>
      </p:sp>
      <p:sp>
        <p:nvSpPr>
          <p:cNvPr id="94212" name="Text Box 2"/>
          <p:cNvSpPr txBox="1">
            <a:spLocks noChangeArrowheads="1"/>
          </p:cNvSpPr>
          <p:nvPr/>
        </p:nvSpPr>
        <p:spPr bwMode="auto">
          <a:xfrm>
            <a:off x="785813" y="571500"/>
            <a:ext cx="561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Si on veut un 2</a:t>
            </a:r>
            <a:r>
              <a:rPr lang="fr-FR" altLang="fr-FR" sz="1800" b="1" baseline="30000">
                <a:latin typeface="Arial" panose="020B0604020202020204" pitchFamily="34" charset="0"/>
              </a:rPr>
              <a:t>ème</a:t>
            </a:r>
            <a:r>
              <a:rPr lang="fr-FR" altLang="fr-FR" sz="1800" b="1">
                <a:latin typeface="Arial" panose="020B0604020202020204" pitchFamily="34" charset="0"/>
              </a:rPr>
              <a:t> sens de rotation moteur</a:t>
            </a:r>
          </a:p>
        </p:txBody>
      </p:sp>
      <p:grpSp>
        <p:nvGrpSpPr>
          <p:cNvPr id="2" name="Group 3"/>
          <p:cNvGrpSpPr>
            <a:grpSpLocks/>
          </p:cNvGrpSpPr>
          <p:nvPr/>
        </p:nvGrpSpPr>
        <p:grpSpPr bwMode="auto">
          <a:xfrm>
            <a:off x="4876800" y="1981200"/>
            <a:ext cx="990600" cy="1828800"/>
            <a:chOff x="3840" y="1392"/>
            <a:chExt cx="528" cy="1152"/>
          </a:xfrm>
        </p:grpSpPr>
        <p:sp>
          <p:nvSpPr>
            <p:cNvPr id="94259" name="Line 4"/>
            <p:cNvSpPr>
              <a:spLocks noChangeShapeType="1"/>
            </p:cNvSpPr>
            <p:nvPr/>
          </p:nvSpPr>
          <p:spPr bwMode="auto">
            <a:xfrm flipH="1">
              <a:off x="3840" y="1392"/>
              <a:ext cx="52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94260" name="Line 5"/>
            <p:cNvSpPr>
              <a:spLocks noChangeShapeType="1"/>
            </p:cNvSpPr>
            <p:nvPr/>
          </p:nvSpPr>
          <p:spPr bwMode="auto">
            <a:xfrm flipH="1">
              <a:off x="3888" y="2544"/>
              <a:ext cx="4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3" name="Group 7"/>
          <p:cNvGrpSpPr>
            <a:grpSpLocks/>
          </p:cNvGrpSpPr>
          <p:nvPr/>
        </p:nvGrpSpPr>
        <p:grpSpPr bwMode="auto">
          <a:xfrm>
            <a:off x="5029200" y="1981200"/>
            <a:ext cx="838200" cy="1828800"/>
            <a:chOff x="3840" y="1392"/>
            <a:chExt cx="528" cy="1152"/>
          </a:xfrm>
        </p:grpSpPr>
        <p:sp>
          <p:nvSpPr>
            <p:cNvPr id="94257" name="Line 8"/>
            <p:cNvSpPr>
              <a:spLocks noChangeShapeType="1"/>
            </p:cNvSpPr>
            <p:nvPr/>
          </p:nvSpPr>
          <p:spPr bwMode="auto">
            <a:xfrm flipH="1">
              <a:off x="3888" y="1392"/>
              <a:ext cx="480"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94258" name="Line 9"/>
            <p:cNvSpPr>
              <a:spLocks noChangeShapeType="1"/>
            </p:cNvSpPr>
            <p:nvPr/>
          </p:nvSpPr>
          <p:spPr bwMode="auto">
            <a:xfrm>
              <a:off x="3840" y="1392"/>
              <a:ext cx="528"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94215" name="Group 12"/>
          <p:cNvGrpSpPr>
            <a:grpSpLocks/>
          </p:cNvGrpSpPr>
          <p:nvPr/>
        </p:nvGrpSpPr>
        <p:grpSpPr bwMode="auto">
          <a:xfrm>
            <a:off x="2133600" y="1905000"/>
            <a:ext cx="4808538" cy="1916113"/>
            <a:chOff x="1344" y="1200"/>
            <a:chExt cx="3029" cy="1207"/>
          </a:xfrm>
        </p:grpSpPr>
        <p:sp>
          <p:nvSpPr>
            <p:cNvPr id="94221" name="Text Box 13"/>
            <p:cNvSpPr txBox="1">
              <a:spLocks noChangeArrowheads="1"/>
            </p:cNvSpPr>
            <p:nvPr/>
          </p:nvSpPr>
          <p:spPr bwMode="auto">
            <a:xfrm>
              <a:off x="1344" y="1632"/>
              <a:ext cx="62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Réseau</a:t>
              </a:r>
            </a:p>
          </p:txBody>
        </p:sp>
        <p:sp>
          <p:nvSpPr>
            <p:cNvPr id="94222" name="Line 14"/>
            <p:cNvSpPr>
              <a:spLocks noChangeShapeType="1"/>
            </p:cNvSpPr>
            <p:nvPr/>
          </p:nvSpPr>
          <p:spPr bwMode="auto">
            <a:xfrm>
              <a:off x="4128" y="1248"/>
              <a:ext cx="0"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23" name="Line 15"/>
            <p:cNvSpPr>
              <a:spLocks noChangeShapeType="1"/>
            </p:cNvSpPr>
            <p:nvPr/>
          </p:nvSpPr>
          <p:spPr bwMode="auto">
            <a:xfrm>
              <a:off x="2024" y="1248"/>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24" name="Line 16"/>
            <p:cNvSpPr>
              <a:spLocks noChangeShapeType="1"/>
            </p:cNvSpPr>
            <p:nvPr/>
          </p:nvSpPr>
          <p:spPr bwMode="auto">
            <a:xfrm>
              <a:off x="1860" y="141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25" name="Line 17"/>
            <p:cNvSpPr>
              <a:spLocks noChangeShapeType="1"/>
            </p:cNvSpPr>
            <p:nvPr/>
          </p:nvSpPr>
          <p:spPr bwMode="auto">
            <a:xfrm flipH="1">
              <a:off x="1860" y="1413"/>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26" name="Line 18"/>
            <p:cNvSpPr>
              <a:spLocks noChangeShapeType="1"/>
            </p:cNvSpPr>
            <p:nvPr/>
          </p:nvSpPr>
          <p:spPr bwMode="auto">
            <a:xfrm>
              <a:off x="2024" y="1413"/>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27" name="Line 19"/>
            <p:cNvSpPr>
              <a:spLocks noChangeShapeType="1"/>
            </p:cNvSpPr>
            <p:nvPr/>
          </p:nvSpPr>
          <p:spPr bwMode="auto">
            <a:xfrm>
              <a:off x="1860" y="157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28" name="Line 20"/>
            <p:cNvSpPr>
              <a:spLocks noChangeShapeType="1"/>
            </p:cNvSpPr>
            <p:nvPr/>
          </p:nvSpPr>
          <p:spPr bwMode="auto">
            <a:xfrm>
              <a:off x="1860" y="1989"/>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29" name="Line 21"/>
            <p:cNvSpPr>
              <a:spLocks noChangeShapeType="1"/>
            </p:cNvSpPr>
            <p:nvPr/>
          </p:nvSpPr>
          <p:spPr bwMode="auto">
            <a:xfrm flipH="1">
              <a:off x="1860" y="1989"/>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0" name="Line 22"/>
            <p:cNvSpPr>
              <a:spLocks noChangeShapeType="1"/>
            </p:cNvSpPr>
            <p:nvPr/>
          </p:nvSpPr>
          <p:spPr bwMode="auto">
            <a:xfrm>
              <a:off x="2024" y="1989"/>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1" name="Line 23"/>
            <p:cNvSpPr>
              <a:spLocks noChangeShapeType="1"/>
            </p:cNvSpPr>
            <p:nvPr/>
          </p:nvSpPr>
          <p:spPr bwMode="auto">
            <a:xfrm>
              <a:off x="1860" y="215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2" name="Line 24"/>
            <p:cNvSpPr>
              <a:spLocks noChangeShapeType="1"/>
            </p:cNvSpPr>
            <p:nvPr/>
          </p:nvSpPr>
          <p:spPr bwMode="auto">
            <a:xfrm>
              <a:off x="2595" y="1248"/>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3" name="Line 25"/>
            <p:cNvSpPr>
              <a:spLocks noChangeShapeType="1"/>
            </p:cNvSpPr>
            <p:nvPr/>
          </p:nvSpPr>
          <p:spPr bwMode="auto">
            <a:xfrm>
              <a:off x="2432" y="141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4" name="Line 26"/>
            <p:cNvSpPr>
              <a:spLocks noChangeShapeType="1"/>
            </p:cNvSpPr>
            <p:nvPr/>
          </p:nvSpPr>
          <p:spPr bwMode="auto">
            <a:xfrm flipH="1">
              <a:off x="2432" y="1413"/>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5" name="Line 27"/>
            <p:cNvSpPr>
              <a:spLocks noChangeShapeType="1"/>
            </p:cNvSpPr>
            <p:nvPr/>
          </p:nvSpPr>
          <p:spPr bwMode="auto">
            <a:xfrm>
              <a:off x="2595" y="1413"/>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6" name="Line 28"/>
            <p:cNvSpPr>
              <a:spLocks noChangeShapeType="1"/>
            </p:cNvSpPr>
            <p:nvPr/>
          </p:nvSpPr>
          <p:spPr bwMode="auto">
            <a:xfrm>
              <a:off x="2432" y="157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7" name="Line 29"/>
            <p:cNvSpPr>
              <a:spLocks noChangeShapeType="1"/>
            </p:cNvSpPr>
            <p:nvPr/>
          </p:nvSpPr>
          <p:spPr bwMode="auto">
            <a:xfrm>
              <a:off x="2432" y="1989"/>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8" name="Line 30"/>
            <p:cNvSpPr>
              <a:spLocks noChangeShapeType="1"/>
            </p:cNvSpPr>
            <p:nvPr/>
          </p:nvSpPr>
          <p:spPr bwMode="auto">
            <a:xfrm flipH="1">
              <a:off x="2432" y="1989"/>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39" name="Line 31"/>
            <p:cNvSpPr>
              <a:spLocks noChangeShapeType="1"/>
            </p:cNvSpPr>
            <p:nvPr/>
          </p:nvSpPr>
          <p:spPr bwMode="auto">
            <a:xfrm>
              <a:off x="2595" y="1989"/>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40" name="Line 32"/>
            <p:cNvSpPr>
              <a:spLocks noChangeShapeType="1"/>
            </p:cNvSpPr>
            <p:nvPr/>
          </p:nvSpPr>
          <p:spPr bwMode="auto">
            <a:xfrm>
              <a:off x="2432" y="215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41" name="Line 33"/>
            <p:cNvSpPr>
              <a:spLocks noChangeShapeType="1"/>
            </p:cNvSpPr>
            <p:nvPr/>
          </p:nvSpPr>
          <p:spPr bwMode="auto">
            <a:xfrm flipH="1">
              <a:off x="1452" y="1659"/>
              <a:ext cx="57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42" name="Line 34"/>
            <p:cNvSpPr>
              <a:spLocks noChangeShapeType="1"/>
            </p:cNvSpPr>
            <p:nvPr/>
          </p:nvSpPr>
          <p:spPr bwMode="auto">
            <a:xfrm flipH="1">
              <a:off x="1452" y="1906"/>
              <a:ext cx="114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43" name="Line 35"/>
            <p:cNvSpPr>
              <a:spLocks noChangeShapeType="1"/>
            </p:cNvSpPr>
            <p:nvPr/>
          </p:nvSpPr>
          <p:spPr bwMode="auto">
            <a:xfrm>
              <a:off x="2024" y="1248"/>
              <a:ext cx="1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44" name="Line 36"/>
            <p:cNvSpPr>
              <a:spLocks noChangeShapeType="1"/>
            </p:cNvSpPr>
            <p:nvPr/>
          </p:nvSpPr>
          <p:spPr bwMode="auto">
            <a:xfrm>
              <a:off x="2024" y="2400"/>
              <a:ext cx="1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45" name="Line 37"/>
            <p:cNvSpPr>
              <a:spLocks noChangeShapeType="1"/>
            </p:cNvSpPr>
            <p:nvPr/>
          </p:nvSpPr>
          <p:spPr bwMode="auto">
            <a:xfrm flipH="1">
              <a:off x="1776" y="1488"/>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46" name="Line 38"/>
            <p:cNvSpPr>
              <a:spLocks noChangeShapeType="1"/>
            </p:cNvSpPr>
            <p:nvPr/>
          </p:nvSpPr>
          <p:spPr bwMode="auto">
            <a:xfrm flipH="1">
              <a:off x="2351" y="1495"/>
              <a:ext cx="163"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47" name="Oval 39"/>
            <p:cNvSpPr>
              <a:spLocks noChangeArrowheads="1"/>
            </p:cNvSpPr>
            <p:nvPr/>
          </p:nvSpPr>
          <p:spPr bwMode="auto">
            <a:xfrm>
              <a:off x="3883" y="1577"/>
              <a:ext cx="490" cy="494"/>
            </a:xfrm>
            <a:prstGeom prst="ellipse">
              <a:avLst/>
            </a:prstGeom>
            <a:solidFill>
              <a:srgbClr val="FFFFFF"/>
            </a:solidFill>
            <a:ln w="28575">
              <a:solidFill>
                <a:schemeClr val="tx1"/>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94248" name="Text Box 40"/>
            <p:cNvSpPr txBox="1">
              <a:spLocks noChangeArrowheads="1"/>
            </p:cNvSpPr>
            <p:nvPr/>
          </p:nvSpPr>
          <p:spPr bwMode="auto">
            <a:xfrm>
              <a:off x="3965" y="1659"/>
              <a:ext cx="32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M</a:t>
              </a:r>
            </a:p>
            <a:p>
              <a:pPr eaLnBrk="1" hangingPunct="1">
                <a:spcBef>
                  <a:spcPct val="0"/>
                </a:spcBef>
                <a:buClrTx/>
                <a:buSzTx/>
                <a:buFontTx/>
                <a:buNone/>
              </a:pPr>
              <a:r>
                <a:rPr lang="fr-FR" altLang="fr-FR" sz="1800">
                  <a:latin typeface="Arial" panose="020B0604020202020204" pitchFamily="34" charset="0"/>
                </a:rPr>
                <a:t>=</a:t>
              </a:r>
            </a:p>
          </p:txBody>
        </p:sp>
        <p:sp>
          <p:nvSpPr>
            <p:cNvPr id="94249" name="Text Box 41"/>
            <p:cNvSpPr txBox="1">
              <a:spLocks noChangeArrowheads="1"/>
            </p:cNvSpPr>
            <p:nvPr/>
          </p:nvSpPr>
          <p:spPr bwMode="auto">
            <a:xfrm>
              <a:off x="2208" y="1200"/>
              <a:ext cx="431"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Th2</a:t>
              </a:r>
            </a:p>
          </p:txBody>
        </p:sp>
        <p:sp>
          <p:nvSpPr>
            <p:cNvPr id="94250" name="Text Box 42"/>
            <p:cNvSpPr txBox="1">
              <a:spLocks noChangeArrowheads="1"/>
            </p:cNvSpPr>
            <p:nvPr/>
          </p:nvSpPr>
          <p:spPr bwMode="auto">
            <a:xfrm>
              <a:off x="1632" y="1200"/>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Th1</a:t>
              </a:r>
            </a:p>
          </p:txBody>
        </p:sp>
        <p:sp>
          <p:nvSpPr>
            <p:cNvPr id="94251" name="Text Box 43"/>
            <p:cNvSpPr txBox="1">
              <a:spLocks noChangeArrowheads="1"/>
            </p:cNvSpPr>
            <p:nvPr/>
          </p:nvSpPr>
          <p:spPr bwMode="auto">
            <a:xfrm>
              <a:off x="1632" y="2160"/>
              <a:ext cx="480"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 4</a:t>
              </a:r>
            </a:p>
          </p:txBody>
        </p:sp>
        <p:sp>
          <p:nvSpPr>
            <p:cNvPr id="94252" name="Text Box 44"/>
            <p:cNvSpPr txBox="1">
              <a:spLocks noChangeArrowheads="1"/>
            </p:cNvSpPr>
            <p:nvPr/>
          </p:nvSpPr>
          <p:spPr bwMode="auto">
            <a:xfrm>
              <a:off x="2256" y="2160"/>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Th3</a:t>
              </a:r>
            </a:p>
          </p:txBody>
        </p:sp>
        <p:sp>
          <p:nvSpPr>
            <p:cNvPr id="94253" name="Line 45"/>
            <p:cNvSpPr>
              <a:spLocks noChangeShapeType="1"/>
            </p:cNvSpPr>
            <p:nvPr/>
          </p:nvSpPr>
          <p:spPr bwMode="auto">
            <a:xfrm flipH="1">
              <a:off x="3696" y="1248"/>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94254" name="Line 46"/>
            <p:cNvSpPr>
              <a:spLocks noChangeShapeType="1"/>
            </p:cNvSpPr>
            <p:nvPr/>
          </p:nvSpPr>
          <p:spPr bwMode="auto">
            <a:xfrm flipH="1">
              <a:off x="3696" y="2400"/>
              <a:ext cx="43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94255" name="Line 47"/>
            <p:cNvSpPr>
              <a:spLocks noChangeShapeType="1"/>
            </p:cNvSpPr>
            <p:nvPr/>
          </p:nvSpPr>
          <p:spPr bwMode="auto">
            <a:xfrm flipH="1">
              <a:off x="1776" y="2064"/>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4256" name="Line 48"/>
            <p:cNvSpPr>
              <a:spLocks noChangeShapeType="1"/>
            </p:cNvSpPr>
            <p:nvPr/>
          </p:nvSpPr>
          <p:spPr bwMode="auto">
            <a:xfrm flipH="1">
              <a:off x="2352" y="2064"/>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71729" name="Text Box 49"/>
          <p:cNvSpPr txBox="1">
            <a:spLocks noChangeArrowheads="1"/>
          </p:cNvSpPr>
          <p:nvPr/>
        </p:nvSpPr>
        <p:spPr bwMode="auto">
          <a:xfrm>
            <a:off x="1371600" y="4419600"/>
            <a:ext cx="7086600"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Il faut croiser les connexions sur le moteur (inversion de polarité) à l ’aide d’un contacteur.</a:t>
            </a:r>
          </a:p>
          <a:p>
            <a:pPr eaLnBrk="1" hangingPunct="1">
              <a:spcBef>
                <a:spcPct val="0"/>
              </a:spcBef>
              <a:buClrTx/>
              <a:buSzTx/>
              <a:buFontTx/>
              <a:buNone/>
            </a:pPr>
            <a:r>
              <a:rPr lang="fr-FR" altLang="fr-FR" sz="1800">
                <a:latin typeface="Arial" panose="020B0604020202020204" pitchFamily="34" charset="0"/>
              </a:rPr>
              <a:t>Solution peu retenue industriellement.</a:t>
            </a:r>
          </a:p>
          <a:p>
            <a:pPr eaLnBrk="1" hangingPunct="1">
              <a:spcBef>
                <a:spcPct val="0"/>
              </a:spcBef>
              <a:buClrTx/>
              <a:buSzTx/>
              <a:buFontTx/>
              <a:buNone/>
            </a:pPr>
            <a:r>
              <a:rPr lang="fr-FR" altLang="fr-FR" sz="1800">
                <a:latin typeface="Arial" panose="020B0604020202020204" pitchFamily="34" charset="0"/>
              </a:rPr>
              <a:t>Elle ne permet pas un freinage dynamique</a:t>
            </a:r>
          </a:p>
        </p:txBody>
      </p:sp>
      <p:sp>
        <p:nvSpPr>
          <p:cNvPr id="71730" name="Text Box 50"/>
          <p:cNvSpPr txBox="1">
            <a:spLocks noChangeArrowheads="1"/>
          </p:cNvSpPr>
          <p:nvPr/>
        </p:nvSpPr>
        <p:spPr bwMode="auto">
          <a:xfrm>
            <a:off x="571500" y="4000500"/>
            <a:ext cx="8215313" cy="2205038"/>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lIns="720000" tIns="360000" rIns="720000" bIns="36000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Les I.S. sont unidirectionnels en courant </a:t>
            </a:r>
          </a:p>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2  sens de rotation.</a:t>
            </a:r>
          </a:p>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a:t>
            </a:r>
            <a:r>
              <a:rPr lang="fr-FR" altLang="fr-FR" sz="1800">
                <a:solidFill>
                  <a:schemeClr val="accent1"/>
                </a:solidFill>
                <a:latin typeface="Arial" panose="020B0604020202020204" pitchFamily="34" charset="0"/>
              </a:rPr>
              <a:t>4 quadrants de fonctionnement.</a:t>
            </a:r>
            <a:endParaRPr lang="fr-FR" altLang="fr-FR" sz="1800">
              <a:latin typeface="Arial" panose="020B0604020202020204" pitchFamily="34" charset="0"/>
            </a:endParaRPr>
          </a:p>
          <a:p>
            <a:pPr eaLnBrk="1" hangingPunct="1">
              <a:spcBef>
                <a:spcPct val="0"/>
              </a:spcBef>
              <a:buClrTx/>
              <a:buSzTx/>
              <a:buFont typeface="Symbol" panose="05050102010706020507" pitchFamily="18" charset="2"/>
              <a:buChar char="®"/>
            </a:pPr>
            <a:r>
              <a:rPr lang="fr-FR" altLang="fr-FR" sz="1800">
                <a:latin typeface="Arial" panose="020B0604020202020204" pitchFamily="34" charset="0"/>
              </a:rPr>
              <a:t> Freinage statique (quadrant N°2 et 4). </a:t>
            </a:r>
          </a:p>
        </p:txBody>
      </p:sp>
      <p:sp>
        <p:nvSpPr>
          <p:cNvPr id="94218" name="Text Box 51"/>
          <p:cNvSpPr txBox="1">
            <a:spLocks noChangeArrowheads="1"/>
          </p:cNvSpPr>
          <p:nvPr/>
        </p:nvSpPr>
        <p:spPr bwMode="auto">
          <a:xfrm>
            <a:off x="4143375" y="1285875"/>
            <a:ext cx="17176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1</a:t>
            </a:r>
            <a:r>
              <a:rPr lang="fr-FR" altLang="fr-FR" sz="1800" b="1" baseline="30000">
                <a:latin typeface="Arial" panose="020B0604020202020204" pitchFamily="34" charset="0"/>
              </a:rPr>
              <a:t>ère</a:t>
            </a:r>
            <a:r>
              <a:rPr lang="fr-FR" altLang="fr-FR" sz="1800" b="1">
                <a:latin typeface="Arial" panose="020B0604020202020204" pitchFamily="34" charset="0"/>
              </a:rPr>
              <a:t> solution</a:t>
            </a:r>
          </a:p>
        </p:txBody>
      </p:sp>
      <p:sp>
        <p:nvSpPr>
          <p:cNvPr id="94219"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2"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71729"/>
                                        </p:tgtEl>
                                        <p:attrNameLst>
                                          <p:attrName>style.visibility</p:attrName>
                                        </p:attrNameLst>
                                      </p:cBhvr>
                                      <p:to>
                                        <p:strVal val="visible"/>
                                      </p:to>
                                    </p:set>
                                    <p:anim calcmode="lin" valueType="num">
                                      <p:cBhvr>
                                        <p:cTn id="7" dur="500" fill="hold"/>
                                        <p:tgtEl>
                                          <p:spTgt spid="71729"/>
                                        </p:tgtEl>
                                        <p:attrNameLst>
                                          <p:attrName>ppt_w</p:attrName>
                                        </p:attrNameLst>
                                      </p:cBhvr>
                                      <p:tavLst>
                                        <p:tav tm="0">
                                          <p:val>
                                            <p:fltVal val="0"/>
                                          </p:val>
                                        </p:tav>
                                        <p:tav tm="100000">
                                          <p:val>
                                            <p:strVal val="#ppt_w"/>
                                          </p:val>
                                        </p:tav>
                                      </p:tavLst>
                                    </p:anim>
                                    <p:anim calcmode="lin" valueType="num">
                                      <p:cBhvr>
                                        <p:cTn id="8" dur="500" fill="hold"/>
                                        <p:tgtEl>
                                          <p:spTgt spid="71729"/>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xit" presetSubtype="10" fill="hold" nodeType="clickEffect">
                                  <p:stCondLst>
                                    <p:cond delay="0"/>
                                  </p:stCondLst>
                                  <p:childTnLst>
                                    <p:animEffect transition="out" filter="checkerboard(across)">
                                      <p:cBhvr>
                                        <p:cTn id="12" dur="500"/>
                                        <p:tgtEl>
                                          <p:spTgt spid="2"/>
                                        </p:tgtEl>
                                      </p:cBhvr>
                                    </p:animEffect>
                                    <p:set>
                                      <p:cBhvr>
                                        <p:cTn id="13" dur="1" fill="hold">
                                          <p:stCondLst>
                                            <p:cond delay="499"/>
                                          </p:stCondLst>
                                        </p:cTn>
                                        <p:tgtEl>
                                          <p:spTgt spid="2"/>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heckerboard(across)">
                                      <p:cBhvr>
                                        <p:cTn id="18" dur="5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71730"/>
                                        </p:tgtEl>
                                        <p:attrNameLst>
                                          <p:attrName>style.visibility</p:attrName>
                                        </p:attrNameLst>
                                      </p:cBhvr>
                                      <p:to>
                                        <p:strVal val="visible"/>
                                      </p:to>
                                    </p:set>
                                    <p:anim calcmode="lin" valueType="num">
                                      <p:cBhvr>
                                        <p:cTn id="23" dur="500" fill="hold"/>
                                        <p:tgtEl>
                                          <p:spTgt spid="71730"/>
                                        </p:tgtEl>
                                        <p:attrNameLst>
                                          <p:attrName>ppt_w</p:attrName>
                                        </p:attrNameLst>
                                      </p:cBhvr>
                                      <p:tavLst>
                                        <p:tav tm="0">
                                          <p:val>
                                            <p:fltVal val="0"/>
                                          </p:val>
                                        </p:tav>
                                        <p:tav tm="100000">
                                          <p:val>
                                            <p:strVal val="#ppt_w"/>
                                          </p:val>
                                        </p:tav>
                                      </p:tavLst>
                                    </p:anim>
                                    <p:anim calcmode="lin" valueType="num">
                                      <p:cBhvr>
                                        <p:cTn id="24" dur="500" fill="hold"/>
                                        <p:tgtEl>
                                          <p:spTgt spid="717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9" grpId="0"/>
      <p:bldP spid="71730"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71" name="Espace réservé du pied de page 70"/>
          <p:cNvSpPr>
            <a:spLocks noGrp="1"/>
          </p:cNvSpPr>
          <p:nvPr>
            <p:ph type="ftr" sz="quarter" idx="11"/>
          </p:nvPr>
        </p:nvSpPr>
        <p:spPr/>
        <p:txBody>
          <a:bodyPr/>
          <a:lstStyle/>
          <a:p>
            <a:pPr>
              <a:defRPr/>
            </a:pPr>
            <a:r>
              <a:rPr lang="fr-FR"/>
              <a:t>Commande des machines   3.MCC     Ali NEJMI</a:t>
            </a:r>
          </a:p>
        </p:txBody>
      </p:sp>
      <p:sp>
        <p:nvSpPr>
          <p:cNvPr id="96259"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A85DD3B-69C4-4917-8171-F7212E5F7B30}" type="slidenum">
              <a:rPr lang="fr-FR" altLang="fr-FR" sz="1000" smtClean="0">
                <a:solidFill>
                  <a:srgbClr val="292929"/>
                </a:solidFill>
                <a:latin typeface="Arial" panose="020B0604020202020204" pitchFamily="34" charset="0"/>
              </a:rPr>
              <a:pPr>
                <a:spcBef>
                  <a:spcPct val="0"/>
                </a:spcBef>
                <a:buClrTx/>
                <a:buSzTx/>
                <a:buFontTx/>
                <a:buNone/>
              </a:pPr>
              <a:t>52</a:t>
            </a:fld>
            <a:endParaRPr lang="fr-FR" altLang="fr-FR" sz="1000" smtClean="0">
              <a:solidFill>
                <a:srgbClr val="292929"/>
              </a:solidFill>
              <a:latin typeface="Arial" panose="020B0604020202020204" pitchFamily="34" charset="0"/>
            </a:endParaRPr>
          </a:p>
        </p:txBody>
      </p:sp>
      <p:grpSp>
        <p:nvGrpSpPr>
          <p:cNvPr id="2" name="Group 1026"/>
          <p:cNvGrpSpPr>
            <a:grpSpLocks/>
          </p:cNvGrpSpPr>
          <p:nvPr/>
        </p:nvGrpSpPr>
        <p:grpSpPr bwMode="auto">
          <a:xfrm>
            <a:off x="1627188" y="1681163"/>
            <a:ext cx="5715000" cy="1916112"/>
            <a:chOff x="1200" y="1104"/>
            <a:chExt cx="3600" cy="1207"/>
          </a:xfrm>
        </p:grpSpPr>
        <p:sp>
          <p:nvSpPr>
            <p:cNvPr id="96267" name="Text Box 1027"/>
            <p:cNvSpPr txBox="1">
              <a:spLocks noChangeArrowheads="1"/>
            </p:cNvSpPr>
            <p:nvPr/>
          </p:nvSpPr>
          <p:spPr bwMode="auto">
            <a:xfrm>
              <a:off x="1200" y="1536"/>
              <a:ext cx="62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Réseau</a:t>
              </a:r>
            </a:p>
          </p:txBody>
        </p:sp>
        <p:sp>
          <p:nvSpPr>
            <p:cNvPr id="96268" name="Line 1028"/>
            <p:cNvSpPr>
              <a:spLocks noChangeShapeType="1"/>
            </p:cNvSpPr>
            <p:nvPr/>
          </p:nvSpPr>
          <p:spPr bwMode="auto">
            <a:xfrm>
              <a:off x="3024" y="1152"/>
              <a:ext cx="0" cy="11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69" name="Line 1029"/>
            <p:cNvSpPr>
              <a:spLocks noChangeShapeType="1"/>
            </p:cNvSpPr>
            <p:nvPr/>
          </p:nvSpPr>
          <p:spPr bwMode="auto">
            <a:xfrm>
              <a:off x="1880" y="1152"/>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0" name="Line 1030"/>
            <p:cNvSpPr>
              <a:spLocks noChangeShapeType="1"/>
            </p:cNvSpPr>
            <p:nvPr/>
          </p:nvSpPr>
          <p:spPr bwMode="auto">
            <a:xfrm>
              <a:off x="1716" y="131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1" name="Line 1031"/>
            <p:cNvSpPr>
              <a:spLocks noChangeShapeType="1"/>
            </p:cNvSpPr>
            <p:nvPr/>
          </p:nvSpPr>
          <p:spPr bwMode="auto">
            <a:xfrm flipH="1">
              <a:off x="1716" y="1317"/>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2" name="Line 1032"/>
            <p:cNvSpPr>
              <a:spLocks noChangeShapeType="1"/>
            </p:cNvSpPr>
            <p:nvPr/>
          </p:nvSpPr>
          <p:spPr bwMode="auto">
            <a:xfrm>
              <a:off x="1880" y="1317"/>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3" name="Line 1033"/>
            <p:cNvSpPr>
              <a:spLocks noChangeShapeType="1"/>
            </p:cNvSpPr>
            <p:nvPr/>
          </p:nvSpPr>
          <p:spPr bwMode="auto">
            <a:xfrm>
              <a:off x="1716" y="1481"/>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4" name="Line 1034"/>
            <p:cNvSpPr>
              <a:spLocks noChangeShapeType="1"/>
            </p:cNvSpPr>
            <p:nvPr/>
          </p:nvSpPr>
          <p:spPr bwMode="auto">
            <a:xfrm>
              <a:off x="1716" y="189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5" name="Line 1035"/>
            <p:cNvSpPr>
              <a:spLocks noChangeShapeType="1"/>
            </p:cNvSpPr>
            <p:nvPr/>
          </p:nvSpPr>
          <p:spPr bwMode="auto">
            <a:xfrm flipH="1">
              <a:off x="1716" y="1893"/>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6" name="Line 1036"/>
            <p:cNvSpPr>
              <a:spLocks noChangeShapeType="1"/>
            </p:cNvSpPr>
            <p:nvPr/>
          </p:nvSpPr>
          <p:spPr bwMode="auto">
            <a:xfrm>
              <a:off x="1880" y="1893"/>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7" name="Line 1037"/>
            <p:cNvSpPr>
              <a:spLocks noChangeShapeType="1"/>
            </p:cNvSpPr>
            <p:nvPr/>
          </p:nvSpPr>
          <p:spPr bwMode="auto">
            <a:xfrm>
              <a:off x="1716" y="205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8" name="Line 1038"/>
            <p:cNvSpPr>
              <a:spLocks noChangeShapeType="1"/>
            </p:cNvSpPr>
            <p:nvPr/>
          </p:nvSpPr>
          <p:spPr bwMode="auto">
            <a:xfrm>
              <a:off x="2451" y="1152"/>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79" name="Line 1039"/>
            <p:cNvSpPr>
              <a:spLocks noChangeShapeType="1"/>
            </p:cNvSpPr>
            <p:nvPr/>
          </p:nvSpPr>
          <p:spPr bwMode="auto">
            <a:xfrm>
              <a:off x="2288" y="131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0" name="Line 1040"/>
            <p:cNvSpPr>
              <a:spLocks noChangeShapeType="1"/>
            </p:cNvSpPr>
            <p:nvPr/>
          </p:nvSpPr>
          <p:spPr bwMode="auto">
            <a:xfrm flipH="1">
              <a:off x="2288" y="1317"/>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1" name="Line 1041"/>
            <p:cNvSpPr>
              <a:spLocks noChangeShapeType="1"/>
            </p:cNvSpPr>
            <p:nvPr/>
          </p:nvSpPr>
          <p:spPr bwMode="auto">
            <a:xfrm>
              <a:off x="2451" y="1317"/>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2" name="Line 1042"/>
            <p:cNvSpPr>
              <a:spLocks noChangeShapeType="1"/>
            </p:cNvSpPr>
            <p:nvPr/>
          </p:nvSpPr>
          <p:spPr bwMode="auto">
            <a:xfrm>
              <a:off x="2288" y="1481"/>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3" name="Line 1043"/>
            <p:cNvSpPr>
              <a:spLocks noChangeShapeType="1"/>
            </p:cNvSpPr>
            <p:nvPr/>
          </p:nvSpPr>
          <p:spPr bwMode="auto">
            <a:xfrm>
              <a:off x="2288" y="1893"/>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4" name="Line 1044"/>
            <p:cNvSpPr>
              <a:spLocks noChangeShapeType="1"/>
            </p:cNvSpPr>
            <p:nvPr/>
          </p:nvSpPr>
          <p:spPr bwMode="auto">
            <a:xfrm flipH="1">
              <a:off x="2288" y="1893"/>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5" name="Line 1045"/>
            <p:cNvSpPr>
              <a:spLocks noChangeShapeType="1"/>
            </p:cNvSpPr>
            <p:nvPr/>
          </p:nvSpPr>
          <p:spPr bwMode="auto">
            <a:xfrm>
              <a:off x="2451" y="1893"/>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6" name="Line 1046"/>
            <p:cNvSpPr>
              <a:spLocks noChangeShapeType="1"/>
            </p:cNvSpPr>
            <p:nvPr/>
          </p:nvSpPr>
          <p:spPr bwMode="auto">
            <a:xfrm>
              <a:off x="2288" y="2057"/>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7" name="Line 1047"/>
            <p:cNvSpPr>
              <a:spLocks noChangeShapeType="1"/>
            </p:cNvSpPr>
            <p:nvPr/>
          </p:nvSpPr>
          <p:spPr bwMode="auto">
            <a:xfrm flipH="1">
              <a:off x="1308" y="1563"/>
              <a:ext cx="57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8" name="Line 1048"/>
            <p:cNvSpPr>
              <a:spLocks noChangeShapeType="1"/>
            </p:cNvSpPr>
            <p:nvPr/>
          </p:nvSpPr>
          <p:spPr bwMode="auto">
            <a:xfrm flipH="1">
              <a:off x="1308" y="1810"/>
              <a:ext cx="114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89" name="Line 1049"/>
            <p:cNvSpPr>
              <a:spLocks noChangeShapeType="1"/>
            </p:cNvSpPr>
            <p:nvPr/>
          </p:nvSpPr>
          <p:spPr bwMode="auto">
            <a:xfrm>
              <a:off x="1880" y="1152"/>
              <a:ext cx="22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90" name="Line 1050"/>
            <p:cNvSpPr>
              <a:spLocks noChangeShapeType="1"/>
            </p:cNvSpPr>
            <p:nvPr/>
          </p:nvSpPr>
          <p:spPr bwMode="auto">
            <a:xfrm>
              <a:off x="1880" y="2304"/>
              <a:ext cx="224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91" name="Line 1051"/>
            <p:cNvSpPr>
              <a:spLocks noChangeShapeType="1"/>
            </p:cNvSpPr>
            <p:nvPr/>
          </p:nvSpPr>
          <p:spPr bwMode="auto">
            <a:xfrm flipH="1">
              <a:off x="1635" y="1399"/>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92" name="Line 1052"/>
            <p:cNvSpPr>
              <a:spLocks noChangeShapeType="1"/>
            </p:cNvSpPr>
            <p:nvPr/>
          </p:nvSpPr>
          <p:spPr bwMode="auto">
            <a:xfrm flipH="1">
              <a:off x="2207" y="1399"/>
              <a:ext cx="163"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293" name="Oval 1053"/>
            <p:cNvSpPr>
              <a:spLocks noChangeArrowheads="1"/>
            </p:cNvSpPr>
            <p:nvPr/>
          </p:nvSpPr>
          <p:spPr bwMode="auto">
            <a:xfrm>
              <a:off x="2779" y="1481"/>
              <a:ext cx="490" cy="494"/>
            </a:xfrm>
            <a:prstGeom prst="ellipse">
              <a:avLst/>
            </a:prstGeom>
            <a:solidFill>
              <a:srgbClr val="FFFFFF"/>
            </a:solidFill>
            <a:ln w="28575">
              <a:solidFill>
                <a:schemeClr val="tx1"/>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96294" name="Text Box 1054"/>
            <p:cNvSpPr txBox="1">
              <a:spLocks noChangeArrowheads="1"/>
            </p:cNvSpPr>
            <p:nvPr/>
          </p:nvSpPr>
          <p:spPr bwMode="auto">
            <a:xfrm>
              <a:off x="2861" y="1563"/>
              <a:ext cx="326" cy="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M</a:t>
              </a:r>
            </a:p>
            <a:p>
              <a:pPr eaLnBrk="1" hangingPunct="1">
                <a:spcBef>
                  <a:spcPct val="0"/>
                </a:spcBef>
                <a:buClrTx/>
                <a:buSzTx/>
                <a:buFontTx/>
                <a:buNone/>
              </a:pPr>
              <a:r>
                <a:rPr lang="fr-FR" altLang="fr-FR" sz="1600">
                  <a:latin typeface="Arial" panose="020B0604020202020204" pitchFamily="34" charset="0"/>
                </a:rPr>
                <a:t>=</a:t>
              </a:r>
            </a:p>
          </p:txBody>
        </p:sp>
        <p:sp>
          <p:nvSpPr>
            <p:cNvPr id="96295" name="Text Box 1055"/>
            <p:cNvSpPr txBox="1">
              <a:spLocks noChangeArrowheads="1"/>
            </p:cNvSpPr>
            <p:nvPr/>
          </p:nvSpPr>
          <p:spPr bwMode="auto">
            <a:xfrm>
              <a:off x="2064" y="1104"/>
              <a:ext cx="431"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Th2</a:t>
              </a:r>
            </a:p>
          </p:txBody>
        </p:sp>
        <p:sp>
          <p:nvSpPr>
            <p:cNvPr id="96296" name="Text Box 1056"/>
            <p:cNvSpPr txBox="1">
              <a:spLocks noChangeArrowheads="1"/>
            </p:cNvSpPr>
            <p:nvPr/>
          </p:nvSpPr>
          <p:spPr bwMode="auto">
            <a:xfrm>
              <a:off x="1488" y="110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Th1</a:t>
              </a:r>
            </a:p>
          </p:txBody>
        </p:sp>
        <p:sp>
          <p:nvSpPr>
            <p:cNvPr id="96297" name="Text Box 1057"/>
            <p:cNvSpPr txBox="1">
              <a:spLocks noChangeArrowheads="1"/>
            </p:cNvSpPr>
            <p:nvPr/>
          </p:nvSpPr>
          <p:spPr bwMode="auto">
            <a:xfrm>
              <a:off x="1488" y="206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Th4</a:t>
              </a:r>
            </a:p>
          </p:txBody>
        </p:sp>
        <p:sp>
          <p:nvSpPr>
            <p:cNvPr id="96298" name="Text Box 1058"/>
            <p:cNvSpPr txBox="1">
              <a:spLocks noChangeArrowheads="1"/>
            </p:cNvSpPr>
            <p:nvPr/>
          </p:nvSpPr>
          <p:spPr bwMode="auto">
            <a:xfrm>
              <a:off x="2064" y="206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Th3</a:t>
              </a:r>
            </a:p>
          </p:txBody>
        </p:sp>
        <p:sp>
          <p:nvSpPr>
            <p:cNvPr id="96299" name="Line 1059"/>
            <p:cNvSpPr>
              <a:spLocks noChangeShapeType="1"/>
            </p:cNvSpPr>
            <p:nvPr/>
          </p:nvSpPr>
          <p:spPr bwMode="auto">
            <a:xfrm flipH="1">
              <a:off x="1632" y="1968"/>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00" name="Line 1060"/>
            <p:cNvSpPr>
              <a:spLocks noChangeShapeType="1"/>
            </p:cNvSpPr>
            <p:nvPr/>
          </p:nvSpPr>
          <p:spPr bwMode="auto">
            <a:xfrm flipH="1">
              <a:off x="2208" y="1968"/>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01" name="Text Box 1061"/>
            <p:cNvSpPr txBox="1">
              <a:spLocks noChangeArrowheads="1"/>
            </p:cNvSpPr>
            <p:nvPr/>
          </p:nvSpPr>
          <p:spPr bwMode="auto">
            <a:xfrm>
              <a:off x="4176" y="1632"/>
              <a:ext cx="62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Réseau</a:t>
              </a:r>
            </a:p>
          </p:txBody>
        </p:sp>
        <p:sp>
          <p:nvSpPr>
            <p:cNvPr id="96302" name="Text Box 1062"/>
            <p:cNvSpPr txBox="1">
              <a:spLocks noChangeArrowheads="1"/>
            </p:cNvSpPr>
            <p:nvPr/>
          </p:nvSpPr>
          <p:spPr bwMode="auto">
            <a:xfrm>
              <a:off x="3792" y="1152"/>
              <a:ext cx="431"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Th2</a:t>
              </a:r>
            </a:p>
          </p:txBody>
        </p:sp>
        <p:sp>
          <p:nvSpPr>
            <p:cNvPr id="96303" name="Text Box 1063"/>
            <p:cNvSpPr txBox="1">
              <a:spLocks noChangeArrowheads="1"/>
            </p:cNvSpPr>
            <p:nvPr/>
          </p:nvSpPr>
          <p:spPr bwMode="auto">
            <a:xfrm>
              <a:off x="3216" y="1152"/>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Th1</a:t>
              </a:r>
            </a:p>
          </p:txBody>
        </p:sp>
        <p:sp>
          <p:nvSpPr>
            <p:cNvPr id="96304" name="Text Box 1064"/>
            <p:cNvSpPr txBox="1">
              <a:spLocks noChangeArrowheads="1"/>
            </p:cNvSpPr>
            <p:nvPr/>
          </p:nvSpPr>
          <p:spPr bwMode="auto">
            <a:xfrm>
              <a:off x="3168" y="206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Th4</a:t>
              </a:r>
            </a:p>
          </p:txBody>
        </p:sp>
        <p:sp>
          <p:nvSpPr>
            <p:cNvPr id="96305" name="Text Box 1065"/>
            <p:cNvSpPr txBox="1">
              <a:spLocks noChangeArrowheads="1"/>
            </p:cNvSpPr>
            <p:nvPr/>
          </p:nvSpPr>
          <p:spPr bwMode="auto">
            <a:xfrm>
              <a:off x="3696" y="2064"/>
              <a:ext cx="408"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Th3</a:t>
              </a:r>
            </a:p>
          </p:txBody>
        </p:sp>
        <p:sp>
          <p:nvSpPr>
            <p:cNvPr id="96306" name="Line 1066"/>
            <p:cNvSpPr>
              <a:spLocks noChangeShapeType="1"/>
            </p:cNvSpPr>
            <p:nvPr/>
          </p:nvSpPr>
          <p:spPr bwMode="auto">
            <a:xfrm rot="10800000" flipH="1">
              <a:off x="4128" y="1152"/>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07" name="Line 1067"/>
            <p:cNvSpPr>
              <a:spLocks noChangeShapeType="1"/>
            </p:cNvSpPr>
            <p:nvPr/>
          </p:nvSpPr>
          <p:spPr bwMode="auto">
            <a:xfrm rot="10800000">
              <a:off x="3979" y="2138"/>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08" name="Line 1068"/>
            <p:cNvSpPr>
              <a:spLocks noChangeShapeType="1"/>
            </p:cNvSpPr>
            <p:nvPr/>
          </p:nvSpPr>
          <p:spPr bwMode="auto">
            <a:xfrm rot="10800000" flipH="1">
              <a:off x="4143" y="1974"/>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09" name="Line 1069"/>
            <p:cNvSpPr>
              <a:spLocks noChangeShapeType="1"/>
            </p:cNvSpPr>
            <p:nvPr/>
          </p:nvSpPr>
          <p:spPr bwMode="auto">
            <a:xfrm rot="10800000">
              <a:off x="3979" y="1974"/>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0" name="Line 1070"/>
            <p:cNvSpPr>
              <a:spLocks noChangeShapeType="1"/>
            </p:cNvSpPr>
            <p:nvPr/>
          </p:nvSpPr>
          <p:spPr bwMode="auto">
            <a:xfrm rot="10800000">
              <a:off x="3979" y="1974"/>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1" name="Line 1071"/>
            <p:cNvSpPr>
              <a:spLocks noChangeShapeType="1"/>
            </p:cNvSpPr>
            <p:nvPr/>
          </p:nvSpPr>
          <p:spPr bwMode="auto">
            <a:xfrm rot="10800000">
              <a:off x="3979" y="1562"/>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2" name="Line 1072"/>
            <p:cNvSpPr>
              <a:spLocks noChangeShapeType="1"/>
            </p:cNvSpPr>
            <p:nvPr/>
          </p:nvSpPr>
          <p:spPr bwMode="auto">
            <a:xfrm rot="10800000" flipH="1">
              <a:off x="4143" y="1398"/>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3" name="Line 1073"/>
            <p:cNvSpPr>
              <a:spLocks noChangeShapeType="1"/>
            </p:cNvSpPr>
            <p:nvPr/>
          </p:nvSpPr>
          <p:spPr bwMode="auto">
            <a:xfrm rot="10800000">
              <a:off x="3979" y="1398"/>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4" name="Line 1074"/>
            <p:cNvSpPr>
              <a:spLocks noChangeShapeType="1"/>
            </p:cNvSpPr>
            <p:nvPr/>
          </p:nvSpPr>
          <p:spPr bwMode="auto">
            <a:xfrm rot="10800000">
              <a:off x="3979" y="1398"/>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5" name="Line 1075"/>
            <p:cNvSpPr>
              <a:spLocks noChangeShapeType="1"/>
            </p:cNvSpPr>
            <p:nvPr/>
          </p:nvSpPr>
          <p:spPr bwMode="auto">
            <a:xfrm rot="10800000">
              <a:off x="3572" y="1151"/>
              <a:ext cx="0" cy="1152"/>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6" name="Line 1076"/>
            <p:cNvSpPr>
              <a:spLocks noChangeShapeType="1"/>
            </p:cNvSpPr>
            <p:nvPr/>
          </p:nvSpPr>
          <p:spPr bwMode="auto">
            <a:xfrm rot="10800000">
              <a:off x="3407" y="2138"/>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7" name="Line 1077"/>
            <p:cNvSpPr>
              <a:spLocks noChangeShapeType="1"/>
            </p:cNvSpPr>
            <p:nvPr/>
          </p:nvSpPr>
          <p:spPr bwMode="auto">
            <a:xfrm rot="10800000" flipH="1">
              <a:off x="3571" y="1974"/>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8" name="Line 1078"/>
            <p:cNvSpPr>
              <a:spLocks noChangeShapeType="1"/>
            </p:cNvSpPr>
            <p:nvPr/>
          </p:nvSpPr>
          <p:spPr bwMode="auto">
            <a:xfrm rot="10800000">
              <a:off x="3408" y="1974"/>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19" name="Line 1079"/>
            <p:cNvSpPr>
              <a:spLocks noChangeShapeType="1"/>
            </p:cNvSpPr>
            <p:nvPr/>
          </p:nvSpPr>
          <p:spPr bwMode="auto">
            <a:xfrm rot="10800000">
              <a:off x="3407" y="1974"/>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0" name="Line 1080"/>
            <p:cNvSpPr>
              <a:spLocks noChangeShapeType="1"/>
            </p:cNvSpPr>
            <p:nvPr/>
          </p:nvSpPr>
          <p:spPr bwMode="auto">
            <a:xfrm rot="10800000">
              <a:off x="3407" y="1562"/>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1" name="Line 1081"/>
            <p:cNvSpPr>
              <a:spLocks noChangeShapeType="1"/>
            </p:cNvSpPr>
            <p:nvPr/>
          </p:nvSpPr>
          <p:spPr bwMode="auto">
            <a:xfrm rot="10800000" flipH="1">
              <a:off x="3571" y="1398"/>
              <a:ext cx="163"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2" name="Line 1082"/>
            <p:cNvSpPr>
              <a:spLocks noChangeShapeType="1"/>
            </p:cNvSpPr>
            <p:nvPr/>
          </p:nvSpPr>
          <p:spPr bwMode="auto">
            <a:xfrm rot="10800000">
              <a:off x="3408" y="1398"/>
              <a:ext cx="164" cy="16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3" name="Line 1083"/>
            <p:cNvSpPr>
              <a:spLocks noChangeShapeType="1"/>
            </p:cNvSpPr>
            <p:nvPr/>
          </p:nvSpPr>
          <p:spPr bwMode="auto">
            <a:xfrm rot="10800000">
              <a:off x="3407" y="1398"/>
              <a:ext cx="327"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4" name="Line 1084"/>
            <p:cNvSpPr>
              <a:spLocks noChangeShapeType="1"/>
            </p:cNvSpPr>
            <p:nvPr/>
          </p:nvSpPr>
          <p:spPr bwMode="auto">
            <a:xfrm rot="10800000" flipH="1">
              <a:off x="4143" y="1892"/>
              <a:ext cx="57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5" name="Line 1085"/>
            <p:cNvSpPr>
              <a:spLocks noChangeShapeType="1"/>
            </p:cNvSpPr>
            <p:nvPr/>
          </p:nvSpPr>
          <p:spPr bwMode="auto">
            <a:xfrm rot="10800000" flipH="1">
              <a:off x="3571" y="1645"/>
              <a:ext cx="114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6" name="Line 1086"/>
            <p:cNvSpPr>
              <a:spLocks noChangeShapeType="1"/>
            </p:cNvSpPr>
            <p:nvPr/>
          </p:nvSpPr>
          <p:spPr bwMode="auto">
            <a:xfrm rot="10800000" flipH="1">
              <a:off x="4224" y="2056"/>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7" name="Line 1087"/>
            <p:cNvSpPr>
              <a:spLocks noChangeShapeType="1"/>
            </p:cNvSpPr>
            <p:nvPr/>
          </p:nvSpPr>
          <p:spPr bwMode="auto">
            <a:xfrm rot="10800000" flipH="1">
              <a:off x="3652" y="2056"/>
              <a:ext cx="163"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8" name="Line 1088"/>
            <p:cNvSpPr>
              <a:spLocks noChangeShapeType="1"/>
            </p:cNvSpPr>
            <p:nvPr/>
          </p:nvSpPr>
          <p:spPr bwMode="auto">
            <a:xfrm rot="10800000" flipH="1">
              <a:off x="4227" y="1487"/>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96329" name="Line 1089"/>
            <p:cNvSpPr>
              <a:spLocks noChangeShapeType="1"/>
            </p:cNvSpPr>
            <p:nvPr/>
          </p:nvSpPr>
          <p:spPr bwMode="auto">
            <a:xfrm rot="10800000" flipH="1">
              <a:off x="3651" y="1487"/>
              <a:ext cx="164"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72770" name="Text Box 1090"/>
          <p:cNvSpPr txBox="1">
            <a:spLocks noChangeArrowheads="1"/>
          </p:cNvSpPr>
          <p:nvPr/>
        </p:nvSpPr>
        <p:spPr bwMode="auto">
          <a:xfrm>
            <a:off x="3381375" y="4262438"/>
            <a:ext cx="5024438"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 typeface="Symbol" panose="05050102010706020507" pitchFamily="18" charset="2"/>
              <a:buChar char="®"/>
            </a:pPr>
            <a:r>
              <a:rPr lang="fr-FR" altLang="fr-FR" sz="1800" dirty="0">
                <a:latin typeface="Arial" panose="020B0604020202020204" pitchFamily="34" charset="0"/>
              </a:rPr>
              <a:t> </a:t>
            </a:r>
            <a:r>
              <a:rPr lang="fr-FR" altLang="fr-FR" sz="1800" dirty="0" smtClean="0">
                <a:latin typeface="Arial" panose="020B0604020202020204" pitchFamily="34" charset="0"/>
              </a:rPr>
              <a:t>Les </a:t>
            </a:r>
            <a:r>
              <a:rPr lang="fr-FR" altLang="fr-FR" sz="1800" dirty="0">
                <a:latin typeface="Arial" panose="020B0604020202020204" pitchFamily="34" charset="0"/>
              </a:rPr>
              <a:t>I.S. sont unidirectionnels en courant </a:t>
            </a:r>
          </a:p>
          <a:p>
            <a:pPr eaLnBrk="1" hangingPunct="1">
              <a:spcBef>
                <a:spcPct val="0"/>
              </a:spcBef>
              <a:buClrTx/>
              <a:buSzTx/>
              <a:buFont typeface="Symbol" panose="05050102010706020507" pitchFamily="18" charset="2"/>
              <a:buChar char="®"/>
            </a:pPr>
            <a:r>
              <a:rPr lang="fr-FR" altLang="fr-FR" sz="1800" dirty="0">
                <a:latin typeface="Arial" panose="020B0604020202020204" pitchFamily="34" charset="0"/>
              </a:rPr>
              <a:t> 2  sens de rotation.</a:t>
            </a:r>
          </a:p>
          <a:p>
            <a:pPr eaLnBrk="1" hangingPunct="1">
              <a:spcBef>
                <a:spcPct val="0"/>
              </a:spcBef>
              <a:buClrTx/>
              <a:buSzTx/>
              <a:buFont typeface="Symbol" panose="05050102010706020507" pitchFamily="18" charset="2"/>
              <a:buChar char="®"/>
            </a:pPr>
            <a:r>
              <a:rPr lang="fr-FR" altLang="fr-FR" sz="1800" dirty="0">
                <a:latin typeface="Arial" panose="020B0604020202020204" pitchFamily="34" charset="0"/>
              </a:rPr>
              <a:t> </a:t>
            </a:r>
            <a:r>
              <a:rPr lang="fr-FR" altLang="fr-FR" sz="1800" dirty="0">
                <a:solidFill>
                  <a:schemeClr val="accent1"/>
                </a:solidFill>
                <a:latin typeface="Arial" panose="020B0604020202020204" pitchFamily="34" charset="0"/>
              </a:rPr>
              <a:t>4 quadrants de fonctionnement.</a:t>
            </a:r>
            <a:endParaRPr lang="fr-FR" altLang="fr-FR" sz="1800" dirty="0">
              <a:latin typeface="Arial" panose="020B0604020202020204" pitchFamily="34" charset="0"/>
            </a:endParaRPr>
          </a:p>
          <a:p>
            <a:pPr eaLnBrk="1" hangingPunct="1">
              <a:spcBef>
                <a:spcPct val="0"/>
              </a:spcBef>
              <a:buClrTx/>
              <a:buSzTx/>
              <a:buFont typeface="Symbol" panose="05050102010706020507" pitchFamily="18" charset="2"/>
              <a:buChar char="®"/>
            </a:pPr>
            <a:r>
              <a:rPr lang="fr-FR" altLang="fr-FR" sz="1800" dirty="0">
                <a:latin typeface="Arial" panose="020B0604020202020204" pitchFamily="34" charset="0"/>
              </a:rPr>
              <a:t> Freinage statique et dynamique (quadrant N°2 et 4). </a:t>
            </a:r>
          </a:p>
        </p:txBody>
      </p:sp>
      <p:sp>
        <p:nvSpPr>
          <p:cNvPr id="96262" name="Text Box 1095"/>
          <p:cNvSpPr txBox="1">
            <a:spLocks noChangeArrowheads="1"/>
          </p:cNvSpPr>
          <p:nvPr/>
        </p:nvSpPr>
        <p:spPr bwMode="auto">
          <a:xfrm>
            <a:off x="3302000" y="1071563"/>
            <a:ext cx="17970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2</a:t>
            </a:r>
            <a:r>
              <a:rPr lang="fr-FR" altLang="fr-FR" sz="1800" b="1" baseline="30000">
                <a:latin typeface="Arial" panose="020B0604020202020204" pitchFamily="34" charset="0"/>
              </a:rPr>
              <a:t>ème</a:t>
            </a:r>
            <a:r>
              <a:rPr lang="fr-FR" altLang="fr-FR" sz="1800" b="1">
                <a:latin typeface="Arial" panose="020B0604020202020204" pitchFamily="34" charset="0"/>
              </a:rPr>
              <a:t> solution</a:t>
            </a:r>
          </a:p>
        </p:txBody>
      </p:sp>
      <p:sp>
        <p:nvSpPr>
          <p:cNvPr id="74" name="Rectangle 1"/>
          <p:cNvSpPr>
            <a:spLocks noChangeArrowheads="1"/>
          </p:cNvSpPr>
          <p:nvPr/>
        </p:nvSpPr>
        <p:spPr bwMode="auto">
          <a:xfrm>
            <a:off x="615950" y="539750"/>
            <a:ext cx="9144000" cy="400050"/>
          </a:xfrm>
          <a:prstGeom prst="rect">
            <a:avLst/>
          </a:prstGeom>
          <a:noFill/>
          <a:ln w="9525">
            <a:noFill/>
            <a:miter lim="800000"/>
            <a:headEnd/>
            <a:tailEnd/>
          </a:ln>
        </p:spPr>
        <p:txBody>
          <a:bodyPr anchor="ctr">
            <a:spAutoFit/>
          </a:bodyPr>
          <a:lstStyle/>
          <a:p>
            <a:pPr eaLnBrk="1" hangingPunct="1">
              <a:defRPr/>
            </a:pPr>
            <a:r>
              <a:rPr lang="fr-FR" sz="2000" b="1" cap="small" dirty="0">
                <a:cs typeface="Times New Roman" pitchFamily="18" charset="0"/>
              </a:rPr>
              <a:t>Variateurs réversibles ou bidirectionnels</a:t>
            </a:r>
          </a:p>
        </p:txBody>
      </p:sp>
      <p:pic>
        <p:nvPicPr>
          <p:cNvPr id="76" name="Picture 9" descr="C:\Documents and Settings\Monsieur\Mes documents\Mes images\DCP_2487.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463" y="3767138"/>
            <a:ext cx="2765425" cy="183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5"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3"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checkerboard(across)">
                                      <p:cBhvr>
                                        <p:cTn id="7" dur="500"/>
                                        <p:tgtEl>
                                          <p:spTgt spid="74"/>
                                        </p:tgtEl>
                                      </p:cBhvr>
                                    </p:animEffect>
                                  </p:childTnLst>
                                </p:cTn>
                              </p:par>
                            </p:childTnLst>
                          </p:cTn>
                        </p:par>
                        <p:par>
                          <p:cTn id="8" fill="hold" nodeType="afterGroup">
                            <p:stCondLst>
                              <p:cond delay="500"/>
                            </p:stCondLst>
                            <p:childTnLst>
                              <p:par>
                                <p:cTn id="9" presetID="2" presetClass="entr" presetSubtype="8"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0-#ppt_w/2"/>
                                          </p:val>
                                        </p:tav>
                                        <p:tav tm="100000">
                                          <p:val>
                                            <p:strVal val="#ppt_x"/>
                                          </p:val>
                                        </p:tav>
                                      </p:tavLst>
                                    </p:anim>
                                    <p:anim calcmode="lin" valueType="num">
                                      <p:cBhvr additive="base">
                                        <p:cTn id="12"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7" presetClass="entr" presetSubtype="10" fill="hold" grpId="0" nodeType="clickEffect">
                                  <p:stCondLst>
                                    <p:cond delay="0"/>
                                  </p:stCondLst>
                                  <p:childTnLst>
                                    <p:set>
                                      <p:cBhvr>
                                        <p:cTn id="16" dur="1" fill="hold">
                                          <p:stCondLst>
                                            <p:cond delay="0"/>
                                          </p:stCondLst>
                                        </p:cTn>
                                        <p:tgtEl>
                                          <p:spTgt spid="72770"/>
                                        </p:tgtEl>
                                        <p:attrNameLst>
                                          <p:attrName>style.visibility</p:attrName>
                                        </p:attrNameLst>
                                      </p:cBhvr>
                                      <p:to>
                                        <p:strVal val="visible"/>
                                      </p:to>
                                    </p:set>
                                    <p:anim calcmode="lin" valueType="num">
                                      <p:cBhvr>
                                        <p:cTn id="17" dur="500" fill="hold"/>
                                        <p:tgtEl>
                                          <p:spTgt spid="72770"/>
                                        </p:tgtEl>
                                        <p:attrNameLst>
                                          <p:attrName>ppt_w</p:attrName>
                                        </p:attrNameLst>
                                      </p:cBhvr>
                                      <p:tavLst>
                                        <p:tav tm="0">
                                          <p:val>
                                            <p:fltVal val="0"/>
                                          </p:val>
                                        </p:tav>
                                        <p:tav tm="100000">
                                          <p:val>
                                            <p:strVal val="#ppt_w"/>
                                          </p:val>
                                        </p:tav>
                                      </p:tavLst>
                                    </p:anim>
                                    <p:anim calcmode="lin" valueType="num">
                                      <p:cBhvr>
                                        <p:cTn id="18" dur="500" fill="hold"/>
                                        <p:tgtEl>
                                          <p:spTgt spid="72770"/>
                                        </p:tgtEl>
                                        <p:attrNameLst>
                                          <p:attrName>ppt_h</p:attrName>
                                        </p:attrNameLst>
                                      </p:cBhvr>
                                      <p:tavLst>
                                        <p:tav tm="0">
                                          <p:val>
                                            <p:strVal val="#ppt_h"/>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76"/>
                                        </p:tgtEl>
                                        <p:attrNameLst>
                                          <p:attrName>style.visibility</p:attrName>
                                        </p:attrNameLst>
                                      </p:cBhvr>
                                      <p:to>
                                        <p:strVal val="visible"/>
                                      </p:to>
                                    </p:set>
                                    <p:animEffect transition="in" filter="checkerboard(across)">
                                      <p:cBhvr>
                                        <p:cTn id="23"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70" grpId="0"/>
      <p:bldP spid="74"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6" name="Espace réservé du pied de page 5"/>
          <p:cNvSpPr>
            <a:spLocks noGrp="1"/>
          </p:cNvSpPr>
          <p:nvPr>
            <p:ph type="ftr" sz="quarter" idx="11"/>
          </p:nvPr>
        </p:nvSpPr>
        <p:spPr/>
        <p:txBody>
          <a:bodyPr/>
          <a:lstStyle/>
          <a:p>
            <a:pPr>
              <a:defRPr/>
            </a:pPr>
            <a:r>
              <a:rPr lang="fr-FR"/>
              <a:t>Commande des machines   3.MCC     Ali NEJMI</a:t>
            </a:r>
          </a:p>
        </p:txBody>
      </p:sp>
      <p:sp>
        <p:nvSpPr>
          <p:cNvPr id="98307"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F4CE874-3421-4805-956E-F0BD143E78AB}" type="slidenum">
              <a:rPr lang="fr-FR" altLang="fr-FR" sz="1000" smtClean="0">
                <a:solidFill>
                  <a:srgbClr val="292929"/>
                </a:solidFill>
                <a:latin typeface="Arial" panose="020B0604020202020204" pitchFamily="34" charset="0"/>
              </a:rPr>
              <a:pPr>
                <a:spcBef>
                  <a:spcPct val="0"/>
                </a:spcBef>
                <a:buClrTx/>
                <a:buSzTx/>
                <a:buFontTx/>
                <a:buNone/>
              </a:pPr>
              <a:t>53</a:t>
            </a:fld>
            <a:endParaRPr lang="fr-FR" altLang="fr-FR" sz="1000" smtClean="0">
              <a:solidFill>
                <a:srgbClr val="292929"/>
              </a:solidFill>
              <a:latin typeface="Arial" panose="020B0604020202020204" pitchFamily="34" charset="0"/>
            </a:endParaRPr>
          </a:p>
        </p:txBody>
      </p:sp>
      <p:sp>
        <p:nvSpPr>
          <p:cNvPr id="98308" name="Text Box 2"/>
          <p:cNvSpPr txBox="1">
            <a:spLocks noChangeArrowheads="1"/>
          </p:cNvSpPr>
          <p:nvPr/>
        </p:nvSpPr>
        <p:spPr bwMode="auto">
          <a:xfrm>
            <a:off x="952500" y="3268663"/>
            <a:ext cx="7483475"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Industriellement le pont complet n’est utilisé que dans le cas où la récupération d’énergie est possible (levage, traction,….).</a:t>
            </a:r>
          </a:p>
          <a:p>
            <a:pPr eaLnBrk="1" hangingPunct="1">
              <a:spcBef>
                <a:spcPct val="0"/>
              </a:spcBef>
              <a:buClrTx/>
              <a:buSzTx/>
              <a:buFontTx/>
              <a:buNone/>
            </a:pPr>
            <a:endParaRPr lang="fr-FR" altLang="fr-FR" sz="1800">
              <a:latin typeface="Arial" panose="020B0604020202020204" pitchFamily="34" charset="0"/>
            </a:endParaRPr>
          </a:p>
          <a:p>
            <a:pPr eaLnBrk="1" hangingPunct="1">
              <a:spcBef>
                <a:spcPct val="0"/>
              </a:spcBef>
              <a:buClrTx/>
              <a:buSzTx/>
              <a:buFontTx/>
              <a:buNone/>
            </a:pPr>
            <a:r>
              <a:rPr lang="fr-FR" altLang="fr-FR" sz="1800">
                <a:latin typeface="Arial" panose="020B0604020202020204" pitchFamily="34" charset="0"/>
              </a:rPr>
              <a:t>De plus le facteur de puissance d’un pont mixte est supérieur à celui d’un pont complet.</a:t>
            </a:r>
          </a:p>
          <a:p>
            <a:pPr eaLnBrk="1" hangingPunct="1">
              <a:spcBef>
                <a:spcPct val="0"/>
              </a:spcBef>
              <a:buClrTx/>
              <a:buSzTx/>
              <a:buFontTx/>
              <a:buNone/>
            </a:pPr>
            <a:r>
              <a:rPr lang="fr-FR" altLang="fr-FR" sz="1800">
                <a:latin typeface="Arial" panose="020B0604020202020204" pitchFamily="34" charset="0"/>
              </a:rPr>
              <a:t>Le dimensionnement des constituants sera mieux optimisé.</a:t>
            </a:r>
          </a:p>
        </p:txBody>
      </p:sp>
      <p:sp>
        <p:nvSpPr>
          <p:cNvPr id="98309" name="Rectangle 7"/>
          <p:cNvSpPr>
            <a:spLocks noChangeArrowheads="1"/>
          </p:cNvSpPr>
          <p:nvPr/>
        </p:nvSpPr>
        <p:spPr bwMode="auto">
          <a:xfrm>
            <a:off x="561975" y="1058863"/>
            <a:ext cx="80518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a:spcBef>
                <a:spcPct val="0"/>
              </a:spcBef>
              <a:buClrTx/>
              <a:buSzTx/>
              <a:buFontTx/>
              <a:buNone/>
            </a:pPr>
            <a:endParaRPr lang="fr-FR" altLang="fr-FR" sz="1800">
              <a:solidFill>
                <a:srgbClr val="000000"/>
              </a:solidFill>
              <a:latin typeface="Arial" panose="020B0604020202020204" pitchFamily="34" charset="0"/>
              <a:cs typeface="Times New Roman" panose="02020603050405020304" pitchFamily="18" charset="0"/>
            </a:endParaRPr>
          </a:p>
          <a:p>
            <a:pPr algn="just">
              <a:spcBef>
                <a:spcPct val="0"/>
              </a:spcBef>
              <a:buClrTx/>
              <a:buSzTx/>
              <a:buFontTx/>
              <a:buNone/>
            </a:pPr>
            <a:r>
              <a:rPr lang="fr-FR" altLang="fr-FR" sz="1800">
                <a:solidFill>
                  <a:srgbClr val="000000"/>
                </a:solidFill>
                <a:latin typeface="Arial" panose="020B0604020202020204" pitchFamily="34" charset="0"/>
                <a:cs typeface="Times New Roman" panose="02020603050405020304" pitchFamily="18" charset="0"/>
              </a:rPr>
              <a:t>Ces variateurs autorisent le transfert de l’énergie dans les deux sens  réseau </a:t>
            </a:r>
            <a:r>
              <a:rPr lang="fr-FR" altLang="fr-FR" sz="1800">
                <a:solidFill>
                  <a:srgbClr val="000000"/>
                </a:solidFill>
                <a:latin typeface="Calibri" panose="020F0502020204030204" pitchFamily="34" charset="0"/>
                <a:cs typeface="Times New Roman" panose="02020603050405020304" pitchFamily="18" charset="0"/>
              </a:rPr>
              <a:t>↔</a:t>
            </a:r>
            <a:r>
              <a:rPr lang="fr-FR" altLang="fr-FR" sz="1800">
                <a:solidFill>
                  <a:srgbClr val="000000"/>
                </a:solidFill>
                <a:latin typeface="Arial" panose="020B0604020202020204" pitchFamily="34" charset="0"/>
                <a:cs typeface="Times New Roman" panose="02020603050405020304" pitchFamily="18" charset="0"/>
              </a:rPr>
              <a:t> machine</a:t>
            </a:r>
            <a:endParaRPr lang="fr-FR" altLang="fr-FR" sz="1400">
              <a:latin typeface="Arial" panose="020B0604020202020204" pitchFamily="34" charset="0"/>
              <a:cs typeface="Times New Roman" panose="02020603050405020304" pitchFamily="18" charset="0"/>
            </a:endParaRPr>
          </a:p>
          <a:p>
            <a:pPr algn="just">
              <a:spcBef>
                <a:spcPct val="0"/>
              </a:spcBef>
              <a:buClrTx/>
              <a:buSzTx/>
              <a:buFontTx/>
              <a:buNone/>
            </a:pPr>
            <a:endParaRPr lang="fr-FR" altLang="fr-FR" sz="1800">
              <a:solidFill>
                <a:srgbClr val="000000"/>
              </a:solidFill>
              <a:latin typeface="Arial" panose="020B0604020202020204" pitchFamily="34" charset="0"/>
              <a:cs typeface="Times New Roman" panose="02020603050405020304" pitchFamily="18" charset="0"/>
            </a:endParaRPr>
          </a:p>
          <a:p>
            <a:pPr algn="just">
              <a:spcBef>
                <a:spcPct val="0"/>
              </a:spcBef>
              <a:buClrTx/>
              <a:buSzTx/>
              <a:buFontTx/>
              <a:buNone/>
            </a:pPr>
            <a:r>
              <a:rPr lang="fr-FR" altLang="fr-FR" sz="1800">
                <a:solidFill>
                  <a:srgbClr val="000000"/>
                </a:solidFill>
                <a:latin typeface="Arial" panose="020B0604020202020204" pitchFamily="34" charset="0"/>
                <a:cs typeface="Times New Roman" panose="02020603050405020304" pitchFamily="18" charset="0"/>
              </a:rPr>
              <a:t>Les variateurs sont utilisés avec des charges entraînantes ( cas du levage ), dans ce cas le freinage est réalisé par renvoi de l’énergie sur le réseau.</a:t>
            </a:r>
            <a:endParaRPr lang="fr-FR" altLang="fr-FR" sz="1800">
              <a:latin typeface="Arial" panose="020B0604020202020204" pitchFamily="34" charset="0"/>
              <a:cs typeface="Times New Roman" panose="02020603050405020304" pitchFamily="18" charset="0"/>
            </a:endParaRPr>
          </a:p>
        </p:txBody>
      </p:sp>
      <p:sp>
        <p:nvSpPr>
          <p:cNvPr id="98310"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7" name="Rectangle 1"/>
          <p:cNvSpPr>
            <a:spLocks noChangeArrowheads="1"/>
          </p:cNvSpPr>
          <p:nvPr/>
        </p:nvSpPr>
        <p:spPr bwMode="auto">
          <a:xfrm>
            <a:off x="342900" y="717550"/>
            <a:ext cx="9144000" cy="400050"/>
          </a:xfrm>
          <a:prstGeom prst="rect">
            <a:avLst/>
          </a:prstGeom>
          <a:noFill/>
          <a:ln w="9525">
            <a:noFill/>
            <a:miter lim="800000"/>
            <a:headEnd/>
            <a:tailEnd/>
          </a:ln>
        </p:spPr>
        <p:txBody>
          <a:bodyPr anchor="ctr">
            <a:spAutoFit/>
          </a:bodyPr>
          <a:lstStyle/>
          <a:p>
            <a:pPr eaLnBrk="1" hangingPunct="1">
              <a:defRPr/>
            </a:pPr>
            <a:r>
              <a:rPr lang="fr-FR" sz="2000" b="1" cap="small" dirty="0">
                <a:cs typeface="Times New Roman" pitchFamily="18" charset="0"/>
              </a:rPr>
              <a:t>Variateurs réversibles ou bidirectionnels</a:t>
            </a:r>
          </a:p>
        </p:txBody>
      </p:sp>
      <p:sp>
        <p:nvSpPr>
          <p:cNvPr id="8"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100354"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nvGrpSpPr>
          <p:cNvPr id="2" name="Groupe 122"/>
          <p:cNvGrpSpPr>
            <a:grpSpLocks/>
          </p:cNvGrpSpPr>
          <p:nvPr/>
        </p:nvGrpSpPr>
        <p:grpSpPr bwMode="auto">
          <a:xfrm>
            <a:off x="2714625" y="3143250"/>
            <a:ext cx="2484438" cy="2616200"/>
            <a:chOff x="2715470" y="3929793"/>
            <a:chExt cx="2484452" cy="2616608"/>
          </a:xfrm>
        </p:grpSpPr>
        <p:cxnSp>
          <p:nvCxnSpPr>
            <p:cNvPr id="100435" name="AutoShape 14"/>
            <p:cNvCxnSpPr>
              <a:cxnSpLocks noChangeShapeType="1"/>
            </p:cNvCxnSpPr>
            <p:nvPr/>
          </p:nvCxnSpPr>
          <p:spPr bwMode="auto">
            <a:xfrm>
              <a:off x="3497357" y="5761419"/>
              <a:ext cx="1569587" cy="0"/>
            </a:xfrm>
            <a:prstGeom prst="straightConnector1">
              <a:avLst/>
            </a:prstGeom>
            <a:noFill/>
            <a:ln w="2540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0436" name="AutoShape 16"/>
            <p:cNvCxnSpPr>
              <a:cxnSpLocks noChangeShapeType="1"/>
            </p:cNvCxnSpPr>
            <p:nvPr/>
          </p:nvCxnSpPr>
          <p:spPr bwMode="auto">
            <a:xfrm>
              <a:off x="3104960" y="5368927"/>
              <a:ext cx="1569587" cy="0"/>
            </a:xfrm>
            <a:prstGeom prst="straightConnector1">
              <a:avLst/>
            </a:prstGeom>
            <a:noFill/>
            <a:ln w="2540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0437" name="AutoShape 17"/>
            <p:cNvCxnSpPr>
              <a:cxnSpLocks noChangeShapeType="1"/>
            </p:cNvCxnSpPr>
            <p:nvPr/>
          </p:nvCxnSpPr>
          <p:spPr bwMode="auto">
            <a:xfrm>
              <a:off x="2715470" y="4976436"/>
              <a:ext cx="1569587" cy="0"/>
            </a:xfrm>
            <a:prstGeom prst="straightConnector1">
              <a:avLst/>
            </a:prstGeom>
            <a:noFill/>
            <a:ln w="2540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0438" name="AutoShape 55"/>
            <p:cNvCxnSpPr>
              <a:cxnSpLocks noChangeShapeType="1"/>
            </p:cNvCxnSpPr>
            <p:nvPr/>
          </p:nvCxnSpPr>
          <p:spPr bwMode="auto">
            <a:xfrm rot="10800000">
              <a:off x="5069850" y="3929793"/>
              <a:ext cx="0" cy="2616608"/>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39" name="AutoShape 56"/>
            <p:cNvCxnSpPr>
              <a:cxnSpLocks noChangeShapeType="1"/>
            </p:cNvCxnSpPr>
            <p:nvPr/>
          </p:nvCxnSpPr>
          <p:spPr bwMode="auto">
            <a:xfrm rot="10800000">
              <a:off x="4677453" y="3929793"/>
              <a:ext cx="0" cy="2616608"/>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40" name="AutoShape 57"/>
            <p:cNvCxnSpPr>
              <a:cxnSpLocks noChangeShapeType="1"/>
            </p:cNvCxnSpPr>
            <p:nvPr/>
          </p:nvCxnSpPr>
          <p:spPr bwMode="auto">
            <a:xfrm rot="10800000">
              <a:off x="4285057" y="3929793"/>
              <a:ext cx="0" cy="2616608"/>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0441" name="Groupe 121"/>
            <p:cNvGrpSpPr>
              <a:grpSpLocks/>
            </p:cNvGrpSpPr>
            <p:nvPr/>
          </p:nvGrpSpPr>
          <p:grpSpPr bwMode="auto">
            <a:xfrm>
              <a:off x="4089585" y="4191454"/>
              <a:ext cx="1110337" cy="2098374"/>
              <a:chOff x="4089585" y="4191454"/>
              <a:chExt cx="1110337" cy="2098374"/>
            </a:xfrm>
          </p:grpSpPr>
          <p:grpSp>
            <p:nvGrpSpPr>
              <p:cNvPr id="100442" name="Group 58"/>
              <p:cNvGrpSpPr>
                <a:grpSpLocks/>
              </p:cNvGrpSpPr>
              <p:nvPr/>
            </p:nvGrpSpPr>
            <p:grpSpPr bwMode="auto">
              <a:xfrm rot="10800000">
                <a:off x="4089585" y="4191454"/>
                <a:ext cx="324817" cy="261661"/>
                <a:chOff x="3757" y="4297"/>
                <a:chExt cx="447" cy="360"/>
              </a:xfrm>
            </p:grpSpPr>
            <p:cxnSp>
              <p:nvCxnSpPr>
                <p:cNvPr id="100473" name="AutoShape 59"/>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74" name="AutoShape 60"/>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75" name="AutoShape 61"/>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76" name="AutoShape 62"/>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77" name="AutoShape 63"/>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443" name="Group 64"/>
              <p:cNvGrpSpPr>
                <a:grpSpLocks/>
              </p:cNvGrpSpPr>
              <p:nvPr/>
            </p:nvGrpSpPr>
            <p:grpSpPr bwMode="auto">
              <a:xfrm rot="10800000">
                <a:off x="4481982" y="4191454"/>
                <a:ext cx="324817" cy="261661"/>
                <a:chOff x="3757" y="4297"/>
                <a:chExt cx="447" cy="360"/>
              </a:xfrm>
            </p:grpSpPr>
            <p:cxnSp>
              <p:nvCxnSpPr>
                <p:cNvPr id="100468" name="AutoShape 65"/>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69" name="AutoShape 66"/>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70" name="AutoShape 67"/>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71" name="AutoShape 68"/>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72" name="AutoShape 69"/>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444" name="Group 70"/>
              <p:cNvGrpSpPr>
                <a:grpSpLocks/>
              </p:cNvGrpSpPr>
              <p:nvPr/>
            </p:nvGrpSpPr>
            <p:grpSpPr bwMode="auto">
              <a:xfrm rot="10800000">
                <a:off x="4874379" y="4191454"/>
                <a:ext cx="324817" cy="261661"/>
                <a:chOff x="3757" y="4297"/>
                <a:chExt cx="447" cy="360"/>
              </a:xfrm>
            </p:grpSpPr>
            <p:cxnSp>
              <p:nvCxnSpPr>
                <p:cNvPr id="100463" name="AutoShape 71"/>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64" name="AutoShape 72"/>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65" name="AutoShape 73"/>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66" name="AutoShape 74"/>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67" name="AutoShape 75"/>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445" name="Group 76"/>
              <p:cNvGrpSpPr>
                <a:grpSpLocks/>
              </p:cNvGrpSpPr>
              <p:nvPr/>
            </p:nvGrpSpPr>
            <p:grpSpPr bwMode="auto">
              <a:xfrm rot="10800000">
                <a:off x="4875105" y="6023079"/>
                <a:ext cx="324817" cy="261661"/>
                <a:chOff x="3757" y="4297"/>
                <a:chExt cx="447" cy="360"/>
              </a:xfrm>
            </p:grpSpPr>
            <p:cxnSp>
              <p:nvCxnSpPr>
                <p:cNvPr id="100458" name="AutoShape 77"/>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59" name="AutoShape 78"/>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60" name="AutoShape 79"/>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61" name="AutoShape 80"/>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62" name="AutoShape 81"/>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446" name="Group 82"/>
              <p:cNvGrpSpPr>
                <a:grpSpLocks/>
              </p:cNvGrpSpPr>
              <p:nvPr/>
            </p:nvGrpSpPr>
            <p:grpSpPr bwMode="auto">
              <a:xfrm rot="10800000">
                <a:off x="4482708" y="6023079"/>
                <a:ext cx="324817" cy="261661"/>
                <a:chOff x="3757" y="4297"/>
                <a:chExt cx="447" cy="360"/>
              </a:xfrm>
            </p:grpSpPr>
            <p:cxnSp>
              <p:nvCxnSpPr>
                <p:cNvPr id="100453" name="AutoShape 83"/>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54" name="AutoShape 84"/>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55" name="AutoShape 85"/>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56" name="AutoShape 86"/>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57" name="AutoShape 87"/>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447" name="Group 88"/>
              <p:cNvGrpSpPr>
                <a:grpSpLocks/>
              </p:cNvGrpSpPr>
              <p:nvPr/>
            </p:nvGrpSpPr>
            <p:grpSpPr bwMode="auto">
              <a:xfrm rot="10800000">
                <a:off x="4090312" y="6028167"/>
                <a:ext cx="324817" cy="261661"/>
                <a:chOff x="3757" y="4297"/>
                <a:chExt cx="447" cy="360"/>
              </a:xfrm>
            </p:grpSpPr>
            <p:cxnSp>
              <p:nvCxnSpPr>
                <p:cNvPr id="100448" name="AutoShape 89"/>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49" name="AutoShape 90"/>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50" name="AutoShape 91"/>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51" name="AutoShape 92"/>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52" name="AutoShape 93"/>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grpSp>
      <p:grpSp>
        <p:nvGrpSpPr>
          <p:cNvPr id="10" name="Groupe 123"/>
          <p:cNvGrpSpPr>
            <a:grpSpLocks/>
          </p:cNvGrpSpPr>
          <p:nvPr/>
        </p:nvGrpSpPr>
        <p:grpSpPr bwMode="auto">
          <a:xfrm>
            <a:off x="1143000" y="3143250"/>
            <a:ext cx="7143750" cy="2617788"/>
            <a:chOff x="1142976" y="3929066"/>
            <a:chExt cx="7143801" cy="2618062"/>
          </a:xfrm>
        </p:grpSpPr>
        <p:cxnSp>
          <p:nvCxnSpPr>
            <p:cNvPr id="100368" name="AutoShape 8"/>
            <p:cNvCxnSpPr>
              <a:cxnSpLocks noChangeShapeType="1"/>
            </p:cNvCxnSpPr>
            <p:nvPr/>
          </p:nvCxnSpPr>
          <p:spPr bwMode="auto">
            <a:xfrm>
              <a:off x="1666172" y="4845606"/>
              <a:ext cx="1046391"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0369" name="AutoShape 9"/>
            <p:cNvCxnSpPr>
              <a:cxnSpLocks noChangeShapeType="1"/>
            </p:cNvCxnSpPr>
            <p:nvPr/>
          </p:nvCxnSpPr>
          <p:spPr bwMode="auto">
            <a:xfrm>
              <a:off x="1666172" y="5235916"/>
              <a:ext cx="1438788"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0370" name="AutoShape 10"/>
            <p:cNvCxnSpPr>
              <a:cxnSpLocks noChangeShapeType="1"/>
            </p:cNvCxnSpPr>
            <p:nvPr/>
          </p:nvCxnSpPr>
          <p:spPr bwMode="auto">
            <a:xfrm>
              <a:off x="1666172" y="5630588"/>
              <a:ext cx="1831185"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0371" name="AutoShape 11"/>
            <p:cNvCxnSpPr>
              <a:cxnSpLocks noChangeShapeType="1"/>
            </p:cNvCxnSpPr>
            <p:nvPr/>
          </p:nvCxnSpPr>
          <p:spPr bwMode="auto">
            <a:xfrm>
              <a:off x="2712563" y="3929793"/>
              <a:ext cx="366237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372" name="AutoShape 12"/>
            <p:cNvCxnSpPr>
              <a:cxnSpLocks noChangeShapeType="1"/>
            </p:cNvCxnSpPr>
            <p:nvPr/>
          </p:nvCxnSpPr>
          <p:spPr bwMode="auto">
            <a:xfrm>
              <a:off x="2712563" y="3929793"/>
              <a:ext cx="0" cy="2616608"/>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373" name="AutoShape 13"/>
            <p:cNvCxnSpPr>
              <a:cxnSpLocks noChangeShapeType="1"/>
            </p:cNvCxnSpPr>
            <p:nvPr/>
          </p:nvCxnSpPr>
          <p:spPr bwMode="auto">
            <a:xfrm>
              <a:off x="3104960" y="3929793"/>
              <a:ext cx="0" cy="2616608"/>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374" name="AutoShape 15"/>
            <p:cNvCxnSpPr>
              <a:cxnSpLocks noChangeShapeType="1"/>
            </p:cNvCxnSpPr>
            <p:nvPr/>
          </p:nvCxnSpPr>
          <p:spPr bwMode="auto">
            <a:xfrm>
              <a:off x="3497357" y="3929793"/>
              <a:ext cx="0" cy="2616608"/>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375" name="AutoShape 18"/>
            <p:cNvCxnSpPr>
              <a:cxnSpLocks noChangeShapeType="1"/>
            </p:cNvCxnSpPr>
            <p:nvPr/>
          </p:nvCxnSpPr>
          <p:spPr bwMode="auto">
            <a:xfrm>
              <a:off x="2712563" y="6546401"/>
              <a:ext cx="366237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0376" name="Group 19"/>
            <p:cNvGrpSpPr>
              <a:grpSpLocks/>
            </p:cNvGrpSpPr>
            <p:nvPr/>
          </p:nvGrpSpPr>
          <p:grpSpPr bwMode="auto">
            <a:xfrm>
              <a:off x="3366558" y="6023079"/>
              <a:ext cx="324817" cy="261661"/>
              <a:chOff x="3757" y="4297"/>
              <a:chExt cx="447" cy="360"/>
            </a:xfrm>
          </p:grpSpPr>
          <p:cxnSp>
            <p:nvCxnSpPr>
              <p:cNvPr id="100430" name="AutoShape 20"/>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31" name="AutoShape 21"/>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32" name="AutoShape 22"/>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33" name="AutoShape 23"/>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34" name="AutoShape 24"/>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377" name="Group 25"/>
            <p:cNvGrpSpPr>
              <a:grpSpLocks/>
            </p:cNvGrpSpPr>
            <p:nvPr/>
          </p:nvGrpSpPr>
          <p:grpSpPr bwMode="auto">
            <a:xfrm>
              <a:off x="2974161" y="6023079"/>
              <a:ext cx="324817" cy="261661"/>
              <a:chOff x="3757" y="4297"/>
              <a:chExt cx="447" cy="360"/>
            </a:xfrm>
          </p:grpSpPr>
          <p:cxnSp>
            <p:nvCxnSpPr>
              <p:cNvPr id="100425" name="AutoShape 26"/>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26" name="AutoShape 27"/>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27" name="AutoShape 28"/>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28" name="AutoShape 29"/>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29" name="AutoShape 30"/>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378" name="Group 31"/>
            <p:cNvGrpSpPr>
              <a:grpSpLocks/>
            </p:cNvGrpSpPr>
            <p:nvPr/>
          </p:nvGrpSpPr>
          <p:grpSpPr bwMode="auto">
            <a:xfrm>
              <a:off x="2581764" y="6023079"/>
              <a:ext cx="324817" cy="261661"/>
              <a:chOff x="3757" y="4297"/>
              <a:chExt cx="447" cy="360"/>
            </a:xfrm>
          </p:grpSpPr>
          <p:cxnSp>
            <p:nvCxnSpPr>
              <p:cNvPr id="100420" name="AutoShape 32"/>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21" name="AutoShape 33"/>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22" name="AutoShape 34"/>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23" name="AutoShape 35"/>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24" name="AutoShape 36"/>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379" name="Group 37"/>
            <p:cNvGrpSpPr>
              <a:grpSpLocks/>
            </p:cNvGrpSpPr>
            <p:nvPr/>
          </p:nvGrpSpPr>
          <p:grpSpPr bwMode="auto">
            <a:xfrm>
              <a:off x="2581764" y="4191454"/>
              <a:ext cx="324817" cy="261661"/>
              <a:chOff x="3757" y="4297"/>
              <a:chExt cx="447" cy="360"/>
            </a:xfrm>
          </p:grpSpPr>
          <p:cxnSp>
            <p:nvCxnSpPr>
              <p:cNvPr id="100415" name="AutoShape 38"/>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16" name="AutoShape 39"/>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17" name="AutoShape 40"/>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18" name="AutoShape 41"/>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19" name="AutoShape 42"/>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380" name="Group 43"/>
            <p:cNvGrpSpPr>
              <a:grpSpLocks/>
            </p:cNvGrpSpPr>
            <p:nvPr/>
          </p:nvGrpSpPr>
          <p:grpSpPr bwMode="auto">
            <a:xfrm>
              <a:off x="2974161" y="4191454"/>
              <a:ext cx="324817" cy="261661"/>
              <a:chOff x="3757" y="4297"/>
              <a:chExt cx="447" cy="360"/>
            </a:xfrm>
          </p:grpSpPr>
          <p:cxnSp>
            <p:nvCxnSpPr>
              <p:cNvPr id="100410" name="AutoShape 44"/>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11" name="AutoShape 45"/>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12" name="AutoShape 46"/>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13" name="AutoShape 47"/>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14" name="AutoShape 48"/>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0381" name="Group 49"/>
            <p:cNvGrpSpPr>
              <a:grpSpLocks/>
            </p:cNvGrpSpPr>
            <p:nvPr/>
          </p:nvGrpSpPr>
          <p:grpSpPr bwMode="auto">
            <a:xfrm>
              <a:off x="3366558" y="4186366"/>
              <a:ext cx="324817" cy="261661"/>
              <a:chOff x="3757" y="4297"/>
              <a:chExt cx="447" cy="360"/>
            </a:xfrm>
          </p:grpSpPr>
          <p:cxnSp>
            <p:nvCxnSpPr>
              <p:cNvPr id="100405" name="AutoShape 50"/>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06" name="AutoShape 51"/>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07" name="AutoShape 52"/>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08" name="AutoShape 53"/>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409" name="AutoShape 54"/>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sp>
          <p:nvSpPr>
            <p:cNvPr id="100382" name="Oval 94"/>
            <p:cNvSpPr>
              <a:spLocks noChangeArrowheads="1"/>
            </p:cNvSpPr>
            <p:nvPr/>
          </p:nvSpPr>
          <p:spPr bwMode="auto">
            <a:xfrm>
              <a:off x="5902325" y="4845606"/>
              <a:ext cx="910507" cy="784982"/>
            </a:xfrm>
            <a:prstGeom prst="ellipse">
              <a:avLst/>
            </a:prstGeom>
            <a:solidFill>
              <a:srgbClr val="FFFFFF"/>
            </a:solidFill>
            <a:ln w="25400">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spcAft>
                  <a:spcPts val="1000"/>
                </a:spcAft>
                <a:buClrTx/>
                <a:buSzTx/>
                <a:buFontTx/>
                <a:buNone/>
              </a:pPr>
              <a:r>
                <a:rPr lang="fr-FR" altLang="fr-FR" sz="1600" b="1">
                  <a:latin typeface="Calibri" panose="020F0502020204030204" pitchFamily="34" charset="0"/>
                </a:rPr>
                <a:t>MCC</a:t>
              </a:r>
              <a:endParaRPr lang="fr-FR" altLang="fr-FR" sz="1600" b="1">
                <a:latin typeface="Arial" panose="020B0604020202020204" pitchFamily="34" charset="0"/>
              </a:endParaRPr>
            </a:p>
          </p:txBody>
        </p:sp>
        <p:sp>
          <p:nvSpPr>
            <p:cNvPr id="100383" name="Text Box 95"/>
            <p:cNvSpPr txBox="1">
              <a:spLocks noChangeArrowheads="1"/>
            </p:cNvSpPr>
            <p:nvPr/>
          </p:nvSpPr>
          <p:spPr bwMode="auto">
            <a:xfrm>
              <a:off x="5982536" y="4902299"/>
              <a:ext cx="784067" cy="79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endParaRPr lang="fr-FR" altLang="fr-FR" sz="1600" b="1">
                <a:latin typeface="Calibri" panose="020F0502020204030204" pitchFamily="34" charset="0"/>
              </a:endParaRPr>
            </a:p>
            <a:p>
              <a:pPr eaLnBrk="1" hangingPunct="1">
                <a:spcBef>
                  <a:spcPct val="0"/>
                </a:spcBef>
                <a:spcAft>
                  <a:spcPts val="1000"/>
                </a:spcAft>
                <a:buClrTx/>
                <a:buSzTx/>
                <a:buFontTx/>
                <a:buNone/>
              </a:pPr>
              <a:endParaRPr lang="fr-FR" altLang="fr-FR" sz="1600">
                <a:latin typeface="Arial" panose="020B0604020202020204" pitchFamily="34" charset="0"/>
              </a:endParaRPr>
            </a:p>
          </p:txBody>
        </p:sp>
        <p:cxnSp>
          <p:nvCxnSpPr>
            <p:cNvPr id="100384" name="AutoShape 96"/>
            <p:cNvCxnSpPr>
              <a:cxnSpLocks noChangeShapeType="1"/>
            </p:cNvCxnSpPr>
            <p:nvPr/>
          </p:nvCxnSpPr>
          <p:spPr bwMode="auto">
            <a:xfrm flipV="1">
              <a:off x="6374933" y="3929793"/>
              <a:ext cx="727" cy="915813"/>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385" name="AutoShape 97"/>
            <p:cNvCxnSpPr>
              <a:cxnSpLocks noChangeShapeType="1"/>
            </p:cNvCxnSpPr>
            <p:nvPr/>
          </p:nvCxnSpPr>
          <p:spPr bwMode="auto">
            <a:xfrm flipV="1">
              <a:off x="6374933" y="5630588"/>
              <a:ext cx="727" cy="913632"/>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0386" name="Group 98"/>
            <p:cNvGrpSpPr>
              <a:grpSpLocks/>
            </p:cNvGrpSpPr>
            <p:nvPr/>
          </p:nvGrpSpPr>
          <p:grpSpPr bwMode="auto">
            <a:xfrm>
              <a:off x="6893042" y="4902299"/>
              <a:ext cx="130799" cy="599639"/>
              <a:chOff x="8977" y="1777"/>
              <a:chExt cx="180" cy="825"/>
            </a:xfrm>
          </p:grpSpPr>
          <p:grpSp>
            <p:nvGrpSpPr>
              <p:cNvPr id="100396" name="Group 99"/>
              <p:cNvGrpSpPr>
                <a:grpSpLocks/>
              </p:cNvGrpSpPr>
              <p:nvPr/>
            </p:nvGrpSpPr>
            <p:grpSpPr bwMode="auto">
              <a:xfrm>
                <a:off x="8977" y="1777"/>
                <a:ext cx="180" cy="275"/>
                <a:chOff x="8977" y="1597"/>
                <a:chExt cx="360" cy="726"/>
              </a:xfrm>
            </p:grpSpPr>
            <p:sp>
              <p:nvSpPr>
                <p:cNvPr id="100403" name="Arc 100"/>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0404" name="Arc 101"/>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0397" name="Group 102"/>
              <p:cNvGrpSpPr>
                <a:grpSpLocks/>
              </p:cNvGrpSpPr>
              <p:nvPr/>
            </p:nvGrpSpPr>
            <p:grpSpPr bwMode="auto">
              <a:xfrm>
                <a:off x="8977" y="2052"/>
                <a:ext cx="180" cy="275"/>
                <a:chOff x="8977" y="1597"/>
                <a:chExt cx="360" cy="726"/>
              </a:xfrm>
            </p:grpSpPr>
            <p:sp>
              <p:nvSpPr>
                <p:cNvPr id="100401" name="Arc 103"/>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0402" name="Arc 104"/>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0398" name="Group 105"/>
              <p:cNvGrpSpPr>
                <a:grpSpLocks/>
              </p:cNvGrpSpPr>
              <p:nvPr/>
            </p:nvGrpSpPr>
            <p:grpSpPr bwMode="auto">
              <a:xfrm>
                <a:off x="8977" y="2327"/>
                <a:ext cx="180" cy="275"/>
                <a:chOff x="8977" y="1597"/>
                <a:chExt cx="360" cy="726"/>
              </a:xfrm>
            </p:grpSpPr>
            <p:sp>
              <p:nvSpPr>
                <p:cNvPr id="100399" name="Arc 106"/>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0400" name="Arc 107"/>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cxnSp>
          <p:nvCxnSpPr>
            <p:cNvPr id="100387" name="AutoShape 108"/>
            <p:cNvCxnSpPr>
              <a:cxnSpLocks noChangeShapeType="1"/>
            </p:cNvCxnSpPr>
            <p:nvPr/>
          </p:nvCxnSpPr>
          <p:spPr bwMode="auto">
            <a:xfrm flipV="1">
              <a:off x="7024567" y="3929793"/>
              <a:ext cx="0" cy="972506"/>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388" name="AutoShape 109"/>
            <p:cNvCxnSpPr>
              <a:cxnSpLocks noChangeShapeType="1"/>
            </p:cNvCxnSpPr>
            <p:nvPr/>
          </p:nvCxnSpPr>
          <p:spPr bwMode="auto">
            <a:xfrm flipV="1">
              <a:off x="7023114" y="5501938"/>
              <a:ext cx="727" cy="1042282"/>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0389" name="AutoShape 110"/>
            <p:cNvCxnSpPr>
              <a:cxnSpLocks noChangeShapeType="1"/>
            </p:cNvCxnSpPr>
            <p:nvPr/>
          </p:nvCxnSpPr>
          <p:spPr bwMode="auto">
            <a:xfrm>
              <a:off x="7023114" y="6546401"/>
              <a:ext cx="1257850" cy="727"/>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0390" name="AutoShape 111"/>
            <p:cNvCxnSpPr>
              <a:cxnSpLocks noChangeShapeType="1"/>
            </p:cNvCxnSpPr>
            <p:nvPr/>
          </p:nvCxnSpPr>
          <p:spPr bwMode="auto">
            <a:xfrm>
              <a:off x="7028927" y="3929066"/>
              <a:ext cx="1257850" cy="727"/>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0391" name="AutoShape 112"/>
            <p:cNvCxnSpPr>
              <a:cxnSpLocks noChangeShapeType="1"/>
            </p:cNvCxnSpPr>
            <p:nvPr/>
          </p:nvCxnSpPr>
          <p:spPr bwMode="auto">
            <a:xfrm flipV="1">
              <a:off x="7552123" y="4092604"/>
              <a:ext cx="0" cy="2229205"/>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0392" name="Text Box 113"/>
            <p:cNvSpPr txBox="1">
              <a:spLocks noChangeArrowheads="1"/>
            </p:cNvSpPr>
            <p:nvPr/>
          </p:nvSpPr>
          <p:spPr bwMode="auto">
            <a:xfrm>
              <a:off x="7682922" y="4778737"/>
              <a:ext cx="392397" cy="523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600" b="1">
                  <a:latin typeface="Calibri" panose="020F0502020204030204" pitchFamily="34" charset="0"/>
                </a:rPr>
                <a:t>U</a:t>
              </a:r>
              <a:endParaRPr lang="fr-FR" altLang="fr-FR" sz="1600">
                <a:latin typeface="Arial" panose="020B0604020202020204" pitchFamily="34" charset="0"/>
              </a:endParaRPr>
            </a:p>
          </p:txBody>
        </p:sp>
        <p:sp>
          <p:nvSpPr>
            <p:cNvPr id="100393" name="Text Box 114"/>
            <p:cNvSpPr txBox="1">
              <a:spLocks noChangeArrowheads="1"/>
            </p:cNvSpPr>
            <p:nvPr/>
          </p:nvSpPr>
          <p:spPr bwMode="auto">
            <a:xfrm>
              <a:off x="1142976" y="4480007"/>
              <a:ext cx="653995" cy="523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600" b="1">
                  <a:latin typeface="Calibri" panose="020F0502020204030204" pitchFamily="34" charset="0"/>
                </a:rPr>
                <a:t>L1</a:t>
              </a:r>
              <a:endParaRPr lang="fr-FR" altLang="fr-FR" sz="1600">
                <a:latin typeface="Arial" panose="020B0604020202020204" pitchFamily="34" charset="0"/>
              </a:endParaRPr>
            </a:p>
          </p:txBody>
        </p:sp>
        <p:sp>
          <p:nvSpPr>
            <p:cNvPr id="100394" name="Text Box 115"/>
            <p:cNvSpPr txBox="1">
              <a:spLocks noChangeArrowheads="1"/>
            </p:cNvSpPr>
            <p:nvPr/>
          </p:nvSpPr>
          <p:spPr bwMode="auto">
            <a:xfrm>
              <a:off x="1142976" y="4902299"/>
              <a:ext cx="653995" cy="523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600" b="1">
                  <a:latin typeface="Calibri" panose="020F0502020204030204" pitchFamily="34" charset="0"/>
                </a:rPr>
                <a:t>L2</a:t>
              </a:r>
              <a:endParaRPr lang="fr-FR" altLang="fr-FR" sz="1600">
                <a:latin typeface="Arial" panose="020B0604020202020204" pitchFamily="34" charset="0"/>
              </a:endParaRPr>
            </a:p>
          </p:txBody>
        </p:sp>
        <p:sp>
          <p:nvSpPr>
            <p:cNvPr id="100395" name="Text Box 116"/>
            <p:cNvSpPr txBox="1">
              <a:spLocks noChangeArrowheads="1"/>
            </p:cNvSpPr>
            <p:nvPr/>
          </p:nvSpPr>
          <p:spPr bwMode="auto">
            <a:xfrm>
              <a:off x="1142976" y="5368927"/>
              <a:ext cx="653995" cy="523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600" b="1">
                  <a:latin typeface="Calibri" panose="020F0502020204030204" pitchFamily="34" charset="0"/>
                </a:rPr>
                <a:t>L3</a:t>
              </a:r>
              <a:endParaRPr lang="fr-FR" altLang="fr-FR" sz="1600">
                <a:latin typeface="Arial" panose="020B0604020202020204" pitchFamily="34" charset="0"/>
              </a:endParaRPr>
            </a:p>
          </p:txBody>
        </p:sp>
      </p:grpSp>
      <p:sp>
        <p:nvSpPr>
          <p:cNvPr id="120" name="Rectangle 119"/>
          <p:cNvSpPr>
            <a:spLocks noChangeArrowheads="1"/>
          </p:cNvSpPr>
          <p:nvPr/>
        </p:nvSpPr>
        <p:spPr bwMode="auto">
          <a:xfrm>
            <a:off x="285750" y="954088"/>
            <a:ext cx="864393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a:latin typeface="Arial" panose="020B0604020202020204" pitchFamily="34" charset="0"/>
              </a:rPr>
              <a:t>De même en triphasé</a:t>
            </a:r>
            <a:r>
              <a:rPr lang="fr-FR" altLang="fr-FR" sz="1800">
                <a:latin typeface="Arial" panose="020B0604020202020204" pitchFamily="34" charset="0"/>
              </a:rPr>
              <a:t>:</a:t>
            </a:r>
          </a:p>
          <a:p>
            <a:pPr algn="just" eaLnBrk="1" hangingPunct="1">
              <a:spcBef>
                <a:spcPct val="0"/>
              </a:spcBef>
              <a:buClrTx/>
              <a:buSzTx/>
              <a:buFontTx/>
              <a:buNone/>
            </a:pPr>
            <a:r>
              <a:rPr lang="fr-FR" altLang="fr-FR" sz="1800">
                <a:latin typeface="Arial" panose="020B0604020202020204" pitchFamily="34" charset="0"/>
              </a:rPr>
              <a:t>Le fonctionnement est possible dans les quatre quadrants grâce à l’utilisation d’un deuxième pont complet monté en tête bêche avec le premier.</a:t>
            </a:r>
          </a:p>
        </p:txBody>
      </p:sp>
      <p:sp>
        <p:nvSpPr>
          <p:cNvPr id="121" name="Rectangle 120"/>
          <p:cNvSpPr>
            <a:spLocks noChangeArrowheads="1"/>
          </p:cNvSpPr>
          <p:nvPr/>
        </p:nvSpPr>
        <p:spPr bwMode="auto">
          <a:xfrm>
            <a:off x="461963" y="1990725"/>
            <a:ext cx="16430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0000"/>
                </a:solidFill>
                <a:latin typeface="Arial" panose="020B0604020202020204" pitchFamily="34" charset="0"/>
              </a:rPr>
              <a:t>Schéma:</a:t>
            </a:r>
          </a:p>
        </p:txBody>
      </p:sp>
      <p:sp>
        <p:nvSpPr>
          <p:cNvPr id="125" name="Ellipse 124"/>
          <p:cNvSpPr/>
          <p:nvPr/>
        </p:nvSpPr>
        <p:spPr>
          <a:xfrm>
            <a:off x="2214563" y="2928938"/>
            <a:ext cx="1714500" cy="3214687"/>
          </a:xfrm>
          <a:prstGeom prst="ellipse">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600"/>
          </a:p>
        </p:txBody>
      </p:sp>
      <p:sp>
        <p:nvSpPr>
          <p:cNvPr id="126" name="ZoneTexte 125"/>
          <p:cNvSpPr txBox="1">
            <a:spLocks noChangeArrowheads="1"/>
          </p:cNvSpPr>
          <p:nvPr/>
        </p:nvSpPr>
        <p:spPr bwMode="auto">
          <a:xfrm>
            <a:off x="2500313" y="2500313"/>
            <a:ext cx="8953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rgbClr val="FF0000"/>
                </a:solidFill>
                <a:latin typeface="Arial" panose="020B0604020202020204" pitchFamily="34" charset="0"/>
              </a:rPr>
              <a:t>Pont  A</a:t>
            </a:r>
          </a:p>
        </p:txBody>
      </p:sp>
      <p:sp>
        <p:nvSpPr>
          <p:cNvPr id="127" name="Ellipse 126"/>
          <p:cNvSpPr/>
          <p:nvPr/>
        </p:nvSpPr>
        <p:spPr>
          <a:xfrm>
            <a:off x="3786188" y="2928938"/>
            <a:ext cx="1714500" cy="3214687"/>
          </a:xfrm>
          <a:prstGeom prst="ellipse">
            <a:avLst/>
          </a:prstGeom>
          <a:noFill/>
          <a:ln w="50800">
            <a:solidFill>
              <a:srgbClr val="0000E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sz="1600" dirty="0">
              <a:solidFill>
                <a:srgbClr val="0000EC"/>
              </a:solidFill>
            </a:endParaRPr>
          </a:p>
        </p:txBody>
      </p:sp>
      <p:sp>
        <p:nvSpPr>
          <p:cNvPr id="128" name="ZoneTexte 127"/>
          <p:cNvSpPr txBox="1">
            <a:spLocks noChangeArrowheads="1"/>
          </p:cNvSpPr>
          <p:nvPr/>
        </p:nvSpPr>
        <p:spPr bwMode="auto">
          <a:xfrm>
            <a:off x="4214813" y="2500313"/>
            <a:ext cx="9032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rgbClr val="0000EC"/>
                </a:solidFill>
                <a:latin typeface="Arial" panose="020B0604020202020204" pitchFamily="34" charset="0"/>
              </a:rPr>
              <a:t>Pont  B</a:t>
            </a:r>
          </a:p>
        </p:txBody>
      </p:sp>
      <p:sp>
        <p:nvSpPr>
          <p:cNvPr id="100363" name="Espace réservé du numéro de diapositive 121"/>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339E996-9352-4447-AF79-3265FCF6BD5D}" type="slidenum">
              <a:rPr lang="fr-FR" altLang="fr-FR" sz="1000" smtClean="0">
                <a:solidFill>
                  <a:srgbClr val="292929"/>
                </a:solidFill>
                <a:latin typeface="Arial" panose="020B0604020202020204" pitchFamily="34" charset="0"/>
              </a:rPr>
              <a:pPr>
                <a:spcBef>
                  <a:spcPct val="0"/>
                </a:spcBef>
                <a:buClrTx/>
                <a:buSzTx/>
                <a:buFontTx/>
                <a:buNone/>
              </a:pPr>
              <a:t>54</a:t>
            </a:fld>
            <a:endParaRPr lang="fr-FR" altLang="fr-FR" sz="1000" smtClean="0">
              <a:solidFill>
                <a:srgbClr val="292929"/>
              </a:solidFill>
              <a:latin typeface="Arial" panose="020B0604020202020204" pitchFamily="34" charset="0"/>
            </a:endParaRPr>
          </a:p>
        </p:txBody>
      </p:sp>
      <p:sp>
        <p:nvSpPr>
          <p:cNvPr id="100364" name="Rectangle 3"/>
          <p:cNvSpPr>
            <a:spLocks noChangeArrowheads="1"/>
          </p:cNvSpPr>
          <p:nvPr/>
        </p:nvSpPr>
        <p:spPr bwMode="auto">
          <a:xfrm>
            <a:off x="182563" y="288925"/>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4" name="Rectangle 1"/>
          <p:cNvSpPr>
            <a:spLocks noChangeArrowheads="1"/>
          </p:cNvSpPr>
          <p:nvPr/>
        </p:nvSpPr>
        <p:spPr bwMode="auto">
          <a:xfrm>
            <a:off x="342900" y="523875"/>
            <a:ext cx="9144000" cy="400050"/>
          </a:xfrm>
          <a:prstGeom prst="rect">
            <a:avLst/>
          </a:prstGeom>
          <a:noFill/>
          <a:ln w="9525">
            <a:noFill/>
            <a:miter lim="800000"/>
            <a:headEnd/>
            <a:tailEnd/>
          </a:ln>
        </p:spPr>
        <p:txBody>
          <a:bodyPr anchor="ctr">
            <a:spAutoFit/>
          </a:bodyPr>
          <a:lstStyle/>
          <a:p>
            <a:pPr eaLnBrk="1" hangingPunct="1">
              <a:defRPr/>
            </a:pPr>
            <a:r>
              <a:rPr lang="fr-FR" sz="2000" b="1" cap="small" dirty="0">
                <a:cs typeface="Times New Roman" pitchFamily="18" charset="0"/>
              </a:rPr>
              <a:t>Variateurs réversibles ou bidirectionnels</a:t>
            </a:r>
          </a:p>
        </p:txBody>
      </p:sp>
      <p:sp>
        <p:nvSpPr>
          <p:cNvPr id="129" name="Espace réservé du pied de page 128"/>
          <p:cNvSpPr>
            <a:spLocks noGrp="1"/>
          </p:cNvSpPr>
          <p:nvPr>
            <p:ph type="ftr" sz="quarter" idx="11"/>
          </p:nvPr>
        </p:nvSpPr>
        <p:spPr/>
        <p:txBody>
          <a:bodyPr/>
          <a:lstStyle/>
          <a:p>
            <a:pPr>
              <a:defRPr/>
            </a:pPr>
            <a:r>
              <a:rPr lang="fr-FR"/>
              <a:t>Commande des machines   3.MCC     Ali NEJMI</a:t>
            </a:r>
            <a:endParaRPr lang="en-US"/>
          </a:p>
        </p:txBody>
      </p:sp>
      <p:sp>
        <p:nvSpPr>
          <p:cNvPr id="130"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checkerboard(across)">
                                      <p:cBhvr>
                                        <p:cTn id="7" dur="500"/>
                                        <p:tgtEl>
                                          <p:spTgt spid="1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20">
                                            <p:txEl>
                                              <p:pRg st="0" end="0"/>
                                            </p:txEl>
                                          </p:spTgt>
                                        </p:tgtEl>
                                        <p:attrNameLst>
                                          <p:attrName>style.visibility</p:attrName>
                                        </p:attrNameLst>
                                      </p:cBhvr>
                                      <p:to>
                                        <p:strVal val="visible"/>
                                      </p:to>
                                    </p:set>
                                    <p:animEffect transition="in" filter="checkerboard(across)">
                                      <p:cBhvr>
                                        <p:cTn id="12" dur="500"/>
                                        <p:tgtEl>
                                          <p:spTgt spid="12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20">
                                            <p:txEl>
                                              <p:pRg st="1" end="1"/>
                                            </p:txEl>
                                          </p:spTgt>
                                        </p:tgtEl>
                                        <p:attrNameLst>
                                          <p:attrName>style.visibility</p:attrName>
                                        </p:attrNameLst>
                                      </p:cBhvr>
                                      <p:to>
                                        <p:strVal val="visible"/>
                                      </p:to>
                                    </p:set>
                                    <p:animEffect transition="in" filter="checkerboard(across)">
                                      <p:cBhvr>
                                        <p:cTn id="17" dur="500"/>
                                        <p:tgtEl>
                                          <p:spTgt spid="12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7" presetClass="entr" presetSubtype="0" fill="hold" nodeType="clickEffect">
                                  <p:stCondLst>
                                    <p:cond delay="0"/>
                                  </p:stCondLst>
                                  <p:iterate type="lt">
                                    <p:tmPct val="50000"/>
                                  </p:iterate>
                                  <p:childTnLst>
                                    <p:set>
                                      <p:cBhvr>
                                        <p:cTn id="21" dur="1" fill="hold">
                                          <p:stCondLst>
                                            <p:cond delay="0"/>
                                          </p:stCondLst>
                                        </p:cTn>
                                        <p:tgtEl>
                                          <p:spTgt spid="121">
                                            <p:txEl>
                                              <p:pRg st="0" end="0"/>
                                            </p:txEl>
                                          </p:spTgt>
                                        </p:tgtEl>
                                        <p:attrNameLst>
                                          <p:attrName>style.visibility</p:attrName>
                                        </p:attrNameLst>
                                      </p:cBhvr>
                                      <p:to>
                                        <p:strVal val="visible"/>
                                      </p:to>
                                    </p:set>
                                    <p:anim calcmode="discrete" valueType="clr">
                                      <p:cBhvr override="childStyle">
                                        <p:cTn id="22" dur="80"/>
                                        <p:tgtEl>
                                          <p:spTgt spid="121">
                                            <p:txEl>
                                              <p:pRg st="0" end="0"/>
                                            </p:txEl>
                                          </p:spTgt>
                                        </p:tgtEl>
                                        <p:attrNameLst>
                                          <p:attrName>style.color</p:attrName>
                                        </p:attrNameLst>
                                      </p:cBhvr>
                                      <p:tavLst>
                                        <p:tav tm="0">
                                          <p:val>
                                            <p:clrVal>
                                              <a:schemeClr val="accent2"/>
                                            </p:clrVal>
                                          </p:val>
                                        </p:tav>
                                        <p:tav tm="50000">
                                          <p:val>
                                            <p:clrVal>
                                              <a:schemeClr val="hlink"/>
                                            </p:clrVal>
                                          </p:val>
                                        </p:tav>
                                      </p:tavLst>
                                    </p:anim>
                                    <p:anim calcmode="discrete" valueType="clr">
                                      <p:cBhvr>
                                        <p:cTn id="23" dur="80"/>
                                        <p:tgtEl>
                                          <p:spTgt spid="121">
                                            <p:txEl>
                                              <p:pRg st="0" end="0"/>
                                            </p:txEl>
                                          </p:spTgt>
                                        </p:tgtEl>
                                        <p:attrNameLst>
                                          <p:attrName>fillcolor</p:attrName>
                                        </p:attrNameLst>
                                      </p:cBhvr>
                                      <p:tavLst>
                                        <p:tav tm="0">
                                          <p:val>
                                            <p:clrVal>
                                              <a:schemeClr val="accent2"/>
                                            </p:clrVal>
                                          </p:val>
                                        </p:tav>
                                        <p:tav tm="50000">
                                          <p:val>
                                            <p:clrVal>
                                              <a:schemeClr val="hlink"/>
                                            </p:clrVal>
                                          </p:val>
                                        </p:tav>
                                      </p:tavLst>
                                    </p:anim>
                                    <p:set>
                                      <p:cBhvr>
                                        <p:cTn id="24" dur="80"/>
                                        <p:tgtEl>
                                          <p:spTgt spid="121">
                                            <p:txEl>
                                              <p:pRg st="0" end="0"/>
                                            </p:txEl>
                                          </p:spTgt>
                                        </p:tgtEl>
                                        <p:attrNameLst>
                                          <p:attrName>fill.type</p:attrName>
                                        </p:attrNameLst>
                                      </p:cBhvr>
                                      <p:to>
                                        <p:strVal val="solid"/>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34"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 from="(-#ppt_w/2)" to="(#ppt_x)" calcmode="lin" valueType="num">
                                      <p:cBhvr>
                                        <p:cTn id="29" dur="600" fill="hold">
                                          <p:stCondLst>
                                            <p:cond delay="0"/>
                                          </p:stCondLst>
                                        </p:cTn>
                                        <p:tgtEl>
                                          <p:spTgt spid="10"/>
                                        </p:tgtEl>
                                        <p:attrNameLst>
                                          <p:attrName>ppt_x</p:attrName>
                                        </p:attrNameLst>
                                      </p:cBhvr>
                                    </p:anim>
                                    <p:anim from="0" to="-1.0" calcmode="lin" valueType="num">
                                      <p:cBhvr>
                                        <p:cTn id="30" dur="200" decel="50000" autoRev="1" fill="hold">
                                          <p:stCondLst>
                                            <p:cond delay="600"/>
                                          </p:stCondLst>
                                        </p:cTn>
                                        <p:tgtEl>
                                          <p:spTgt spid="10"/>
                                        </p:tgtEl>
                                        <p:attrNameLst>
                                          <p:attrName>xshear</p:attrName>
                                        </p:attrNameLst>
                                      </p:cBhvr>
                                    </p:anim>
                                    <p:animScale>
                                      <p:cBhvr>
                                        <p:cTn id="31" dur="200" decel="100000" autoRev="1" fill="hold">
                                          <p:stCondLst>
                                            <p:cond delay="600"/>
                                          </p:stCondLst>
                                        </p:cTn>
                                        <p:tgtEl>
                                          <p:spTgt spid="10"/>
                                        </p:tgtEl>
                                      </p:cBhvr>
                                      <p:from x="100000" y="100000"/>
                                      <p:to x="80000" y="100000"/>
                                    </p:animScale>
                                    <p:anim by="(#ppt_h/3+#ppt_w*0.1)" calcmode="lin" valueType="num">
                                      <p:cBhvr additive="sum">
                                        <p:cTn id="32" dur="200" decel="100000" autoRev="1" fill="hold">
                                          <p:stCondLst>
                                            <p:cond delay="600"/>
                                          </p:stCondLst>
                                        </p:cTn>
                                        <p:tgtEl>
                                          <p:spTgt spid="10"/>
                                        </p:tgtEl>
                                        <p:attrNameLst>
                                          <p:attrName>ppt_x</p:attrName>
                                        </p:attrNameLst>
                                      </p:cBhvr>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6"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down)">
                                      <p:cBhvr>
                                        <p:cTn id="37" dur="580">
                                          <p:stCondLst>
                                            <p:cond delay="0"/>
                                          </p:stCondLst>
                                        </p:cTn>
                                        <p:tgtEl>
                                          <p:spTgt spid="2"/>
                                        </p:tgtEl>
                                      </p:cBhvr>
                                    </p:animEffect>
                                    <p:anim calcmode="lin" valueType="num">
                                      <p:cBhvr>
                                        <p:cTn id="3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3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4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4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4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43" dur="26">
                                          <p:stCondLst>
                                            <p:cond delay="650"/>
                                          </p:stCondLst>
                                        </p:cTn>
                                        <p:tgtEl>
                                          <p:spTgt spid="2"/>
                                        </p:tgtEl>
                                      </p:cBhvr>
                                      <p:to x="100000" y="60000"/>
                                    </p:animScale>
                                    <p:animScale>
                                      <p:cBhvr>
                                        <p:cTn id="44" dur="166" decel="50000">
                                          <p:stCondLst>
                                            <p:cond delay="676"/>
                                          </p:stCondLst>
                                        </p:cTn>
                                        <p:tgtEl>
                                          <p:spTgt spid="2"/>
                                        </p:tgtEl>
                                      </p:cBhvr>
                                      <p:to x="100000" y="100000"/>
                                    </p:animScale>
                                    <p:animScale>
                                      <p:cBhvr>
                                        <p:cTn id="45" dur="26">
                                          <p:stCondLst>
                                            <p:cond delay="1312"/>
                                          </p:stCondLst>
                                        </p:cTn>
                                        <p:tgtEl>
                                          <p:spTgt spid="2"/>
                                        </p:tgtEl>
                                      </p:cBhvr>
                                      <p:to x="100000" y="80000"/>
                                    </p:animScale>
                                    <p:animScale>
                                      <p:cBhvr>
                                        <p:cTn id="46" dur="166" decel="50000">
                                          <p:stCondLst>
                                            <p:cond delay="1338"/>
                                          </p:stCondLst>
                                        </p:cTn>
                                        <p:tgtEl>
                                          <p:spTgt spid="2"/>
                                        </p:tgtEl>
                                      </p:cBhvr>
                                      <p:to x="100000" y="100000"/>
                                    </p:animScale>
                                    <p:animScale>
                                      <p:cBhvr>
                                        <p:cTn id="47" dur="26">
                                          <p:stCondLst>
                                            <p:cond delay="1642"/>
                                          </p:stCondLst>
                                        </p:cTn>
                                        <p:tgtEl>
                                          <p:spTgt spid="2"/>
                                        </p:tgtEl>
                                      </p:cBhvr>
                                      <p:to x="100000" y="90000"/>
                                    </p:animScale>
                                    <p:animScale>
                                      <p:cBhvr>
                                        <p:cTn id="48" dur="166" decel="50000">
                                          <p:stCondLst>
                                            <p:cond delay="1668"/>
                                          </p:stCondLst>
                                        </p:cTn>
                                        <p:tgtEl>
                                          <p:spTgt spid="2"/>
                                        </p:tgtEl>
                                      </p:cBhvr>
                                      <p:to x="100000" y="100000"/>
                                    </p:animScale>
                                    <p:animScale>
                                      <p:cBhvr>
                                        <p:cTn id="49" dur="26">
                                          <p:stCondLst>
                                            <p:cond delay="1808"/>
                                          </p:stCondLst>
                                        </p:cTn>
                                        <p:tgtEl>
                                          <p:spTgt spid="2"/>
                                        </p:tgtEl>
                                      </p:cBhvr>
                                      <p:to x="100000" y="95000"/>
                                    </p:animScale>
                                    <p:animScale>
                                      <p:cBhvr>
                                        <p:cTn id="50" dur="166" decel="50000">
                                          <p:stCondLst>
                                            <p:cond delay="1834"/>
                                          </p:stCondLst>
                                        </p:cTn>
                                        <p:tgtEl>
                                          <p:spTgt spid="2"/>
                                        </p:tgtEl>
                                      </p:cBhvr>
                                      <p:to x="100000" y="100000"/>
                                    </p:animScale>
                                  </p:childTnLst>
                                </p:cTn>
                              </p:par>
                            </p:childTnLst>
                          </p:cTn>
                        </p:par>
                      </p:childTnLst>
                    </p:cTn>
                  </p:par>
                  <p:par>
                    <p:cTn id="51" fill="hold" nodeType="clickPar">
                      <p:stCondLst>
                        <p:cond delay="indefinite"/>
                      </p:stCondLst>
                      <p:childTnLst>
                        <p:par>
                          <p:cTn id="52" fill="hold" nodeType="withGroup">
                            <p:stCondLst>
                              <p:cond delay="0"/>
                            </p:stCondLst>
                            <p:childTnLst>
                              <p:par>
                                <p:cTn id="53" presetID="35" presetClass="entr" presetSubtype="0" fill="hold" grpId="0" nodeType="clickEffect">
                                  <p:stCondLst>
                                    <p:cond delay="0"/>
                                  </p:stCondLst>
                                  <p:childTnLst>
                                    <p:set>
                                      <p:cBhvr>
                                        <p:cTn id="54" dur="1" fill="hold">
                                          <p:stCondLst>
                                            <p:cond delay="0"/>
                                          </p:stCondLst>
                                        </p:cTn>
                                        <p:tgtEl>
                                          <p:spTgt spid="125"/>
                                        </p:tgtEl>
                                        <p:attrNameLst>
                                          <p:attrName>style.visibility</p:attrName>
                                        </p:attrNameLst>
                                      </p:cBhvr>
                                      <p:to>
                                        <p:strVal val="visible"/>
                                      </p:to>
                                    </p:set>
                                    <p:animEffect transition="in" filter="fade">
                                      <p:cBhvr>
                                        <p:cTn id="55" dur="2000"/>
                                        <p:tgtEl>
                                          <p:spTgt spid="125"/>
                                        </p:tgtEl>
                                      </p:cBhvr>
                                    </p:animEffect>
                                    <p:anim calcmode="lin" valueType="num">
                                      <p:cBhvr>
                                        <p:cTn id="56" dur="2000" fill="hold"/>
                                        <p:tgtEl>
                                          <p:spTgt spid="125"/>
                                        </p:tgtEl>
                                        <p:attrNameLst>
                                          <p:attrName>style.rotation</p:attrName>
                                        </p:attrNameLst>
                                      </p:cBhvr>
                                      <p:tavLst>
                                        <p:tav tm="0">
                                          <p:val>
                                            <p:fltVal val="720"/>
                                          </p:val>
                                        </p:tav>
                                        <p:tav tm="100000">
                                          <p:val>
                                            <p:fltVal val="0"/>
                                          </p:val>
                                        </p:tav>
                                      </p:tavLst>
                                    </p:anim>
                                    <p:anim calcmode="lin" valueType="num">
                                      <p:cBhvr>
                                        <p:cTn id="57" dur="2000" fill="hold"/>
                                        <p:tgtEl>
                                          <p:spTgt spid="125"/>
                                        </p:tgtEl>
                                        <p:attrNameLst>
                                          <p:attrName>ppt_h</p:attrName>
                                        </p:attrNameLst>
                                      </p:cBhvr>
                                      <p:tavLst>
                                        <p:tav tm="0">
                                          <p:val>
                                            <p:fltVal val="0"/>
                                          </p:val>
                                        </p:tav>
                                        <p:tav tm="100000">
                                          <p:val>
                                            <p:strVal val="#ppt_h"/>
                                          </p:val>
                                        </p:tav>
                                      </p:tavLst>
                                    </p:anim>
                                    <p:anim calcmode="lin" valueType="num">
                                      <p:cBhvr>
                                        <p:cTn id="58" dur="2000" fill="hold"/>
                                        <p:tgtEl>
                                          <p:spTgt spid="125"/>
                                        </p:tgtEl>
                                        <p:attrNameLst>
                                          <p:attrName>ppt_w</p:attrName>
                                        </p:attrNameLst>
                                      </p:cBhvr>
                                      <p:tavLst>
                                        <p:tav tm="0">
                                          <p:val>
                                            <p:fltVal val="0"/>
                                          </p:val>
                                        </p:tav>
                                        <p:tav tm="100000">
                                          <p:val>
                                            <p:strVal val="#ppt_w"/>
                                          </p:val>
                                        </p:tav>
                                      </p:tavLst>
                                    </p:anim>
                                  </p:childTnLst>
                                </p:cTn>
                              </p:par>
                            </p:childTnLst>
                          </p:cTn>
                        </p:par>
                        <p:par>
                          <p:cTn id="59" fill="hold" nodeType="afterGroup">
                            <p:stCondLst>
                              <p:cond delay="2000"/>
                            </p:stCondLst>
                            <p:childTnLst>
                              <p:par>
                                <p:cTn id="60" presetID="26" presetClass="entr" presetSubtype="0" fill="hold" grpId="0" nodeType="afterEffect">
                                  <p:stCondLst>
                                    <p:cond delay="0"/>
                                  </p:stCondLst>
                                  <p:childTnLst>
                                    <p:set>
                                      <p:cBhvr>
                                        <p:cTn id="61" dur="1" fill="hold">
                                          <p:stCondLst>
                                            <p:cond delay="0"/>
                                          </p:stCondLst>
                                        </p:cTn>
                                        <p:tgtEl>
                                          <p:spTgt spid="126"/>
                                        </p:tgtEl>
                                        <p:attrNameLst>
                                          <p:attrName>style.visibility</p:attrName>
                                        </p:attrNameLst>
                                      </p:cBhvr>
                                      <p:to>
                                        <p:strVal val="visible"/>
                                      </p:to>
                                    </p:set>
                                    <p:animEffect transition="in" filter="wipe(down)">
                                      <p:cBhvr>
                                        <p:cTn id="62" dur="580">
                                          <p:stCondLst>
                                            <p:cond delay="0"/>
                                          </p:stCondLst>
                                        </p:cTn>
                                        <p:tgtEl>
                                          <p:spTgt spid="126"/>
                                        </p:tgtEl>
                                      </p:cBhvr>
                                    </p:animEffect>
                                    <p:anim calcmode="lin" valueType="num">
                                      <p:cBhvr>
                                        <p:cTn id="63" dur="1822" tmFilter="0,0; 0.14,0.36; 0.43,0.73; 0.71,0.91; 1.0,1.0">
                                          <p:stCondLst>
                                            <p:cond delay="0"/>
                                          </p:stCondLst>
                                        </p:cTn>
                                        <p:tgtEl>
                                          <p:spTgt spid="126"/>
                                        </p:tgtEl>
                                        <p:attrNameLst>
                                          <p:attrName>ppt_x</p:attrName>
                                        </p:attrNameLst>
                                      </p:cBhvr>
                                      <p:tavLst>
                                        <p:tav tm="0">
                                          <p:val>
                                            <p:strVal val="#ppt_x-0.25"/>
                                          </p:val>
                                        </p:tav>
                                        <p:tav tm="100000">
                                          <p:val>
                                            <p:strVal val="#ppt_x"/>
                                          </p:val>
                                        </p:tav>
                                      </p:tavLst>
                                    </p:anim>
                                    <p:anim calcmode="lin" valueType="num">
                                      <p:cBhvr>
                                        <p:cTn id="64" dur="664" tmFilter="0.0,0.0; 0.25,0.07; 0.50,0.2; 0.75,0.467; 1.0,1.0">
                                          <p:stCondLst>
                                            <p:cond delay="0"/>
                                          </p:stCondLst>
                                        </p:cTn>
                                        <p:tgtEl>
                                          <p:spTgt spid="126"/>
                                        </p:tgtEl>
                                        <p:attrNameLst>
                                          <p:attrName>ppt_y</p:attrName>
                                        </p:attrNameLst>
                                      </p:cBhvr>
                                      <p:tavLst>
                                        <p:tav tm="0" fmla="#ppt_y-sin(pi*$)/3">
                                          <p:val>
                                            <p:fltVal val="0.5"/>
                                          </p:val>
                                        </p:tav>
                                        <p:tav tm="100000">
                                          <p:val>
                                            <p:fltVal val="1"/>
                                          </p:val>
                                        </p:tav>
                                      </p:tavLst>
                                    </p:anim>
                                    <p:anim calcmode="lin" valueType="num">
                                      <p:cBhvr>
                                        <p:cTn id="65" dur="664" tmFilter="0, 0; 0.125,0.2665; 0.25,0.4; 0.375,0.465; 0.5,0.5;  0.625,0.535; 0.75,0.6; 0.875,0.7335; 1,1">
                                          <p:stCondLst>
                                            <p:cond delay="664"/>
                                          </p:stCondLst>
                                        </p:cTn>
                                        <p:tgtEl>
                                          <p:spTgt spid="126"/>
                                        </p:tgtEl>
                                        <p:attrNameLst>
                                          <p:attrName>ppt_y</p:attrName>
                                        </p:attrNameLst>
                                      </p:cBhvr>
                                      <p:tavLst>
                                        <p:tav tm="0" fmla="#ppt_y-sin(pi*$)/9">
                                          <p:val>
                                            <p:fltVal val="0"/>
                                          </p:val>
                                        </p:tav>
                                        <p:tav tm="100000">
                                          <p:val>
                                            <p:fltVal val="1"/>
                                          </p:val>
                                        </p:tav>
                                      </p:tavLst>
                                    </p:anim>
                                    <p:anim calcmode="lin" valueType="num">
                                      <p:cBhvr>
                                        <p:cTn id="66" dur="332" tmFilter="0, 0; 0.125,0.2665; 0.25,0.4; 0.375,0.465; 0.5,0.5;  0.625,0.535; 0.75,0.6; 0.875,0.7335; 1,1">
                                          <p:stCondLst>
                                            <p:cond delay="1324"/>
                                          </p:stCondLst>
                                        </p:cTn>
                                        <p:tgtEl>
                                          <p:spTgt spid="126"/>
                                        </p:tgtEl>
                                        <p:attrNameLst>
                                          <p:attrName>ppt_y</p:attrName>
                                        </p:attrNameLst>
                                      </p:cBhvr>
                                      <p:tavLst>
                                        <p:tav tm="0" fmla="#ppt_y-sin(pi*$)/27">
                                          <p:val>
                                            <p:fltVal val="0"/>
                                          </p:val>
                                        </p:tav>
                                        <p:tav tm="100000">
                                          <p:val>
                                            <p:fltVal val="1"/>
                                          </p:val>
                                        </p:tav>
                                      </p:tavLst>
                                    </p:anim>
                                    <p:anim calcmode="lin" valueType="num">
                                      <p:cBhvr>
                                        <p:cTn id="67" dur="164" tmFilter="0, 0; 0.125,0.2665; 0.25,0.4; 0.375,0.465; 0.5,0.5;  0.625,0.535; 0.75,0.6; 0.875,0.7335; 1,1">
                                          <p:stCondLst>
                                            <p:cond delay="1656"/>
                                          </p:stCondLst>
                                        </p:cTn>
                                        <p:tgtEl>
                                          <p:spTgt spid="126"/>
                                        </p:tgtEl>
                                        <p:attrNameLst>
                                          <p:attrName>ppt_y</p:attrName>
                                        </p:attrNameLst>
                                      </p:cBhvr>
                                      <p:tavLst>
                                        <p:tav tm="0" fmla="#ppt_y-sin(pi*$)/81">
                                          <p:val>
                                            <p:fltVal val="0"/>
                                          </p:val>
                                        </p:tav>
                                        <p:tav tm="100000">
                                          <p:val>
                                            <p:fltVal val="1"/>
                                          </p:val>
                                        </p:tav>
                                      </p:tavLst>
                                    </p:anim>
                                    <p:animScale>
                                      <p:cBhvr>
                                        <p:cTn id="68" dur="26">
                                          <p:stCondLst>
                                            <p:cond delay="650"/>
                                          </p:stCondLst>
                                        </p:cTn>
                                        <p:tgtEl>
                                          <p:spTgt spid="126"/>
                                        </p:tgtEl>
                                      </p:cBhvr>
                                      <p:to x="100000" y="60000"/>
                                    </p:animScale>
                                    <p:animScale>
                                      <p:cBhvr>
                                        <p:cTn id="69" dur="166" decel="50000">
                                          <p:stCondLst>
                                            <p:cond delay="676"/>
                                          </p:stCondLst>
                                        </p:cTn>
                                        <p:tgtEl>
                                          <p:spTgt spid="126"/>
                                        </p:tgtEl>
                                      </p:cBhvr>
                                      <p:to x="100000" y="100000"/>
                                    </p:animScale>
                                    <p:animScale>
                                      <p:cBhvr>
                                        <p:cTn id="70" dur="26">
                                          <p:stCondLst>
                                            <p:cond delay="1312"/>
                                          </p:stCondLst>
                                        </p:cTn>
                                        <p:tgtEl>
                                          <p:spTgt spid="126"/>
                                        </p:tgtEl>
                                      </p:cBhvr>
                                      <p:to x="100000" y="80000"/>
                                    </p:animScale>
                                    <p:animScale>
                                      <p:cBhvr>
                                        <p:cTn id="71" dur="166" decel="50000">
                                          <p:stCondLst>
                                            <p:cond delay="1338"/>
                                          </p:stCondLst>
                                        </p:cTn>
                                        <p:tgtEl>
                                          <p:spTgt spid="126"/>
                                        </p:tgtEl>
                                      </p:cBhvr>
                                      <p:to x="100000" y="100000"/>
                                    </p:animScale>
                                    <p:animScale>
                                      <p:cBhvr>
                                        <p:cTn id="72" dur="26">
                                          <p:stCondLst>
                                            <p:cond delay="1642"/>
                                          </p:stCondLst>
                                        </p:cTn>
                                        <p:tgtEl>
                                          <p:spTgt spid="126"/>
                                        </p:tgtEl>
                                      </p:cBhvr>
                                      <p:to x="100000" y="90000"/>
                                    </p:animScale>
                                    <p:animScale>
                                      <p:cBhvr>
                                        <p:cTn id="73" dur="166" decel="50000">
                                          <p:stCondLst>
                                            <p:cond delay="1668"/>
                                          </p:stCondLst>
                                        </p:cTn>
                                        <p:tgtEl>
                                          <p:spTgt spid="126"/>
                                        </p:tgtEl>
                                      </p:cBhvr>
                                      <p:to x="100000" y="100000"/>
                                    </p:animScale>
                                    <p:animScale>
                                      <p:cBhvr>
                                        <p:cTn id="74" dur="26">
                                          <p:stCondLst>
                                            <p:cond delay="1808"/>
                                          </p:stCondLst>
                                        </p:cTn>
                                        <p:tgtEl>
                                          <p:spTgt spid="126"/>
                                        </p:tgtEl>
                                      </p:cBhvr>
                                      <p:to x="100000" y="95000"/>
                                    </p:animScale>
                                    <p:animScale>
                                      <p:cBhvr>
                                        <p:cTn id="75" dur="166" decel="50000">
                                          <p:stCondLst>
                                            <p:cond delay="1834"/>
                                          </p:stCondLst>
                                        </p:cTn>
                                        <p:tgtEl>
                                          <p:spTgt spid="126"/>
                                        </p:tgtEl>
                                      </p:cBhvr>
                                      <p:to x="100000" y="100000"/>
                                    </p:animScale>
                                  </p:childTnLst>
                                </p:cTn>
                              </p:par>
                            </p:childTnLst>
                          </p:cTn>
                        </p:par>
                      </p:childTnLst>
                    </p:cTn>
                  </p:par>
                  <p:par>
                    <p:cTn id="76" fill="hold" nodeType="clickPar">
                      <p:stCondLst>
                        <p:cond delay="indefinite"/>
                      </p:stCondLst>
                      <p:childTnLst>
                        <p:par>
                          <p:cTn id="77" fill="hold" nodeType="withGroup">
                            <p:stCondLst>
                              <p:cond delay="0"/>
                            </p:stCondLst>
                            <p:childTnLst>
                              <p:par>
                                <p:cTn id="78" presetID="35" presetClass="entr" presetSubtype="0" fill="hold" grpId="0" nodeType="clickEffect">
                                  <p:stCondLst>
                                    <p:cond delay="0"/>
                                  </p:stCondLst>
                                  <p:childTnLst>
                                    <p:set>
                                      <p:cBhvr>
                                        <p:cTn id="79" dur="1" fill="hold">
                                          <p:stCondLst>
                                            <p:cond delay="0"/>
                                          </p:stCondLst>
                                        </p:cTn>
                                        <p:tgtEl>
                                          <p:spTgt spid="127"/>
                                        </p:tgtEl>
                                        <p:attrNameLst>
                                          <p:attrName>style.visibility</p:attrName>
                                        </p:attrNameLst>
                                      </p:cBhvr>
                                      <p:to>
                                        <p:strVal val="visible"/>
                                      </p:to>
                                    </p:set>
                                    <p:animEffect transition="in" filter="fade">
                                      <p:cBhvr>
                                        <p:cTn id="80" dur="2000"/>
                                        <p:tgtEl>
                                          <p:spTgt spid="127"/>
                                        </p:tgtEl>
                                      </p:cBhvr>
                                    </p:animEffect>
                                    <p:anim calcmode="lin" valueType="num">
                                      <p:cBhvr>
                                        <p:cTn id="81" dur="2000" fill="hold"/>
                                        <p:tgtEl>
                                          <p:spTgt spid="127"/>
                                        </p:tgtEl>
                                        <p:attrNameLst>
                                          <p:attrName>style.rotation</p:attrName>
                                        </p:attrNameLst>
                                      </p:cBhvr>
                                      <p:tavLst>
                                        <p:tav tm="0">
                                          <p:val>
                                            <p:fltVal val="720"/>
                                          </p:val>
                                        </p:tav>
                                        <p:tav tm="100000">
                                          <p:val>
                                            <p:fltVal val="0"/>
                                          </p:val>
                                        </p:tav>
                                      </p:tavLst>
                                    </p:anim>
                                    <p:anim calcmode="lin" valueType="num">
                                      <p:cBhvr>
                                        <p:cTn id="82" dur="2000" fill="hold"/>
                                        <p:tgtEl>
                                          <p:spTgt spid="127"/>
                                        </p:tgtEl>
                                        <p:attrNameLst>
                                          <p:attrName>ppt_h</p:attrName>
                                        </p:attrNameLst>
                                      </p:cBhvr>
                                      <p:tavLst>
                                        <p:tav tm="0">
                                          <p:val>
                                            <p:fltVal val="0"/>
                                          </p:val>
                                        </p:tav>
                                        <p:tav tm="100000">
                                          <p:val>
                                            <p:strVal val="#ppt_h"/>
                                          </p:val>
                                        </p:tav>
                                      </p:tavLst>
                                    </p:anim>
                                    <p:anim calcmode="lin" valueType="num">
                                      <p:cBhvr>
                                        <p:cTn id="83" dur="2000" fill="hold"/>
                                        <p:tgtEl>
                                          <p:spTgt spid="127"/>
                                        </p:tgtEl>
                                        <p:attrNameLst>
                                          <p:attrName>ppt_w</p:attrName>
                                        </p:attrNameLst>
                                      </p:cBhvr>
                                      <p:tavLst>
                                        <p:tav tm="0">
                                          <p:val>
                                            <p:fltVal val="0"/>
                                          </p:val>
                                        </p:tav>
                                        <p:tav tm="100000">
                                          <p:val>
                                            <p:strVal val="#ppt_w"/>
                                          </p:val>
                                        </p:tav>
                                      </p:tavLst>
                                    </p:anim>
                                  </p:childTnLst>
                                </p:cTn>
                              </p:par>
                            </p:childTnLst>
                          </p:cTn>
                        </p:par>
                        <p:par>
                          <p:cTn id="84" fill="hold" nodeType="afterGroup">
                            <p:stCondLst>
                              <p:cond delay="2000"/>
                            </p:stCondLst>
                            <p:childTnLst>
                              <p:par>
                                <p:cTn id="85" presetID="26" presetClass="entr" presetSubtype="0" fill="hold" grpId="0" nodeType="afterEffect">
                                  <p:stCondLst>
                                    <p:cond delay="0"/>
                                  </p:stCondLst>
                                  <p:childTnLst>
                                    <p:set>
                                      <p:cBhvr>
                                        <p:cTn id="86" dur="1" fill="hold">
                                          <p:stCondLst>
                                            <p:cond delay="0"/>
                                          </p:stCondLst>
                                        </p:cTn>
                                        <p:tgtEl>
                                          <p:spTgt spid="128"/>
                                        </p:tgtEl>
                                        <p:attrNameLst>
                                          <p:attrName>style.visibility</p:attrName>
                                        </p:attrNameLst>
                                      </p:cBhvr>
                                      <p:to>
                                        <p:strVal val="visible"/>
                                      </p:to>
                                    </p:set>
                                    <p:animEffect transition="in" filter="wipe(down)">
                                      <p:cBhvr>
                                        <p:cTn id="87" dur="580">
                                          <p:stCondLst>
                                            <p:cond delay="0"/>
                                          </p:stCondLst>
                                        </p:cTn>
                                        <p:tgtEl>
                                          <p:spTgt spid="128"/>
                                        </p:tgtEl>
                                      </p:cBhvr>
                                    </p:animEffect>
                                    <p:anim calcmode="lin" valueType="num">
                                      <p:cBhvr>
                                        <p:cTn id="88" dur="1822" tmFilter="0,0; 0.14,0.36; 0.43,0.73; 0.71,0.91; 1.0,1.0">
                                          <p:stCondLst>
                                            <p:cond delay="0"/>
                                          </p:stCondLst>
                                        </p:cTn>
                                        <p:tgtEl>
                                          <p:spTgt spid="128"/>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128"/>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128"/>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128"/>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128"/>
                                        </p:tgtEl>
                                        <p:attrNameLst>
                                          <p:attrName>ppt_y</p:attrName>
                                        </p:attrNameLst>
                                      </p:cBhvr>
                                      <p:tavLst>
                                        <p:tav tm="0" fmla="#ppt_y-sin(pi*$)/81">
                                          <p:val>
                                            <p:fltVal val="0"/>
                                          </p:val>
                                        </p:tav>
                                        <p:tav tm="100000">
                                          <p:val>
                                            <p:fltVal val="1"/>
                                          </p:val>
                                        </p:tav>
                                      </p:tavLst>
                                    </p:anim>
                                    <p:animScale>
                                      <p:cBhvr>
                                        <p:cTn id="93" dur="26">
                                          <p:stCondLst>
                                            <p:cond delay="650"/>
                                          </p:stCondLst>
                                        </p:cTn>
                                        <p:tgtEl>
                                          <p:spTgt spid="128"/>
                                        </p:tgtEl>
                                      </p:cBhvr>
                                      <p:to x="100000" y="60000"/>
                                    </p:animScale>
                                    <p:animScale>
                                      <p:cBhvr>
                                        <p:cTn id="94" dur="166" decel="50000">
                                          <p:stCondLst>
                                            <p:cond delay="676"/>
                                          </p:stCondLst>
                                        </p:cTn>
                                        <p:tgtEl>
                                          <p:spTgt spid="128"/>
                                        </p:tgtEl>
                                      </p:cBhvr>
                                      <p:to x="100000" y="100000"/>
                                    </p:animScale>
                                    <p:animScale>
                                      <p:cBhvr>
                                        <p:cTn id="95" dur="26">
                                          <p:stCondLst>
                                            <p:cond delay="1312"/>
                                          </p:stCondLst>
                                        </p:cTn>
                                        <p:tgtEl>
                                          <p:spTgt spid="128"/>
                                        </p:tgtEl>
                                      </p:cBhvr>
                                      <p:to x="100000" y="80000"/>
                                    </p:animScale>
                                    <p:animScale>
                                      <p:cBhvr>
                                        <p:cTn id="96" dur="166" decel="50000">
                                          <p:stCondLst>
                                            <p:cond delay="1338"/>
                                          </p:stCondLst>
                                        </p:cTn>
                                        <p:tgtEl>
                                          <p:spTgt spid="128"/>
                                        </p:tgtEl>
                                      </p:cBhvr>
                                      <p:to x="100000" y="100000"/>
                                    </p:animScale>
                                    <p:animScale>
                                      <p:cBhvr>
                                        <p:cTn id="97" dur="26">
                                          <p:stCondLst>
                                            <p:cond delay="1642"/>
                                          </p:stCondLst>
                                        </p:cTn>
                                        <p:tgtEl>
                                          <p:spTgt spid="128"/>
                                        </p:tgtEl>
                                      </p:cBhvr>
                                      <p:to x="100000" y="90000"/>
                                    </p:animScale>
                                    <p:animScale>
                                      <p:cBhvr>
                                        <p:cTn id="98" dur="166" decel="50000">
                                          <p:stCondLst>
                                            <p:cond delay="1668"/>
                                          </p:stCondLst>
                                        </p:cTn>
                                        <p:tgtEl>
                                          <p:spTgt spid="128"/>
                                        </p:tgtEl>
                                      </p:cBhvr>
                                      <p:to x="100000" y="100000"/>
                                    </p:animScale>
                                    <p:animScale>
                                      <p:cBhvr>
                                        <p:cTn id="99" dur="26">
                                          <p:stCondLst>
                                            <p:cond delay="1808"/>
                                          </p:stCondLst>
                                        </p:cTn>
                                        <p:tgtEl>
                                          <p:spTgt spid="128"/>
                                        </p:tgtEl>
                                      </p:cBhvr>
                                      <p:to x="100000" y="95000"/>
                                    </p:animScale>
                                    <p:animScale>
                                      <p:cBhvr>
                                        <p:cTn id="100" dur="166" decel="50000">
                                          <p:stCondLst>
                                            <p:cond delay="1834"/>
                                          </p:stCondLst>
                                        </p:cTn>
                                        <p:tgtEl>
                                          <p:spTgt spid="12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P spid="126" grpId="0"/>
      <p:bldP spid="127" grpId="0" animBg="1"/>
      <p:bldP spid="128" grpId="0"/>
      <p:bldP spid="124" grpId="0"/>
    </p:bldLst>
  </p:timing>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43009" name="Rectangle 1"/>
          <p:cNvSpPr>
            <a:spLocks noChangeArrowheads="1"/>
          </p:cNvSpPr>
          <p:nvPr/>
        </p:nvSpPr>
        <p:spPr bwMode="auto">
          <a:xfrm>
            <a:off x="285750" y="327025"/>
            <a:ext cx="37766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r>
              <a:rPr lang="fr-FR" altLang="fr-FR" sz="1800" b="1">
                <a:solidFill>
                  <a:srgbClr val="002060"/>
                </a:solidFill>
                <a:latin typeface="Arial" panose="020B0604020202020204" pitchFamily="34" charset="0"/>
                <a:cs typeface="Times New Roman" panose="02020603050405020304" pitchFamily="18" charset="0"/>
              </a:rPr>
              <a:t>Analyse du fonctionnement</a:t>
            </a:r>
          </a:p>
        </p:txBody>
      </p:sp>
      <p:graphicFrame>
        <p:nvGraphicFramePr>
          <p:cNvPr id="18823" name="Group 391"/>
          <p:cNvGraphicFramePr>
            <a:graphicFrameLocks noGrp="1"/>
          </p:cNvGraphicFramePr>
          <p:nvPr/>
        </p:nvGraphicFramePr>
        <p:xfrm>
          <a:off x="285750" y="1000125"/>
          <a:ext cx="4313238" cy="2679701"/>
        </p:xfrm>
        <a:graphic>
          <a:graphicData uri="http://schemas.openxmlformats.org/drawingml/2006/table">
            <a:tbl>
              <a:tblPr/>
              <a:tblGrid>
                <a:gridCol w="1728571">
                  <a:extLst>
                    <a:ext uri="{9D8B030D-6E8A-4147-A177-3AD203B41FA5}">
                      <a16:colId xmlns:a16="http://schemas.microsoft.com/office/drawing/2014/main" val="20000"/>
                    </a:ext>
                  </a:extLst>
                </a:gridCol>
                <a:gridCol w="1024338">
                  <a:extLst>
                    <a:ext uri="{9D8B030D-6E8A-4147-A177-3AD203B41FA5}">
                      <a16:colId xmlns:a16="http://schemas.microsoft.com/office/drawing/2014/main" val="20001"/>
                    </a:ext>
                  </a:extLst>
                </a:gridCol>
                <a:gridCol w="1560329">
                  <a:extLst>
                    <a:ext uri="{9D8B030D-6E8A-4147-A177-3AD203B41FA5}">
                      <a16:colId xmlns:a16="http://schemas.microsoft.com/office/drawing/2014/main" val="20002"/>
                    </a:ext>
                  </a:extLst>
                </a:gridCol>
              </a:tblGrid>
              <a:tr h="62547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chemeClr val="tx1"/>
                          </a:solidFill>
                          <a:effectLst/>
                          <a:latin typeface="Calibri" pitchFamily="34" charset="0"/>
                        </a:rPr>
                        <a:t>Quadrant 1</a:t>
                      </a: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chemeClr val="tx1"/>
                          </a:solidFill>
                          <a:effectLst/>
                          <a:latin typeface="Calibri" pitchFamily="34" charset="0"/>
                        </a:rPr>
                        <a:t>Pont A</a:t>
                      </a: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2000" b="1" i="0" u="none" strike="noStrike" cap="none" normalizeH="0" baseline="0" dirty="0" smtClean="0">
                          <a:ln>
                            <a:noFill/>
                          </a:ln>
                          <a:solidFill>
                            <a:schemeClr val="tx1"/>
                          </a:solidFill>
                          <a:effectLst/>
                          <a:latin typeface="Calibri" pitchFamily="34" charset="0"/>
                        </a:rPr>
                        <a:t>Redresseur</a:t>
                      </a: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032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FF0000"/>
                        </a:solidFill>
                        <a:effectLst/>
                        <a:latin typeface="Calibri" pitchFamily="34" charset="0"/>
                      </a:endParaRP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FF0000"/>
                        </a:solidFill>
                        <a:effectLst/>
                        <a:latin typeface="Calibri" pitchFamily="34" charset="0"/>
                      </a:endParaRP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FF0000"/>
                        </a:solidFill>
                        <a:effectLst/>
                        <a:latin typeface="Calibri" pitchFamily="34" charset="0"/>
                      </a:endParaRP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47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smtClean="0">
                        <a:ln>
                          <a:noFill/>
                        </a:ln>
                        <a:solidFill>
                          <a:srgbClr val="FF0000"/>
                        </a:solidFill>
                        <a:effectLst/>
                        <a:latin typeface="Calibri" pitchFamily="34" charset="0"/>
                      </a:endParaRP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smtClean="0">
                        <a:ln>
                          <a:noFill/>
                        </a:ln>
                        <a:solidFill>
                          <a:srgbClr val="FF0000"/>
                        </a:solidFill>
                        <a:effectLst/>
                        <a:latin typeface="Calibri" pitchFamily="34" charset="0"/>
                      </a:endParaRP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FF0000"/>
                        </a:solidFill>
                        <a:effectLst/>
                        <a:latin typeface="Calibri" pitchFamily="34" charset="0"/>
                      </a:endParaRP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25477">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FF0000"/>
                        </a:solidFill>
                        <a:effectLst/>
                        <a:latin typeface="Calibri" pitchFamily="34" charset="0"/>
                      </a:endParaRP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smtClean="0">
                        <a:ln>
                          <a:noFill/>
                        </a:ln>
                        <a:solidFill>
                          <a:srgbClr val="FF0000"/>
                        </a:solidFill>
                        <a:effectLst/>
                        <a:latin typeface="Calibri" pitchFamily="34" charset="0"/>
                      </a:endParaRP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fr-FR" sz="2000" b="1" i="0" u="none" strike="noStrike" cap="none" normalizeH="0" baseline="0" dirty="0" smtClean="0">
                        <a:ln>
                          <a:noFill/>
                        </a:ln>
                        <a:solidFill>
                          <a:srgbClr val="FF0000"/>
                        </a:solidFill>
                        <a:effectLst/>
                        <a:latin typeface="Calibri" pitchFamily="34" charset="0"/>
                      </a:endParaRPr>
                    </a:p>
                  </a:txBody>
                  <a:tcPr marL="91439" marR="91439"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2" name="Groupe 246"/>
          <p:cNvGrpSpPr>
            <a:grpSpLocks/>
          </p:cNvGrpSpPr>
          <p:nvPr/>
        </p:nvGrpSpPr>
        <p:grpSpPr bwMode="auto">
          <a:xfrm>
            <a:off x="4643438" y="2571750"/>
            <a:ext cx="4271962" cy="1565275"/>
            <a:chOff x="4643438" y="2571744"/>
            <a:chExt cx="4271963" cy="1565590"/>
          </a:xfrm>
        </p:grpSpPr>
        <p:cxnSp>
          <p:nvCxnSpPr>
            <p:cNvPr id="102679" name="AutoShape 3"/>
            <p:cNvCxnSpPr>
              <a:cxnSpLocks noChangeShapeType="1"/>
            </p:cNvCxnSpPr>
            <p:nvPr/>
          </p:nvCxnSpPr>
          <p:spPr bwMode="auto">
            <a:xfrm>
              <a:off x="4956307" y="3119831"/>
              <a:ext cx="625738"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680" name="AutoShape 4"/>
            <p:cNvCxnSpPr>
              <a:cxnSpLocks noChangeShapeType="1"/>
            </p:cNvCxnSpPr>
            <p:nvPr/>
          </p:nvCxnSpPr>
          <p:spPr bwMode="auto">
            <a:xfrm>
              <a:off x="4956307" y="3353235"/>
              <a:ext cx="860389"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681" name="AutoShape 5"/>
            <p:cNvCxnSpPr>
              <a:cxnSpLocks noChangeShapeType="1"/>
            </p:cNvCxnSpPr>
            <p:nvPr/>
          </p:nvCxnSpPr>
          <p:spPr bwMode="auto">
            <a:xfrm>
              <a:off x="4956307" y="3589247"/>
              <a:ext cx="1095041"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682" name="AutoShape 6"/>
            <p:cNvCxnSpPr>
              <a:cxnSpLocks noChangeShapeType="1"/>
            </p:cNvCxnSpPr>
            <p:nvPr/>
          </p:nvCxnSpPr>
          <p:spPr bwMode="auto">
            <a:xfrm>
              <a:off x="5582044" y="2572179"/>
              <a:ext cx="2190082"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83" name="AutoShape 7"/>
            <p:cNvCxnSpPr>
              <a:cxnSpLocks noChangeShapeType="1"/>
            </p:cNvCxnSpPr>
            <p:nvPr/>
          </p:nvCxnSpPr>
          <p:spPr bwMode="auto">
            <a:xfrm>
              <a:off x="5582044" y="2572179"/>
              <a:ext cx="0" cy="1564721"/>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84" name="AutoShape 8"/>
            <p:cNvCxnSpPr>
              <a:cxnSpLocks noChangeShapeType="1"/>
            </p:cNvCxnSpPr>
            <p:nvPr/>
          </p:nvCxnSpPr>
          <p:spPr bwMode="auto">
            <a:xfrm>
              <a:off x="5816696" y="2572179"/>
              <a:ext cx="0" cy="1564721"/>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85" name="AutoShape 9"/>
            <p:cNvCxnSpPr>
              <a:cxnSpLocks noChangeShapeType="1"/>
            </p:cNvCxnSpPr>
            <p:nvPr/>
          </p:nvCxnSpPr>
          <p:spPr bwMode="auto">
            <a:xfrm>
              <a:off x="6051348" y="3667483"/>
              <a:ext cx="938606" cy="0"/>
            </a:xfrm>
            <a:prstGeom prst="straightConnector1">
              <a:avLst/>
            </a:prstGeom>
            <a:noFill/>
            <a:ln w="2540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2686" name="AutoShape 10"/>
            <p:cNvCxnSpPr>
              <a:cxnSpLocks noChangeShapeType="1"/>
            </p:cNvCxnSpPr>
            <p:nvPr/>
          </p:nvCxnSpPr>
          <p:spPr bwMode="auto">
            <a:xfrm>
              <a:off x="6051348" y="2572179"/>
              <a:ext cx="0" cy="1564721"/>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87" name="AutoShape 11"/>
            <p:cNvCxnSpPr>
              <a:cxnSpLocks noChangeShapeType="1"/>
            </p:cNvCxnSpPr>
            <p:nvPr/>
          </p:nvCxnSpPr>
          <p:spPr bwMode="auto">
            <a:xfrm>
              <a:off x="5816696" y="3432775"/>
              <a:ext cx="938606" cy="0"/>
            </a:xfrm>
            <a:prstGeom prst="straightConnector1">
              <a:avLst/>
            </a:prstGeom>
            <a:noFill/>
            <a:ln w="2540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2688" name="AutoShape 12"/>
            <p:cNvCxnSpPr>
              <a:cxnSpLocks noChangeShapeType="1"/>
            </p:cNvCxnSpPr>
            <p:nvPr/>
          </p:nvCxnSpPr>
          <p:spPr bwMode="auto">
            <a:xfrm>
              <a:off x="5583783" y="3198067"/>
              <a:ext cx="938606" cy="0"/>
            </a:xfrm>
            <a:prstGeom prst="straightConnector1">
              <a:avLst/>
            </a:prstGeom>
            <a:noFill/>
            <a:ln w="2540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2689" name="AutoShape 13"/>
            <p:cNvCxnSpPr>
              <a:cxnSpLocks noChangeShapeType="1"/>
            </p:cNvCxnSpPr>
            <p:nvPr/>
          </p:nvCxnSpPr>
          <p:spPr bwMode="auto">
            <a:xfrm>
              <a:off x="5582044" y="4136899"/>
              <a:ext cx="2190082"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690" name="Group 14"/>
            <p:cNvGrpSpPr>
              <a:grpSpLocks/>
            </p:cNvGrpSpPr>
            <p:nvPr/>
          </p:nvGrpSpPr>
          <p:grpSpPr bwMode="auto">
            <a:xfrm>
              <a:off x="5973130" y="3823955"/>
              <a:ext cx="194239" cy="156472"/>
              <a:chOff x="3757" y="4297"/>
              <a:chExt cx="447" cy="360"/>
            </a:xfrm>
          </p:grpSpPr>
          <p:cxnSp>
            <p:nvCxnSpPr>
              <p:cNvPr id="102783" name="AutoShape 15"/>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84" name="AutoShape 16"/>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85" name="AutoShape 17"/>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86" name="AutoShape 18"/>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87" name="AutoShape 19"/>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91" name="Group 20"/>
            <p:cNvGrpSpPr>
              <a:grpSpLocks/>
            </p:cNvGrpSpPr>
            <p:nvPr/>
          </p:nvGrpSpPr>
          <p:grpSpPr bwMode="auto">
            <a:xfrm>
              <a:off x="5738479" y="3823955"/>
              <a:ext cx="194239" cy="156472"/>
              <a:chOff x="3757" y="4297"/>
              <a:chExt cx="447" cy="360"/>
            </a:xfrm>
          </p:grpSpPr>
          <p:cxnSp>
            <p:nvCxnSpPr>
              <p:cNvPr id="102778" name="AutoShape 21"/>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79" name="AutoShape 22"/>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80" name="AutoShape 23"/>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81" name="AutoShape 24"/>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82" name="AutoShape 25"/>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92" name="Group 26"/>
            <p:cNvGrpSpPr>
              <a:grpSpLocks/>
            </p:cNvGrpSpPr>
            <p:nvPr/>
          </p:nvGrpSpPr>
          <p:grpSpPr bwMode="auto">
            <a:xfrm>
              <a:off x="5503827" y="3823955"/>
              <a:ext cx="194239" cy="156472"/>
              <a:chOff x="3757" y="4297"/>
              <a:chExt cx="447" cy="360"/>
            </a:xfrm>
          </p:grpSpPr>
          <p:cxnSp>
            <p:nvCxnSpPr>
              <p:cNvPr id="102773" name="AutoShape 27"/>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74" name="AutoShape 28"/>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75" name="AutoShape 29"/>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76" name="AutoShape 30"/>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77" name="AutoShape 31"/>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93" name="Group 32"/>
            <p:cNvGrpSpPr>
              <a:grpSpLocks/>
            </p:cNvGrpSpPr>
            <p:nvPr/>
          </p:nvGrpSpPr>
          <p:grpSpPr bwMode="auto">
            <a:xfrm>
              <a:off x="5503827" y="2728651"/>
              <a:ext cx="194239" cy="156472"/>
              <a:chOff x="3757" y="4297"/>
              <a:chExt cx="447" cy="360"/>
            </a:xfrm>
          </p:grpSpPr>
          <p:cxnSp>
            <p:nvCxnSpPr>
              <p:cNvPr id="102768" name="AutoShape 33"/>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69" name="AutoShape 34"/>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70" name="AutoShape 35"/>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71" name="AutoShape 36"/>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72" name="AutoShape 37"/>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94" name="Group 38"/>
            <p:cNvGrpSpPr>
              <a:grpSpLocks/>
            </p:cNvGrpSpPr>
            <p:nvPr/>
          </p:nvGrpSpPr>
          <p:grpSpPr bwMode="auto">
            <a:xfrm>
              <a:off x="5738479" y="2728651"/>
              <a:ext cx="194239" cy="156472"/>
              <a:chOff x="3757" y="4297"/>
              <a:chExt cx="447" cy="360"/>
            </a:xfrm>
          </p:grpSpPr>
          <p:cxnSp>
            <p:nvCxnSpPr>
              <p:cNvPr id="102763" name="AutoShape 39"/>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64" name="AutoShape 40"/>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65" name="AutoShape 41"/>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66" name="AutoShape 42"/>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67" name="AutoShape 43"/>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95" name="Group 44"/>
            <p:cNvGrpSpPr>
              <a:grpSpLocks/>
            </p:cNvGrpSpPr>
            <p:nvPr/>
          </p:nvGrpSpPr>
          <p:grpSpPr bwMode="auto">
            <a:xfrm>
              <a:off x="5973130" y="2725608"/>
              <a:ext cx="194239" cy="156472"/>
              <a:chOff x="3757" y="4297"/>
              <a:chExt cx="447" cy="360"/>
            </a:xfrm>
          </p:grpSpPr>
          <p:cxnSp>
            <p:nvCxnSpPr>
              <p:cNvPr id="102758" name="AutoShape 45"/>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59" name="AutoShape 46"/>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60" name="AutoShape 47"/>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61" name="AutoShape 48"/>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62" name="AutoShape 49"/>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cxnSp>
          <p:nvCxnSpPr>
            <p:cNvPr id="102696" name="AutoShape 50"/>
            <p:cNvCxnSpPr>
              <a:cxnSpLocks noChangeShapeType="1"/>
            </p:cNvCxnSpPr>
            <p:nvPr/>
          </p:nvCxnSpPr>
          <p:spPr bwMode="auto">
            <a:xfrm rot="10800000">
              <a:off x="6991692" y="2572179"/>
              <a:ext cx="0" cy="1564721"/>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97" name="AutoShape 51"/>
            <p:cNvCxnSpPr>
              <a:cxnSpLocks noChangeShapeType="1"/>
            </p:cNvCxnSpPr>
            <p:nvPr/>
          </p:nvCxnSpPr>
          <p:spPr bwMode="auto">
            <a:xfrm rot="10800000">
              <a:off x="6757041" y="2572179"/>
              <a:ext cx="0" cy="1564721"/>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98" name="AutoShape 52"/>
            <p:cNvCxnSpPr>
              <a:cxnSpLocks noChangeShapeType="1"/>
            </p:cNvCxnSpPr>
            <p:nvPr/>
          </p:nvCxnSpPr>
          <p:spPr bwMode="auto">
            <a:xfrm rot="10800000">
              <a:off x="6522389" y="2572179"/>
              <a:ext cx="0" cy="1564721"/>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699" name="Group 53"/>
            <p:cNvGrpSpPr>
              <a:grpSpLocks/>
            </p:cNvGrpSpPr>
            <p:nvPr/>
          </p:nvGrpSpPr>
          <p:grpSpPr bwMode="auto">
            <a:xfrm rot="10800000">
              <a:off x="6405498" y="2728651"/>
              <a:ext cx="194239" cy="156472"/>
              <a:chOff x="3757" y="4297"/>
              <a:chExt cx="447" cy="360"/>
            </a:xfrm>
          </p:grpSpPr>
          <p:cxnSp>
            <p:nvCxnSpPr>
              <p:cNvPr id="102753" name="AutoShape 54"/>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54" name="AutoShape 55"/>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55" name="AutoShape 56"/>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56" name="AutoShape 57"/>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57" name="AutoShape 58"/>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700" name="Group 59"/>
            <p:cNvGrpSpPr>
              <a:grpSpLocks/>
            </p:cNvGrpSpPr>
            <p:nvPr/>
          </p:nvGrpSpPr>
          <p:grpSpPr bwMode="auto">
            <a:xfrm rot="10800000">
              <a:off x="6640149" y="2728651"/>
              <a:ext cx="194239" cy="156472"/>
              <a:chOff x="3757" y="4297"/>
              <a:chExt cx="447" cy="360"/>
            </a:xfrm>
          </p:grpSpPr>
          <p:cxnSp>
            <p:nvCxnSpPr>
              <p:cNvPr id="102748" name="AutoShape 60"/>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49" name="AutoShape 61"/>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50" name="AutoShape 62"/>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51" name="AutoShape 63"/>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52" name="AutoShape 64"/>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701" name="Group 65"/>
            <p:cNvGrpSpPr>
              <a:grpSpLocks/>
            </p:cNvGrpSpPr>
            <p:nvPr/>
          </p:nvGrpSpPr>
          <p:grpSpPr bwMode="auto">
            <a:xfrm rot="10800000">
              <a:off x="6874801" y="2728651"/>
              <a:ext cx="194239" cy="156472"/>
              <a:chOff x="3757" y="4297"/>
              <a:chExt cx="447" cy="360"/>
            </a:xfrm>
          </p:grpSpPr>
          <p:cxnSp>
            <p:nvCxnSpPr>
              <p:cNvPr id="102743" name="AutoShape 66"/>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44" name="AutoShape 67"/>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45" name="AutoShape 68"/>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46" name="AutoShape 69"/>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47" name="AutoShape 70"/>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702" name="Group 71"/>
            <p:cNvGrpSpPr>
              <a:grpSpLocks/>
            </p:cNvGrpSpPr>
            <p:nvPr/>
          </p:nvGrpSpPr>
          <p:grpSpPr bwMode="auto">
            <a:xfrm rot="10800000">
              <a:off x="6875236" y="3823955"/>
              <a:ext cx="194239" cy="156472"/>
              <a:chOff x="3757" y="4297"/>
              <a:chExt cx="447" cy="360"/>
            </a:xfrm>
          </p:grpSpPr>
          <p:cxnSp>
            <p:nvCxnSpPr>
              <p:cNvPr id="102738" name="AutoShape 72"/>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39" name="AutoShape 73"/>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40" name="AutoShape 74"/>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41" name="AutoShape 75"/>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42" name="AutoShape 76"/>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703" name="Group 77"/>
            <p:cNvGrpSpPr>
              <a:grpSpLocks/>
            </p:cNvGrpSpPr>
            <p:nvPr/>
          </p:nvGrpSpPr>
          <p:grpSpPr bwMode="auto">
            <a:xfrm rot="10800000">
              <a:off x="6640584" y="3823955"/>
              <a:ext cx="194239" cy="156472"/>
              <a:chOff x="3757" y="4297"/>
              <a:chExt cx="447" cy="360"/>
            </a:xfrm>
          </p:grpSpPr>
          <p:cxnSp>
            <p:nvCxnSpPr>
              <p:cNvPr id="102733" name="AutoShape 78"/>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34" name="AutoShape 79"/>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35" name="AutoShape 80"/>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36" name="AutoShape 81"/>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37" name="AutoShape 82"/>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704" name="Group 83"/>
            <p:cNvGrpSpPr>
              <a:grpSpLocks/>
            </p:cNvGrpSpPr>
            <p:nvPr/>
          </p:nvGrpSpPr>
          <p:grpSpPr bwMode="auto">
            <a:xfrm rot="10800000">
              <a:off x="6405932" y="3826998"/>
              <a:ext cx="194239" cy="156472"/>
              <a:chOff x="3757" y="4297"/>
              <a:chExt cx="447" cy="360"/>
            </a:xfrm>
          </p:grpSpPr>
          <p:cxnSp>
            <p:nvCxnSpPr>
              <p:cNvPr id="102728" name="AutoShape 84"/>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29" name="AutoShape 85"/>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30" name="AutoShape 86"/>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31" name="AutoShape 87"/>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32" name="AutoShape 88"/>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sp>
          <p:nvSpPr>
            <p:cNvPr id="102705" name="Oval 89"/>
            <p:cNvSpPr>
              <a:spLocks noChangeArrowheads="1"/>
            </p:cNvSpPr>
            <p:nvPr/>
          </p:nvSpPr>
          <p:spPr bwMode="auto">
            <a:xfrm>
              <a:off x="7572396" y="3119831"/>
              <a:ext cx="468869" cy="469416"/>
            </a:xfrm>
            <a:prstGeom prst="ellipse">
              <a:avLst/>
            </a:prstGeom>
            <a:solidFill>
              <a:srgbClr val="FFFFFF"/>
            </a:solidFill>
            <a:ln w="25400">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spcAft>
                  <a:spcPts val="1000"/>
                </a:spcAft>
                <a:buClrTx/>
                <a:buSzTx/>
                <a:buFontTx/>
                <a:buNone/>
              </a:pPr>
              <a:r>
                <a:rPr lang="fr-FR" altLang="fr-FR" sz="600" b="1">
                  <a:latin typeface="Calibri" panose="020F0502020204030204" pitchFamily="34" charset="0"/>
                </a:rPr>
                <a:t>MCC</a:t>
              </a:r>
              <a:endParaRPr lang="fr-FR" altLang="fr-FR" sz="900" b="1">
                <a:latin typeface="Arial" panose="020B0604020202020204" pitchFamily="34" charset="0"/>
              </a:endParaRPr>
            </a:p>
          </p:txBody>
        </p:sp>
        <p:sp>
          <p:nvSpPr>
            <p:cNvPr id="102706" name="Text Box 90"/>
            <p:cNvSpPr txBox="1">
              <a:spLocks noChangeArrowheads="1"/>
            </p:cNvSpPr>
            <p:nvPr/>
          </p:nvSpPr>
          <p:spPr bwMode="auto">
            <a:xfrm>
              <a:off x="7643834" y="3214686"/>
              <a:ext cx="156434" cy="31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000" b="1">
                  <a:latin typeface="Calibri" panose="020F0502020204030204" pitchFamily="34" charset="0"/>
                </a:rPr>
                <a:t>=</a:t>
              </a:r>
              <a:endParaRPr lang="fr-FR" altLang="fr-FR" sz="1400">
                <a:latin typeface="Arial" panose="020B0604020202020204" pitchFamily="34" charset="0"/>
              </a:endParaRPr>
            </a:p>
          </p:txBody>
        </p:sp>
        <p:cxnSp>
          <p:nvCxnSpPr>
            <p:cNvPr id="102707" name="AutoShape 91"/>
            <p:cNvCxnSpPr>
              <a:cxnSpLocks noChangeShapeType="1"/>
            </p:cNvCxnSpPr>
            <p:nvPr/>
          </p:nvCxnSpPr>
          <p:spPr bwMode="auto">
            <a:xfrm flipV="1">
              <a:off x="7772126" y="2572179"/>
              <a:ext cx="435" cy="547652"/>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08" name="AutoShape 92"/>
            <p:cNvCxnSpPr>
              <a:cxnSpLocks noChangeShapeType="1"/>
            </p:cNvCxnSpPr>
            <p:nvPr/>
          </p:nvCxnSpPr>
          <p:spPr bwMode="auto">
            <a:xfrm flipV="1">
              <a:off x="7772126" y="3589247"/>
              <a:ext cx="435" cy="546348"/>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709" name="Group 93"/>
            <p:cNvGrpSpPr>
              <a:grpSpLocks/>
            </p:cNvGrpSpPr>
            <p:nvPr/>
          </p:nvGrpSpPr>
          <p:grpSpPr bwMode="auto">
            <a:xfrm>
              <a:off x="8081953" y="3153733"/>
              <a:ext cx="78217" cy="358582"/>
              <a:chOff x="8977" y="1777"/>
              <a:chExt cx="180" cy="825"/>
            </a:xfrm>
          </p:grpSpPr>
          <p:grpSp>
            <p:nvGrpSpPr>
              <p:cNvPr id="102719" name="Group 94"/>
              <p:cNvGrpSpPr>
                <a:grpSpLocks/>
              </p:cNvGrpSpPr>
              <p:nvPr/>
            </p:nvGrpSpPr>
            <p:grpSpPr bwMode="auto">
              <a:xfrm>
                <a:off x="8977" y="1777"/>
                <a:ext cx="180" cy="275"/>
                <a:chOff x="8977" y="1597"/>
                <a:chExt cx="360" cy="726"/>
              </a:xfrm>
            </p:grpSpPr>
            <p:sp>
              <p:nvSpPr>
                <p:cNvPr id="102726" name="Arc 95"/>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727" name="Arc 96"/>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2720" name="Group 97"/>
              <p:cNvGrpSpPr>
                <a:grpSpLocks/>
              </p:cNvGrpSpPr>
              <p:nvPr/>
            </p:nvGrpSpPr>
            <p:grpSpPr bwMode="auto">
              <a:xfrm>
                <a:off x="8977" y="2052"/>
                <a:ext cx="180" cy="275"/>
                <a:chOff x="8977" y="1597"/>
                <a:chExt cx="360" cy="726"/>
              </a:xfrm>
            </p:grpSpPr>
            <p:sp>
              <p:nvSpPr>
                <p:cNvPr id="102724" name="Arc 98"/>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725" name="Arc 99"/>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2721" name="Group 100"/>
              <p:cNvGrpSpPr>
                <a:grpSpLocks/>
              </p:cNvGrpSpPr>
              <p:nvPr/>
            </p:nvGrpSpPr>
            <p:grpSpPr bwMode="auto">
              <a:xfrm>
                <a:off x="8977" y="2327"/>
                <a:ext cx="180" cy="275"/>
                <a:chOff x="8977" y="1597"/>
                <a:chExt cx="360" cy="726"/>
              </a:xfrm>
            </p:grpSpPr>
            <p:sp>
              <p:nvSpPr>
                <p:cNvPr id="102722" name="Arc 101"/>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723" name="Arc 102"/>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cxnSp>
          <p:nvCxnSpPr>
            <p:cNvPr id="102710" name="AutoShape 103"/>
            <p:cNvCxnSpPr>
              <a:cxnSpLocks noChangeShapeType="1"/>
            </p:cNvCxnSpPr>
            <p:nvPr/>
          </p:nvCxnSpPr>
          <p:spPr bwMode="auto">
            <a:xfrm flipV="1">
              <a:off x="8160605" y="2572179"/>
              <a:ext cx="0" cy="581555"/>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11" name="AutoShape 104"/>
            <p:cNvCxnSpPr>
              <a:cxnSpLocks noChangeShapeType="1"/>
            </p:cNvCxnSpPr>
            <p:nvPr/>
          </p:nvCxnSpPr>
          <p:spPr bwMode="auto">
            <a:xfrm flipV="1">
              <a:off x="8159736" y="3512315"/>
              <a:ext cx="435" cy="62328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712" name="AutoShape 105"/>
            <p:cNvCxnSpPr>
              <a:cxnSpLocks noChangeShapeType="1"/>
            </p:cNvCxnSpPr>
            <p:nvPr/>
          </p:nvCxnSpPr>
          <p:spPr bwMode="auto">
            <a:xfrm>
              <a:off x="8159736" y="4136899"/>
              <a:ext cx="752189" cy="435"/>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713" name="AutoShape 106"/>
            <p:cNvCxnSpPr>
              <a:cxnSpLocks noChangeShapeType="1"/>
            </p:cNvCxnSpPr>
            <p:nvPr/>
          </p:nvCxnSpPr>
          <p:spPr bwMode="auto">
            <a:xfrm>
              <a:off x="8163212" y="2571744"/>
              <a:ext cx="752189" cy="435"/>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714" name="AutoShape 107"/>
            <p:cNvCxnSpPr>
              <a:cxnSpLocks noChangeShapeType="1"/>
            </p:cNvCxnSpPr>
            <p:nvPr/>
          </p:nvCxnSpPr>
          <p:spPr bwMode="auto">
            <a:xfrm flipV="1">
              <a:off x="8476081" y="2669539"/>
              <a:ext cx="0" cy="1333055"/>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2715" name="Text Box 108"/>
            <p:cNvSpPr txBox="1">
              <a:spLocks noChangeArrowheads="1"/>
            </p:cNvSpPr>
            <p:nvPr/>
          </p:nvSpPr>
          <p:spPr bwMode="auto">
            <a:xfrm>
              <a:off x="8554298" y="3079844"/>
              <a:ext cx="234652" cy="31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000" b="1">
                  <a:latin typeface="Calibri" panose="020F0502020204030204" pitchFamily="34" charset="0"/>
                </a:rPr>
                <a:t>U</a:t>
              </a:r>
              <a:endParaRPr lang="fr-FR" altLang="fr-FR" sz="1800">
                <a:latin typeface="Arial" panose="020B0604020202020204" pitchFamily="34" charset="0"/>
              </a:endParaRPr>
            </a:p>
          </p:txBody>
        </p:sp>
        <p:sp>
          <p:nvSpPr>
            <p:cNvPr id="102716" name="Text Box 109"/>
            <p:cNvSpPr txBox="1">
              <a:spLocks noChangeArrowheads="1"/>
            </p:cNvSpPr>
            <p:nvPr/>
          </p:nvSpPr>
          <p:spPr bwMode="auto">
            <a:xfrm>
              <a:off x="4643438" y="2901205"/>
              <a:ext cx="391086" cy="31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200" b="1">
                  <a:latin typeface="Calibri" panose="020F0502020204030204" pitchFamily="34" charset="0"/>
                </a:rPr>
                <a:t>L1</a:t>
              </a:r>
              <a:endParaRPr lang="fr-FR" altLang="fr-FR" sz="1200">
                <a:latin typeface="Arial" panose="020B0604020202020204" pitchFamily="34" charset="0"/>
              </a:endParaRPr>
            </a:p>
          </p:txBody>
        </p:sp>
        <p:sp>
          <p:nvSpPr>
            <p:cNvPr id="102717" name="Text Box 110"/>
            <p:cNvSpPr txBox="1">
              <a:spLocks noChangeArrowheads="1"/>
            </p:cNvSpPr>
            <p:nvPr/>
          </p:nvSpPr>
          <p:spPr bwMode="auto">
            <a:xfrm>
              <a:off x="4643438" y="3153733"/>
              <a:ext cx="391086" cy="31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200" b="1">
                  <a:latin typeface="Calibri" panose="020F0502020204030204" pitchFamily="34" charset="0"/>
                </a:rPr>
                <a:t>L2</a:t>
              </a:r>
              <a:endParaRPr lang="fr-FR" altLang="fr-FR" sz="1200">
                <a:latin typeface="Arial" panose="020B0604020202020204" pitchFamily="34" charset="0"/>
              </a:endParaRPr>
            </a:p>
          </p:txBody>
        </p:sp>
        <p:sp>
          <p:nvSpPr>
            <p:cNvPr id="102718" name="Text Box 111"/>
            <p:cNvSpPr txBox="1">
              <a:spLocks noChangeArrowheads="1"/>
            </p:cNvSpPr>
            <p:nvPr/>
          </p:nvSpPr>
          <p:spPr bwMode="auto">
            <a:xfrm>
              <a:off x="4643438" y="3432775"/>
              <a:ext cx="391086" cy="312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200" b="1">
                  <a:latin typeface="Calibri" panose="020F0502020204030204" pitchFamily="34" charset="0"/>
                </a:rPr>
                <a:t>L3</a:t>
              </a:r>
              <a:endParaRPr lang="fr-FR" altLang="fr-FR" sz="1200">
                <a:latin typeface="Arial" panose="020B0604020202020204" pitchFamily="34" charset="0"/>
              </a:endParaRPr>
            </a:p>
          </p:txBody>
        </p:sp>
      </p:grpSp>
      <p:sp>
        <p:nvSpPr>
          <p:cNvPr id="244" name="ZoneTexte 243"/>
          <p:cNvSpPr txBox="1">
            <a:spLocks noChangeArrowheads="1"/>
          </p:cNvSpPr>
          <p:nvPr/>
        </p:nvSpPr>
        <p:spPr bwMode="auto">
          <a:xfrm>
            <a:off x="214313" y="1714500"/>
            <a:ext cx="4324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FF0000"/>
                </a:solidFill>
                <a:latin typeface="Calibri" panose="020F0502020204030204" pitchFamily="34" charset="0"/>
              </a:rPr>
              <a:t>  Quadrant 4     	 Pont A         Onduleur</a:t>
            </a:r>
          </a:p>
        </p:txBody>
      </p:sp>
      <p:sp>
        <p:nvSpPr>
          <p:cNvPr id="245" name="ZoneTexte 244"/>
          <p:cNvSpPr txBox="1">
            <a:spLocks noChangeArrowheads="1"/>
          </p:cNvSpPr>
          <p:nvPr/>
        </p:nvSpPr>
        <p:spPr bwMode="auto">
          <a:xfrm>
            <a:off x="214313" y="2571750"/>
            <a:ext cx="4448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Calibri" panose="020F0502020204030204" pitchFamily="34" charset="0"/>
              </a:rPr>
              <a:t>  Quadrant 3      	 Pont B        Redresseur</a:t>
            </a:r>
          </a:p>
        </p:txBody>
      </p:sp>
      <p:sp>
        <p:nvSpPr>
          <p:cNvPr id="246" name="ZoneTexte 245"/>
          <p:cNvSpPr txBox="1">
            <a:spLocks noChangeArrowheads="1"/>
          </p:cNvSpPr>
          <p:nvPr/>
        </p:nvSpPr>
        <p:spPr bwMode="auto">
          <a:xfrm>
            <a:off x="214313" y="3143250"/>
            <a:ext cx="4254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FF0000"/>
                </a:solidFill>
                <a:latin typeface="Calibri" panose="020F0502020204030204" pitchFamily="34" charset="0"/>
              </a:rPr>
              <a:t>  Quadrant 2    	  Pont B       Onduleur</a:t>
            </a:r>
          </a:p>
        </p:txBody>
      </p:sp>
      <p:grpSp>
        <p:nvGrpSpPr>
          <p:cNvPr id="19" name="Groupe 329"/>
          <p:cNvGrpSpPr>
            <a:grpSpLocks/>
          </p:cNvGrpSpPr>
          <p:nvPr/>
        </p:nvGrpSpPr>
        <p:grpSpPr bwMode="auto">
          <a:xfrm>
            <a:off x="4643438" y="2571750"/>
            <a:ext cx="4314825" cy="1581150"/>
            <a:chOff x="257175" y="4576763"/>
            <a:chExt cx="6243638" cy="2287587"/>
          </a:xfrm>
        </p:grpSpPr>
        <p:cxnSp>
          <p:nvCxnSpPr>
            <p:cNvPr id="102612" name="AutoShape 112"/>
            <p:cNvCxnSpPr>
              <a:cxnSpLocks noChangeShapeType="1"/>
            </p:cNvCxnSpPr>
            <p:nvPr/>
          </p:nvCxnSpPr>
          <p:spPr bwMode="auto">
            <a:xfrm>
              <a:off x="714375" y="5376863"/>
              <a:ext cx="914400"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613" name="AutoShape 113"/>
            <p:cNvCxnSpPr>
              <a:cxnSpLocks noChangeShapeType="1"/>
            </p:cNvCxnSpPr>
            <p:nvPr/>
          </p:nvCxnSpPr>
          <p:spPr bwMode="auto">
            <a:xfrm>
              <a:off x="714375" y="5718175"/>
              <a:ext cx="1257300"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614" name="AutoShape 114"/>
            <p:cNvCxnSpPr>
              <a:cxnSpLocks noChangeShapeType="1"/>
            </p:cNvCxnSpPr>
            <p:nvPr/>
          </p:nvCxnSpPr>
          <p:spPr bwMode="auto">
            <a:xfrm>
              <a:off x="714375" y="6062663"/>
              <a:ext cx="1600200"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615" name="AutoShape 115"/>
            <p:cNvCxnSpPr>
              <a:cxnSpLocks noChangeShapeType="1"/>
            </p:cNvCxnSpPr>
            <p:nvPr/>
          </p:nvCxnSpPr>
          <p:spPr bwMode="auto">
            <a:xfrm>
              <a:off x="1628775" y="4576763"/>
              <a:ext cx="320040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16" name="AutoShape 116"/>
            <p:cNvCxnSpPr>
              <a:cxnSpLocks noChangeShapeType="1"/>
            </p:cNvCxnSpPr>
            <p:nvPr/>
          </p:nvCxnSpPr>
          <p:spPr bwMode="auto">
            <a:xfrm>
              <a:off x="1628775" y="4576763"/>
              <a:ext cx="0" cy="22860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17" name="AutoShape 117"/>
            <p:cNvCxnSpPr>
              <a:cxnSpLocks noChangeShapeType="1"/>
            </p:cNvCxnSpPr>
            <p:nvPr/>
          </p:nvCxnSpPr>
          <p:spPr bwMode="auto">
            <a:xfrm>
              <a:off x="1971675" y="4576763"/>
              <a:ext cx="0" cy="22860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18" name="AutoShape 118"/>
            <p:cNvCxnSpPr>
              <a:cxnSpLocks noChangeShapeType="1"/>
            </p:cNvCxnSpPr>
            <p:nvPr/>
          </p:nvCxnSpPr>
          <p:spPr bwMode="auto">
            <a:xfrm>
              <a:off x="2314575" y="4576763"/>
              <a:ext cx="0" cy="22860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19" name="AutoShape 119"/>
            <p:cNvCxnSpPr>
              <a:cxnSpLocks noChangeShapeType="1"/>
            </p:cNvCxnSpPr>
            <p:nvPr/>
          </p:nvCxnSpPr>
          <p:spPr bwMode="auto">
            <a:xfrm>
              <a:off x="1628775" y="6862763"/>
              <a:ext cx="320040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620" name="Group 120"/>
            <p:cNvGrpSpPr>
              <a:grpSpLocks/>
            </p:cNvGrpSpPr>
            <p:nvPr/>
          </p:nvGrpSpPr>
          <p:grpSpPr bwMode="auto">
            <a:xfrm>
              <a:off x="2200275" y="6405563"/>
              <a:ext cx="284163" cy="228600"/>
              <a:chOff x="3757" y="4297"/>
              <a:chExt cx="447" cy="360"/>
            </a:xfrm>
          </p:grpSpPr>
          <p:cxnSp>
            <p:nvCxnSpPr>
              <p:cNvPr id="102674" name="AutoShape 121"/>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75" name="AutoShape 122"/>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76" name="AutoShape 123"/>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77" name="AutoShape 124"/>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78" name="AutoShape 125"/>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21" name="Group 126"/>
            <p:cNvGrpSpPr>
              <a:grpSpLocks/>
            </p:cNvGrpSpPr>
            <p:nvPr/>
          </p:nvGrpSpPr>
          <p:grpSpPr bwMode="auto">
            <a:xfrm>
              <a:off x="1857375" y="6405563"/>
              <a:ext cx="284163" cy="228600"/>
              <a:chOff x="3757" y="4297"/>
              <a:chExt cx="447" cy="360"/>
            </a:xfrm>
          </p:grpSpPr>
          <p:cxnSp>
            <p:nvCxnSpPr>
              <p:cNvPr id="102669" name="AutoShape 127"/>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70" name="AutoShape 128"/>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71" name="AutoShape 129"/>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72" name="AutoShape 130"/>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73" name="AutoShape 131"/>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22" name="Group 132"/>
            <p:cNvGrpSpPr>
              <a:grpSpLocks/>
            </p:cNvGrpSpPr>
            <p:nvPr/>
          </p:nvGrpSpPr>
          <p:grpSpPr bwMode="auto">
            <a:xfrm>
              <a:off x="1514475" y="6405563"/>
              <a:ext cx="284163" cy="228600"/>
              <a:chOff x="3757" y="4297"/>
              <a:chExt cx="447" cy="360"/>
            </a:xfrm>
          </p:grpSpPr>
          <p:cxnSp>
            <p:nvCxnSpPr>
              <p:cNvPr id="102664" name="AutoShape 133"/>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65" name="AutoShape 134"/>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66" name="AutoShape 135"/>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67" name="AutoShape 136"/>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68" name="AutoShape 137"/>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23" name="Group 138"/>
            <p:cNvGrpSpPr>
              <a:grpSpLocks/>
            </p:cNvGrpSpPr>
            <p:nvPr/>
          </p:nvGrpSpPr>
          <p:grpSpPr bwMode="auto">
            <a:xfrm>
              <a:off x="1514475" y="4805363"/>
              <a:ext cx="284163" cy="228600"/>
              <a:chOff x="3757" y="4297"/>
              <a:chExt cx="447" cy="360"/>
            </a:xfrm>
          </p:grpSpPr>
          <p:cxnSp>
            <p:nvCxnSpPr>
              <p:cNvPr id="102659" name="AutoShape 139"/>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60" name="AutoShape 140"/>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61" name="AutoShape 141"/>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62" name="AutoShape 142"/>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63" name="AutoShape 143"/>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24" name="Group 144"/>
            <p:cNvGrpSpPr>
              <a:grpSpLocks/>
            </p:cNvGrpSpPr>
            <p:nvPr/>
          </p:nvGrpSpPr>
          <p:grpSpPr bwMode="auto">
            <a:xfrm>
              <a:off x="1857375" y="4805363"/>
              <a:ext cx="284163" cy="228600"/>
              <a:chOff x="3757" y="4297"/>
              <a:chExt cx="447" cy="360"/>
            </a:xfrm>
          </p:grpSpPr>
          <p:cxnSp>
            <p:nvCxnSpPr>
              <p:cNvPr id="102654" name="AutoShape 145"/>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55" name="AutoShape 146"/>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56" name="AutoShape 147"/>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57" name="AutoShape 148"/>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58" name="AutoShape 149"/>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625" name="Group 150"/>
            <p:cNvGrpSpPr>
              <a:grpSpLocks/>
            </p:cNvGrpSpPr>
            <p:nvPr/>
          </p:nvGrpSpPr>
          <p:grpSpPr bwMode="auto">
            <a:xfrm>
              <a:off x="2200275" y="4800600"/>
              <a:ext cx="284163" cy="228600"/>
              <a:chOff x="3757" y="4297"/>
              <a:chExt cx="447" cy="360"/>
            </a:xfrm>
          </p:grpSpPr>
          <p:cxnSp>
            <p:nvCxnSpPr>
              <p:cNvPr id="102649" name="AutoShape 151"/>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50" name="AutoShape 152"/>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51" name="AutoShape 153"/>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52" name="AutoShape 154"/>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53" name="AutoShape 155"/>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sp>
          <p:nvSpPr>
            <p:cNvPr id="102626" name="Oval 156"/>
            <p:cNvSpPr>
              <a:spLocks noChangeArrowheads="1"/>
            </p:cNvSpPr>
            <p:nvPr/>
          </p:nvSpPr>
          <p:spPr bwMode="auto">
            <a:xfrm>
              <a:off x="4486275" y="5376863"/>
              <a:ext cx="685800" cy="685800"/>
            </a:xfrm>
            <a:prstGeom prst="ellipse">
              <a:avLst/>
            </a:prstGeom>
            <a:solidFill>
              <a:srgbClr val="FFFFFF"/>
            </a:solidFill>
            <a:ln w="25400">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spcAft>
                  <a:spcPts val="1000"/>
                </a:spcAft>
                <a:buClrTx/>
                <a:buSzTx/>
                <a:buFontTx/>
                <a:buNone/>
              </a:pPr>
              <a:r>
                <a:rPr lang="fr-FR" altLang="fr-FR" sz="600">
                  <a:latin typeface="Calibri" panose="020F0502020204030204" pitchFamily="34" charset="0"/>
                </a:rPr>
                <a:t>MCC</a:t>
              </a:r>
              <a:endParaRPr lang="fr-FR" altLang="fr-FR" sz="900">
                <a:latin typeface="Arial" panose="020B0604020202020204" pitchFamily="34" charset="0"/>
              </a:endParaRPr>
            </a:p>
          </p:txBody>
        </p:sp>
        <p:sp>
          <p:nvSpPr>
            <p:cNvPr id="43165" name="Text Box 157"/>
            <p:cNvSpPr txBox="1">
              <a:spLocks noChangeArrowheads="1"/>
            </p:cNvSpPr>
            <p:nvPr/>
          </p:nvSpPr>
          <p:spPr bwMode="auto">
            <a:xfrm>
              <a:off x="4702148" y="5610311"/>
              <a:ext cx="229714" cy="457059"/>
            </a:xfrm>
            <a:prstGeom prst="rect">
              <a:avLst/>
            </a:prstGeom>
            <a:noFill/>
            <a:ln w="25400">
              <a:noFill/>
              <a:miter lim="800000"/>
              <a:headEnd/>
              <a:tailEnd/>
            </a:ln>
          </p:spPr>
          <p:txBody>
            <a:bodyPr/>
            <a:lstStyle/>
            <a:p>
              <a:pPr eaLnBrk="1" hangingPunct="1">
                <a:spcAft>
                  <a:spcPts val="1000"/>
                </a:spcAft>
                <a:defRPr/>
              </a:pPr>
              <a:r>
                <a:rPr lang="fr-FR" sz="1400" b="1" dirty="0">
                  <a:latin typeface="Calibri" pitchFamily="34" charset="0"/>
                </a:rPr>
                <a:t>=</a:t>
              </a:r>
              <a:endParaRPr lang="fr-FR" sz="1050" dirty="0"/>
            </a:p>
          </p:txBody>
        </p:sp>
        <p:cxnSp>
          <p:nvCxnSpPr>
            <p:cNvPr id="102628" name="AutoShape 158"/>
            <p:cNvCxnSpPr>
              <a:cxnSpLocks noChangeShapeType="1"/>
            </p:cNvCxnSpPr>
            <p:nvPr/>
          </p:nvCxnSpPr>
          <p:spPr bwMode="auto">
            <a:xfrm flipV="1">
              <a:off x="4829175" y="4576763"/>
              <a:ext cx="1588" cy="8001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29" name="AutoShape 159"/>
            <p:cNvCxnSpPr>
              <a:cxnSpLocks noChangeShapeType="1"/>
            </p:cNvCxnSpPr>
            <p:nvPr/>
          </p:nvCxnSpPr>
          <p:spPr bwMode="auto">
            <a:xfrm flipV="1">
              <a:off x="4829175" y="6062663"/>
              <a:ext cx="1588" cy="798512"/>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630" name="Group 160"/>
            <p:cNvGrpSpPr>
              <a:grpSpLocks/>
            </p:cNvGrpSpPr>
            <p:nvPr/>
          </p:nvGrpSpPr>
          <p:grpSpPr bwMode="auto">
            <a:xfrm>
              <a:off x="5283200" y="5426075"/>
              <a:ext cx="114300" cy="523875"/>
              <a:chOff x="8977" y="1777"/>
              <a:chExt cx="180" cy="825"/>
            </a:xfrm>
          </p:grpSpPr>
          <p:grpSp>
            <p:nvGrpSpPr>
              <p:cNvPr id="102640" name="Group 161"/>
              <p:cNvGrpSpPr>
                <a:grpSpLocks/>
              </p:cNvGrpSpPr>
              <p:nvPr/>
            </p:nvGrpSpPr>
            <p:grpSpPr bwMode="auto">
              <a:xfrm>
                <a:off x="8977" y="1777"/>
                <a:ext cx="180" cy="275"/>
                <a:chOff x="8977" y="1597"/>
                <a:chExt cx="360" cy="726"/>
              </a:xfrm>
            </p:grpSpPr>
            <p:sp>
              <p:nvSpPr>
                <p:cNvPr id="102647" name="Arc 162"/>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648" name="Arc 163"/>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2641" name="Group 164"/>
              <p:cNvGrpSpPr>
                <a:grpSpLocks/>
              </p:cNvGrpSpPr>
              <p:nvPr/>
            </p:nvGrpSpPr>
            <p:grpSpPr bwMode="auto">
              <a:xfrm>
                <a:off x="8977" y="2052"/>
                <a:ext cx="180" cy="275"/>
                <a:chOff x="8977" y="1597"/>
                <a:chExt cx="360" cy="726"/>
              </a:xfrm>
            </p:grpSpPr>
            <p:sp>
              <p:nvSpPr>
                <p:cNvPr id="102645" name="Arc 165"/>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646" name="Arc 166"/>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2642" name="Group 167"/>
              <p:cNvGrpSpPr>
                <a:grpSpLocks/>
              </p:cNvGrpSpPr>
              <p:nvPr/>
            </p:nvGrpSpPr>
            <p:grpSpPr bwMode="auto">
              <a:xfrm>
                <a:off x="8977" y="2327"/>
                <a:ext cx="180" cy="275"/>
                <a:chOff x="8977" y="1597"/>
                <a:chExt cx="360" cy="726"/>
              </a:xfrm>
            </p:grpSpPr>
            <p:sp>
              <p:nvSpPr>
                <p:cNvPr id="102643" name="Arc 168"/>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644" name="Arc 169"/>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cxnSp>
          <p:nvCxnSpPr>
            <p:cNvPr id="102631" name="AutoShape 170"/>
            <p:cNvCxnSpPr>
              <a:cxnSpLocks noChangeShapeType="1"/>
            </p:cNvCxnSpPr>
            <p:nvPr/>
          </p:nvCxnSpPr>
          <p:spPr bwMode="auto">
            <a:xfrm flipV="1">
              <a:off x="5397500" y="4576763"/>
              <a:ext cx="0" cy="849312"/>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32" name="AutoShape 171"/>
            <p:cNvCxnSpPr>
              <a:cxnSpLocks noChangeShapeType="1"/>
            </p:cNvCxnSpPr>
            <p:nvPr/>
          </p:nvCxnSpPr>
          <p:spPr bwMode="auto">
            <a:xfrm flipV="1">
              <a:off x="5395913" y="5949950"/>
              <a:ext cx="1587" cy="911225"/>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33" name="AutoShape 172"/>
            <p:cNvCxnSpPr>
              <a:cxnSpLocks noChangeShapeType="1"/>
            </p:cNvCxnSpPr>
            <p:nvPr/>
          </p:nvCxnSpPr>
          <p:spPr bwMode="auto">
            <a:xfrm>
              <a:off x="5395913" y="6862763"/>
              <a:ext cx="1100137" cy="1587"/>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634" name="AutoShape 173"/>
            <p:cNvCxnSpPr>
              <a:cxnSpLocks noChangeShapeType="1"/>
            </p:cNvCxnSpPr>
            <p:nvPr/>
          </p:nvCxnSpPr>
          <p:spPr bwMode="auto">
            <a:xfrm>
              <a:off x="5400675" y="4576763"/>
              <a:ext cx="1100138"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635" name="AutoShape 174"/>
            <p:cNvCxnSpPr>
              <a:cxnSpLocks noChangeShapeType="1"/>
            </p:cNvCxnSpPr>
            <p:nvPr/>
          </p:nvCxnSpPr>
          <p:spPr bwMode="auto">
            <a:xfrm flipV="1">
              <a:off x="5857875" y="4719638"/>
              <a:ext cx="0" cy="1947862"/>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2636" name="Text Box 175"/>
            <p:cNvSpPr txBox="1">
              <a:spLocks noChangeArrowheads="1"/>
            </p:cNvSpPr>
            <p:nvPr/>
          </p:nvSpPr>
          <p:spPr bwMode="auto">
            <a:xfrm>
              <a:off x="5972175" y="5318125"/>
              <a:ext cx="342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000" b="1">
                  <a:latin typeface="Calibri" panose="020F0502020204030204" pitchFamily="34" charset="0"/>
                </a:rPr>
                <a:t>U</a:t>
              </a:r>
              <a:endParaRPr lang="fr-FR" altLang="fr-FR" sz="1800">
                <a:latin typeface="Arial" panose="020B0604020202020204" pitchFamily="34" charset="0"/>
              </a:endParaRPr>
            </a:p>
          </p:txBody>
        </p:sp>
        <p:sp>
          <p:nvSpPr>
            <p:cNvPr id="102637" name="Text Box 176"/>
            <p:cNvSpPr txBox="1">
              <a:spLocks noChangeArrowheads="1"/>
            </p:cNvSpPr>
            <p:nvPr/>
          </p:nvSpPr>
          <p:spPr bwMode="auto">
            <a:xfrm>
              <a:off x="257175" y="5057775"/>
              <a:ext cx="571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endParaRPr lang="fr-FR" altLang="fr-FR" sz="1800">
                <a:latin typeface="Arial" panose="020B0604020202020204" pitchFamily="34" charset="0"/>
              </a:endParaRPr>
            </a:p>
          </p:txBody>
        </p:sp>
        <p:sp>
          <p:nvSpPr>
            <p:cNvPr id="102638" name="Text Box 177"/>
            <p:cNvSpPr txBox="1">
              <a:spLocks noChangeArrowheads="1"/>
            </p:cNvSpPr>
            <p:nvPr/>
          </p:nvSpPr>
          <p:spPr bwMode="auto">
            <a:xfrm>
              <a:off x="257175" y="5426075"/>
              <a:ext cx="571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endParaRPr lang="fr-FR" altLang="fr-FR" sz="1800">
                <a:latin typeface="Arial" panose="020B0604020202020204" pitchFamily="34" charset="0"/>
              </a:endParaRPr>
            </a:p>
          </p:txBody>
        </p:sp>
        <p:sp>
          <p:nvSpPr>
            <p:cNvPr id="102639" name="Text Box 178"/>
            <p:cNvSpPr txBox="1">
              <a:spLocks noChangeArrowheads="1"/>
            </p:cNvSpPr>
            <p:nvPr/>
          </p:nvSpPr>
          <p:spPr bwMode="auto">
            <a:xfrm>
              <a:off x="257175" y="5834063"/>
              <a:ext cx="571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endParaRPr lang="fr-FR" altLang="fr-FR" sz="1800">
                <a:latin typeface="Arial" panose="020B0604020202020204" pitchFamily="34" charset="0"/>
              </a:endParaRPr>
            </a:p>
          </p:txBody>
        </p:sp>
      </p:grpSp>
      <p:grpSp>
        <p:nvGrpSpPr>
          <p:cNvPr id="30" name="Group 179"/>
          <p:cNvGrpSpPr>
            <a:grpSpLocks/>
          </p:cNvGrpSpPr>
          <p:nvPr/>
        </p:nvGrpSpPr>
        <p:grpSpPr bwMode="auto">
          <a:xfrm>
            <a:off x="285750" y="4357688"/>
            <a:ext cx="4500563" cy="1649412"/>
            <a:chOff x="697" y="1416"/>
            <a:chExt cx="9831" cy="3602"/>
          </a:xfrm>
        </p:grpSpPr>
        <p:cxnSp>
          <p:nvCxnSpPr>
            <p:cNvPr id="102503" name="AutoShape 180"/>
            <p:cNvCxnSpPr>
              <a:cxnSpLocks noChangeShapeType="1"/>
            </p:cNvCxnSpPr>
            <p:nvPr/>
          </p:nvCxnSpPr>
          <p:spPr bwMode="auto">
            <a:xfrm>
              <a:off x="1417" y="2677"/>
              <a:ext cx="1440"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504" name="AutoShape 181"/>
            <p:cNvCxnSpPr>
              <a:cxnSpLocks noChangeShapeType="1"/>
            </p:cNvCxnSpPr>
            <p:nvPr/>
          </p:nvCxnSpPr>
          <p:spPr bwMode="auto">
            <a:xfrm>
              <a:off x="1417" y="3214"/>
              <a:ext cx="1980"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505" name="AutoShape 182"/>
            <p:cNvCxnSpPr>
              <a:cxnSpLocks noChangeShapeType="1"/>
            </p:cNvCxnSpPr>
            <p:nvPr/>
          </p:nvCxnSpPr>
          <p:spPr bwMode="auto">
            <a:xfrm>
              <a:off x="1417" y="3757"/>
              <a:ext cx="2520"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506" name="AutoShape 183"/>
            <p:cNvCxnSpPr>
              <a:cxnSpLocks noChangeShapeType="1"/>
            </p:cNvCxnSpPr>
            <p:nvPr/>
          </p:nvCxnSpPr>
          <p:spPr bwMode="auto">
            <a:xfrm>
              <a:off x="2857" y="1417"/>
              <a:ext cx="504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07" name="AutoShape 184"/>
            <p:cNvCxnSpPr>
              <a:cxnSpLocks noChangeShapeType="1"/>
            </p:cNvCxnSpPr>
            <p:nvPr/>
          </p:nvCxnSpPr>
          <p:spPr bwMode="auto">
            <a:xfrm>
              <a:off x="2857" y="1417"/>
              <a:ext cx="0" cy="36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08" name="AutoShape 185"/>
            <p:cNvCxnSpPr>
              <a:cxnSpLocks noChangeShapeType="1"/>
            </p:cNvCxnSpPr>
            <p:nvPr/>
          </p:nvCxnSpPr>
          <p:spPr bwMode="auto">
            <a:xfrm>
              <a:off x="3397" y="1417"/>
              <a:ext cx="0" cy="36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09" name="AutoShape 186"/>
            <p:cNvCxnSpPr>
              <a:cxnSpLocks noChangeShapeType="1"/>
            </p:cNvCxnSpPr>
            <p:nvPr/>
          </p:nvCxnSpPr>
          <p:spPr bwMode="auto">
            <a:xfrm>
              <a:off x="3937" y="3937"/>
              <a:ext cx="2160" cy="0"/>
            </a:xfrm>
            <a:prstGeom prst="straightConnector1">
              <a:avLst/>
            </a:prstGeom>
            <a:noFill/>
            <a:ln w="2540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2510" name="AutoShape 187"/>
            <p:cNvCxnSpPr>
              <a:cxnSpLocks noChangeShapeType="1"/>
            </p:cNvCxnSpPr>
            <p:nvPr/>
          </p:nvCxnSpPr>
          <p:spPr bwMode="auto">
            <a:xfrm>
              <a:off x="3937" y="1417"/>
              <a:ext cx="0" cy="36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11" name="AutoShape 188"/>
            <p:cNvCxnSpPr>
              <a:cxnSpLocks noChangeShapeType="1"/>
            </p:cNvCxnSpPr>
            <p:nvPr/>
          </p:nvCxnSpPr>
          <p:spPr bwMode="auto">
            <a:xfrm>
              <a:off x="3397" y="3397"/>
              <a:ext cx="2160" cy="0"/>
            </a:xfrm>
            <a:prstGeom prst="straightConnector1">
              <a:avLst/>
            </a:prstGeom>
            <a:noFill/>
            <a:ln w="2540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2512" name="AutoShape 189"/>
            <p:cNvCxnSpPr>
              <a:cxnSpLocks noChangeShapeType="1"/>
            </p:cNvCxnSpPr>
            <p:nvPr/>
          </p:nvCxnSpPr>
          <p:spPr bwMode="auto">
            <a:xfrm>
              <a:off x="2861" y="2857"/>
              <a:ext cx="2160" cy="0"/>
            </a:xfrm>
            <a:prstGeom prst="straightConnector1">
              <a:avLst/>
            </a:prstGeom>
            <a:noFill/>
            <a:ln w="25400">
              <a:solidFill>
                <a:srgbClr val="000000"/>
              </a:solidFill>
              <a:round/>
              <a:headEnd type="oval" w="med" len="med"/>
              <a:tailEnd type="oval" w="med" len="med"/>
            </a:ln>
            <a:extLst>
              <a:ext uri="{909E8E84-426E-40DD-AFC4-6F175D3DCCD1}">
                <a14:hiddenFill xmlns:a14="http://schemas.microsoft.com/office/drawing/2010/main">
                  <a:noFill/>
                </a14:hiddenFill>
              </a:ext>
            </a:extLst>
          </p:spPr>
        </p:cxnSp>
        <p:cxnSp>
          <p:nvCxnSpPr>
            <p:cNvPr id="102513" name="AutoShape 190"/>
            <p:cNvCxnSpPr>
              <a:cxnSpLocks noChangeShapeType="1"/>
            </p:cNvCxnSpPr>
            <p:nvPr/>
          </p:nvCxnSpPr>
          <p:spPr bwMode="auto">
            <a:xfrm>
              <a:off x="2857" y="5017"/>
              <a:ext cx="504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514" name="Group 191"/>
            <p:cNvGrpSpPr>
              <a:grpSpLocks/>
            </p:cNvGrpSpPr>
            <p:nvPr/>
          </p:nvGrpSpPr>
          <p:grpSpPr bwMode="auto">
            <a:xfrm>
              <a:off x="3757" y="4297"/>
              <a:ext cx="447" cy="360"/>
              <a:chOff x="3757" y="4297"/>
              <a:chExt cx="447" cy="360"/>
            </a:xfrm>
          </p:grpSpPr>
          <p:cxnSp>
            <p:nvCxnSpPr>
              <p:cNvPr id="102607" name="AutoShape 192"/>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08" name="AutoShape 193"/>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09" name="AutoShape 194"/>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10" name="AutoShape 195"/>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11" name="AutoShape 196"/>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15" name="Group 197"/>
            <p:cNvGrpSpPr>
              <a:grpSpLocks/>
            </p:cNvGrpSpPr>
            <p:nvPr/>
          </p:nvGrpSpPr>
          <p:grpSpPr bwMode="auto">
            <a:xfrm>
              <a:off x="3217" y="4297"/>
              <a:ext cx="447" cy="360"/>
              <a:chOff x="3757" y="4297"/>
              <a:chExt cx="447" cy="360"/>
            </a:xfrm>
          </p:grpSpPr>
          <p:cxnSp>
            <p:nvCxnSpPr>
              <p:cNvPr id="102602" name="AutoShape 198"/>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03" name="AutoShape 199"/>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04" name="AutoShape 200"/>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05" name="AutoShape 201"/>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06" name="AutoShape 202"/>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16" name="Group 203"/>
            <p:cNvGrpSpPr>
              <a:grpSpLocks/>
            </p:cNvGrpSpPr>
            <p:nvPr/>
          </p:nvGrpSpPr>
          <p:grpSpPr bwMode="auto">
            <a:xfrm>
              <a:off x="2677" y="4297"/>
              <a:ext cx="447" cy="360"/>
              <a:chOff x="3757" y="4297"/>
              <a:chExt cx="447" cy="360"/>
            </a:xfrm>
          </p:grpSpPr>
          <p:cxnSp>
            <p:nvCxnSpPr>
              <p:cNvPr id="102597" name="AutoShape 204"/>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98" name="AutoShape 205"/>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99" name="AutoShape 206"/>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00" name="AutoShape 207"/>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601" name="AutoShape 208"/>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17" name="Group 209"/>
            <p:cNvGrpSpPr>
              <a:grpSpLocks/>
            </p:cNvGrpSpPr>
            <p:nvPr/>
          </p:nvGrpSpPr>
          <p:grpSpPr bwMode="auto">
            <a:xfrm>
              <a:off x="2677" y="1777"/>
              <a:ext cx="447" cy="360"/>
              <a:chOff x="3757" y="4297"/>
              <a:chExt cx="447" cy="360"/>
            </a:xfrm>
          </p:grpSpPr>
          <p:cxnSp>
            <p:nvCxnSpPr>
              <p:cNvPr id="102592" name="AutoShape 210"/>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93" name="AutoShape 211"/>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94" name="AutoShape 212"/>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95" name="AutoShape 213"/>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96" name="AutoShape 214"/>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18" name="Group 215"/>
            <p:cNvGrpSpPr>
              <a:grpSpLocks/>
            </p:cNvGrpSpPr>
            <p:nvPr/>
          </p:nvGrpSpPr>
          <p:grpSpPr bwMode="auto">
            <a:xfrm>
              <a:off x="3217" y="1777"/>
              <a:ext cx="447" cy="360"/>
              <a:chOff x="3757" y="4297"/>
              <a:chExt cx="447" cy="360"/>
            </a:xfrm>
          </p:grpSpPr>
          <p:cxnSp>
            <p:nvCxnSpPr>
              <p:cNvPr id="102587" name="AutoShape 216"/>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88" name="AutoShape 217"/>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89" name="AutoShape 218"/>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90" name="AutoShape 219"/>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91" name="AutoShape 220"/>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19" name="Group 221"/>
            <p:cNvGrpSpPr>
              <a:grpSpLocks/>
            </p:cNvGrpSpPr>
            <p:nvPr/>
          </p:nvGrpSpPr>
          <p:grpSpPr bwMode="auto">
            <a:xfrm>
              <a:off x="3757" y="1770"/>
              <a:ext cx="447" cy="360"/>
              <a:chOff x="3757" y="4297"/>
              <a:chExt cx="447" cy="360"/>
            </a:xfrm>
          </p:grpSpPr>
          <p:cxnSp>
            <p:nvCxnSpPr>
              <p:cNvPr id="102582" name="AutoShape 222"/>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83" name="AutoShape 223"/>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84" name="AutoShape 224"/>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85" name="AutoShape 225"/>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86" name="AutoShape 226"/>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cxnSp>
          <p:nvCxnSpPr>
            <p:cNvPr id="102520" name="AutoShape 227"/>
            <p:cNvCxnSpPr>
              <a:cxnSpLocks noChangeShapeType="1"/>
            </p:cNvCxnSpPr>
            <p:nvPr/>
          </p:nvCxnSpPr>
          <p:spPr bwMode="auto">
            <a:xfrm rot="10800000">
              <a:off x="6101" y="1417"/>
              <a:ext cx="0" cy="36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21" name="AutoShape 228"/>
            <p:cNvCxnSpPr>
              <a:cxnSpLocks noChangeShapeType="1"/>
            </p:cNvCxnSpPr>
            <p:nvPr/>
          </p:nvCxnSpPr>
          <p:spPr bwMode="auto">
            <a:xfrm rot="10800000">
              <a:off x="5561" y="1417"/>
              <a:ext cx="0" cy="36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22" name="AutoShape 229"/>
            <p:cNvCxnSpPr>
              <a:cxnSpLocks noChangeShapeType="1"/>
            </p:cNvCxnSpPr>
            <p:nvPr/>
          </p:nvCxnSpPr>
          <p:spPr bwMode="auto">
            <a:xfrm rot="10800000">
              <a:off x="5021" y="1417"/>
              <a:ext cx="0" cy="360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523" name="Group 230"/>
            <p:cNvGrpSpPr>
              <a:grpSpLocks/>
            </p:cNvGrpSpPr>
            <p:nvPr/>
          </p:nvGrpSpPr>
          <p:grpSpPr bwMode="auto">
            <a:xfrm rot="10800000">
              <a:off x="4752" y="1777"/>
              <a:ext cx="447" cy="360"/>
              <a:chOff x="3757" y="4297"/>
              <a:chExt cx="447" cy="360"/>
            </a:xfrm>
          </p:grpSpPr>
          <p:cxnSp>
            <p:nvCxnSpPr>
              <p:cNvPr id="102577" name="AutoShape 231"/>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78" name="AutoShape 232"/>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79" name="AutoShape 233"/>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80" name="AutoShape 234"/>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81" name="AutoShape 235"/>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24" name="Group 236"/>
            <p:cNvGrpSpPr>
              <a:grpSpLocks/>
            </p:cNvGrpSpPr>
            <p:nvPr/>
          </p:nvGrpSpPr>
          <p:grpSpPr bwMode="auto">
            <a:xfrm rot="10800000">
              <a:off x="5292" y="1777"/>
              <a:ext cx="447" cy="360"/>
              <a:chOff x="3757" y="4297"/>
              <a:chExt cx="447" cy="360"/>
            </a:xfrm>
          </p:grpSpPr>
          <p:cxnSp>
            <p:nvCxnSpPr>
              <p:cNvPr id="102572" name="AutoShape 237"/>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73" name="AutoShape 238"/>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74" name="AutoShape 239"/>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75" name="AutoShape 240"/>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76" name="AutoShape 241"/>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25" name="Group 242"/>
            <p:cNvGrpSpPr>
              <a:grpSpLocks/>
            </p:cNvGrpSpPr>
            <p:nvPr/>
          </p:nvGrpSpPr>
          <p:grpSpPr bwMode="auto">
            <a:xfrm rot="10800000">
              <a:off x="5832" y="1777"/>
              <a:ext cx="447" cy="360"/>
              <a:chOff x="3757" y="4297"/>
              <a:chExt cx="447" cy="360"/>
            </a:xfrm>
          </p:grpSpPr>
          <p:cxnSp>
            <p:nvCxnSpPr>
              <p:cNvPr id="102567" name="AutoShape 243"/>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68" name="AutoShape 244"/>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69" name="AutoShape 245"/>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70" name="AutoShape 246"/>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71" name="AutoShape 247"/>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26" name="Group 248"/>
            <p:cNvGrpSpPr>
              <a:grpSpLocks/>
            </p:cNvGrpSpPr>
            <p:nvPr/>
          </p:nvGrpSpPr>
          <p:grpSpPr bwMode="auto">
            <a:xfrm rot="10800000">
              <a:off x="5833" y="4297"/>
              <a:ext cx="447" cy="360"/>
              <a:chOff x="3757" y="4297"/>
              <a:chExt cx="447" cy="360"/>
            </a:xfrm>
          </p:grpSpPr>
          <p:cxnSp>
            <p:nvCxnSpPr>
              <p:cNvPr id="102562" name="AutoShape 249"/>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63" name="AutoShape 250"/>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64" name="AutoShape 251"/>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65" name="AutoShape 252"/>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66" name="AutoShape 253"/>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27" name="Group 254"/>
            <p:cNvGrpSpPr>
              <a:grpSpLocks/>
            </p:cNvGrpSpPr>
            <p:nvPr/>
          </p:nvGrpSpPr>
          <p:grpSpPr bwMode="auto">
            <a:xfrm rot="10800000">
              <a:off x="5293" y="4297"/>
              <a:ext cx="447" cy="360"/>
              <a:chOff x="3757" y="4297"/>
              <a:chExt cx="447" cy="360"/>
            </a:xfrm>
          </p:grpSpPr>
          <p:cxnSp>
            <p:nvCxnSpPr>
              <p:cNvPr id="102557" name="AutoShape 255"/>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58" name="AutoShape 256"/>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59" name="AutoShape 257"/>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60" name="AutoShape 258"/>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61" name="AutoShape 259"/>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528" name="Group 260"/>
            <p:cNvGrpSpPr>
              <a:grpSpLocks/>
            </p:cNvGrpSpPr>
            <p:nvPr/>
          </p:nvGrpSpPr>
          <p:grpSpPr bwMode="auto">
            <a:xfrm rot="10800000">
              <a:off x="4753" y="4304"/>
              <a:ext cx="447" cy="360"/>
              <a:chOff x="3757" y="4297"/>
              <a:chExt cx="447" cy="360"/>
            </a:xfrm>
          </p:grpSpPr>
          <p:cxnSp>
            <p:nvCxnSpPr>
              <p:cNvPr id="102552" name="AutoShape 261"/>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53" name="AutoShape 262"/>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54" name="AutoShape 263"/>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55" name="AutoShape 264"/>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56" name="AutoShape 265"/>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sp>
          <p:nvSpPr>
            <p:cNvPr id="102529" name="Oval 266"/>
            <p:cNvSpPr>
              <a:spLocks noChangeArrowheads="1"/>
            </p:cNvSpPr>
            <p:nvPr/>
          </p:nvSpPr>
          <p:spPr bwMode="auto">
            <a:xfrm>
              <a:off x="7357" y="2677"/>
              <a:ext cx="1079" cy="1080"/>
            </a:xfrm>
            <a:prstGeom prst="ellipse">
              <a:avLst/>
            </a:prstGeom>
            <a:solidFill>
              <a:srgbClr val="FFFFFF"/>
            </a:solidFill>
            <a:ln w="25400">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spcAft>
                  <a:spcPts val="1000"/>
                </a:spcAft>
                <a:buClrTx/>
                <a:buSzTx/>
                <a:buFontTx/>
                <a:buNone/>
              </a:pPr>
              <a:r>
                <a:rPr lang="fr-FR" altLang="fr-FR" sz="600">
                  <a:latin typeface="Calibri" panose="020F0502020204030204" pitchFamily="34" charset="0"/>
                </a:rPr>
                <a:t>MCC</a:t>
              </a:r>
              <a:endParaRPr lang="fr-FR" altLang="fr-FR" sz="900">
                <a:latin typeface="Arial" panose="020B0604020202020204" pitchFamily="34" charset="0"/>
              </a:endParaRPr>
            </a:p>
          </p:txBody>
        </p:sp>
        <p:sp>
          <p:nvSpPr>
            <p:cNvPr id="102530" name="Text Box 267"/>
            <p:cNvSpPr txBox="1">
              <a:spLocks noChangeArrowheads="1"/>
            </p:cNvSpPr>
            <p:nvPr/>
          </p:nvSpPr>
          <p:spPr bwMode="auto">
            <a:xfrm>
              <a:off x="7563" y="2820"/>
              <a:ext cx="36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600" b="1">
                  <a:latin typeface="Calibri" panose="020F0502020204030204" pitchFamily="34" charset="0"/>
                </a:rPr>
                <a:t>=</a:t>
              </a:r>
              <a:endParaRPr lang="fr-FR" altLang="fr-FR" sz="1800">
                <a:latin typeface="Arial" panose="020B0604020202020204" pitchFamily="34" charset="0"/>
              </a:endParaRPr>
            </a:p>
          </p:txBody>
        </p:sp>
        <p:cxnSp>
          <p:nvCxnSpPr>
            <p:cNvPr id="102531" name="AutoShape 268"/>
            <p:cNvCxnSpPr>
              <a:cxnSpLocks noChangeShapeType="1"/>
            </p:cNvCxnSpPr>
            <p:nvPr/>
          </p:nvCxnSpPr>
          <p:spPr bwMode="auto">
            <a:xfrm flipV="1">
              <a:off x="7897" y="1417"/>
              <a:ext cx="1" cy="12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32" name="AutoShape 269"/>
            <p:cNvCxnSpPr>
              <a:cxnSpLocks noChangeShapeType="1"/>
            </p:cNvCxnSpPr>
            <p:nvPr/>
          </p:nvCxnSpPr>
          <p:spPr bwMode="auto">
            <a:xfrm flipV="1">
              <a:off x="7897" y="3757"/>
              <a:ext cx="1" cy="1257"/>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533" name="Group 270"/>
            <p:cNvGrpSpPr>
              <a:grpSpLocks/>
            </p:cNvGrpSpPr>
            <p:nvPr/>
          </p:nvGrpSpPr>
          <p:grpSpPr bwMode="auto">
            <a:xfrm>
              <a:off x="8610" y="2755"/>
              <a:ext cx="180" cy="825"/>
              <a:chOff x="8977" y="1777"/>
              <a:chExt cx="180" cy="825"/>
            </a:xfrm>
          </p:grpSpPr>
          <p:grpSp>
            <p:nvGrpSpPr>
              <p:cNvPr id="102543" name="Group 271"/>
              <p:cNvGrpSpPr>
                <a:grpSpLocks/>
              </p:cNvGrpSpPr>
              <p:nvPr/>
            </p:nvGrpSpPr>
            <p:grpSpPr bwMode="auto">
              <a:xfrm>
                <a:off x="8977" y="1777"/>
                <a:ext cx="180" cy="275"/>
                <a:chOff x="8977" y="1597"/>
                <a:chExt cx="360" cy="726"/>
              </a:xfrm>
            </p:grpSpPr>
            <p:sp>
              <p:nvSpPr>
                <p:cNvPr id="102550" name="Arc 272"/>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551" name="Arc 273"/>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2544" name="Group 274"/>
              <p:cNvGrpSpPr>
                <a:grpSpLocks/>
              </p:cNvGrpSpPr>
              <p:nvPr/>
            </p:nvGrpSpPr>
            <p:grpSpPr bwMode="auto">
              <a:xfrm>
                <a:off x="8977" y="2052"/>
                <a:ext cx="180" cy="275"/>
                <a:chOff x="8977" y="1597"/>
                <a:chExt cx="360" cy="726"/>
              </a:xfrm>
            </p:grpSpPr>
            <p:sp>
              <p:nvSpPr>
                <p:cNvPr id="102548" name="Arc 275"/>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549" name="Arc 276"/>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2545" name="Group 277"/>
              <p:cNvGrpSpPr>
                <a:grpSpLocks/>
              </p:cNvGrpSpPr>
              <p:nvPr/>
            </p:nvGrpSpPr>
            <p:grpSpPr bwMode="auto">
              <a:xfrm>
                <a:off x="8977" y="2327"/>
                <a:ext cx="180" cy="275"/>
                <a:chOff x="8977" y="1597"/>
                <a:chExt cx="360" cy="726"/>
              </a:xfrm>
            </p:grpSpPr>
            <p:sp>
              <p:nvSpPr>
                <p:cNvPr id="102546" name="Arc 278"/>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547" name="Arc 279"/>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cxnSp>
          <p:nvCxnSpPr>
            <p:cNvPr id="102534" name="AutoShape 280"/>
            <p:cNvCxnSpPr>
              <a:cxnSpLocks noChangeShapeType="1"/>
            </p:cNvCxnSpPr>
            <p:nvPr/>
          </p:nvCxnSpPr>
          <p:spPr bwMode="auto">
            <a:xfrm flipV="1">
              <a:off x="8791" y="1417"/>
              <a:ext cx="0" cy="1338"/>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35" name="AutoShape 281"/>
            <p:cNvCxnSpPr>
              <a:cxnSpLocks noChangeShapeType="1"/>
            </p:cNvCxnSpPr>
            <p:nvPr/>
          </p:nvCxnSpPr>
          <p:spPr bwMode="auto">
            <a:xfrm flipV="1">
              <a:off x="8789" y="3580"/>
              <a:ext cx="1" cy="1434"/>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36" name="AutoShape 282"/>
            <p:cNvCxnSpPr>
              <a:cxnSpLocks noChangeShapeType="1"/>
            </p:cNvCxnSpPr>
            <p:nvPr/>
          </p:nvCxnSpPr>
          <p:spPr bwMode="auto">
            <a:xfrm>
              <a:off x="8789" y="5017"/>
              <a:ext cx="1731" cy="1"/>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537" name="AutoShape 283"/>
            <p:cNvCxnSpPr>
              <a:cxnSpLocks noChangeShapeType="1"/>
            </p:cNvCxnSpPr>
            <p:nvPr/>
          </p:nvCxnSpPr>
          <p:spPr bwMode="auto">
            <a:xfrm>
              <a:off x="8797" y="1416"/>
              <a:ext cx="1731" cy="1"/>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538" name="AutoShape 284"/>
            <p:cNvCxnSpPr>
              <a:cxnSpLocks noChangeShapeType="1"/>
            </p:cNvCxnSpPr>
            <p:nvPr/>
          </p:nvCxnSpPr>
          <p:spPr bwMode="auto">
            <a:xfrm flipV="1">
              <a:off x="9517" y="1641"/>
              <a:ext cx="0" cy="3067"/>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2539" name="Text Box 285"/>
            <p:cNvSpPr txBox="1">
              <a:spLocks noChangeArrowheads="1"/>
            </p:cNvSpPr>
            <p:nvPr/>
          </p:nvSpPr>
          <p:spPr bwMode="auto">
            <a:xfrm>
              <a:off x="9697" y="2585"/>
              <a:ext cx="54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000" b="1">
                  <a:latin typeface="Calibri" panose="020F0502020204030204" pitchFamily="34" charset="0"/>
                </a:rPr>
                <a:t>U</a:t>
              </a:r>
              <a:endParaRPr lang="fr-FR" altLang="fr-FR" sz="1800">
                <a:latin typeface="Arial" panose="020B0604020202020204" pitchFamily="34" charset="0"/>
              </a:endParaRPr>
            </a:p>
          </p:txBody>
        </p:sp>
        <p:sp>
          <p:nvSpPr>
            <p:cNvPr id="102540" name="Text Box 286"/>
            <p:cNvSpPr txBox="1">
              <a:spLocks noChangeArrowheads="1"/>
            </p:cNvSpPr>
            <p:nvPr/>
          </p:nvSpPr>
          <p:spPr bwMode="auto">
            <a:xfrm>
              <a:off x="697" y="2174"/>
              <a:ext cx="90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600" b="1">
                  <a:latin typeface="Calibri" panose="020F0502020204030204" pitchFamily="34" charset="0"/>
                </a:rPr>
                <a:t>L1</a:t>
              </a:r>
              <a:endParaRPr lang="fr-FR" altLang="fr-FR" sz="1400">
                <a:latin typeface="Arial" panose="020B0604020202020204" pitchFamily="34" charset="0"/>
              </a:endParaRPr>
            </a:p>
          </p:txBody>
        </p:sp>
        <p:sp>
          <p:nvSpPr>
            <p:cNvPr id="102541" name="Text Box 287"/>
            <p:cNvSpPr txBox="1">
              <a:spLocks noChangeArrowheads="1"/>
            </p:cNvSpPr>
            <p:nvPr/>
          </p:nvSpPr>
          <p:spPr bwMode="auto">
            <a:xfrm>
              <a:off x="697" y="2755"/>
              <a:ext cx="90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600" b="1">
                  <a:latin typeface="Calibri" panose="020F0502020204030204" pitchFamily="34" charset="0"/>
                </a:rPr>
                <a:t>L2</a:t>
              </a:r>
              <a:endParaRPr lang="fr-FR" altLang="fr-FR" sz="1400">
                <a:latin typeface="Arial" panose="020B0604020202020204" pitchFamily="34" charset="0"/>
              </a:endParaRPr>
            </a:p>
          </p:txBody>
        </p:sp>
        <p:sp>
          <p:nvSpPr>
            <p:cNvPr id="102542" name="Text Box 288"/>
            <p:cNvSpPr txBox="1">
              <a:spLocks noChangeArrowheads="1"/>
            </p:cNvSpPr>
            <p:nvPr/>
          </p:nvSpPr>
          <p:spPr bwMode="auto">
            <a:xfrm>
              <a:off x="697" y="3397"/>
              <a:ext cx="90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1600" b="1">
                  <a:latin typeface="Calibri" panose="020F0502020204030204" pitchFamily="34" charset="0"/>
                </a:rPr>
                <a:t>L3</a:t>
              </a:r>
              <a:endParaRPr lang="fr-FR" altLang="fr-FR" sz="1400">
                <a:latin typeface="Arial" panose="020B0604020202020204" pitchFamily="34" charset="0"/>
              </a:endParaRPr>
            </a:p>
          </p:txBody>
        </p:sp>
      </p:grpSp>
      <p:grpSp>
        <p:nvGrpSpPr>
          <p:cNvPr id="226" name="Groupe 686"/>
          <p:cNvGrpSpPr>
            <a:grpSpLocks/>
          </p:cNvGrpSpPr>
          <p:nvPr/>
        </p:nvGrpSpPr>
        <p:grpSpPr bwMode="auto">
          <a:xfrm>
            <a:off x="214313" y="4286250"/>
            <a:ext cx="4714875" cy="1727200"/>
            <a:chOff x="4311793" y="4456093"/>
            <a:chExt cx="4714908" cy="1727920"/>
          </a:xfrm>
        </p:grpSpPr>
        <p:cxnSp>
          <p:nvCxnSpPr>
            <p:cNvPr id="102436" name="AutoShape 1"/>
            <p:cNvCxnSpPr>
              <a:cxnSpLocks noChangeShapeType="1"/>
            </p:cNvCxnSpPr>
            <p:nvPr/>
          </p:nvCxnSpPr>
          <p:spPr bwMode="auto">
            <a:xfrm>
              <a:off x="6526371" y="4456093"/>
              <a:ext cx="1238864" cy="1199"/>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37" name="AutoShape 2"/>
            <p:cNvCxnSpPr>
              <a:cxnSpLocks noChangeShapeType="1"/>
            </p:cNvCxnSpPr>
            <p:nvPr/>
          </p:nvCxnSpPr>
          <p:spPr bwMode="auto">
            <a:xfrm>
              <a:off x="4572000" y="5618033"/>
              <a:ext cx="2428454" cy="5369"/>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438" name="AutoShape 3"/>
            <p:cNvCxnSpPr>
              <a:cxnSpLocks noChangeShapeType="1"/>
            </p:cNvCxnSpPr>
            <p:nvPr/>
          </p:nvCxnSpPr>
          <p:spPr bwMode="auto">
            <a:xfrm>
              <a:off x="4572000" y="5357826"/>
              <a:ext cx="2190947" cy="4319"/>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439" name="AutoShape 4"/>
            <p:cNvCxnSpPr>
              <a:cxnSpLocks noChangeShapeType="1"/>
            </p:cNvCxnSpPr>
            <p:nvPr/>
          </p:nvCxnSpPr>
          <p:spPr bwMode="auto">
            <a:xfrm>
              <a:off x="4572000" y="5098817"/>
              <a:ext cx="1954371" cy="218"/>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440" name="AutoShape 5"/>
            <p:cNvCxnSpPr>
              <a:cxnSpLocks noChangeShapeType="1"/>
            </p:cNvCxnSpPr>
            <p:nvPr/>
          </p:nvCxnSpPr>
          <p:spPr bwMode="auto">
            <a:xfrm>
              <a:off x="6526371" y="6170605"/>
              <a:ext cx="1238864" cy="13408"/>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41" name="AutoShape 6"/>
            <p:cNvCxnSpPr>
              <a:cxnSpLocks noChangeShapeType="1"/>
            </p:cNvCxnSpPr>
            <p:nvPr/>
          </p:nvCxnSpPr>
          <p:spPr bwMode="auto">
            <a:xfrm flipV="1">
              <a:off x="7026437" y="4456093"/>
              <a:ext cx="0" cy="1726721"/>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42" name="AutoShape 7"/>
            <p:cNvCxnSpPr>
              <a:cxnSpLocks noChangeShapeType="1"/>
            </p:cNvCxnSpPr>
            <p:nvPr/>
          </p:nvCxnSpPr>
          <p:spPr bwMode="auto">
            <a:xfrm flipV="1">
              <a:off x="6767429" y="4456093"/>
              <a:ext cx="0" cy="1726721"/>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43" name="AutoShape 8"/>
            <p:cNvCxnSpPr>
              <a:cxnSpLocks noChangeShapeType="1"/>
            </p:cNvCxnSpPr>
            <p:nvPr/>
          </p:nvCxnSpPr>
          <p:spPr bwMode="auto">
            <a:xfrm flipV="1">
              <a:off x="6508421" y="4456093"/>
              <a:ext cx="0" cy="1726721"/>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444" name="Group 9"/>
            <p:cNvGrpSpPr>
              <a:grpSpLocks/>
            </p:cNvGrpSpPr>
            <p:nvPr/>
          </p:nvGrpSpPr>
          <p:grpSpPr bwMode="auto">
            <a:xfrm rot="10800000">
              <a:off x="6380117" y="4628766"/>
              <a:ext cx="214641" cy="172672"/>
              <a:chOff x="3757" y="4297"/>
              <a:chExt cx="447" cy="360"/>
            </a:xfrm>
          </p:grpSpPr>
          <p:cxnSp>
            <p:nvCxnSpPr>
              <p:cNvPr id="102498" name="AutoShape 10"/>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99" name="AutoShape 11"/>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00" name="AutoShape 12"/>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01" name="AutoShape 13"/>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502" name="AutoShape 14"/>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445" name="Group 15"/>
            <p:cNvGrpSpPr>
              <a:grpSpLocks/>
            </p:cNvGrpSpPr>
            <p:nvPr/>
          </p:nvGrpSpPr>
          <p:grpSpPr bwMode="auto">
            <a:xfrm rot="10800000">
              <a:off x="6639125" y="4628766"/>
              <a:ext cx="214641" cy="172672"/>
              <a:chOff x="3757" y="4297"/>
              <a:chExt cx="447" cy="360"/>
            </a:xfrm>
          </p:grpSpPr>
          <p:cxnSp>
            <p:nvCxnSpPr>
              <p:cNvPr id="102493" name="AutoShape 16"/>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94" name="AutoShape 17"/>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95" name="AutoShape 18"/>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96" name="AutoShape 19"/>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97" name="AutoShape 20"/>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446" name="Group 21"/>
            <p:cNvGrpSpPr>
              <a:grpSpLocks/>
            </p:cNvGrpSpPr>
            <p:nvPr/>
          </p:nvGrpSpPr>
          <p:grpSpPr bwMode="auto">
            <a:xfrm rot="10800000">
              <a:off x="6898133" y="4628766"/>
              <a:ext cx="214641" cy="172672"/>
              <a:chOff x="3757" y="4297"/>
              <a:chExt cx="447" cy="360"/>
            </a:xfrm>
          </p:grpSpPr>
          <p:cxnSp>
            <p:nvCxnSpPr>
              <p:cNvPr id="102488" name="AutoShape 22"/>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89" name="AutoShape 23"/>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90" name="AutoShape 24"/>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91" name="AutoShape 25"/>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92" name="AutoShape 26"/>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447" name="Group 27"/>
            <p:cNvGrpSpPr>
              <a:grpSpLocks/>
            </p:cNvGrpSpPr>
            <p:nvPr/>
          </p:nvGrpSpPr>
          <p:grpSpPr bwMode="auto">
            <a:xfrm rot="10800000">
              <a:off x="6898133" y="5837470"/>
              <a:ext cx="214641" cy="172672"/>
              <a:chOff x="3757" y="4297"/>
              <a:chExt cx="447" cy="360"/>
            </a:xfrm>
          </p:grpSpPr>
          <p:cxnSp>
            <p:nvCxnSpPr>
              <p:cNvPr id="102483" name="AutoShape 28"/>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84" name="AutoShape 29"/>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85" name="AutoShape 30"/>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86" name="AutoShape 31"/>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87" name="AutoShape 32"/>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448" name="Group 33"/>
            <p:cNvGrpSpPr>
              <a:grpSpLocks/>
            </p:cNvGrpSpPr>
            <p:nvPr/>
          </p:nvGrpSpPr>
          <p:grpSpPr bwMode="auto">
            <a:xfrm rot="10800000">
              <a:off x="6639125" y="5837470"/>
              <a:ext cx="214641" cy="172672"/>
              <a:chOff x="3757" y="4297"/>
              <a:chExt cx="447" cy="360"/>
            </a:xfrm>
          </p:grpSpPr>
          <p:cxnSp>
            <p:nvCxnSpPr>
              <p:cNvPr id="102478" name="AutoShape 34"/>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79" name="AutoShape 35"/>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80" name="AutoShape 36"/>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81" name="AutoShape 37"/>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82" name="AutoShape 38"/>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grpSp>
          <p:nvGrpSpPr>
            <p:cNvPr id="102449" name="Group 39"/>
            <p:cNvGrpSpPr>
              <a:grpSpLocks/>
            </p:cNvGrpSpPr>
            <p:nvPr/>
          </p:nvGrpSpPr>
          <p:grpSpPr bwMode="auto">
            <a:xfrm rot="10800000">
              <a:off x="6380117" y="5841067"/>
              <a:ext cx="214641" cy="172672"/>
              <a:chOff x="3757" y="4297"/>
              <a:chExt cx="447" cy="360"/>
            </a:xfrm>
          </p:grpSpPr>
          <p:cxnSp>
            <p:nvCxnSpPr>
              <p:cNvPr id="102473" name="AutoShape 40"/>
              <p:cNvCxnSpPr>
                <a:cxnSpLocks noChangeShapeType="1"/>
              </p:cNvCxnSpPr>
              <p:nvPr/>
            </p:nvCxnSpPr>
            <p:spPr bwMode="auto">
              <a:xfrm>
                <a:off x="4024" y="4470"/>
                <a:ext cx="18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74" name="AutoShape 41"/>
              <p:cNvCxnSpPr>
                <a:cxnSpLocks noChangeShapeType="1"/>
              </p:cNvCxnSpPr>
              <p:nvPr/>
            </p:nvCxnSpPr>
            <p:spPr bwMode="auto">
              <a:xfrm>
                <a:off x="3757" y="465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75" name="AutoShape 42"/>
              <p:cNvCxnSpPr>
                <a:cxnSpLocks noChangeShapeType="1"/>
              </p:cNvCxnSpPr>
              <p:nvPr/>
            </p:nvCxnSpPr>
            <p:spPr bwMode="auto">
              <a:xfrm flipH="1" flipV="1">
                <a:off x="393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76" name="AutoShape 43"/>
              <p:cNvCxnSpPr>
                <a:cxnSpLocks noChangeShapeType="1"/>
              </p:cNvCxnSpPr>
              <p:nvPr/>
            </p:nvCxnSpPr>
            <p:spPr bwMode="auto">
              <a:xfrm flipH="1">
                <a:off x="3757" y="4297"/>
                <a:ext cx="180" cy="36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77" name="AutoShape 44"/>
              <p:cNvCxnSpPr>
                <a:cxnSpLocks noChangeShapeType="1"/>
              </p:cNvCxnSpPr>
              <p:nvPr/>
            </p:nvCxnSpPr>
            <p:spPr bwMode="auto">
              <a:xfrm>
                <a:off x="3757" y="4297"/>
                <a:ext cx="360" cy="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sp>
          <p:nvSpPr>
            <p:cNvPr id="102450" name="Oval 45"/>
            <p:cNvSpPr>
              <a:spLocks noChangeArrowheads="1"/>
            </p:cNvSpPr>
            <p:nvPr/>
          </p:nvSpPr>
          <p:spPr bwMode="auto">
            <a:xfrm>
              <a:off x="7506227" y="5061645"/>
              <a:ext cx="516817" cy="518016"/>
            </a:xfrm>
            <a:prstGeom prst="ellipse">
              <a:avLst/>
            </a:prstGeom>
            <a:solidFill>
              <a:srgbClr val="FFFFFF"/>
            </a:solidFill>
            <a:ln w="25400">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ctr" eaLnBrk="1" hangingPunct="1">
                <a:spcBef>
                  <a:spcPct val="0"/>
                </a:spcBef>
                <a:spcAft>
                  <a:spcPts val="1000"/>
                </a:spcAft>
                <a:buClrTx/>
                <a:buSzTx/>
                <a:buFontTx/>
                <a:buNone/>
              </a:pPr>
              <a:r>
                <a:rPr lang="fr-FR" altLang="fr-FR" sz="700">
                  <a:latin typeface="Calibri" panose="020F0502020204030204" pitchFamily="34" charset="0"/>
                </a:rPr>
                <a:t>MCC</a:t>
              </a:r>
              <a:endParaRPr lang="fr-FR" altLang="fr-FR" sz="1000">
                <a:latin typeface="Arial" panose="020B0604020202020204" pitchFamily="34" charset="0"/>
              </a:endParaRPr>
            </a:p>
          </p:txBody>
        </p:sp>
        <p:sp>
          <p:nvSpPr>
            <p:cNvPr id="102451" name="Text Box 46"/>
            <p:cNvSpPr txBox="1">
              <a:spLocks noChangeArrowheads="1"/>
            </p:cNvSpPr>
            <p:nvPr/>
          </p:nvSpPr>
          <p:spPr bwMode="auto">
            <a:xfrm>
              <a:off x="7641726" y="5234317"/>
              <a:ext cx="172672" cy="34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000" b="1">
                  <a:latin typeface="Calibri" panose="020F0502020204030204" pitchFamily="34" charset="0"/>
                </a:rPr>
                <a:t>=</a:t>
              </a:r>
              <a:endParaRPr lang="fr-FR" altLang="fr-FR" sz="1400">
                <a:latin typeface="Arial" panose="020B0604020202020204" pitchFamily="34" charset="0"/>
              </a:endParaRPr>
            </a:p>
          </p:txBody>
        </p:sp>
        <p:cxnSp>
          <p:nvCxnSpPr>
            <p:cNvPr id="102452" name="AutoShape 47"/>
            <p:cNvCxnSpPr>
              <a:cxnSpLocks noChangeShapeType="1"/>
            </p:cNvCxnSpPr>
            <p:nvPr/>
          </p:nvCxnSpPr>
          <p:spPr bwMode="auto">
            <a:xfrm flipV="1">
              <a:off x="7765235" y="4457292"/>
              <a:ext cx="0" cy="604352"/>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53" name="AutoShape 48"/>
            <p:cNvCxnSpPr>
              <a:cxnSpLocks noChangeShapeType="1"/>
            </p:cNvCxnSpPr>
            <p:nvPr/>
          </p:nvCxnSpPr>
          <p:spPr bwMode="auto">
            <a:xfrm flipV="1">
              <a:off x="7765235" y="5579661"/>
              <a:ext cx="0" cy="603153"/>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grpSp>
          <p:nvGrpSpPr>
            <p:cNvPr id="102454" name="Group 49"/>
            <p:cNvGrpSpPr>
              <a:grpSpLocks/>
            </p:cNvGrpSpPr>
            <p:nvPr/>
          </p:nvGrpSpPr>
          <p:grpSpPr bwMode="auto">
            <a:xfrm>
              <a:off x="8106982" y="5098817"/>
              <a:ext cx="86336" cy="395707"/>
              <a:chOff x="8977" y="1777"/>
              <a:chExt cx="180" cy="825"/>
            </a:xfrm>
          </p:grpSpPr>
          <p:grpSp>
            <p:nvGrpSpPr>
              <p:cNvPr id="102464" name="Group 50"/>
              <p:cNvGrpSpPr>
                <a:grpSpLocks/>
              </p:cNvGrpSpPr>
              <p:nvPr/>
            </p:nvGrpSpPr>
            <p:grpSpPr bwMode="auto">
              <a:xfrm>
                <a:off x="8977" y="1774"/>
                <a:ext cx="180" cy="274"/>
                <a:chOff x="8977" y="1597"/>
                <a:chExt cx="360" cy="726"/>
              </a:xfrm>
            </p:grpSpPr>
            <p:sp>
              <p:nvSpPr>
                <p:cNvPr id="102471" name="Arc 51"/>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472" name="Arc 52"/>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2465" name="Group 53"/>
              <p:cNvGrpSpPr>
                <a:grpSpLocks/>
              </p:cNvGrpSpPr>
              <p:nvPr/>
            </p:nvGrpSpPr>
            <p:grpSpPr bwMode="auto">
              <a:xfrm>
                <a:off x="8977" y="2049"/>
                <a:ext cx="180" cy="274"/>
                <a:chOff x="8977" y="1597"/>
                <a:chExt cx="360" cy="726"/>
              </a:xfrm>
            </p:grpSpPr>
            <p:sp>
              <p:nvSpPr>
                <p:cNvPr id="102469" name="Arc 54"/>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470" name="Arc 55"/>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nvGrpSpPr>
              <p:cNvPr id="102466" name="Group 56"/>
              <p:cNvGrpSpPr>
                <a:grpSpLocks/>
              </p:cNvGrpSpPr>
              <p:nvPr/>
            </p:nvGrpSpPr>
            <p:grpSpPr bwMode="auto">
              <a:xfrm>
                <a:off x="8977" y="2324"/>
                <a:ext cx="180" cy="274"/>
                <a:chOff x="8977" y="1597"/>
                <a:chExt cx="360" cy="726"/>
              </a:xfrm>
            </p:grpSpPr>
            <p:sp>
              <p:nvSpPr>
                <p:cNvPr id="102467" name="Arc 57"/>
                <p:cNvSpPr>
                  <a:spLocks/>
                </p:cNvSpPr>
                <p:nvPr/>
              </p:nvSpPr>
              <p:spPr bwMode="auto">
                <a:xfrm flipH="1">
                  <a:off x="8977" y="1597"/>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sp>
              <p:nvSpPr>
                <p:cNvPr id="102468" name="Arc 58"/>
                <p:cNvSpPr>
                  <a:spLocks/>
                </p:cNvSpPr>
                <p:nvPr/>
              </p:nvSpPr>
              <p:spPr bwMode="auto">
                <a:xfrm rot="16200000" flipH="1">
                  <a:off x="8977" y="1963"/>
                  <a:ext cx="360" cy="36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a:p>
              </p:txBody>
            </p:sp>
          </p:grpSp>
        </p:grpSp>
        <p:cxnSp>
          <p:nvCxnSpPr>
            <p:cNvPr id="102455" name="AutoShape 59"/>
            <p:cNvCxnSpPr>
              <a:cxnSpLocks noChangeShapeType="1"/>
            </p:cNvCxnSpPr>
            <p:nvPr/>
          </p:nvCxnSpPr>
          <p:spPr bwMode="auto">
            <a:xfrm flipV="1">
              <a:off x="8193318" y="4457292"/>
              <a:ext cx="0" cy="641524"/>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56" name="AutoShape 60"/>
            <p:cNvCxnSpPr>
              <a:cxnSpLocks noChangeShapeType="1"/>
            </p:cNvCxnSpPr>
            <p:nvPr/>
          </p:nvCxnSpPr>
          <p:spPr bwMode="auto">
            <a:xfrm flipV="1">
              <a:off x="8193318" y="5494524"/>
              <a:ext cx="0" cy="688290"/>
            </a:xfrm>
            <a:prstGeom prst="straightConnector1">
              <a:avLst/>
            </a:prstGeom>
            <a:noFill/>
            <a:ln w="25400">
              <a:solidFill>
                <a:srgbClr val="000000"/>
              </a:solidFill>
              <a:round/>
              <a:headEnd/>
              <a:tailEnd/>
            </a:ln>
            <a:extLst>
              <a:ext uri="{909E8E84-426E-40DD-AFC4-6F175D3DCCD1}">
                <a14:hiddenFill xmlns:a14="http://schemas.microsoft.com/office/drawing/2010/main">
                  <a:noFill/>
                </a14:hiddenFill>
              </a:ext>
            </a:extLst>
          </p:spPr>
        </p:cxnSp>
        <p:cxnSp>
          <p:nvCxnSpPr>
            <p:cNvPr id="102457" name="AutoShape 61"/>
            <p:cNvCxnSpPr>
              <a:cxnSpLocks noChangeShapeType="1"/>
            </p:cNvCxnSpPr>
            <p:nvPr/>
          </p:nvCxnSpPr>
          <p:spPr bwMode="auto">
            <a:xfrm>
              <a:off x="8193318" y="6184013"/>
              <a:ext cx="829785" cy="0"/>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458" name="AutoShape 62"/>
            <p:cNvCxnSpPr>
              <a:cxnSpLocks noChangeShapeType="1"/>
            </p:cNvCxnSpPr>
            <p:nvPr/>
          </p:nvCxnSpPr>
          <p:spPr bwMode="auto">
            <a:xfrm>
              <a:off x="8196916" y="4456093"/>
              <a:ext cx="829785" cy="1199"/>
            </a:xfrm>
            <a:prstGeom prst="straightConnector1">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cxnSp>
        <p:cxnSp>
          <p:nvCxnSpPr>
            <p:cNvPr id="102459" name="AutoShape 63"/>
            <p:cNvCxnSpPr>
              <a:cxnSpLocks noChangeShapeType="1"/>
            </p:cNvCxnSpPr>
            <p:nvPr/>
          </p:nvCxnSpPr>
          <p:spPr bwMode="auto">
            <a:xfrm flipV="1">
              <a:off x="8542260" y="4564013"/>
              <a:ext cx="0" cy="1471310"/>
            </a:xfrm>
            <a:prstGeom prst="straightConnector1">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2460" name="Text Box 64"/>
            <p:cNvSpPr txBox="1">
              <a:spLocks noChangeArrowheads="1"/>
            </p:cNvSpPr>
            <p:nvPr/>
          </p:nvSpPr>
          <p:spPr bwMode="auto">
            <a:xfrm>
              <a:off x="8628596" y="5017277"/>
              <a:ext cx="259008" cy="34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000" b="1">
                  <a:latin typeface="Calibri" panose="020F0502020204030204" pitchFamily="34" charset="0"/>
                </a:rPr>
                <a:t>U</a:t>
              </a:r>
              <a:endParaRPr lang="fr-FR" altLang="fr-FR" sz="1800">
                <a:latin typeface="Arial" panose="020B0604020202020204" pitchFamily="34" charset="0"/>
              </a:endParaRPr>
            </a:p>
          </p:txBody>
        </p:sp>
        <p:sp>
          <p:nvSpPr>
            <p:cNvPr id="102461" name="Text Box 65"/>
            <p:cNvSpPr txBox="1">
              <a:spLocks noChangeArrowheads="1"/>
            </p:cNvSpPr>
            <p:nvPr/>
          </p:nvSpPr>
          <p:spPr bwMode="auto">
            <a:xfrm>
              <a:off x="4312992" y="4836212"/>
              <a:ext cx="431680" cy="34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000" b="1">
                  <a:latin typeface="Calibri" panose="020F0502020204030204" pitchFamily="34" charset="0"/>
                </a:rPr>
                <a:t>L1</a:t>
              </a:r>
              <a:endParaRPr lang="fr-FR" altLang="fr-FR" sz="1800">
                <a:latin typeface="Arial" panose="020B0604020202020204" pitchFamily="34" charset="0"/>
              </a:endParaRPr>
            </a:p>
          </p:txBody>
        </p:sp>
        <p:sp>
          <p:nvSpPr>
            <p:cNvPr id="102462" name="Text Box 66"/>
            <p:cNvSpPr txBox="1">
              <a:spLocks noChangeArrowheads="1"/>
            </p:cNvSpPr>
            <p:nvPr/>
          </p:nvSpPr>
          <p:spPr bwMode="auto">
            <a:xfrm>
              <a:off x="4312992" y="5098817"/>
              <a:ext cx="431680" cy="34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000" b="1">
                  <a:latin typeface="Calibri" panose="020F0502020204030204" pitchFamily="34" charset="0"/>
                </a:rPr>
                <a:t>L2</a:t>
              </a:r>
              <a:endParaRPr lang="fr-FR" altLang="fr-FR" sz="1800">
                <a:latin typeface="Arial" panose="020B0604020202020204" pitchFamily="34" charset="0"/>
              </a:endParaRPr>
            </a:p>
          </p:txBody>
        </p:sp>
        <p:sp>
          <p:nvSpPr>
            <p:cNvPr id="102463" name="Text Box 67"/>
            <p:cNvSpPr txBox="1">
              <a:spLocks noChangeArrowheads="1"/>
            </p:cNvSpPr>
            <p:nvPr/>
          </p:nvSpPr>
          <p:spPr bwMode="auto">
            <a:xfrm>
              <a:off x="4311793" y="5429772"/>
              <a:ext cx="431680" cy="345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spcAft>
                  <a:spcPts val="1000"/>
                </a:spcAft>
                <a:buClrTx/>
                <a:buSzTx/>
                <a:buFontTx/>
                <a:buNone/>
              </a:pPr>
              <a:r>
                <a:rPr lang="fr-FR" altLang="fr-FR" sz="2000" b="1">
                  <a:latin typeface="Calibri" panose="020F0502020204030204" pitchFamily="34" charset="0"/>
                </a:rPr>
                <a:t>L3</a:t>
              </a:r>
              <a:endParaRPr lang="fr-FR" altLang="fr-FR" sz="1800">
                <a:latin typeface="Arial" panose="020B0604020202020204" pitchFamily="34" charset="0"/>
              </a:endParaRPr>
            </a:p>
          </p:txBody>
        </p:sp>
      </p:grpSp>
      <p:sp>
        <p:nvSpPr>
          <p:cNvPr id="102432" name="Espace réservé du numéro de diapositive 36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A1248D2E-1FDA-4104-B03C-55BB5B608269}" type="slidenum">
              <a:rPr lang="fr-FR" altLang="fr-FR" sz="1000" smtClean="0">
                <a:solidFill>
                  <a:srgbClr val="292929"/>
                </a:solidFill>
                <a:latin typeface="Arial" panose="020B0604020202020204" pitchFamily="34" charset="0"/>
              </a:rPr>
              <a:pPr>
                <a:spcBef>
                  <a:spcPct val="0"/>
                </a:spcBef>
                <a:buClrTx/>
                <a:buSzTx/>
                <a:buFontTx/>
                <a:buNone/>
              </a:pPr>
              <a:t>55</a:t>
            </a:fld>
            <a:endParaRPr lang="fr-FR" altLang="fr-FR" sz="1000" smtClean="0">
              <a:solidFill>
                <a:srgbClr val="292929"/>
              </a:solidFill>
              <a:latin typeface="Arial" panose="020B0604020202020204" pitchFamily="34" charset="0"/>
            </a:endParaRPr>
          </a:p>
        </p:txBody>
      </p:sp>
      <p:sp>
        <p:nvSpPr>
          <p:cNvPr id="102433" name="Rectangle 3"/>
          <p:cNvSpPr>
            <a:spLocks noChangeArrowheads="1"/>
          </p:cNvSpPr>
          <p:nvPr/>
        </p:nvSpPr>
        <p:spPr bwMode="auto">
          <a:xfrm>
            <a:off x="182563" y="2714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366" name="Espace réservé du pied de page 365"/>
          <p:cNvSpPr>
            <a:spLocks noGrp="1"/>
          </p:cNvSpPr>
          <p:nvPr>
            <p:ph type="ftr" sz="quarter" idx="11"/>
          </p:nvPr>
        </p:nvSpPr>
        <p:spPr/>
        <p:txBody>
          <a:bodyPr/>
          <a:lstStyle/>
          <a:p>
            <a:pPr>
              <a:defRPr/>
            </a:pPr>
            <a:r>
              <a:rPr lang="fr-FR"/>
              <a:t>Commande des machines   3.MCC     Ali NEJMI</a:t>
            </a:r>
            <a:endParaRPr lang="en-US"/>
          </a:p>
        </p:txBody>
      </p:sp>
      <p:sp>
        <p:nvSpPr>
          <p:cNvPr id="367" name="Rectangle 2"/>
          <p:cNvSpPr>
            <a:spLocks noChangeArrowheads="1"/>
          </p:cNvSpPr>
          <p:nvPr/>
        </p:nvSpPr>
        <p:spPr bwMode="auto">
          <a:xfrm>
            <a:off x="3709988" y="236538"/>
            <a:ext cx="2555875"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3009"/>
                                        </p:tgtEl>
                                        <p:attrNameLst>
                                          <p:attrName>style.visibility</p:attrName>
                                        </p:attrNameLst>
                                      </p:cBhvr>
                                      <p:to>
                                        <p:strVal val="visible"/>
                                      </p:to>
                                    </p:set>
                                    <p:animEffect transition="in" filter="checkerboard(across)">
                                      <p:cBhvr>
                                        <p:cTn id="7" dur="500"/>
                                        <p:tgtEl>
                                          <p:spTgt spid="430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4" presetClass="entr" presetSubtype="0" fill="hold" nodeType="clickEffect">
                                  <p:stCondLst>
                                    <p:cond delay="0"/>
                                  </p:stCondLst>
                                  <p:childTnLst>
                                    <p:set>
                                      <p:cBhvr>
                                        <p:cTn id="11" dur="1" fill="hold">
                                          <p:stCondLst>
                                            <p:cond delay="0"/>
                                          </p:stCondLst>
                                        </p:cTn>
                                        <p:tgtEl>
                                          <p:spTgt spid="18823"/>
                                        </p:tgtEl>
                                        <p:attrNameLst>
                                          <p:attrName>style.visibility</p:attrName>
                                        </p:attrNameLst>
                                      </p:cBhvr>
                                      <p:to>
                                        <p:strVal val="visible"/>
                                      </p:to>
                                    </p:set>
                                    <p:anim from="(-#ppt_w/2)" to="(#ppt_x)" calcmode="lin" valueType="num">
                                      <p:cBhvr>
                                        <p:cTn id="12" dur="600" fill="hold">
                                          <p:stCondLst>
                                            <p:cond delay="0"/>
                                          </p:stCondLst>
                                        </p:cTn>
                                        <p:tgtEl>
                                          <p:spTgt spid="18823"/>
                                        </p:tgtEl>
                                        <p:attrNameLst>
                                          <p:attrName>ppt_x</p:attrName>
                                        </p:attrNameLst>
                                      </p:cBhvr>
                                    </p:anim>
                                    <p:anim from="0" to="-1.0" calcmode="lin" valueType="num">
                                      <p:cBhvr>
                                        <p:cTn id="13" dur="200" decel="50000" autoRev="1" fill="hold">
                                          <p:stCondLst>
                                            <p:cond delay="600"/>
                                          </p:stCondLst>
                                        </p:cTn>
                                        <p:tgtEl>
                                          <p:spTgt spid="18823"/>
                                        </p:tgtEl>
                                        <p:attrNameLst>
                                          <p:attrName>xshear</p:attrName>
                                        </p:attrNameLst>
                                      </p:cBhvr>
                                    </p:anim>
                                    <p:animScale>
                                      <p:cBhvr>
                                        <p:cTn id="14" dur="200" decel="100000" autoRev="1" fill="hold">
                                          <p:stCondLst>
                                            <p:cond delay="600"/>
                                          </p:stCondLst>
                                        </p:cTn>
                                        <p:tgtEl>
                                          <p:spTgt spid="18823"/>
                                        </p:tgtEl>
                                      </p:cBhvr>
                                      <p:from x="100000" y="100000"/>
                                      <p:to x="80000" y="100000"/>
                                    </p:animScale>
                                    <p:anim by="(#ppt_h/3+#ppt_w*0.1)" calcmode="lin" valueType="num">
                                      <p:cBhvr additive="sum">
                                        <p:cTn id="15" dur="200" decel="100000" autoRev="1" fill="hold">
                                          <p:stCondLst>
                                            <p:cond delay="600"/>
                                          </p:stCondLst>
                                        </p:cTn>
                                        <p:tgtEl>
                                          <p:spTgt spid="18823"/>
                                        </p:tgtEl>
                                        <p:attrNameLst>
                                          <p:attrName>ppt_x</p:attrName>
                                        </p:attrNameLst>
                                      </p:cBhvr>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6"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down)">
                                      <p:cBhvr>
                                        <p:cTn id="20" dur="580">
                                          <p:stCondLst>
                                            <p:cond delay="0"/>
                                          </p:stCondLst>
                                        </p:cTn>
                                        <p:tgtEl>
                                          <p:spTgt spid="2"/>
                                        </p:tgtEl>
                                      </p:cBhvr>
                                    </p:animEffect>
                                    <p:anim calcmode="lin" valueType="num">
                                      <p:cBhvr>
                                        <p:cTn id="21"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26" dur="26">
                                          <p:stCondLst>
                                            <p:cond delay="650"/>
                                          </p:stCondLst>
                                        </p:cTn>
                                        <p:tgtEl>
                                          <p:spTgt spid="2"/>
                                        </p:tgtEl>
                                      </p:cBhvr>
                                      <p:to x="100000" y="60000"/>
                                    </p:animScale>
                                    <p:animScale>
                                      <p:cBhvr>
                                        <p:cTn id="27" dur="166" decel="50000">
                                          <p:stCondLst>
                                            <p:cond delay="676"/>
                                          </p:stCondLst>
                                        </p:cTn>
                                        <p:tgtEl>
                                          <p:spTgt spid="2"/>
                                        </p:tgtEl>
                                      </p:cBhvr>
                                      <p:to x="100000" y="100000"/>
                                    </p:animScale>
                                    <p:animScale>
                                      <p:cBhvr>
                                        <p:cTn id="28" dur="26">
                                          <p:stCondLst>
                                            <p:cond delay="1312"/>
                                          </p:stCondLst>
                                        </p:cTn>
                                        <p:tgtEl>
                                          <p:spTgt spid="2"/>
                                        </p:tgtEl>
                                      </p:cBhvr>
                                      <p:to x="100000" y="80000"/>
                                    </p:animScale>
                                    <p:animScale>
                                      <p:cBhvr>
                                        <p:cTn id="29" dur="166" decel="50000">
                                          <p:stCondLst>
                                            <p:cond delay="1338"/>
                                          </p:stCondLst>
                                        </p:cTn>
                                        <p:tgtEl>
                                          <p:spTgt spid="2"/>
                                        </p:tgtEl>
                                      </p:cBhvr>
                                      <p:to x="100000" y="100000"/>
                                    </p:animScale>
                                    <p:animScale>
                                      <p:cBhvr>
                                        <p:cTn id="30" dur="26">
                                          <p:stCondLst>
                                            <p:cond delay="1642"/>
                                          </p:stCondLst>
                                        </p:cTn>
                                        <p:tgtEl>
                                          <p:spTgt spid="2"/>
                                        </p:tgtEl>
                                      </p:cBhvr>
                                      <p:to x="100000" y="90000"/>
                                    </p:animScale>
                                    <p:animScale>
                                      <p:cBhvr>
                                        <p:cTn id="31" dur="166" decel="50000">
                                          <p:stCondLst>
                                            <p:cond delay="1668"/>
                                          </p:stCondLst>
                                        </p:cTn>
                                        <p:tgtEl>
                                          <p:spTgt spid="2"/>
                                        </p:tgtEl>
                                      </p:cBhvr>
                                      <p:to x="100000" y="100000"/>
                                    </p:animScale>
                                    <p:animScale>
                                      <p:cBhvr>
                                        <p:cTn id="32" dur="26">
                                          <p:stCondLst>
                                            <p:cond delay="1808"/>
                                          </p:stCondLst>
                                        </p:cTn>
                                        <p:tgtEl>
                                          <p:spTgt spid="2"/>
                                        </p:tgtEl>
                                      </p:cBhvr>
                                      <p:to x="100000" y="95000"/>
                                    </p:animScale>
                                    <p:animScale>
                                      <p:cBhvr>
                                        <p:cTn id="33" dur="166" decel="50000">
                                          <p:stCondLst>
                                            <p:cond delay="1834"/>
                                          </p:stCondLst>
                                        </p:cTn>
                                        <p:tgtEl>
                                          <p:spTgt spid="2"/>
                                        </p:tgtEl>
                                      </p:cBhvr>
                                      <p:to x="100000" y="100000"/>
                                    </p:animScale>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xit" presetSubtype="0" fill="hold" nodeType="clickEffect">
                                  <p:stCondLst>
                                    <p:cond delay="0"/>
                                  </p:stCondLst>
                                  <p:childTnLst>
                                    <p:animEffect transition="out" filter="dissolve">
                                      <p:cBhvr>
                                        <p:cTn id="37" dur="500"/>
                                        <p:tgtEl>
                                          <p:spTgt spid="2"/>
                                        </p:tgtEl>
                                      </p:cBhvr>
                                    </p:animEffect>
                                    <p:set>
                                      <p:cBhvr>
                                        <p:cTn id="38" dur="1" fill="hold">
                                          <p:stCondLst>
                                            <p:cond delay="499"/>
                                          </p:stCondLst>
                                        </p:cTn>
                                        <p:tgtEl>
                                          <p:spTgt spid="2"/>
                                        </p:tgtEl>
                                        <p:attrNameLst>
                                          <p:attrName>style.visibility</p:attrName>
                                        </p:attrNameLst>
                                      </p:cBhvr>
                                      <p:to>
                                        <p:strVal val="hidden"/>
                                      </p:to>
                                    </p:set>
                                  </p:childTnLst>
                                </p:cTn>
                              </p:par>
                              <p:par>
                                <p:cTn id="39" presetID="1"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xit" presetSubtype="0" fill="hold" nodeType="clickEffect">
                                  <p:stCondLst>
                                    <p:cond delay="0"/>
                                  </p:stCondLst>
                                  <p:childTnLst>
                                    <p:animEffect transition="out" filter="dissolve">
                                      <p:cBhvr>
                                        <p:cTn id="44" dur="500"/>
                                        <p:tgtEl>
                                          <p:spTgt spid="19"/>
                                        </p:tgtEl>
                                      </p:cBhvr>
                                    </p:animEffect>
                                    <p:set>
                                      <p:cBhvr>
                                        <p:cTn id="45" dur="1" fill="hold">
                                          <p:stCondLst>
                                            <p:cond delay="499"/>
                                          </p:stCondLst>
                                        </p:cTn>
                                        <p:tgtEl>
                                          <p:spTgt spid="19"/>
                                        </p:tgtEl>
                                        <p:attrNameLst>
                                          <p:attrName>style.visibility</p:attrName>
                                        </p:attrNameLst>
                                      </p:cBhvr>
                                      <p:to>
                                        <p:strVal val="hidden"/>
                                      </p:to>
                                    </p:set>
                                  </p:childTnLst>
                                </p:cTn>
                              </p:par>
                            </p:childTnLst>
                          </p:cTn>
                        </p:par>
                      </p:childTnLst>
                    </p:cTn>
                  </p:par>
                  <p:par>
                    <p:cTn id="46" fill="hold" nodeType="clickPar">
                      <p:stCondLst>
                        <p:cond delay="indefinite"/>
                      </p:stCondLst>
                      <p:childTnLst>
                        <p:par>
                          <p:cTn id="47" fill="hold" nodeType="withGroup">
                            <p:stCondLst>
                              <p:cond delay="0"/>
                            </p:stCondLst>
                            <p:childTnLst>
                              <p:par>
                                <p:cTn id="48" presetID="27" presetClass="entr" presetSubtype="0" fill="hold" grpId="0" nodeType="clickEffect">
                                  <p:stCondLst>
                                    <p:cond delay="0"/>
                                  </p:stCondLst>
                                  <p:iterate type="lt">
                                    <p:tmPct val="50000"/>
                                  </p:iterate>
                                  <p:childTnLst>
                                    <p:set>
                                      <p:cBhvr>
                                        <p:cTn id="49" dur="1" fill="hold">
                                          <p:stCondLst>
                                            <p:cond delay="0"/>
                                          </p:stCondLst>
                                        </p:cTn>
                                        <p:tgtEl>
                                          <p:spTgt spid="244"/>
                                        </p:tgtEl>
                                        <p:attrNameLst>
                                          <p:attrName>style.visibility</p:attrName>
                                        </p:attrNameLst>
                                      </p:cBhvr>
                                      <p:to>
                                        <p:strVal val="visible"/>
                                      </p:to>
                                    </p:set>
                                    <p:anim calcmode="discrete" valueType="clr">
                                      <p:cBhvr override="childStyle">
                                        <p:cTn id="50" dur="80"/>
                                        <p:tgtEl>
                                          <p:spTgt spid="244"/>
                                        </p:tgtEl>
                                        <p:attrNameLst>
                                          <p:attrName>style.color</p:attrName>
                                        </p:attrNameLst>
                                      </p:cBhvr>
                                      <p:tavLst>
                                        <p:tav tm="0">
                                          <p:val>
                                            <p:clrVal>
                                              <a:schemeClr val="accent2"/>
                                            </p:clrVal>
                                          </p:val>
                                        </p:tav>
                                        <p:tav tm="50000">
                                          <p:val>
                                            <p:clrVal>
                                              <a:schemeClr val="hlink"/>
                                            </p:clrVal>
                                          </p:val>
                                        </p:tav>
                                      </p:tavLst>
                                    </p:anim>
                                    <p:anim calcmode="discrete" valueType="clr">
                                      <p:cBhvr>
                                        <p:cTn id="51" dur="80"/>
                                        <p:tgtEl>
                                          <p:spTgt spid="244"/>
                                        </p:tgtEl>
                                        <p:attrNameLst>
                                          <p:attrName>fillcolor</p:attrName>
                                        </p:attrNameLst>
                                      </p:cBhvr>
                                      <p:tavLst>
                                        <p:tav tm="0">
                                          <p:val>
                                            <p:clrVal>
                                              <a:schemeClr val="accent2"/>
                                            </p:clrVal>
                                          </p:val>
                                        </p:tav>
                                        <p:tav tm="50000">
                                          <p:val>
                                            <p:clrVal>
                                              <a:schemeClr val="hlink"/>
                                            </p:clrVal>
                                          </p:val>
                                        </p:tav>
                                      </p:tavLst>
                                    </p:anim>
                                    <p:set>
                                      <p:cBhvr>
                                        <p:cTn id="52" dur="80"/>
                                        <p:tgtEl>
                                          <p:spTgt spid="244"/>
                                        </p:tgtEl>
                                        <p:attrNameLst>
                                          <p:attrName>fill.type</p:attrName>
                                        </p:attrNameLst>
                                      </p:cBhvr>
                                      <p:to>
                                        <p:strVal val="solid"/>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xit" presetSubtype="0" fill="hold" nodeType="clickEffect">
                                  <p:stCondLst>
                                    <p:cond delay="0"/>
                                  </p:stCondLst>
                                  <p:childTnLst>
                                    <p:animEffect transition="out" filter="dissolve">
                                      <p:cBhvr>
                                        <p:cTn id="60" dur="500"/>
                                        <p:tgtEl>
                                          <p:spTgt spid="30"/>
                                        </p:tgtEl>
                                      </p:cBhvr>
                                    </p:animEffect>
                                    <p:set>
                                      <p:cBhvr>
                                        <p:cTn id="61" dur="1" fill="hold">
                                          <p:stCondLst>
                                            <p:cond delay="499"/>
                                          </p:stCondLst>
                                        </p:cTn>
                                        <p:tgtEl>
                                          <p:spTgt spid="30"/>
                                        </p:tgtEl>
                                        <p:attrNameLst>
                                          <p:attrName>style.visibility</p:attrName>
                                        </p:attrNameLst>
                                      </p:cBhvr>
                                      <p:to>
                                        <p:strVal val="hidden"/>
                                      </p:to>
                                    </p:set>
                                  </p:childTnLst>
                                </p:cTn>
                              </p:par>
                              <p:par>
                                <p:cTn id="62" presetID="1" presetClass="entr" presetSubtype="0" fill="hold" nodeType="withEffect">
                                  <p:stCondLst>
                                    <p:cond delay="0"/>
                                  </p:stCondLst>
                                  <p:childTnLst>
                                    <p:set>
                                      <p:cBhvr>
                                        <p:cTn id="63" dur="1" fill="hold">
                                          <p:stCondLst>
                                            <p:cond delay="0"/>
                                          </p:stCondLst>
                                        </p:cTn>
                                        <p:tgtEl>
                                          <p:spTgt spid="226"/>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nodeType="withGroup">
                            <p:stCondLst>
                              <p:cond delay="0"/>
                            </p:stCondLst>
                            <p:childTnLst>
                              <p:par>
                                <p:cTn id="66" presetID="27" presetClass="entr" presetSubtype="0" fill="hold" grpId="0" nodeType="clickEffect">
                                  <p:stCondLst>
                                    <p:cond delay="0"/>
                                  </p:stCondLst>
                                  <p:iterate type="lt">
                                    <p:tmPct val="50000"/>
                                  </p:iterate>
                                  <p:childTnLst>
                                    <p:set>
                                      <p:cBhvr>
                                        <p:cTn id="67" dur="1" fill="hold">
                                          <p:stCondLst>
                                            <p:cond delay="0"/>
                                          </p:stCondLst>
                                        </p:cTn>
                                        <p:tgtEl>
                                          <p:spTgt spid="245"/>
                                        </p:tgtEl>
                                        <p:attrNameLst>
                                          <p:attrName>style.visibility</p:attrName>
                                        </p:attrNameLst>
                                      </p:cBhvr>
                                      <p:to>
                                        <p:strVal val="visible"/>
                                      </p:to>
                                    </p:set>
                                    <p:anim calcmode="discrete" valueType="clr">
                                      <p:cBhvr override="childStyle">
                                        <p:cTn id="68" dur="80"/>
                                        <p:tgtEl>
                                          <p:spTgt spid="245"/>
                                        </p:tgtEl>
                                        <p:attrNameLst>
                                          <p:attrName>style.color</p:attrName>
                                        </p:attrNameLst>
                                      </p:cBhvr>
                                      <p:tavLst>
                                        <p:tav tm="0">
                                          <p:val>
                                            <p:clrVal>
                                              <a:schemeClr val="accent2"/>
                                            </p:clrVal>
                                          </p:val>
                                        </p:tav>
                                        <p:tav tm="50000">
                                          <p:val>
                                            <p:clrVal>
                                              <a:schemeClr val="hlink"/>
                                            </p:clrVal>
                                          </p:val>
                                        </p:tav>
                                      </p:tavLst>
                                    </p:anim>
                                    <p:anim calcmode="discrete" valueType="clr">
                                      <p:cBhvr>
                                        <p:cTn id="69" dur="80"/>
                                        <p:tgtEl>
                                          <p:spTgt spid="245"/>
                                        </p:tgtEl>
                                        <p:attrNameLst>
                                          <p:attrName>fillcolor</p:attrName>
                                        </p:attrNameLst>
                                      </p:cBhvr>
                                      <p:tavLst>
                                        <p:tav tm="0">
                                          <p:val>
                                            <p:clrVal>
                                              <a:schemeClr val="accent2"/>
                                            </p:clrVal>
                                          </p:val>
                                        </p:tav>
                                        <p:tav tm="50000">
                                          <p:val>
                                            <p:clrVal>
                                              <a:schemeClr val="hlink"/>
                                            </p:clrVal>
                                          </p:val>
                                        </p:tav>
                                      </p:tavLst>
                                    </p:anim>
                                    <p:set>
                                      <p:cBhvr>
                                        <p:cTn id="70" dur="80"/>
                                        <p:tgtEl>
                                          <p:spTgt spid="245"/>
                                        </p:tgtEl>
                                        <p:attrNameLst>
                                          <p:attrName>fill.type</p:attrName>
                                        </p:attrNameLst>
                                      </p:cBhvr>
                                      <p:to>
                                        <p:strVal val="solid"/>
                                      </p:to>
                                    </p:set>
                                  </p:childTnLst>
                                </p:cTn>
                              </p:par>
                              <p:par>
                                <p:cTn id="71" presetID="9" presetClass="exit" presetSubtype="0" fill="hold" nodeType="withEffect">
                                  <p:stCondLst>
                                    <p:cond delay="0"/>
                                  </p:stCondLst>
                                  <p:childTnLst>
                                    <p:animEffect transition="out" filter="dissolve">
                                      <p:cBhvr>
                                        <p:cTn id="72" dur="500"/>
                                        <p:tgtEl>
                                          <p:spTgt spid="226"/>
                                        </p:tgtEl>
                                      </p:cBhvr>
                                    </p:animEffect>
                                    <p:set>
                                      <p:cBhvr>
                                        <p:cTn id="73" dur="1" fill="hold">
                                          <p:stCondLst>
                                            <p:cond delay="499"/>
                                          </p:stCondLst>
                                        </p:cTn>
                                        <p:tgtEl>
                                          <p:spTgt spid="226"/>
                                        </p:tgtEl>
                                        <p:attrNameLst>
                                          <p:attrName>style.visibility</p:attrName>
                                        </p:attrNameLst>
                                      </p:cBhvr>
                                      <p:to>
                                        <p:strVal val="hidden"/>
                                      </p:to>
                                    </p:set>
                                  </p:childTnLst>
                                </p:cTn>
                              </p:par>
                            </p:childTnLst>
                          </p:cTn>
                        </p:par>
                      </p:childTnLst>
                    </p:cTn>
                  </p:par>
                  <p:par>
                    <p:cTn id="74" fill="hold" nodeType="clickPar">
                      <p:stCondLst>
                        <p:cond delay="indefinite"/>
                      </p:stCondLst>
                      <p:childTnLst>
                        <p:par>
                          <p:cTn id="75" fill="hold" nodeType="withGroup">
                            <p:stCondLst>
                              <p:cond delay="0"/>
                            </p:stCondLst>
                            <p:childTnLst>
                              <p:par>
                                <p:cTn id="76" presetID="1" presetClass="entr" presetSubtype="0" fill="hold" nodeType="clickEffect">
                                  <p:stCondLst>
                                    <p:cond delay="0"/>
                                  </p:stCondLst>
                                  <p:childTnLst>
                                    <p:set>
                                      <p:cBhvr>
                                        <p:cTn id="77" dur="1" fill="hold">
                                          <p:stCondLst>
                                            <p:cond delay="0"/>
                                          </p:stCondLst>
                                        </p:cTn>
                                        <p:tgtEl>
                                          <p:spTgt spid="2"/>
                                        </p:tgtEl>
                                        <p:attrNameLst>
                                          <p:attrName>style.visibility</p:attrName>
                                        </p:attrNameLst>
                                      </p:cBhvr>
                                      <p:to>
                                        <p:strVal val="visible"/>
                                      </p:to>
                                    </p:set>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xit" presetSubtype="0" fill="hold" nodeType="clickEffect">
                                  <p:stCondLst>
                                    <p:cond delay="0"/>
                                  </p:stCondLst>
                                  <p:childTnLst>
                                    <p:set>
                                      <p:cBhvr>
                                        <p:cTn id="81" dur="1" fill="hold">
                                          <p:stCondLst>
                                            <p:cond delay="0"/>
                                          </p:stCondLst>
                                        </p:cTn>
                                        <p:tgtEl>
                                          <p:spTgt spid="2"/>
                                        </p:tgtEl>
                                        <p:attrNameLst>
                                          <p:attrName>style.visibility</p:attrName>
                                        </p:attrNameLst>
                                      </p:cBhvr>
                                      <p:to>
                                        <p:strVal val="hidden"/>
                                      </p:to>
                                    </p:set>
                                  </p:childTnLst>
                                </p:cTn>
                              </p:par>
                              <p:par>
                                <p:cTn id="82" presetID="1" presetClass="entr" presetSubtype="0" fill="hold" nodeType="withEffect">
                                  <p:stCondLst>
                                    <p:cond delay="0"/>
                                  </p:stCondLst>
                                  <p:childTnLst>
                                    <p:set>
                                      <p:cBhvr>
                                        <p:cTn id="83" dur="1" fill="hold">
                                          <p:stCondLst>
                                            <p:cond delay="0"/>
                                          </p:stCondLst>
                                        </p:cTn>
                                        <p:tgtEl>
                                          <p:spTgt spid="19"/>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27" presetClass="entr" presetSubtype="0" fill="hold" grpId="0" nodeType="clickEffect">
                                  <p:stCondLst>
                                    <p:cond delay="0"/>
                                  </p:stCondLst>
                                  <p:iterate type="lt">
                                    <p:tmPct val="50000"/>
                                  </p:iterate>
                                  <p:childTnLst>
                                    <p:set>
                                      <p:cBhvr>
                                        <p:cTn id="87" dur="1" fill="hold">
                                          <p:stCondLst>
                                            <p:cond delay="0"/>
                                          </p:stCondLst>
                                        </p:cTn>
                                        <p:tgtEl>
                                          <p:spTgt spid="246"/>
                                        </p:tgtEl>
                                        <p:attrNameLst>
                                          <p:attrName>style.visibility</p:attrName>
                                        </p:attrNameLst>
                                      </p:cBhvr>
                                      <p:to>
                                        <p:strVal val="visible"/>
                                      </p:to>
                                    </p:set>
                                    <p:anim calcmode="discrete" valueType="clr">
                                      <p:cBhvr override="childStyle">
                                        <p:cTn id="88" dur="80"/>
                                        <p:tgtEl>
                                          <p:spTgt spid="246"/>
                                        </p:tgtEl>
                                        <p:attrNameLst>
                                          <p:attrName>style.color</p:attrName>
                                        </p:attrNameLst>
                                      </p:cBhvr>
                                      <p:tavLst>
                                        <p:tav tm="0">
                                          <p:val>
                                            <p:clrVal>
                                              <a:schemeClr val="accent2"/>
                                            </p:clrVal>
                                          </p:val>
                                        </p:tav>
                                        <p:tav tm="50000">
                                          <p:val>
                                            <p:clrVal>
                                              <a:schemeClr val="hlink"/>
                                            </p:clrVal>
                                          </p:val>
                                        </p:tav>
                                      </p:tavLst>
                                    </p:anim>
                                    <p:anim calcmode="discrete" valueType="clr">
                                      <p:cBhvr>
                                        <p:cTn id="89" dur="80"/>
                                        <p:tgtEl>
                                          <p:spTgt spid="246"/>
                                        </p:tgtEl>
                                        <p:attrNameLst>
                                          <p:attrName>fillcolor</p:attrName>
                                        </p:attrNameLst>
                                      </p:cBhvr>
                                      <p:tavLst>
                                        <p:tav tm="0">
                                          <p:val>
                                            <p:clrVal>
                                              <a:schemeClr val="accent2"/>
                                            </p:clrVal>
                                          </p:val>
                                        </p:tav>
                                        <p:tav tm="50000">
                                          <p:val>
                                            <p:clrVal>
                                              <a:schemeClr val="hlink"/>
                                            </p:clrVal>
                                          </p:val>
                                        </p:tav>
                                      </p:tavLst>
                                    </p:anim>
                                    <p:set>
                                      <p:cBhvr>
                                        <p:cTn id="90" dur="80"/>
                                        <p:tgtEl>
                                          <p:spTgt spid="246"/>
                                        </p:tgtEl>
                                        <p:attrNameLst>
                                          <p:attrName>fill.type</p:attrName>
                                        </p:attrNameLst>
                                      </p:cBhvr>
                                      <p:to>
                                        <p:strVal val="solid"/>
                                      </p:to>
                                    </p:set>
                                  </p:childTnLst>
                                </p:cTn>
                              </p:par>
                              <p:par>
                                <p:cTn id="91" presetID="9" presetClass="exit" presetSubtype="0" fill="hold" nodeType="withEffect">
                                  <p:stCondLst>
                                    <p:cond delay="0"/>
                                  </p:stCondLst>
                                  <p:childTnLst>
                                    <p:animEffect transition="out" filter="dissolve">
                                      <p:cBhvr>
                                        <p:cTn id="92" dur="500"/>
                                        <p:tgtEl>
                                          <p:spTgt spid="19"/>
                                        </p:tgtEl>
                                      </p:cBhvr>
                                    </p:animEffect>
                                    <p:set>
                                      <p:cBhvr>
                                        <p:cTn id="93" dur="1" fill="hold">
                                          <p:stCondLst>
                                            <p:cond delay="499"/>
                                          </p:stCondLst>
                                        </p:cTn>
                                        <p:tgtEl>
                                          <p:spTgt spid="19"/>
                                        </p:tgtEl>
                                        <p:attrNameLst>
                                          <p:attrName>style.visibility</p:attrName>
                                        </p:attrNameLst>
                                      </p:cBhvr>
                                      <p:to>
                                        <p:strVal val="hidden"/>
                                      </p:to>
                                    </p:set>
                                  </p:childTnLst>
                                </p:cTn>
                              </p:par>
                            </p:childTnLst>
                          </p:cTn>
                        </p:par>
                      </p:childTnLst>
                    </p:cTn>
                  </p:par>
                  <p:par>
                    <p:cTn id="94" fill="hold" nodeType="clickPar">
                      <p:stCondLst>
                        <p:cond delay="indefinite"/>
                      </p:stCondLst>
                      <p:childTnLst>
                        <p:par>
                          <p:cTn id="95" fill="hold" nodeType="withGroup">
                            <p:stCondLst>
                              <p:cond delay="0"/>
                            </p:stCondLst>
                            <p:childTnLst>
                              <p:par>
                                <p:cTn id="96" presetID="1" presetClass="entr" presetSubtype="0" fill="hold" nodeType="clickEffect">
                                  <p:stCondLst>
                                    <p:cond delay="0"/>
                                  </p:stCondLst>
                                  <p:childTnLst>
                                    <p:set>
                                      <p:cBhvr>
                                        <p:cTn id="97" dur="1" fill="hold">
                                          <p:stCondLst>
                                            <p:cond delay="0"/>
                                          </p:stCondLst>
                                        </p:cTn>
                                        <p:tgtEl>
                                          <p:spTgt spid="30"/>
                                        </p:tgtEl>
                                        <p:attrNameLst>
                                          <p:attrName>style.visibility</p:attrName>
                                        </p:attrNameLst>
                                      </p:cBhvr>
                                      <p:to>
                                        <p:strVal val="visible"/>
                                      </p:to>
                                    </p:set>
                                  </p:childTnLst>
                                </p:cTn>
                              </p:par>
                            </p:childTnLst>
                          </p:cTn>
                        </p:par>
                      </p:childTnLst>
                    </p:cTn>
                  </p:par>
                  <p:par>
                    <p:cTn id="98" fill="hold" nodeType="clickPar">
                      <p:stCondLst>
                        <p:cond delay="indefinite"/>
                      </p:stCondLst>
                      <p:childTnLst>
                        <p:par>
                          <p:cTn id="99" fill="hold" nodeType="withGroup">
                            <p:stCondLst>
                              <p:cond delay="0"/>
                            </p:stCondLst>
                            <p:childTnLst>
                              <p:par>
                                <p:cTn id="100" presetID="9" presetClass="exit" presetSubtype="0" fill="hold" nodeType="clickEffect">
                                  <p:stCondLst>
                                    <p:cond delay="0"/>
                                  </p:stCondLst>
                                  <p:childTnLst>
                                    <p:animEffect transition="out" filter="dissolve">
                                      <p:cBhvr>
                                        <p:cTn id="101" dur="500"/>
                                        <p:tgtEl>
                                          <p:spTgt spid="30"/>
                                        </p:tgtEl>
                                      </p:cBhvr>
                                    </p:animEffect>
                                    <p:set>
                                      <p:cBhvr>
                                        <p:cTn id="102" dur="1" fill="hold">
                                          <p:stCondLst>
                                            <p:cond delay="499"/>
                                          </p:stCondLst>
                                        </p:cTn>
                                        <p:tgtEl>
                                          <p:spTgt spid="30"/>
                                        </p:tgtEl>
                                        <p:attrNameLst>
                                          <p:attrName>style.visibility</p:attrName>
                                        </p:attrNameLst>
                                      </p:cBhvr>
                                      <p:to>
                                        <p:strVal val="hidden"/>
                                      </p:to>
                                    </p:set>
                                  </p:childTnLst>
                                </p:cTn>
                              </p:par>
                              <p:par>
                                <p:cTn id="103" presetID="1" presetClass="entr" presetSubtype="0" fill="hold" nodeType="withEffect">
                                  <p:stCondLst>
                                    <p:cond delay="0"/>
                                  </p:stCondLst>
                                  <p:childTnLst>
                                    <p:set>
                                      <p:cBhvr>
                                        <p:cTn id="104"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09" grpId="0"/>
      <p:bldP spid="244" grpId="0"/>
      <p:bldP spid="245" grpId="0"/>
      <p:bldP spid="246" grpId="0"/>
    </p:bldLst>
  </p:timing>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19" name="Espace réservé du pied de page 18"/>
          <p:cNvSpPr>
            <a:spLocks noGrp="1"/>
          </p:cNvSpPr>
          <p:nvPr>
            <p:ph type="ftr" sz="quarter" idx="11"/>
          </p:nvPr>
        </p:nvSpPr>
        <p:spPr/>
        <p:txBody>
          <a:bodyPr/>
          <a:lstStyle/>
          <a:p>
            <a:pPr>
              <a:defRPr/>
            </a:pPr>
            <a:r>
              <a:rPr lang="fr-FR"/>
              <a:t>Commande des machines   3.MCC     Ali NEJMI</a:t>
            </a:r>
          </a:p>
        </p:txBody>
      </p:sp>
      <p:sp>
        <p:nvSpPr>
          <p:cNvPr id="104451"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EB9A9D1-11BD-429E-8092-CA10F39606CF}" type="slidenum">
              <a:rPr lang="fr-FR" altLang="fr-FR" sz="1000" smtClean="0">
                <a:solidFill>
                  <a:srgbClr val="292929"/>
                </a:solidFill>
                <a:latin typeface="Arial" panose="020B0604020202020204" pitchFamily="34" charset="0"/>
              </a:rPr>
              <a:pPr>
                <a:spcBef>
                  <a:spcPct val="0"/>
                </a:spcBef>
                <a:buClrTx/>
                <a:buSzTx/>
                <a:buFontTx/>
                <a:buNone/>
              </a:pPr>
              <a:t>56</a:t>
            </a:fld>
            <a:endParaRPr lang="fr-FR" altLang="fr-FR" sz="1000" smtClean="0">
              <a:solidFill>
                <a:srgbClr val="292929"/>
              </a:solidFill>
              <a:latin typeface="Arial" panose="020B0604020202020204" pitchFamily="34" charset="0"/>
            </a:endParaRPr>
          </a:p>
        </p:txBody>
      </p:sp>
      <p:sp>
        <p:nvSpPr>
          <p:cNvPr id="74754" name="Rectangle 2"/>
          <p:cNvSpPr>
            <a:spLocks noChangeArrowheads="1"/>
          </p:cNvSpPr>
          <p:nvPr/>
        </p:nvSpPr>
        <p:spPr bwMode="auto">
          <a:xfrm>
            <a:off x="801688" y="628650"/>
            <a:ext cx="2881312" cy="400050"/>
          </a:xfrm>
          <a:prstGeom prst="rect">
            <a:avLst/>
          </a:prstGeom>
          <a:noFill/>
          <a:ln w="9525">
            <a:noFill/>
            <a:miter lim="800000"/>
            <a:headEnd/>
            <a:tailEnd/>
          </a:ln>
          <a:effectLst/>
        </p:spPr>
        <p:txBody>
          <a:bodyPr wrap="none">
            <a:spAutoFit/>
          </a:bodyPr>
          <a:lstStyle/>
          <a:p>
            <a:pPr eaLnBrk="1" hangingPunct="1">
              <a:defRPr/>
            </a:pPr>
            <a:r>
              <a:rPr lang="fr-FR" sz="2000" b="1" cap="small" dirty="0">
                <a:cs typeface="Times New Roman" pitchFamily="18" charset="0"/>
              </a:rPr>
              <a:t>Alimentation continue</a:t>
            </a:r>
          </a:p>
        </p:txBody>
      </p:sp>
      <p:grpSp>
        <p:nvGrpSpPr>
          <p:cNvPr id="2" name="Group 3"/>
          <p:cNvGrpSpPr>
            <a:grpSpLocks/>
          </p:cNvGrpSpPr>
          <p:nvPr/>
        </p:nvGrpSpPr>
        <p:grpSpPr bwMode="auto">
          <a:xfrm>
            <a:off x="1214438" y="1428750"/>
            <a:ext cx="6956425" cy="1371600"/>
            <a:chOff x="965" y="2928"/>
            <a:chExt cx="4382" cy="864"/>
          </a:xfrm>
        </p:grpSpPr>
        <p:sp>
          <p:nvSpPr>
            <p:cNvPr id="104457" name="Line 4"/>
            <p:cNvSpPr>
              <a:spLocks noChangeShapeType="1"/>
            </p:cNvSpPr>
            <p:nvPr/>
          </p:nvSpPr>
          <p:spPr bwMode="auto">
            <a:xfrm>
              <a:off x="1680" y="3408"/>
              <a:ext cx="168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04458" name="Line 6"/>
            <p:cNvSpPr>
              <a:spLocks noChangeShapeType="1"/>
            </p:cNvSpPr>
            <p:nvPr/>
          </p:nvSpPr>
          <p:spPr bwMode="auto">
            <a:xfrm>
              <a:off x="3764" y="3408"/>
              <a:ext cx="960" cy="0"/>
            </a:xfrm>
            <a:prstGeom prst="line">
              <a:avLst/>
            </a:prstGeom>
            <a:noFill/>
            <a:ln w="2857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04459" name="AutoShape 7"/>
            <p:cNvSpPr>
              <a:spLocks noChangeArrowheads="1"/>
            </p:cNvSpPr>
            <p:nvPr/>
          </p:nvSpPr>
          <p:spPr bwMode="auto">
            <a:xfrm rot="-1317020">
              <a:off x="4244" y="3168"/>
              <a:ext cx="480" cy="57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50 w 21600"/>
                <a:gd name="T19" fmla="*/ 3150 h 21600"/>
                <a:gd name="T20" fmla="*/ 18450 w 21600"/>
                <a:gd name="T21" fmla="*/ 1845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6874" y="4988"/>
                  </a:moveTo>
                  <a:cubicBezTo>
                    <a:pt x="15288" y="3330"/>
                    <a:pt x="13094" y="2393"/>
                    <a:pt x="10800" y="2393"/>
                  </a:cubicBezTo>
                  <a:cubicBezTo>
                    <a:pt x="6156" y="2393"/>
                    <a:pt x="2393" y="6156"/>
                    <a:pt x="2393" y="10800"/>
                  </a:cubicBezTo>
                  <a:cubicBezTo>
                    <a:pt x="2392" y="12254"/>
                    <a:pt x="2770" y="13685"/>
                    <a:pt x="3488" y="14950"/>
                  </a:cubicBezTo>
                  <a:lnTo>
                    <a:pt x="1407" y="16131"/>
                  </a:lnTo>
                  <a:cubicBezTo>
                    <a:pt x="485" y="14506"/>
                    <a:pt x="0" y="12669"/>
                    <a:pt x="0" y="10800"/>
                  </a:cubicBezTo>
                  <a:cubicBezTo>
                    <a:pt x="0" y="4835"/>
                    <a:pt x="4835" y="0"/>
                    <a:pt x="10800" y="0"/>
                  </a:cubicBezTo>
                  <a:cubicBezTo>
                    <a:pt x="13747" y="-1"/>
                    <a:pt x="16566" y="1204"/>
                    <a:pt x="18603" y="3334"/>
                  </a:cubicBezTo>
                  <a:lnTo>
                    <a:pt x="20554" y="1467"/>
                  </a:lnTo>
                  <a:lnTo>
                    <a:pt x="20433" y="6976"/>
                  </a:lnTo>
                  <a:lnTo>
                    <a:pt x="14923" y="6854"/>
                  </a:lnTo>
                  <a:lnTo>
                    <a:pt x="16874" y="4988"/>
                  </a:lnTo>
                  <a:close/>
                </a:path>
              </a:pathLst>
            </a:custGeom>
            <a:solidFill>
              <a:schemeClr val="accent1"/>
            </a:solidFill>
            <a:ln w="9525">
              <a:solidFill>
                <a:schemeClr val="tx1"/>
              </a:solidFill>
              <a:miter lim="800000"/>
              <a:headEnd/>
              <a:tailEnd/>
            </a:ln>
          </p:spPr>
          <p:txBody>
            <a:bodyPr wrap="none" anchor="ctr"/>
            <a:lstStyle/>
            <a:p>
              <a:endParaRPr lang="fr-FR"/>
            </a:p>
          </p:txBody>
        </p:sp>
        <p:sp>
          <p:nvSpPr>
            <p:cNvPr id="104460" name="Text Box 8"/>
            <p:cNvSpPr txBox="1">
              <a:spLocks noChangeArrowheads="1"/>
            </p:cNvSpPr>
            <p:nvPr/>
          </p:nvSpPr>
          <p:spPr bwMode="auto">
            <a:xfrm>
              <a:off x="4426" y="3382"/>
              <a:ext cx="2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Symbol" panose="05050102010706020507" pitchFamily="18" charset="2"/>
                </a:rPr>
                <a:t>W</a:t>
              </a:r>
            </a:p>
          </p:txBody>
        </p:sp>
        <p:sp>
          <p:nvSpPr>
            <p:cNvPr id="104461" name="Text Box 9"/>
            <p:cNvSpPr txBox="1">
              <a:spLocks noChangeArrowheads="1"/>
            </p:cNvSpPr>
            <p:nvPr/>
          </p:nvSpPr>
          <p:spPr bwMode="auto">
            <a:xfrm>
              <a:off x="965" y="3120"/>
              <a:ext cx="691" cy="51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Réseau</a:t>
              </a:r>
            </a:p>
            <a:p>
              <a:pPr eaLnBrk="1" hangingPunct="1">
                <a:spcBef>
                  <a:spcPct val="0"/>
                </a:spcBef>
                <a:buClrTx/>
                <a:buSzTx/>
                <a:buFontTx/>
                <a:buNone/>
              </a:pPr>
              <a:r>
                <a:rPr lang="fr-FR" altLang="fr-FR" sz="1800">
                  <a:latin typeface="Arial" panose="020B0604020202020204" pitchFamily="34" charset="0"/>
                </a:rPr>
                <a:t>continu</a:t>
              </a:r>
            </a:p>
          </p:txBody>
        </p:sp>
        <p:sp>
          <p:nvSpPr>
            <p:cNvPr id="104462" name="Text Box 10"/>
            <p:cNvSpPr txBox="1">
              <a:spLocks noChangeArrowheads="1"/>
            </p:cNvSpPr>
            <p:nvPr/>
          </p:nvSpPr>
          <p:spPr bwMode="auto">
            <a:xfrm>
              <a:off x="4714" y="3238"/>
              <a:ext cx="633" cy="294"/>
            </a:xfrm>
            <a:prstGeom prst="rect">
              <a:avLst/>
            </a:prstGeom>
            <a:solidFill>
              <a:schemeClr val="accent1"/>
            </a:solidFill>
            <a:ln w="9525">
              <a:solidFill>
                <a:schemeClr val="tx1"/>
              </a:solidFill>
              <a:miter lim="800000"/>
              <a:headEnd/>
              <a:tailEnd/>
            </a:ln>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charge</a:t>
              </a:r>
            </a:p>
          </p:txBody>
        </p:sp>
        <p:sp>
          <p:nvSpPr>
            <p:cNvPr id="104463" name="Rectangle 11"/>
            <p:cNvSpPr>
              <a:spLocks noChangeArrowheads="1"/>
            </p:cNvSpPr>
            <p:nvPr/>
          </p:nvSpPr>
          <p:spPr bwMode="auto">
            <a:xfrm>
              <a:off x="2208" y="2928"/>
              <a:ext cx="608" cy="864"/>
            </a:xfrm>
            <a:prstGeom prst="rect">
              <a:avLst/>
            </a:prstGeom>
            <a:solidFill>
              <a:srgbClr val="FFFF00"/>
            </a:solidFill>
            <a:ln w="2857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04464" name="Line 12"/>
            <p:cNvSpPr>
              <a:spLocks noChangeShapeType="1"/>
            </p:cNvSpPr>
            <p:nvPr/>
          </p:nvSpPr>
          <p:spPr bwMode="auto">
            <a:xfrm flipV="1">
              <a:off x="2216" y="2928"/>
              <a:ext cx="608" cy="86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4465" name="Text Box 13"/>
            <p:cNvSpPr txBox="1">
              <a:spLocks noChangeArrowheads="1"/>
            </p:cNvSpPr>
            <p:nvPr/>
          </p:nvSpPr>
          <p:spPr bwMode="auto">
            <a:xfrm>
              <a:off x="2216" y="2928"/>
              <a:ext cx="304"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3200">
                  <a:latin typeface="Arial" panose="020B0604020202020204" pitchFamily="34" charset="0"/>
                  <a:sym typeface="Symbol" panose="05050102010706020507" pitchFamily="18" charset="2"/>
                </a:rPr>
                <a:t>=</a:t>
              </a:r>
              <a:endParaRPr lang="fr-FR" altLang="fr-FR" sz="3200">
                <a:latin typeface="Arial" panose="020B0604020202020204" pitchFamily="34" charset="0"/>
              </a:endParaRPr>
            </a:p>
          </p:txBody>
        </p:sp>
        <p:sp>
          <p:nvSpPr>
            <p:cNvPr id="104466" name="Text Box 14"/>
            <p:cNvSpPr txBox="1">
              <a:spLocks noChangeArrowheads="1"/>
            </p:cNvSpPr>
            <p:nvPr/>
          </p:nvSpPr>
          <p:spPr bwMode="auto">
            <a:xfrm>
              <a:off x="2520" y="3408"/>
              <a:ext cx="38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3200">
                  <a:latin typeface="Arial" panose="020B0604020202020204" pitchFamily="34" charset="0"/>
                </a:rPr>
                <a:t>=</a:t>
              </a:r>
            </a:p>
          </p:txBody>
        </p:sp>
        <p:sp>
          <p:nvSpPr>
            <p:cNvPr id="104467" name="Line 15"/>
            <p:cNvSpPr>
              <a:spLocks noChangeShapeType="1"/>
            </p:cNvSpPr>
            <p:nvPr/>
          </p:nvSpPr>
          <p:spPr bwMode="auto">
            <a:xfrm flipV="1">
              <a:off x="2544" y="3456"/>
              <a:ext cx="192"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fr-FR"/>
            </a:p>
          </p:txBody>
        </p:sp>
        <p:sp>
          <p:nvSpPr>
            <p:cNvPr id="104468" name="Oval 5"/>
            <p:cNvSpPr>
              <a:spLocks noChangeArrowheads="1"/>
            </p:cNvSpPr>
            <p:nvPr/>
          </p:nvSpPr>
          <p:spPr bwMode="auto">
            <a:xfrm>
              <a:off x="3332" y="3024"/>
              <a:ext cx="768" cy="768"/>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MCC</a:t>
              </a:r>
            </a:p>
          </p:txBody>
        </p:sp>
      </p:grpSp>
      <p:sp>
        <p:nvSpPr>
          <p:cNvPr id="74768" name="Text Box 16"/>
          <p:cNvSpPr txBox="1">
            <a:spLocks noChangeArrowheads="1"/>
          </p:cNvSpPr>
          <p:nvPr/>
        </p:nvSpPr>
        <p:spPr bwMode="auto">
          <a:xfrm>
            <a:off x="1857375" y="3500438"/>
            <a:ext cx="4441825"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solidFill>
                  <a:srgbClr val="FF0000"/>
                </a:solidFill>
                <a:latin typeface="Arial" panose="020B0604020202020204" pitchFamily="34" charset="0"/>
              </a:rPr>
              <a:t>Le variateur est un hacheur de type série.</a:t>
            </a:r>
          </a:p>
          <a:p>
            <a:pPr eaLnBrk="1" hangingPunct="1">
              <a:spcBef>
                <a:spcPct val="0"/>
              </a:spcBef>
              <a:buClrTx/>
              <a:buSzTx/>
              <a:buFontTx/>
              <a:buNone/>
            </a:pPr>
            <a:endParaRPr lang="fr-FR" altLang="fr-FR" sz="1800">
              <a:solidFill>
                <a:srgbClr val="FF0000"/>
              </a:solidFill>
              <a:latin typeface="Arial" panose="020B0604020202020204" pitchFamily="34" charset="0"/>
            </a:endParaRPr>
          </a:p>
          <a:p>
            <a:pPr eaLnBrk="1" hangingPunct="1">
              <a:spcBef>
                <a:spcPct val="0"/>
              </a:spcBef>
              <a:buClrTx/>
              <a:buSzTx/>
              <a:buFontTx/>
              <a:buNone/>
            </a:pPr>
            <a:r>
              <a:rPr lang="fr-FR" altLang="fr-FR" sz="1800">
                <a:solidFill>
                  <a:srgbClr val="FF0000"/>
                </a:solidFill>
                <a:latin typeface="Arial" panose="020B0604020202020204" pitchFamily="34" charset="0"/>
              </a:rPr>
              <a:t> Le réseau continu provient :</a:t>
            </a:r>
          </a:p>
          <a:p>
            <a:pPr eaLnBrk="1" hangingPunct="1">
              <a:spcBef>
                <a:spcPct val="0"/>
              </a:spcBef>
              <a:buClrTx/>
              <a:buSzTx/>
              <a:buFontTx/>
              <a:buNone/>
            </a:pPr>
            <a:r>
              <a:rPr lang="fr-FR" altLang="fr-FR" sz="1800">
                <a:solidFill>
                  <a:srgbClr val="FF0000"/>
                </a:solidFill>
                <a:latin typeface="Arial" panose="020B0604020202020204" pitchFamily="34" charset="0"/>
              </a:rPr>
              <a:t>	- soit de batteries (ou source PV)</a:t>
            </a:r>
          </a:p>
          <a:p>
            <a:pPr eaLnBrk="1" hangingPunct="1">
              <a:spcBef>
                <a:spcPct val="0"/>
              </a:spcBef>
              <a:buClrTx/>
              <a:buSzTx/>
              <a:buFontTx/>
              <a:buNone/>
            </a:pPr>
            <a:r>
              <a:rPr lang="fr-FR" altLang="fr-FR" sz="1800">
                <a:solidFill>
                  <a:srgbClr val="FF0000"/>
                </a:solidFill>
                <a:latin typeface="Arial" panose="020B0604020202020204" pitchFamily="34" charset="0"/>
              </a:rPr>
              <a:t>	- soit d’un redresseur à diode</a:t>
            </a:r>
          </a:p>
        </p:txBody>
      </p:sp>
      <p:sp>
        <p:nvSpPr>
          <p:cNvPr id="104455"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0"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2000"/>
                                  </p:stCondLst>
                                  <p:childTnLst>
                                    <p:set>
                                      <p:cBhvr>
                                        <p:cTn id="9" dur="1" fill="hold">
                                          <p:stCondLst>
                                            <p:cond delay="499"/>
                                          </p:stCondLst>
                                        </p:cTn>
                                        <p:tgtEl>
                                          <p:spTgt spid="747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8"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79" name="Espace réservé du pied de page 78"/>
          <p:cNvSpPr>
            <a:spLocks noGrp="1"/>
          </p:cNvSpPr>
          <p:nvPr>
            <p:ph type="ftr" sz="quarter" idx="11"/>
          </p:nvPr>
        </p:nvSpPr>
        <p:spPr/>
        <p:txBody>
          <a:bodyPr/>
          <a:lstStyle/>
          <a:p>
            <a:pPr>
              <a:defRPr/>
            </a:pPr>
            <a:r>
              <a:rPr lang="fr-FR"/>
              <a:t>Commande des machines   3.MCC     Ali NEJMI</a:t>
            </a:r>
          </a:p>
        </p:txBody>
      </p:sp>
      <p:sp>
        <p:nvSpPr>
          <p:cNvPr id="106499"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6F86C77-2CCA-4F7C-98C7-557A705E6974}" type="slidenum">
              <a:rPr lang="fr-FR" altLang="fr-FR" sz="1000" smtClean="0">
                <a:solidFill>
                  <a:srgbClr val="292929"/>
                </a:solidFill>
                <a:latin typeface="Arial" panose="020B0604020202020204" pitchFamily="34" charset="0"/>
              </a:rPr>
              <a:pPr>
                <a:spcBef>
                  <a:spcPct val="0"/>
                </a:spcBef>
                <a:buClrTx/>
                <a:buSzTx/>
                <a:buFontTx/>
                <a:buNone/>
              </a:pPr>
              <a:t>57</a:t>
            </a:fld>
            <a:endParaRPr lang="fr-FR" altLang="fr-FR" sz="1000" smtClean="0">
              <a:solidFill>
                <a:srgbClr val="292929"/>
              </a:solidFill>
              <a:latin typeface="Arial" panose="020B0604020202020204" pitchFamily="34" charset="0"/>
            </a:endParaRPr>
          </a:p>
        </p:txBody>
      </p:sp>
      <p:grpSp>
        <p:nvGrpSpPr>
          <p:cNvPr id="2" name="Group 2"/>
          <p:cNvGrpSpPr>
            <a:grpSpLocks/>
          </p:cNvGrpSpPr>
          <p:nvPr/>
        </p:nvGrpSpPr>
        <p:grpSpPr bwMode="auto">
          <a:xfrm>
            <a:off x="990600" y="1447800"/>
            <a:ext cx="4267200" cy="2133600"/>
            <a:chOff x="576" y="1584"/>
            <a:chExt cx="2688" cy="1344"/>
          </a:xfrm>
        </p:grpSpPr>
        <p:sp>
          <p:nvSpPr>
            <p:cNvPr id="106554" name="Line 3"/>
            <p:cNvSpPr>
              <a:spLocks noChangeShapeType="1"/>
            </p:cNvSpPr>
            <p:nvPr/>
          </p:nvSpPr>
          <p:spPr bwMode="auto">
            <a:xfrm>
              <a:off x="723" y="2064"/>
              <a:ext cx="57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55" name="Line 4"/>
            <p:cNvSpPr>
              <a:spLocks noChangeShapeType="1"/>
            </p:cNvSpPr>
            <p:nvPr/>
          </p:nvSpPr>
          <p:spPr bwMode="auto">
            <a:xfrm flipV="1">
              <a:off x="1297" y="2064"/>
              <a:ext cx="247" cy="9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56" name="Line 5"/>
            <p:cNvSpPr>
              <a:spLocks noChangeShapeType="1"/>
            </p:cNvSpPr>
            <p:nvPr/>
          </p:nvSpPr>
          <p:spPr bwMode="auto">
            <a:xfrm>
              <a:off x="1544" y="2064"/>
              <a:ext cx="106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57" name="Line 6"/>
            <p:cNvSpPr>
              <a:spLocks noChangeShapeType="1"/>
            </p:cNvSpPr>
            <p:nvPr/>
          </p:nvSpPr>
          <p:spPr bwMode="auto">
            <a:xfrm>
              <a:off x="2613" y="2064"/>
              <a:ext cx="0" cy="19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58" name="Oval 7"/>
            <p:cNvSpPr>
              <a:spLocks noChangeArrowheads="1"/>
            </p:cNvSpPr>
            <p:nvPr/>
          </p:nvSpPr>
          <p:spPr bwMode="auto">
            <a:xfrm>
              <a:off x="2426" y="2257"/>
              <a:ext cx="374" cy="383"/>
            </a:xfrm>
            <a:prstGeom prst="ellipse">
              <a:avLst/>
            </a:pr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06559" name="Line 8"/>
            <p:cNvSpPr>
              <a:spLocks noChangeShapeType="1"/>
            </p:cNvSpPr>
            <p:nvPr/>
          </p:nvSpPr>
          <p:spPr bwMode="auto">
            <a:xfrm>
              <a:off x="1790" y="2257"/>
              <a:ext cx="1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60" name="Line 9"/>
            <p:cNvSpPr>
              <a:spLocks noChangeShapeType="1"/>
            </p:cNvSpPr>
            <p:nvPr/>
          </p:nvSpPr>
          <p:spPr bwMode="auto">
            <a:xfrm flipH="1">
              <a:off x="1790" y="2257"/>
              <a:ext cx="83" cy="1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61" name="Line 10"/>
            <p:cNvSpPr>
              <a:spLocks noChangeShapeType="1"/>
            </p:cNvSpPr>
            <p:nvPr/>
          </p:nvSpPr>
          <p:spPr bwMode="auto">
            <a:xfrm>
              <a:off x="1873" y="2257"/>
              <a:ext cx="83" cy="19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62" name="Line 11"/>
            <p:cNvSpPr>
              <a:spLocks noChangeShapeType="1"/>
            </p:cNvSpPr>
            <p:nvPr/>
          </p:nvSpPr>
          <p:spPr bwMode="auto">
            <a:xfrm>
              <a:off x="1790" y="2448"/>
              <a:ext cx="16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63" name="Line 12"/>
            <p:cNvSpPr>
              <a:spLocks noChangeShapeType="1"/>
            </p:cNvSpPr>
            <p:nvPr/>
          </p:nvSpPr>
          <p:spPr bwMode="auto">
            <a:xfrm>
              <a:off x="1873" y="2064"/>
              <a:ext cx="0" cy="86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64" name="Line 13"/>
            <p:cNvSpPr>
              <a:spLocks noChangeShapeType="1"/>
            </p:cNvSpPr>
            <p:nvPr/>
          </p:nvSpPr>
          <p:spPr bwMode="auto">
            <a:xfrm>
              <a:off x="2613" y="2640"/>
              <a:ext cx="0" cy="2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65" name="Line 14"/>
            <p:cNvSpPr>
              <a:spLocks noChangeShapeType="1"/>
            </p:cNvSpPr>
            <p:nvPr/>
          </p:nvSpPr>
          <p:spPr bwMode="auto">
            <a:xfrm flipH="1">
              <a:off x="723" y="2928"/>
              <a:ext cx="189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66" name="Rectangle 15"/>
            <p:cNvSpPr>
              <a:spLocks noChangeArrowheads="1"/>
            </p:cNvSpPr>
            <p:nvPr/>
          </p:nvSpPr>
          <p:spPr bwMode="auto">
            <a:xfrm>
              <a:off x="1133" y="1872"/>
              <a:ext cx="493" cy="48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06567" name="Line 16"/>
            <p:cNvSpPr>
              <a:spLocks noChangeShapeType="1"/>
            </p:cNvSpPr>
            <p:nvPr/>
          </p:nvSpPr>
          <p:spPr bwMode="auto">
            <a:xfrm flipV="1">
              <a:off x="1380" y="2160"/>
              <a:ext cx="0" cy="38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68" name="Text Box 17"/>
            <p:cNvSpPr txBox="1">
              <a:spLocks noChangeArrowheads="1"/>
            </p:cNvSpPr>
            <p:nvPr/>
          </p:nvSpPr>
          <p:spPr bwMode="auto">
            <a:xfrm>
              <a:off x="947" y="2530"/>
              <a:ext cx="847" cy="2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lIns="0" rIns="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   commande</a:t>
              </a:r>
            </a:p>
          </p:txBody>
        </p:sp>
        <p:sp>
          <p:nvSpPr>
            <p:cNvPr id="106569" name="Line 18"/>
            <p:cNvSpPr>
              <a:spLocks noChangeShapeType="1"/>
            </p:cNvSpPr>
            <p:nvPr/>
          </p:nvSpPr>
          <p:spPr bwMode="auto">
            <a:xfrm flipV="1">
              <a:off x="788" y="2162"/>
              <a:ext cx="0" cy="6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70" name="Line 19"/>
            <p:cNvSpPr>
              <a:spLocks noChangeShapeType="1"/>
            </p:cNvSpPr>
            <p:nvPr/>
          </p:nvSpPr>
          <p:spPr bwMode="auto">
            <a:xfrm>
              <a:off x="2120" y="2064"/>
              <a:ext cx="165"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71" name="Line 20"/>
            <p:cNvSpPr>
              <a:spLocks noChangeShapeType="1"/>
            </p:cNvSpPr>
            <p:nvPr/>
          </p:nvSpPr>
          <p:spPr bwMode="auto">
            <a:xfrm flipV="1">
              <a:off x="2853" y="2128"/>
              <a:ext cx="0" cy="67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72" name="Text Box 21"/>
            <p:cNvSpPr txBox="1">
              <a:spLocks noChangeArrowheads="1"/>
            </p:cNvSpPr>
            <p:nvPr/>
          </p:nvSpPr>
          <p:spPr bwMode="auto">
            <a:xfrm>
              <a:off x="2853" y="2320"/>
              <a:ext cx="41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solidFill>
                    <a:srgbClr val="00CC00"/>
                  </a:solidFill>
                  <a:latin typeface="Arial" panose="020B0604020202020204" pitchFamily="34" charset="0"/>
                </a:rPr>
                <a:t>U</a:t>
              </a:r>
              <a:r>
                <a:rPr lang="fr-FR" altLang="fr-FR" sz="1600" baseline="-25000">
                  <a:solidFill>
                    <a:srgbClr val="00CC00"/>
                  </a:solidFill>
                  <a:latin typeface="Arial" panose="020B0604020202020204" pitchFamily="34" charset="0"/>
                </a:rPr>
                <a:t>M</a:t>
              </a:r>
              <a:endParaRPr lang="fr-FR" altLang="fr-FR" sz="1600">
                <a:latin typeface="Arial" panose="020B0604020202020204" pitchFamily="34" charset="0"/>
              </a:endParaRPr>
            </a:p>
          </p:txBody>
        </p:sp>
        <p:sp>
          <p:nvSpPr>
            <p:cNvPr id="106573" name="Text Box 22"/>
            <p:cNvSpPr txBox="1">
              <a:spLocks noChangeArrowheads="1"/>
            </p:cNvSpPr>
            <p:nvPr/>
          </p:nvSpPr>
          <p:spPr bwMode="auto">
            <a:xfrm>
              <a:off x="2416" y="2335"/>
              <a:ext cx="5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MCC</a:t>
              </a:r>
            </a:p>
            <a:p>
              <a:pPr eaLnBrk="1" hangingPunct="1">
                <a:spcBef>
                  <a:spcPct val="0"/>
                </a:spcBef>
                <a:buClrTx/>
                <a:buSzTx/>
                <a:buFontTx/>
                <a:buNone/>
              </a:pPr>
              <a:endParaRPr lang="fr-FR" altLang="fr-FR" sz="1600">
                <a:latin typeface="Arial" panose="020B0604020202020204" pitchFamily="34" charset="0"/>
              </a:endParaRPr>
            </a:p>
          </p:txBody>
        </p:sp>
        <p:sp>
          <p:nvSpPr>
            <p:cNvPr id="106574" name="Text Box 23"/>
            <p:cNvSpPr txBox="1">
              <a:spLocks noChangeArrowheads="1"/>
            </p:cNvSpPr>
            <p:nvPr/>
          </p:nvSpPr>
          <p:spPr bwMode="auto">
            <a:xfrm>
              <a:off x="1900" y="2425"/>
              <a:ext cx="526"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DRL</a:t>
              </a:r>
            </a:p>
          </p:txBody>
        </p:sp>
        <p:sp>
          <p:nvSpPr>
            <p:cNvPr id="106575" name="Text Box 24"/>
            <p:cNvSpPr txBox="1">
              <a:spLocks noChangeArrowheads="1"/>
            </p:cNvSpPr>
            <p:nvPr/>
          </p:nvSpPr>
          <p:spPr bwMode="auto">
            <a:xfrm>
              <a:off x="947" y="1584"/>
              <a:ext cx="100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solidFill>
                    <a:srgbClr val="0066FF"/>
                  </a:solidFill>
                  <a:latin typeface="Arial" panose="020B0604020202020204" pitchFamily="34" charset="0"/>
                </a:rPr>
                <a:t>HACHEUR</a:t>
              </a:r>
              <a:endParaRPr lang="fr-FR" altLang="fr-FR" sz="1600">
                <a:latin typeface="Arial" panose="020B0604020202020204" pitchFamily="34" charset="0"/>
              </a:endParaRPr>
            </a:p>
          </p:txBody>
        </p:sp>
        <p:sp>
          <p:nvSpPr>
            <p:cNvPr id="106576" name="Text Box 25"/>
            <p:cNvSpPr txBox="1">
              <a:spLocks noChangeArrowheads="1"/>
            </p:cNvSpPr>
            <p:nvPr/>
          </p:nvSpPr>
          <p:spPr bwMode="auto">
            <a:xfrm>
              <a:off x="576" y="2320"/>
              <a:ext cx="247" cy="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E</a:t>
              </a:r>
            </a:p>
          </p:txBody>
        </p:sp>
        <p:sp>
          <p:nvSpPr>
            <p:cNvPr id="106577" name="Text Box 26"/>
            <p:cNvSpPr txBox="1">
              <a:spLocks noChangeArrowheads="1"/>
            </p:cNvSpPr>
            <p:nvPr/>
          </p:nvSpPr>
          <p:spPr bwMode="auto">
            <a:xfrm>
              <a:off x="2201" y="1776"/>
              <a:ext cx="41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solidFill>
                    <a:srgbClr val="FF0000"/>
                  </a:solidFill>
                  <a:latin typeface="Arial" panose="020B0604020202020204" pitchFamily="34" charset="0"/>
                </a:rPr>
                <a:t>I</a:t>
              </a:r>
              <a:r>
                <a:rPr lang="fr-FR" altLang="fr-FR" sz="1600" baseline="-25000">
                  <a:solidFill>
                    <a:srgbClr val="FF0000"/>
                  </a:solidFill>
                  <a:latin typeface="Arial" panose="020B0604020202020204" pitchFamily="34" charset="0"/>
                </a:rPr>
                <a:t>M</a:t>
              </a:r>
              <a:endParaRPr lang="fr-FR" altLang="fr-FR" sz="1600">
                <a:latin typeface="Arial" panose="020B0604020202020204" pitchFamily="34" charset="0"/>
              </a:endParaRPr>
            </a:p>
          </p:txBody>
        </p:sp>
      </p:grpSp>
      <p:grpSp>
        <p:nvGrpSpPr>
          <p:cNvPr id="3" name="Group 27"/>
          <p:cNvGrpSpPr>
            <a:grpSpLocks/>
          </p:cNvGrpSpPr>
          <p:nvPr/>
        </p:nvGrpSpPr>
        <p:grpSpPr bwMode="auto">
          <a:xfrm>
            <a:off x="5429250" y="857250"/>
            <a:ext cx="3363913" cy="877888"/>
            <a:chOff x="3426" y="960"/>
            <a:chExt cx="2119" cy="553"/>
          </a:xfrm>
        </p:grpSpPr>
        <p:sp>
          <p:nvSpPr>
            <p:cNvPr id="106544" name="Line 28"/>
            <p:cNvSpPr>
              <a:spLocks noChangeShapeType="1"/>
            </p:cNvSpPr>
            <p:nvPr/>
          </p:nvSpPr>
          <p:spPr bwMode="auto">
            <a:xfrm flipV="1">
              <a:off x="3661" y="960"/>
              <a:ext cx="0" cy="3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45" name="Line 29"/>
            <p:cNvSpPr>
              <a:spLocks noChangeShapeType="1"/>
            </p:cNvSpPr>
            <p:nvPr/>
          </p:nvSpPr>
          <p:spPr bwMode="auto">
            <a:xfrm>
              <a:off x="3583" y="1274"/>
              <a:ext cx="196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46" name="Line 30"/>
            <p:cNvSpPr>
              <a:spLocks noChangeShapeType="1"/>
            </p:cNvSpPr>
            <p:nvPr/>
          </p:nvSpPr>
          <p:spPr bwMode="auto">
            <a:xfrm flipV="1">
              <a:off x="3648" y="1104"/>
              <a:ext cx="67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47" name="Line 31"/>
            <p:cNvSpPr>
              <a:spLocks noChangeShapeType="1"/>
            </p:cNvSpPr>
            <p:nvPr/>
          </p:nvSpPr>
          <p:spPr bwMode="auto">
            <a:xfrm>
              <a:off x="4320" y="1104"/>
              <a:ext cx="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48" name="Line 32"/>
            <p:cNvSpPr>
              <a:spLocks noChangeShapeType="1"/>
            </p:cNvSpPr>
            <p:nvPr/>
          </p:nvSpPr>
          <p:spPr bwMode="auto">
            <a:xfrm flipV="1">
              <a:off x="5040" y="1104"/>
              <a:ext cx="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49" name="Line 33"/>
            <p:cNvSpPr>
              <a:spLocks noChangeShapeType="1"/>
            </p:cNvSpPr>
            <p:nvPr/>
          </p:nvSpPr>
          <p:spPr bwMode="auto">
            <a:xfrm>
              <a:off x="5040" y="1104"/>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50" name="Text Box 34"/>
            <p:cNvSpPr txBox="1">
              <a:spLocks noChangeArrowheads="1"/>
            </p:cNvSpPr>
            <p:nvPr/>
          </p:nvSpPr>
          <p:spPr bwMode="auto">
            <a:xfrm>
              <a:off x="4848" y="1008"/>
              <a:ext cx="267"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T</a:t>
              </a:r>
            </a:p>
          </p:txBody>
        </p:sp>
        <p:sp>
          <p:nvSpPr>
            <p:cNvPr id="106551" name="Text Box 35"/>
            <p:cNvSpPr txBox="1">
              <a:spLocks noChangeArrowheads="1"/>
            </p:cNvSpPr>
            <p:nvPr/>
          </p:nvSpPr>
          <p:spPr bwMode="auto">
            <a:xfrm>
              <a:off x="4368" y="1008"/>
              <a:ext cx="31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t1</a:t>
              </a:r>
            </a:p>
          </p:txBody>
        </p:sp>
        <p:sp>
          <p:nvSpPr>
            <p:cNvPr id="106552" name="Text Box 36"/>
            <p:cNvSpPr txBox="1">
              <a:spLocks noChangeArrowheads="1"/>
            </p:cNvSpPr>
            <p:nvPr/>
          </p:nvSpPr>
          <p:spPr bwMode="auto">
            <a:xfrm>
              <a:off x="3426" y="1038"/>
              <a:ext cx="31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1</a:t>
              </a:r>
            </a:p>
            <a:p>
              <a:pPr eaLnBrk="1" hangingPunct="1">
                <a:spcBef>
                  <a:spcPct val="0"/>
                </a:spcBef>
                <a:buClrTx/>
                <a:buSzTx/>
                <a:buFontTx/>
                <a:buNone/>
              </a:pPr>
              <a:r>
                <a:rPr lang="fr-FR" altLang="fr-FR" sz="1400">
                  <a:latin typeface="Arial" panose="020B0604020202020204" pitchFamily="34" charset="0"/>
                </a:rPr>
                <a:t>0</a:t>
              </a:r>
            </a:p>
          </p:txBody>
        </p:sp>
        <p:sp>
          <p:nvSpPr>
            <p:cNvPr id="106553" name="Text Box 37"/>
            <p:cNvSpPr txBox="1">
              <a:spLocks noChangeArrowheads="1"/>
            </p:cNvSpPr>
            <p:nvPr/>
          </p:nvSpPr>
          <p:spPr bwMode="auto">
            <a:xfrm>
              <a:off x="3792" y="1278"/>
              <a:ext cx="172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Signal de commande</a:t>
              </a:r>
            </a:p>
          </p:txBody>
        </p:sp>
      </p:grpSp>
      <p:grpSp>
        <p:nvGrpSpPr>
          <p:cNvPr id="4" name="Group 38"/>
          <p:cNvGrpSpPr>
            <a:grpSpLocks/>
          </p:cNvGrpSpPr>
          <p:nvPr/>
        </p:nvGrpSpPr>
        <p:grpSpPr bwMode="auto">
          <a:xfrm>
            <a:off x="5403850" y="2071688"/>
            <a:ext cx="3740150" cy="1017587"/>
            <a:chOff x="3404" y="1536"/>
            <a:chExt cx="2356" cy="641"/>
          </a:xfrm>
        </p:grpSpPr>
        <p:sp>
          <p:nvSpPr>
            <p:cNvPr id="106534" name="Line 39"/>
            <p:cNvSpPr>
              <a:spLocks noChangeShapeType="1"/>
            </p:cNvSpPr>
            <p:nvPr/>
          </p:nvSpPr>
          <p:spPr bwMode="auto">
            <a:xfrm flipV="1">
              <a:off x="3640" y="1536"/>
              <a:ext cx="0" cy="3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35" name="Line 40"/>
            <p:cNvSpPr>
              <a:spLocks noChangeShapeType="1"/>
            </p:cNvSpPr>
            <p:nvPr/>
          </p:nvSpPr>
          <p:spPr bwMode="auto">
            <a:xfrm>
              <a:off x="3553" y="1855"/>
              <a:ext cx="196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36" name="Line 41"/>
            <p:cNvSpPr>
              <a:spLocks noChangeShapeType="1"/>
            </p:cNvSpPr>
            <p:nvPr/>
          </p:nvSpPr>
          <p:spPr bwMode="auto">
            <a:xfrm flipV="1">
              <a:off x="3648" y="1680"/>
              <a:ext cx="67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37" name="Line 42"/>
            <p:cNvSpPr>
              <a:spLocks noChangeShapeType="1"/>
            </p:cNvSpPr>
            <p:nvPr/>
          </p:nvSpPr>
          <p:spPr bwMode="auto">
            <a:xfrm>
              <a:off x="4320" y="1680"/>
              <a:ext cx="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38" name="Line 43"/>
            <p:cNvSpPr>
              <a:spLocks noChangeShapeType="1"/>
            </p:cNvSpPr>
            <p:nvPr/>
          </p:nvSpPr>
          <p:spPr bwMode="auto">
            <a:xfrm flipV="1">
              <a:off x="5053" y="1693"/>
              <a:ext cx="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39" name="Line 44"/>
            <p:cNvSpPr>
              <a:spLocks noChangeShapeType="1"/>
            </p:cNvSpPr>
            <p:nvPr/>
          </p:nvSpPr>
          <p:spPr bwMode="auto">
            <a:xfrm flipV="1">
              <a:off x="5040" y="1680"/>
              <a:ext cx="33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40" name="Text Box 45"/>
            <p:cNvSpPr txBox="1">
              <a:spLocks noChangeArrowheads="1"/>
            </p:cNvSpPr>
            <p:nvPr/>
          </p:nvSpPr>
          <p:spPr bwMode="auto">
            <a:xfrm>
              <a:off x="4848" y="1584"/>
              <a:ext cx="192"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T</a:t>
              </a:r>
            </a:p>
          </p:txBody>
        </p:sp>
        <p:sp>
          <p:nvSpPr>
            <p:cNvPr id="106541" name="Text Box 46"/>
            <p:cNvSpPr txBox="1">
              <a:spLocks noChangeArrowheads="1"/>
            </p:cNvSpPr>
            <p:nvPr/>
          </p:nvSpPr>
          <p:spPr bwMode="auto">
            <a:xfrm>
              <a:off x="4368" y="1584"/>
              <a:ext cx="31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t1</a:t>
              </a:r>
            </a:p>
          </p:txBody>
        </p:sp>
        <p:sp>
          <p:nvSpPr>
            <p:cNvPr id="106542" name="Text Box 47"/>
            <p:cNvSpPr txBox="1">
              <a:spLocks noChangeArrowheads="1"/>
            </p:cNvSpPr>
            <p:nvPr/>
          </p:nvSpPr>
          <p:spPr bwMode="auto">
            <a:xfrm>
              <a:off x="3404" y="1614"/>
              <a:ext cx="31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solidFill>
                    <a:srgbClr val="0066FF"/>
                  </a:solidFill>
                  <a:latin typeface="Arial" panose="020B0604020202020204" pitchFamily="34" charset="0"/>
                </a:rPr>
                <a:t>1</a:t>
              </a:r>
            </a:p>
            <a:p>
              <a:pPr eaLnBrk="1" hangingPunct="1">
                <a:spcBef>
                  <a:spcPct val="0"/>
                </a:spcBef>
                <a:buClrTx/>
                <a:buSzTx/>
                <a:buFontTx/>
                <a:buNone/>
              </a:pPr>
              <a:r>
                <a:rPr lang="fr-FR" altLang="fr-FR" sz="1400">
                  <a:solidFill>
                    <a:srgbClr val="0066FF"/>
                  </a:solidFill>
                  <a:latin typeface="Arial" panose="020B0604020202020204" pitchFamily="34" charset="0"/>
                </a:rPr>
                <a:t>0</a:t>
              </a:r>
            </a:p>
          </p:txBody>
        </p:sp>
        <p:sp>
          <p:nvSpPr>
            <p:cNvPr id="106543" name="Text Box 48"/>
            <p:cNvSpPr txBox="1">
              <a:spLocks noChangeArrowheads="1"/>
            </p:cNvSpPr>
            <p:nvPr/>
          </p:nvSpPr>
          <p:spPr bwMode="auto">
            <a:xfrm>
              <a:off x="3840" y="1941"/>
              <a:ext cx="1920"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solidFill>
                    <a:srgbClr val="0066FF"/>
                  </a:solidFill>
                  <a:latin typeface="Arial" panose="020B0604020202020204" pitchFamily="34" charset="0"/>
                </a:rPr>
                <a:t>Etat logique du hacheur</a:t>
              </a:r>
            </a:p>
          </p:txBody>
        </p:sp>
      </p:grpSp>
      <p:sp>
        <p:nvSpPr>
          <p:cNvPr id="75825" name="Line 49"/>
          <p:cNvSpPr>
            <a:spLocks noChangeShapeType="1"/>
          </p:cNvSpPr>
          <p:nvPr/>
        </p:nvSpPr>
        <p:spPr bwMode="auto">
          <a:xfrm>
            <a:off x="8001000" y="1447800"/>
            <a:ext cx="19050" cy="3736975"/>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fr-FR"/>
          </a:p>
        </p:txBody>
      </p:sp>
      <p:sp>
        <p:nvSpPr>
          <p:cNvPr id="75826" name="Line 50"/>
          <p:cNvSpPr>
            <a:spLocks noChangeShapeType="1"/>
          </p:cNvSpPr>
          <p:nvPr/>
        </p:nvSpPr>
        <p:spPr bwMode="auto">
          <a:xfrm>
            <a:off x="6858000" y="1600200"/>
            <a:ext cx="39688" cy="346075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fr-FR"/>
          </a:p>
        </p:txBody>
      </p:sp>
      <p:grpSp>
        <p:nvGrpSpPr>
          <p:cNvPr id="5" name="Group 51"/>
          <p:cNvGrpSpPr>
            <a:grpSpLocks/>
          </p:cNvGrpSpPr>
          <p:nvPr/>
        </p:nvGrpSpPr>
        <p:grpSpPr bwMode="auto">
          <a:xfrm>
            <a:off x="5319713" y="3282950"/>
            <a:ext cx="3435350" cy="1054100"/>
            <a:chOff x="3351" y="2068"/>
            <a:chExt cx="2164" cy="664"/>
          </a:xfrm>
        </p:grpSpPr>
        <p:sp>
          <p:nvSpPr>
            <p:cNvPr id="106523" name="Line 52"/>
            <p:cNvSpPr>
              <a:spLocks noChangeShapeType="1"/>
            </p:cNvSpPr>
            <p:nvPr/>
          </p:nvSpPr>
          <p:spPr bwMode="auto">
            <a:xfrm flipV="1">
              <a:off x="3631" y="2230"/>
              <a:ext cx="0" cy="3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24" name="Line 53"/>
            <p:cNvSpPr>
              <a:spLocks noChangeShapeType="1"/>
            </p:cNvSpPr>
            <p:nvPr/>
          </p:nvSpPr>
          <p:spPr bwMode="auto">
            <a:xfrm>
              <a:off x="3552" y="2544"/>
              <a:ext cx="196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25" name="Line 54"/>
            <p:cNvSpPr>
              <a:spLocks noChangeShapeType="1"/>
            </p:cNvSpPr>
            <p:nvPr/>
          </p:nvSpPr>
          <p:spPr bwMode="auto">
            <a:xfrm>
              <a:off x="3631" y="2387"/>
              <a:ext cx="706"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26" name="Line 55"/>
            <p:cNvSpPr>
              <a:spLocks noChangeShapeType="1"/>
            </p:cNvSpPr>
            <p:nvPr/>
          </p:nvSpPr>
          <p:spPr bwMode="auto">
            <a:xfrm>
              <a:off x="4337" y="2387"/>
              <a:ext cx="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27" name="Line 56"/>
            <p:cNvSpPr>
              <a:spLocks noChangeShapeType="1"/>
            </p:cNvSpPr>
            <p:nvPr/>
          </p:nvSpPr>
          <p:spPr bwMode="auto">
            <a:xfrm flipV="1">
              <a:off x="5044" y="2387"/>
              <a:ext cx="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28" name="Line 57"/>
            <p:cNvSpPr>
              <a:spLocks noChangeShapeType="1"/>
            </p:cNvSpPr>
            <p:nvPr/>
          </p:nvSpPr>
          <p:spPr bwMode="auto">
            <a:xfrm>
              <a:off x="5044" y="2387"/>
              <a:ext cx="3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29" name="Text Box 58"/>
            <p:cNvSpPr txBox="1">
              <a:spLocks noChangeArrowheads="1"/>
            </p:cNvSpPr>
            <p:nvPr/>
          </p:nvSpPr>
          <p:spPr bwMode="auto">
            <a:xfrm>
              <a:off x="4887" y="2308"/>
              <a:ext cx="240"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T</a:t>
              </a:r>
            </a:p>
          </p:txBody>
        </p:sp>
        <p:sp>
          <p:nvSpPr>
            <p:cNvPr id="106530" name="Text Box 59"/>
            <p:cNvSpPr txBox="1">
              <a:spLocks noChangeArrowheads="1"/>
            </p:cNvSpPr>
            <p:nvPr/>
          </p:nvSpPr>
          <p:spPr bwMode="auto">
            <a:xfrm>
              <a:off x="4337" y="2308"/>
              <a:ext cx="314"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t1</a:t>
              </a:r>
            </a:p>
          </p:txBody>
        </p:sp>
        <p:sp>
          <p:nvSpPr>
            <p:cNvPr id="106531" name="Text Box 60"/>
            <p:cNvSpPr txBox="1">
              <a:spLocks noChangeArrowheads="1"/>
            </p:cNvSpPr>
            <p:nvPr/>
          </p:nvSpPr>
          <p:spPr bwMode="auto">
            <a:xfrm>
              <a:off x="3395" y="2308"/>
              <a:ext cx="314"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E</a:t>
              </a:r>
            </a:p>
          </p:txBody>
        </p:sp>
        <p:sp>
          <p:nvSpPr>
            <p:cNvPr id="106532" name="Text Box 61"/>
            <p:cNvSpPr txBox="1">
              <a:spLocks noChangeArrowheads="1"/>
            </p:cNvSpPr>
            <p:nvPr/>
          </p:nvSpPr>
          <p:spPr bwMode="auto">
            <a:xfrm>
              <a:off x="3351" y="2068"/>
              <a:ext cx="392"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solidFill>
                    <a:srgbClr val="00CC00"/>
                  </a:solidFill>
                  <a:latin typeface="Arial" panose="020B0604020202020204" pitchFamily="34" charset="0"/>
                </a:rPr>
                <a:t>U</a:t>
              </a:r>
              <a:r>
                <a:rPr lang="fr-FR" altLang="fr-FR" sz="1400" baseline="-25000">
                  <a:solidFill>
                    <a:srgbClr val="00CC00"/>
                  </a:solidFill>
                  <a:latin typeface="Arial" panose="020B0604020202020204" pitchFamily="34" charset="0"/>
                </a:rPr>
                <a:t>M</a:t>
              </a:r>
              <a:endParaRPr lang="fr-FR" altLang="fr-FR" sz="1400">
                <a:solidFill>
                  <a:srgbClr val="00CC00"/>
                </a:solidFill>
                <a:latin typeface="Arial" panose="020B0604020202020204" pitchFamily="34" charset="0"/>
              </a:endParaRPr>
            </a:p>
          </p:txBody>
        </p:sp>
        <p:sp>
          <p:nvSpPr>
            <p:cNvPr id="106533" name="Text Box 62"/>
            <p:cNvSpPr txBox="1">
              <a:spLocks noChangeArrowheads="1"/>
            </p:cNvSpPr>
            <p:nvPr/>
          </p:nvSpPr>
          <p:spPr bwMode="auto">
            <a:xfrm>
              <a:off x="4080" y="2496"/>
              <a:ext cx="129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solidFill>
                    <a:srgbClr val="00CC00"/>
                  </a:solidFill>
                  <a:latin typeface="Arial" panose="020B0604020202020204" pitchFamily="34" charset="0"/>
                </a:rPr>
                <a:t>Tension moteur</a:t>
              </a:r>
            </a:p>
          </p:txBody>
        </p:sp>
      </p:grpSp>
      <p:grpSp>
        <p:nvGrpSpPr>
          <p:cNvPr id="6" name="Group 63"/>
          <p:cNvGrpSpPr>
            <a:grpSpLocks/>
          </p:cNvGrpSpPr>
          <p:nvPr/>
        </p:nvGrpSpPr>
        <p:grpSpPr bwMode="auto">
          <a:xfrm>
            <a:off x="5357813" y="4572000"/>
            <a:ext cx="3495675" cy="1081088"/>
            <a:chOff x="3391" y="2819"/>
            <a:chExt cx="2202" cy="681"/>
          </a:xfrm>
        </p:grpSpPr>
        <p:sp>
          <p:nvSpPr>
            <p:cNvPr id="106513" name="Line 64"/>
            <p:cNvSpPr>
              <a:spLocks noChangeShapeType="1"/>
            </p:cNvSpPr>
            <p:nvPr/>
          </p:nvSpPr>
          <p:spPr bwMode="auto">
            <a:xfrm flipV="1">
              <a:off x="3631" y="2950"/>
              <a:ext cx="0" cy="39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14" name="Line 65"/>
            <p:cNvSpPr>
              <a:spLocks noChangeShapeType="1"/>
            </p:cNvSpPr>
            <p:nvPr/>
          </p:nvSpPr>
          <p:spPr bwMode="auto">
            <a:xfrm>
              <a:off x="3552" y="3264"/>
              <a:ext cx="1963"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6515" name="Line 66"/>
            <p:cNvSpPr>
              <a:spLocks noChangeShapeType="1"/>
            </p:cNvSpPr>
            <p:nvPr/>
          </p:nvSpPr>
          <p:spPr bwMode="auto">
            <a:xfrm flipV="1">
              <a:off x="3631" y="2950"/>
              <a:ext cx="706"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16" name="Line 67"/>
            <p:cNvSpPr>
              <a:spLocks noChangeShapeType="1"/>
            </p:cNvSpPr>
            <p:nvPr/>
          </p:nvSpPr>
          <p:spPr bwMode="auto">
            <a:xfrm>
              <a:off x="4337" y="2950"/>
              <a:ext cx="707"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17" name="Text Box 68"/>
            <p:cNvSpPr txBox="1">
              <a:spLocks noChangeArrowheads="1"/>
            </p:cNvSpPr>
            <p:nvPr/>
          </p:nvSpPr>
          <p:spPr bwMode="auto">
            <a:xfrm>
              <a:off x="4354" y="2948"/>
              <a:ext cx="31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solidFill>
                    <a:srgbClr val="FF0000"/>
                  </a:solidFill>
                  <a:latin typeface="Symbol" panose="05050102010706020507" pitchFamily="18" charset="2"/>
                </a:rPr>
                <a:t>D</a:t>
              </a:r>
              <a:r>
                <a:rPr lang="fr-FR" altLang="fr-FR" sz="1400">
                  <a:solidFill>
                    <a:srgbClr val="FF0000"/>
                  </a:solidFill>
                  <a:latin typeface="Arial" panose="020B0604020202020204" pitchFamily="34" charset="0"/>
                </a:rPr>
                <a:t>I</a:t>
              </a:r>
            </a:p>
          </p:txBody>
        </p:sp>
        <p:sp>
          <p:nvSpPr>
            <p:cNvPr id="106518" name="Text Box 69"/>
            <p:cNvSpPr txBox="1">
              <a:spLocks noChangeArrowheads="1"/>
            </p:cNvSpPr>
            <p:nvPr/>
          </p:nvSpPr>
          <p:spPr bwMode="auto">
            <a:xfrm>
              <a:off x="3391" y="2819"/>
              <a:ext cx="314"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solidFill>
                    <a:srgbClr val="FF0000"/>
                  </a:solidFill>
                  <a:latin typeface="Arial" panose="020B0604020202020204" pitchFamily="34" charset="0"/>
                </a:rPr>
                <a:t>I</a:t>
              </a:r>
              <a:r>
                <a:rPr lang="fr-FR" altLang="fr-FR" sz="1400" baseline="-25000">
                  <a:solidFill>
                    <a:srgbClr val="FF0000"/>
                  </a:solidFill>
                  <a:latin typeface="Arial" panose="020B0604020202020204" pitchFamily="34" charset="0"/>
                </a:rPr>
                <a:t>M</a:t>
              </a:r>
              <a:endParaRPr lang="fr-FR" altLang="fr-FR" sz="1400">
                <a:solidFill>
                  <a:srgbClr val="FF0000"/>
                </a:solidFill>
                <a:latin typeface="Arial" panose="020B0604020202020204" pitchFamily="34" charset="0"/>
              </a:endParaRPr>
            </a:p>
          </p:txBody>
        </p:sp>
        <p:sp>
          <p:nvSpPr>
            <p:cNvPr id="106519" name="Line 70"/>
            <p:cNvSpPr>
              <a:spLocks noChangeShapeType="1"/>
            </p:cNvSpPr>
            <p:nvPr/>
          </p:nvSpPr>
          <p:spPr bwMode="auto">
            <a:xfrm flipV="1">
              <a:off x="5044" y="3028"/>
              <a:ext cx="314" cy="7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06520" name="Line 71"/>
            <p:cNvSpPr>
              <a:spLocks noChangeShapeType="1"/>
            </p:cNvSpPr>
            <p:nvPr/>
          </p:nvSpPr>
          <p:spPr bwMode="auto">
            <a:xfrm>
              <a:off x="3631" y="3107"/>
              <a:ext cx="1962" cy="0"/>
            </a:xfrm>
            <a:prstGeom prst="line">
              <a:avLst/>
            </a:prstGeom>
            <a:noFill/>
            <a:ln w="9525">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fr-FR"/>
            </a:p>
          </p:txBody>
        </p:sp>
        <p:sp>
          <p:nvSpPr>
            <p:cNvPr id="106521" name="Line 72"/>
            <p:cNvSpPr>
              <a:spLocks noChangeShapeType="1"/>
            </p:cNvSpPr>
            <p:nvPr/>
          </p:nvSpPr>
          <p:spPr bwMode="auto">
            <a:xfrm flipV="1">
              <a:off x="4337" y="2950"/>
              <a:ext cx="0" cy="157"/>
            </a:xfrm>
            <a:prstGeom prst="line">
              <a:avLst/>
            </a:prstGeom>
            <a:noFill/>
            <a:ln w="9525">
              <a:solidFill>
                <a:srgbClr val="000000"/>
              </a:solidFill>
              <a:round/>
              <a:headEnd type="stealth" w="sm" len="sm"/>
              <a:tailEnd type="stealth" w="sm" len="sm"/>
            </a:ln>
            <a:extLst>
              <a:ext uri="{909E8E84-426E-40DD-AFC4-6F175D3DCCD1}">
                <a14:hiddenFill xmlns:a14="http://schemas.microsoft.com/office/drawing/2010/main">
                  <a:noFill/>
                </a14:hiddenFill>
              </a:ext>
            </a:extLst>
          </p:spPr>
          <p:txBody>
            <a:bodyPr/>
            <a:lstStyle/>
            <a:p>
              <a:endParaRPr lang="fr-FR"/>
            </a:p>
          </p:txBody>
        </p:sp>
        <p:sp>
          <p:nvSpPr>
            <p:cNvPr id="106522" name="Text Box 73"/>
            <p:cNvSpPr txBox="1">
              <a:spLocks noChangeArrowheads="1"/>
            </p:cNvSpPr>
            <p:nvPr/>
          </p:nvSpPr>
          <p:spPr bwMode="auto">
            <a:xfrm>
              <a:off x="4176" y="3264"/>
              <a:ext cx="1296" cy="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solidFill>
                    <a:srgbClr val="FF0000"/>
                  </a:solidFill>
                  <a:latin typeface="Arial" panose="020B0604020202020204" pitchFamily="34" charset="0"/>
                </a:rPr>
                <a:t>Courant moteur</a:t>
              </a:r>
            </a:p>
          </p:txBody>
        </p:sp>
      </p:grpSp>
      <p:sp>
        <p:nvSpPr>
          <p:cNvPr id="106507" name="Text Box 74"/>
          <p:cNvSpPr txBox="1">
            <a:spLocks noChangeArrowheads="1"/>
          </p:cNvSpPr>
          <p:nvPr/>
        </p:nvSpPr>
        <p:spPr bwMode="auto">
          <a:xfrm>
            <a:off x="500063" y="428625"/>
            <a:ext cx="26495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C00000"/>
                </a:solidFill>
                <a:latin typeface="Arial" panose="020B0604020202020204" pitchFamily="34" charset="0"/>
              </a:rPr>
              <a:t>Principe du hacheur</a:t>
            </a:r>
          </a:p>
        </p:txBody>
      </p:sp>
      <p:sp>
        <p:nvSpPr>
          <p:cNvPr id="75851" name="Text Box 75"/>
          <p:cNvSpPr txBox="1">
            <a:spLocks noChangeArrowheads="1"/>
          </p:cNvSpPr>
          <p:nvPr/>
        </p:nvSpPr>
        <p:spPr bwMode="auto">
          <a:xfrm>
            <a:off x="857250" y="3857625"/>
            <a:ext cx="4038600" cy="1477963"/>
          </a:xfrm>
          <a:prstGeom prst="rect">
            <a:avLst/>
          </a:prstGeom>
          <a:noFill/>
          <a:ln w="9525">
            <a:noFill/>
            <a:miter lim="800000"/>
            <a:headEnd/>
            <a:tailEnd/>
          </a:ln>
          <a:effectLst/>
        </p:spPr>
        <p:txBody>
          <a:bodyPr lIns="0" rIns="0">
            <a:spAutoFit/>
          </a:bodyPr>
          <a:lstStyle/>
          <a:p>
            <a:pPr eaLnBrk="1" hangingPunct="1">
              <a:defRPr/>
            </a:pPr>
            <a:r>
              <a:rPr lang="fr-FR" dirty="0"/>
              <a:t>Composant de base du hacheur :</a:t>
            </a:r>
          </a:p>
          <a:p>
            <a:pPr marL="365125" indent="533400" eaLnBrk="1" hangingPunct="1">
              <a:buFont typeface="Courier New" pitchFamily="49" charset="0"/>
              <a:buChar char="o"/>
              <a:defRPr/>
            </a:pPr>
            <a:r>
              <a:rPr lang="fr-FR" dirty="0"/>
              <a:t>transistor bipolaire,</a:t>
            </a:r>
          </a:p>
          <a:p>
            <a:pPr marL="365125" indent="533400" eaLnBrk="1" hangingPunct="1">
              <a:buFont typeface="Courier New" pitchFamily="49" charset="0"/>
              <a:buChar char="o"/>
              <a:defRPr/>
            </a:pPr>
            <a:r>
              <a:rPr lang="fr-FR" dirty="0"/>
              <a:t>transistor MOS,</a:t>
            </a:r>
          </a:p>
          <a:p>
            <a:pPr marL="365125" indent="533400" eaLnBrk="1" hangingPunct="1">
              <a:buFont typeface="Courier New" pitchFamily="49" charset="0"/>
              <a:buChar char="o"/>
              <a:defRPr/>
            </a:pPr>
            <a:r>
              <a:rPr lang="fr-FR" dirty="0"/>
              <a:t>transistor IGBT,</a:t>
            </a:r>
          </a:p>
          <a:p>
            <a:pPr marL="365125" indent="533400" eaLnBrk="1" hangingPunct="1">
              <a:buFont typeface="Courier New" pitchFamily="49" charset="0"/>
              <a:buChar char="o"/>
              <a:defRPr/>
            </a:pPr>
            <a:r>
              <a:rPr lang="fr-FR" dirty="0"/>
              <a:t>thyristor.</a:t>
            </a:r>
          </a:p>
        </p:txBody>
      </p:sp>
      <p:sp>
        <p:nvSpPr>
          <p:cNvPr id="75852" name="Text Box 76"/>
          <p:cNvSpPr txBox="1">
            <a:spLocks noChangeArrowheads="1"/>
          </p:cNvSpPr>
          <p:nvPr/>
        </p:nvSpPr>
        <p:spPr bwMode="auto">
          <a:xfrm>
            <a:off x="708025" y="5786438"/>
            <a:ext cx="80248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Le choix dépend essentiellement de la puissance, de la date de création.</a:t>
            </a:r>
          </a:p>
        </p:txBody>
      </p:sp>
      <p:sp>
        <p:nvSpPr>
          <p:cNvPr id="106510" name="Line 77"/>
          <p:cNvSpPr>
            <a:spLocks noChangeShapeType="1"/>
          </p:cNvSpPr>
          <p:nvPr/>
        </p:nvSpPr>
        <p:spPr bwMode="auto">
          <a:xfrm>
            <a:off x="5181600" y="1447800"/>
            <a:ext cx="0" cy="426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06511"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1"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2"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1+#ppt_w/2"/>
                                          </p:val>
                                        </p:tav>
                                        <p:tav tm="100000">
                                          <p:val>
                                            <p:strVal val="#ppt_x"/>
                                          </p:val>
                                        </p:tav>
                                      </p:tavLst>
                                    </p:anim>
                                    <p:anim calcmode="lin" valueType="num">
                                      <p:cBhvr additive="base">
                                        <p:cTn id="12" dur="500" fill="hold"/>
                                        <p:tgtEl>
                                          <p:spTgt spid="3"/>
                                        </p:tgtEl>
                                        <p:attrNameLst>
                                          <p:attrName>ppt_y</p:attrName>
                                        </p:attrNameLst>
                                      </p:cBhvr>
                                      <p:tavLst>
                                        <p:tav tm="0">
                                          <p:val>
                                            <p:strVal val="#ppt_y"/>
                                          </p:val>
                                        </p:tav>
                                        <p:tav tm="100000">
                                          <p:val>
                                            <p:strVal val="#ppt_y"/>
                                          </p:val>
                                        </p:tav>
                                      </p:tavLst>
                                    </p:anim>
                                  </p:childTnLst>
                                </p:cTn>
                              </p:par>
                            </p:childTnLst>
                          </p:cTn>
                        </p:par>
                        <p:par>
                          <p:cTn id="13" fill="hold" nodeType="afterGroup">
                            <p:stCondLst>
                              <p:cond delay="500"/>
                            </p:stCondLst>
                            <p:childTnLst>
                              <p:par>
                                <p:cTn id="14" presetID="1" presetClass="entr" presetSubtype="0" fill="hold" grpId="0" nodeType="afterEffect">
                                  <p:stCondLst>
                                    <p:cond delay="0"/>
                                  </p:stCondLst>
                                  <p:childTnLst>
                                    <p:set>
                                      <p:cBhvr>
                                        <p:cTn id="15" dur="1" fill="hold">
                                          <p:stCondLst>
                                            <p:cond delay="499"/>
                                          </p:stCondLst>
                                        </p:cTn>
                                        <p:tgtEl>
                                          <p:spTgt spid="75825"/>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7582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2"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 calcmode="lin" valueType="num">
                                      <p:cBhvr additive="base">
                                        <p:cTn id="23" dur="500" fill="hold"/>
                                        <p:tgtEl>
                                          <p:spTgt spid="4"/>
                                        </p:tgtEl>
                                        <p:attrNameLst>
                                          <p:attrName>ppt_x</p:attrName>
                                        </p:attrNameLst>
                                      </p:cBhvr>
                                      <p:tavLst>
                                        <p:tav tm="0">
                                          <p:val>
                                            <p:strVal val="1+#ppt_w/2"/>
                                          </p:val>
                                        </p:tav>
                                        <p:tav tm="100000">
                                          <p:val>
                                            <p:strVal val="#ppt_x"/>
                                          </p:val>
                                        </p:tav>
                                      </p:tavLst>
                                    </p:anim>
                                    <p:anim calcmode="lin" valueType="num">
                                      <p:cBhvr additive="base">
                                        <p:cTn id="2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2"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1+#ppt_w/2"/>
                                          </p:val>
                                        </p:tav>
                                        <p:tav tm="100000">
                                          <p:val>
                                            <p:strVal val="#ppt_x"/>
                                          </p:val>
                                        </p:tav>
                                      </p:tavLst>
                                    </p:anim>
                                    <p:anim calcmode="lin" valueType="num">
                                      <p:cBhvr additive="base">
                                        <p:cTn id="3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2"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additive="base">
                                        <p:cTn id="35" dur="500" fill="hold"/>
                                        <p:tgtEl>
                                          <p:spTgt spid="6"/>
                                        </p:tgtEl>
                                        <p:attrNameLst>
                                          <p:attrName>ppt_x</p:attrName>
                                        </p:attrNameLst>
                                      </p:cBhvr>
                                      <p:tavLst>
                                        <p:tav tm="0">
                                          <p:val>
                                            <p:strVal val="1+#ppt_w/2"/>
                                          </p:val>
                                        </p:tav>
                                        <p:tav tm="100000">
                                          <p:val>
                                            <p:strVal val="#ppt_x"/>
                                          </p:val>
                                        </p:tav>
                                      </p:tavLst>
                                    </p:anim>
                                    <p:anim calcmode="lin" valueType="num">
                                      <p:cBhvr additive="base">
                                        <p:cTn id="36"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499"/>
                                          </p:stCondLst>
                                        </p:cTn>
                                        <p:tgtEl>
                                          <p:spTgt spid="7585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75852"/>
                                        </p:tgtEl>
                                        <p:attrNameLst>
                                          <p:attrName>style.visibility</p:attrName>
                                        </p:attrNameLst>
                                      </p:cBhvr>
                                      <p:to>
                                        <p:strVal val="visible"/>
                                      </p:to>
                                    </p:set>
                                    <p:anim calcmode="lin" valueType="num">
                                      <p:cBhvr additive="base">
                                        <p:cTn id="45" dur="500" fill="hold"/>
                                        <p:tgtEl>
                                          <p:spTgt spid="75852"/>
                                        </p:tgtEl>
                                        <p:attrNameLst>
                                          <p:attrName>ppt_x</p:attrName>
                                        </p:attrNameLst>
                                      </p:cBhvr>
                                      <p:tavLst>
                                        <p:tav tm="0">
                                          <p:val>
                                            <p:strVal val="#ppt_x"/>
                                          </p:val>
                                        </p:tav>
                                        <p:tav tm="100000">
                                          <p:val>
                                            <p:strVal val="#ppt_x"/>
                                          </p:val>
                                        </p:tav>
                                      </p:tavLst>
                                    </p:anim>
                                    <p:anim calcmode="lin" valueType="num">
                                      <p:cBhvr additive="base">
                                        <p:cTn id="46" dur="500" fill="hold"/>
                                        <p:tgtEl>
                                          <p:spTgt spid="758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25" grpId="0" animBg="1"/>
      <p:bldP spid="75826" grpId="0" animBg="1"/>
      <p:bldP spid="75851" grpId="0"/>
      <p:bldP spid="75852"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17" name="Espace réservé du pied de page 16"/>
          <p:cNvSpPr>
            <a:spLocks noGrp="1"/>
          </p:cNvSpPr>
          <p:nvPr>
            <p:ph type="ftr" sz="quarter" idx="11"/>
          </p:nvPr>
        </p:nvSpPr>
        <p:spPr/>
        <p:txBody>
          <a:bodyPr/>
          <a:lstStyle/>
          <a:p>
            <a:pPr>
              <a:defRPr/>
            </a:pPr>
            <a:r>
              <a:rPr lang="fr-FR"/>
              <a:t>Commande des machines   3.MCC     Ali NEJMI</a:t>
            </a:r>
          </a:p>
        </p:txBody>
      </p:sp>
      <p:sp>
        <p:nvSpPr>
          <p:cNvPr id="108547"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C3F9277B-2F6C-4496-AC60-5A3215CDB2C6}" type="slidenum">
              <a:rPr lang="fr-FR" altLang="fr-FR" sz="1000" smtClean="0">
                <a:solidFill>
                  <a:srgbClr val="292929"/>
                </a:solidFill>
                <a:latin typeface="Arial" panose="020B0604020202020204" pitchFamily="34" charset="0"/>
              </a:rPr>
              <a:pPr>
                <a:spcBef>
                  <a:spcPct val="0"/>
                </a:spcBef>
                <a:buClrTx/>
                <a:buSzTx/>
                <a:buFontTx/>
                <a:buNone/>
              </a:pPr>
              <a:t>58</a:t>
            </a:fld>
            <a:endParaRPr lang="fr-FR" altLang="fr-FR" sz="1000" smtClean="0">
              <a:solidFill>
                <a:srgbClr val="292929"/>
              </a:solidFill>
              <a:latin typeface="Arial" panose="020B0604020202020204" pitchFamily="34" charset="0"/>
            </a:endParaRPr>
          </a:p>
        </p:txBody>
      </p:sp>
      <p:sp>
        <p:nvSpPr>
          <p:cNvPr id="76802" name="Text Box 2"/>
          <p:cNvSpPr txBox="1">
            <a:spLocks noChangeArrowheads="1"/>
          </p:cNvSpPr>
          <p:nvPr/>
        </p:nvSpPr>
        <p:spPr bwMode="auto">
          <a:xfrm>
            <a:off x="765175" y="4572000"/>
            <a:ext cx="74072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Avec ce type de hacheur on peut travailler dans un quadrant (1) ou 2 quadrants (1 et 2) suivant la réversibilité en courant de l’interrupteur statique et de la source. </a:t>
            </a:r>
          </a:p>
        </p:txBody>
      </p:sp>
      <p:grpSp>
        <p:nvGrpSpPr>
          <p:cNvPr id="108549" name="Group 3"/>
          <p:cNvGrpSpPr>
            <a:grpSpLocks/>
          </p:cNvGrpSpPr>
          <p:nvPr/>
        </p:nvGrpSpPr>
        <p:grpSpPr bwMode="auto">
          <a:xfrm>
            <a:off x="2857500" y="1500188"/>
            <a:ext cx="4132263" cy="2814637"/>
            <a:chOff x="1632" y="1635"/>
            <a:chExt cx="2603" cy="1773"/>
          </a:xfrm>
        </p:grpSpPr>
        <p:sp>
          <p:nvSpPr>
            <p:cNvPr id="108559" name="Line 4"/>
            <p:cNvSpPr>
              <a:spLocks noChangeShapeType="1"/>
            </p:cNvSpPr>
            <p:nvPr/>
          </p:nvSpPr>
          <p:spPr bwMode="auto">
            <a:xfrm flipV="1">
              <a:off x="2734" y="1740"/>
              <a:ext cx="0" cy="166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8560" name="Line 5"/>
            <p:cNvSpPr>
              <a:spLocks noChangeShapeType="1"/>
            </p:cNvSpPr>
            <p:nvPr/>
          </p:nvSpPr>
          <p:spPr bwMode="auto">
            <a:xfrm>
              <a:off x="1632" y="2574"/>
              <a:ext cx="240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08561" name="Text Box 6"/>
            <p:cNvSpPr txBox="1">
              <a:spLocks noChangeArrowheads="1"/>
            </p:cNvSpPr>
            <p:nvPr/>
          </p:nvSpPr>
          <p:spPr bwMode="auto">
            <a:xfrm>
              <a:off x="2332" y="1635"/>
              <a:ext cx="602"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Symbol" panose="05050102010706020507" pitchFamily="18" charset="2"/>
                </a:rPr>
                <a:t>W</a:t>
              </a:r>
              <a:endParaRPr lang="fr-FR" altLang="fr-FR" sz="2000" b="1">
                <a:latin typeface="Arial" panose="020B0604020202020204" pitchFamily="34" charset="0"/>
              </a:endParaRPr>
            </a:p>
          </p:txBody>
        </p:sp>
        <p:sp>
          <p:nvSpPr>
            <p:cNvPr id="108562" name="Text Box 7"/>
            <p:cNvSpPr txBox="1">
              <a:spLocks noChangeArrowheads="1"/>
            </p:cNvSpPr>
            <p:nvPr/>
          </p:nvSpPr>
          <p:spPr bwMode="auto">
            <a:xfrm>
              <a:off x="3735" y="2261"/>
              <a:ext cx="50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latin typeface="Arial" panose="020B0604020202020204" pitchFamily="34" charset="0"/>
                </a:rPr>
                <a:t>C</a:t>
              </a:r>
              <a:endParaRPr lang="fr-FR" altLang="fr-FR" sz="2000" b="1">
                <a:latin typeface="Symbol" panose="05050102010706020507" pitchFamily="18" charset="2"/>
              </a:endParaRPr>
            </a:p>
          </p:txBody>
        </p:sp>
      </p:grpSp>
      <p:sp>
        <p:nvSpPr>
          <p:cNvPr id="108550" name="Text Box 8"/>
          <p:cNvSpPr txBox="1">
            <a:spLocks noChangeArrowheads="1"/>
          </p:cNvSpPr>
          <p:nvPr/>
        </p:nvSpPr>
        <p:spPr bwMode="auto">
          <a:xfrm>
            <a:off x="428625" y="757238"/>
            <a:ext cx="3832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C00000"/>
                </a:solidFill>
                <a:latin typeface="Arial" panose="020B0604020202020204" pitchFamily="34" charset="0"/>
              </a:rPr>
              <a:t>Quadrants de fonctionnement</a:t>
            </a:r>
          </a:p>
        </p:txBody>
      </p:sp>
      <p:grpSp>
        <p:nvGrpSpPr>
          <p:cNvPr id="3" name="Group 9"/>
          <p:cNvGrpSpPr>
            <a:grpSpLocks/>
          </p:cNvGrpSpPr>
          <p:nvPr/>
        </p:nvGrpSpPr>
        <p:grpSpPr bwMode="auto">
          <a:xfrm>
            <a:off x="4800600" y="1905000"/>
            <a:ext cx="1828800" cy="1066800"/>
            <a:chOff x="3024" y="1200"/>
            <a:chExt cx="1152" cy="672"/>
          </a:xfrm>
        </p:grpSpPr>
        <p:sp>
          <p:nvSpPr>
            <p:cNvPr id="108557" name="Oval 10"/>
            <p:cNvSpPr>
              <a:spLocks noChangeArrowheads="1"/>
            </p:cNvSpPr>
            <p:nvPr/>
          </p:nvSpPr>
          <p:spPr bwMode="auto">
            <a:xfrm>
              <a:off x="3024" y="1632"/>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1</a:t>
              </a:r>
            </a:p>
          </p:txBody>
        </p:sp>
        <p:sp>
          <p:nvSpPr>
            <p:cNvPr id="108558" name="Text Box 11"/>
            <p:cNvSpPr txBox="1">
              <a:spLocks noChangeArrowheads="1"/>
            </p:cNvSpPr>
            <p:nvPr/>
          </p:nvSpPr>
          <p:spPr bwMode="auto">
            <a:xfrm>
              <a:off x="3408" y="1200"/>
              <a:ext cx="76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6600"/>
                  </a:solidFill>
                  <a:latin typeface="Arial" panose="020B0604020202020204" pitchFamily="34" charset="0"/>
                </a:rPr>
                <a:t>Moteur</a:t>
              </a:r>
            </a:p>
            <a:p>
              <a:pPr eaLnBrk="1" hangingPunct="1">
                <a:spcBef>
                  <a:spcPct val="0"/>
                </a:spcBef>
                <a:buClrTx/>
                <a:buSzTx/>
                <a:buFontTx/>
                <a:buNone/>
              </a:pPr>
              <a:r>
                <a:rPr lang="fr-FR" altLang="fr-FR" sz="1800" b="1">
                  <a:solidFill>
                    <a:srgbClr val="FF6600"/>
                  </a:solidFill>
                  <a:latin typeface="Arial" panose="020B0604020202020204" pitchFamily="34" charset="0"/>
                </a:rPr>
                <a:t>P &gt; 0</a:t>
              </a:r>
            </a:p>
          </p:txBody>
        </p:sp>
      </p:grpSp>
      <p:grpSp>
        <p:nvGrpSpPr>
          <p:cNvPr id="4" name="Group 16"/>
          <p:cNvGrpSpPr>
            <a:grpSpLocks/>
          </p:cNvGrpSpPr>
          <p:nvPr/>
        </p:nvGrpSpPr>
        <p:grpSpPr bwMode="auto">
          <a:xfrm>
            <a:off x="2444750" y="2020888"/>
            <a:ext cx="2033588" cy="968375"/>
            <a:chOff x="1540" y="1273"/>
            <a:chExt cx="1281" cy="610"/>
          </a:xfrm>
        </p:grpSpPr>
        <p:sp>
          <p:nvSpPr>
            <p:cNvPr id="108555" name="Oval 13"/>
            <p:cNvSpPr>
              <a:spLocks noChangeArrowheads="1"/>
            </p:cNvSpPr>
            <p:nvPr/>
          </p:nvSpPr>
          <p:spPr bwMode="auto">
            <a:xfrm>
              <a:off x="2581" y="1643"/>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2</a:t>
              </a:r>
            </a:p>
          </p:txBody>
        </p:sp>
        <p:sp>
          <p:nvSpPr>
            <p:cNvPr id="108556" name="Text Box 14"/>
            <p:cNvSpPr txBox="1">
              <a:spLocks noChangeArrowheads="1"/>
            </p:cNvSpPr>
            <p:nvPr/>
          </p:nvSpPr>
          <p:spPr bwMode="auto">
            <a:xfrm>
              <a:off x="1540" y="1273"/>
              <a:ext cx="105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chemeClr val="accent2"/>
                  </a:solidFill>
                  <a:latin typeface="Arial" panose="020B0604020202020204" pitchFamily="34" charset="0"/>
                </a:rPr>
                <a:t>Générateur</a:t>
              </a:r>
            </a:p>
            <a:p>
              <a:pPr eaLnBrk="1" hangingPunct="1">
                <a:spcBef>
                  <a:spcPct val="0"/>
                </a:spcBef>
                <a:buClrTx/>
                <a:buSzTx/>
                <a:buFontTx/>
                <a:buNone/>
              </a:pPr>
              <a:r>
                <a:rPr lang="fr-FR" altLang="fr-FR" sz="1800" b="1">
                  <a:solidFill>
                    <a:schemeClr val="accent2"/>
                  </a:solidFill>
                  <a:latin typeface="Arial" panose="020B0604020202020204" pitchFamily="34" charset="0"/>
                </a:rPr>
                <a:t>P &lt; 0</a:t>
              </a:r>
            </a:p>
          </p:txBody>
        </p:sp>
      </p:grpSp>
      <p:sp>
        <p:nvSpPr>
          <p:cNvPr id="108553"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8"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2"/>
                                        </p:tgtEl>
                                        <p:attrNameLst>
                                          <p:attrName>style.visibility</p:attrName>
                                        </p:attrNameLst>
                                      </p:cBhvr>
                                      <p:to>
                                        <p:strVal val="visible"/>
                                      </p:to>
                                    </p:set>
                                    <p:anim calcmode="lin" valueType="num">
                                      <p:cBhvr additive="base">
                                        <p:cTn id="7" dur="500" fill="hold"/>
                                        <p:tgtEl>
                                          <p:spTgt spid="76802"/>
                                        </p:tgtEl>
                                        <p:attrNameLst>
                                          <p:attrName>ppt_x</p:attrName>
                                        </p:attrNameLst>
                                      </p:cBhvr>
                                      <p:tavLst>
                                        <p:tav tm="0">
                                          <p:val>
                                            <p:strVal val="#ppt_x"/>
                                          </p:val>
                                        </p:tav>
                                        <p:tav tm="100000">
                                          <p:val>
                                            <p:strVal val="#ppt_x"/>
                                          </p:val>
                                        </p:tav>
                                      </p:tavLst>
                                    </p:anim>
                                    <p:anim calcmode="lin" valueType="num">
                                      <p:cBhvr additive="base">
                                        <p:cTn id="8" dur="500" fill="hold"/>
                                        <p:tgtEl>
                                          <p:spTgt spid="7680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3" presetClass="entr" presetSubtype="528"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 calcmode="lin" valueType="num">
                                      <p:cBhvr>
                                        <p:cTn id="14" dur="500" fill="hold"/>
                                        <p:tgtEl>
                                          <p:spTgt spid="3"/>
                                        </p:tgtEl>
                                        <p:attrNameLst>
                                          <p:attrName>ppt_x</p:attrName>
                                        </p:attrNameLst>
                                      </p:cBhvr>
                                      <p:tavLst>
                                        <p:tav tm="0">
                                          <p:val>
                                            <p:fltVal val="0.5"/>
                                          </p:val>
                                        </p:tav>
                                        <p:tav tm="100000">
                                          <p:val>
                                            <p:strVal val="#ppt_x"/>
                                          </p:val>
                                        </p:tav>
                                      </p:tavLst>
                                    </p:anim>
                                    <p:anim calcmode="lin" valueType="num">
                                      <p:cBhvr>
                                        <p:cTn id="15" dur="500" fill="hold"/>
                                        <p:tgtEl>
                                          <p:spTgt spid="3"/>
                                        </p:tgtEl>
                                        <p:attrNameLst>
                                          <p:attrName>ppt_y</p:attrName>
                                        </p:attrNameLst>
                                      </p:cBhvr>
                                      <p:tavLst>
                                        <p:tav tm="0">
                                          <p:val>
                                            <p:fltVal val="0.5"/>
                                          </p:val>
                                        </p:tav>
                                        <p:tav tm="100000">
                                          <p:val>
                                            <p:strVal val="#ppt_y"/>
                                          </p:val>
                                        </p:tav>
                                      </p:tavLst>
                                    </p:anim>
                                  </p:childTnLst>
                                </p:cTn>
                              </p:par>
                            </p:childTnLst>
                          </p:cTn>
                        </p:par>
                        <p:par>
                          <p:cTn id="16" fill="hold" nodeType="afterGroup">
                            <p:stCondLst>
                              <p:cond delay="1000"/>
                            </p:stCondLst>
                            <p:childTnLst>
                              <p:par>
                                <p:cTn id="17" presetID="23" presetClass="entr" presetSubtype="528" fill="hold" nodeType="afterEffect">
                                  <p:stCondLst>
                                    <p:cond delay="200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 calcmode="lin" valueType="num">
                                      <p:cBhvr>
                                        <p:cTn id="21" dur="500" fill="hold"/>
                                        <p:tgtEl>
                                          <p:spTgt spid="4"/>
                                        </p:tgtEl>
                                        <p:attrNameLst>
                                          <p:attrName>ppt_x</p:attrName>
                                        </p:attrNameLst>
                                      </p:cBhvr>
                                      <p:tavLst>
                                        <p:tav tm="0">
                                          <p:val>
                                            <p:fltVal val="0.5"/>
                                          </p:val>
                                        </p:tav>
                                        <p:tav tm="100000">
                                          <p:val>
                                            <p:strVal val="#ppt_x"/>
                                          </p:val>
                                        </p:tav>
                                      </p:tavLst>
                                    </p:anim>
                                    <p:anim calcmode="lin" valueType="num">
                                      <p:cBhvr>
                                        <p:cTn id="22" dur="500" fill="hold"/>
                                        <p:tgtEl>
                                          <p:spTgt spid="4"/>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2" grpId="0"/>
    </p:bldLst>
  </p:timing>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33" name="Espace réservé du pied de page 32"/>
          <p:cNvSpPr>
            <a:spLocks noGrp="1"/>
          </p:cNvSpPr>
          <p:nvPr>
            <p:ph type="ftr" sz="quarter" idx="11"/>
          </p:nvPr>
        </p:nvSpPr>
        <p:spPr/>
        <p:txBody>
          <a:bodyPr/>
          <a:lstStyle/>
          <a:p>
            <a:pPr>
              <a:defRPr/>
            </a:pPr>
            <a:r>
              <a:rPr lang="fr-FR"/>
              <a:t>Commande des machines   3.MCC     Ali NEJMI</a:t>
            </a:r>
          </a:p>
        </p:txBody>
      </p:sp>
      <p:sp>
        <p:nvSpPr>
          <p:cNvPr id="110595"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22F55909-D3D4-485C-9250-3A4BA059716F}" type="slidenum">
              <a:rPr lang="fr-FR" altLang="fr-FR" sz="1000" smtClean="0">
                <a:solidFill>
                  <a:srgbClr val="292929"/>
                </a:solidFill>
                <a:latin typeface="Arial" panose="020B0604020202020204" pitchFamily="34" charset="0"/>
              </a:rPr>
              <a:pPr>
                <a:spcBef>
                  <a:spcPct val="0"/>
                </a:spcBef>
                <a:buClrTx/>
                <a:buSzTx/>
                <a:buFontTx/>
                <a:buNone/>
              </a:pPr>
              <a:t>59</a:t>
            </a:fld>
            <a:endParaRPr lang="fr-FR" altLang="fr-FR" sz="1000" smtClean="0">
              <a:solidFill>
                <a:srgbClr val="292929"/>
              </a:solidFill>
              <a:latin typeface="Arial" panose="020B0604020202020204" pitchFamily="34" charset="0"/>
            </a:endParaRPr>
          </a:p>
        </p:txBody>
      </p:sp>
      <p:grpSp>
        <p:nvGrpSpPr>
          <p:cNvPr id="110596" name="Group 2"/>
          <p:cNvGrpSpPr>
            <a:grpSpLocks/>
          </p:cNvGrpSpPr>
          <p:nvPr/>
        </p:nvGrpSpPr>
        <p:grpSpPr bwMode="auto">
          <a:xfrm>
            <a:off x="1684338" y="3429000"/>
            <a:ext cx="5664200" cy="2589213"/>
            <a:chOff x="2272" y="4828"/>
            <a:chExt cx="4970" cy="2272"/>
          </a:xfrm>
        </p:grpSpPr>
        <p:sp>
          <p:nvSpPr>
            <p:cNvPr id="110602" name="Line 3"/>
            <p:cNvSpPr>
              <a:spLocks noChangeShapeType="1"/>
            </p:cNvSpPr>
            <p:nvPr/>
          </p:nvSpPr>
          <p:spPr bwMode="auto">
            <a:xfrm>
              <a:off x="2840" y="4828"/>
              <a:ext cx="36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03" name="Line 4"/>
            <p:cNvSpPr>
              <a:spLocks noChangeShapeType="1"/>
            </p:cNvSpPr>
            <p:nvPr/>
          </p:nvSpPr>
          <p:spPr bwMode="auto">
            <a:xfrm>
              <a:off x="3976" y="4828"/>
              <a:ext cx="0" cy="2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04" name="Line 5"/>
            <p:cNvSpPr>
              <a:spLocks noChangeShapeType="1"/>
            </p:cNvSpPr>
            <p:nvPr/>
          </p:nvSpPr>
          <p:spPr bwMode="auto">
            <a:xfrm>
              <a:off x="3834" y="5112"/>
              <a:ext cx="142" cy="4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05" name="Line 6"/>
            <p:cNvSpPr>
              <a:spLocks noChangeShapeType="1"/>
            </p:cNvSpPr>
            <p:nvPr/>
          </p:nvSpPr>
          <p:spPr bwMode="auto">
            <a:xfrm>
              <a:off x="3976" y="5538"/>
              <a:ext cx="0" cy="8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06" name="Line 7"/>
            <p:cNvSpPr>
              <a:spLocks noChangeShapeType="1"/>
            </p:cNvSpPr>
            <p:nvPr/>
          </p:nvSpPr>
          <p:spPr bwMode="auto">
            <a:xfrm>
              <a:off x="3834" y="6390"/>
              <a:ext cx="142" cy="4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07" name="Line 8"/>
            <p:cNvSpPr>
              <a:spLocks noChangeShapeType="1"/>
            </p:cNvSpPr>
            <p:nvPr/>
          </p:nvSpPr>
          <p:spPr bwMode="auto">
            <a:xfrm>
              <a:off x="3976" y="6816"/>
              <a:ext cx="0" cy="2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08" name="Line 9"/>
            <p:cNvSpPr>
              <a:spLocks noChangeShapeType="1"/>
            </p:cNvSpPr>
            <p:nvPr/>
          </p:nvSpPr>
          <p:spPr bwMode="auto">
            <a:xfrm>
              <a:off x="2840" y="7100"/>
              <a:ext cx="36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09" name="Line 10"/>
            <p:cNvSpPr>
              <a:spLocks noChangeShapeType="1"/>
            </p:cNvSpPr>
            <p:nvPr/>
          </p:nvSpPr>
          <p:spPr bwMode="auto">
            <a:xfrm>
              <a:off x="6532" y="4828"/>
              <a:ext cx="0" cy="2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10" name="Line 11"/>
            <p:cNvSpPr>
              <a:spLocks noChangeShapeType="1"/>
            </p:cNvSpPr>
            <p:nvPr/>
          </p:nvSpPr>
          <p:spPr bwMode="auto">
            <a:xfrm>
              <a:off x="6390" y="5112"/>
              <a:ext cx="142" cy="4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11" name="Line 12"/>
            <p:cNvSpPr>
              <a:spLocks noChangeShapeType="1"/>
            </p:cNvSpPr>
            <p:nvPr/>
          </p:nvSpPr>
          <p:spPr bwMode="auto">
            <a:xfrm>
              <a:off x="6532" y="5538"/>
              <a:ext cx="0" cy="85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12" name="Line 13"/>
            <p:cNvSpPr>
              <a:spLocks noChangeShapeType="1"/>
            </p:cNvSpPr>
            <p:nvPr/>
          </p:nvSpPr>
          <p:spPr bwMode="auto">
            <a:xfrm>
              <a:off x="6390" y="6390"/>
              <a:ext cx="142" cy="4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13" name="Line 14"/>
            <p:cNvSpPr>
              <a:spLocks noChangeShapeType="1"/>
            </p:cNvSpPr>
            <p:nvPr/>
          </p:nvSpPr>
          <p:spPr bwMode="auto">
            <a:xfrm>
              <a:off x="6532" y="6816"/>
              <a:ext cx="0" cy="28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14" name="Line 15"/>
            <p:cNvSpPr>
              <a:spLocks noChangeShapeType="1"/>
            </p:cNvSpPr>
            <p:nvPr/>
          </p:nvSpPr>
          <p:spPr bwMode="auto">
            <a:xfrm>
              <a:off x="3976" y="5964"/>
              <a:ext cx="85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15" name="Oval 16"/>
            <p:cNvSpPr>
              <a:spLocks noChangeArrowheads="1"/>
            </p:cNvSpPr>
            <p:nvPr/>
          </p:nvSpPr>
          <p:spPr bwMode="auto">
            <a:xfrm>
              <a:off x="4844" y="5614"/>
              <a:ext cx="710" cy="710"/>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10616" name="Line 17"/>
            <p:cNvSpPr>
              <a:spLocks noChangeShapeType="1"/>
            </p:cNvSpPr>
            <p:nvPr/>
          </p:nvSpPr>
          <p:spPr bwMode="auto">
            <a:xfrm>
              <a:off x="5538" y="5964"/>
              <a:ext cx="99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10617" name="Text Box 18"/>
            <p:cNvSpPr txBox="1">
              <a:spLocks noChangeArrowheads="1"/>
            </p:cNvSpPr>
            <p:nvPr/>
          </p:nvSpPr>
          <p:spPr bwMode="auto">
            <a:xfrm>
              <a:off x="4931" y="5835"/>
              <a:ext cx="710" cy="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MCC</a:t>
              </a:r>
            </a:p>
            <a:p>
              <a:pPr eaLnBrk="1" hangingPunct="1">
                <a:spcBef>
                  <a:spcPct val="0"/>
                </a:spcBef>
                <a:buClrTx/>
                <a:buSzTx/>
                <a:buFontTx/>
                <a:buNone/>
              </a:pPr>
              <a:r>
                <a:rPr lang="fr-FR" altLang="fr-FR" sz="1600">
                  <a:latin typeface="Arial" panose="020B0604020202020204" pitchFamily="34" charset="0"/>
                </a:rPr>
                <a:t> </a:t>
              </a:r>
            </a:p>
          </p:txBody>
        </p:sp>
        <p:sp>
          <p:nvSpPr>
            <p:cNvPr id="110618" name="Line 19"/>
            <p:cNvSpPr>
              <a:spLocks noChangeShapeType="1"/>
            </p:cNvSpPr>
            <p:nvPr/>
          </p:nvSpPr>
          <p:spPr bwMode="auto">
            <a:xfrm flipH="1">
              <a:off x="4686" y="6532"/>
              <a:ext cx="1278"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10619" name="Line 20"/>
            <p:cNvSpPr>
              <a:spLocks noChangeShapeType="1"/>
            </p:cNvSpPr>
            <p:nvPr/>
          </p:nvSpPr>
          <p:spPr bwMode="auto">
            <a:xfrm flipV="1">
              <a:off x="2698" y="5112"/>
              <a:ext cx="0" cy="156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10620" name="Line 21"/>
            <p:cNvSpPr>
              <a:spLocks noChangeShapeType="1"/>
            </p:cNvSpPr>
            <p:nvPr/>
          </p:nvSpPr>
          <p:spPr bwMode="auto">
            <a:xfrm>
              <a:off x="4118" y="5964"/>
              <a:ext cx="28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10621" name="Text Box 22"/>
            <p:cNvSpPr txBox="1">
              <a:spLocks noChangeArrowheads="1"/>
            </p:cNvSpPr>
            <p:nvPr/>
          </p:nvSpPr>
          <p:spPr bwMode="auto">
            <a:xfrm>
              <a:off x="4973" y="6535"/>
              <a:ext cx="710"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U</a:t>
              </a:r>
              <a:r>
                <a:rPr lang="fr-FR" altLang="fr-FR" sz="1600" baseline="-25000">
                  <a:latin typeface="Arial" panose="020B0604020202020204" pitchFamily="34" charset="0"/>
                </a:rPr>
                <a:t>M</a:t>
              </a:r>
              <a:endParaRPr lang="fr-FR" altLang="fr-FR" sz="1600">
                <a:latin typeface="Arial" panose="020B0604020202020204" pitchFamily="34" charset="0"/>
              </a:endParaRPr>
            </a:p>
          </p:txBody>
        </p:sp>
        <p:sp>
          <p:nvSpPr>
            <p:cNvPr id="110622" name="Text Box 23"/>
            <p:cNvSpPr txBox="1">
              <a:spLocks noChangeArrowheads="1"/>
            </p:cNvSpPr>
            <p:nvPr/>
          </p:nvSpPr>
          <p:spPr bwMode="auto">
            <a:xfrm>
              <a:off x="4118" y="5538"/>
              <a:ext cx="710"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I</a:t>
              </a:r>
              <a:r>
                <a:rPr lang="fr-FR" altLang="fr-FR" sz="1600" baseline="-25000">
                  <a:latin typeface="Arial" panose="020B0604020202020204" pitchFamily="34" charset="0"/>
                </a:rPr>
                <a:t>M</a:t>
              </a:r>
              <a:endParaRPr lang="fr-FR" altLang="fr-FR" sz="1600">
                <a:latin typeface="Arial" panose="020B0604020202020204" pitchFamily="34" charset="0"/>
              </a:endParaRPr>
            </a:p>
          </p:txBody>
        </p:sp>
        <p:sp>
          <p:nvSpPr>
            <p:cNvPr id="110623" name="Text Box 24"/>
            <p:cNvSpPr txBox="1">
              <a:spLocks noChangeArrowheads="1"/>
            </p:cNvSpPr>
            <p:nvPr/>
          </p:nvSpPr>
          <p:spPr bwMode="auto">
            <a:xfrm>
              <a:off x="2272" y="5822"/>
              <a:ext cx="710"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E</a:t>
              </a:r>
            </a:p>
          </p:txBody>
        </p:sp>
        <p:sp>
          <p:nvSpPr>
            <p:cNvPr id="110624" name="Text Box 25"/>
            <p:cNvSpPr txBox="1">
              <a:spLocks noChangeArrowheads="1"/>
            </p:cNvSpPr>
            <p:nvPr/>
          </p:nvSpPr>
          <p:spPr bwMode="auto">
            <a:xfrm>
              <a:off x="3408" y="5112"/>
              <a:ext cx="710"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T1</a:t>
              </a:r>
            </a:p>
          </p:txBody>
        </p:sp>
        <p:sp>
          <p:nvSpPr>
            <p:cNvPr id="110625" name="Text Box 26"/>
            <p:cNvSpPr txBox="1">
              <a:spLocks noChangeArrowheads="1"/>
            </p:cNvSpPr>
            <p:nvPr/>
          </p:nvSpPr>
          <p:spPr bwMode="auto">
            <a:xfrm>
              <a:off x="6532" y="5112"/>
              <a:ext cx="710"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T2</a:t>
              </a:r>
            </a:p>
          </p:txBody>
        </p:sp>
        <p:sp>
          <p:nvSpPr>
            <p:cNvPr id="110626" name="Text Box 27"/>
            <p:cNvSpPr txBox="1">
              <a:spLocks noChangeArrowheads="1"/>
            </p:cNvSpPr>
            <p:nvPr/>
          </p:nvSpPr>
          <p:spPr bwMode="auto">
            <a:xfrm>
              <a:off x="6532" y="6390"/>
              <a:ext cx="710"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T3</a:t>
              </a:r>
            </a:p>
          </p:txBody>
        </p:sp>
        <p:sp>
          <p:nvSpPr>
            <p:cNvPr id="110627" name="Text Box 28"/>
            <p:cNvSpPr txBox="1">
              <a:spLocks noChangeArrowheads="1"/>
            </p:cNvSpPr>
            <p:nvPr/>
          </p:nvSpPr>
          <p:spPr bwMode="auto">
            <a:xfrm>
              <a:off x="3408" y="6532"/>
              <a:ext cx="710" cy="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T4</a:t>
              </a:r>
            </a:p>
          </p:txBody>
        </p:sp>
      </p:grpSp>
      <p:sp>
        <p:nvSpPr>
          <p:cNvPr id="110597" name="Text Box 29"/>
          <p:cNvSpPr txBox="1">
            <a:spLocks noChangeArrowheads="1"/>
          </p:cNvSpPr>
          <p:nvPr/>
        </p:nvSpPr>
        <p:spPr bwMode="auto">
          <a:xfrm>
            <a:off x="500063" y="544513"/>
            <a:ext cx="23780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C00000"/>
                </a:solidFill>
                <a:latin typeface="Arial" panose="020B0604020202020204" pitchFamily="34" charset="0"/>
              </a:rPr>
              <a:t>2 sens de rotation</a:t>
            </a:r>
          </a:p>
        </p:txBody>
      </p:sp>
      <p:sp>
        <p:nvSpPr>
          <p:cNvPr id="110598" name="Rectangle 30"/>
          <p:cNvSpPr>
            <a:spLocks noChangeArrowheads="1"/>
          </p:cNvSpPr>
          <p:nvPr/>
        </p:nvSpPr>
        <p:spPr bwMode="auto">
          <a:xfrm>
            <a:off x="752475" y="1036638"/>
            <a:ext cx="76962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Il faut réaliser une inversion de polarité sur les bornes de l’induit. On aura le fonctionnement dans les quadrants 1 et 3.</a:t>
            </a:r>
          </a:p>
        </p:txBody>
      </p:sp>
      <p:sp>
        <p:nvSpPr>
          <p:cNvPr id="110599" name="Text Box 31"/>
          <p:cNvSpPr txBox="1">
            <a:spLocks noChangeArrowheads="1"/>
          </p:cNvSpPr>
          <p:nvPr/>
        </p:nvSpPr>
        <p:spPr bwMode="auto">
          <a:xfrm>
            <a:off x="752475" y="1858963"/>
            <a:ext cx="7924800" cy="157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On peut utiliser un contacteur comme dans la solution “ redresseur ”.</a:t>
            </a:r>
          </a:p>
          <a:p>
            <a:pPr algn="just" eaLnBrk="1" hangingPunct="1">
              <a:spcBef>
                <a:spcPct val="0"/>
              </a:spcBef>
              <a:buClrTx/>
              <a:buSzTx/>
              <a:buFontTx/>
              <a:buNone/>
            </a:pPr>
            <a:r>
              <a:rPr lang="fr-FR" altLang="fr-FR" sz="1800">
                <a:latin typeface="Arial" panose="020B0604020202020204" pitchFamily="34" charset="0"/>
              </a:rPr>
              <a:t>On préfère une structure “ </a:t>
            </a:r>
            <a:r>
              <a:rPr lang="fr-FR" altLang="fr-FR" sz="1800" b="1">
                <a:latin typeface="Arial" panose="020B0604020202020204" pitchFamily="34" charset="0"/>
              </a:rPr>
              <a:t>pont en H</a:t>
            </a:r>
            <a:r>
              <a:rPr lang="fr-FR" altLang="fr-FR" sz="1800">
                <a:latin typeface="Arial" panose="020B0604020202020204" pitchFamily="34" charset="0"/>
              </a:rPr>
              <a:t> ” qui nous permet de fonctionner dans </a:t>
            </a:r>
            <a:r>
              <a:rPr lang="fr-FR" altLang="fr-FR" sz="1800" b="1">
                <a:latin typeface="Arial" panose="020B0604020202020204" pitchFamily="34" charset="0"/>
              </a:rPr>
              <a:t>les 4 quadrants</a:t>
            </a:r>
            <a:r>
              <a:rPr lang="fr-FR" altLang="fr-FR" sz="1800">
                <a:latin typeface="Arial" panose="020B0604020202020204" pitchFamily="34" charset="0"/>
              </a:rPr>
              <a:t>. </a:t>
            </a:r>
          </a:p>
        </p:txBody>
      </p:sp>
      <p:sp>
        <p:nvSpPr>
          <p:cNvPr id="110600" name="Rectangle 3"/>
          <p:cNvSpPr>
            <a:spLocks noChangeArrowheads="1"/>
          </p:cNvSpPr>
          <p:nvPr/>
        </p:nvSpPr>
        <p:spPr bwMode="auto">
          <a:xfrm>
            <a:off x="182563" y="223838"/>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35"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1" name="Espace réservé du pied de page 20"/>
          <p:cNvSpPr>
            <a:spLocks noGrp="1"/>
          </p:cNvSpPr>
          <p:nvPr>
            <p:ph type="ftr" sz="quarter" idx="11"/>
          </p:nvPr>
        </p:nvSpPr>
        <p:spPr/>
        <p:txBody>
          <a:bodyPr/>
          <a:lstStyle/>
          <a:p>
            <a:pPr>
              <a:defRPr/>
            </a:pPr>
            <a:r>
              <a:rPr lang="fr-FR"/>
              <a:t>Commande des machines   3.MCC     Ali NEJMI</a:t>
            </a:r>
          </a:p>
        </p:txBody>
      </p:sp>
      <p:sp>
        <p:nvSpPr>
          <p:cNvPr id="112643"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653D3E4A-7991-4456-9283-83EA8431E9A8}" type="slidenum">
              <a:rPr lang="fr-FR" altLang="fr-FR" sz="1000" smtClean="0">
                <a:solidFill>
                  <a:srgbClr val="292929"/>
                </a:solidFill>
                <a:latin typeface="Arial" panose="020B0604020202020204" pitchFamily="34" charset="0"/>
              </a:rPr>
              <a:pPr>
                <a:spcBef>
                  <a:spcPct val="0"/>
                </a:spcBef>
                <a:buClrTx/>
                <a:buSzTx/>
                <a:buFontTx/>
                <a:buNone/>
              </a:pPr>
              <a:t>60</a:t>
            </a:fld>
            <a:endParaRPr lang="fr-FR" altLang="fr-FR" sz="1000" smtClean="0">
              <a:solidFill>
                <a:srgbClr val="292929"/>
              </a:solidFill>
              <a:latin typeface="Arial" panose="020B0604020202020204" pitchFamily="34" charset="0"/>
            </a:endParaRPr>
          </a:p>
        </p:txBody>
      </p:sp>
      <p:grpSp>
        <p:nvGrpSpPr>
          <p:cNvPr id="112644" name="Groupe 22"/>
          <p:cNvGrpSpPr>
            <a:grpSpLocks/>
          </p:cNvGrpSpPr>
          <p:nvPr/>
        </p:nvGrpSpPr>
        <p:grpSpPr bwMode="auto">
          <a:xfrm>
            <a:off x="4489450" y="3638550"/>
            <a:ext cx="4222750" cy="2814638"/>
            <a:chOff x="3000375" y="1500188"/>
            <a:chExt cx="4222750" cy="2814637"/>
          </a:xfrm>
        </p:grpSpPr>
        <p:grpSp>
          <p:nvGrpSpPr>
            <p:cNvPr id="112650" name="Group 2"/>
            <p:cNvGrpSpPr>
              <a:grpSpLocks/>
            </p:cNvGrpSpPr>
            <p:nvPr/>
          </p:nvGrpSpPr>
          <p:grpSpPr bwMode="auto">
            <a:xfrm>
              <a:off x="3000375" y="1500188"/>
              <a:ext cx="4222750" cy="2814637"/>
              <a:chOff x="1632" y="1635"/>
              <a:chExt cx="2660" cy="1773"/>
            </a:xfrm>
          </p:grpSpPr>
          <p:sp>
            <p:nvSpPr>
              <p:cNvPr id="112661" name="Line 3"/>
              <p:cNvSpPr>
                <a:spLocks noChangeShapeType="1"/>
              </p:cNvSpPr>
              <p:nvPr/>
            </p:nvSpPr>
            <p:spPr bwMode="auto">
              <a:xfrm flipV="1">
                <a:off x="2734" y="1740"/>
                <a:ext cx="0" cy="166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12662" name="Line 4"/>
              <p:cNvSpPr>
                <a:spLocks noChangeShapeType="1"/>
              </p:cNvSpPr>
              <p:nvPr/>
            </p:nvSpPr>
            <p:spPr bwMode="auto">
              <a:xfrm>
                <a:off x="1632" y="2574"/>
                <a:ext cx="240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12663" name="Text Box 5"/>
              <p:cNvSpPr txBox="1">
                <a:spLocks noChangeArrowheads="1"/>
              </p:cNvSpPr>
              <p:nvPr/>
            </p:nvSpPr>
            <p:spPr bwMode="auto">
              <a:xfrm>
                <a:off x="2442" y="1635"/>
                <a:ext cx="602"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latin typeface="Symbol" panose="05050102010706020507" pitchFamily="18" charset="2"/>
                  </a:rPr>
                  <a:t>W</a:t>
                </a:r>
                <a:endParaRPr lang="fr-FR" altLang="fr-FR" sz="1600" b="1">
                  <a:latin typeface="Arial" panose="020B0604020202020204" pitchFamily="34" charset="0"/>
                </a:endParaRPr>
              </a:p>
            </p:txBody>
          </p:sp>
          <p:sp>
            <p:nvSpPr>
              <p:cNvPr id="112664" name="Text Box 6"/>
              <p:cNvSpPr txBox="1">
                <a:spLocks noChangeArrowheads="1"/>
              </p:cNvSpPr>
              <p:nvPr/>
            </p:nvSpPr>
            <p:spPr bwMode="auto">
              <a:xfrm>
                <a:off x="3792" y="2310"/>
                <a:ext cx="50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latin typeface="Arial" panose="020B0604020202020204" pitchFamily="34" charset="0"/>
                  </a:rPr>
                  <a:t>C</a:t>
                </a:r>
                <a:endParaRPr lang="fr-FR" altLang="fr-FR" sz="1600" b="1">
                  <a:latin typeface="Symbol" panose="05050102010706020507" pitchFamily="18" charset="2"/>
                </a:endParaRPr>
              </a:p>
            </p:txBody>
          </p:sp>
        </p:grpSp>
        <p:grpSp>
          <p:nvGrpSpPr>
            <p:cNvPr id="112651" name="Group 7"/>
            <p:cNvGrpSpPr>
              <a:grpSpLocks/>
            </p:cNvGrpSpPr>
            <p:nvPr/>
          </p:nvGrpSpPr>
          <p:grpSpPr bwMode="auto">
            <a:xfrm>
              <a:off x="3076575" y="1804988"/>
              <a:ext cx="3422650" cy="2244725"/>
              <a:chOff x="2016" y="1200"/>
              <a:chExt cx="2156" cy="1414"/>
            </a:xfrm>
          </p:grpSpPr>
          <p:sp>
            <p:nvSpPr>
              <p:cNvPr id="112657" name="Oval 8"/>
              <p:cNvSpPr>
                <a:spLocks noChangeArrowheads="1"/>
              </p:cNvSpPr>
              <p:nvPr/>
            </p:nvSpPr>
            <p:spPr bwMode="auto">
              <a:xfrm>
                <a:off x="3168" y="1632"/>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1</a:t>
                </a:r>
              </a:p>
            </p:txBody>
          </p:sp>
          <p:sp>
            <p:nvSpPr>
              <p:cNvPr id="112658" name="Oval 9"/>
              <p:cNvSpPr>
                <a:spLocks noChangeArrowheads="1"/>
              </p:cNvSpPr>
              <p:nvPr/>
            </p:nvSpPr>
            <p:spPr bwMode="auto">
              <a:xfrm>
                <a:off x="2736" y="201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3</a:t>
                </a:r>
              </a:p>
            </p:txBody>
          </p:sp>
          <p:sp>
            <p:nvSpPr>
              <p:cNvPr id="112659" name="Text Box 10"/>
              <p:cNvSpPr txBox="1">
                <a:spLocks noChangeArrowheads="1"/>
              </p:cNvSpPr>
              <p:nvPr/>
            </p:nvSpPr>
            <p:spPr bwMode="auto">
              <a:xfrm>
                <a:off x="3552" y="1200"/>
                <a:ext cx="62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rgbClr val="FF6600"/>
                    </a:solidFill>
                    <a:latin typeface="Arial" panose="020B0604020202020204" pitchFamily="34" charset="0"/>
                  </a:rPr>
                  <a:t>moteur</a:t>
                </a:r>
              </a:p>
            </p:txBody>
          </p:sp>
          <p:sp>
            <p:nvSpPr>
              <p:cNvPr id="112660" name="Text Box 11"/>
              <p:cNvSpPr txBox="1">
                <a:spLocks noChangeArrowheads="1"/>
              </p:cNvSpPr>
              <p:nvPr/>
            </p:nvSpPr>
            <p:spPr bwMode="auto">
              <a:xfrm>
                <a:off x="2016" y="2352"/>
                <a:ext cx="621"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rgbClr val="FF6600"/>
                    </a:solidFill>
                    <a:latin typeface="Arial" panose="020B0604020202020204" pitchFamily="34" charset="0"/>
                  </a:rPr>
                  <a:t>moteur</a:t>
                </a:r>
              </a:p>
            </p:txBody>
          </p:sp>
        </p:grpSp>
        <p:grpSp>
          <p:nvGrpSpPr>
            <p:cNvPr id="112652" name="Group 12"/>
            <p:cNvGrpSpPr>
              <a:grpSpLocks/>
            </p:cNvGrpSpPr>
            <p:nvPr/>
          </p:nvGrpSpPr>
          <p:grpSpPr bwMode="auto">
            <a:xfrm>
              <a:off x="3061827" y="1986884"/>
              <a:ext cx="3592513" cy="2016125"/>
              <a:chOff x="2016" y="1293"/>
              <a:chExt cx="2263" cy="1270"/>
            </a:xfrm>
          </p:grpSpPr>
          <p:sp>
            <p:nvSpPr>
              <p:cNvPr id="112653" name="Oval 13"/>
              <p:cNvSpPr>
                <a:spLocks noChangeArrowheads="1"/>
              </p:cNvSpPr>
              <p:nvPr/>
            </p:nvSpPr>
            <p:spPr bwMode="auto">
              <a:xfrm>
                <a:off x="2736" y="1629"/>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2</a:t>
                </a:r>
              </a:p>
            </p:txBody>
          </p:sp>
          <p:sp>
            <p:nvSpPr>
              <p:cNvPr id="112654" name="Oval 14"/>
              <p:cNvSpPr>
                <a:spLocks noChangeArrowheads="1"/>
              </p:cNvSpPr>
              <p:nvPr/>
            </p:nvSpPr>
            <p:spPr bwMode="auto">
              <a:xfrm>
                <a:off x="3168" y="2013"/>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4</a:t>
                </a:r>
              </a:p>
            </p:txBody>
          </p:sp>
          <p:sp>
            <p:nvSpPr>
              <p:cNvPr id="112655" name="Text Box 15"/>
              <p:cNvSpPr txBox="1">
                <a:spLocks noChangeArrowheads="1"/>
              </p:cNvSpPr>
              <p:nvPr/>
            </p:nvSpPr>
            <p:spPr bwMode="auto">
              <a:xfrm>
                <a:off x="3408" y="2301"/>
                <a:ext cx="871"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chemeClr val="accent2"/>
                    </a:solidFill>
                    <a:latin typeface="Arial" panose="020B0604020202020204" pitchFamily="34" charset="0"/>
                  </a:rPr>
                  <a:t>générateur</a:t>
                </a:r>
              </a:p>
            </p:txBody>
          </p:sp>
          <p:sp>
            <p:nvSpPr>
              <p:cNvPr id="112656" name="Text Box 16"/>
              <p:cNvSpPr txBox="1">
                <a:spLocks noChangeArrowheads="1"/>
              </p:cNvSpPr>
              <p:nvPr/>
            </p:nvSpPr>
            <p:spPr bwMode="auto">
              <a:xfrm>
                <a:off x="2016" y="1293"/>
                <a:ext cx="93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chemeClr val="accent2"/>
                    </a:solidFill>
                    <a:latin typeface="Arial" panose="020B0604020202020204" pitchFamily="34" charset="0"/>
                  </a:rPr>
                  <a:t>générateur</a:t>
                </a:r>
              </a:p>
            </p:txBody>
          </p:sp>
        </p:grpSp>
      </p:grpSp>
      <p:sp>
        <p:nvSpPr>
          <p:cNvPr id="112645" name="Text Box 17"/>
          <p:cNvSpPr txBox="1">
            <a:spLocks noChangeArrowheads="1"/>
          </p:cNvSpPr>
          <p:nvPr/>
        </p:nvSpPr>
        <p:spPr bwMode="auto">
          <a:xfrm>
            <a:off x="638175" y="685800"/>
            <a:ext cx="3832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C00000"/>
                </a:solidFill>
                <a:latin typeface="Arial" panose="020B0604020202020204" pitchFamily="34" charset="0"/>
              </a:rPr>
              <a:t>Quadrants de fonctionnement</a:t>
            </a:r>
          </a:p>
        </p:txBody>
      </p:sp>
      <p:sp>
        <p:nvSpPr>
          <p:cNvPr id="78866" name="Text Box 18"/>
          <p:cNvSpPr txBox="1">
            <a:spLocks noChangeArrowheads="1"/>
          </p:cNvSpPr>
          <p:nvPr/>
        </p:nvSpPr>
        <p:spPr bwMode="auto">
          <a:xfrm>
            <a:off x="412750" y="4067175"/>
            <a:ext cx="3835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Pour travailler dans les 4 quadrants il est nécessaire que les I.S. et que la source soient réversibles en courant.</a:t>
            </a:r>
          </a:p>
        </p:txBody>
      </p:sp>
      <p:sp>
        <p:nvSpPr>
          <p:cNvPr id="112647"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22" name="Rectangle 2"/>
          <p:cNvSpPr>
            <a:spLocks noChangeArrowheads="1"/>
          </p:cNvSpPr>
          <p:nvPr/>
        </p:nvSpPr>
        <p:spPr bwMode="auto">
          <a:xfrm>
            <a:off x="2874963" y="236538"/>
            <a:ext cx="2557462" cy="307975"/>
          </a:xfrm>
          <a:prstGeom prst="rect">
            <a:avLst/>
          </a:prstGeom>
          <a:noFill/>
          <a:ln w="9525">
            <a:noFill/>
            <a:miter lim="800000"/>
            <a:headEnd/>
            <a:tailEnd/>
          </a:ln>
          <a:effectLst/>
        </p:spPr>
        <p:txBody>
          <a:bodyPr wrap="none">
            <a:spAutoFit/>
          </a:bodyPr>
          <a:lstStyle/>
          <a:p>
            <a:pPr eaLnBrk="1" hangingPunct="1">
              <a:defRPr/>
            </a:pPr>
            <a:r>
              <a:rPr lang="fr-FR" sz="1400" b="1" cap="small" dirty="0">
                <a:solidFill>
                  <a:srgbClr val="0000EC"/>
                </a:solidFill>
                <a:cs typeface="Times New Roman" pitchFamily="18" charset="0"/>
              </a:rPr>
              <a:t>Structures  des variateurs</a:t>
            </a:r>
          </a:p>
        </p:txBody>
      </p:sp>
      <p:pic>
        <p:nvPicPr>
          <p:cNvPr id="112649" name="Picture 23"/>
          <p:cNvPicPr>
            <a:picLocks noChangeAspect="1" noChangeArrowheads="1"/>
          </p:cNvPicPr>
          <p:nvPr/>
        </p:nvPicPr>
        <p:blipFill>
          <a:blip r:embed="rId5">
            <a:clrChange>
              <a:clrFrom>
                <a:srgbClr val="FFFFFF"/>
              </a:clrFrom>
              <a:clrTo>
                <a:srgbClr val="FFFFFF">
                  <a:alpha val="0"/>
                </a:srgbClr>
              </a:clrTo>
            </a:clrChange>
            <a:lum bright="-20000"/>
            <a:extLst>
              <a:ext uri="{28A0092B-C50C-407E-A947-70E740481C1C}">
                <a14:useLocalDpi xmlns:a14="http://schemas.microsoft.com/office/drawing/2010/main" val="0"/>
              </a:ext>
            </a:extLst>
          </a:blip>
          <a:srcRect/>
          <a:stretch>
            <a:fillRect/>
          </a:stretch>
        </p:blipFill>
        <p:spPr bwMode="auto">
          <a:xfrm>
            <a:off x="1522413" y="1354138"/>
            <a:ext cx="6418262"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grpId="0" nodeType="afterEffect">
                                  <p:stCondLst>
                                    <p:cond delay="2000"/>
                                  </p:stCondLst>
                                  <p:childTnLst>
                                    <p:set>
                                      <p:cBhvr>
                                        <p:cTn id="6" dur="1" fill="hold">
                                          <p:stCondLst>
                                            <p:cond delay="0"/>
                                          </p:stCondLst>
                                        </p:cTn>
                                        <p:tgtEl>
                                          <p:spTgt spid="78866"/>
                                        </p:tgtEl>
                                        <p:attrNameLst>
                                          <p:attrName>style.visibility</p:attrName>
                                        </p:attrNameLst>
                                      </p:cBhvr>
                                      <p:to>
                                        <p:strVal val="visible"/>
                                      </p:to>
                                    </p:set>
                                    <p:anim calcmode="lin" valueType="num">
                                      <p:cBhvr additive="base">
                                        <p:cTn id="7" dur="500" fill="hold"/>
                                        <p:tgtEl>
                                          <p:spTgt spid="78866"/>
                                        </p:tgtEl>
                                        <p:attrNameLst>
                                          <p:attrName>ppt_x</p:attrName>
                                        </p:attrNameLst>
                                      </p:cBhvr>
                                      <p:tavLst>
                                        <p:tav tm="0">
                                          <p:val>
                                            <p:strVal val="#ppt_x"/>
                                          </p:val>
                                        </p:tav>
                                        <p:tav tm="100000">
                                          <p:val>
                                            <p:strVal val="#ppt_x"/>
                                          </p:val>
                                        </p:tav>
                                      </p:tavLst>
                                    </p:anim>
                                    <p:anim calcmode="lin" valueType="num">
                                      <p:cBhvr additive="base">
                                        <p:cTn id="8" dur="500" fill="hold"/>
                                        <p:tgtEl>
                                          <p:spTgt spid="788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6"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pPr>
              <a:defRPr/>
            </a:pPr>
            <a:r>
              <a:rPr lang="fr-FR"/>
              <a:t>Commande des machines   3.MCC     Ali NEJMI</a:t>
            </a:r>
          </a:p>
        </p:txBody>
      </p:sp>
      <p:sp>
        <p:nvSpPr>
          <p:cNvPr id="114691"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D0AEE13-993F-4AA7-BF10-A35CB4CB2F3B}" type="slidenum">
              <a:rPr lang="fr-FR" altLang="fr-FR" sz="1000" smtClean="0">
                <a:solidFill>
                  <a:srgbClr val="292929"/>
                </a:solidFill>
                <a:latin typeface="Arial" panose="020B0604020202020204" pitchFamily="34" charset="0"/>
              </a:rPr>
              <a:pPr>
                <a:spcBef>
                  <a:spcPct val="0"/>
                </a:spcBef>
                <a:buClrTx/>
                <a:buSzTx/>
                <a:buFontTx/>
                <a:buNone/>
              </a:pPr>
              <a:t>61</a:t>
            </a:fld>
            <a:endParaRPr lang="fr-FR" altLang="fr-FR" sz="1000" smtClean="0">
              <a:solidFill>
                <a:srgbClr val="292929"/>
              </a:solidFill>
              <a:latin typeface="Arial" panose="020B0604020202020204" pitchFamily="34" charset="0"/>
            </a:endParaRPr>
          </a:p>
        </p:txBody>
      </p:sp>
      <p:sp>
        <p:nvSpPr>
          <p:cNvPr id="114692" name="Text Box 2"/>
          <p:cNvSpPr txBox="1">
            <a:spLocks noChangeArrowheads="1"/>
          </p:cNvSpPr>
          <p:nvPr/>
        </p:nvSpPr>
        <p:spPr bwMode="auto">
          <a:xfrm>
            <a:off x="2133600" y="2743200"/>
            <a:ext cx="5562600"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4800" b="1">
                <a:latin typeface="Arial" panose="020B0604020202020204" pitchFamily="34" charset="0"/>
              </a:rPr>
              <a:t>Freinage du moteur à courant continu</a:t>
            </a:r>
          </a:p>
        </p:txBody>
      </p:sp>
      <p:sp>
        <p:nvSpPr>
          <p:cNvPr id="114693"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5" name="Espace réservé du pied de page 4"/>
          <p:cNvSpPr>
            <a:spLocks noGrp="1"/>
          </p:cNvSpPr>
          <p:nvPr>
            <p:ph type="ftr" sz="quarter" idx="11"/>
          </p:nvPr>
        </p:nvSpPr>
        <p:spPr/>
        <p:txBody>
          <a:bodyPr/>
          <a:lstStyle/>
          <a:p>
            <a:pPr>
              <a:defRPr/>
            </a:pPr>
            <a:r>
              <a:rPr lang="fr-FR"/>
              <a:t>Commande des machines   3.MCC     Ali NEJMI</a:t>
            </a:r>
          </a:p>
        </p:txBody>
      </p:sp>
      <p:sp>
        <p:nvSpPr>
          <p:cNvPr id="116739"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37B24EE6-9115-4155-80A8-E16A7E7E20CB}" type="slidenum">
              <a:rPr lang="fr-FR" altLang="fr-FR" sz="1000" smtClean="0">
                <a:solidFill>
                  <a:srgbClr val="292929"/>
                </a:solidFill>
                <a:latin typeface="Arial" panose="020B0604020202020204" pitchFamily="34" charset="0"/>
              </a:rPr>
              <a:pPr>
                <a:spcBef>
                  <a:spcPct val="0"/>
                </a:spcBef>
                <a:buClrTx/>
                <a:buSzTx/>
                <a:buFontTx/>
                <a:buNone/>
              </a:pPr>
              <a:t>62</a:t>
            </a:fld>
            <a:endParaRPr lang="fr-FR" altLang="fr-FR" sz="1000" smtClean="0">
              <a:solidFill>
                <a:srgbClr val="292929"/>
              </a:solidFill>
              <a:latin typeface="Arial" panose="020B0604020202020204" pitchFamily="34" charset="0"/>
            </a:endParaRPr>
          </a:p>
        </p:txBody>
      </p:sp>
      <p:sp>
        <p:nvSpPr>
          <p:cNvPr id="80898" name="Text Box 2"/>
          <p:cNvSpPr txBox="1">
            <a:spLocks noChangeArrowheads="1"/>
          </p:cNvSpPr>
          <p:nvPr/>
        </p:nvSpPr>
        <p:spPr bwMode="auto">
          <a:xfrm>
            <a:off x="642938" y="1643063"/>
            <a:ext cx="7688262" cy="2308225"/>
          </a:xfrm>
          <a:prstGeom prst="rect">
            <a:avLst/>
          </a:prstGeom>
          <a:noFill/>
          <a:ln w="9525">
            <a:noFill/>
            <a:miter lim="800000"/>
            <a:headEnd/>
            <a:tailEnd/>
          </a:ln>
          <a:effectLst/>
        </p:spPr>
        <p:txBody>
          <a:bodyPr lIns="0" rIns="0">
            <a:spAutoFit/>
          </a:bodyPr>
          <a:lstStyle/>
          <a:p>
            <a:pPr algn="just" eaLnBrk="1" hangingPunct="1">
              <a:defRPr/>
            </a:pPr>
            <a:r>
              <a:rPr lang="fr-FR" dirty="0"/>
              <a:t>Dans le cas où il est nécessaire de ralentir la charge il y a plusieurs solutions pour dissiper l’énergie cinétique emmagasinée par le rotor et la charge :</a:t>
            </a:r>
          </a:p>
          <a:p>
            <a:pPr algn="just" eaLnBrk="1" hangingPunct="1">
              <a:defRPr/>
            </a:pPr>
            <a:endParaRPr lang="fr-FR" dirty="0"/>
          </a:p>
          <a:p>
            <a:pPr marL="365125" indent="449263" algn="just" eaLnBrk="1" hangingPunct="1">
              <a:buFont typeface="Courier New" pitchFamily="49" charset="0"/>
              <a:buChar char="o"/>
              <a:defRPr/>
            </a:pPr>
            <a:r>
              <a:rPr lang="fr-FR" dirty="0"/>
              <a:t>Freinage mécanique (non abordé dans ce chapitre)</a:t>
            </a:r>
          </a:p>
          <a:p>
            <a:pPr marL="365125" lvl="1" indent="449263" algn="just" eaLnBrk="1" hangingPunct="1">
              <a:buFont typeface="Courier New" pitchFamily="49" charset="0"/>
              <a:buChar char="o"/>
              <a:defRPr/>
            </a:pPr>
            <a:r>
              <a:rPr lang="fr-FR" dirty="0">
                <a:solidFill>
                  <a:srgbClr val="FF0000"/>
                </a:solidFill>
              </a:rPr>
              <a:t>Utilisation d’un module de freinage (résistance électrique) dans lequel vient débiter la MCC.</a:t>
            </a:r>
          </a:p>
          <a:p>
            <a:pPr marL="365125" indent="449263" algn="just" eaLnBrk="1" hangingPunct="1">
              <a:buFont typeface="Courier New" pitchFamily="49" charset="0"/>
              <a:buChar char="o"/>
              <a:defRPr/>
            </a:pPr>
            <a:r>
              <a:rPr lang="fr-FR" dirty="0">
                <a:solidFill>
                  <a:srgbClr val="FF0000"/>
                </a:solidFill>
              </a:rPr>
              <a:t>Renvoi de l’énergie dans la source</a:t>
            </a:r>
            <a:r>
              <a:rPr lang="fr-FR" dirty="0"/>
              <a:t>.</a:t>
            </a:r>
          </a:p>
        </p:txBody>
      </p:sp>
      <p:sp>
        <p:nvSpPr>
          <p:cNvPr id="116741"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5718" name="Rectangle 5"/>
          <p:cNvSpPr>
            <a:spLocks noChangeArrowheads="1"/>
          </p:cNvSpPr>
          <p:nvPr/>
        </p:nvSpPr>
        <p:spPr bwMode="auto">
          <a:xfrm>
            <a:off x="2289175" y="207963"/>
            <a:ext cx="3516313" cy="307975"/>
          </a:xfrm>
          <a:prstGeom prst="rect">
            <a:avLst/>
          </a:prstGeom>
          <a:noFill/>
          <a:ln w="9525">
            <a:noFill/>
            <a:miter lim="800000"/>
            <a:headEnd/>
            <a:tailEnd/>
          </a:ln>
        </p:spPr>
        <p:txBody>
          <a:bodyPr wrap="none">
            <a:spAutoFit/>
          </a:bodyPr>
          <a:lstStyle/>
          <a:p>
            <a:pPr eaLnBrk="1" hangingPunct="1">
              <a:defRPr/>
            </a:pPr>
            <a:r>
              <a:rPr lang="fr-FR" sz="1400" b="1" cap="small" dirty="0">
                <a:solidFill>
                  <a:srgbClr val="0000EC"/>
                </a:solidFill>
                <a:cs typeface="Times New Roman" pitchFamily="18" charset="0"/>
              </a:rPr>
              <a:t>Freinage du moteur à courant continu</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25" name="Espace réservé du pied de page 24"/>
          <p:cNvSpPr>
            <a:spLocks noGrp="1"/>
          </p:cNvSpPr>
          <p:nvPr>
            <p:ph type="ftr" sz="quarter" idx="11"/>
          </p:nvPr>
        </p:nvSpPr>
        <p:spPr/>
        <p:txBody>
          <a:bodyPr/>
          <a:lstStyle/>
          <a:p>
            <a:pPr>
              <a:defRPr/>
            </a:pPr>
            <a:r>
              <a:rPr lang="fr-FR"/>
              <a:t>Commande des machines   3.MCC     Ali NEJMI</a:t>
            </a:r>
          </a:p>
        </p:txBody>
      </p:sp>
      <p:sp>
        <p:nvSpPr>
          <p:cNvPr id="118787"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DD07C9C5-A4C7-44D5-9EE3-34DDFEEBD877}" type="slidenum">
              <a:rPr lang="fr-FR" altLang="fr-FR" sz="1000" smtClean="0">
                <a:solidFill>
                  <a:srgbClr val="292929"/>
                </a:solidFill>
                <a:latin typeface="Arial" panose="020B0604020202020204" pitchFamily="34" charset="0"/>
              </a:rPr>
              <a:pPr>
                <a:spcBef>
                  <a:spcPct val="0"/>
                </a:spcBef>
                <a:buClrTx/>
                <a:buSzTx/>
                <a:buFontTx/>
                <a:buNone/>
              </a:pPr>
              <a:t>63</a:t>
            </a:fld>
            <a:endParaRPr lang="fr-FR" altLang="fr-FR" sz="1000" smtClean="0">
              <a:solidFill>
                <a:srgbClr val="292929"/>
              </a:solidFill>
              <a:latin typeface="Arial" panose="020B0604020202020204" pitchFamily="34" charset="0"/>
            </a:endParaRPr>
          </a:p>
        </p:txBody>
      </p:sp>
      <p:sp>
        <p:nvSpPr>
          <p:cNvPr id="118788" name="Text Box 2"/>
          <p:cNvSpPr txBox="1">
            <a:spLocks noChangeArrowheads="1"/>
          </p:cNvSpPr>
          <p:nvPr/>
        </p:nvSpPr>
        <p:spPr bwMode="auto">
          <a:xfrm>
            <a:off x="2928938" y="642938"/>
            <a:ext cx="3176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Point de fonctionnement</a:t>
            </a:r>
          </a:p>
        </p:txBody>
      </p:sp>
      <p:grpSp>
        <p:nvGrpSpPr>
          <p:cNvPr id="118789" name="Group 3"/>
          <p:cNvGrpSpPr>
            <a:grpSpLocks/>
          </p:cNvGrpSpPr>
          <p:nvPr/>
        </p:nvGrpSpPr>
        <p:grpSpPr bwMode="auto">
          <a:xfrm>
            <a:off x="3000375" y="1357313"/>
            <a:ext cx="4132263" cy="2814637"/>
            <a:chOff x="1632" y="1635"/>
            <a:chExt cx="2603" cy="1773"/>
          </a:xfrm>
        </p:grpSpPr>
        <p:sp>
          <p:nvSpPr>
            <p:cNvPr id="118807" name="Line 4"/>
            <p:cNvSpPr>
              <a:spLocks noChangeShapeType="1"/>
            </p:cNvSpPr>
            <p:nvPr/>
          </p:nvSpPr>
          <p:spPr bwMode="auto">
            <a:xfrm flipV="1">
              <a:off x="2734" y="1740"/>
              <a:ext cx="0" cy="1668"/>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18808" name="Line 5"/>
            <p:cNvSpPr>
              <a:spLocks noChangeShapeType="1"/>
            </p:cNvSpPr>
            <p:nvPr/>
          </p:nvSpPr>
          <p:spPr bwMode="auto">
            <a:xfrm>
              <a:off x="1632" y="2574"/>
              <a:ext cx="240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18809" name="Text Box 6"/>
            <p:cNvSpPr txBox="1">
              <a:spLocks noChangeArrowheads="1"/>
            </p:cNvSpPr>
            <p:nvPr/>
          </p:nvSpPr>
          <p:spPr bwMode="auto">
            <a:xfrm>
              <a:off x="2332" y="1635"/>
              <a:ext cx="602" cy="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latin typeface="Symbol" panose="05050102010706020507" pitchFamily="18" charset="2"/>
                </a:rPr>
                <a:t>W</a:t>
              </a:r>
              <a:endParaRPr lang="fr-FR" altLang="fr-FR" sz="1600" b="1">
                <a:latin typeface="Arial" panose="020B0604020202020204" pitchFamily="34" charset="0"/>
              </a:endParaRPr>
            </a:p>
          </p:txBody>
        </p:sp>
        <p:sp>
          <p:nvSpPr>
            <p:cNvPr id="118810" name="Text Box 7"/>
            <p:cNvSpPr txBox="1">
              <a:spLocks noChangeArrowheads="1"/>
            </p:cNvSpPr>
            <p:nvPr/>
          </p:nvSpPr>
          <p:spPr bwMode="auto">
            <a:xfrm>
              <a:off x="3735" y="2261"/>
              <a:ext cx="500" cy="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latin typeface="Arial" panose="020B0604020202020204" pitchFamily="34" charset="0"/>
                </a:rPr>
                <a:t>C</a:t>
              </a:r>
              <a:endParaRPr lang="fr-FR" altLang="fr-FR" sz="1600" b="1">
                <a:latin typeface="Symbol" panose="05050102010706020507" pitchFamily="18" charset="2"/>
              </a:endParaRPr>
            </a:p>
          </p:txBody>
        </p:sp>
      </p:grpSp>
      <p:grpSp>
        <p:nvGrpSpPr>
          <p:cNvPr id="118790" name="Group 8"/>
          <p:cNvGrpSpPr>
            <a:grpSpLocks/>
          </p:cNvGrpSpPr>
          <p:nvPr/>
        </p:nvGrpSpPr>
        <p:grpSpPr bwMode="auto">
          <a:xfrm>
            <a:off x="3076575" y="1662113"/>
            <a:ext cx="3422650" cy="2244725"/>
            <a:chOff x="2016" y="1200"/>
            <a:chExt cx="2156" cy="1414"/>
          </a:xfrm>
        </p:grpSpPr>
        <p:sp>
          <p:nvSpPr>
            <p:cNvPr id="118803" name="Oval 9"/>
            <p:cNvSpPr>
              <a:spLocks noChangeArrowheads="1"/>
            </p:cNvSpPr>
            <p:nvPr/>
          </p:nvSpPr>
          <p:spPr bwMode="auto">
            <a:xfrm>
              <a:off x="3168" y="1632"/>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1</a:t>
              </a:r>
            </a:p>
          </p:txBody>
        </p:sp>
        <p:sp>
          <p:nvSpPr>
            <p:cNvPr id="118804" name="Oval 10"/>
            <p:cNvSpPr>
              <a:spLocks noChangeArrowheads="1"/>
            </p:cNvSpPr>
            <p:nvPr/>
          </p:nvSpPr>
          <p:spPr bwMode="auto">
            <a:xfrm>
              <a:off x="2736" y="2016"/>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3</a:t>
              </a:r>
            </a:p>
          </p:txBody>
        </p:sp>
        <p:sp>
          <p:nvSpPr>
            <p:cNvPr id="118805" name="Text Box 11"/>
            <p:cNvSpPr txBox="1">
              <a:spLocks noChangeArrowheads="1"/>
            </p:cNvSpPr>
            <p:nvPr/>
          </p:nvSpPr>
          <p:spPr bwMode="auto">
            <a:xfrm>
              <a:off x="3552" y="1200"/>
              <a:ext cx="620"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rgbClr val="FF6600"/>
                  </a:solidFill>
                  <a:latin typeface="Arial" panose="020B0604020202020204" pitchFamily="34" charset="0"/>
                </a:rPr>
                <a:t>moteur</a:t>
              </a:r>
            </a:p>
          </p:txBody>
        </p:sp>
        <p:sp>
          <p:nvSpPr>
            <p:cNvPr id="118806" name="Text Box 12"/>
            <p:cNvSpPr txBox="1">
              <a:spLocks noChangeArrowheads="1"/>
            </p:cNvSpPr>
            <p:nvPr/>
          </p:nvSpPr>
          <p:spPr bwMode="auto">
            <a:xfrm>
              <a:off x="2016" y="2352"/>
              <a:ext cx="621"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rgbClr val="FF6600"/>
                  </a:solidFill>
                  <a:latin typeface="Arial" panose="020B0604020202020204" pitchFamily="34" charset="0"/>
                </a:rPr>
                <a:t>moteur</a:t>
              </a:r>
            </a:p>
          </p:txBody>
        </p:sp>
      </p:grpSp>
      <p:grpSp>
        <p:nvGrpSpPr>
          <p:cNvPr id="118791" name="Group 13"/>
          <p:cNvGrpSpPr>
            <a:grpSpLocks/>
          </p:cNvGrpSpPr>
          <p:nvPr/>
        </p:nvGrpSpPr>
        <p:grpSpPr bwMode="auto">
          <a:xfrm>
            <a:off x="3076575" y="1814513"/>
            <a:ext cx="3592513" cy="2016125"/>
            <a:chOff x="2016" y="1293"/>
            <a:chExt cx="2263" cy="1270"/>
          </a:xfrm>
        </p:grpSpPr>
        <p:sp>
          <p:nvSpPr>
            <p:cNvPr id="118799" name="Oval 14"/>
            <p:cNvSpPr>
              <a:spLocks noChangeArrowheads="1"/>
            </p:cNvSpPr>
            <p:nvPr/>
          </p:nvSpPr>
          <p:spPr bwMode="auto">
            <a:xfrm>
              <a:off x="2736" y="1629"/>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2</a:t>
              </a:r>
            </a:p>
          </p:txBody>
        </p:sp>
        <p:sp>
          <p:nvSpPr>
            <p:cNvPr id="118800" name="Oval 15"/>
            <p:cNvSpPr>
              <a:spLocks noChangeArrowheads="1"/>
            </p:cNvSpPr>
            <p:nvPr/>
          </p:nvSpPr>
          <p:spPr bwMode="auto">
            <a:xfrm>
              <a:off x="3168" y="2013"/>
              <a:ext cx="240" cy="24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4</a:t>
              </a:r>
            </a:p>
          </p:txBody>
        </p:sp>
        <p:sp>
          <p:nvSpPr>
            <p:cNvPr id="118801" name="Text Box 16"/>
            <p:cNvSpPr txBox="1">
              <a:spLocks noChangeArrowheads="1"/>
            </p:cNvSpPr>
            <p:nvPr/>
          </p:nvSpPr>
          <p:spPr bwMode="auto">
            <a:xfrm>
              <a:off x="3408" y="2301"/>
              <a:ext cx="871"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chemeClr val="accent2"/>
                  </a:solidFill>
                  <a:latin typeface="Arial" panose="020B0604020202020204" pitchFamily="34" charset="0"/>
                </a:rPr>
                <a:t>générateur</a:t>
              </a:r>
            </a:p>
          </p:txBody>
        </p:sp>
        <p:sp>
          <p:nvSpPr>
            <p:cNvPr id="118802" name="Text Box 17"/>
            <p:cNvSpPr txBox="1">
              <a:spLocks noChangeArrowheads="1"/>
            </p:cNvSpPr>
            <p:nvPr/>
          </p:nvSpPr>
          <p:spPr bwMode="auto">
            <a:xfrm>
              <a:off x="2016" y="1293"/>
              <a:ext cx="934" cy="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b="1">
                  <a:solidFill>
                    <a:schemeClr val="accent2"/>
                  </a:solidFill>
                  <a:latin typeface="Arial" panose="020B0604020202020204" pitchFamily="34" charset="0"/>
                </a:rPr>
                <a:t>générateur</a:t>
              </a:r>
            </a:p>
          </p:txBody>
        </p:sp>
      </p:grpSp>
      <p:sp>
        <p:nvSpPr>
          <p:cNvPr id="81938" name="Text Box 18"/>
          <p:cNvSpPr txBox="1">
            <a:spLocks noChangeArrowheads="1"/>
          </p:cNvSpPr>
          <p:nvPr/>
        </p:nvSpPr>
        <p:spPr bwMode="auto">
          <a:xfrm>
            <a:off x="928688" y="5286375"/>
            <a:ext cx="79644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Passage du quadrant 1 vers 4 lors d’une inversion de vitesse.</a:t>
            </a:r>
          </a:p>
          <a:p>
            <a:pPr eaLnBrk="1" hangingPunct="1">
              <a:spcBef>
                <a:spcPct val="0"/>
              </a:spcBef>
              <a:buClrTx/>
              <a:buSzTx/>
              <a:buFontTx/>
              <a:buNone/>
            </a:pPr>
            <a:r>
              <a:rPr lang="fr-FR" altLang="fr-FR" sz="2000">
                <a:latin typeface="Arial" panose="020B0604020202020204" pitchFamily="34" charset="0"/>
              </a:rPr>
              <a:t>(Le couple ne peut pas varier instantanément)</a:t>
            </a:r>
          </a:p>
        </p:txBody>
      </p:sp>
      <p:sp>
        <p:nvSpPr>
          <p:cNvPr id="81939" name="Line 19"/>
          <p:cNvSpPr>
            <a:spLocks noChangeShapeType="1"/>
          </p:cNvSpPr>
          <p:nvPr/>
        </p:nvSpPr>
        <p:spPr bwMode="auto">
          <a:xfrm flipH="1">
            <a:off x="3609975" y="2271713"/>
            <a:ext cx="1981200" cy="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fr-FR"/>
          </a:p>
        </p:txBody>
      </p:sp>
      <p:sp>
        <p:nvSpPr>
          <p:cNvPr id="81940" name="Line 20"/>
          <p:cNvSpPr>
            <a:spLocks noChangeShapeType="1"/>
          </p:cNvSpPr>
          <p:nvPr/>
        </p:nvSpPr>
        <p:spPr bwMode="auto">
          <a:xfrm>
            <a:off x="5667375" y="2271713"/>
            <a:ext cx="0" cy="1143000"/>
          </a:xfrm>
          <a:prstGeom prst="line">
            <a:avLst/>
          </a:prstGeom>
          <a:noFill/>
          <a:ln w="762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fr-FR"/>
          </a:p>
        </p:txBody>
      </p:sp>
      <p:sp>
        <p:nvSpPr>
          <p:cNvPr id="81943" name="Text Box 23"/>
          <p:cNvSpPr txBox="1">
            <a:spLocks noChangeArrowheads="1"/>
          </p:cNvSpPr>
          <p:nvPr/>
        </p:nvSpPr>
        <p:spPr bwMode="auto">
          <a:xfrm>
            <a:off x="2928938" y="4572000"/>
            <a:ext cx="33639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2 cas peuvent se présenter</a:t>
            </a:r>
          </a:p>
        </p:txBody>
      </p:sp>
      <p:sp>
        <p:nvSpPr>
          <p:cNvPr id="81944" name="Rectangle 24"/>
          <p:cNvSpPr>
            <a:spLocks noChangeArrowheads="1"/>
          </p:cNvSpPr>
          <p:nvPr/>
        </p:nvSpPr>
        <p:spPr bwMode="auto">
          <a:xfrm>
            <a:off x="857250" y="4329113"/>
            <a:ext cx="7296150" cy="676275"/>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Passage du quadrant 1 vers 2 sur une variation de couple brutale</a:t>
            </a:r>
          </a:p>
          <a:p>
            <a:pPr eaLnBrk="1" hangingPunct="1">
              <a:spcBef>
                <a:spcPct val="0"/>
              </a:spcBef>
              <a:buClrTx/>
              <a:buSzTx/>
              <a:buFontTx/>
              <a:buNone/>
            </a:pPr>
            <a:r>
              <a:rPr lang="fr-FR" altLang="fr-FR" sz="2000">
                <a:latin typeface="Arial" panose="020B0604020202020204" pitchFamily="34" charset="0"/>
              </a:rPr>
              <a:t>(la vitesse ne peut pas varier instantanément.) </a:t>
            </a:r>
          </a:p>
        </p:txBody>
      </p:sp>
      <p:sp>
        <p:nvSpPr>
          <p:cNvPr id="118797"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6750" name="Rectangle 25"/>
          <p:cNvSpPr>
            <a:spLocks noChangeArrowheads="1"/>
          </p:cNvSpPr>
          <p:nvPr/>
        </p:nvSpPr>
        <p:spPr bwMode="auto">
          <a:xfrm>
            <a:off x="2289175" y="207963"/>
            <a:ext cx="3516313" cy="307975"/>
          </a:xfrm>
          <a:prstGeom prst="rect">
            <a:avLst/>
          </a:prstGeom>
          <a:noFill/>
          <a:ln w="9525">
            <a:noFill/>
            <a:miter lim="800000"/>
            <a:headEnd/>
            <a:tailEnd/>
          </a:ln>
        </p:spPr>
        <p:txBody>
          <a:bodyPr wrap="none">
            <a:spAutoFit/>
          </a:bodyPr>
          <a:lstStyle/>
          <a:p>
            <a:pPr eaLnBrk="1" hangingPunct="1">
              <a:defRPr/>
            </a:pPr>
            <a:r>
              <a:rPr lang="fr-FR" sz="1400" b="1" cap="small" dirty="0">
                <a:solidFill>
                  <a:srgbClr val="0000EC"/>
                </a:solidFill>
                <a:cs typeface="Times New Roman" pitchFamily="18" charset="0"/>
              </a:rPr>
              <a:t>Freinage du moteur à courant continu</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1943"/>
                                        </p:tgtEl>
                                        <p:attrNameLst>
                                          <p:attrName>style.visibility</p:attrName>
                                        </p:attrNameLst>
                                      </p:cBhvr>
                                      <p:to>
                                        <p:strVal val="visible"/>
                                      </p:to>
                                    </p:set>
                                    <p:anim calcmode="lin" valueType="num">
                                      <p:cBhvr additive="base">
                                        <p:cTn id="7" dur="500" fill="hold"/>
                                        <p:tgtEl>
                                          <p:spTgt spid="81943"/>
                                        </p:tgtEl>
                                        <p:attrNameLst>
                                          <p:attrName>ppt_x</p:attrName>
                                        </p:attrNameLst>
                                      </p:cBhvr>
                                      <p:tavLst>
                                        <p:tav tm="0">
                                          <p:val>
                                            <p:strVal val="#ppt_x"/>
                                          </p:val>
                                        </p:tav>
                                        <p:tav tm="100000">
                                          <p:val>
                                            <p:strVal val="#ppt_x"/>
                                          </p:val>
                                        </p:tav>
                                      </p:tavLst>
                                    </p:anim>
                                    <p:anim calcmode="lin" valueType="num">
                                      <p:cBhvr additive="base">
                                        <p:cTn id="8" dur="500" fill="hold"/>
                                        <p:tgtEl>
                                          <p:spTgt spid="8194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81944"/>
                                        </p:tgtEl>
                                        <p:attrNameLst>
                                          <p:attrName>style.visibility</p:attrName>
                                        </p:attrNameLst>
                                      </p:cBhvr>
                                      <p:to>
                                        <p:strVal val="visible"/>
                                      </p:to>
                                    </p:set>
                                    <p:anim calcmode="lin" valueType="num">
                                      <p:cBhvr>
                                        <p:cTn id="13" dur="500" fill="hold"/>
                                        <p:tgtEl>
                                          <p:spTgt spid="81944"/>
                                        </p:tgtEl>
                                        <p:attrNameLst>
                                          <p:attrName>ppt_w</p:attrName>
                                        </p:attrNameLst>
                                      </p:cBhvr>
                                      <p:tavLst>
                                        <p:tav tm="0">
                                          <p:val>
                                            <p:fltVal val="0"/>
                                          </p:val>
                                        </p:tav>
                                        <p:tav tm="100000">
                                          <p:val>
                                            <p:strVal val="#ppt_w"/>
                                          </p:val>
                                        </p:tav>
                                      </p:tavLst>
                                    </p:anim>
                                    <p:anim calcmode="lin" valueType="num">
                                      <p:cBhvr>
                                        <p:cTn id="14" dur="500" fill="hold"/>
                                        <p:tgtEl>
                                          <p:spTgt spid="81944"/>
                                        </p:tgtEl>
                                        <p:attrNameLst>
                                          <p:attrName>ppt_h</p:attrName>
                                        </p:attrNameLst>
                                      </p:cBhvr>
                                      <p:tavLst>
                                        <p:tav tm="0">
                                          <p:val>
                                            <p:strVal val="#ppt_h"/>
                                          </p:val>
                                        </p:tav>
                                        <p:tav tm="100000">
                                          <p:val>
                                            <p:strVal val="#ppt_h"/>
                                          </p:val>
                                        </p:tav>
                                      </p:tavLst>
                                    </p:anim>
                                  </p:childTnLst>
                                </p:cTn>
                              </p:par>
                            </p:childTnLst>
                          </p:cTn>
                        </p:par>
                        <p:par>
                          <p:cTn id="15" fill="hold" nodeType="afterGroup">
                            <p:stCondLst>
                              <p:cond delay="500"/>
                            </p:stCondLst>
                            <p:childTnLst>
                              <p:par>
                                <p:cTn id="16" presetID="2" presetClass="entr" presetSubtype="2" fill="hold" grpId="0" nodeType="afterEffect">
                                  <p:stCondLst>
                                    <p:cond delay="1000"/>
                                  </p:stCondLst>
                                  <p:childTnLst>
                                    <p:set>
                                      <p:cBhvr>
                                        <p:cTn id="17" dur="1" fill="hold">
                                          <p:stCondLst>
                                            <p:cond delay="0"/>
                                          </p:stCondLst>
                                        </p:cTn>
                                        <p:tgtEl>
                                          <p:spTgt spid="81939"/>
                                        </p:tgtEl>
                                        <p:attrNameLst>
                                          <p:attrName>style.visibility</p:attrName>
                                        </p:attrNameLst>
                                      </p:cBhvr>
                                      <p:to>
                                        <p:strVal val="visible"/>
                                      </p:to>
                                    </p:set>
                                    <p:anim calcmode="lin" valueType="num">
                                      <p:cBhvr additive="base">
                                        <p:cTn id="18" dur="500" fill="hold"/>
                                        <p:tgtEl>
                                          <p:spTgt spid="81939"/>
                                        </p:tgtEl>
                                        <p:attrNameLst>
                                          <p:attrName>ppt_x</p:attrName>
                                        </p:attrNameLst>
                                      </p:cBhvr>
                                      <p:tavLst>
                                        <p:tav tm="0">
                                          <p:val>
                                            <p:strVal val="1+#ppt_w/2"/>
                                          </p:val>
                                        </p:tav>
                                        <p:tav tm="100000">
                                          <p:val>
                                            <p:strVal val="#ppt_x"/>
                                          </p:val>
                                        </p:tav>
                                      </p:tavLst>
                                    </p:anim>
                                    <p:anim calcmode="lin" valueType="num">
                                      <p:cBhvr additive="base">
                                        <p:cTn id="19" dur="500" fill="hold"/>
                                        <p:tgtEl>
                                          <p:spTgt spid="81939"/>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81938"/>
                                        </p:tgtEl>
                                        <p:attrNameLst>
                                          <p:attrName>style.visibility</p:attrName>
                                        </p:attrNameLst>
                                      </p:cBhvr>
                                      <p:to>
                                        <p:strVal val="visible"/>
                                      </p:to>
                                    </p:set>
                                    <p:anim calcmode="lin" valueType="num">
                                      <p:cBhvr>
                                        <p:cTn id="24" dur="500" fill="hold"/>
                                        <p:tgtEl>
                                          <p:spTgt spid="81938"/>
                                        </p:tgtEl>
                                        <p:attrNameLst>
                                          <p:attrName>ppt_w</p:attrName>
                                        </p:attrNameLst>
                                      </p:cBhvr>
                                      <p:tavLst>
                                        <p:tav tm="0">
                                          <p:val>
                                            <p:fltVal val="0"/>
                                          </p:val>
                                        </p:tav>
                                        <p:tav tm="100000">
                                          <p:val>
                                            <p:strVal val="#ppt_w"/>
                                          </p:val>
                                        </p:tav>
                                      </p:tavLst>
                                    </p:anim>
                                    <p:anim calcmode="lin" valueType="num">
                                      <p:cBhvr>
                                        <p:cTn id="25" dur="500" fill="hold"/>
                                        <p:tgtEl>
                                          <p:spTgt spid="81938"/>
                                        </p:tgtEl>
                                        <p:attrNameLst>
                                          <p:attrName>ppt_h</p:attrName>
                                        </p:attrNameLst>
                                      </p:cBhvr>
                                      <p:tavLst>
                                        <p:tav tm="0">
                                          <p:val>
                                            <p:strVal val="#ppt_h"/>
                                          </p:val>
                                        </p:tav>
                                        <p:tav tm="100000">
                                          <p:val>
                                            <p:strVal val="#ppt_h"/>
                                          </p:val>
                                        </p:tav>
                                      </p:tavLst>
                                    </p:anim>
                                  </p:childTnLst>
                                </p:cTn>
                              </p:par>
                            </p:childTnLst>
                          </p:cTn>
                        </p:par>
                        <p:par>
                          <p:cTn id="26" fill="hold" nodeType="afterGroup">
                            <p:stCondLst>
                              <p:cond delay="500"/>
                            </p:stCondLst>
                            <p:childTnLst>
                              <p:par>
                                <p:cTn id="27" presetID="2" presetClass="entr" presetSubtype="1" fill="hold" grpId="0" nodeType="afterEffect">
                                  <p:stCondLst>
                                    <p:cond delay="1000"/>
                                  </p:stCondLst>
                                  <p:childTnLst>
                                    <p:set>
                                      <p:cBhvr>
                                        <p:cTn id="28" dur="1" fill="hold">
                                          <p:stCondLst>
                                            <p:cond delay="0"/>
                                          </p:stCondLst>
                                        </p:cTn>
                                        <p:tgtEl>
                                          <p:spTgt spid="81940"/>
                                        </p:tgtEl>
                                        <p:attrNameLst>
                                          <p:attrName>style.visibility</p:attrName>
                                        </p:attrNameLst>
                                      </p:cBhvr>
                                      <p:to>
                                        <p:strVal val="visible"/>
                                      </p:to>
                                    </p:set>
                                    <p:anim calcmode="lin" valueType="num">
                                      <p:cBhvr additive="base">
                                        <p:cTn id="29" dur="500" fill="hold"/>
                                        <p:tgtEl>
                                          <p:spTgt spid="81940"/>
                                        </p:tgtEl>
                                        <p:attrNameLst>
                                          <p:attrName>ppt_x</p:attrName>
                                        </p:attrNameLst>
                                      </p:cBhvr>
                                      <p:tavLst>
                                        <p:tav tm="0">
                                          <p:val>
                                            <p:strVal val="#ppt_x"/>
                                          </p:val>
                                        </p:tav>
                                        <p:tav tm="100000">
                                          <p:val>
                                            <p:strVal val="#ppt_x"/>
                                          </p:val>
                                        </p:tav>
                                      </p:tavLst>
                                    </p:anim>
                                    <p:anim calcmode="lin" valueType="num">
                                      <p:cBhvr additive="base">
                                        <p:cTn id="30" dur="500" fill="hold"/>
                                        <p:tgtEl>
                                          <p:spTgt spid="8194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38" grpId="0"/>
      <p:bldP spid="81939" grpId="0" animBg="1"/>
      <p:bldP spid="81940" grpId="0" animBg="1"/>
      <p:bldP spid="81943" grpId="0" autoUpdateAnimBg="0"/>
      <p:bldP spid="8194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55" name="Espace réservé du pied de page 54"/>
          <p:cNvSpPr>
            <a:spLocks noGrp="1"/>
          </p:cNvSpPr>
          <p:nvPr>
            <p:ph type="ftr" sz="quarter" idx="11"/>
          </p:nvPr>
        </p:nvSpPr>
        <p:spPr/>
        <p:txBody>
          <a:bodyPr/>
          <a:lstStyle/>
          <a:p>
            <a:pPr>
              <a:defRPr/>
            </a:pPr>
            <a:r>
              <a:rPr lang="fr-FR"/>
              <a:t>Commande des machines   3.MCC     Ali NEJMI</a:t>
            </a:r>
          </a:p>
        </p:txBody>
      </p:sp>
      <p:sp>
        <p:nvSpPr>
          <p:cNvPr id="120835"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C97C2FC-DE3A-460B-B94A-C10776D0AB0A}" type="slidenum">
              <a:rPr lang="fr-FR" altLang="fr-FR" sz="1000" smtClean="0">
                <a:solidFill>
                  <a:srgbClr val="292929"/>
                </a:solidFill>
                <a:latin typeface="Arial" panose="020B0604020202020204" pitchFamily="34" charset="0"/>
              </a:rPr>
              <a:pPr>
                <a:spcBef>
                  <a:spcPct val="0"/>
                </a:spcBef>
                <a:buClrTx/>
                <a:buSzTx/>
                <a:buFontTx/>
                <a:buNone/>
              </a:pPr>
              <a:t>64</a:t>
            </a:fld>
            <a:endParaRPr lang="fr-FR" altLang="fr-FR" sz="1000" smtClean="0">
              <a:solidFill>
                <a:srgbClr val="292929"/>
              </a:solidFill>
              <a:latin typeface="Arial" panose="020B0604020202020204" pitchFamily="34" charset="0"/>
            </a:endParaRPr>
          </a:p>
        </p:txBody>
      </p:sp>
      <p:grpSp>
        <p:nvGrpSpPr>
          <p:cNvPr id="120836" name="Group 2"/>
          <p:cNvGrpSpPr>
            <a:grpSpLocks/>
          </p:cNvGrpSpPr>
          <p:nvPr/>
        </p:nvGrpSpPr>
        <p:grpSpPr bwMode="auto">
          <a:xfrm>
            <a:off x="2286000" y="1163638"/>
            <a:ext cx="4114800" cy="1819275"/>
            <a:chOff x="1440" y="1440"/>
            <a:chExt cx="2592" cy="1146"/>
          </a:xfrm>
        </p:grpSpPr>
        <p:sp>
          <p:nvSpPr>
            <p:cNvPr id="120852" name="Text Box 3"/>
            <p:cNvSpPr txBox="1">
              <a:spLocks noChangeArrowheads="1"/>
            </p:cNvSpPr>
            <p:nvPr/>
          </p:nvSpPr>
          <p:spPr bwMode="auto">
            <a:xfrm>
              <a:off x="1440" y="1872"/>
              <a:ext cx="72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Réseau</a:t>
              </a:r>
            </a:p>
          </p:txBody>
        </p:sp>
        <p:sp>
          <p:nvSpPr>
            <p:cNvPr id="120853" name="Line 4"/>
            <p:cNvSpPr>
              <a:spLocks noChangeShapeType="1"/>
            </p:cNvSpPr>
            <p:nvPr/>
          </p:nvSpPr>
          <p:spPr bwMode="auto">
            <a:xfrm>
              <a:off x="3681" y="1488"/>
              <a:ext cx="0" cy="10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54" name="Line 5"/>
            <p:cNvSpPr>
              <a:spLocks noChangeShapeType="1"/>
            </p:cNvSpPr>
            <p:nvPr/>
          </p:nvSpPr>
          <p:spPr bwMode="auto">
            <a:xfrm>
              <a:off x="2206" y="1488"/>
              <a:ext cx="0" cy="10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55" name="Line 6"/>
            <p:cNvSpPr>
              <a:spLocks noChangeShapeType="1"/>
            </p:cNvSpPr>
            <p:nvPr/>
          </p:nvSpPr>
          <p:spPr bwMode="auto">
            <a:xfrm>
              <a:off x="2065" y="1644"/>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56" name="Line 7"/>
            <p:cNvSpPr>
              <a:spLocks noChangeShapeType="1"/>
            </p:cNvSpPr>
            <p:nvPr/>
          </p:nvSpPr>
          <p:spPr bwMode="auto">
            <a:xfrm flipH="1">
              <a:off x="2065" y="1644"/>
              <a:ext cx="141"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57" name="Line 8"/>
            <p:cNvSpPr>
              <a:spLocks noChangeShapeType="1"/>
            </p:cNvSpPr>
            <p:nvPr/>
          </p:nvSpPr>
          <p:spPr bwMode="auto">
            <a:xfrm>
              <a:off x="2206" y="1644"/>
              <a:ext cx="14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58" name="Line 9"/>
            <p:cNvSpPr>
              <a:spLocks noChangeShapeType="1"/>
            </p:cNvSpPr>
            <p:nvPr/>
          </p:nvSpPr>
          <p:spPr bwMode="auto">
            <a:xfrm>
              <a:off x="2065" y="1801"/>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59" name="Line 10"/>
            <p:cNvSpPr>
              <a:spLocks noChangeShapeType="1"/>
            </p:cNvSpPr>
            <p:nvPr/>
          </p:nvSpPr>
          <p:spPr bwMode="auto">
            <a:xfrm>
              <a:off x="2065" y="2191"/>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0" name="Line 11"/>
            <p:cNvSpPr>
              <a:spLocks noChangeShapeType="1"/>
            </p:cNvSpPr>
            <p:nvPr/>
          </p:nvSpPr>
          <p:spPr bwMode="auto">
            <a:xfrm flipH="1">
              <a:off x="2065" y="2191"/>
              <a:ext cx="141"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1" name="Line 12"/>
            <p:cNvSpPr>
              <a:spLocks noChangeShapeType="1"/>
            </p:cNvSpPr>
            <p:nvPr/>
          </p:nvSpPr>
          <p:spPr bwMode="auto">
            <a:xfrm>
              <a:off x="2206" y="2191"/>
              <a:ext cx="14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2" name="Line 13"/>
            <p:cNvSpPr>
              <a:spLocks noChangeShapeType="1"/>
            </p:cNvSpPr>
            <p:nvPr/>
          </p:nvSpPr>
          <p:spPr bwMode="auto">
            <a:xfrm>
              <a:off x="2065" y="2348"/>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3" name="Line 14"/>
            <p:cNvSpPr>
              <a:spLocks noChangeShapeType="1"/>
            </p:cNvSpPr>
            <p:nvPr/>
          </p:nvSpPr>
          <p:spPr bwMode="auto">
            <a:xfrm>
              <a:off x="2697" y="1488"/>
              <a:ext cx="0" cy="10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4" name="Line 15"/>
            <p:cNvSpPr>
              <a:spLocks noChangeShapeType="1"/>
            </p:cNvSpPr>
            <p:nvPr/>
          </p:nvSpPr>
          <p:spPr bwMode="auto">
            <a:xfrm>
              <a:off x="2557" y="1644"/>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5" name="Line 16"/>
            <p:cNvSpPr>
              <a:spLocks noChangeShapeType="1"/>
            </p:cNvSpPr>
            <p:nvPr/>
          </p:nvSpPr>
          <p:spPr bwMode="auto">
            <a:xfrm flipH="1">
              <a:off x="2557" y="1644"/>
              <a:ext cx="14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6" name="Line 17"/>
            <p:cNvSpPr>
              <a:spLocks noChangeShapeType="1"/>
            </p:cNvSpPr>
            <p:nvPr/>
          </p:nvSpPr>
          <p:spPr bwMode="auto">
            <a:xfrm>
              <a:off x="2697" y="1644"/>
              <a:ext cx="141"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7" name="Line 18"/>
            <p:cNvSpPr>
              <a:spLocks noChangeShapeType="1"/>
            </p:cNvSpPr>
            <p:nvPr/>
          </p:nvSpPr>
          <p:spPr bwMode="auto">
            <a:xfrm>
              <a:off x="2557" y="1801"/>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8" name="Line 19"/>
            <p:cNvSpPr>
              <a:spLocks noChangeShapeType="1"/>
            </p:cNvSpPr>
            <p:nvPr/>
          </p:nvSpPr>
          <p:spPr bwMode="auto">
            <a:xfrm>
              <a:off x="2557" y="2191"/>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69" name="Line 20"/>
            <p:cNvSpPr>
              <a:spLocks noChangeShapeType="1"/>
            </p:cNvSpPr>
            <p:nvPr/>
          </p:nvSpPr>
          <p:spPr bwMode="auto">
            <a:xfrm flipH="1">
              <a:off x="2557" y="2191"/>
              <a:ext cx="14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70" name="Line 21"/>
            <p:cNvSpPr>
              <a:spLocks noChangeShapeType="1"/>
            </p:cNvSpPr>
            <p:nvPr/>
          </p:nvSpPr>
          <p:spPr bwMode="auto">
            <a:xfrm>
              <a:off x="2697" y="2191"/>
              <a:ext cx="141"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71" name="Line 22"/>
            <p:cNvSpPr>
              <a:spLocks noChangeShapeType="1"/>
            </p:cNvSpPr>
            <p:nvPr/>
          </p:nvSpPr>
          <p:spPr bwMode="auto">
            <a:xfrm>
              <a:off x="2557" y="2348"/>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72" name="Line 23"/>
            <p:cNvSpPr>
              <a:spLocks noChangeShapeType="1"/>
            </p:cNvSpPr>
            <p:nvPr/>
          </p:nvSpPr>
          <p:spPr bwMode="auto">
            <a:xfrm flipH="1">
              <a:off x="1714" y="1879"/>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73" name="Line 24"/>
            <p:cNvSpPr>
              <a:spLocks noChangeShapeType="1"/>
            </p:cNvSpPr>
            <p:nvPr/>
          </p:nvSpPr>
          <p:spPr bwMode="auto">
            <a:xfrm flipH="1">
              <a:off x="1714" y="2113"/>
              <a:ext cx="9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74" name="Line 25"/>
            <p:cNvSpPr>
              <a:spLocks noChangeShapeType="1"/>
            </p:cNvSpPr>
            <p:nvPr/>
          </p:nvSpPr>
          <p:spPr bwMode="auto">
            <a:xfrm>
              <a:off x="2206" y="1488"/>
              <a:ext cx="14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75" name="Line 26"/>
            <p:cNvSpPr>
              <a:spLocks noChangeShapeType="1"/>
            </p:cNvSpPr>
            <p:nvPr/>
          </p:nvSpPr>
          <p:spPr bwMode="auto">
            <a:xfrm>
              <a:off x="2206" y="2582"/>
              <a:ext cx="14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76" name="Line 27"/>
            <p:cNvSpPr>
              <a:spLocks noChangeShapeType="1"/>
            </p:cNvSpPr>
            <p:nvPr/>
          </p:nvSpPr>
          <p:spPr bwMode="auto">
            <a:xfrm flipH="1">
              <a:off x="1995" y="1722"/>
              <a:ext cx="1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77" name="Line 28"/>
            <p:cNvSpPr>
              <a:spLocks noChangeShapeType="1"/>
            </p:cNvSpPr>
            <p:nvPr/>
          </p:nvSpPr>
          <p:spPr bwMode="auto">
            <a:xfrm flipH="1">
              <a:off x="2487" y="1722"/>
              <a:ext cx="1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78" name="Oval 29"/>
            <p:cNvSpPr>
              <a:spLocks noChangeArrowheads="1"/>
            </p:cNvSpPr>
            <p:nvPr/>
          </p:nvSpPr>
          <p:spPr bwMode="auto">
            <a:xfrm>
              <a:off x="3470" y="1801"/>
              <a:ext cx="422" cy="468"/>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20879" name="Text Box 30"/>
            <p:cNvSpPr txBox="1">
              <a:spLocks noChangeArrowheads="1"/>
            </p:cNvSpPr>
            <p:nvPr/>
          </p:nvSpPr>
          <p:spPr bwMode="auto">
            <a:xfrm>
              <a:off x="3490" y="1960"/>
              <a:ext cx="542"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MCC</a:t>
              </a:r>
            </a:p>
            <a:p>
              <a:pPr eaLnBrk="1" hangingPunct="1">
                <a:spcBef>
                  <a:spcPct val="0"/>
                </a:spcBef>
                <a:buClrTx/>
                <a:buSzTx/>
                <a:buFontTx/>
                <a:buNone/>
              </a:pPr>
              <a:endParaRPr lang="fr-FR" altLang="fr-FR" sz="1600">
                <a:latin typeface="Arial" panose="020B0604020202020204" pitchFamily="34" charset="0"/>
              </a:endParaRPr>
            </a:p>
          </p:txBody>
        </p:sp>
        <p:sp>
          <p:nvSpPr>
            <p:cNvPr id="120880" name="Line 31"/>
            <p:cNvSpPr>
              <a:spLocks noChangeShapeType="1"/>
            </p:cNvSpPr>
            <p:nvPr/>
          </p:nvSpPr>
          <p:spPr bwMode="auto">
            <a:xfrm>
              <a:off x="3049" y="1957"/>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81" name="Line 32"/>
            <p:cNvSpPr>
              <a:spLocks noChangeShapeType="1"/>
            </p:cNvSpPr>
            <p:nvPr/>
          </p:nvSpPr>
          <p:spPr bwMode="auto">
            <a:xfrm flipH="1">
              <a:off x="3049" y="1957"/>
              <a:ext cx="14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82" name="Line 33"/>
            <p:cNvSpPr>
              <a:spLocks noChangeShapeType="1"/>
            </p:cNvSpPr>
            <p:nvPr/>
          </p:nvSpPr>
          <p:spPr bwMode="auto">
            <a:xfrm>
              <a:off x="3189" y="1957"/>
              <a:ext cx="141"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83" name="Line 34"/>
            <p:cNvSpPr>
              <a:spLocks noChangeShapeType="1"/>
            </p:cNvSpPr>
            <p:nvPr/>
          </p:nvSpPr>
          <p:spPr bwMode="auto">
            <a:xfrm>
              <a:off x="3049" y="2113"/>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84" name="Line 35"/>
            <p:cNvSpPr>
              <a:spLocks noChangeShapeType="1"/>
            </p:cNvSpPr>
            <p:nvPr/>
          </p:nvSpPr>
          <p:spPr bwMode="auto">
            <a:xfrm>
              <a:off x="3189" y="1488"/>
              <a:ext cx="0" cy="10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85" name="Text Box 36"/>
            <p:cNvSpPr txBox="1">
              <a:spLocks noChangeArrowheads="1"/>
            </p:cNvSpPr>
            <p:nvPr/>
          </p:nvSpPr>
          <p:spPr bwMode="auto">
            <a:xfrm>
              <a:off x="3168" y="2160"/>
              <a:ext cx="5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DRL</a:t>
              </a:r>
            </a:p>
          </p:txBody>
        </p:sp>
        <p:sp>
          <p:nvSpPr>
            <p:cNvPr id="120886" name="Text Box 37"/>
            <p:cNvSpPr txBox="1">
              <a:spLocks noChangeArrowheads="1"/>
            </p:cNvSpPr>
            <p:nvPr/>
          </p:nvSpPr>
          <p:spPr bwMode="auto">
            <a:xfrm>
              <a:off x="2768" y="1488"/>
              <a:ext cx="44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Th2</a:t>
              </a:r>
            </a:p>
          </p:txBody>
        </p:sp>
        <p:sp>
          <p:nvSpPr>
            <p:cNvPr id="120887" name="Text Box 38"/>
            <p:cNvSpPr txBox="1">
              <a:spLocks noChangeArrowheads="1"/>
            </p:cNvSpPr>
            <p:nvPr/>
          </p:nvSpPr>
          <p:spPr bwMode="auto">
            <a:xfrm>
              <a:off x="1872" y="1440"/>
              <a:ext cx="4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Th1</a:t>
              </a:r>
            </a:p>
          </p:txBody>
        </p:sp>
        <p:sp>
          <p:nvSpPr>
            <p:cNvPr id="120888" name="Text Box 39"/>
            <p:cNvSpPr txBox="1">
              <a:spLocks noChangeArrowheads="1"/>
            </p:cNvSpPr>
            <p:nvPr/>
          </p:nvSpPr>
          <p:spPr bwMode="auto">
            <a:xfrm>
              <a:off x="1968" y="2352"/>
              <a:ext cx="351"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D1</a:t>
              </a:r>
            </a:p>
          </p:txBody>
        </p:sp>
        <p:sp>
          <p:nvSpPr>
            <p:cNvPr id="120889" name="Text Box 40"/>
            <p:cNvSpPr txBox="1">
              <a:spLocks noChangeArrowheads="1"/>
            </p:cNvSpPr>
            <p:nvPr/>
          </p:nvSpPr>
          <p:spPr bwMode="auto">
            <a:xfrm>
              <a:off x="2736" y="2352"/>
              <a:ext cx="351"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D2</a:t>
              </a:r>
            </a:p>
          </p:txBody>
        </p:sp>
      </p:grpSp>
      <p:grpSp>
        <p:nvGrpSpPr>
          <p:cNvPr id="3" name="Group 41"/>
          <p:cNvGrpSpPr>
            <a:grpSpLocks/>
          </p:cNvGrpSpPr>
          <p:nvPr/>
        </p:nvGrpSpPr>
        <p:grpSpPr bwMode="auto">
          <a:xfrm>
            <a:off x="5780088" y="1239838"/>
            <a:ext cx="3059112" cy="1728787"/>
            <a:chOff x="3641" y="1488"/>
            <a:chExt cx="1927" cy="1089"/>
          </a:xfrm>
        </p:grpSpPr>
        <p:sp>
          <p:nvSpPr>
            <p:cNvPr id="120844" name="Line 42"/>
            <p:cNvSpPr>
              <a:spLocks noChangeShapeType="1"/>
            </p:cNvSpPr>
            <p:nvPr/>
          </p:nvSpPr>
          <p:spPr bwMode="auto">
            <a:xfrm>
              <a:off x="3648" y="1488"/>
              <a:ext cx="915"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45" name="Line 43"/>
            <p:cNvSpPr>
              <a:spLocks noChangeShapeType="1"/>
            </p:cNvSpPr>
            <p:nvPr/>
          </p:nvSpPr>
          <p:spPr bwMode="auto">
            <a:xfrm>
              <a:off x="3641" y="2577"/>
              <a:ext cx="922"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46" name="Line 44"/>
            <p:cNvSpPr>
              <a:spLocks noChangeShapeType="1"/>
            </p:cNvSpPr>
            <p:nvPr/>
          </p:nvSpPr>
          <p:spPr bwMode="auto">
            <a:xfrm>
              <a:off x="4563" y="1488"/>
              <a:ext cx="0" cy="16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47" name="Line 45"/>
            <p:cNvSpPr>
              <a:spLocks noChangeShapeType="1"/>
            </p:cNvSpPr>
            <p:nvPr/>
          </p:nvSpPr>
          <p:spPr bwMode="auto">
            <a:xfrm>
              <a:off x="4395" y="1656"/>
              <a:ext cx="168" cy="16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48" name="Rectangle 46"/>
            <p:cNvSpPr>
              <a:spLocks noChangeArrowheads="1"/>
            </p:cNvSpPr>
            <p:nvPr/>
          </p:nvSpPr>
          <p:spPr bwMode="auto">
            <a:xfrm>
              <a:off x="4479" y="1907"/>
              <a:ext cx="167" cy="419"/>
            </a:xfrm>
            <a:prstGeom prst="rect">
              <a:avLst/>
            </a:prstGeom>
            <a:solidFill>
              <a:srgbClr val="FFFFFF"/>
            </a:solidFill>
            <a:ln w="9525">
              <a:solidFill>
                <a:srgbClr val="FF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20849" name="Line 47"/>
            <p:cNvSpPr>
              <a:spLocks noChangeShapeType="1"/>
            </p:cNvSpPr>
            <p:nvPr/>
          </p:nvSpPr>
          <p:spPr bwMode="auto">
            <a:xfrm>
              <a:off x="4563" y="1823"/>
              <a:ext cx="0" cy="8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50" name="Line 48"/>
            <p:cNvSpPr>
              <a:spLocks noChangeShapeType="1"/>
            </p:cNvSpPr>
            <p:nvPr/>
          </p:nvSpPr>
          <p:spPr bwMode="auto">
            <a:xfrm>
              <a:off x="4563" y="2326"/>
              <a:ext cx="0" cy="251"/>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0851" name="Text Box 49"/>
            <p:cNvSpPr txBox="1">
              <a:spLocks noChangeArrowheads="1"/>
            </p:cNvSpPr>
            <p:nvPr/>
          </p:nvSpPr>
          <p:spPr bwMode="auto">
            <a:xfrm>
              <a:off x="4814" y="1823"/>
              <a:ext cx="754" cy="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solidFill>
                    <a:srgbClr val="FF0000"/>
                  </a:solidFill>
                  <a:latin typeface="Arial" panose="020B0604020202020204" pitchFamily="34" charset="0"/>
                </a:rPr>
                <a:t>Module de freinage</a:t>
              </a:r>
            </a:p>
          </p:txBody>
        </p:sp>
      </p:grpSp>
      <p:sp>
        <p:nvSpPr>
          <p:cNvPr id="120838" name="Text Box 50"/>
          <p:cNvSpPr txBox="1">
            <a:spLocks noChangeArrowheads="1"/>
          </p:cNvSpPr>
          <p:nvPr/>
        </p:nvSpPr>
        <p:spPr bwMode="auto">
          <a:xfrm>
            <a:off x="571500" y="571500"/>
            <a:ext cx="5413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C00000"/>
                </a:solidFill>
                <a:latin typeface="Arial" panose="020B0604020202020204" pitchFamily="34" charset="0"/>
              </a:rPr>
              <a:t>Redresseur commandé avec un pont mixte</a:t>
            </a:r>
          </a:p>
        </p:txBody>
      </p:sp>
      <p:sp>
        <p:nvSpPr>
          <p:cNvPr id="82995" name="Text Box 51"/>
          <p:cNvSpPr txBox="1">
            <a:spLocks noChangeArrowheads="1"/>
          </p:cNvSpPr>
          <p:nvPr/>
        </p:nvSpPr>
        <p:spPr bwMode="auto">
          <a:xfrm>
            <a:off x="1958975" y="3303588"/>
            <a:ext cx="5813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Aucune possibilité de freinage par le variateur</a:t>
            </a:r>
          </a:p>
        </p:txBody>
      </p:sp>
      <p:sp>
        <p:nvSpPr>
          <p:cNvPr id="82998" name="Rectangle 54"/>
          <p:cNvSpPr>
            <a:spLocks noChangeArrowheads="1"/>
          </p:cNvSpPr>
          <p:nvPr/>
        </p:nvSpPr>
        <p:spPr bwMode="auto">
          <a:xfrm>
            <a:off x="2903538" y="3794125"/>
            <a:ext cx="4030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rajout d ’un module de freinage</a:t>
            </a:r>
          </a:p>
        </p:txBody>
      </p:sp>
      <p:sp>
        <p:nvSpPr>
          <p:cNvPr id="120841"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7770" name="Rectangle 55"/>
          <p:cNvSpPr>
            <a:spLocks noChangeArrowheads="1"/>
          </p:cNvSpPr>
          <p:nvPr/>
        </p:nvSpPr>
        <p:spPr bwMode="auto">
          <a:xfrm>
            <a:off x="2289175" y="207963"/>
            <a:ext cx="3516313" cy="307975"/>
          </a:xfrm>
          <a:prstGeom prst="rect">
            <a:avLst/>
          </a:prstGeom>
          <a:noFill/>
          <a:ln w="9525">
            <a:noFill/>
            <a:miter lim="800000"/>
            <a:headEnd/>
            <a:tailEnd/>
          </a:ln>
        </p:spPr>
        <p:txBody>
          <a:bodyPr wrap="none">
            <a:spAutoFit/>
          </a:bodyPr>
          <a:lstStyle/>
          <a:p>
            <a:pPr eaLnBrk="1" hangingPunct="1">
              <a:defRPr/>
            </a:pPr>
            <a:r>
              <a:rPr lang="fr-FR" sz="1400" b="1" cap="small" dirty="0">
                <a:solidFill>
                  <a:srgbClr val="0000EC"/>
                </a:solidFill>
                <a:cs typeface="Times New Roman" pitchFamily="18" charset="0"/>
              </a:rPr>
              <a:t>Freinage du moteur à courant continu</a:t>
            </a:r>
          </a:p>
        </p:txBody>
      </p:sp>
      <p:sp>
        <p:nvSpPr>
          <p:cNvPr id="57" name="Rectangle 56"/>
          <p:cNvSpPr/>
          <p:nvPr/>
        </p:nvSpPr>
        <p:spPr>
          <a:xfrm>
            <a:off x="838200" y="4651375"/>
            <a:ext cx="6272213" cy="1476375"/>
          </a:xfrm>
          <a:prstGeom prst="rect">
            <a:avLst/>
          </a:prstGeom>
        </p:spPr>
        <p:txBody>
          <a:bodyPr>
            <a:spAutoFit/>
          </a:bodyPr>
          <a:lstStyle/>
          <a:p>
            <a:pPr eaLnBrk="1" hangingPunct="1">
              <a:defRPr/>
            </a:pPr>
            <a:r>
              <a:rPr lang="fr-FR" b="1" dirty="0"/>
              <a:t>Moteur à excitation séparée</a:t>
            </a:r>
          </a:p>
          <a:p>
            <a:pPr marL="352425" indent="-352425" eaLnBrk="1" hangingPunct="1">
              <a:buFont typeface="Courier New" pitchFamily="49" charset="0"/>
              <a:buChar char="o"/>
              <a:defRPr/>
            </a:pPr>
            <a:r>
              <a:rPr lang="fr-FR" dirty="0"/>
              <a:t>On coupe l’alimentation du moteur</a:t>
            </a:r>
          </a:p>
          <a:p>
            <a:pPr marL="352425" indent="-352425" eaLnBrk="1" hangingPunct="1">
              <a:buFont typeface="Courier New" pitchFamily="49" charset="0"/>
              <a:buChar char="o"/>
              <a:defRPr/>
            </a:pPr>
            <a:r>
              <a:rPr lang="fr-FR" dirty="0"/>
              <a:t>On coupe l’alimentation de l’inducteur.</a:t>
            </a:r>
          </a:p>
          <a:p>
            <a:pPr marL="352425" indent="-352425" eaLnBrk="1" hangingPunct="1">
              <a:buFont typeface="Courier New" pitchFamily="49" charset="0"/>
              <a:buChar char="o"/>
              <a:defRPr/>
            </a:pPr>
            <a:r>
              <a:rPr lang="fr-FR" dirty="0"/>
              <a:t>On connecte le moteur sur une résistance</a:t>
            </a:r>
          </a:p>
          <a:p>
            <a:pPr marL="352425" indent="-352425" eaLnBrk="1" hangingPunct="1">
              <a:buFont typeface="Courier New" pitchFamily="49" charset="0"/>
              <a:buChar char="o"/>
              <a:defRPr/>
            </a:pPr>
            <a:r>
              <a:rPr lang="fr-FR" dirty="0"/>
              <a:t>On réalimente l’inducteur.</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995"/>
                                        </p:tgtEl>
                                        <p:attrNameLst>
                                          <p:attrName>style.visibility</p:attrName>
                                        </p:attrNameLst>
                                      </p:cBhvr>
                                      <p:to>
                                        <p:strVal val="visible"/>
                                      </p:to>
                                    </p:set>
                                    <p:anim calcmode="lin" valueType="num">
                                      <p:cBhvr additive="base">
                                        <p:cTn id="7" dur="500" fill="hold"/>
                                        <p:tgtEl>
                                          <p:spTgt spid="82995"/>
                                        </p:tgtEl>
                                        <p:attrNameLst>
                                          <p:attrName>ppt_x</p:attrName>
                                        </p:attrNameLst>
                                      </p:cBhvr>
                                      <p:tavLst>
                                        <p:tav tm="0">
                                          <p:val>
                                            <p:strVal val="#ppt_x"/>
                                          </p:val>
                                        </p:tav>
                                        <p:tav tm="100000">
                                          <p:val>
                                            <p:strVal val="#ppt_x"/>
                                          </p:val>
                                        </p:tav>
                                      </p:tavLst>
                                    </p:anim>
                                    <p:anim calcmode="lin" valueType="num">
                                      <p:cBhvr additive="base">
                                        <p:cTn id="8" dur="500" fill="hold"/>
                                        <p:tgtEl>
                                          <p:spTgt spid="829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2998"/>
                                        </p:tgtEl>
                                        <p:attrNameLst>
                                          <p:attrName>style.visibility</p:attrName>
                                        </p:attrNameLst>
                                      </p:cBhvr>
                                      <p:to>
                                        <p:strVal val="visible"/>
                                      </p:to>
                                    </p:set>
                                    <p:anim calcmode="lin" valueType="num">
                                      <p:cBhvr additive="base">
                                        <p:cTn id="13" dur="500" fill="hold"/>
                                        <p:tgtEl>
                                          <p:spTgt spid="82998"/>
                                        </p:tgtEl>
                                        <p:attrNameLst>
                                          <p:attrName>ppt_x</p:attrName>
                                        </p:attrNameLst>
                                      </p:cBhvr>
                                      <p:tavLst>
                                        <p:tav tm="0">
                                          <p:val>
                                            <p:strVal val="#ppt_x"/>
                                          </p:val>
                                        </p:tav>
                                        <p:tav tm="100000">
                                          <p:val>
                                            <p:strVal val="#ppt_x"/>
                                          </p:val>
                                        </p:tav>
                                      </p:tavLst>
                                    </p:anim>
                                    <p:anim calcmode="lin" valueType="num">
                                      <p:cBhvr additive="base">
                                        <p:cTn id="14" dur="500" fill="hold"/>
                                        <p:tgtEl>
                                          <p:spTgt spid="82998"/>
                                        </p:tgtEl>
                                        <p:attrNameLst>
                                          <p:attrName>ppt_y</p:attrName>
                                        </p:attrNameLst>
                                      </p:cBhvr>
                                      <p:tavLst>
                                        <p:tav tm="0">
                                          <p:val>
                                            <p:strVal val="1+#ppt_h/2"/>
                                          </p:val>
                                        </p:tav>
                                        <p:tav tm="100000">
                                          <p:val>
                                            <p:strVal val="#ppt_y"/>
                                          </p:val>
                                        </p:tav>
                                      </p:tavLst>
                                    </p:anim>
                                  </p:childTnLst>
                                </p:cTn>
                              </p:par>
                            </p:childTnLst>
                          </p:cTn>
                        </p:par>
                        <p:par>
                          <p:cTn id="15" fill="hold" nodeType="afterGroup">
                            <p:stCondLst>
                              <p:cond delay="500"/>
                            </p:stCondLst>
                            <p:childTnLst>
                              <p:par>
                                <p:cTn id="16" presetID="2" presetClass="entr" presetSubtype="2" fill="hold" nodeType="afterEffect">
                                  <p:stCondLst>
                                    <p:cond delay="100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1+#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57"/>
                                        </p:tgtEl>
                                        <p:attrNameLst>
                                          <p:attrName>style.visibility</p:attrName>
                                        </p:attrNameLst>
                                      </p:cBhvr>
                                      <p:to>
                                        <p:strVal val="visible"/>
                                      </p:to>
                                    </p:set>
                                    <p:animEffect transition="in" filter="checkerboard(across)">
                                      <p:cBhvr>
                                        <p:cTn id="24"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95" grpId="0" autoUpdateAnimBg="0"/>
      <p:bldP spid="82998" grpId="0" autoUpdateAnimBg="0"/>
      <p:bldP spid="5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12288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AB73A70-6479-4F09-B9CC-5D5E1C149606}" type="slidenum">
              <a:rPr lang="en-US" altLang="fr-FR" sz="1000" smtClean="0">
                <a:solidFill>
                  <a:srgbClr val="292929"/>
                </a:solidFill>
                <a:latin typeface="Arial" panose="020B0604020202020204" pitchFamily="34" charset="0"/>
              </a:rPr>
              <a:pPr>
                <a:spcBef>
                  <a:spcPct val="0"/>
                </a:spcBef>
                <a:buClrTx/>
                <a:buSzTx/>
                <a:buFontTx/>
                <a:buNone/>
              </a:pPr>
              <a:t>65</a:t>
            </a:fld>
            <a:endParaRPr lang="en-US" altLang="fr-FR" sz="1000" smtClean="0">
              <a:solidFill>
                <a:srgbClr val="292929"/>
              </a:solidFill>
              <a:latin typeface="Arial" panose="020B0604020202020204" pitchFamily="34" charset="0"/>
            </a:endParaRPr>
          </a:p>
        </p:txBody>
      </p:sp>
      <p:grpSp>
        <p:nvGrpSpPr>
          <p:cNvPr id="122884" name="Groupe 53"/>
          <p:cNvGrpSpPr>
            <a:grpSpLocks/>
          </p:cNvGrpSpPr>
          <p:nvPr/>
        </p:nvGrpSpPr>
        <p:grpSpPr bwMode="auto">
          <a:xfrm>
            <a:off x="1435100" y="1163638"/>
            <a:ext cx="6553200" cy="1819275"/>
            <a:chOff x="1435774" y="1163060"/>
            <a:chExt cx="6553200" cy="1819275"/>
          </a:xfrm>
        </p:grpSpPr>
        <p:grpSp>
          <p:nvGrpSpPr>
            <p:cNvPr id="122890" name="Group 2"/>
            <p:cNvGrpSpPr>
              <a:grpSpLocks/>
            </p:cNvGrpSpPr>
            <p:nvPr/>
          </p:nvGrpSpPr>
          <p:grpSpPr bwMode="auto">
            <a:xfrm>
              <a:off x="1435774" y="1163060"/>
              <a:ext cx="4114800" cy="1819275"/>
              <a:chOff x="1440" y="1440"/>
              <a:chExt cx="2592" cy="1146"/>
            </a:xfrm>
          </p:grpSpPr>
          <p:sp>
            <p:nvSpPr>
              <p:cNvPr id="122901" name="Text Box 3"/>
              <p:cNvSpPr txBox="1">
                <a:spLocks noChangeArrowheads="1"/>
              </p:cNvSpPr>
              <p:nvPr/>
            </p:nvSpPr>
            <p:spPr bwMode="auto">
              <a:xfrm>
                <a:off x="1440" y="1872"/>
                <a:ext cx="72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Réseau</a:t>
                </a:r>
              </a:p>
            </p:txBody>
          </p:sp>
          <p:sp>
            <p:nvSpPr>
              <p:cNvPr id="122902" name="Line 4"/>
              <p:cNvSpPr>
                <a:spLocks noChangeShapeType="1"/>
              </p:cNvSpPr>
              <p:nvPr/>
            </p:nvSpPr>
            <p:spPr bwMode="auto">
              <a:xfrm>
                <a:off x="3681" y="1488"/>
                <a:ext cx="0" cy="10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03" name="Line 5"/>
              <p:cNvSpPr>
                <a:spLocks noChangeShapeType="1"/>
              </p:cNvSpPr>
              <p:nvPr/>
            </p:nvSpPr>
            <p:spPr bwMode="auto">
              <a:xfrm>
                <a:off x="2206" y="1488"/>
                <a:ext cx="0" cy="10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04" name="Line 6"/>
              <p:cNvSpPr>
                <a:spLocks noChangeShapeType="1"/>
              </p:cNvSpPr>
              <p:nvPr/>
            </p:nvSpPr>
            <p:spPr bwMode="auto">
              <a:xfrm>
                <a:off x="2065" y="1644"/>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05" name="Line 7"/>
              <p:cNvSpPr>
                <a:spLocks noChangeShapeType="1"/>
              </p:cNvSpPr>
              <p:nvPr/>
            </p:nvSpPr>
            <p:spPr bwMode="auto">
              <a:xfrm flipH="1">
                <a:off x="2065" y="1644"/>
                <a:ext cx="141"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06" name="Line 8"/>
              <p:cNvSpPr>
                <a:spLocks noChangeShapeType="1"/>
              </p:cNvSpPr>
              <p:nvPr/>
            </p:nvSpPr>
            <p:spPr bwMode="auto">
              <a:xfrm>
                <a:off x="2206" y="1644"/>
                <a:ext cx="14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07" name="Line 9"/>
              <p:cNvSpPr>
                <a:spLocks noChangeShapeType="1"/>
              </p:cNvSpPr>
              <p:nvPr/>
            </p:nvSpPr>
            <p:spPr bwMode="auto">
              <a:xfrm>
                <a:off x="2065" y="1801"/>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08" name="Line 10"/>
              <p:cNvSpPr>
                <a:spLocks noChangeShapeType="1"/>
              </p:cNvSpPr>
              <p:nvPr/>
            </p:nvSpPr>
            <p:spPr bwMode="auto">
              <a:xfrm>
                <a:off x="2065" y="2191"/>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09" name="Line 11"/>
              <p:cNvSpPr>
                <a:spLocks noChangeShapeType="1"/>
              </p:cNvSpPr>
              <p:nvPr/>
            </p:nvSpPr>
            <p:spPr bwMode="auto">
              <a:xfrm flipH="1">
                <a:off x="2065" y="2191"/>
                <a:ext cx="141"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0" name="Line 12"/>
              <p:cNvSpPr>
                <a:spLocks noChangeShapeType="1"/>
              </p:cNvSpPr>
              <p:nvPr/>
            </p:nvSpPr>
            <p:spPr bwMode="auto">
              <a:xfrm>
                <a:off x="2206" y="2191"/>
                <a:ext cx="14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1" name="Line 13"/>
              <p:cNvSpPr>
                <a:spLocks noChangeShapeType="1"/>
              </p:cNvSpPr>
              <p:nvPr/>
            </p:nvSpPr>
            <p:spPr bwMode="auto">
              <a:xfrm>
                <a:off x="2065" y="2348"/>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2" name="Line 14"/>
              <p:cNvSpPr>
                <a:spLocks noChangeShapeType="1"/>
              </p:cNvSpPr>
              <p:nvPr/>
            </p:nvSpPr>
            <p:spPr bwMode="auto">
              <a:xfrm>
                <a:off x="2697" y="1488"/>
                <a:ext cx="0" cy="10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3" name="Line 15"/>
              <p:cNvSpPr>
                <a:spLocks noChangeShapeType="1"/>
              </p:cNvSpPr>
              <p:nvPr/>
            </p:nvSpPr>
            <p:spPr bwMode="auto">
              <a:xfrm>
                <a:off x="2557" y="1644"/>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4" name="Line 16"/>
              <p:cNvSpPr>
                <a:spLocks noChangeShapeType="1"/>
              </p:cNvSpPr>
              <p:nvPr/>
            </p:nvSpPr>
            <p:spPr bwMode="auto">
              <a:xfrm flipH="1">
                <a:off x="2557" y="1644"/>
                <a:ext cx="14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5" name="Line 17"/>
              <p:cNvSpPr>
                <a:spLocks noChangeShapeType="1"/>
              </p:cNvSpPr>
              <p:nvPr/>
            </p:nvSpPr>
            <p:spPr bwMode="auto">
              <a:xfrm>
                <a:off x="2697" y="1644"/>
                <a:ext cx="141"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6" name="Line 18"/>
              <p:cNvSpPr>
                <a:spLocks noChangeShapeType="1"/>
              </p:cNvSpPr>
              <p:nvPr/>
            </p:nvSpPr>
            <p:spPr bwMode="auto">
              <a:xfrm>
                <a:off x="2557" y="1801"/>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7" name="Line 19"/>
              <p:cNvSpPr>
                <a:spLocks noChangeShapeType="1"/>
              </p:cNvSpPr>
              <p:nvPr/>
            </p:nvSpPr>
            <p:spPr bwMode="auto">
              <a:xfrm>
                <a:off x="2557" y="2191"/>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8" name="Line 20"/>
              <p:cNvSpPr>
                <a:spLocks noChangeShapeType="1"/>
              </p:cNvSpPr>
              <p:nvPr/>
            </p:nvSpPr>
            <p:spPr bwMode="auto">
              <a:xfrm flipH="1">
                <a:off x="2557" y="2191"/>
                <a:ext cx="140"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19" name="Line 21"/>
              <p:cNvSpPr>
                <a:spLocks noChangeShapeType="1"/>
              </p:cNvSpPr>
              <p:nvPr/>
            </p:nvSpPr>
            <p:spPr bwMode="auto">
              <a:xfrm>
                <a:off x="2697" y="2191"/>
                <a:ext cx="141" cy="1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20" name="Line 22"/>
              <p:cNvSpPr>
                <a:spLocks noChangeShapeType="1"/>
              </p:cNvSpPr>
              <p:nvPr/>
            </p:nvSpPr>
            <p:spPr bwMode="auto">
              <a:xfrm>
                <a:off x="2557" y="2348"/>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21" name="Line 23"/>
              <p:cNvSpPr>
                <a:spLocks noChangeShapeType="1"/>
              </p:cNvSpPr>
              <p:nvPr/>
            </p:nvSpPr>
            <p:spPr bwMode="auto">
              <a:xfrm flipH="1">
                <a:off x="1714" y="1879"/>
                <a:ext cx="49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22" name="Line 24"/>
              <p:cNvSpPr>
                <a:spLocks noChangeShapeType="1"/>
              </p:cNvSpPr>
              <p:nvPr/>
            </p:nvSpPr>
            <p:spPr bwMode="auto">
              <a:xfrm flipH="1">
                <a:off x="1714" y="2113"/>
                <a:ext cx="98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23" name="Line 25"/>
              <p:cNvSpPr>
                <a:spLocks noChangeShapeType="1"/>
              </p:cNvSpPr>
              <p:nvPr/>
            </p:nvSpPr>
            <p:spPr bwMode="auto">
              <a:xfrm>
                <a:off x="2206" y="1488"/>
                <a:ext cx="14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24" name="Line 26"/>
              <p:cNvSpPr>
                <a:spLocks noChangeShapeType="1"/>
              </p:cNvSpPr>
              <p:nvPr/>
            </p:nvSpPr>
            <p:spPr bwMode="auto">
              <a:xfrm>
                <a:off x="2206" y="2582"/>
                <a:ext cx="14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25" name="Line 27"/>
              <p:cNvSpPr>
                <a:spLocks noChangeShapeType="1"/>
              </p:cNvSpPr>
              <p:nvPr/>
            </p:nvSpPr>
            <p:spPr bwMode="auto">
              <a:xfrm flipH="1">
                <a:off x="1995" y="1722"/>
                <a:ext cx="1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26" name="Line 28"/>
              <p:cNvSpPr>
                <a:spLocks noChangeShapeType="1"/>
              </p:cNvSpPr>
              <p:nvPr/>
            </p:nvSpPr>
            <p:spPr bwMode="auto">
              <a:xfrm flipH="1">
                <a:off x="2487" y="1722"/>
                <a:ext cx="1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27" name="Oval 29"/>
              <p:cNvSpPr>
                <a:spLocks noChangeArrowheads="1"/>
              </p:cNvSpPr>
              <p:nvPr/>
            </p:nvSpPr>
            <p:spPr bwMode="auto">
              <a:xfrm>
                <a:off x="3470" y="1801"/>
                <a:ext cx="422" cy="468"/>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22928" name="Text Box 30"/>
              <p:cNvSpPr txBox="1">
                <a:spLocks noChangeArrowheads="1"/>
              </p:cNvSpPr>
              <p:nvPr/>
            </p:nvSpPr>
            <p:spPr bwMode="auto">
              <a:xfrm>
                <a:off x="3490" y="1960"/>
                <a:ext cx="542" cy="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MCC</a:t>
                </a:r>
              </a:p>
              <a:p>
                <a:pPr eaLnBrk="1" hangingPunct="1">
                  <a:spcBef>
                    <a:spcPct val="0"/>
                  </a:spcBef>
                  <a:buClrTx/>
                  <a:buSzTx/>
                  <a:buFontTx/>
                  <a:buNone/>
                </a:pPr>
                <a:endParaRPr lang="fr-FR" altLang="fr-FR" sz="1600">
                  <a:latin typeface="Arial" panose="020B0604020202020204" pitchFamily="34" charset="0"/>
                </a:endParaRPr>
              </a:p>
            </p:txBody>
          </p:sp>
          <p:sp>
            <p:nvSpPr>
              <p:cNvPr id="122929" name="Line 31"/>
              <p:cNvSpPr>
                <a:spLocks noChangeShapeType="1"/>
              </p:cNvSpPr>
              <p:nvPr/>
            </p:nvSpPr>
            <p:spPr bwMode="auto">
              <a:xfrm>
                <a:off x="3049" y="1957"/>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30" name="Line 32"/>
              <p:cNvSpPr>
                <a:spLocks noChangeShapeType="1"/>
              </p:cNvSpPr>
              <p:nvPr/>
            </p:nvSpPr>
            <p:spPr bwMode="auto">
              <a:xfrm flipH="1">
                <a:off x="3049" y="1957"/>
                <a:ext cx="140"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31" name="Line 33"/>
              <p:cNvSpPr>
                <a:spLocks noChangeShapeType="1"/>
              </p:cNvSpPr>
              <p:nvPr/>
            </p:nvSpPr>
            <p:spPr bwMode="auto">
              <a:xfrm>
                <a:off x="3189" y="1957"/>
                <a:ext cx="141" cy="15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32" name="Line 34"/>
              <p:cNvSpPr>
                <a:spLocks noChangeShapeType="1"/>
              </p:cNvSpPr>
              <p:nvPr/>
            </p:nvSpPr>
            <p:spPr bwMode="auto">
              <a:xfrm>
                <a:off x="3049" y="2113"/>
                <a:ext cx="28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33" name="Line 35"/>
              <p:cNvSpPr>
                <a:spLocks noChangeShapeType="1"/>
              </p:cNvSpPr>
              <p:nvPr/>
            </p:nvSpPr>
            <p:spPr bwMode="auto">
              <a:xfrm>
                <a:off x="3189" y="1488"/>
                <a:ext cx="0" cy="109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34" name="Text Box 36"/>
              <p:cNvSpPr txBox="1">
                <a:spLocks noChangeArrowheads="1"/>
              </p:cNvSpPr>
              <p:nvPr/>
            </p:nvSpPr>
            <p:spPr bwMode="auto">
              <a:xfrm>
                <a:off x="3168" y="2160"/>
                <a:ext cx="595"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DRL</a:t>
                </a:r>
              </a:p>
            </p:txBody>
          </p:sp>
          <p:sp>
            <p:nvSpPr>
              <p:cNvPr id="122935" name="Text Box 37"/>
              <p:cNvSpPr txBox="1">
                <a:spLocks noChangeArrowheads="1"/>
              </p:cNvSpPr>
              <p:nvPr/>
            </p:nvSpPr>
            <p:spPr bwMode="auto">
              <a:xfrm>
                <a:off x="2768" y="1488"/>
                <a:ext cx="448"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Th2</a:t>
                </a:r>
              </a:p>
            </p:txBody>
          </p:sp>
          <p:sp>
            <p:nvSpPr>
              <p:cNvPr id="122936" name="Text Box 38"/>
              <p:cNvSpPr txBox="1">
                <a:spLocks noChangeArrowheads="1"/>
              </p:cNvSpPr>
              <p:nvPr/>
            </p:nvSpPr>
            <p:spPr bwMode="auto">
              <a:xfrm>
                <a:off x="1872" y="1440"/>
                <a:ext cx="4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Th1</a:t>
                </a:r>
              </a:p>
            </p:txBody>
          </p:sp>
          <p:sp>
            <p:nvSpPr>
              <p:cNvPr id="122937" name="Text Box 39"/>
              <p:cNvSpPr txBox="1">
                <a:spLocks noChangeArrowheads="1"/>
              </p:cNvSpPr>
              <p:nvPr/>
            </p:nvSpPr>
            <p:spPr bwMode="auto">
              <a:xfrm>
                <a:off x="1968" y="2352"/>
                <a:ext cx="351"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D1</a:t>
                </a:r>
              </a:p>
            </p:txBody>
          </p:sp>
          <p:sp>
            <p:nvSpPr>
              <p:cNvPr id="122938" name="Text Box 40"/>
              <p:cNvSpPr txBox="1">
                <a:spLocks noChangeArrowheads="1"/>
              </p:cNvSpPr>
              <p:nvPr/>
            </p:nvSpPr>
            <p:spPr bwMode="auto">
              <a:xfrm>
                <a:off x="2736" y="2352"/>
                <a:ext cx="351"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D2</a:t>
                </a:r>
              </a:p>
            </p:txBody>
          </p:sp>
        </p:grpSp>
        <p:grpSp>
          <p:nvGrpSpPr>
            <p:cNvPr id="122891" name="Group 41"/>
            <p:cNvGrpSpPr>
              <a:grpSpLocks/>
            </p:cNvGrpSpPr>
            <p:nvPr/>
          </p:nvGrpSpPr>
          <p:grpSpPr bwMode="auto">
            <a:xfrm>
              <a:off x="4929862" y="1239260"/>
              <a:ext cx="3059112" cy="1728788"/>
              <a:chOff x="3641" y="1488"/>
              <a:chExt cx="1927" cy="1089"/>
            </a:xfrm>
          </p:grpSpPr>
          <p:sp>
            <p:nvSpPr>
              <p:cNvPr id="122893" name="Line 42"/>
              <p:cNvSpPr>
                <a:spLocks noChangeShapeType="1"/>
              </p:cNvSpPr>
              <p:nvPr/>
            </p:nvSpPr>
            <p:spPr bwMode="auto">
              <a:xfrm>
                <a:off x="3648" y="1488"/>
                <a:ext cx="915"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894" name="Line 43"/>
              <p:cNvSpPr>
                <a:spLocks noChangeShapeType="1"/>
              </p:cNvSpPr>
              <p:nvPr/>
            </p:nvSpPr>
            <p:spPr bwMode="auto">
              <a:xfrm>
                <a:off x="3641" y="2577"/>
                <a:ext cx="922"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895" name="Line 44"/>
              <p:cNvSpPr>
                <a:spLocks noChangeShapeType="1"/>
              </p:cNvSpPr>
              <p:nvPr/>
            </p:nvSpPr>
            <p:spPr bwMode="auto">
              <a:xfrm>
                <a:off x="4563" y="1488"/>
                <a:ext cx="0" cy="168"/>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896" name="Line 45"/>
              <p:cNvSpPr>
                <a:spLocks noChangeShapeType="1"/>
              </p:cNvSpPr>
              <p:nvPr/>
            </p:nvSpPr>
            <p:spPr bwMode="auto">
              <a:xfrm>
                <a:off x="4395" y="1636"/>
                <a:ext cx="168" cy="16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897" name="Rectangle 46"/>
              <p:cNvSpPr>
                <a:spLocks noChangeArrowheads="1"/>
              </p:cNvSpPr>
              <p:nvPr/>
            </p:nvSpPr>
            <p:spPr bwMode="auto">
              <a:xfrm>
                <a:off x="4479" y="1877"/>
                <a:ext cx="167" cy="419"/>
              </a:xfrm>
              <a:prstGeom prst="rect">
                <a:avLst/>
              </a:prstGeom>
              <a:solidFill>
                <a:srgbClr val="FFFFFF"/>
              </a:solidFill>
              <a:ln w="9525">
                <a:solidFill>
                  <a:srgbClr val="FF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22898" name="Line 47"/>
              <p:cNvSpPr>
                <a:spLocks noChangeShapeType="1"/>
              </p:cNvSpPr>
              <p:nvPr/>
            </p:nvSpPr>
            <p:spPr bwMode="auto">
              <a:xfrm>
                <a:off x="4563" y="1793"/>
                <a:ext cx="0" cy="8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899" name="Line 48"/>
              <p:cNvSpPr>
                <a:spLocks noChangeShapeType="1"/>
              </p:cNvSpPr>
              <p:nvPr/>
            </p:nvSpPr>
            <p:spPr bwMode="auto">
              <a:xfrm>
                <a:off x="4563" y="2316"/>
                <a:ext cx="0" cy="251"/>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2900" name="Text Box 49"/>
              <p:cNvSpPr txBox="1">
                <a:spLocks noChangeArrowheads="1"/>
              </p:cNvSpPr>
              <p:nvPr/>
            </p:nvSpPr>
            <p:spPr bwMode="auto">
              <a:xfrm>
                <a:off x="4814" y="1823"/>
                <a:ext cx="754" cy="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solidFill>
                      <a:srgbClr val="FF0000"/>
                    </a:solidFill>
                    <a:latin typeface="Arial" panose="020B0604020202020204" pitchFamily="34" charset="0"/>
                  </a:rPr>
                  <a:t>Module de freinage Rh</a:t>
                </a:r>
              </a:p>
              <a:p>
                <a:pPr eaLnBrk="1" hangingPunct="1">
                  <a:spcBef>
                    <a:spcPct val="0"/>
                  </a:spcBef>
                  <a:buClrTx/>
                  <a:buSzTx/>
                  <a:buFontTx/>
                  <a:buNone/>
                </a:pPr>
                <a:endParaRPr lang="fr-FR" altLang="fr-FR" sz="1600">
                  <a:solidFill>
                    <a:srgbClr val="FF0000"/>
                  </a:solidFill>
                  <a:latin typeface="Arial" panose="020B0604020202020204" pitchFamily="34" charset="0"/>
                </a:endParaRPr>
              </a:p>
            </p:txBody>
          </p:sp>
        </p:grpSp>
        <p:pic>
          <p:nvPicPr>
            <p:cNvPr id="4" name="Picture 2"/>
            <p:cNvPicPr>
              <a:picLocks noChangeAspect="1" noChangeArrowheads="1"/>
            </p:cNvPicPr>
            <p:nvPr/>
          </p:nvPicPr>
          <p:blipFill>
            <a:blip r:embed="rId3" cstate="print">
              <a:clrChange>
                <a:clrFrom>
                  <a:srgbClr val="FFFFFF"/>
                </a:clrFrom>
                <a:clrTo>
                  <a:srgbClr val="FFFFFF">
                    <a:alpha val="0"/>
                  </a:srgbClr>
                </a:clrTo>
              </a:clrChange>
              <a:duotone>
                <a:prstClr val="black"/>
                <a:srgbClr val="C00000">
                  <a:tint val="45000"/>
                  <a:satMod val="400000"/>
                </a:srgbClr>
              </a:duotone>
            </a:blip>
            <a:srcRect/>
            <a:stretch>
              <a:fillRect/>
            </a:stretch>
          </p:blipFill>
          <p:spPr bwMode="auto">
            <a:xfrm>
              <a:off x="6223258" y="2595922"/>
              <a:ext cx="668250" cy="324000"/>
            </a:xfrm>
            <a:prstGeom prst="rect">
              <a:avLst/>
            </a:prstGeom>
            <a:noFill/>
            <a:ln w="9525">
              <a:noFill/>
              <a:miter lim="800000"/>
              <a:headEnd/>
              <a:tailEnd/>
            </a:ln>
          </p:spPr>
        </p:pic>
      </p:grpSp>
      <p:sp>
        <p:nvSpPr>
          <p:cNvPr id="122885" name="Rectangle 52"/>
          <p:cNvSpPr>
            <a:spLocks noChangeArrowheads="1"/>
          </p:cNvSpPr>
          <p:nvPr/>
        </p:nvSpPr>
        <p:spPr bwMode="auto">
          <a:xfrm>
            <a:off x="914400" y="3429000"/>
            <a:ext cx="72390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On peut en jouant sur le temps de commutation du transistor de puissance modifier la vitesse de ralentissement. De plus si on désire un freinage rapide on peut en même temps augmenter le courant d’excitation pour garder la force électromotrice constante. En effet</a:t>
            </a:r>
          </a:p>
          <a:p>
            <a:pPr algn="just" eaLnBrk="1" hangingPunct="1">
              <a:spcBef>
                <a:spcPct val="0"/>
              </a:spcBef>
              <a:buClrTx/>
              <a:buSzTx/>
              <a:buFontTx/>
              <a:buNone/>
            </a:pPr>
            <a:endParaRPr lang="fr-FR" altLang="fr-FR" sz="1800">
              <a:latin typeface="Arial" panose="020B0604020202020204" pitchFamily="34" charset="0"/>
            </a:endParaRPr>
          </a:p>
          <a:p>
            <a:pPr algn="just" eaLnBrk="1" hangingPunct="1">
              <a:spcBef>
                <a:spcPct val="0"/>
              </a:spcBef>
              <a:buClrTx/>
              <a:buSzTx/>
              <a:buFontTx/>
              <a:buNone/>
            </a:pPr>
            <a:r>
              <a:rPr lang="fr-FR" altLang="fr-FR" sz="1800">
                <a:latin typeface="Arial" panose="020B0604020202020204" pitchFamily="34" charset="0"/>
              </a:rPr>
              <a:t>               , si U est constante alors P est contant.</a:t>
            </a:r>
          </a:p>
        </p:txBody>
      </p:sp>
      <p:pic>
        <p:nvPicPr>
          <p:cNvPr id="122886" name="Picture 3"/>
          <p:cNvPicPr>
            <a:picLocks noChangeAspect="1" noChangeArrowheads="1"/>
          </p:cNvPicPr>
          <p:nvPr/>
        </p:nvPicPr>
        <p:blipFill>
          <a:blip r:embed="rId4">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1012825" y="4629150"/>
            <a:ext cx="857250" cy="59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7"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57" name="Rectangle 5"/>
          <p:cNvSpPr>
            <a:spLocks noChangeArrowheads="1"/>
          </p:cNvSpPr>
          <p:nvPr/>
        </p:nvSpPr>
        <p:spPr bwMode="auto">
          <a:xfrm>
            <a:off x="2289175" y="207963"/>
            <a:ext cx="3516313" cy="307975"/>
          </a:xfrm>
          <a:prstGeom prst="rect">
            <a:avLst/>
          </a:prstGeom>
          <a:noFill/>
          <a:ln w="9525">
            <a:noFill/>
            <a:miter lim="800000"/>
            <a:headEnd/>
            <a:tailEnd/>
          </a:ln>
        </p:spPr>
        <p:txBody>
          <a:bodyPr wrap="none">
            <a:spAutoFit/>
          </a:bodyPr>
          <a:lstStyle/>
          <a:p>
            <a:pPr eaLnBrk="1" hangingPunct="1">
              <a:defRPr/>
            </a:pPr>
            <a:r>
              <a:rPr lang="fr-FR" sz="1400" b="1" cap="small" dirty="0">
                <a:solidFill>
                  <a:srgbClr val="0000EC"/>
                </a:solidFill>
                <a:cs typeface="Times New Roman" pitchFamily="18" charset="0"/>
              </a:rPr>
              <a:t>Freinage du moteur à courant continu</a:t>
            </a:r>
          </a:p>
        </p:txBody>
      </p:sp>
      <p:cxnSp>
        <p:nvCxnSpPr>
          <p:cNvPr id="59" name="Connecteur droit avec flèche 58"/>
          <p:cNvCxnSpPr/>
          <p:nvPr/>
        </p:nvCxnSpPr>
        <p:spPr>
          <a:xfrm rot="16200000" flipV="1">
            <a:off x="6807994" y="2969419"/>
            <a:ext cx="446087" cy="44132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50" name="Espace réservé du pied de page 49"/>
          <p:cNvSpPr>
            <a:spLocks noGrp="1"/>
          </p:cNvSpPr>
          <p:nvPr>
            <p:ph type="ftr" sz="quarter" idx="11"/>
          </p:nvPr>
        </p:nvSpPr>
        <p:spPr/>
        <p:txBody>
          <a:bodyPr/>
          <a:lstStyle/>
          <a:p>
            <a:pPr>
              <a:defRPr/>
            </a:pPr>
            <a:r>
              <a:rPr lang="fr-FR"/>
              <a:t>Commande des machines   3.MCC     Ali NEJMI</a:t>
            </a:r>
          </a:p>
        </p:txBody>
      </p:sp>
      <p:sp>
        <p:nvSpPr>
          <p:cNvPr id="124931"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44A4E177-AF35-440C-A159-92D0A1C25982}" type="slidenum">
              <a:rPr lang="fr-FR" altLang="fr-FR" sz="1000" smtClean="0">
                <a:solidFill>
                  <a:srgbClr val="292929"/>
                </a:solidFill>
                <a:latin typeface="Arial" panose="020B0604020202020204" pitchFamily="34" charset="0"/>
              </a:rPr>
              <a:pPr>
                <a:spcBef>
                  <a:spcPct val="0"/>
                </a:spcBef>
                <a:buClrTx/>
                <a:buSzTx/>
                <a:buFontTx/>
                <a:buNone/>
              </a:pPr>
              <a:t>66</a:t>
            </a:fld>
            <a:endParaRPr lang="fr-FR" altLang="fr-FR" sz="1000" smtClean="0">
              <a:solidFill>
                <a:srgbClr val="292929"/>
              </a:solidFill>
              <a:latin typeface="Arial" panose="020B0604020202020204" pitchFamily="34" charset="0"/>
            </a:endParaRPr>
          </a:p>
        </p:txBody>
      </p:sp>
      <p:sp>
        <p:nvSpPr>
          <p:cNvPr id="124932" name="Text Box 2"/>
          <p:cNvSpPr txBox="1">
            <a:spLocks noChangeArrowheads="1"/>
          </p:cNvSpPr>
          <p:nvPr/>
        </p:nvSpPr>
        <p:spPr bwMode="auto">
          <a:xfrm>
            <a:off x="428625" y="828675"/>
            <a:ext cx="57277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C00000"/>
                </a:solidFill>
                <a:latin typeface="Arial" panose="020B0604020202020204" pitchFamily="34" charset="0"/>
              </a:rPr>
              <a:t>Redresseur commandé avec un pont complet</a:t>
            </a:r>
          </a:p>
        </p:txBody>
      </p:sp>
      <p:sp>
        <p:nvSpPr>
          <p:cNvPr id="83971" name="Text Box 3"/>
          <p:cNvSpPr txBox="1">
            <a:spLocks noChangeArrowheads="1"/>
          </p:cNvSpPr>
          <p:nvPr/>
        </p:nvSpPr>
        <p:spPr bwMode="auto">
          <a:xfrm>
            <a:off x="1116013" y="3581400"/>
            <a:ext cx="76168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Ce convertisseur nous permet de travailler dans les quadrants 1 et 2. Il est donc possible d’avoir un freinage par inversion de la tension (renvoi de l’énergie sur le réseau). </a:t>
            </a:r>
          </a:p>
        </p:txBody>
      </p:sp>
      <p:grpSp>
        <p:nvGrpSpPr>
          <p:cNvPr id="124934" name="Group 50"/>
          <p:cNvGrpSpPr>
            <a:grpSpLocks/>
          </p:cNvGrpSpPr>
          <p:nvPr/>
        </p:nvGrpSpPr>
        <p:grpSpPr bwMode="auto">
          <a:xfrm>
            <a:off x="1990725" y="1697038"/>
            <a:ext cx="3313113" cy="1576387"/>
            <a:chOff x="1254" y="1069"/>
            <a:chExt cx="2087" cy="993"/>
          </a:xfrm>
        </p:grpSpPr>
        <p:sp>
          <p:nvSpPr>
            <p:cNvPr id="124947" name="Text Box 14"/>
            <p:cNvSpPr txBox="1">
              <a:spLocks noChangeArrowheads="1"/>
            </p:cNvSpPr>
            <p:nvPr/>
          </p:nvSpPr>
          <p:spPr bwMode="auto">
            <a:xfrm>
              <a:off x="1254" y="1449"/>
              <a:ext cx="632"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Réseau</a:t>
              </a:r>
            </a:p>
          </p:txBody>
        </p:sp>
        <p:sp>
          <p:nvSpPr>
            <p:cNvPr id="124948" name="Line 15"/>
            <p:cNvSpPr>
              <a:spLocks noChangeShapeType="1"/>
            </p:cNvSpPr>
            <p:nvPr/>
          </p:nvSpPr>
          <p:spPr bwMode="auto">
            <a:xfrm>
              <a:off x="3161" y="1121"/>
              <a:ext cx="0" cy="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9" name="Line 16"/>
            <p:cNvSpPr>
              <a:spLocks noChangeShapeType="1"/>
            </p:cNvSpPr>
            <p:nvPr/>
          </p:nvSpPr>
          <p:spPr bwMode="auto">
            <a:xfrm>
              <a:off x="1897" y="1121"/>
              <a:ext cx="0" cy="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0" name="Line 17"/>
            <p:cNvSpPr>
              <a:spLocks noChangeShapeType="1"/>
            </p:cNvSpPr>
            <p:nvPr/>
          </p:nvSpPr>
          <p:spPr bwMode="auto">
            <a:xfrm>
              <a:off x="1776" y="1255"/>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1" name="Line 18"/>
            <p:cNvSpPr>
              <a:spLocks noChangeShapeType="1"/>
            </p:cNvSpPr>
            <p:nvPr/>
          </p:nvSpPr>
          <p:spPr bwMode="auto">
            <a:xfrm flipH="1">
              <a:off x="1776" y="1255"/>
              <a:ext cx="121"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2" name="Line 19"/>
            <p:cNvSpPr>
              <a:spLocks noChangeShapeType="1"/>
            </p:cNvSpPr>
            <p:nvPr/>
          </p:nvSpPr>
          <p:spPr bwMode="auto">
            <a:xfrm>
              <a:off x="1897" y="1255"/>
              <a:ext cx="120"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3" name="Line 20"/>
            <p:cNvSpPr>
              <a:spLocks noChangeShapeType="1"/>
            </p:cNvSpPr>
            <p:nvPr/>
          </p:nvSpPr>
          <p:spPr bwMode="auto">
            <a:xfrm>
              <a:off x="1776" y="1389"/>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4" name="Line 21"/>
            <p:cNvSpPr>
              <a:spLocks noChangeShapeType="1"/>
            </p:cNvSpPr>
            <p:nvPr/>
          </p:nvSpPr>
          <p:spPr bwMode="auto">
            <a:xfrm>
              <a:off x="1776" y="1723"/>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5" name="Line 22"/>
            <p:cNvSpPr>
              <a:spLocks noChangeShapeType="1"/>
            </p:cNvSpPr>
            <p:nvPr/>
          </p:nvSpPr>
          <p:spPr bwMode="auto">
            <a:xfrm flipH="1">
              <a:off x="1776" y="1723"/>
              <a:ext cx="121"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6" name="Line 23"/>
            <p:cNvSpPr>
              <a:spLocks noChangeShapeType="1"/>
            </p:cNvSpPr>
            <p:nvPr/>
          </p:nvSpPr>
          <p:spPr bwMode="auto">
            <a:xfrm>
              <a:off x="1897" y="1723"/>
              <a:ext cx="120"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7" name="Line 24"/>
            <p:cNvSpPr>
              <a:spLocks noChangeShapeType="1"/>
            </p:cNvSpPr>
            <p:nvPr/>
          </p:nvSpPr>
          <p:spPr bwMode="auto">
            <a:xfrm>
              <a:off x="1776" y="1857"/>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8" name="Line 25"/>
            <p:cNvSpPr>
              <a:spLocks noChangeShapeType="1"/>
            </p:cNvSpPr>
            <p:nvPr/>
          </p:nvSpPr>
          <p:spPr bwMode="auto">
            <a:xfrm>
              <a:off x="2328" y="1125"/>
              <a:ext cx="0" cy="93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59" name="Line 26"/>
            <p:cNvSpPr>
              <a:spLocks noChangeShapeType="1"/>
            </p:cNvSpPr>
            <p:nvPr/>
          </p:nvSpPr>
          <p:spPr bwMode="auto">
            <a:xfrm>
              <a:off x="2198" y="1255"/>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0" name="Line 27"/>
            <p:cNvSpPr>
              <a:spLocks noChangeShapeType="1"/>
            </p:cNvSpPr>
            <p:nvPr/>
          </p:nvSpPr>
          <p:spPr bwMode="auto">
            <a:xfrm flipH="1">
              <a:off x="2198" y="1255"/>
              <a:ext cx="120"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1" name="Line 28"/>
            <p:cNvSpPr>
              <a:spLocks noChangeShapeType="1"/>
            </p:cNvSpPr>
            <p:nvPr/>
          </p:nvSpPr>
          <p:spPr bwMode="auto">
            <a:xfrm>
              <a:off x="2318" y="1255"/>
              <a:ext cx="121"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2" name="Line 29"/>
            <p:cNvSpPr>
              <a:spLocks noChangeShapeType="1"/>
            </p:cNvSpPr>
            <p:nvPr/>
          </p:nvSpPr>
          <p:spPr bwMode="auto">
            <a:xfrm>
              <a:off x="2198" y="1389"/>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3" name="Line 30"/>
            <p:cNvSpPr>
              <a:spLocks noChangeShapeType="1"/>
            </p:cNvSpPr>
            <p:nvPr/>
          </p:nvSpPr>
          <p:spPr bwMode="auto">
            <a:xfrm>
              <a:off x="2198" y="1723"/>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4" name="Line 31"/>
            <p:cNvSpPr>
              <a:spLocks noChangeShapeType="1"/>
            </p:cNvSpPr>
            <p:nvPr/>
          </p:nvSpPr>
          <p:spPr bwMode="auto">
            <a:xfrm flipH="1">
              <a:off x="2198" y="1723"/>
              <a:ext cx="120"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5" name="Line 32"/>
            <p:cNvSpPr>
              <a:spLocks noChangeShapeType="1"/>
            </p:cNvSpPr>
            <p:nvPr/>
          </p:nvSpPr>
          <p:spPr bwMode="auto">
            <a:xfrm>
              <a:off x="2318" y="1723"/>
              <a:ext cx="121" cy="13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6" name="Line 33"/>
            <p:cNvSpPr>
              <a:spLocks noChangeShapeType="1"/>
            </p:cNvSpPr>
            <p:nvPr/>
          </p:nvSpPr>
          <p:spPr bwMode="auto">
            <a:xfrm>
              <a:off x="2198" y="1857"/>
              <a:ext cx="24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7" name="Line 34"/>
            <p:cNvSpPr>
              <a:spLocks noChangeShapeType="1"/>
            </p:cNvSpPr>
            <p:nvPr/>
          </p:nvSpPr>
          <p:spPr bwMode="auto">
            <a:xfrm flipH="1">
              <a:off x="1476" y="1456"/>
              <a:ext cx="4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8" name="Line 35"/>
            <p:cNvSpPr>
              <a:spLocks noChangeShapeType="1"/>
            </p:cNvSpPr>
            <p:nvPr/>
          </p:nvSpPr>
          <p:spPr bwMode="auto">
            <a:xfrm flipH="1">
              <a:off x="1476" y="1656"/>
              <a:ext cx="84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69" name="Line 36"/>
            <p:cNvSpPr>
              <a:spLocks noChangeShapeType="1"/>
            </p:cNvSpPr>
            <p:nvPr/>
          </p:nvSpPr>
          <p:spPr bwMode="auto">
            <a:xfrm>
              <a:off x="1897" y="1121"/>
              <a:ext cx="1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70" name="Line 37"/>
            <p:cNvSpPr>
              <a:spLocks noChangeShapeType="1"/>
            </p:cNvSpPr>
            <p:nvPr/>
          </p:nvSpPr>
          <p:spPr bwMode="auto">
            <a:xfrm>
              <a:off x="1897" y="2058"/>
              <a:ext cx="1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71" name="Line 38"/>
            <p:cNvSpPr>
              <a:spLocks noChangeShapeType="1"/>
            </p:cNvSpPr>
            <p:nvPr/>
          </p:nvSpPr>
          <p:spPr bwMode="auto">
            <a:xfrm flipH="1">
              <a:off x="1716" y="1322"/>
              <a:ext cx="12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72" name="Line 39"/>
            <p:cNvSpPr>
              <a:spLocks noChangeShapeType="1"/>
            </p:cNvSpPr>
            <p:nvPr/>
          </p:nvSpPr>
          <p:spPr bwMode="auto">
            <a:xfrm flipH="1">
              <a:off x="2138" y="1322"/>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73" name="Oval 40"/>
            <p:cNvSpPr>
              <a:spLocks noChangeArrowheads="1"/>
            </p:cNvSpPr>
            <p:nvPr/>
          </p:nvSpPr>
          <p:spPr bwMode="auto">
            <a:xfrm>
              <a:off x="2980" y="1389"/>
              <a:ext cx="361" cy="401"/>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24974" name="Text Box 41"/>
            <p:cNvSpPr txBox="1">
              <a:spLocks noChangeArrowheads="1"/>
            </p:cNvSpPr>
            <p:nvPr/>
          </p:nvSpPr>
          <p:spPr bwMode="auto">
            <a:xfrm>
              <a:off x="3040" y="1456"/>
              <a:ext cx="241"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M</a:t>
              </a:r>
            </a:p>
            <a:p>
              <a:pPr eaLnBrk="1" hangingPunct="1">
                <a:spcBef>
                  <a:spcPct val="0"/>
                </a:spcBef>
                <a:buClrTx/>
                <a:buSzTx/>
                <a:buFontTx/>
                <a:buNone/>
              </a:pPr>
              <a:r>
                <a:rPr lang="fr-FR" altLang="fr-FR" sz="1600">
                  <a:latin typeface="Arial" panose="020B0604020202020204" pitchFamily="34" charset="0"/>
                </a:rPr>
                <a:t>=</a:t>
              </a:r>
            </a:p>
          </p:txBody>
        </p:sp>
        <p:sp>
          <p:nvSpPr>
            <p:cNvPr id="124975" name="Text Box 42"/>
            <p:cNvSpPr txBox="1">
              <a:spLocks noChangeArrowheads="1"/>
            </p:cNvSpPr>
            <p:nvPr/>
          </p:nvSpPr>
          <p:spPr bwMode="auto">
            <a:xfrm>
              <a:off x="2306" y="1359"/>
              <a:ext cx="410" cy="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Th2</a:t>
              </a:r>
            </a:p>
          </p:txBody>
        </p:sp>
        <p:sp>
          <p:nvSpPr>
            <p:cNvPr id="124976" name="Text Box 43"/>
            <p:cNvSpPr txBox="1">
              <a:spLocks noChangeArrowheads="1"/>
            </p:cNvSpPr>
            <p:nvPr/>
          </p:nvSpPr>
          <p:spPr bwMode="auto">
            <a:xfrm>
              <a:off x="1595" y="1069"/>
              <a:ext cx="40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Th1</a:t>
              </a:r>
            </a:p>
          </p:txBody>
        </p:sp>
        <p:sp>
          <p:nvSpPr>
            <p:cNvPr id="124977" name="Text Box 44"/>
            <p:cNvSpPr txBox="1">
              <a:spLocks noChangeArrowheads="1"/>
            </p:cNvSpPr>
            <p:nvPr/>
          </p:nvSpPr>
          <p:spPr bwMode="auto">
            <a:xfrm>
              <a:off x="1550" y="1835"/>
              <a:ext cx="425"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Th4</a:t>
              </a:r>
            </a:p>
          </p:txBody>
        </p:sp>
        <p:sp>
          <p:nvSpPr>
            <p:cNvPr id="124978" name="Text Box 45"/>
            <p:cNvSpPr txBox="1">
              <a:spLocks noChangeArrowheads="1"/>
            </p:cNvSpPr>
            <p:nvPr/>
          </p:nvSpPr>
          <p:spPr bwMode="auto">
            <a:xfrm>
              <a:off x="2303" y="1846"/>
              <a:ext cx="446"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Th3</a:t>
              </a:r>
            </a:p>
          </p:txBody>
        </p:sp>
        <p:sp>
          <p:nvSpPr>
            <p:cNvPr id="124979" name="Line 46"/>
            <p:cNvSpPr>
              <a:spLocks noChangeShapeType="1"/>
            </p:cNvSpPr>
            <p:nvPr/>
          </p:nvSpPr>
          <p:spPr bwMode="auto">
            <a:xfrm flipH="1">
              <a:off x="2184" y="1771"/>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80" name="Line 47"/>
            <p:cNvSpPr>
              <a:spLocks noChangeShapeType="1"/>
            </p:cNvSpPr>
            <p:nvPr/>
          </p:nvSpPr>
          <p:spPr bwMode="auto">
            <a:xfrm flipH="1">
              <a:off x="1754" y="1771"/>
              <a:ext cx="12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grpSp>
      <p:grpSp>
        <p:nvGrpSpPr>
          <p:cNvPr id="3" name="Group 53"/>
          <p:cNvGrpSpPr>
            <a:grpSpLocks/>
          </p:cNvGrpSpPr>
          <p:nvPr/>
        </p:nvGrpSpPr>
        <p:grpSpPr bwMode="auto">
          <a:xfrm>
            <a:off x="4960938" y="1778000"/>
            <a:ext cx="2324100" cy="1481138"/>
            <a:chOff x="3829" y="1131"/>
            <a:chExt cx="1464" cy="933"/>
          </a:xfrm>
        </p:grpSpPr>
        <p:sp>
          <p:nvSpPr>
            <p:cNvPr id="124939" name="Text Box 12"/>
            <p:cNvSpPr txBox="1">
              <a:spLocks noChangeArrowheads="1"/>
            </p:cNvSpPr>
            <p:nvPr/>
          </p:nvSpPr>
          <p:spPr bwMode="auto">
            <a:xfrm>
              <a:off x="4647" y="1336"/>
              <a:ext cx="646" cy="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solidFill>
                    <a:srgbClr val="FF0000"/>
                  </a:solidFill>
                  <a:latin typeface="Arial" panose="020B0604020202020204" pitchFamily="34" charset="0"/>
                </a:rPr>
                <a:t>Module de freinage</a:t>
              </a:r>
            </a:p>
          </p:txBody>
        </p:sp>
        <p:sp>
          <p:nvSpPr>
            <p:cNvPr id="124940" name="Line 5"/>
            <p:cNvSpPr>
              <a:spLocks noChangeShapeType="1"/>
            </p:cNvSpPr>
            <p:nvPr/>
          </p:nvSpPr>
          <p:spPr bwMode="auto">
            <a:xfrm>
              <a:off x="3829" y="1131"/>
              <a:ext cx="717"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1" name="Line 7"/>
            <p:cNvSpPr>
              <a:spLocks noChangeShapeType="1"/>
            </p:cNvSpPr>
            <p:nvPr/>
          </p:nvSpPr>
          <p:spPr bwMode="auto">
            <a:xfrm>
              <a:off x="4546" y="1131"/>
              <a:ext cx="0" cy="14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2" name="Line 8"/>
            <p:cNvSpPr>
              <a:spLocks noChangeShapeType="1"/>
            </p:cNvSpPr>
            <p:nvPr/>
          </p:nvSpPr>
          <p:spPr bwMode="auto">
            <a:xfrm>
              <a:off x="4403" y="1275"/>
              <a:ext cx="143" cy="14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3" name="Rectangle 9"/>
            <p:cNvSpPr>
              <a:spLocks noChangeArrowheads="1"/>
            </p:cNvSpPr>
            <p:nvPr/>
          </p:nvSpPr>
          <p:spPr bwMode="auto">
            <a:xfrm>
              <a:off x="4474" y="1490"/>
              <a:ext cx="144" cy="359"/>
            </a:xfrm>
            <a:prstGeom prst="rect">
              <a:avLst/>
            </a:prstGeom>
            <a:solidFill>
              <a:srgbClr val="FFFFFF"/>
            </a:solidFill>
            <a:ln w="9525">
              <a:solidFill>
                <a:srgbClr val="FF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24944" name="Line 10"/>
            <p:cNvSpPr>
              <a:spLocks noChangeShapeType="1"/>
            </p:cNvSpPr>
            <p:nvPr/>
          </p:nvSpPr>
          <p:spPr bwMode="auto">
            <a:xfrm>
              <a:off x="4546" y="1418"/>
              <a:ext cx="0" cy="72"/>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5" name="Line 11"/>
            <p:cNvSpPr>
              <a:spLocks noChangeShapeType="1"/>
            </p:cNvSpPr>
            <p:nvPr/>
          </p:nvSpPr>
          <p:spPr bwMode="auto">
            <a:xfrm>
              <a:off x="4546" y="1849"/>
              <a:ext cx="0" cy="21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4946" name="Line 51"/>
            <p:cNvSpPr>
              <a:spLocks noChangeShapeType="1"/>
            </p:cNvSpPr>
            <p:nvPr/>
          </p:nvSpPr>
          <p:spPr bwMode="auto">
            <a:xfrm>
              <a:off x="3842" y="2055"/>
              <a:ext cx="717" cy="0"/>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84022" name="Rectangle 54"/>
          <p:cNvSpPr>
            <a:spLocks noChangeArrowheads="1"/>
          </p:cNvSpPr>
          <p:nvPr/>
        </p:nvSpPr>
        <p:spPr bwMode="auto">
          <a:xfrm>
            <a:off x="1093788" y="5019675"/>
            <a:ext cx="775970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Par contre la réversibilité en courant n’est pas possible.</a:t>
            </a:r>
          </a:p>
          <a:p>
            <a:pPr eaLnBrk="1" hangingPunct="1">
              <a:spcBef>
                <a:spcPct val="0"/>
              </a:spcBef>
              <a:buClrTx/>
              <a:buSzTx/>
              <a:buFontTx/>
              <a:buNone/>
            </a:pPr>
            <a:r>
              <a:rPr lang="fr-FR" altLang="fr-FR" sz="1800">
                <a:latin typeface="Arial" panose="020B0604020202020204" pitchFamily="34" charset="0"/>
              </a:rPr>
              <a:t>Une solution consiste à rajouter un module de freinage. On a alors un freinage possible dans les quadrants 2 et 4.</a:t>
            </a:r>
          </a:p>
        </p:txBody>
      </p:sp>
      <p:sp>
        <p:nvSpPr>
          <p:cNvPr id="124937"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8794" name="Rectangle 51"/>
          <p:cNvSpPr>
            <a:spLocks noChangeArrowheads="1"/>
          </p:cNvSpPr>
          <p:nvPr/>
        </p:nvSpPr>
        <p:spPr bwMode="auto">
          <a:xfrm>
            <a:off x="2289175" y="223838"/>
            <a:ext cx="3516313" cy="307975"/>
          </a:xfrm>
          <a:prstGeom prst="rect">
            <a:avLst/>
          </a:prstGeom>
          <a:noFill/>
          <a:ln w="9525">
            <a:noFill/>
            <a:miter lim="800000"/>
            <a:headEnd/>
            <a:tailEnd/>
          </a:ln>
        </p:spPr>
        <p:txBody>
          <a:bodyPr wrap="none">
            <a:spAutoFit/>
          </a:bodyPr>
          <a:lstStyle/>
          <a:p>
            <a:pPr eaLnBrk="1" hangingPunct="1">
              <a:defRPr/>
            </a:pPr>
            <a:r>
              <a:rPr lang="fr-FR" sz="1400" b="1" cap="small" dirty="0">
                <a:solidFill>
                  <a:srgbClr val="0000EC"/>
                </a:solidFill>
                <a:cs typeface="Times New Roman" pitchFamily="18" charset="0"/>
              </a:rPr>
              <a:t>Freinage du moteur à courant continu</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3971"/>
                                        </p:tgtEl>
                                        <p:attrNameLst>
                                          <p:attrName>style.visibility</p:attrName>
                                        </p:attrNameLst>
                                      </p:cBhvr>
                                      <p:to>
                                        <p:strVal val="visible"/>
                                      </p:to>
                                    </p:set>
                                    <p:anim calcmode="lin" valueType="num">
                                      <p:cBhvr>
                                        <p:cTn id="7" dur="500" fill="hold"/>
                                        <p:tgtEl>
                                          <p:spTgt spid="83971"/>
                                        </p:tgtEl>
                                        <p:attrNameLst>
                                          <p:attrName>ppt_w</p:attrName>
                                        </p:attrNameLst>
                                      </p:cBhvr>
                                      <p:tavLst>
                                        <p:tav tm="0">
                                          <p:val>
                                            <p:fltVal val="0"/>
                                          </p:val>
                                        </p:tav>
                                        <p:tav tm="100000">
                                          <p:val>
                                            <p:strVal val="#ppt_w"/>
                                          </p:val>
                                        </p:tav>
                                      </p:tavLst>
                                    </p:anim>
                                    <p:anim calcmode="lin" valueType="num">
                                      <p:cBhvr>
                                        <p:cTn id="8" dur="500" fill="hold"/>
                                        <p:tgtEl>
                                          <p:spTgt spid="83971"/>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84022"/>
                                        </p:tgtEl>
                                        <p:attrNameLst>
                                          <p:attrName>style.visibility</p:attrName>
                                        </p:attrNameLst>
                                      </p:cBhvr>
                                      <p:to>
                                        <p:strVal val="visible"/>
                                      </p:to>
                                    </p:set>
                                    <p:anim calcmode="lin" valueType="num">
                                      <p:cBhvr>
                                        <p:cTn id="13" dur="500" fill="hold"/>
                                        <p:tgtEl>
                                          <p:spTgt spid="84022"/>
                                        </p:tgtEl>
                                        <p:attrNameLst>
                                          <p:attrName>ppt_w</p:attrName>
                                        </p:attrNameLst>
                                      </p:cBhvr>
                                      <p:tavLst>
                                        <p:tav tm="0">
                                          <p:val>
                                            <p:fltVal val="0"/>
                                          </p:val>
                                        </p:tav>
                                        <p:tav tm="100000">
                                          <p:val>
                                            <p:strVal val="#ppt_w"/>
                                          </p:val>
                                        </p:tav>
                                      </p:tavLst>
                                    </p:anim>
                                    <p:anim calcmode="lin" valueType="num">
                                      <p:cBhvr>
                                        <p:cTn id="14" dur="500" fill="hold"/>
                                        <p:tgtEl>
                                          <p:spTgt spid="84022"/>
                                        </p:tgtEl>
                                        <p:attrNameLst>
                                          <p:attrName>ppt_h</p:attrName>
                                        </p:attrNameLst>
                                      </p:cBhvr>
                                      <p:tavLst>
                                        <p:tav tm="0">
                                          <p:val>
                                            <p:strVal val="#ppt_h"/>
                                          </p:val>
                                        </p:tav>
                                        <p:tav tm="100000">
                                          <p:val>
                                            <p:strVal val="#ppt_h"/>
                                          </p:val>
                                        </p:tav>
                                      </p:tavLst>
                                    </p:anim>
                                  </p:childTnLst>
                                </p:cTn>
                              </p:par>
                            </p:childTnLst>
                          </p:cTn>
                        </p:par>
                        <p:par>
                          <p:cTn id="15" fill="hold" nodeType="afterGroup">
                            <p:stCondLst>
                              <p:cond delay="500"/>
                            </p:stCondLst>
                            <p:childTnLst>
                              <p:par>
                                <p:cTn id="16" presetID="2" presetClass="entr" presetSubtype="2" fill="hold" nodeType="afterEffect">
                                  <p:stCondLst>
                                    <p:cond delay="100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1+#ppt_w/2"/>
                                          </p:val>
                                        </p:tav>
                                        <p:tav tm="100000">
                                          <p:val>
                                            <p:strVal val="#ppt_x"/>
                                          </p:val>
                                        </p:tav>
                                      </p:tavLst>
                                    </p:anim>
                                    <p:anim calcmode="lin" valueType="num">
                                      <p:cBhvr additive="base">
                                        <p:cTn id="19"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1" grpId="0" autoUpdateAnimBg="0"/>
      <p:bldP spid="84022"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38" name="Espace réservé du pied de page 37"/>
          <p:cNvSpPr>
            <a:spLocks noGrp="1"/>
          </p:cNvSpPr>
          <p:nvPr>
            <p:ph type="ftr" sz="quarter" idx="11"/>
          </p:nvPr>
        </p:nvSpPr>
        <p:spPr/>
        <p:txBody>
          <a:bodyPr/>
          <a:lstStyle/>
          <a:p>
            <a:pPr>
              <a:defRPr/>
            </a:pPr>
            <a:r>
              <a:rPr lang="fr-FR"/>
              <a:t>Commande des machines   3.MCC     Ali NEJMI</a:t>
            </a:r>
          </a:p>
        </p:txBody>
      </p:sp>
      <p:sp>
        <p:nvSpPr>
          <p:cNvPr id="126979"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0AA877B9-1BEC-4533-B45A-02F22F7059FD}" type="slidenum">
              <a:rPr lang="fr-FR" altLang="fr-FR" sz="1000" smtClean="0">
                <a:solidFill>
                  <a:srgbClr val="292929"/>
                </a:solidFill>
                <a:latin typeface="Arial" panose="020B0604020202020204" pitchFamily="34" charset="0"/>
              </a:rPr>
              <a:pPr>
                <a:spcBef>
                  <a:spcPct val="0"/>
                </a:spcBef>
                <a:buClrTx/>
                <a:buSzTx/>
                <a:buFontTx/>
                <a:buNone/>
              </a:pPr>
              <a:t>67</a:t>
            </a:fld>
            <a:endParaRPr lang="fr-FR" altLang="fr-FR" sz="1000" smtClean="0">
              <a:solidFill>
                <a:srgbClr val="292929"/>
              </a:solidFill>
              <a:latin typeface="Arial" panose="020B0604020202020204" pitchFamily="34" charset="0"/>
            </a:endParaRPr>
          </a:p>
        </p:txBody>
      </p:sp>
      <p:sp>
        <p:nvSpPr>
          <p:cNvPr id="126980" name="Text Box 2"/>
          <p:cNvSpPr txBox="1">
            <a:spLocks noChangeArrowheads="1"/>
          </p:cNvSpPr>
          <p:nvPr/>
        </p:nvSpPr>
        <p:spPr bwMode="auto">
          <a:xfrm>
            <a:off x="428625" y="828675"/>
            <a:ext cx="4814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b="1">
                <a:solidFill>
                  <a:srgbClr val="C00000"/>
                </a:solidFill>
                <a:latin typeface="Arial" panose="020B0604020202020204" pitchFamily="34" charset="0"/>
              </a:rPr>
              <a:t>Hacheur avec un interrupteur statique</a:t>
            </a:r>
          </a:p>
        </p:txBody>
      </p:sp>
      <p:grpSp>
        <p:nvGrpSpPr>
          <p:cNvPr id="126981" name="Group 3"/>
          <p:cNvGrpSpPr>
            <a:grpSpLocks/>
          </p:cNvGrpSpPr>
          <p:nvPr/>
        </p:nvGrpSpPr>
        <p:grpSpPr bwMode="auto">
          <a:xfrm>
            <a:off x="2038350" y="1492250"/>
            <a:ext cx="5421313" cy="1851025"/>
            <a:chOff x="1728" y="1104"/>
            <a:chExt cx="2329" cy="795"/>
          </a:xfrm>
        </p:grpSpPr>
        <p:sp>
          <p:nvSpPr>
            <p:cNvPr id="126993" name="Line 4"/>
            <p:cNvSpPr>
              <a:spLocks noChangeShapeType="1"/>
            </p:cNvSpPr>
            <p:nvPr/>
          </p:nvSpPr>
          <p:spPr bwMode="auto">
            <a:xfrm>
              <a:off x="1785" y="1388"/>
              <a:ext cx="79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6994" name="Line 5"/>
            <p:cNvSpPr>
              <a:spLocks noChangeShapeType="1"/>
            </p:cNvSpPr>
            <p:nvPr/>
          </p:nvSpPr>
          <p:spPr bwMode="auto">
            <a:xfrm flipV="1">
              <a:off x="2580" y="1388"/>
              <a:ext cx="170" cy="5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6995" name="Line 6"/>
            <p:cNvSpPr>
              <a:spLocks noChangeShapeType="1"/>
            </p:cNvSpPr>
            <p:nvPr/>
          </p:nvSpPr>
          <p:spPr bwMode="auto">
            <a:xfrm>
              <a:off x="2750" y="1388"/>
              <a:ext cx="739"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6996" name="Line 7"/>
            <p:cNvSpPr>
              <a:spLocks noChangeShapeType="1"/>
            </p:cNvSpPr>
            <p:nvPr/>
          </p:nvSpPr>
          <p:spPr bwMode="auto">
            <a:xfrm>
              <a:off x="3489" y="1388"/>
              <a:ext cx="0" cy="11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6997" name="Oval 8"/>
            <p:cNvSpPr>
              <a:spLocks noChangeArrowheads="1"/>
            </p:cNvSpPr>
            <p:nvPr/>
          </p:nvSpPr>
          <p:spPr bwMode="auto">
            <a:xfrm>
              <a:off x="3375" y="1502"/>
              <a:ext cx="228" cy="227"/>
            </a:xfrm>
            <a:prstGeom prst="ellipse">
              <a:avLst/>
            </a:prstGeom>
            <a:solidFill>
              <a:srgbClr val="FFFFFF"/>
            </a:solidFill>
            <a:ln w="9525">
              <a:solidFill>
                <a:srgbClr val="000000"/>
              </a:solidFill>
              <a:round/>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26998" name="Line 9"/>
            <p:cNvSpPr>
              <a:spLocks noChangeShapeType="1"/>
            </p:cNvSpPr>
            <p:nvPr/>
          </p:nvSpPr>
          <p:spPr bwMode="auto">
            <a:xfrm>
              <a:off x="2921" y="1502"/>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6999" name="Line 10"/>
            <p:cNvSpPr>
              <a:spLocks noChangeShapeType="1"/>
            </p:cNvSpPr>
            <p:nvPr/>
          </p:nvSpPr>
          <p:spPr bwMode="auto">
            <a:xfrm flipH="1">
              <a:off x="2921" y="1502"/>
              <a:ext cx="57"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7000" name="Line 11"/>
            <p:cNvSpPr>
              <a:spLocks noChangeShapeType="1"/>
            </p:cNvSpPr>
            <p:nvPr/>
          </p:nvSpPr>
          <p:spPr bwMode="auto">
            <a:xfrm>
              <a:off x="2978" y="1502"/>
              <a:ext cx="57" cy="1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7001" name="Line 12"/>
            <p:cNvSpPr>
              <a:spLocks noChangeShapeType="1"/>
            </p:cNvSpPr>
            <p:nvPr/>
          </p:nvSpPr>
          <p:spPr bwMode="auto">
            <a:xfrm>
              <a:off x="2921" y="1615"/>
              <a:ext cx="11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7002" name="Line 13"/>
            <p:cNvSpPr>
              <a:spLocks noChangeShapeType="1"/>
            </p:cNvSpPr>
            <p:nvPr/>
          </p:nvSpPr>
          <p:spPr bwMode="auto">
            <a:xfrm>
              <a:off x="2978" y="1388"/>
              <a:ext cx="0" cy="5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7003" name="Line 14"/>
            <p:cNvSpPr>
              <a:spLocks noChangeShapeType="1"/>
            </p:cNvSpPr>
            <p:nvPr/>
          </p:nvSpPr>
          <p:spPr bwMode="auto">
            <a:xfrm>
              <a:off x="3489" y="1729"/>
              <a:ext cx="0" cy="17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7004" name="Line 15"/>
            <p:cNvSpPr>
              <a:spLocks noChangeShapeType="1"/>
            </p:cNvSpPr>
            <p:nvPr/>
          </p:nvSpPr>
          <p:spPr bwMode="auto">
            <a:xfrm flipH="1">
              <a:off x="1728" y="1899"/>
              <a:ext cx="1761"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7005" name="Rectangle 16"/>
            <p:cNvSpPr>
              <a:spLocks noChangeArrowheads="1"/>
            </p:cNvSpPr>
            <p:nvPr/>
          </p:nvSpPr>
          <p:spPr bwMode="auto">
            <a:xfrm>
              <a:off x="2466" y="1274"/>
              <a:ext cx="341" cy="284"/>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27006" name="Line 17"/>
            <p:cNvSpPr>
              <a:spLocks noChangeShapeType="1"/>
            </p:cNvSpPr>
            <p:nvPr/>
          </p:nvSpPr>
          <p:spPr bwMode="auto">
            <a:xfrm flipV="1">
              <a:off x="2637" y="1445"/>
              <a:ext cx="0" cy="22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7007" name="Text Box 18"/>
            <p:cNvSpPr txBox="1">
              <a:spLocks noChangeArrowheads="1"/>
            </p:cNvSpPr>
            <p:nvPr/>
          </p:nvSpPr>
          <p:spPr bwMode="auto">
            <a:xfrm>
              <a:off x="2296" y="1672"/>
              <a:ext cx="625" cy="170"/>
            </a:xfrm>
            <a:prstGeom prst="rect">
              <a:avLst/>
            </a:prstGeom>
            <a:solidFill>
              <a:srgbClr val="FFFFFF"/>
            </a:solidFill>
            <a:ln w="9525">
              <a:solidFill>
                <a:srgbClr val="00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commande</a:t>
              </a:r>
            </a:p>
          </p:txBody>
        </p:sp>
        <p:sp>
          <p:nvSpPr>
            <p:cNvPr id="127008" name="Line 19"/>
            <p:cNvSpPr>
              <a:spLocks noChangeShapeType="1"/>
            </p:cNvSpPr>
            <p:nvPr/>
          </p:nvSpPr>
          <p:spPr bwMode="auto">
            <a:xfrm flipV="1">
              <a:off x="1898" y="1445"/>
              <a:ext cx="0" cy="39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7009" name="Line 20"/>
            <p:cNvSpPr>
              <a:spLocks noChangeShapeType="1"/>
            </p:cNvSpPr>
            <p:nvPr/>
          </p:nvSpPr>
          <p:spPr bwMode="auto">
            <a:xfrm>
              <a:off x="3148" y="1388"/>
              <a:ext cx="114"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7010" name="Line 21"/>
            <p:cNvSpPr>
              <a:spLocks noChangeShapeType="1"/>
            </p:cNvSpPr>
            <p:nvPr/>
          </p:nvSpPr>
          <p:spPr bwMode="auto">
            <a:xfrm flipV="1">
              <a:off x="3773" y="1445"/>
              <a:ext cx="0" cy="39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27011" name="Text Box 22"/>
            <p:cNvSpPr txBox="1">
              <a:spLocks noChangeArrowheads="1"/>
            </p:cNvSpPr>
            <p:nvPr/>
          </p:nvSpPr>
          <p:spPr bwMode="auto">
            <a:xfrm>
              <a:off x="3773" y="1558"/>
              <a:ext cx="284"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U</a:t>
              </a:r>
              <a:r>
                <a:rPr lang="fr-FR" altLang="fr-FR" sz="1600" baseline="-25000">
                  <a:latin typeface="Arial" panose="020B0604020202020204" pitchFamily="34" charset="0"/>
                </a:rPr>
                <a:t>M</a:t>
              </a:r>
              <a:endParaRPr lang="fr-FR" altLang="fr-FR" sz="1600">
                <a:latin typeface="Arial" panose="020B0604020202020204" pitchFamily="34" charset="0"/>
              </a:endParaRPr>
            </a:p>
          </p:txBody>
        </p:sp>
        <p:sp>
          <p:nvSpPr>
            <p:cNvPr id="127012" name="Text Box 23"/>
            <p:cNvSpPr txBox="1">
              <a:spLocks noChangeArrowheads="1"/>
            </p:cNvSpPr>
            <p:nvPr/>
          </p:nvSpPr>
          <p:spPr bwMode="auto">
            <a:xfrm>
              <a:off x="3375" y="1558"/>
              <a:ext cx="228"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  M</a:t>
              </a:r>
            </a:p>
          </p:txBody>
        </p:sp>
        <p:sp>
          <p:nvSpPr>
            <p:cNvPr id="127013" name="Text Box 24"/>
            <p:cNvSpPr txBox="1">
              <a:spLocks noChangeArrowheads="1"/>
            </p:cNvSpPr>
            <p:nvPr/>
          </p:nvSpPr>
          <p:spPr bwMode="auto">
            <a:xfrm>
              <a:off x="3035" y="1502"/>
              <a:ext cx="284"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DRL</a:t>
              </a:r>
            </a:p>
          </p:txBody>
        </p:sp>
        <p:sp>
          <p:nvSpPr>
            <p:cNvPr id="127014" name="Text Box 25"/>
            <p:cNvSpPr txBox="1">
              <a:spLocks noChangeArrowheads="1"/>
            </p:cNvSpPr>
            <p:nvPr/>
          </p:nvSpPr>
          <p:spPr bwMode="auto">
            <a:xfrm>
              <a:off x="2410" y="1104"/>
              <a:ext cx="568"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HACHEUR</a:t>
              </a:r>
            </a:p>
          </p:txBody>
        </p:sp>
        <p:sp>
          <p:nvSpPr>
            <p:cNvPr id="127015" name="Text Box 26"/>
            <p:cNvSpPr txBox="1">
              <a:spLocks noChangeArrowheads="1"/>
            </p:cNvSpPr>
            <p:nvPr/>
          </p:nvSpPr>
          <p:spPr bwMode="auto">
            <a:xfrm>
              <a:off x="1728" y="1558"/>
              <a:ext cx="170"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E</a:t>
              </a:r>
            </a:p>
          </p:txBody>
        </p:sp>
        <p:sp>
          <p:nvSpPr>
            <p:cNvPr id="127016" name="Text Box 27"/>
            <p:cNvSpPr txBox="1">
              <a:spLocks noChangeArrowheads="1"/>
            </p:cNvSpPr>
            <p:nvPr/>
          </p:nvSpPr>
          <p:spPr bwMode="auto">
            <a:xfrm>
              <a:off x="3204" y="1218"/>
              <a:ext cx="28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latin typeface="Arial" panose="020B0604020202020204" pitchFamily="34" charset="0"/>
                </a:rPr>
                <a:t>I</a:t>
              </a:r>
              <a:r>
                <a:rPr lang="fr-FR" altLang="fr-FR" sz="1600" baseline="-25000">
                  <a:latin typeface="Arial" panose="020B0604020202020204" pitchFamily="34" charset="0"/>
                </a:rPr>
                <a:t>M</a:t>
              </a:r>
              <a:endParaRPr lang="fr-FR" altLang="fr-FR" sz="1600">
                <a:latin typeface="Arial" panose="020B0604020202020204" pitchFamily="34" charset="0"/>
              </a:endParaRPr>
            </a:p>
          </p:txBody>
        </p:sp>
      </p:grpSp>
      <p:grpSp>
        <p:nvGrpSpPr>
          <p:cNvPr id="3" name="Group 28"/>
          <p:cNvGrpSpPr>
            <a:grpSpLocks/>
          </p:cNvGrpSpPr>
          <p:nvPr/>
        </p:nvGrpSpPr>
        <p:grpSpPr bwMode="auto">
          <a:xfrm>
            <a:off x="2727325" y="2144713"/>
            <a:ext cx="400050" cy="1201737"/>
            <a:chOff x="2012" y="1388"/>
            <a:chExt cx="170" cy="511"/>
          </a:xfrm>
        </p:grpSpPr>
        <p:sp>
          <p:nvSpPr>
            <p:cNvPr id="126988" name="Line 29"/>
            <p:cNvSpPr>
              <a:spLocks noChangeShapeType="1"/>
            </p:cNvSpPr>
            <p:nvPr/>
          </p:nvSpPr>
          <p:spPr bwMode="auto">
            <a:xfrm>
              <a:off x="2126" y="1388"/>
              <a:ext cx="0" cy="114"/>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6989" name="Line 30"/>
            <p:cNvSpPr>
              <a:spLocks noChangeShapeType="1"/>
            </p:cNvSpPr>
            <p:nvPr/>
          </p:nvSpPr>
          <p:spPr bwMode="auto">
            <a:xfrm>
              <a:off x="2012" y="1502"/>
              <a:ext cx="114" cy="113"/>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6990" name="Rectangle 31"/>
            <p:cNvSpPr>
              <a:spLocks noChangeArrowheads="1"/>
            </p:cNvSpPr>
            <p:nvPr/>
          </p:nvSpPr>
          <p:spPr bwMode="auto">
            <a:xfrm>
              <a:off x="2069" y="1672"/>
              <a:ext cx="113" cy="170"/>
            </a:xfrm>
            <a:prstGeom prst="rect">
              <a:avLst/>
            </a:prstGeom>
            <a:solidFill>
              <a:srgbClr val="FFFFFF"/>
            </a:solidFill>
            <a:ln w="9525">
              <a:solidFill>
                <a:srgbClr val="FF0000"/>
              </a:solidFill>
              <a:miter lim="800000"/>
              <a:headEnd/>
              <a:tailEnd/>
            </a:ln>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600">
                <a:latin typeface="Arial" panose="020B0604020202020204" pitchFamily="34" charset="0"/>
              </a:endParaRPr>
            </a:p>
          </p:txBody>
        </p:sp>
        <p:sp>
          <p:nvSpPr>
            <p:cNvPr id="126991" name="Line 32"/>
            <p:cNvSpPr>
              <a:spLocks noChangeShapeType="1"/>
            </p:cNvSpPr>
            <p:nvPr/>
          </p:nvSpPr>
          <p:spPr bwMode="auto">
            <a:xfrm>
              <a:off x="2126" y="1615"/>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sp>
          <p:nvSpPr>
            <p:cNvPr id="126992" name="Line 33"/>
            <p:cNvSpPr>
              <a:spLocks noChangeShapeType="1"/>
            </p:cNvSpPr>
            <p:nvPr/>
          </p:nvSpPr>
          <p:spPr bwMode="auto">
            <a:xfrm>
              <a:off x="2126" y="1842"/>
              <a:ext cx="0" cy="5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fr-FR"/>
            </a:p>
          </p:txBody>
        </p:sp>
      </p:grpSp>
      <p:sp>
        <p:nvSpPr>
          <p:cNvPr id="85026" name="Text Box 34"/>
          <p:cNvSpPr txBox="1">
            <a:spLocks noChangeArrowheads="1"/>
          </p:cNvSpPr>
          <p:nvPr/>
        </p:nvSpPr>
        <p:spPr bwMode="auto">
          <a:xfrm>
            <a:off x="1557338" y="3630613"/>
            <a:ext cx="691673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Le freinage peut se faire sans modification de la structure si </a:t>
            </a:r>
            <a:r>
              <a:rPr lang="fr-FR" altLang="fr-FR" sz="1800" u="sng">
                <a:latin typeface="Arial" panose="020B0604020202020204" pitchFamily="34" charset="0"/>
              </a:rPr>
              <a:t>l’interrupteur statique et la source</a:t>
            </a:r>
            <a:r>
              <a:rPr lang="fr-FR" altLang="fr-FR" sz="1800">
                <a:latin typeface="Arial" panose="020B0604020202020204" pitchFamily="34" charset="0"/>
              </a:rPr>
              <a:t> sont réversibles en courant.</a:t>
            </a:r>
          </a:p>
        </p:txBody>
      </p:sp>
      <p:sp>
        <p:nvSpPr>
          <p:cNvPr id="85027" name="Text Box 35"/>
          <p:cNvSpPr txBox="1">
            <a:spLocks noChangeArrowheads="1"/>
          </p:cNvSpPr>
          <p:nvPr/>
        </p:nvSpPr>
        <p:spPr bwMode="auto">
          <a:xfrm>
            <a:off x="1679575" y="5116513"/>
            <a:ext cx="64579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solidFill>
                  <a:srgbClr val="FF0000"/>
                </a:solidFill>
                <a:latin typeface="Arial" panose="020B0604020202020204" pitchFamily="34" charset="0"/>
              </a:rPr>
              <a:t>Dans le cas d’une impossibilité de la réversibilité de la source on rajoute un module de freinage</a:t>
            </a:r>
          </a:p>
        </p:txBody>
      </p:sp>
      <p:sp>
        <p:nvSpPr>
          <p:cNvPr id="85028" name="Text Box 36"/>
          <p:cNvSpPr txBox="1">
            <a:spLocks noChangeArrowheads="1"/>
          </p:cNvSpPr>
          <p:nvPr/>
        </p:nvSpPr>
        <p:spPr bwMode="auto">
          <a:xfrm>
            <a:off x="1289050" y="3883025"/>
            <a:ext cx="71024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solidFill>
                  <a:srgbClr val="FF0000"/>
                </a:solidFill>
                <a:latin typeface="Arial" panose="020B0604020202020204" pitchFamily="34" charset="0"/>
              </a:rPr>
              <a:t>Il faut alors surveiller la tension aux bornes de la source afin qu’elle ne devienne pas trop importante (tenue des composants en tension).</a:t>
            </a:r>
          </a:p>
        </p:txBody>
      </p:sp>
      <p:sp>
        <p:nvSpPr>
          <p:cNvPr id="126986"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19819" name="Rectangle 39"/>
          <p:cNvSpPr>
            <a:spLocks noChangeArrowheads="1"/>
          </p:cNvSpPr>
          <p:nvPr/>
        </p:nvSpPr>
        <p:spPr bwMode="auto">
          <a:xfrm>
            <a:off x="2289175" y="207963"/>
            <a:ext cx="3516313" cy="307975"/>
          </a:xfrm>
          <a:prstGeom prst="rect">
            <a:avLst/>
          </a:prstGeom>
          <a:noFill/>
          <a:ln w="9525">
            <a:noFill/>
            <a:miter lim="800000"/>
            <a:headEnd/>
            <a:tailEnd/>
          </a:ln>
        </p:spPr>
        <p:txBody>
          <a:bodyPr wrap="none">
            <a:spAutoFit/>
          </a:bodyPr>
          <a:lstStyle/>
          <a:p>
            <a:pPr eaLnBrk="1" hangingPunct="1">
              <a:defRPr/>
            </a:pPr>
            <a:r>
              <a:rPr lang="fr-FR" sz="1400" b="1" cap="small" dirty="0">
                <a:solidFill>
                  <a:srgbClr val="0000EC"/>
                </a:solidFill>
                <a:cs typeface="Times New Roman" pitchFamily="18" charset="0"/>
              </a:rPr>
              <a:t>Freinage du moteur à courant continu</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5026"/>
                                        </p:tgtEl>
                                        <p:attrNameLst>
                                          <p:attrName>style.visibility</p:attrName>
                                        </p:attrNameLst>
                                      </p:cBhvr>
                                      <p:to>
                                        <p:strVal val="visible"/>
                                      </p:to>
                                    </p:set>
                                    <p:anim calcmode="lin" valueType="num">
                                      <p:cBhvr additive="base">
                                        <p:cTn id="7" dur="500" fill="hold"/>
                                        <p:tgtEl>
                                          <p:spTgt spid="85026"/>
                                        </p:tgtEl>
                                        <p:attrNameLst>
                                          <p:attrName>ppt_x</p:attrName>
                                        </p:attrNameLst>
                                      </p:cBhvr>
                                      <p:tavLst>
                                        <p:tav tm="0">
                                          <p:val>
                                            <p:strVal val="#ppt_x"/>
                                          </p:val>
                                        </p:tav>
                                        <p:tav tm="100000">
                                          <p:val>
                                            <p:strVal val="#ppt_x"/>
                                          </p:val>
                                        </p:tav>
                                      </p:tavLst>
                                    </p:anim>
                                    <p:anim calcmode="lin" valueType="num">
                                      <p:cBhvr additive="base">
                                        <p:cTn id="8" dur="500" fill="hold"/>
                                        <p:tgtEl>
                                          <p:spTgt spid="85026"/>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85026"/>
                                        </p:tgtEl>
                                        <p:attrNameLst>
                                          <p:attrName>style.visibility</p:attrName>
                                        </p:attrNameLst>
                                      </p:cBhvr>
                                      <p:to>
                                        <p:strVal val="hidden"/>
                                      </p:to>
                                    </p:set>
                                  </p:sub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5028"/>
                                        </p:tgtEl>
                                        <p:attrNameLst>
                                          <p:attrName>style.visibility</p:attrName>
                                        </p:attrNameLst>
                                      </p:cBhvr>
                                      <p:to>
                                        <p:strVal val="visible"/>
                                      </p:to>
                                    </p:set>
                                    <p:anim calcmode="lin" valueType="num">
                                      <p:cBhvr additive="base">
                                        <p:cTn id="13" dur="500" fill="hold"/>
                                        <p:tgtEl>
                                          <p:spTgt spid="85028"/>
                                        </p:tgtEl>
                                        <p:attrNameLst>
                                          <p:attrName>ppt_x</p:attrName>
                                        </p:attrNameLst>
                                      </p:cBhvr>
                                      <p:tavLst>
                                        <p:tav tm="0">
                                          <p:val>
                                            <p:strVal val="#ppt_x"/>
                                          </p:val>
                                        </p:tav>
                                        <p:tav tm="100000">
                                          <p:val>
                                            <p:strVal val="#ppt_x"/>
                                          </p:val>
                                        </p:tav>
                                      </p:tavLst>
                                    </p:anim>
                                    <p:anim calcmode="lin" valueType="num">
                                      <p:cBhvr additive="base">
                                        <p:cTn id="14" dur="500" fill="hold"/>
                                        <p:tgtEl>
                                          <p:spTgt spid="85028"/>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5027"/>
                                        </p:tgtEl>
                                        <p:attrNameLst>
                                          <p:attrName>style.visibility</p:attrName>
                                        </p:attrNameLst>
                                      </p:cBhvr>
                                      <p:to>
                                        <p:strVal val="visible"/>
                                      </p:to>
                                    </p:set>
                                    <p:anim calcmode="lin" valueType="num">
                                      <p:cBhvr additive="base">
                                        <p:cTn id="19" dur="500" fill="hold"/>
                                        <p:tgtEl>
                                          <p:spTgt spid="85027"/>
                                        </p:tgtEl>
                                        <p:attrNameLst>
                                          <p:attrName>ppt_x</p:attrName>
                                        </p:attrNameLst>
                                      </p:cBhvr>
                                      <p:tavLst>
                                        <p:tav tm="0">
                                          <p:val>
                                            <p:strVal val="#ppt_x"/>
                                          </p:val>
                                        </p:tav>
                                        <p:tav tm="100000">
                                          <p:val>
                                            <p:strVal val="#ppt_x"/>
                                          </p:val>
                                        </p:tav>
                                      </p:tavLst>
                                    </p:anim>
                                    <p:anim calcmode="lin" valueType="num">
                                      <p:cBhvr additive="base">
                                        <p:cTn id="20" dur="500" fill="hold"/>
                                        <p:tgtEl>
                                          <p:spTgt spid="85027"/>
                                        </p:tgtEl>
                                        <p:attrNameLst>
                                          <p:attrName>ppt_y</p:attrName>
                                        </p:attrNameLst>
                                      </p:cBhvr>
                                      <p:tavLst>
                                        <p:tav tm="0">
                                          <p:val>
                                            <p:strVal val="1+#ppt_h/2"/>
                                          </p:val>
                                        </p:tav>
                                        <p:tav tm="100000">
                                          <p:val>
                                            <p:strVal val="#ppt_y"/>
                                          </p:val>
                                        </p:tav>
                                      </p:tavLst>
                                    </p:anim>
                                  </p:childTnLst>
                                </p:cTn>
                              </p:par>
                            </p:childTnLst>
                          </p:cTn>
                        </p:par>
                        <p:par>
                          <p:cTn id="21" fill="hold" nodeType="afterGroup">
                            <p:stCondLst>
                              <p:cond delay="500"/>
                            </p:stCondLst>
                            <p:childTnLst>
                              <p:par>
                                <p:cTn id="22" presetID="2" presetClass="entr" presetSubtype="8" fill="hold" nodeType="afterEffect">
                                  <p:stCondLst>
                                    <p:cond delay="100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500" fill="hold"/>
                                        <p:tgtEl>
                                          <p:spTgt spid="3"/>
                                        </p:tgtEl>
                                        <p:attrNameLst>
                                          <p:attrName>ppt_x</p:attrName>
                                        </p:attrNameLst>
                                      </p:cBhvr>
                                      <p:tavLst>
                                        <p:tav tm="0">
                                          <p:val>
                                            <p:strVal val="0-#ppt_w/2"/>
                                          </p:val>
                                        </p:tav>
                                        <p:tav tm="100000">
                                          <p:val>
                                            <p:strVal val="#ppt_x"/>
                                          </p:val>
                                        </p:tav>
                                      </p:tavLst>
                                    </p:anim>
                                    <p:anim calcmode="lin" valueType="num">
                                      <p:cBhvr additive="base">
                                        <p:cTn id="25"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26" grpId="0" autoUpdateAnimBg="0"/>
      <p:bldP spid="85027" grpId="0" autoUpdateAnimBg="0"/>
      <p:bldP spid="85028"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12902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75A1A0E3-2518-4EF1-86C4-8233F24ABB80}" type="slidenum">
              <a:rPr lang="en-US" altLang="fr-FR" sz="1000" smtClean="0">
                <a:solidFill>
                  <a:srgbClr val="292929"/>
                </a:solidFill>
                <a:latin typeface="Arial" panose="020B0604020202020204" pitchFamily="34" charset="0"/>
              </a:rPr>
              <a:pPr>
                <a:spcBef>
                  <a:spcPct val="0"/>
                </a:spcBef>
                <a:buClrTx/>
                <a:buSzTx/>
                <a:buFontTx/>
                <a:buNone/>
              </a:pPr>
              <a:t>68</a:t>
            </a:fld>
            <a:endParaRPr lang="en-US" altLang="fr-FR" sz="1000" smtClean="0">
              <a:solidFill>
                <a:srgbClr val="292929"/>
              </a:solidFill>
              <a:latin typeface="Arial" panose="020B0604020202020204" pitchFamily="34" charset="0"/>
            </a:endParaRPr>
          </a:p>
        </p:txBody>
      </p:sp>
      <p:sp>
        <p:nvSpPr>
          <p:cNvPr id="4" name="Rectangle 3"/>
          <p:cNvSpPr/>
          <p:nvPr/>
        </p:nvSpPr>
        <p:spPr>
          <a:xfrm>
            <a:off x="569913" y="842963"/>
            <a:ext cx="8045450" cy="1755775"/>
          </a:xfrm>
          <a:prstGeom prst="rect">
            <a:avLst/>
          </a:prstGeom>
        </p:spPr>
        <p:txBody>
          <a:bodyPr>
            <a:spAutoFit/>
          </a:bodyPr>
          <a:lstStyle/>
          <a:p>
            <a:pPr algn="just" eaLnBrk="1" hangingPunct="1">
              <a:defRPr/>
            </a:pPr>
            <a:r>
              <a:rPr lang="fr-FR" dirty="0"/>
              <a:t>Si on décide de renvoyer l’énergie à travers le hacheur il existe alors deux possibilités.</a:t>
            </a:r>
          </a:p>
          <a:p>
            <a:pPr marL="273050" indent="-273050" algn="just" eaLnBrk="1" hangingPunct="1">
              <a:buFont typeface="Courier New" pitchFamily="49" charset="0"/>
              <a:buChar char="o"/>
              <a:defRPr/>
            </a:pPr>
            <a:r>
              <a:rPr lang="fr-FR" dirty="0"/>
              <a:t>En gardant la même force électromotrice il faut un hacheur réversible en courant.</a:t>
            </a:r>
          </a:p>
          <a:p>
            <a:pPr marL="273050" indent="-273050" algn="just" eaLnBrk="1" hangingPunct="1">
              <a:buFont typeface="Courier New" pitchFamily="49" charset="0"/>
              <a:buChar char="o"/>
              <a:defRPr/>
            </a:pPr>
            <a:r>
              <a:rPr lang="fr-FR" dirty="0"/>
              <a:t>En inversant la force électromotrice il faut un hacheur réversible en tension.</a:t>
            </a:r>
          </a:p>
        </p:txBody>
      </p:sp>
      <p:sp>
        <p:nvSpPr>
          <p:cNvPr id="129029" name="Rectangle 4"/>
          <p:cNvSpPr>
            <a:spLocks noChangeArrowheads="1"/>
          </p:cNvSpPr>
          <p:nvPr/>
        </p:nvSpPr>
        <p:spPr bwMode="auto">
          <a:xfrm>
            <a:off x="569913" y="4703763"/>
            <a:ext cx="80454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a:latin typeface="Arial" panose="020B0604020202020204" pitchFamily="34" charset="0"/>
              </a:rPr>
              <a:t>Remarque : </a:t>
            </a:r>
          </a:p>
          <a:p>
            <a:pPr algn="just" eaLnBrk="1" hangingPunct="1">
              <a:spcBef>
                <a:spcPct val="0"/>
              </a:spcBef>
              <a:buClrTx/>
              <a:buSzTx/>
              <a:buFontTx/>
              <a:buNone/>
            </a:pPr>
            <a:r>
              <a:rPr lang="fr-FR" altLang="fr-FR" sz="1800">
                <a:latin typeface="Arial" panose="020B0604020202020204" pitchFamily="34" charset="0"/>
              </a:rPr>
              <a:t>Pour pouvoir récupérer l’énergie il faut que la force électromotrice soit plus grande que la tension, il faudra donc augmenter le courant d’excitation en conséquence, en phase de freinage.</a:t>
            </a:r>
          </a:p>
        </p:txBody>
      </p:sp>
      <p:sp>
        <p:nvSpPr>
          <p:cNvPr id="129030" name="Rectangle 5"/>
          <p:cNvSpPr>
            <a:spLocks noChangeArrowheads="1"/>
          </p:cNvSpPr>
          <p:nvPr/>
        </p:nvSpPr>
        <p:spPr bwMode="auto">
          <a:xfrm>
            <a:off x="569913" y="2916238"/>
            <a:ext cx="80454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b="1">
                <a:latin typeface="Arial" panose="020B0604020202020204" pitchFamily="34" charset="0"/>
              </a:rPr>
              <a:t>Branchement avec le réseau :</a:t>
            </a:r>
          </a:p>
          <a:p>
            <a:pPr algn="just" eaLnBrk="1" hangingPunct="1">
              <a:spcBef>
                <a:spcPct val="0"/>
              </a:spcBef>
              <a:buClrTx/>
              <a:buSzTx/>
              <a:buFontTx/>
              <a:buNone/>
            </a:pPr>
            <a:r>
              <a:rPr lang="fr-FR" altLang="fr-FR" sz="1800">
                <a:latin typeface="Arial" panose="020B0604020202020204" pitchFamily="34" charset="0"/>
              </a:rPr>
              <a:t>Il faut mettre en parallèle avec le redresseur un onduleur. De plus comme la tension et la fréquence du réseau sont imposées il convient d’installer un onduleur assisté. </a:t>
            </a:r>
            <a:r>
              <a:rPr lang="fr-FR" altLang="fr-FR" sz="1800" i="1">
                <a:latin typeface="Arial" panose="020B0604020202020204" pitchFamily="34" charset="0"/>
              </a:rPr>
              <a:t>( Un redresseur non commandé ne peut pas fonctionner en onduleur ).</a:t>
            </a:r>
            <a:endParaRPr lang="fr-FR" altLang="fr-FR" sz="1800">
              <a:latin typeface="Arial" panose="020B0604020202020204" pitchFamily="34" charset="0"/>
            </a:endParaRPr>
          </a:p>
        </p:txBody>
      </p:sp>
      <p:sp>
        <p:nvSpPr>
          <p:cNvPr id="129031"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8" name="Rectangle 39"/>
          <p:cNvSpPr>
            <a:spLocks noChangeArrowheads="1"/>
          </p:cNvSpPr>
          <p:nvPr/>
        </p:nvSpPr>
        <p:spPr bwMode="auto">
          <a:xfrm>
            <a:off x="2882900" y="207963"/>
            <a:ext cx="3516313" cy="307975"/>
          </a:xfrm>
          <a:prstGeom prst="rect">
            <a:avLst/>
          </a:prstGeom>
          <a:noFill/>
          <a:ln w="9525">
            <a:noFill/>
            <a:miter lim="800000"/>
            <a:headEnd/>
            <a:tailEnd/>
          </a:ln>
        </p:spPr>
        <p:txBody>
          <a:bodyPr wrap="none">
            <a:spAutoFit/>
          </a:bodyPr>
          <a:lstStyle/>
          <a:p>
            <a:pPr eaLnBrk="1" hangingPunct="1">
              <a:defRPr/>
            </a:pPr>
            <a:r>
              <a:rPr lang="fr-FR" sz="1400" b="1" cap="small" dirty="0">
                <a:solidFill>
                  <a:srgbClr val="0000EC"/>
                </a:solidFill>
                <a:cs typeface="Times New Roman" pitchFamily="18" charset="0"/>
              </a:rPr>
              <a:t>Freinage du moteur à courant continu</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55" name="Espace réservé du pied de page 54"/>
          <p:cNvSpPr>
            <a:spLocks noGrp="1"/>
          </p:cNvSpPr>
          <p:nvPr>
            <p:ph type="ftr" sz="quarter" idx="11"/>
          </p:nvPr>
        </p:nvSpPr>
        <p:spPr/>
        <p:txBody>
          <a:bodyPr/>
          <a:lstStyle/>
          <a:p>
            <a:pPr>
              <a:defRPr/>
            </a:pPr>
            <a:r>
              <a:rPr lang="fr-FR"/>
              <a:t>Commande des machines   3.MCC     Ali NEJMI</a:t>
            </a:r>
          </a:p>
        </p:txBody>
      </p:sp>
      <p:sp>
        <p:nvSpPr>
          <p:cNvPr id="131075"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1D5B580-0D04-4610-8B54-DF3697C754BD}" type="slidenum">
              <a:rPr lang="fr-FR" altLang="fr-FR" sz="1000" smtClean="0">
                <a:solidFill>
                  <a:srgbClr val="292929"/>
                </a:solidFill>
                <a:latin typeface="Arial" panose="020B0604020202020204" pitchFamily="34" charset="0"/>
              </a:rPr>
              <a:pPr>
                <a:spcBef>
                  <a:spcPct val="0"/>
                </a:spcBef>
                <a:buClrTx/>
                <a:buSzTx/>
                <a:buFontTx/>
                <a:buNone/>
              </a:pPr>
              <a:t>69</a:t>
            </a:fld>
            <a:endParaRPr lang="fr-FR" altLang="fr-FR" sz="1000" smtClean="0">
              <a:solidFill>
                <a:srgbClr val="292929"/>
              </a:solidFill>
              <a:latin typeface="Arial" panose="020B0604020202020204" pitchFamily="34" charset="0"/>
            </a:endParaRPr>
          </a:p>
        </p:txBody>
      </p:sp>
      <p:sp>
        <p:nvSpPr>
          <p:cNvPr id="87042" name="Text Box 2"/>
          <p:cNvSpPr txBox="1">
            <a:spLocks noChangeArrowheads="1"/>
          </p:cNvSpPr>
          <p:nvPr/>
        </p:nvSpPr>
        <p:spPr bwMode="auto">
          <a:xfrm>
            <a:off x="3941763" y="814388"/>
            <a:ext cx="1262062" cy="400050"/>
          </a:xfrm>
          <a:prstGeom prst="rect">
            <a:avLst/>
          </a:prstGeom>
          <a:noFill/>
          <a:ln w="9525">
            <a:noFill/>
            <a:miter lim="800000"/>
            <a:headEnd/>
            <a:tailEnd/>
          </a:ln>
          <a:effectLst/>
        </p:spPr>
        <p:txBody>
          <a:bodyPr wrap="none">
            <a:spAutoFit/>
          </a:bodyPr>
          <a:lstStyle/>
          <a:p>
            <a:pPr eaLnBrk="1" hangingPunct="1">
              <a:defRPr/>
            </a:pPr>
            <a:r>
              <a:rPr lang="fr-FR" sz="2000" b="1" cap="small" dirty="0">
                <a:solidFill>
                  <a:srgbClr val="0000EC"/>
                </a:solidFill>
                <a:cs typeface="Times New Roman" pitchFamily="18" charset="0"/>
              </a:rPr>
              <a:t>Exemple</a:t>
            </a:r>
            <a:r>
              <a:rPr lang="fr-FR" sz="2000" b="1" dirty="0">
                <a:latin typeface="Times New Roman" charset="0"/>
              </a:rPr>
              <a:t> </a:t>
            </a:r>
          </a:p>
        </p:txBody>
      </p:sp>
      <p:sp>
        <p:nvSpPr>
          <p:cNvPr id="131077" name="Text Box 3"/>
          <p:cNvSpPr txBox="1">
            <a:spLocks noChangeArrowheads="1"/>
          </p:cNvSpPr>
          <p:nvPr/>
        </p:nvSpPr>
        <p:spPr bwMode="auto">
          <a:xfrm>
            <a:off x="571500" y="1214438"/>
            <a:ext cx="814387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Sur un équipement de levage, le moteur doit fournir le profil de vitesse et de couple suivant </a:t>
            </a:r>
          </a:p>
        </p:txBody>
      </p:sp>
      <p:sp>
        <p:nvSpPr>
          <p:cNvPr id="131078" name="Line 5"/>
          <p:cNvSpPr>
            <a:spLocks noChangeShapeType="1"/>
          </p:cNvSpPr>
          <p:nvPr/>
        </p:nvSpPr>
        <p:spPr bwMode="auto">
          <a:xfrm flipV="1">
            <a:off x="2701925" y="2071688"/>
            <a:ext cx="12700" cy="228123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fr-FR"/>
          </a:p>
        </p:txBody>
      </p:sp>
      <p:sp>
        <p:nvSpPr>
          <p:cNvPr id="131079" name="Line 6"/>
          <p:cNvSpPr>
            <a:spLocks noChangeShapeType="1"/>
          </p:cNvSpPr>
          <p:nvPr/>
        </p:nvSpPr>
        <p:spPr bwMode="auto">
          <a:xfrm>
            <a:off x="2643188" y="3071813"/>
            <a:ext cx="49895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fr-FR"/>
          </a:p>
        </p:txBody>
      </p:sp>
      <p:sp>
        <p:nvSpPr>
          <p:cNvPr id="131080" name="Line 7"/>
          <p:cNvSpPr>
            <a:spLocks noChangeShapeType="1"/>
          </p:cNvSpPr>
          <p:nvPr/>
        </p:nvSpPr>
        <p:spPr bwMode="auto">
          <a:xfrm flipV="1">
            <a:off x="2711450" y="2455863"/>
            <a:ext cx="614363" cy="61595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81" name="Line 8"/>
          <p:cNvSpPr>
            <a:spLocks noChangeShapeType="1"/>
          </p:cNvSpPr>
          <p:nvPr/>
        </p:nvSpPr>
        <p:spPr bwMode="auto">
          <a:xfrm>
            <a:off x="3325813" y="2455863"/>
            <a:ext cx="479425" cy="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82" name="Line 9"/>
          <p:cNvSpPr>
            <a:spLocks noChangeShapeType="1"/>
          </p:cNvSpPr>
          <p:nvPr/>
        </p:nvSpPr>
        <p:spPr bwMode="auto">
          <a:xfrm>
            <a:off x="3873500" y="2455863"/>
            <a:ext cx="477838" cy="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83" name="Line 10"/>
          <p:cNvSpPr>
            <a:spLocks noChangeShapeType="1"/>
          </p:cNvSpPr>
          <p:nvPr/>
        </p:nvSpPr>
        <p:spPr bwMode="auto">
          <a:xfrm flipH="1" flipV="1">
            <a:off x="4351338" y="2455863"/>
            <a:ext cx="614362" cy="61595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84" name="Line 11"/>
          <p:cNvSpPr>
            <a:spLocks noChangeShapeType="1"/>
          </p:cNvSpPr>
          <p:nvPr/>
        </p:nvSpPr>
        <p:spPr bwMode="auto">
          <a:xfrm flipH="1">
            <a:off x="3736975" y="2387600"/>
            <a:ext cx="136525" cy="136525"/>
          </a:xfrm>
          <a:prstGeom prst="line">
            <a:avLst/>
          </a:prstGeom>
          <a:noFill/>
          <a:ln w="6350">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85" name="Line 12"/>
          <p:cNvSpPr>
            <a:spLocks noChangeShapeType="1"/>
          </p:cNvSpPr>
          <p:nvPr/>
        </p:nvSpPr>
        <p:spPr bwMode="auto">
          <a:xfrm flipH="1">
            <a:off x="3805238" y="2387600"/>
            <a:ext cx="136525" cy="136525"/>
          </a:xfrm>
          <a:prstGeom prst="line">
            <a:avLst/>
          </a:prstGeom>
          <a:noFill/>
          <a:ln w="6350">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86" name="Line 13"/>
          <p:cNvSpPr>
            <a:spLocks noChangeShapeType="1"/>
          </p:cNvSpPr>
          <p:nvPr/>
        </p:nvSpPr>
        <p:spPr bwMode="auto">
          <a:xfrm flipH="1">
            <a:off x="6607175" y="3071813"/>
            <a:ext cx="614363" cy="6143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87" name="Line 14"/>
          <p:cNvSpPr>
            <a:spLocks noChangeShapeType="1"/>
          </p:cNvSpPr>
          <p:nvPr/>
        </p:nvSpPr>
        <p:spPr bwMode="auto">
          <a:xfrm flipH="1" flipV="1">
            <a:off x="6127750" y="3686175"/>
            <a:ext cx="4794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88" name="Line 15"/>
          <p:cNvSpPr>
            <a:spLocks noChangeShapeType="1"/>
          </p:cNvSpPr>
          <p:nvPr/>
        </p:nvSpPr>
        <p:spPr bwMode="auto">
          <a:xfrm flipH="1" flipV="1">
            <a:off x="5581650" y="3686175"/>
            <a:ext cx="477838"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89" name="Line 16"/>
          <p:cNvSpPr>
            <a:spLocks noChangeShapeType="1"/>
          </p:cNvSpPr>
          <p:nvPr/>
        </p:nvSpPr>
        <p:spPr bwMode="auto">
          <a:xfrm>
            <a:off x="4965700" y="3071813"/>
            <a:ext cx="615950" cy="6143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90" name="Line 17"/>
          <p:cNvSpPr>
            <a:spLocks noChangeShapeType="1"/>
          </p:cNvSpPr>
          <p:nvPr/>
        </p:nvSpPr>
        <p:spPr bwMode="auto">
          <a:xfrm flipV="1">
            <a:off x="6059488" y="3617913"/>
            <a:ext cx="136525" cy="136525"/>
          </a:xfrm>
          <a:prstGeom prst="line">
            <a:avLst/>
          </a:prstGeom>
          <a:noFill/>
          <a:ln w="63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91" name="Line 18"/>
          <p:cNvSpPr>
            <a:spLocks noChangeShapeType="1"/>
          </p:cNvSpPr>
          <p:nvPr/>
        </p:nvSpPr>
        <p:spPr bwMode="auto">
          <a:xfrm flipV="1">
            <a:off x="5991225" y="3617913"/>
            <a:ext cx="136525" cy="136525"/>
          </a:xfrm>
          <a:prstGeom prst="line">
            <a:avLst/>
          </a:prstGeom>
          <a:noFill/>
          <a:ln w="63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92" name="Text Box 19"/>
          <p:cNvSpPr txBox="1">
            <a:spLocks noChangeArrowheads="1"/>
          </p:cNvSpPr>
          <p:nvPr/>
        </p:nvSpPr>
        <p:spPr bwMode="auto">
          <a:xfrm>
            <a:off x="7426325" y="3003550"/>
            <a:ext cx="25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panose="020B0604020202020204" pitchFamily="34" charset="0"/>
              </a:rPr>
              <a:t>t</a:t>
            </a:r>
          </a:p>
        </p:txBody>
      </p:sp>
      <p:sp>
        <p:nvSpPr>
          <p:cNvPr id="131093" name="Text Box 20"/>
          <p:cNvSpPr txBox="1">
            <a:spLocks noChangeArrowheads="1"/>
          </p:cNvSpPr>
          <p:nvPr/>
        </p:nvSpPr>
        <p:spPr bwMode="auto">
          <a:xfrm>
            <a:off x="1862138" y="2251075"/>
            <a:ext cx="573087"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Symbol" panose="05050102010706020507" pitchFamily="18" charset="2"/>
              </a:rPr>
              <a:t>W</a:t>
            </a:r>
          </a:p>
          <a:p>
            <a:pPr eaLnBrk="1" hangingPunct="1">
              <a:spcBef>
                <a:spcPct val="0"/>
              </a:spcBef>
              <a:buClrTx/>
              <a:buSzTx/>
              <a:buFontTx/>
              <a:buNone/>
            </a:pPr>
            <a:r>
              <a:rPr lang="fr-FR" altLang="fr-FR" sz="1400">
                <a:latin typeface="Arial" panose="020B0604020202020204" pitchFamily="34" charset="0"/>
              </a:rPr>
              <a:t>[rd/s]</a:t>
            </a:r>
          </a:p>
        </p:txBody>
      </p:sp>
      <p:sp>
        <p:nvSpPr>
          <p:cNvPr id="131094" name="Line 21"/>
          <p:cNvSpPr>
            <a:spLocks noChangeShapeType="1"/>
          </p:cNvSpPr>
          <p:nvPr/>
        </p:nvSpPr>
        <p:spPr bwMode="auto">
          <a:xfrm flipV="1">
            <a:off x="2701925" y="4078288"/>
            <a:ext cx="0" cy="21875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fr-FR"/>
          </a:p>
        </p:txBody>
      </p:sp>
      <p:sp>
        <p:nvSpPr>
          <p:cNvPr id="131095" name="Line 22"/>
          <p:cNvSpPr>
            <a:spLocks noChangeShapeType="1"/>
          </p:cNvSpPr>
          <p:nvPr/>
        </p:nvSpPr>
        <p:spPr bwMode="auto">
          <a:xfrm>
            <a:off x="2633663" y="5367338"/>
            <a:ext cx="498951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fr-FR"/>
          </a:p>
        </p:txBody>
      </p:sp>
      <p:sp>
        <p:nvSpPr>
          <p:cNvPr id="131096" name="Text Box 23"/>
          <p:cNvSpPr txBox="1">
            <a:spLocks noChangeArrowheads="1"/>
          </p:cNvSpPr>
          <p:nvPr/>
        </p:nvSpPr>
        <p:spPr bwMode="auto">
          <a:xfrm>
            <a:off x="7415213" y="5367338"/>
            <a:ext cx="25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panose="020B0604020202020204" pitchFamily="34" charset="0"/>
              </a:rPr>
              <a:t>t</a:t>
            </a:r>
          </a:p>
        </p:txBody>
      </p:sp>
      <p:sp>
        <p:nvSpPr>
          <p:cNvPr id="131097" name="Text Box 24"/>
          <p:cNvSpPr txBox="1">
            <a:spLocks noChangeArrowheads="1"/>
          </p:cNvSpPr>
          <p:nvPr/>
        </p:nvSpPr>
        <p:spPr bwMode="auto">
          <a:xfrm>
            <a:off x="2071688" y="3643313"/>
            <a:ext cx="7524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2000">
                <a:latin typeface="Arial" panose="020B0604020202020204" pitchFamily="34" charset="0"/>
              </a:rPr>
              <a:t>C</a:t>
            </a:r>
          </a:p>
          <a:p>
            <a:pPr eaLnBrk="1" hangingPunct="1">
              <a:spcBef>
                <a:spcPct val="0"/>
              </a:spcBef>
              <a:buClrTx/>
              <a:buSzTx/>
              <a:buFontTx/>
              <a:buNone/>
            </a:pPr>
            <a:r>
              <a:rPr lang="fr-FR" altLang="fr-FR" sz="1400">
                <a:latin typeface="Arial" panose="020B0604020202020204" pitchFamily="34" charset="0"/>
              </a:rPr>
              <a:t>[N.m]</a:t>
            </a:r>
          </a:p>
        </p:txBody>
      </p:sp>
      <p:sp>
        <p:nvSpPr>
          <p:cNvPr id="131098" name="Line 25"/>
          <p:cNvSpPr>
            <a:spLocks noChangeShapeType="1"/>
          </p:cNvSpPr>
          <p:nvPr/>
        </p:nvSpPr>
        <p:spPr bwMode="auto">
          <a:xfrm>
            <a:off x="3316288" y="2643188"/>
            <a:ext cx="0" cy="246062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099" name="Line 26"/>
          <p:cNvSpPr>
            <a:spLocks noChangeShapeType="1"/>
          </p:cNvSpPr>
          <p:nvPr/>
        </p:nvSpPr>
        <p:spPr bwMode="auto">
          <a:xfrm>
            <a:off x="4341813" y="2643188"/>
            <a:ext cx="0" cy="2528887"/>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0" name="Line 27"/>
          <p:cNvSpPr>
            <a:spLocks noChangeShapeType="1"/>
          </p:cNvSpPr>
          <p:nvPr/>
        </p:nvSpPr>
        <p:spPr bwMode="auto">
          <a:xfrm>
            <a:off x="4956175" y="3259138"/>
            <a:ext cx="0" cy="225425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1" name="Line 28"/>
          <p:cNvSpPr>
            <a:spLocks noChangeShapeType="1"/>
          </p:cNvSpPr>
          <p:nvPr/>
        </p:nvSpPr>
        <p:spPr bwMode="auto">
          <a:xfrm>
            <a:off x="5572125" y="4137025"/>
            <a:ext cx="0" cy="17780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2" name="Line 29"/>
          <p:cNvSpPr>
            <a:spLocks noChangeShapeType="1"/>
          </p:cNvSpPr>
          <p:nvPr/>
        </p:nvSpPr>
        <p:spPr bwMode="auto">
          <a:xfrm>
            <a:off x="6597650" y="4137025"/>
            <a:ext cx="0" cy="14351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3" name="Line 30"/>
          <p:cNvSpPr>
            <a:spLocks noChangeShapeType="1"/>
          </p:cNvSpPr>
          <p:nvPr/>
        </p:nvSpPr>
        <p:spPr bwMode="auto">
          <a:xfrm>
            <a:off x="7212013" y="3259138"/>
            <a:ext cx="0" cy="1844675"/>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4" name="Line 31"/>
          <p:cNvSpPr>
            <a:spLocks noChangeShapeType="1"/>
          </p:cNvSpPr>
          <p:nvPr/>
        </p:nvSpPr>
        <p:spPr bwMode="auto">
          <a:xfrm>
            <a:off x="2701925" y="4546600"/>
            <a:ext cx="614363" cy="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5" name="Line 32"/>
          <p:cNvSpPr>
            <a:spLocks noChangeShapeType="1"/>
          </p:cNvSpPr>
          <p:nvPr/>
        </p:nvSpPr>
        <p:spPr bwMode="auto">
          <a:xfrm>
            <a:off x="3316288" y="5230813"/>
            <a:ext cx="1025525" cy="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6" name="Line 33"/>
          <p:cNvSpPr>
            <a:spLocks noChangeShapeType="1"/>
          </p:cNvSpPr>
          <p:nvPr/>
        </p:nvSpPr>
        <p:spPr bwMode="auto">
          <a:xfrm>
            <a:off x="4341813" y="5776913"/>
            <a:ext cx="614362" cy="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7" name="Line 34"/>
          <p:cNvSpPr>
            <a:spLocks noChangeShapeType="1"/>
          </p:cNvSpPr>
          <p:nvPr/>
        </p:nvSpPr>
        <p:spPr bwMode="auto">
          <a:xfrm>
            <a:off x="3316288" y="4546600"/>
            <a:ext cx="0" cy="684213"/>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8" name="Line 35"/>
          <p:cNvSpPr>
            <a:spLocks noChangeShapeType="1"/>
          </p:cNvSpPr>
          <p:nvPr/>
        </p:nvSpPr>
        <p:spPr bwMode="auto">
          <a:xfrm>
            <a:off x="4341813" y="5230813"/>
            <a:ext cx="0" cy="54610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09" name="Line 36"/>
          <p:cNvSpPr>
            <a:spLocks noChangeShapeType="1"/>
          </p:cNvSpPr>
          <p:nvPr/>
        </p:nvSpPr>
        <p:spPr bwMode="auto">
          <a:xfrm>
            <a:off x="2701925" y="4546600"/>
            <a:ext cx="0" cy="889000"/>
          </a:xfrm>
          <a:prstGeom prst="line">
            <a:avLst/>
          </a:prstGeom>
          <a:noFill/>
          <a:ln w="28575">
            <a:solidFill>
              <a:srgbClr val="0066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10" name="Line 37"/>
          <p:cNvSpPr>
            <a:spLocks noChangeShapeType="1"/>
          </p:cNvSpPr>
          <p:nvPr/>
        </p:nvSpPr>
        <p:spPr bwMode="auto">
          <a:xfrm flipV="1">
            <a:off x="4956175" y="6324600"/>
            <a:ext cx="61595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11" name="Line 38"/>
          <p:cNvSpPr>
            <a:spLocks noChangeShapeType="1"/>
          </p:cNvSpPr>
          <p:nvPr/>
        </p:nvSpPr>
        <p:spPr bwMode="auto">
          <a:xfrm flipV="1">
            <a:off x="5572125" y="5572125"/>
            <a:ext cx="102552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12" name="Line 39"/>
          <p:cNvSpPr>
            <a:spLocks noChangeShapeType="1"/>
          </p:cNvSpPr>
          <p:nvPr/>
        </p:nvSpPr>
        <p:spPr bwMode="auto">
          <a:xfrm flipV="1">
            <a:off x="6597650" y="4957763"/>
            <a:ext cx="61436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13" name="Line 40"/>
          <p:cNvSpPr>
            <a:spLocks noChangeShapeType="1"/>
          </p:cNvSpPr>
          <p:nvPr/>
        </p:nvSpPr>
        <p:spPr bwMode="auto">
          <a:xfrm flipV="1">
            <a:off x="5572125" y="5572125"/>
            <a:ext cx="0" cy="75247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14" name="Line 41"/>
          <p:cNvSpPr>
            <a:spLocks noChangeShapeType="1"/>
          </p:cNvSpPr>
          <p:nvPr/>
        </p:nvSpPr>
        <p:spPr bwMode="auto">
          <a:xfrm flipV="1">
            <a:off x="6597650" y="4957763"/>
            <a:ext cx="0" cy="61436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15" name="Line 42"/>
          <p:cNvSpPr>
            <a:spLocks noChangeShapeType="1"/>
          </p:cNvSpPr>
          <p:nvPr/>
        </p:nvSpPr>
        <p:spPr bwMode="auto">
          <a:xfrm flipV="1">
            <a:off x="4956175" y="5776913"/>
            <a:ext cx="0" cy="5476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16" name="Line 43"/>
          <p:cNvSpPr>
            <a:spLocks noChangeShapeType="1"/>
          </p:cNvSpPr>
          <p:nvPr/>
        </p:nvSpPr>
        <p:spPr bwMode="auto">
          <a:xfrm>
            <a:off x="7212013" y="4957763"/>
            <a:ext cx="0" cy="40957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1117" name="Text Box 44"/>
          <p:cNvSpPr txBox="1">
            <a:spLocks noChangeArrowheads="1"/>
          </p:cNvSpPr>
          <p:nvPr/>
        </p:nvSpPr>
        <p:spPr bwMode="auto">
          <a:xfrm>
            <a:off x="2360613" y="4410075"/>
            <a:ext cx="2746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panose="020B0604020202020204" pitchFamily="34" charset="0"/>
              </a:rPr>
              <a:t>4</a:t>
            </a:r>
          </a:p>
        </p:txBody>
      </p:sp>
      <p:sp>
        <p:nvSpPr>
          <p:cNvPr id="131118" name="Text Box 45"/>
          <p:cNvSpPr txBox="1">
            <a:spLocks noChangeArrowheads="1"/>
          </p:cNvSpPr>
          <p:nvPr/>
        </p:nvSpPr>
        <p:spPr bwMode="auto">
          <a:xfrm>
            <a:off x="2360613" y="5094288"/>
            <a:ext cx="2746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panose="020B0604020202020204" pitchFamily="34" charset="0"/>
              </a:rPr>
              <a:t>1</a:t>
            </a:r>
          </a:p>
        </p:txBody>
      </p:sp>
      <p:sp>
        <p:nvSpPr>
          <p:cNvPr id="131119" name="Text Box 46"/>
          <p:cNvSpPr txBox="1">
            <a:spLocks noChangeArrowheads="1"/>
          </p:cNvSpPr>
          <p:nvPr/>
        </p:nvSpPr>
        <p:spPr bwMode="auto">
          <a:xfrm>
            <a:off x="2360613" y="4821238"/>
            <a:ext cx="266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panose="020B0604020202020204" pitchFamily="34" charset="0"/>
              </a:rPr>
              <a:t>2</a:t>
            </a:r>
          </a:p>
        </p:txBody>
      </p:sp>
      <p:sp>
        <p:nvSpPr>
          <p:cNvPr id="131120" name="Text Box 47"/>
          <p:cNvSpPr txBox="1">
            <a:spLocks noChangeArrowheads="1"/>
          </p:cNvSpPr>
          <p:nvPr/>
        </p:nvSpPr>
        <p:spPr bwMode="auto">
          <a:xfrm>
            <a:off x="2300288" y="2251075"/>
            <a:ext cx="454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b="1">
                <a:latin typeface="Arial" panose="020B0604020202020204" pitchFamily="34" charset="0"/>
              </a:rPr>
              <a:t>157</a:t>
            </a:r>
          </a:p>
        </p:txBody>
      </p:sp>
      <p:sp>
        <p:nvSpPr>
          <p:cNvPr id="131121" name="Text Box 48"/>
          <p:cNvSpPr txBox="1">
            <a:spLocks noChangeArrowheads="1"/>
          </p:cNvSpPr>
          <p:nvPr/>
        </p:nvSpPr>
        <p:spPr bwMode="auto">
          <a:xfrm>
            <a:off x="2819400" y="483552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A</a:t>
            </a:r>
            <a:endParaRPr lang="fr-FR" altLang="fr-FR" sz="1800">
              <a:latin typeface="Arial" panose="020B0604020202020204" pitchFamily="34" charset="0"/>
            </a:endParaRPr>
          </a:p>
        </p:txBody>
      </p:sp>
      <p:sp>
        <p:nvSpPr>
          <p:cNvPr id="131122" name="Text Box 49"/>
          <p:cNvSpPr txBox="1">
            <a:spLocks noChangeArrowheads="1"/>
          </p:cNvSpPr>
          <p:nvPr/>
        </p:nvSpPr>
        <p:spPr bwMode="auto">
          <a:xfrm>
            <a:off x="3657600" y="483552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B</a:t>
            </a:r>
            <a:endParaRPr lang="fr-FR" altLang="fr-FR" sz="1800">
              <a:latin typeface="Arial" panose="020B0604020202020204" pitchFamily="34" charset="0"/>
            </a:endParaRPr>
          </a:p>
        </p:txBody>
      </p:sp>
      <p:sp>
        <p:nvSpPr>
          <p:cNvPr id="131123" name="Text Box 50"/>
          <p:cNvSpPr txBox="1">
            <a:spLocks noChangeArrowheads="1"/>
          </p:cNvSpPr>
          <p:nvPr/>
        </p:nvSpPr>
        <p:spPr bwMode="auto">
          <a:xfrm>
            <a:off x="4495800" y="4835525"/>
            <a:ext cx="38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C</a:t>
            </a:r>
            <a:endParaRPr lang="fr-FR" altLang="fr-FR" sz="1800">
              <a:latin typeface="Arial" panose="020B0604020202020204" pitchFamily="34" charset="0"/>
            </a:endParaRPr>
          </a:p>
        </p:txBody>
      </p:sp>
      <p:sp>
        <p:nvSpPr>
          <p:cNvPr id="131124" name="Text Box 51"/>
          <p:cNvSpPr txBox="1">
            <a:spLocks noChangeArrowheads="1"/>
          </p:cNvSpPr>
          <p:nvPr/>
        </p:nvSpPr>
        <p:spPr bwMode="auto">
          <a:xfrm>
            <a:off x="5105400" y="483552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D</a:t>
            </a:r>
            <a:endParaRPr lang="fr-FR" altLang="fr-FR" sz="1800">
              <a:latin typeface="Arial" panose="020B0604020202020204" pitchFamily="34" charset="0"/>
            </a:endParaRPr>
          </a:p>
        </p:txBody>
      </p:sp>
      <p:sp>
        <p:nvSpPr>
          <p:cNvPr id="131125" name="Text Box 52"/>
          <p:cNvSpPr txBox="1">
            <a:spLocks noChangeArrowheads="1"/>
          </p:cNvSpPr>
          <p:nvPr/>
        </p:nvSpPr>
        <p:spPr bwMode="auto">
          <a:xfrm>
            <a:off x="5867400" y="4835525"/>
            <a:ext cx="387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E</a:t>
            </a:r>
            <a:endParaRPr lang="fr-FR" altLang="fr-FR" sz="1800">
              <a:latin typeface="Arial" panose="020B0604020202020204" pitchFamily="34" charset="0"/>
            </a:endParaRPr>
          </a:p>
        </p:txBody>
      </p:sp>
      <p:sp>
        <p:nvSpPr>
          <p:cNvPr id="131126" name="Text Box 53"/>
          <p:cNvSpPr txBox="1">
            <a:spLocks noChangeArrowheads="1"/>
          </p:cNvSpPr>
          <p:nvPr/>
        </p:nvSpPr>
        <p:spPr bwMode="auto">
          <a:xfrm>
            <a:off x="6705600" y="4835525"/>
            <a:ext cx="369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F</a:t>
            </a:r>
            <a:endParaRPr lang="fr-FR" altLang="fr-FR" sz="1800">
              <a:latin typeface="Arial" panose="020B0604020202020204" pitchFamily="34" charset="0"/>
            </a:endParaRPr>
          </a:p>
        </p:txBody>
      </p:sp>
      <p:sp>
        <p:nvSpPr>
          <p:cNvPr id="131127"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0888" name="Rectangle 55"/>
          <p:cNvSpPr>
            <a:spLocks noChangeArrowheads="1"/>
          </p:cNvSpPr>
          <p:nvPr/>
        </p:nvSpPr>
        <p:spPr bwMode="auto">
          <a:xfrm>
            <a:off x="2289175" y="207963"/>
            <a:ext cx="3516313" cy="307975"/>
          </a:xfrm>
          <a:prstGeom prst="rect">
            <a:avLst/>
          </a:prstGeom>
          <a:noFill/>
          <a:ln w="9525">
            <a:noFill/>
            <a:miter lim="800000"/>
            <a:headEnd/>
            <a:tailEnd/>
          </a:ln>
        </p:spPr>
        <p:txBody>
          <a:bodyPr wrap="none">
            <a:spAutoFit/>
          </a:bodyPr>
          <a:lstStyle/>
          <a:p>
            <a:pPr eaLnBrk="1" hangingPunct="1">
              <a:defRPr/>
            </a:pPr>
            <a:r>
              <a:rPr lang="fr-FR" sz="1400" b="1" cap="small" dirty="0">
                <a:solidFill>
                  <a:srgbClr val="0000EC"/>
                </a:solidFill>
                <a:cs typeface="Times New Roman" pitchFamily="18" charset="0"/>
              </a:rPr>
              <a:t>Freinage du moteur à courant continu</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4"/>
          <a:srcRect/>
          <a:tile tx="0" ty="0" sx="100000" sy="100000" flip="none" algn="tl"/>
        </a:blipFill>
        <a:effectLst/>
      </p:bgPr>
    </p:bg>
    <p:spTree>
      <p:nvGrpSpPr>
        <p:cNvPr id="1" name=""/>
        <p:cNvGrpSpPr/>
        <p:nvPr/>
      </p:nvGrpSpPr>
      <p:grpSpPr>
        <a:xfrm>
          <a:off x="0" y="0"/>
          <a:ext cx="0" cy="0"/>
          <a:chOff x="0" y="0"/>
          <a:chExt cx="0" cy="0"/>
        </a:xfrm>
      </p:grpSpPr>
      <p:sp>
        <p:nvSpPr>
          <p:cNvPr id="55" name="Espace réservé du pied de page 54"/>
          <p:cNvSpPr>
            <a:spLocks noGrp="1"/>
          </p:cNvSpPr>
          <p:nvPr>
            <p:ph type="ftr" sz="quarter" idx="11"/>
          </p:nvPr>
        </p:nvSpPr>
        <p:spPr/>
        <p:txBody>
          <a:bodyPr/>
          <a:lstStyle/>
          <a:p>
            <a:pPr>
              <a:defRPr/>
            </a:pPr>
            <a:r>
              <a:rPr lang="fr-FR"/>
              <a:t>Commande des machines   3.MCC     Ali NEJMI</a:t>
            </a:r>
          </a:p>
        </p:txBody>
      </p:sp>
      <p:sp>
        <p:nvSpPr>
          <p:cNvPr id="133123" name="Espace réservé du numéro de diapositive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45720" bIns="45720"/>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1B4344C8-3CAA-4B95-90FC-A3AD976C3A35}" type="slidenum">
              <a:rPr lang="fr-FR" altLang="fr-FR" sz="1000" smtClean="0">
                <a:solidFill>
                  <a:srgbClr val="292929"/>
                </a:solidFill>
                <a:latin typeface="Arial" panose="020B0604020202020204" pitchFamily="34" charset="0"/>
              </a:rPr>
              <a:pPr>
                <a:spcBef>
                  <a:spcPct val="0"/>
                </a:spcBef>
                <a:buClrTx/>
                <a:buSzTx/>
                <a:buFontTx/>
                <a:buNone/>
              </a:pPr>
              <a:t>70</a:t>
            </a:fld>
            <a:endParaRPr lang="fr-FR" altLang="fr-FR" sz="1000" smtClean="0">
              <a:solidFill>
                <a:srgbClr val="292929"/>
              </a:solidFill>
              <a:latin typeface="Arial" panose="020B0604020202020204" pitchFamily="34" charset="0"/>
            </a:endParaRPr>
          </a:p>
        </p:txBody>
      </p:sp>
      <p:sp>
        <p:nvSpPr>
          <p:cNvPr id="88094" name="Text Box 30"/>
          <p:cNvSpPr txBox="1">
            <a:spLocks noChangeArrowheads="1"/>
          </p:cNvSpPr>
          <p:nvPr/>
        </p:nvSpPr>
        <p:spPr bwMode="auto">
          <a:xfrm>
            <a:off x="574675" y="854075"/>
            <a:ext cx="80724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lgn="just" eaLnBrk="1" hangingPunct="1">
              <a:spcBef>
                <a:spcPct val="0"/>
              </a:spcBef>
              <a:buClrTx/>
              <a:buSzTx/>
              <a:buFontTx/>
              <a:buNone/>
            </a:pPr>
            <a:r>
              <a:rPr lang="fr-FR" altLang="fr-FR" sz="1800">
                <a:latin typeface="Arial" panose="020B0604020202020204" pitchFamily="34" charset="0"/>
              </a:rPr>
              <a:t>On peut en déduire la nature de la réversibilité statique et dynamique du moteur.</a:t>
            </a:r>
          </a:p>
          <a:p>
            <a:pPr algn="just" eaLnBrk="1" hangingPunct="1">
              <a:spcBef>
                <a:spcPct val="0"/>
              </a:spcBef>
              <a:buClrTx/>
              <a:buSzTx/>
              <a:buFontTx/>
              <a:buNone/>
            </a:pPr>
            <a:r>
              <a:rPr lang="fr-FR" altLang="fr-FR" sz="1800">
                <a:latin typeface="Arial" panose="020B0604020202020204" pitchFamily="34" charset="0"/>
              </a:rPr>
              <a:t>Cela permet de faire le choix du moto-variateur</a:t>
            </a:r>
          </a:p>
        </p:txBody>
      </p:sp>
      <p:grpSp>
        <p:nvGrpSpPr>
          <p:cNvPr id="133125" name="Group 95"/>
          <p:cNvGrpSpPr>
            <a:grpSpLocks/>
          </p:cNvGrpSpPr>
          <p:nvPr/>
        </p:nvGrpSpPr>
        <p:grpSpPr bwMode="auto">
          <a:xfrm>
            <a:off x="1392238" y="1752600"/>
            <a:ext cx="7254875" cy="4367213"/>
            <a:chOff x="877" y="1104"/>
            <a:chExt cx="4570" cy="2751"/>
          </a:xfrm>
        </p:grpSpPr>
        <p:sp>
          <p:nvSpPr>
            <p:cNvPr id="133154" name="Text Box 19"/>
            <p:cNvSpPr txBox="1">
              <a:spLocks noChangeArrowheads="1"/>
            </p:cNvSpPr>
            <p:nvPr/>
          </p:nvSpPr>
          <p:spPr bwMode="auto">
            <a:xfrm>
              <a:off x="4595" y="1908"/>
              <a:ext cx="852"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6600"/>
                  </a:solidFill>
                  <a:latin typeface="Arial" panose="020B0604020202020204" pitchFamily="34" charset="0"/>
                </a:rPr>
                <a:t>moteur</a:t>
              </a:r>
            </a:p>
          </p:txBody>
        </p:sp>
        <p:sp>
          <p:nvSpPr>
            <p:cNvPr id="133155" name="Text Box 23"/>
            <p:cNvSpPr txBox="1">
              <a:spLocks noChangeArrowheads="1"/>
            </p:cNvSpPr>
            <p:nvPr/>
          </p:nvSpPr>
          <p:spPr bwMode="auto">
            <a:xfrm>
              <a:off x="4432" y="2918"/>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chemeClr val="accent2"/>
                  </a:solidFill>
                  <a:latin typeface="Arial" panose="020B0604020202020204" pitchFamily="34" charset="0"/>
                </a:rPr>
                <a:t>générateur</a:t>
              </a:r>
            </a:p>
          </p:txBody>
        </p:sp>
        <p:sp>
          <p:nvSpPr>
            <p:cNvPr id="133156" name="Line 13"/>
            <p:cNvSpPr>
              <a:spLocks noChangeShapeType="1"/>
            </p:cNvSpPr>
            <p:nvPr/>
          </p:nvSpPr>
          <p:spPr bwMode="auto">
            <a:xfrm flipV="1">
              <a:off x="2868" y="1390"/>
              <a:ext cx="0" cy="2307"/>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33157" name="Line 14"/>
            <p:cNvSpPr>
              <a:spLocks noChangeShapeType="1"/>
            </p:cNvSpPr>
            <p:nvPr/>
          </p:nvSpPr>
          <p:spPr bwMode="auto">
            <a:xfrm>
              <a:off x="1344" y="2544"/>
              <a:ext cx="3323"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fr-FR"/>
            </a:p>
          </p:txBody>
        </p:sp>
        <p:sp>
          <p:nvSpPr>
            <p:cNvPr id="133158" name="Text Box 15"/>
            <p:cNvSpPr txBox="1">
              <a:spLocks noChangeArrowheads="1"/>
            </p:cNvSpPr>
            <p:nvPr/>
          </p:nvSpPr>
          <p:spPr bwMode="auto">
            <a:xfrm>
              <a:off x="2736" y="1104"/>
              <a:ext cx="472"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Symbol" panose="05050102010706020507" pitchFamily="18" charset="2"/>
                </a:rPr>
                <a:t>W</a:t>
              </a:r>
              <a:endParaRPr lang="fr-FR" altLang="fr-FR" sz="1800" b="1">
                <a:latin typeface="Arial" panose="020B0604020202020204" pitchFamily="34" charset="0"/>
              </a:endParaRPr>
            </a:p>
          </p:txBody>
        </p:sp>
        <p:sp>
          <p:nvSpPr>
            <p:cNvPr id="133159" name="Text Box 16"/>
            <p:cNvSpPr txBox="1">
              <a:spLocks noChangeArrowheads="1"/>
            </p:cNvSpPr>
            <p:nvPr/>
          </p:nvSpPr>
          <p:spPr bwMode="auto">
            <a:xfrm>
              <a:off x="4656" y="2400"/>
              <a:ext cx="432" cy="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latin typeface="Arial" panose="020B0604020202020204" pitchFamily="34" charset="0"/>
                </a:rPr>
                <a:t>C</a:t>
              </a:r>
              <a:endParaRPr lang="fr-FR" altLang="fr-FR" sz="1800" b="1">
                <a:latin typeface="Symbol" panose="05050102010706020507" pitchFamily="18" charset="2"/>
              </a:endParaRPr>
            </a:p>
          </p:txBody>
        </p:sp>
        <p:sp>
          <p:nvSpPr>
            <p:cNvPr id="133160" name="Oval 17"/>
            <p:cNvSpPr>
              <a:spLocks noChangeArrowheads="1"/>
            </p:cNvSpPr>
            <p:nvPr/>
          </p:nvSpPr>
          <p:spPr bwMode="auto">
            <a:xfrm>
              <a:off x="4251" y="1194"/>
              <a:ext cx="332" cy="3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1</a:t>
              </a:r>
            </a:p>
          </p:txBody>
        </p:sp>
        <p:sp>
          <p:nvSpPr>
            <p:cNvPr id="133161" name="Oval 18"/>
            <p:cNvSpPr>
              <a:spLocks noChangeArrowheads="1"/>
            </p:cNvSpPr>
            <p:nvPr/>
          </p:nvSpPr>
          <p:spPr bwMode="auto">
            <a:xfrm>
              <a:off x="1247" y="3523"/>
              <a:ext cx="332" cy="332"/>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3</a:t>
              </a:r>
            </a:p>
          </p:txBody>
        </p:sp>
        <p:sp>
          <p:nvSpPr>
            <p:cNvPr id="133162" name="Text Box 20"/>
            <p:cNvSpPr txBox="1">
              <a:spLocks noChangeArrowheads="1"/>
            </p:cNvSpPr>
            <p:nvPr/>
          </p:nvSpPr>
          <p:spPr bwMode="auto">
            <a:xfrm>
              <a:off x="979" y="2784"/>
              <a:ext cx="912"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6600"/>
                  </a:solidFill>
                  <a:latin typeface="Arial" panose="020B0604020202020204" pitchFamily="34" charset="0"/>
                </a:rPr>
                <a:t>moteur</a:t>
              </a:r>
            </a:p>
          </p:txBody>
        </p:sp>
        <p:sp>
          <p:nvSpPr>
            <p:cNvPr id="133163" name="Oval 21"/>
            <p:cNvSpPr>
              <a:spLocks noChangeArrowheads="1"/>
            </p:cNvSpPr>
            <p:nvPr/>
          </p:nvSpPr>
          <p:spPr bwMode="auto">
            <a:xfrm>
              <a:off x="1239" y="1184"/>
              <a:ext cx="331" cy="331"/>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2</a:t>
              </a:r>
            </a:p>
          </p:txBody>
        </p:sp>
        <p:sp>
          <p:nvSpPr>
            <p:cNvPr id="133164" name="Oval 22"/>
            <p:cNvSpPr>
              <a:spLocks noChangeArrowheads="1"/>
            </p:cNvSpPr>
            <p:nvPr/>
          </p:nvSpPr>
          <p:spPr bwMode="auto">
            <a:xfrm>
              <a:off x="4344" y="3522"/>
              <a:ext cx="332" cy="331"/>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4</a:t>
              </a:r>
            </a:p>
          </p:txBody>
        </p:sp>
        <p:sp>
          <p:nvSpPr>
            <p:cNvPr id="133165" name="Text Box 24"/>
            <p:cNvSpPr txBox="1">
              <a:spLocks noChangeArrowheads="1"/>
            </p:cNvSpPr>
            <p:nvPr/>
          </p:nvSpPr>
          <p:spPr bwMode="auto">
            <a:xfrm>
              <a:off x="877" y="1920"/>
              <a:ext cx="105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chemeClr val="accent2"/>
                  </a:solidFill>
                  <a:latin typeface="Arial" panose="020B0604020202020204" pitchFamily="34" charset="0"/>
                </a:rPr>
                <a:t>générateur</a:t>
              </a:r>
            </a:p>
          </p:txBody>
        </p:sp>
        <p:sp>
          <p:nvSpPr>
            <p:cNvPr id="133166" name="Text Box 25"/>
            <p:cNvSpPr txBox="1">
              <a:spLocks noChangeArrowheads="1"/>
            </p:cNvSpPr>
            <p:nvPr/>
          </p:nvSpPr>
          <p:spPr bwMode="auto">
            <a:xfrm>
              <a:off x="3881" y="2604"/>
              <a:ext cx="27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fr-FR" altLang="fr-FR" sz="1800" b="1">
                  <a:latin typeface="Arial" panose="020B0604020202020204" pitchFamily="34" charset="0"/>
                </a:rPr>
                <a:t>4</a:t>
              </a:r>
              <a:endParaRPr lang="fr-FR" altLang="fr-FR" sz="1800">
                <a:latin typeface="Arial" panose="020B0604020202020204" pitchFamily="34" charset="0"/>
              </a:endParaRPr>
            </a:p>
          </p:txBody>
        </p:sp>
        <p:sp>
          <p:nvSpPr>
            <p:cNvPr id="133167" name="Text Box 26"/>
            <p:cNvSpPr txBox="1">
              <a:spLocks noChangeArrowheads="1"/>
            </p:cNvSpPr>
            <p:nvPr/>
          </p:nvSpPr>
          <p:spPr bwMode="auto">
            <a:xfrm>
              <a:off x="2458" y="1417"/>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fr-FR" altLang="fr-FR" sz="1800" b="1">
                  <a:latin typeface="Arial" panose="020B0604020202020204" pitchFamily="34" charset="0"/>
                </a:rPr>
                <a:t>157</a:t>
              </a:r>
              <a:endParaRPr lang="fr-FR" altLang="fr-FR" sz="1800">
                <a:latin typeface="Arial" panose="020B0604020202020204" pitchFamily="34" charset="0"/>
              </a:endParaRPr>
            </a:p>
          </p:txBody>
        </p:sp>
        <p:sp>
          <p:nvSpPr>
            <p:cNvPr id="133168" name="Text Box 27"/>
            <p:cNvSpPr txBox="1">
              <a:spLocks noChangeArrowheads="1"/>
            </p:cNvSpPr>
            <p:nvPr/>
          </p:nvSpPr>
          <p:spPr bwMode="auto">
            <a:xfrm>
              <a:off x="2853" y="3395"/>
              <a:ext cx="4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fr-FR" altLang="fr-FR" sz="1800" b="1">
                  <a:latin typeface="Arial" panose="020B0604020202020204" pitchFamily="34" charset="0"/>
                </a:rPr>
                <a:t>-157</a:t>
              </a:r>
              <a:endParaRPr lang="fr-FR" altLang="fr-FR" sz="1800">
                <a:latin typeface="Arial" panose="020B0604020202020204" pitchFamily="34" charset="0"/>
              </a:endParaRPr>
            </a:p>
          </p:txBody>
        </p:sp>
        <p:sp>
          <p:nvSpPr>
            <p:cNvPr id="133169" name="Text Box 28"/>
            <p:cNvSpPr txBox="1">
              <a:spLocks noChangeArrowheads="1"/>
            </p:cNvSpPr>
            <p:nvPr/>
          </p:nvSpPr>
          <p:spPr bwMode="auto">
            <a:xfrm>
              <a:off x="3336" y="2598"/>
              <a:ext cx="27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fr-FR" altLang="fr-FR" sz="1800" b="1">
                  <a:latin typeface="Arial" panose="020B0604020202020204" pitchFamily="34" charset="0"/>
                </a:rPr>
                <a:t>2</a:t>
              </a:r>
              <a:endParaRPr lang="fr-FR" altLang="fr-FR" sz="1800">
                <a:latin typeface="Arial" panose="020B0604020202020204" pitchFamily="34" charset="0"/>
              </a:endParaRPr>
            </a:p>
          </p:txBody>
        </p:sp>
        <p:sp>
          <p:nvSpPr>
            <p:cNvPr id="133170" name="Text Box 29"/>
            <p:cNvSpPr txBox="1">
              <a:spLocks noChangeArrowheads="1"/>
            </p:cNvSpPr>
            <p:nvPr/>
          </p:nvSpPr>
          <p:spPr bwMode="auto">
            <a:xfrm>
              <a:off x="3033" y="2597"/>
              <a:ext cx="27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50000"/>
                </a:spcBef>
                <a:buClrTx/>
                <a:buSzTx/>
                <a:buFontTx/>
                <a:buNone/>
              </a:pPr>
              <a:r>
                <a:rPr lang="fr-FR" altLang="fr-FR" sz="1800" b="1">
                  <a:latin typeface="Arial" panose="020B0604020202020204" pitchFamily="34" charset="0"/>
                </a:rPr>
                <a:t>1</a:t>
              </a:r>
              <a:endParaRPr lang="fr-FR" altLang="fr-FR" sz="1800">
                <a:latin typeface="Arial" panose="020B0604020202020204" pitchFamily="34" charset="0"/>
              </a:endParaRPr>
            </a:p>
          </p:txBody>
        </p:sp>
        <p:sp>
          <p:nvSpPr>
            <p:cNvPr id="133171" name="Line 42"/>
            <p:cNvSpPr>
              <a:spLocks noChangeShapeType="1"/>
            </p:cNvSpPr>
            <p:nvPr/>
          </p:nvSpPr>
          <p:spPr bwMode="auto">
            <a:xfrm flipH="1" flipV="1">
              <a:off x="3152" y="2444"/>
              <a:ext cx="0" cy="1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72" name="Line 44"/>
            <p:cNvSpPr>
              <a:spLocks noChangeShapeType="1"/>
            </p:cNvSpPr>
            <p:nvPr/>
          </p:nvSpPr>
          <p:spPr bwMode="auto">
            <a:xfrm flipH="1" flipV="1">
              <a:off x="3437" y="2447"/>
              <a:ext cx="0" cy="1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73" name="Line 46"/>
            <p:cNvSpPr>
              <a:spLocks noChangeShapeType="1"/>
            </p:cNvSpPr>
            <p:nvPr/>
          </p:nvSpPr>
          <p:spPr bwMode="auto">
            <a:xfrm flipH="1" flipV="1">
              <a:off x="3722" y="2450"/>
              <a:ext cx="0" cy="1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74" name="Line 48"/>
            <p:cNvSpPr>
              <a:spLocks noChangeShapeType="1"/>
            </p:cNvSpPr>
            <p:nvPr/>
          </p:nvSpPr>
          <p:spPr bwMode="auto">
            <a:xfrm flipH="1" flipV="1">
              <a:off x="4007" y="2453"/>
              <a:ext cx="0" cy="1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75" name="Line 49"/>
            <p:cNvSpPr>
              <a:spLocks noChangeShapeType="1"/>
            </p:cNvSpPr>
            <p:nvPr/>
          </p:nvSpPr>
          <p:spPr bwMode="auto">
            <a:xfrm flipH="1" flipV="1">
              <a:off x="3722" y="2447"/>
              <a:ext cx="0" cy="1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76" name="Line 50"/>
            <p:cNvSpPr>
              <a:spLocks noChangeShapeType="1"/>
            </p:cNvSpPr>
            <p:nvPr/>
          </p:nvSpPr>
          <p:spPr bwMode="auto">
            <a:xfrm rot="-5400000" flipH="1" flipV="1">
              <a:off x="2865" y="1598"/>
              <a:ext cx="0" cy="1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77" name="Line 51"/>
            <p:cNvSpPr>
              <a:spLocks noChangeShapeType="1"/>
            </p:cNvSpPr>
            <p:nvPr/>
          </p:nvSpPr>
          <p:spPr bwMode="auto">
            <a:xfrm rot="-5400000" flipH="1" flipV="1">
              <a:off x="2866" y="3329"/>
              <a:ext cx="0" cy="1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3" name="Group 59"/>
          <p:cNvGrpSpPr>
            <a:grpSpLocks/>
          </p:cNvGrpSpPr>
          <p:nvPr/>
        </p:nvGrpSpPr>
        <p:grpSpPr bwMode="auto">
          <a:xfrm>
            <a:off x="4802188" y="2054225"/>
            <a:ext cx="350837" cy="685800"/>
            <a:chOff x="3044" y="1312"/>
            <a:chExt cx="221" cy="432"/>
          </a:xfrm>
        </p:grpSpPr>
        <p:sp>
          <p:nvSpPr>
            <p:cNvPr id="133152" name="Text Box 31"/>
            <p:cNvSpPr txBox="1">
              <a:spLocks noChangeArrowheads="1"/>
            </p:cNvSpPr>
            <p:nvPr/>
          </p:nvSpPr>
          <p:spPr bwMode="auto">
            <a:xfrm>
              <a:off x="3044" y="1312"/>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0000"/>
                  </a:solidFill>
                  <a:latin typeface="Arial" panose="020B0604020202020204" pitchFamily="34" charset="0"/>
                </a:rPr>
                <a:t>B</a:t>
              </a:r>
              <a:endParaRPr lang="fr-FR" altLang="fr-FR" sz="1800">
                <a:latin typeface="Arial" panose="020B0604020202020204" pitchFamily="34" charset="0"/>
              </a:endParaRPr>
            </a:p>
          </p:txBody>
        </p:sp>
        <p:sp>
          <p:nvSpPr>
            <p:cNvPr id="133153" name="Oval 58"/>
            <p:cNvSpPr>
              <a:spLocks noChangeArrowheads="1"/>
            </p:cNvSpPr>
            <p:nvPr/>
          </p:nvSpPr>
          <p:spPr bwMode="auto">
            <a:xfrm>
              <a:off x="3107" y="1644"/>
              <a:ext cx="105" cy="100"/>
            </a:xfrm>
            <a:prstGeom prst="ellipse">
              <a:avLst/>
            </a:prstGeom>
            <a:solidFill>
              <a:srgbClr val="FF0000"/>
            </a:solidFill>
            <a:ln w="9525">
              <a:solidFill>
                <a:srgbClr val="FF0000"/>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grpSp>
        <p:nvGrpSpPr>
          <p:cNvPr id="4" name="Group 96"/>
          <p:cNvGrpSpPr>
            <a:grpSpLocks/>
          </p:cNvGrpSpPr>
          <p:nvPr/>
        </p:nvGrpSpPr>
        <p:grpSpPr bwMode="auto">
          <a:xfrm>
            <a:off x="5024438" y="2662238"/>
            <a:ext cx="1749425" cy="1371600"/>
            <a:chOff x="3165" y="1677"/>
            <a:chExt cx="1102" cy="864"/>
          </a:xfrm>
        </p:grpSpPr>
        <p:sp>
          <p:nvSpPr>
            <p:cNvPr id="133148" name="Line 4"/>
            <p:cNvSpPr>
              <a:spLocks noChangeShapeType="1"/>
            </p:cNvSpPr>
            <p:nvPr/>
          </p:nvSpPr>
          <p:spPr bwMode="auto">
            <a:xfrm>
              <a:off x="3998" y="1677"/>
              <a:ext cx="0" cy="86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49" name="Line 5"/>
            <p:cNvSpPr>
              <a:spLocks noChangeShapeType="1"/>
            </p:cNvSpPr>
            <p:nvPr/>
          </p:nvSpPr>
          <p:spPr bwMode="auto">
            <a:xfrm flipH="1" flipV="1">
              <a:off x="3165" y="1683"/>
              <a:ext cx="833" cy="0"/>
            </a:xfrm>
            <a:prstGeom prst="line">
              <a:avLst/>
            </a:prstGeom>
            <a:noFill/>
            <a:ln w="28575">
              <a:solidFill>
                <a:srgbClr val="FF0000"/>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fr-FR"/>
            </a:p>
          </p:txBody>
        </p:sp>
        <p:sp>
          <p:nvSpPr>
            <p:cNvPr id="133150" name="Text Box 37"/>
            <p:cNvSpPr txBox="1">
              <a:spLocks noChangeArrowheads="1"/>
            </p:cNvSpPr>
            <p:nvPr/>
          </p:nvSpPr>
          <p:spPr bwMode="auto">
            <a:xfrm>
              <a:off x="4046" y="1896"/>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0000"/>
                  </a:solidFill>
                  <a:latin typeface="Arial" panose="020B0604020202020204" pitchFamily="34" charset="0"/>
                </a:rPr>
                <a:t>A</a:t>
              </a:r>
              <a:endParaRPr lang="fr-FR" altLang="fr-FR" sz="1800">
                <a:solidFill>
                  <a:srgbClr val="FF0000"/>
                </a:solidFill>
                <a:latin typeface="Arial" panose="020B0604020202020204" pitchFamily="34" charset="0"/>
              </a:endParaRPr>
            </a:p>
          </p:txBody>
        </p:sp>
        <p:sp>
          <p:nvSpPr>
            <p:cNvPr id="133151" name="Line 60"/>
            <p:cNvSpPr>
              <a:spLocks noChangeShapeType="1"/>
            </p:cNvSpPr>
            <p:nvPr/>
          </p:nvSpPr>
          <p:spPr bwMode="auto">
            <a:xfrm rot="5400000" flipH="1">
              <a:off x="3926" y="2106"/>
              <a:ext cx="144" cy="0"/>
            </a:xfrm>
            <a:prstGeom prst="line">
              <a:avLst/>
            </a:prstGeom>
            <a:noFill/>
            <a:ln w="28575">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5" name="Group 97"/>
          <p:cNvGrpSpPr>
            <a:grpSpLocks/>
          </p:cNvGrpSpPr>
          <p:nvPr/>
        </p:nvGrpSpPr>
        <p:grpSpPr bwMode="auto">
          <a:xfrm>
            <a:off x="3108325" y="2662238"/>
            <a:ext cx="1939925" cy="1377950"/>
            <a:chOff x="1958" y="1677"/>
            <a:chExt cx="1222" cy="868"/>
          </a:xfrm>
        </p:grpSpPr>
        <p:sp>
          <p:nvSpPr>
            <p:cNvPr id="133144" name="Line 3"/>
            <p:cNvSpPr>
              <a:spLocks noChangeShapeType="1"/>
            </p:cNvSpPr>
            <p:nvPr/>
          </p:nvSpPr>
          <p:spPr bwMode="auto">
            <a:xfrm>
              <a:off x="2275" y="1677"/>
              <a:ext cx="905" cy="11"/>
            </a:xfrm>
            <a:prstGeom prst="line">
              <a:avLst/>
            </a:prstGeom>
            <a:noFill/>
            <a:ln w="28575">
              <a:solidFill>
                <a:srgbClr val="FF00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45" name="Line 33"/>
            <p:cNvSpPr>
              <a:spLocks noChangeShapeType="1"/>
            </p:cNvSpPr>
            <p:nvPr/>
          </p:nvSpPr>
          <p:spPr bwMode="auto">
            <a:xfrm rot="16200000" flipH="1">
              <a:off x="2200" y="2231"/>
              <a:ext cx="144" cy="0"/>
            </a:xfrm>
            <a:prstGeom prst="line">
              <a:avLst/>
            </a:prstGeom>
            <a:noFill/>
            <a:ln w="28575">
              <a:solidFill>
                <a:srgbClr val="FF0000"/>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fr-FR"/>
            </a:p>
          </p:txBody>
        </p:sp>
        <p:sp>
          <p:nvSpPr>
            <p:cNvPr id="133146" name="Text Box 38"/>
            <p:cNvSpPr txBox="1">
              <a:spLocks noChangeArrowheads="1"/>
            </p:cNvSpPr>
            <p:nvPr/>
          </p:nvSpPr>
          <p:spPr bwMode="auto">
            <a:xfrm>
              <a:off x="1958" y="1907"/>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FF0000"/>
                  </a:solidFill>
                  <a:latin typeface="Arial" panose="020B0604020202020204" pitchFamily="34" charset="0"/>
                </a:rPr>
                <a:t>C</a:t>
              </a:r>
            </a:p>
          </p:txBody>
        </p:sp>
        <p:sp>
          <p:nvSpPr>
            <p:cNvPr id="133147" name="Line 63"/>
            <p:cNvSpPr>
              <a:spLocks noChangeShapeType="1"/>
            </p:cNvSpPr>
            <p:nvPr/>
          </p:nvSpPr>
          <p:spPr bwMode="auto">
            <a:xfrm flipH="1" flipV="1">
              <a:off x="2274" y="1681"/>
              <a:ext cx="0" cy="86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6" name="Group 98"/>
          <p:cNvGrpSpPr>
            <a:grpSpLocks/>
          </p:cNvGrpSpPr>
          <p:nvPr/>
        </p:nvGrpSpPr>
        <p:grpSpPr bwMode="auto">
          <a:xfrm>
            <a:off x="2295525" y="4076700"/>
            <a:ext cx="1801813" cy="1371600"/>
            <a:chOff x="1446" y="2568"/>
            <a:chExt cx="1135" cy="864"/>
          </a:xfrm>
        </p:grpSpPr>
        <p:sp>
          <p:nvSpPr>
            <p:cNvPr id="133140" name="Line 78"/>
            <p:cNvSpPr>
              <a:spLocks noChangeShapeType="1"/>
            </p:cNvSpPr>
            <p:nvPr/>
          </p:nvSpPr>
          <p:spPr bwMode="auto">
            <a:xfrm flipH="1" flipV="1">
              <a:off x="1748" y="2568"/>
              <a:ext cx="0" cy="864"/>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41" name="Line 79"/>
            <p:cNvSpPr>
              <a:spLocks noChangeShapeType="1"/>
            </p:cNvSpPr>
            <p:nvPr/>
          </p:nvSpPr>
          <p:spPr bwMode="auto">
            <a:xfrm>
              <a:off x="1748" y="3426"/>
              <a:ext cx="833" cy="0"/>
            </a:xfrm>
            <a:prstGeom prst="line">
              <a:avLst/>
            </a:prstGeom>
            <a:noFill/>
            <a:ln w="28575">
              <a:solidFill>
                <a:srgbClr val="0000FF"/>
              </a:solidFill>
              <a:prstDash val="dash"/>
              <a:round/>
              <a:headEnd/>
              <a:tailEnd type="none" w="lg" len="lg"/>
            </a:ln>
            <a:extLst>
              <a:ext uri="{909E8E84-426E-40DD-AFC4-6F175D3DCCD1}">
                <a14:hiddenFill xmlns:a14="http://schemas.microsoft.com/office/drawing/2010/main">
                  <a:noFill/>
                </a14:hiddenFill>
              </a:ext>
            </a:extLst>
          </p:spPr>
          <p:txBody>
            <a:bodyPr wrap="none" anchor="ctr"/>
            <a:lstStyle/>
            <a:p>
              <a:endParaRPr lang="fr-FR"/>
            </a:p>
          </p:txBody>
        </p:sp>
        <p:sp>
          <p:nvSpPr>
            <p:cNvPr id="133142" name="Text Box 80"/>
            <p:cNvSpPr txBox="1">
              <a:spLocks noChangeArrowheads="1"/>
            </p:cNvSpPr>
            <p:nvPr/>
          </p:nvSpPr>
          <p:spPr bwMode="auto">
            <a:xfrm flipH="1">
              <a:off x="1446" y="2925"/>
              <a:ext cx="22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0000FF"/>
                  </a:solidFill>
                  <a:latin typeface="Arial" panose="020B0604020202020204" pitchFamily="34" charset="0"/>
                </a:rPr>
                <a:t>D</a:t>
              </a:r>
              <a:endParaRPr lang="fr-FR" altLang="fr-FR" sz="1800">
                <a:solidFill>
                  <a:srgbClr val="0000FF"/>
                </a:solidFill>
                <a:latin typeface="Arial" panose="020B0604020202020204" pitchFamily="34" charset="0"/>
              </a:endParaRPr>
            </a:p>
          </p:txBody>
        </p:sp>
        <p:sp>
          <p:nvSpPr>
            <p:cNvPr id="133143" name="Line 81"/>
            <p:cNvSpPr>
              <a:spLocks noChangeShapeType="1"/>
            </p:cNvSpPr>
            <p:nvPr/>
          </p:nvSpPr>
          <p:spPr bwMode="auto">
            <a:xfrm rot="5400000" flipV="1">
              <a:off x="1676" y="3003"/>
              <a:ext cx="144" cy="0"/>
            </a:xfrm>
            <a:prstGeom prst="line">
              <a:avLst/>
            </a:prstGeom>
            <a:noFill/>
            <a:ln w="28575">
              <a:solidFill>
                <a:srgbClr val="0000FF"/>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7" name="Group 99"/>
          <p:cNvGrpSpPr>
            <a:grpSpLocks/>
          </p:cNvGrpSpPr>
          <p:nvPr/>
        </p:nvGrpSpPr>
        <p:grpSpPr bwMode="auto">
          <a:xfrm>
            <a:off x="4006850" y="4060825"/>
            <a:ext cx="1862138" cy="1377950"/>
            <a:chOff x="2524" y="2558"/>
            <a:chExt cx="1173" cy="868"/>
          </a:xfrm>
        </p:grpSpPr>
        <p:sp>
          <p:nvSpPr>
            <p:cNvPr id="133136" name="Line 83"/>
            <p:cNvSpPr>
              <a:spLocks noChangeShapeType="1"/>
            </p:cNvSpPr>
            <p:nvPr/>
          </p:nvSpPr>
          <p:spPr bwMode="auto">
            <a:xfrm flipH="1" flipV="1">
              <a:off x="2524" y="3415"/>
              <a:ext cx="905" cy="11"/>
            </a:xfrm>
            <a:prstGeom prst="line">
              <a:avLst/>
            </a:prstGeom>
            <a:noFill/>
            <a:ln w="28575">
              <a:solidFill>
                <a:srgbClr val="00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fr-FR"/>
            </a:p>
          </p:txBody>
        </p:sp>
        <p:sp>
          <p:nvSpPr>
            <p:cNvPr id="133137" name="Line 84"/>
            <p:cNvSpPr>
              <a:spLocks noChangeShapeType="1"/>
            </p:cNvSpPr>
            <p:nvPr/>
          </p:nvSpPr>
          <p:spPr bwMode="auto">
            <a:xfrm rot="16200000" flipV="1">
              <a:off x="3360" y="2872"/>
              <a:ext cx="144" cy="0"/>
            </a:xfrm>
            <a:prstGeom prst="line">
              <a:avLst/>
            </a:prstGeom>
            <a:noFill/>
            <a:ln w="28575">
              <a:solidFill>
                <a:srgbClr val="0000FF"/>
              </a:solidFill>
              <a:round/>
              <a:headEnd/>
              <a:tailEnd type="stealth" w="lg" len="lg"/>
            </a:ln>
            <a:extLst>
              <a:ext uri="{909E8E84-426E-40DD-AFC4-6F175D3DCCD1}">
                <a14:hiddenFill xmlns:a14="http://schemas.microsoft.com/office/drawing/2010/main">
                  <a:noFill/>
                </a14:hiddenFill>
              </a:ext>
            </a:extLst>
          </p:spPr>
          <p:txBody>
            <a:bodyPr wrap="none" anchor="ctr"/>
            <a:lstStyle/>
            <a:p>
              <a:endParaRPr lang="fr-FR"/>
            </a:p>
          </p:txBody>
        </p:sp>
        <p:sp>
          <p:nvSpPr>
            <p:cNvPr id="133138" name="Text Box 85"/>
            <p:cNvSpPr txBox="1">
              <a:spLocks noChangeArrowheads="1"/>
            </p:cNvSpPr>
            <p:nvPr/>
          </p:nvSpPr>
          <p:spPr bwMode="auto">
            <a:xfrm flipH="1">
              <a:off x="3492" y="2908"/>
              <a:ext cx="2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0000FF"/>
                  </a:solidFill>
                  <a:latin typeface="Arial" panose="020B0604020202020204" pitchFamily="34" charset="0"/>
                </a:rPr>
                <a:t>F</a:t>
              </a:r>
            </a:p>
          </p:txBody>
        </p:sp>
        <p:sp>
          <p:nvSpPr>
            <p:cNvPr id="133139" name="Line 86"/>
            <p:cNvSpPr>
              <a:spLocks noChangeShapeType="1"/>
            </p:cNvSpPr>
            <p:nvPr/>
          </p:nvSpPr>
          <p:spPr bwMode="auto">
            <a:xfrm>
              <a:off x="3430" y="2558"/>
              <a:ext cx="0" cy="864"/>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fr-FR"/>
            </a:p>
          </p:txBody>
        </p:sp>
      </p:grpSp>
      <p:grpSp>
        <p:nvGrpSpPr>
          <p:cNvPr id="8" name="Group 88"/>
          <p:cNvGrpSpPr>
            <a:grpSpLocks/>
          </p:cNvGrpSpPr>
          <p:nvPr/>
        </p:nvGrpSpPr>
        <p:grpSpPr bwMode="auto">
          <a:xfrm>
            <a:off x="3836988" y="5322888"/>
            <a:ext cx="338137" cy="598487"/>
            <a:chOff x="2429" y="3353"/>
            <a:chExt cx="213" cy="377"/>
          </a:xfrm>
        </p:grpSpPr>
        <p:sp>
          <p:nvSpPr>
            <p:cNvPr id="133134" name="Text Box 74"/>
            <p:cNvSpPr txBox="1">
              <a:spLocks noChangeArrowheads="1"/>
            </p:cNvSpPr>
            <p:nvPr/>
          </p:nvSpPr>
          <p:spPr bwMode="auto">
            <a:xfrm flipH="1">
              <a:off x="2429" y="3497"/>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0000FF"/>
                  </a:solidFill>
                  <a:latin typeface="Arial" panose="020B0604020202020204" pitchFamily="34" charset="0"/>
                </a:rPr>
                <a:t>E</a:t>
              </a:r>
              <a:endParaRPr lang="fr-FR" altLang="fr-FR" sz="1800">
                <a:solidFill>
                  <a:srgbClr val="0000FF"/>
                </a:solidFill>
                <a:latin typeface="Arial" panose="020B0604020202020204" pitchFamily="34" charset="0"/>
              </a:endParaRPr>
            </a:p>
          </p:txBody>
        </p:sp>
        <p:sp>
          <p:nvSpPr>
            <p:cNvPr id="133135" name="Oval 75"/>
            <p:cNvSpPr>
              <a:spLocks noChangeArrowheads="1"/>
            </p:cNvSpPr>
            <p:nvPr/>
          </p:nvSpPr>
          <p:spPr bwMode="auto">
            <a:xfrm flipH="1" flipV="1">
              <a:off x="2505" y="3353"/>
              <a:ext cx="105" cy="100"/>
            </a:xfrm>
            <a:prstGeom prst="ellipse">
              <a:avLst/>
            </a:prstGeom>
            <a:solidFill>
              <a:srgbClr val="0000FF"/>
            </a:solidFill>
            <a:ln w="9525">
              <a:solidFill>
                <a:srgbClr val="0000FF"/>
              </a:solidFill>
              <a:round/>
              <a:headEnd/>
              <a:tailEnd/>
            </a:ln>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133132"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21869" name="Rectangle 56"/>
          <p:cNvSpPr>
            <a:spLocks noChangeArrowheads="1"/>
          </p:cNvSpPr>
          <p:nvPr/>
        </p:nvSpPr>
        <p:spPr bwMode="auto">
          <a:xfrm>
            <a:off x="2289175" y="207963"/>
            <a:ext cx="3516313" cy="307975"/>
          </a:xfrm>
          <a:prstGeom prst="rect">
            <a:avLst/>
          </a:prstGeom>
          <a:noFill/>
          <a:ln w="9525">
            <a:noFill/>
            <a:miter lim="800000"/>
            <a:headEnd/>
            <a:tailEnd/>
          </a:ln>
        </p:spPr>
        <p:txBody>
          <a:bodyPr wrap="none">
            <a:spAutoFit/>
          </a:bodyPr>
          <a:lstStyle/>
          <a:p>
            <a:pPr eaLnBrk="1" hangingPunct="1">
              <a:defRPr/>
            </a:pPr>
            <a:r>
              <a:rPr lang="fr-FR" sz="1400" b="1" cap="small" dirty="0">
                <a:solidFill>
                  <a:srgbClr val="0000EC"/>
                </a:solidFill>
                <a:cs typeface="Times New Roman" pitchFamily="18" charset="0"/>
              </a:rPr>
              <a:t>Freinage du moteur à courant continu</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
                                          </p:val>
                                        </p:tav>
                                        <p:tav tm="100000">
                                          <p:val>
                                            <p:strVal val="#ppt_x"/>
                                          </p:val>
                                        </p:tav>
                                      </p:tavLst>
                                    </p:anim>
                                    <p:anim calcmode="lin" valueType="num">
                                      <p:cBhvr>
                                        <p:cTn id="8" dur="500" fill="hold"/>
                                        <p:tgtEl>
                                          <p:spTgt spid="4"/>
                                        </p:tgtEl>
                                        <p:attrNameLst>
                                          <p:attrName>ppt_y</p:attrName>
                                        </p:attrNameLst>
                                      </p:cBhvr>
                                      <p:tavLst>
                                        <p:tav tm="0">
                                          <p:val>
                                            <p:strVal val="#ppt_y+#ppt_h/2"/>
                                          </p:val>
                                        </p:tav>
                                        <p:tav tm="100000">
                                          <p:val>
                                            <p:strVal val="#ppt_y"/>
                                          </p:val>
                                        </p:tav>
                                      </p:tavLst>
                                    </p:anim>
                                    <p:anim calcmode="lin" valueType="num">
                                      <p:cBhvr>
                                        <p:cTn id="9" dur="500" fill="hold"/>
                                        <p:tgtEl>
                                          <p:spTgt spid="4"/>
                                        </p:tgtEl>
                                        <p:attrNameLst>
                                          <p:attrName>ppt_w</p:attrName>
                                        </p:attrNameLst>
                                      </p:cBhvr>
                                      <p:tavLst>
                                        <p:tav tm="0">
                                          <p:val>
                                            <p:strVal val="#ppt_w"/>
                                          </p:val>
                                        </p:tav>
                                        <p:tav tm="100000">
                                          <p:val>
                                            <p:strVal val="#ppt_w"/>
                                          </p:val>
                                        </p:tav>
                                      </p:tavLst>
                                    </p:anim>
                                    <p:anim calcmode="lin" valueType="num">
                                      <p:cBhvr>
                                        <p:cTn id="10" dur="500" fill="hold"/>
                                        <p:tgtEl>
                                          <p:spTgt spid="4"/>
                                        </p:tgtEl>
                                        <p:attrNameLst>
                                          <p:attrName>ppt_h</p:attrName>
                                        </p:attrNameLst>
                                      </p:cBhvr>
                                      <p:tavLst>
                                        <p:tav tm="0">
                                          <p:val>
                                            <p:fltVal val="0"/>
                                          </p:val>
                                        </p:tav>
                                        <p:tav tm="100000">
                                          <p:val>
                                            <p:strVal val="#ppt_h"/>
                                          </p:val>
                                        </p:tav>
                                      </p:tavLst>
                                    </p:anim>
                                  </p:childTnLst>
                                </p:cTn>
                              </p:par>
                            </p:childTnLst>
                          </p:cTn>
                        </p:par>
                        <p:par>
                          <p:cTn id="11" fill="hold" nodeType="afterGroup">
                            <p:stCondLst>
                              <p:cond delay="500"/>
                            </p:stCondLst>
                            <p:childTnLst>
                              <p:par>
                                <p:cTn id="12" presetID="1" presetClass="entr" presetSubtype="0" fill="hold" nodeType="afterEffect">
                                  <p:stCondLst>
                                    <p:cond delay="1000"/>
                                  </p:stCondLst>
                                  <p:childTnLst>
                                    <p:set>
                                      <p:cBhvr>
                                        <p:cTn id="13" dur="1" fill="hold">
                                          <p:stCondLst>
                                            <p:cond delay="499"/>
                                          </p:stCondLst>
                                        </p:cTn>
                                        <p:tgtEl>
                                          <p:spTgt spid="3"/>
                                        </p:tgtEl>
                                        <p:attrNameLst>
                                          <p:attrName>style.visibility</p:attrName>
                                        </p:attrNameLst>
                                      </p:cBhvr>
                                      <p:to>
                                        <p:strVal val="visible"/>
                                      </p:to>
                                    </p:set>
                                  </p:childTnLst>
                                </p:cTn>
                              </p:par>
                            </p:childTnLst>
                          </p:cTn>
                        </p:par>
                        <p:par>
                          <p:cTn id="14" fill="hold" nodeType="afterGroup">
                            <p:stCondLst>
                              <p:cond delay="2000"/>
                            </p:stCondLst>
                            <p:childTnLst>
                              <p:par>
                                <p:cTn id="15" presetID="17" presetClass="entr" presetSubtype="1" fill="hold" nodeType="afterEffect">
                                  <p:stCondLst>
                                    <p:cond delay="100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ppt_x</p:attrName>
                                        </p:attrNameLst>
                                      </p:cBhvr>
                                      <p:tavLst>
                                        <p:tav tm="0">
                                          <p:val>
                                            <p:strVal val="#ppt_x"/>
                                          </p:val>
                                        </p:tav>
                                        <p:tav tm="100000">
                                          <p:val>
                                            <p:strVal val="#ppt_x"/>
                                          </p:val>
                                        </p:tav>
                                      </p:tavLst>
                                    </p:anim>
                                    <p:anim calcmode="lin" valueType="num">
                                      <p:cBhvr>
                                        <p:cTn id="18" dur="500" fill="hold"/>
                                        <p:tgtEl>
                                          <p:spTgt spid="5"/>
                                        </p:tgtEl>
                                        <p:attrNameLst>
                                          <p:attrName>ppt_y</p:attrName>
                                        </p:attrNameLst>
                                      </p:cBhvr>
                                      <p:tavLst>
                                        <p:tav tm="0">
                                          <p:val>
                                            <p:strVal val="#ppt_y-#ppt_h/2"/>
                                          </p:val>
                                        </p:tav>
                                        <p:tav tm="100000">
                                          <p:val>
                                            <p:strVal val="#ppt_y"/>
                                          </p:val>
                                        </p:tav>
                                      </p:tavLst>
                                    </p:anim>
                                    <p:anim calcmode="lin" valueType="num">
                                      <p:cBhvr>
                                        <p:cTn id="19" dur="500" fill="hold"/>
                                        <p:tgtEl>
                                          <p:spTgt spid="5"/>
                                        </p:tgtEl>
                                        <p:attrNameLst>
                                          <p:attrName>ppt_w</p:attrName>
                                        </p:attrNameLst>
                                      </p:cBhvr>
                                      <p:tavLst>
                                        <p:tav tm="0">
                                          <p:val>
                                            <p:strVal val="#ppt_w"/>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childTnLst>
                                </p:cTn>
                              </p:par>
                            </p:childTnLst>
                          </p:cTn>
                        </p:par>
                        <p:par>
                          <p:cTn id="21" fill="hold" nodeType="afterGroup">
                            <p:stCondLst>
                              <p:cond delay="3500"/>
                            </p:stCondLst>
                            <p:childTnLst>
                              <p:par>
                                <p:cTn id="22" presetID="17" presetClass="entr" presetSubtype="1" fill="hold" nodeType="afterEffect">
                                  <p:stCondLst>
                                    <p:cond delay="1000"/>
                                  </p:stCondLst>
                                  <p:childTnLst>
                                    <p:set>
                                      <p:cBhvr>
                                        <p:cTn id="23" dur="1" fill="hold">
                                          <p:stCondLst>
                                            <p:cond delay="0"/>
                                          </p:stCondLst>
                                        </p:cTn>
                                        <p:tgtEl>
                                          <p:spTgt spid="6"/>
                                        </p:tgtEl>
                                        <p:attrNameLst>
                                          <p:attrName>style.visibility</p:attrName>
                                        </p:attrNameLst>
                                      </p:cBhvr>
                                      <p:to>
                                        <p:strVal val="visible"/>
                                      </p:to>
                                    </p:set>
                                    <p:anim calcmode="lin" valueType="num">
                                      <p:cBhvr>
                                        <p:cTn id="24" dur="500" fill="hold"/>
                                        <p:tgtEl>
                                          <p:spTgt spid="6"/>
                                        </p:tgtEl>
                                        <p:attrNameLst>
                                          <p:attrName>ppt_x</p:attrName>
                                        </p:attrNameLst>
                                      </p:cBhvr>
                                      <p:tavLst>
                                        <p:tav tm="0">
                                          <p:val>
                                            <p:strVal val="#ppt_x"/>
                                          </p:val>
                                        </p:tav>
                                        <p:tav tm="100000">
                                          <p:val>
                                            <p:strVal val="#ppt_x"/>
                                          </p:val>
                                        </p:tav>
                                      </p:tavLst>
                                    </p:anim>
                                    <p:anim calcmode="lin" valueType="num">
                                      <p:cBhvr>
                                        <p:cTn id="25" dur="500" fill="hold"/>
                                        <p:tgtEl>
                                          <p:spTgt spid="6"/>
                                        </p:tgtEl>
                                        <p:attrNameLst>
                                          <p:attrName>ppt_y</p:attrName>
                                        </p:attrNameLst>
                                      </p:cBhvr>
                                      <p:tavLst>
                                        <p:tav tm="0">
                                          <p:val>
                                            <p:strVal val="#ppt_y-#ppt_h/2"/>
                                          </p:val>
                                        </p:tav>
                                        <p:tav tm="100000">
                                          <p:val>
                                            <p:strVal val="#ppt_y"/>
                                          </p:val>
                                        </p:tav>
                                      </p:tavLst>
                                    </p:anim>
                                    <p:anim calcmode="lin" valueType="num">
                                      <p:cBhvr>
                                        <p:cTn id="26" dur="500" fill="hold"/>
                                        <p:tgtEl>
                                          <p:spTgt spid="6"/>
                                        </p:tgtEl>
                                        <p:attrNameLst>
                                          <p:attrName>ppt_w</p:attrName>
                                        </p:attrNameLst>
                                      </p:cBhvr>
                                      <p:tavLst>
                                        <p:tav tm="0">
                                          <p:val>
                                            <p:strVal val="#ppt_w"/>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childTnLst>
                                </p:cTn>
                              </p:par>
                            </p:childTnLst>
                          </p:cTn>
                        </p:par>
                        <p:par>
                          <p:cTn id="28" fill="hold" nodeType="afterGroup">
                            <p:stCondLst>
                              <p:cond delay="5000"/>
                            </p:stCondLst>
                            <p:childTnLst>
                              <p:par>
                                <p:cTn id="29" presetID="1" presetClass="entr" presetSubtype="0" fill="hold" nodeType="afterEffect">
                                  <p:stCondLst>
                                    <p:cond delay="1000"/>
                                  </p:stCondLst>
                                  <p:childTnLst>
                                    <p:set>
                                      <p:cBhvr>
                                        <p:cTn id="30" dur="1" fill="hold">
                                          <p:stCondLst>
                                            <p:cond delay="499"/>
                                          </p:stCondLst>
                                        </p:cTn>
                                        <p:tgtEl>
                                          <p:spTgt spid="8"/>
                                        </p:tgtEl>
                                        <p:attrNameLst>
                                          <p:attrName>style.visibility</p:attrName>
                                        </p:attrNameLst>
                                      </p:cBhvr>
                                      <p:to>
                                        <p:strVal val="visible"/>
                                      </p:to>
                                    </p:set>
                                  </p:childTnLst>
                                </p:cTn>
                              </p:par>
                            </p:childTnLst>
                          </p:cTn>
                        </p:par>
                        <p:par>
                          <p:cTn id="31" fill="hold" nodeType="afterGroup">
                            <p:stCondLst>
                              <p:cond delay="6500"/>
                            </p:stCondLst>
                            <p:childTnLst>
                              <p:par>
                                <p:cTn id="32" presetID="17" presetClass="entr" presetSubtype="4" fill="hold" nodeType="afterEffect">
                                  <p:stCondLst>
                                    <p:cond delay="1000"/>
                                  </p:stCondLst>
                                  <p:childTnLst>
                                    <p:set>
                                      <p:cBhvr>
                                        <p:cTn id="33" dur="1" fill="hold">
                                          <p:stCondLst>
                                            <p:cond delay="0"/>
                                          </p:stCondLst>
                                        </p:cTn>
                                        <p:tgtEl>
                                          <p:spTgt spid="7"/>
                                        </p:tgtEl>
                                        <p:attrNameLst>
                                          <p:attrName>style.visibility</p:attrName>
                                        </p:attrNameLst>
                                      </p:cBhvr>
                                      <p:to>
                                        <p:strVal val="visible"/>
                                      </p:to>
                                    </p:set>
                                    <p:anim calcmode="lin" valueType="num">
                                      <p:cBhvr>
                                        <p:cTn id="34" dur="500" fill="hold"/>
                                        <p:tgtEl>
                                          <p:spTgt spid="7"/>
                                        </p:tgtEl>
                                        <p:attrNameLst>
                                          <p:attrName>ppt_x</p:attrName>
                                        </p:attrNameLst>
                                      </p:cBhvr>
                                      <p:tavLst>
                                        <p:tav tm="0">
                                          <p:val>
                                            <p:strVal val="#ppt_x"/>
                                          </p:val>
                                        </p:tav>
                                        <p:tav tm="100000">
                                          <p:val>
                                            <p:strVal val="#ppt_x"/>
                                          </p:val>
                                        </p:tav>
                                      </p:tavLst>
                                    </p:anim>
                                    <p:anim calcmode="lin" valueType="num">
                                      <p:cBhvr>
                                        <p:cTn id="35" dur="500" fill="hold"/>
                                        <p:tgtEl>
                                          <p:spTgt spid="7"/>
                                        </p:tgtEl>
                                        <p:attrNameLst>
                                          <p:attrName>ppt_y</p:attrName>
                                        </p:attrNameLst>
                                      </p:cBhvr>
                                      <p:tavLst>
                                        <p:tav tm="0">
                                          <p:val>
                                            <p:strVal val="#ppt_y+#ppt_h/2"/>
                                          </p:val>
                                        </p:tav>
                                        <p:tav tm="100000">
                                          <p:val>
                                            <p:strVal val="#ppt_y"/>
                                          </p:val>
                                        </p:tav>
                                      </p:tavLst>
                                    </p:anim>
                                    <p:anim calcmode="lin" valueType="num">
                                      <p:cBhvr>
                                        <p:cTn id="36" dur="500" fill="hold"/>
                                        <p:tgtEl>
                                          <p:spTgt spid="7"/>
                                        </p:tgtEl>
                                        <p:attrNameLst>
                                          <p:attrName>ppt_w</p:attrName>
                                        </p:attrNameLst>
                                      </p:cBhvr>
                                      <p:tavLst>
                                        <p:tav tm="0">
                                          <p:val>
                                            <p:strVal val="#ppt_w"/>
                                          </p:val>
                                        </p:tav>
                                        <p:tav tm="100000">
                                          <p:val>
                                            <p:strVal val="#ppt_w"/>
                                          </p:val>
                                        </p:tav>
                                      </p:tavLst>
                                    </p:anim>
                                    <p:anim calcmode="lin" valueType="num">
                                      <p:cBhvr>
                                        <p:cTn id="37"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1" presetClass="entr" presetSubtype="0" fill="hold" grpId="0" nodeType="clickEffect">
                                  <p:stCondLst>
                                    <p:cond delay="0"/>
                                  </p:stCondLst>
                                  <p:childTnLst>
                                    <p:set>
                                      <p:cBhvr>
                                        <p:cTn id="41" dur="1" fill="hold">
                                          <p:stCondLst>
                                            <p:cond delay="499"/>
                                          </p:stCondLst>
                                        </p:cTn>
                                        <p:tgtEl>
                                          <p:spTgt spid="880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94"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135171"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213FB81-113F-4666-A544-B96E0F893F25}" type="slidenum">
              <a:rPr lang="en-US" altLang="fr-FR" sz="1000" smtClean="0">
                <a:solidFill>
                  <a:srgbClr val="292929"/>
                </a:solidFill>
                <a:latin typeface="Arial" panose="020B0604020202020204" pitchFamily="34" charset="0"/>
              </a:rPr>
              <a:pPr>
                <a:spcBef>
                  <a:spcPct val="0"/>
                </a:spcBef>
                <a:buClrTx/>
                <a:buSzTx/>
                <a:buFontTx/>
                <a:buNone/>
              </a:pPr>
              <a:t>71</a:t>
            </a:fld>
            <a:endParaRPr lang="en-US" altLang="fr-FR" sz="1000" smtClean="0">
              <a:solidFill>
                <a:srgbClr val="292929"/>
              </a:solidFill>
              <a:latin typeface="Arial" panose="020B0604020202020204" pitchFamily="34" charset="0"/>
            </a:endParaRPr>
          </a:p>
        </p:txBody>
      </p:sp>
      <p:pic>
        <p:nvPicPr>
          <p:cNvPr id="135172" name="Picture 2"/>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500063" y="1490663"/>
            <a:ext cx="8143875"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3" name="ZoneTexte 4"/>
          <p:cNvSpPr txBox="1">
            <a:spLocks noChangeArrowheads="1"/>
          </p:cNvSpPr>
          <p:nvPr/>
        </p:nvSpPr>
        <p:spPr bwMode="auto">
          <a:xfrm>
            <a:off x="2552700" y="207963"/>
            <a:ext cx="4103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002060"/>
                </a:solidFill>
                <a:latin typeface="Arial" panose="020B0604020202020204" pitchFamily="34" charset="0"/>
              </a:rPr>
              <a:t>Exemples de variateurs industriels</a:t>
            </a:r>
          </a:p>
        </p:txBody>
      </p:sp>
      <p:sp>
        <p:nvSpPr>
          <p:cNvPr id="135174"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137219"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955A757A-58B0-42B5-A62F-9E8B0DCF72FE}" type="slidenum">
              <a:rPr lang="en-US" altLang="fr-FR" sz="1000" smtClean="0">
                <a:solidFill>
                  <a:srgbClr val="292929"/>
                </a:solidFill>
                <a:latin typeface="Arial" panose="020B0604020202020204" pitchFamily="34" charset="0"/>
              </a:rPr>
              <a:pPr>
                <a:spcBef>
                  <a:spcPct val="0"/>
                </a:spcBef>
                <a:buClrTx/>
                <a:buSzTx/>
                <a:buFontTx/>
                <a:buNone/>
              </a:pPr>
              <a:t>72</a:t>
            </a:fld>
            <a:endParaRPr lang="en-US" altLang="fr-FR" sz="1000" smtClean="0">
              <a:solidFill>
                <a:srgbClr val="292929"/>
              </a:solidFill>
              <a:latin typeface="Arial" panose="020B0604020202020204" pitchFamily="34" charset="0"/>
            </a:endParaRPr>
          </a:p>
        </p:txBody>
      </p:sp>
      <p:grpSp>
        <p:nvGrpSpPr>
          <p:cNvPr id="137220" name="Groupe 6"/>
          <p:cNvGrpSpPr>
            <a:grpSpLocks/>
          </p:cNvGrpSpPr>
          <p:nvPr/>
        </p:nvGrpSpPr>
        <p:grpSpPr bwMode="auto">
          <a:xfrm>
            <a:off x="835025" y="1697038"/>
            <a:ext cx="6421438" cy="4895850"/>
            <a:chOff x="2583584" y="1665550"/>
            <a:chExt cx="6420158" cy="4894982"/>
          </a:xfrm>
        </p:grpSpPr>
        <p:pic>
          <p:nvPicPr>
            <p:cNvPr id="137224" name="Picture 2"/>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2583584" y="1736532"/>
              <a:ext cx="6420158" cy="48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25" name="ZoneTexte 5"/>
            <p:cNvSpPr txBox="1">
              <a:spLocks noChangeArrowheads="1"/>
            </p:cNvSpPr>
            <p:nvPr/>
          </p:nvSpPr>
          <p:spPr bwMode="auto">
            <a:xfrm>
              <a:off x="2792076" y="1665550"/>
              <a:ext cx="3945358" cy="369332"/>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grpSp>
      <p:sp>
        <p:nvSpPr>
          <p:cNvPr id="137221" name="Rectangle 3"/>
          <p:cNvSpPr>
            <a:spLocks noChangeArrowheads="1"/>
          </p:cNvSpPr>
          <p:nvPr/>
        </p:nvSpPr>
        <p:spPr bwMode="auto">
          <a:xfrm>
            <a:off x="182563" y="223838"/>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7222" name="ZoneTexte 8"/>
          <p:cNvSpPr txBox="1">
            <a:spLocks noChangeArrowheads="1"/>
          </p:cNvSpPr>
          <p:nvPr/>
        </p:nvSpPr>
        <p:spPr bwMode="auto">
          <a:xfrm>
            <a:off x="2552700" y="207963"/>
            <a:ext cx="4103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002060"/>
                </a:solidFill>
                <a:latin typeface="Arial" panose="020B0604020202020204" pitchFamily="34" charset="0"/>
              </a:rPr>
              <a:t>Exemples de variateurs industriels</a:t>
            </a:r>
          </a:p>
        </p:txBody>
      </p:sp>
      <p:sp>
        <p:nvSpPr>
          <p:cNvPr id="137223" name="Rectangle 3"/>
          <p:cNvSpPr>
            <a:spLocks noChangeArrowheads="1"/>
          </p:cNvSpPr>
          <p:nvPr/>
        </p:nvSpPr>
        <p:spPr bwMode="auto">
          <a:xfrm>
            <a:off x="520700" y="593725"/>
            <a:ext cx="6570663"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i="1">
                <a:latin typeface="Arial" panose="020B0604020202020204" pitchFamily="34" charset="0"/>
              </a:rPr>
              <a:t>Fonctions disponibles sur les variateurs.</a:t>
            </a:r>
          </a:p>
          <a:p>
            <a:pPr eaLnBrk="1" hangingPunct="1">
              <a:spcBef>
                <a:spcPct val="0"/>
              </a:spcBef>
              <a:buClrTx/>
              <a:buSzTx/>
              <a:buFontTx/>
              <a:buNone/>
            </a:pPr>
            <a:r>
              <a:rPr lang="fr-FR" altLang="fr-FR" sz="1800">
                <a:latin typeface="Arial" panose="020B0604020202020204" pitchFamily="34" charset="0"/>
              </a:rPr>
              <a:t> Limitation de courant </a:t>
            </a:r>
          </a:p>
          <a:p>
            <a:pPr eaLnBrk="1" hangingPunct="1">
              <a:spcBef>
                <a:spcPct val="0"/>
              </a:spcBef>
              <a:buClrTx/>
              <a:buSzTx/>
              <a:buFontTx/>
              <a:buNone/>
            </a:pPr>
            <a:r>
              <a:rPr lang="fr-FR" altLang="fr-FR" sz="1800">
                <a:latin typeface="Arial" panose="020B0604020202020204" pitchFamily="34" charset="0"/>
              </a:rPr>
              <a:t>Rôle : protection thermique du moteur</a:t>
            </a:r>
          </a:p>
          <a:p>
            <a:pPr eaLnBrk="1" hangingPunct="1">
              <a:spcBef>
                <a:spcPct val="0"/>
              </a:spcBef>
              <a:buClrTx/>
              <a:buSzTx/>
              <a:buFontTx/>
              <a:buNone/>
            </a:pPr>
            <a:r>
              <a:rPr lang="fr-FR" altLang="fr-FR" sz="1800">
                <a:latin typeface="Arial" panose="020B0604020202020204" pitchFamily="34" charset="0"/>
              </a:rPr>
              <a:t>Réglage : 1,5 x I</a:t>
            </a:r>
            <a:r>
              <a:rPr lang="fr-FR" altLang="fr-FR" sz="1800" baseline="-25000">
                <a:latin typeface="Arial" panose="020B0604020202020204" pitchFamily="34" charset="0"/>
              </a:rPr>
              <a:t>n</a:t>
            </a:r>
          </a:p>
          <a:p>
            <a:pPr eaLnBrk="1" hangingPunct="1">
              <a:spcBef>
                <a:spcPct val="0"/>
              </a:spcBef>
              <a:buClrTx/>
              <a:buSzTx/>
              <a:buFontTx/>
              <a:buNone/>
            </a:pPr>
            <a:r>
              <a:rPr lang="fr-FR" altLang="fr-FR" sz="1800">
                <a:latin typeface="Arial" panose="020B0604020202020204" pitchFamily="34" charset="0"/>
              </a:rPr>
              <a:t> Asservissement en vitesse.</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139267"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BA98CB57-7ADD-416D-B0AE-AC9D8CD0FDAF}" type="slidenum">
              <a:rPr lang="en-US" altLang="fr-FR" sz="1000" smtClean="0">
                <a:solidFill>
                  <a:srgbClr val="292929"/>
                </a:solidFill>
                <a:latin typeface="Arial" panose="020B0604020202020204" pitchFamily="34" charset="0"/>
              </a:rPr>
              <a:pPr>
                <a:spcBef>
                  <a:spcPct val="0"/>
                </a:spcBef>
                <a:buClrTx/>
                <a:buSzTx/>
                <a:buFontTx/>
                <a:buNone/>
              </a:pPr>
              <a:t>73</a:t>
            </a:fld>
            <a:endParaRPr lang="en-US" altLang="fr-FR" sz="1000" smtClean="0">
              <a:solidFill>
                <a:srgbClr val="292929"/>
              </a:solidFill>
              <a:latin typeface="Arial" panose="020B0604020202020204" pitchFamily="34" charset="0"/>
            </a:endParaRPr>
          </a:p>
        </p:txBody>
      </p:sp>
      <p:sp>
        <p:nvSpPr>
          <p:cNvPr id="139268" name="Rectangle 3"/>
          <p:cNvSpPr>
            <a:spLocks noChangeArrowheads="1"/>
          </p:cNvSpPr>
          <p:nvPr/>
        </p:nvSpPr>
        <p:spPr bwMode="auto">
          <a:xfrm>
            <a:off x="622300" y="801688"/>
            <a:ext cx="79597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latin typeface="Arial" panose="020B0604020202020204" pitchFamily="34" charset="0"/>
              </a:rPr>
              <a:t>La vitesse du moteur est régulée, en fonction de :</a:t>
            </a:r>
          </a:p>
          <a:p>
            <a:pPr eaLnBrk="1" hangingPunct="1">
              <a:spcBef>
                <a:spcPct val="0"/>
              </a:spcBef>
              <a:buClrTx/>
              <a:buSzTx/>
              <a:buFontTx/>
              <a:buNone/>
            </a:pPr>
            <a:r>
              <a:rPr lang="fr-FR" altLang="fr-FR" sz="1800">
                <a:latin typeface="Arial" panose="020B0604020202020204" pitchFamily="34" charset="0"/>
              </a:rPr>
              <a:t> La consigne.</a:t>
            </a:r>
          </a:p>
          <a:p>
            <a:pPr eaLnBrk="1" hangingPunct="1">
              <a:spcBef>
                <a:spcPct val="0"/>
              </a:spcBef>
              <a:buClrTx/>
              <a:buSzTx/>
              <a:buFontTx/>
              <a:buNone/>
            </a:pPr>
            <a:r>
              <a:rPr lang="fr-FR" altLang="fr-FR" sz="1800">
                <a:latin typeface="Arial" panose="020B0604020202020204" pitchFamily="34" charset="0"/>
              </a:rPr>
              <a:t> L’image de la vitesse donnée par la dynamo tachymétrique.</a:t>
            </a:r>
          </a:p>
          <a:p>
            <a:pPr eaLnBrk="1" hangingPunct="1">
              <a:spcBef>
                <a:spcPct val="0"/>
              </a:spcBef>
              <a:buClrTx/>
              <a:buSzTx/>
              <a:buFontTx/>
              <a:buNone/>
            </a:pPr>
            <a:r>
              <a:rPr lang="fr-FR" altLang="fr-FR" sz="1800">
                <a:latin typeface="Arial" panose="020B0604020202020204" pitchFamily="34" charset="0"/>
              </a:rPr>
              <a:t> Rampe d’accélération et de décélération réglable</a:t>
            </a:r>
          </a:p>
        </p:txBody>
      </p:sp>
      <p:pic>
        <p:nvPicPr>
          <p:cNvPr id="139269" name="Picture 2"/>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723900" y="2546350"/>
            <a:ext cx="7858125" cy="330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70" name="Rectangle 3"/>
          <p:cNvSpPr>
            <a:spLocks noChangeArrowheads="1"/>
          </p:cNvSpPr>
          <p:nvPr/>
        </p:nvSpPr>
        <p:spPr bwMode="auto">
          <a:xfrm>
            <a:off x="182563" y="207963"/>
            <a:ext cx="8777287" cy="63404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39271" name="ZoneTexte 6"/>
          <p:cNvSpPr txBox="1">
            <a:spLocks noChangeArrowheads="1"/>
          </p:cNvSpPr>
          <p:nvPr/>
        </p:nvSpPr>
        <p:spPr bwMode="auto">
          <a:xfrm>
            <a:off x="2552700" y="207963"/>
            <a:ext cx="410368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b="1">
                <a:solidFill>
                  <a:srgbClr val="002060"/>
                </a:solidFill>
                <a:latin typeface="Arial" panose="020B0604020202020204" pitchFamily="34" charset="0"/>
              </a:rPr>
              <a:t>Exemples de variateurs industriels</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141315"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FB192527-9411-4E59-AE8E-FAC5F013FA92}" type="slidenum">
              <a:rPr lang="en-US" altLang="fr-FR" sz="1000" smtClean="0">
                <a:solidFill>
                  <a:srgbClr val="292929"/>
                </a:solidFill>
                <a:latin typeface="Arial" panose="020B0604020202020204" pitchFamily="34" charset="0"/>
              </a:rPr>
              <a:pPr>
                <a:spcBef>
                  <a:spcPct val="0"/>
                </a:spcBef>
                <a:buClrTx/>
                <a:buSzTx/>
                <a:buFontTx/>
                <a:buNone/>
              </a:pPr>
              <a:t>74</a:t>
            </a:fld>
            <a:endParaRPr lang="en-US" altLang="fr-FR" sz="1000" smtClean="0">
              <a:solidFill>
                <a:srgbClr val="292929"/>
              </a:solidFill>
              <a:latin typeface="Arial" panose="020B0604020202020204" pitchFamily="34" charset="0"/>
            </a:endParaRPr>
          </a:p>
        </p:txBody>
      </p:sp>
      <p:pic>
        <p:nvPicPr>
          <p:cNvPr id="141316" name="Picture 2"/>
          <p:cNvPicPr>
            <a:picLocks noChangeAspect="1" noChangeArrowheads="1"/>
          </p:cNvPicPr>
          <p:nvPr/>
        </p:nvPicPr>
        <p:blipFill>
          <a:blip r:embed="rId3">
            <a:clrChange>
              <a:clrFrom>
                <a:srgbClr val="FEFEFE"/>
              </a:clrFrom>
              <a:clrTo>
                <a:srgbClr val="FEFEFE">
                  <a:alpha val="0"/>
                </a:srgbClr>
              </a:clrTo>
            </a:clrChange>
            <a:lum bright="-40000"/>
            <a:extLst>
              <a:ext uri="{28A0092B-C50C-407E-A947-70E740481C1C}">
                <a14:useLocalDpi xmlns:a14="http://schemas.microsoft.com/office/drawing/2010/main" val="0"/>
              </a:ext>
            </a:extLst>
          </a:blip>
          <a:srcRect/>
          <a:stretch>
            <a:fillRect/>
          </a:stretch>
        </p:blipFill>
        <p:spPr bwMode="auto">
          <a:xfrm>
            <a:off x="273050" y="636588"/>
            <a:ext cx="5581650"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7" name="ZoneTexte 4"/>
          <p:cNvSpPr txBox="1">
            <a:spLocks noChangeArrowheads="1"/>
          </p:cNvSpPr>
          <p:nvPr/>
        </p:nvSpPr>
        <p:spPr bwMode="auto">
          <a:xfrm>
            <a:off x="5518150" y="1363663"/>
            <a:ext cx="641350" cy="36830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
        <p:nvSpPr>
          <p:cNvPr id="141318" name="ZoneTexte 5"/>
          <p:cNvSpPr txBox="1">
            <a:spLocks noChangeArrowheads="1"/>
          </p:cNvSpPr>
          <p:nvPr/>
        </p:nvSpPr>
        <p:spPr bwMode="auto">
          <a:xfrm>
            <a:off x="4989513" y="2422525"/>
            <a:ext cx="1138237" cy="368300"/>
          </a:xfrm>
          <a:prstGeom prst="rect">
            <a:avLst/>
          </a:prstGeom>
          <a:blipFill dpi="0" rotWithShape="1">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pic>
        <p:nvPicPr>
          <p:cNvPr id="141319" name="Picture 3"/>
          <p:cNvPicPr>
            <a:picLocks noChangeAspect="1" noChangeArrowheads="1"/>
          </p:cNvPicPr>
          <p:nvPr/>
        </p:nvPicPr>
        <p:blipFill>
          <a:blip r:embed="rId5">
            <a:clrChange>
              <a:clrFrom>
                <a:srgbClr val="FEFEFE"/>
              </a:clrFrom>
              <a:clrTo>
                <a:srgbClr val="FEFEFE">
                  <a:alpha val="0"/>
                </a:srgbClr>
              </a:clrTo>
            </a:clrChange>
            <a:lum bright="-40000"/>
            <a:extLst>
              <a:ext uri="{28A0092B-C50C-407E-A947-70E740481C1C}">
                <a14:useLocalDpi xmlns:a14="http://schemas.microsoft.com/office/drawing/2010/main" val="0"/>
              </a:ext>
            </a:extLst>
          </a:blip>
          <a:srcRect/>
          <a:stretch>
            <a:fillRect/>
          </a:stretch>
        </p:blipFill>
        <p:spPr bwMode="auto">
          <a:xfrm>
            <a:off x="5708650" y="1363663"/>
            <a:ext cx="3206750"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20" name="Rectangle 7"/>
          <p:cNvSpPr>
            <a:spLocks noChangeArrowheads="1"/>
          </p:cNvSpPr>
          <p:nvPr/>
        </p:nvSpPr>
        <p:spPr bwMode="auto">
          <a:xfrm>
            <a:off x="5980113" y="2790825"/>
            <a:ext cx="3163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400">
                <a:latin typeface="Arial" panose="020B0604020202020204" pitchFamily="34" charset="0"/>
              </a:rPr>
              <a:t>Dynamo tachymétrique :</a:t>
            </a:r>
          </a:p>
          <a:p>
            <a:pPr eaLnBrk="1" hangingPunct="1">
              <a:spcBef>
                <a:spcPct val="0"/>
              </a:spcBef>
              <a:buClrTx/>
              <a:buSzTx/>
              <a:buFontTx/>
              <a:buNone/>
            </a:pPr>
            <a:r>
              <a:rPr lang="fr-FR" altLang="fr-FR" sz="1400">
                <a:latin typeface="Arial" panose="020B0604020202020204" pitchFamily="34" charset="0"/>
              </a:rPr>
              <a:t>(Asservissement en vitesse)</a:t>
            </a:r>
          </a:p>
        </p:txBody>
      </p:sp>
      <p:pic>
        <p:nvPicPr>
          <p:cNvPr id="141321" name="Picture 4"/>
          <p:cNvPicPr>
            <a:picLocks noChangeAspect="1" noChangeArrowheads="1"/>
          </p:cNvPicPr>
          <p:nvPr/>
        </p:nvPicPr>
        <p:blipFill>
          <a:blip r:embed="rId6">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5983288" y="4075113"/>
            <a:ext cx="2682875"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 name="Connecteur droit avec flèche 10"/>
          <p:cNvCxnSpPr/>
          <p:nvPr/>
        </p:nvCxnSpPr>
        <p:spPr>
          <a:xfrm rot="16200000" flipH="1">
            <a:off x="5380038" y="1638300"/>
            <a:ext cx="369887" cy="188913"/>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Connecteur droit avec flèche 11"/>
          <p:cNvCxnSpPr/>
          <p:nvPr/>
        </p:nvCxnSpPr>
        <p:spPr>
          <a:xfrm>
            <a:off x="4894263" y="2606675"/>
            <a:ext cx="1125537" cy="369888"/>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Connecteur droit avec flèche 13"/>
          <p:cNvCxnSpPr/>
          <p:nvPr/>
        </p:nvCxnSpPr>
        <p:spPr>
          <a:xfrm>
            <a:off x="5822950" y="3754438"/>
            <a:ext cx="979488" cy="368300"/>
          </a:xfrm>
          <a:prstGeom prst="straightConnector1">
            <a:avLst/>
          </a:prstGeom>
          <a:ln w="2857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1325" name="Rectangle 15"/>
          <p:cNvSpPr>
            <a:spLocks noChangeArrowheads="1"/>
          </p:cNvSpPr>
          <p:nvPr/>
        </p:nvSpPr>
        <p:spPr bwMode="auto">
          <a:xfrm>
            <a:off x="417513" y="207963"/>
            <a:ext cx="88709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600">
                <a:solidFill>
                  <a:srgbClr val="C00000"/>
                </a:solidFill>
                <a:latin typeface="Arial" panose="020B0604020202020204" pitchFamily="34" charset="0"/>
              </a:rPr>
              <a:t>Le variateur </a:t>
            </a:r>
            <a:r>
              <a:rPr lang="fr-FR" altLang="fr-FR" sz="1600" b="1">
                <a:solidFill>
                  <a:srgbClr val="C00000"/>
                </a:solidFill>
                <a:latin typeface="Arial" panose="020B0604020202020204" pitchFamily="34" charset="0"/>
              </a:rPr>
              <a:t>LEROY SOMMER DMV 201 est un variateur 2 quadrants (quadrant 1 et 4)</a:t>
            </a:r>
            <a:endParaRPr lang="fr-FR" altLang="fr-FR" sz="1600">
              <a:solidFill>
                <a:srgbClr val="C00000"/>
              </a:solidFill>
              <a:latin typeface="Arial" panose="020B0604020202020204" pitchFamily="34" charset="0"/>
            </a:endParaRPr>
          </a:p>
        </p:txBody>
      </p:sp>
      <p:sp>
        <p:nvSpPr>
          <p:cNvPr id="141326" name="Rectangle 1027"/>
          <p:cNvSpPr>
            <a:spLocks noChangeArrowheads="1"/>
          </p:cNvSpPr>
          <p:nvPr/>
        </p:nvSpPr>
        <p:spPr bwMode="auto">
          <a:xfrm>
            <a:off x="182563" y="195263"/>
            <a:ext cx="8777287" cy="64420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p:cNvSpPr>
            <a:spLocks noGrp="1"/>
          </p:cNvSpPr>
          <p:nvPr>
            <p:ph type="ftr" sz="quarter" idx="11"/>
          </p:nvPr>
        </p:nvSpPr>
        <p:spPr/>
        <p:txBody>
          <a:bodyPr/>
          <a:lstStyle/>
          <a:p>
            <a:pPr>
              <a:defRPr/>
            </a:pPr>
            <a:r>
              <a:rPr lang="fr-FR" smtClean="0"/>
              <a:t>Commande des machines   3.MCC     Ali NEJMI</a:t>
            </a:r>
            <a:endParaRPr lang="en-US"/>
          </a:p>
        </p:txBody>
      </p:sp>
      <p:sp>
        <p:nvSpPr>
          <p:cNvPr id="143363" name="Espace réservé du numéro de diapositive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a:spcBef>
                <a:spcPct val="0"/>
              </a:spcBef>
              <a:buClrTx/>
              <a:buSzTx/>
              <a:buFontTx/>
              <a:buNone/>
            </a:pPr>
            <a:fld id="{57AB10C4-03E5-4E08-8EC0-0B7C57C2A85E}" type="slidenum">
              <a:rPr lang="en-US" altLang="fr-FR" sz="1000" smtClean="0">
                <a:solidFill>
                  <a:srgbClr val="292929"/>
                </a:solidFill>
                <a:latin typeface="Arial" panose="020B0604020202020204" pitchFamily="34" charset="0"/>
              </a:rPr>
              <a:pPr>
                <a:spcBef>
                  <a:spcPct val="0"/>
                </a:spcBef>
                <a:buClrTx/>
                <a:buSzTx/>
                <a:buFontTx/>
                <a:buNone/>
              </a:pPr>
              <a:t>75</a:t>
            </a:fld>
            <a:endParaRPr lang="en-US" altLang="fr-FR" sz="1000" smtClean="0">
              <a:solidFill>
                <a:srgbClr val="292929"/>
              </a:solidFill>
              <a:latin typeface="Arial" panose="020B0604020202020204" pitchFamily="34" charset="0"/>
            </a:endParaRPr>
          </a:p>
        </p:txBody>
      </p:sp>
      <p:pic>
        <p:nvPicPr>
          <p:cNvPr id="143364" name="Picture 2"/>
          <p:cNvPicPr>
            <a:picLocks noChangeAspect="1" noChangeArrowheads="1"/>
          </p:cNvPicPr>
          <p:nvPr/>
        </p:nvPicPr>
        <p:blipFill>
          <a:blip r:embed="rId3">
            <a:clrChange>
              <a:clrFrom>
                <a:srgbClr val="FEFEFE"/>
              </a:clrFrom>
              <a:clrTo>
                <a:srgbClr val="FEFEFE">
                  <a:alpha val="0"/>
                </a:srgbClr>
              </a:clrTo>
            </a:clrChange>
            <a:lum bright="-40000"/>
            <a:extLst>
              <a:ext uri="{28A0092B-C50C-407E-A947-70E740481C1C}">
                <a14:useLocalDpi xmlns:a14="http://schemas.microsoft.com/office/drawing/2010/main" val="0"/>
              </a:ext>
            </a:extLst>
          </a:blip>
          <a:srcRect/>
          <a:stretch>
            <a:fillRect/>
          </a:stretch>
        </p:blipFill>
        <p:spPr bwMode="auto">
          <a:xfrm>
            <a:off x="128588" y="717550"/>
            <a:ext cx="8796337"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65" name="Rectangle 4"/>
          <p:cNvSpPr>
            <a:spLocks noChangeArrowheads="1"/>
          </p:cNvSpPr>
          <p:nvPr/>
        </p:nvSpPr>
        <p:spPr bwMode="auto">
          <a:xfrm>
            <a:off x="1300163" y="200025"/>
            <a:ext cx="85979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r>
              <a:rPr lang="fr-FR" altLang="fr-FR" sz="1800">
                <a:solidFill>
                  <a:srgbClr val="C00000"/>
                </a:solidFill>
                <a:latin typeface="Arial" panose="020B0604020202020204" pitchFamily="34" charset="0"/>
              </a:rPr>
              <a:t>Le variateur </a:t>
            </a:r>
            <a:r>
              <a:rPr lang="fr-FR" altLang="fr-FR" sz="1800" b="1">
                <a:solidFill>
                  <a:srgbClr val="C00000"/>
                </a:solidFill>
                <a:latin typeface="Arial" panose="020B0604020202020204" pitchFamily="34" charset="0"/>
              </a:rPr>
              <a:t>RECTIVAR 4 série 44 est un variateur 4 quadrants</a:t>
            </a:r>
            <a:endParaRPr lang="fr-FR" altLang="fr-FR" sz="1800">
              <a:solidFill>
                <a:srgbClr val="C00000"/>
              </a:solidFill>
              <a:latin typeface="Arial" panose="020B0604020202020204" pitchFamily="34" charset="0"/>
            </a:endParaRPr>
          </a:p>
        </p:txBody>
      </p:sp>
      <p:sp>
        <p:nvSpPr>
          <p:cNvPr id="143366" name="Rectangle 1027"/>
          <p:cNvSpPr>
            <a:spLocks noChangeArrowheads="1"/>
          </p:cNvSpPr>
          <p:nvPr/>
        </p:nvSpPr>
        <p:spPr bwMode="auto">
          <a:xfrm>
            <a:off x="182563" y="195263"/>
            <a:ext cx="8777287" cy="64420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80000"/>
              <a:buFont typeface="Wingdings 2" panose="05020102010507070707" pitchFamily="18" charset="2"/>
              <a:buChar char=""/>
              <a:defRPr sz="3000">
                <a:solidFill>
                  <a:schemeClr val="tx1"/>
                </a:solidFill>
                <a:latin typeface="Book Antiqua" panose="02040602050305030304" pitchFamily="18" charset="0"/>
              </a:defRPr>
            </a:lvl1pPr>
            <a:lvl2pPr marL="742950" indent="-285750">
              <a:spcBef>
                <a:spcPct val="20000"/>
              </a:spcBef>
              <a:buClr>
                <a:schemeClr val="accent1"/>
              </a:buClr>
              <a:buSzPct val="90000"/>
              <a:buFont typeface="Wingdings 2" panose="05020102010507070707" pitchFamily="18" charset="2"/>
              <a:buChar char=""/>
              <a:defRPr sz="2600">
                <a:solidFill>
                  <a:schemeClr val="tx1"/>
                </a:solidFill>
                <a:latin typeface="Book Antiqua" panose="02040602050305030304" pitchFamily="18" charset="0"/>
              </a:defRPr>
            </a:lvl2pPr>
            <a:lvl3pPr marL="1143000" indent="-228600">
              <a:spcBef>
                <a:spcPct val="20000"/>
              </a:spcBef>
              <a:buClr>
                <a:schemeClr val="accent2"/>
              </a:buClr>
              <a:buSzPct val="85000"/>
              <a:buFont typeface="Arial" panose="020B0604020202020204" pitchFamily="34" charset="0"/>
              <a:buChar char="○"/>
              <a:defRPr sz="2400">
                <a:solidFill>
                  <a:schemeClr val="tx1"/>
                </a:solidFill>
                <a:latin typeface="Book Antiqua" panose="02040602050305030304" pitchFamily="18" charset="0"/>
              </a:defRPr>
            </a:lvl3pPr>
            <a:lvl4pPr marL="1600200" indent="-228600">
              <a:spcBef>
                <a:spcPct val="20000"/>
              </a:spcBef>
              <a:buClr>
                <a:srgbClr val="8D89A4"/>
              </a:buClr>
              <a:buSzPct val="90000"/>
              <a:buFont typeface="Wingdings 2" panose="05020102010507070707" pitchFamily="18" charset="2"/>
              <a:buChar char=""/>
              <a:defRPr sz="2000">
                <a:solidFill>
                  <a:schemeClr val="tx1"/>
                </a:solidFill>
                <a:latin typeface="Book Antiqua" panose="02040602050305030304" pitchFamily="18" charset="0"/>
              </a:defRPr>
            </a:lvl4pPr>
            <a:lvl5pPr marL="2057400" indent="-228600">
              <a:spcBef>
                <a:spcPct val="20000"/>
              </a:spcBef>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rgbClr val="748560"/>
              </a:buClr>
              <a:buSzPct val="100000"/>
              <a:buFont typeface="Arial" panose="020B0604020202020204" pitchFamily="34" charset="0"/>
              <a:buChar char="-"/>
              <a:defRPr sz="2000">
                <a:solidFill>
                  <a:schemeClr val="tx1"/>
                </a:solidFill>
                <a:latin typeface="Book Antiqua" panose="02040602050305030304" pitchFamily="18" charset="0"/>
              </a:defRPr>
            </a:lvl9pPr>
          </a:lstStyle>
          <a:p>
            <a:pPr eaLnBrk="1" hangingPunct="1">
              <a:spcBef>
                <a:spcPct val="0"/>
              </a:spcBef>
              <a:buClrTx/>
              <a:buSzTx/>
              <a:buFontTx/>
              <a:buNone/>
            </a:pPr>
            <a:endParaRPr lang="fr-FR" altLang="fr-FR" sz="1800">
              <a:latin typeface="Arial" panose="020B0604020202020204" pitchFamily="34"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chnique">
  <a:themeElements>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echnique">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5.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6.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7.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8.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9.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0.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1.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2.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3.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4.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5.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6.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7.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8.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19.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0.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1.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2.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3.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4.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5.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6.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7.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8.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29.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0.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1.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2.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3.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4.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5.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6.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7.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8.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39.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0.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1.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2.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3.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4.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5.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6.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7.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8.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49.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ppt/theme/themeOverride50.xml><?xml version="1.0" encoding="utf-8"?>
<a:themeOverride xmlns:a="http://schemas.openxmlformats.org/drawingml/2006/main">
  <a:clrScheme name="Technique">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themeOverride>
</file>

<file path=docProps/app.xml><?xml version="1.0" encoding="utf-8"?>
<Properties xmlns="http://schemas.openxmlformats.org/officeDocument/2006/extended-properties" xmlns:vt="http://schemas.openxmlformats.org/officeDocument/2006/docPropsVTypes">
  <Template/>
  <TotalTime>11419</TotalTime>
  <Words>3788</Words>
  <Application>Microsoft Office PowerPoint</Application>
  <PresentationFormat>Affichage à l'écran (4:3)</PresentationFormat>
  <Paragraphs>1093</Paragraphs>
  <Slides>75</Slides>
  <Notes>68</Notes>
  <HiddenSlides>0</HiddenSlides>
  <MMClips>0</MMClips>
  <ScaleCrop>false</ScaleCrop>
  <HeadingPairs>
    <vt:vector size="8" baseType="variant">
      <vt:variant>
        <vt:lpstr>Polices utilisées</vt:lpstr>
      </vt:variant>
      <vt:variant>
        <vt:i4>12</vt:i4>
      </vt:variant>
      <vt:variant>
        <vt:lpstr>Thème</vt:lpstr>
      </vt:variant>
      <vt:variant>
        <vt:i4>1</vt:i4>
      </vt:variant>
      <vt:variant>
        <vt:lpstr>Serveurs OLE incorporés</vt:lpstr>
      </vt:variant>
      <vt:variant>
        <vt:i4>2</vt:i4>
      </vt:variant>
      <vt:variant>
        <vt:lpstr>Titres des diapositives</vt:lpstr>
      </vt:variant>
      <vt:variant>
        <vt:i4>75</vt:i4>
      </vt:variant>
    </vt:vector>
  </HeadingPairs>
  <TitlesOfParts>
    <vt:vector size="90" baseType="lpstr">
      <vt:lpstr>Arial</vt:lpstr>
      <vt:lpstr>Book Antiqua</vt:lpstr>
      <vt:lpstr>Bookman Old Style</vt:lpstr>
      <vt:lpstr>Bradley Hand ITC</vt:lpstr>
      <vt:lpstr>Calibri</vt:lpstr>
      <vt:lpstr>Cambria Math</vt:lpstr>
      <vt:lpstr>Courier New</vt:lpstr>
      <vt:lpstr>Lucida Sans</vt:lpstr>
      <vt:lpstr>Symbol</vt:lpstr>
      <vt:lpstr>Times New Roman</vt:lpstr>
      <vt:lpstr>Wingdings</vt:lpstr>
      <vt:lpstr>Wingdings 2</vt:lpstr>
      <vt:lpstr>Technique</vt:lpstr>
      <vt:lpstr>Équation</vt:lpstr>
      <vt:lpstr>Equation</vt:lpstr>
      <vt:lpst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DC Motor Drives</dc:title>
  <dc:creator>Dr Nik Rmzi Nik Idris</dc:creator>
  <cp:lastModifiedBy>DELL</cp:lastModifiedBy>
  <cp:revision>440</cp:revision>
  <dcterms:created xsi:type="dcterms:W3CDTF">2004-08-03T14:53:31Z</dcterms:created>
  <dcterms:modified xsi:type="dcterms:W3CDTF">2024-09-24T18:03:29Z</dcterms:modified>
</cp:coreProperties>
</file>