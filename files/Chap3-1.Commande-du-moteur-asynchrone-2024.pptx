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Narrow" panose="020B060602020203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Narrow" panose="020B060602020203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Narrow" panose="020B060602020203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Narrow" panose="020B060602020203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Narrow" panose="020B0606020202030204" pitchFamily="34" charset="0"/>
        <a:ea typeface="+mn-ea"/>
        <a:cs typeface="+mn-cs"/>
      </a:defRPr>
    </a:lvl5pPr>
    <a:lvl6pPr marL="2286000" algn="l" defTabSz="914400" rtl="0" eaLnBrk="1" latinLnBrk="0" hangingPunct="1">
      <a:defRPr sz="2400" kern="1200">
        <a:solidFill>
          <a:schemeClr val="tx1"/>
        </a:solidFill>
        <a:latin typeface="Arial Narrow" panose="020B0606020202030204" pitchFamily="34" charset="0"/>
        <a:ea typeface="+mn-ea"/>
        <a:cs typeface="+mn-cs"/>
      </a:defRPr>
    </a:lvl6pPr>
    <a:lvl7pPr marL="2743200" algn="l" defTabSz="914400" rtl="0" eaLnBrk="1" latinLnBrk="0" hangingPunct="1">
      <a:defRPr sz="2400" kern="1200">
        <a:solidFill>
          <a:schemeClr val="tx1"/>
        </a:solidFill>
        <a:latin typeface="Arial Narrow" panose="020B0606020202030204" pitchFamily="34" charset="0"/>
        <a:ea typeface="+mn-ea"/>
        <a:cs typeface="+mn-cs"/>
      </a:defRPr>
    </a:lvl7pPr>
    <a:lvl8pPr marL="3200400" algn="l" defTabSz="914400" rtl="0" eaLnBrk="1" latinLnBrk="0" hangingPunct="1">
      <a:defRPr sz="2400" kern="1200">
        <a:solidFill>
          <a:schemeClr val="tx1"/>
        </a:solidFill>
        <a:latin typeface="Arial Narrow" panose="020B0606020202030204" pitchFamily="34" charset="0"/>
        <a:ea typeface="+mn-ea"/>
        <a:cs typeface="+mn-cs"/>
      </a:defRPr>
    </a:lvl8pPr>
    <a:lvl9pPr marL="3657600" algn="l" defTabSz="914400" rtl="0" eaLnBrk="1" latinLnBrk="0" hangingPunct="1">
      <a:defRPr sz="2400" kern="1200">
        <a:solidFill>
          <a:schemeClr val="tx1"/>
        </a:solidFill>
        <a:latin typeface="Arial Narrow" panose="020B0606020202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99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45" autoAdjust="0"/>
    <p:restoredTop sz="94667" autoAdjust="0"/>
  </p:normalViewPr>
  <p:slideViewPr>
    <p:cSldViewPr>
      <p:cViewPr varScale="1">
        <p:scale>
          <a:sx n="68" d="100"/>
          <a:sy n="68" d="100"/>
        </p:scale>
        <p:origin x="1284" y="66"/>
      </p:cViewPr>
      <p:guideLst>
        <p:guide orient="horz" pos="2160"/>
        <p:guide pos="2880"/>
      </p:guideLst>
    </p:cSldViewPr>
  </p:slideViewPr>
  <p:outlineViewPr>
    <p:cViewPr>
      <p:scale>
        <a:sx n="33" d="100"/>
        <a:sy n="33" d="100"/>
      </p:scale>
      <p:origin x="0" y="3510"/>
    </p:cViewPr>
  </p:outlineViewPr>
  <p:notesTextViewPr>
    <p:cViewPr>
      <p:scale>
        <a:sx n="100" d="100"/>
        <a:sy n="100" d="100"/>
      </p:scale>
      <p:origin x="0" y="0"/>
    </p:cViewPr>
  </p:notesTextViewPr>
  <p:sorterViewPr>
    <p:cViewPr>
      <p:scale>
        <a:sx n="130" d="100"/>
        <a:sy n="130" d="100"/>
      </p:scale>
      <p:origin x="0" y="0"/>
    </p:cViewPr>
  </p:sorter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 Id="rId5" Type="http://schemas.openxmlformats.org/officeDocument/2006/relationships/image" Target="../media/image23.wmf"/><Relationship Id="rId4" Type="http://schemas.openxmlformats.org/officeDocument/2006/relationships/image" Target="../media/image22.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defRPr>
            </a:lvl1pPr>
          </a:lstStyle>
          <a:p>
            <a:pPr>
              <a:defRPr/>
            </a:pPr>
            <a:endParaRPr lang="en-US"/>
          </a:p>
        </p:txBody>
      </p:sp>
      <p:sp>
        <p:nvSpPr>
          <p:cNvPr id="1433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defRPr>
            </a:lvl1pPr>
          </a:lstStyle>
          <a:p>
            <a:pPr>
              <a:defRPr/>
            </a:pPr>
            <a:endParaRPr lang="en-US"/>
          </a:p>
        </p:txBody>
      </p:sp>
      <p:sp>
        <p:nvSpPr>
          <p:cNvPr id="92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434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defRPr>
            </a:lvl1pPr>
          </a:lstStyle>
          <a:p>
            <a:pPr>
              <a:defRPr/>
            </a:pPr>
            <a:endParaRPr lang="en-US"/>
          </a:p>
        </p:txBody>
      </p:sp>
      <p:sp>
        <p:nvSpPr>
          <p:cNvPr id="1434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Times New Roman" panose="02020603050405020304" pitchFamily="18" charset="0"/>
              </a:defRPr>
            </a:lvl1pPr>
          </a:lstStyle>
          <a:p>
            <a:pPr>
              <a:defRPr/>
            </a:pPr>
            <a:fld id="{D5A34F86-553D-40EA-817E-91AD903857DE}" type="slidenum">
              <a:rPr lang="en-US" altLang="fr-FR"/>
              <a:pPr>
                <a:defRPr/>
              </a:pPr>
              <a:t>‹N°›</a:t>
            </a:fld>
            <a:endParaRPr lang="en-US" altLang="fr-FR"/>
          </a:p>
        </p:txBody>
      </p:sp>
    </p:spTree>
    <p:extLst>
      <p:ext uri="{BB962C8B-B14F-4D97-AF65-F5344CB8AC3E}">
        <p14:creationId xmlns:p14="http://schemas.microsoft.com/office/powerpoint/2010/main" val="8216506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4C94979-62D5-4CB7-AE4A-5ABE1809F403}" type="slidenum">
              <a:rPr lang="en-US" altLang="fr-FR"/>
              <a:pPr>
                <a:spcBef>
                  <a:spcPct val="0"/>
                </a:spcBef>
              </a:pPr>
              <a:t>1</a:t>
            </a:fld>
            <a:endParaRPr lang="en-US" altLang="fr-FR"/>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2909867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35EA76E-9ECF-4940-AD4C-3B3AFC2977DB}" type="slidenum">
              <a:rPr lang="en-US" altLang="fr-FR"/>
              <a:pPr>
                <a:spcBef>
                  <a:spcPct val="0"/>
                </a:spcBef>
              </a:pPr>
              <a:t>2</a:t>
            </a:fld>
            <a:endParaRPr lang="en-US" altLang="fr-FR"/>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3923733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680932C-3C3B-4E0B-96FA-06315A1E9E60}" type="slidenum">
              <a:rPr lang="en-US" altLang="fr-FR"/>
              <a:pPr>
                <a:spcBef>
                  <a:spcPct val="0"/>
                </a:spcBef>
              </a:pPr>
              <a:t>3</a:t>
            </a:fld>
            <a:endParaRPr lang="en-US" altLang="fr-F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27157341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Espace réservé de l'image des diapositives 1"/>
          <p:cNvSpPr>
            <a:spLocks noGrp="1" noRot="1" noChangeAspect="1" noTextEdit="1"/>
          </p:cNvSpPr>
          <p:nvPr>
            <p:ph type="sldImg"/>
          </p:nvPr>
        </p:nvSpPr>
        <p:spPr>
          <a:ln/>
        </p:spPr>
      </p:sp>
      <p:sp>
        <p:nvSpPr>
          <p:cNvPr id="17411"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17412"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4EC12D1-D491-42CB-9C95-2516A3D692FB}" type="slidenum">
              <a:rPr lang="en-US" altLang="fr-FR"/>
              <a:pPr>
                <a:spcBef>
                  <a:spcPct val="0"/>
                </a:spcBef>
              </a:pPr>
              <a:t>4</a:t>
            </a:fld>
            <a:endParaRPr lang="en-US" altLang="fr-FR"/>
          </a:p>
        </p:txBody>
      </p:sp>
    </p:spTree>
    <p:extLst>
      <p:ext uri="{BB962C8B-B14F-4D97-AF65-F5344CB8AC3E}">
        <p14:creationId xmlns:p14="http://schemas.microsoft.com/office/powerpoint/2010/main" val="8376866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4606C54-42DD-4505-AA7C-47968B24D694}" type="slidenum">
              <a:rPr lang="en-US" altLang="fr-FR"/>
              <a:pPr>
                <a:spcBef>
                  <a:spcPct val="0"/>
                </a:spcBef>
              </a:pPr>
              <a:t>5</a:t>
            </a:fld>
            <a:endParaRPr lang="en-US" altLang="fr-F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17256747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5CB566E-1B5D-4996-A9C4-0A9E3F393BDF}" type="slidenum">
              <a:rPr lang="en-US" altLang="fr-FR"/>
              <a:pPr>
                <a:spcBef>
                  <a:spcPct val="0"/>
                </a:spcBef>
              </a:pPr>
              <a:t>6</a:t>
            </a:fld>
            <a:endParaRPr lang="en-US" altLang="fr-F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26263935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73FEFAE-5C5D-45AF-B73C-EE6C56339976}" type="slidenum">
              <a:rPr lang="en-US" altLang="fr-FR"/>
              <a:pPr>
                <a:spcBef>
                  <a:spcPct val="0"/>
                </a:spcBef>
              </a:pPr>
              <a:t>7</a:t>
            </a:fld>
            <a:endParaRPr lang="en-US" altLang="fr-F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31986433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Espace réservé de l'image des diapositives 1"/>
          <p:cNvSpPr>
            <a:spLocks noGrp="1" noRot="1" noChangeAspect="1" noTextEdit="1"/>
          </p:cNvSpPr>
          <p:nvPr>
            <p:ph type="sldImg"/>
          </p:nvPr>
        </p:nvSpPr>
        <p:spPr>
          <a:ln/>
        </p:spPr>
      </p:sp>
      <p:sp>
        <p:nvSpPr>
          <p:cNvPr id="25603"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25604"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9716573-FA03-4527-B698-15C056794325}" type="slidenum">
              <a:rPr lang="en-US" altLang="fr-FR"/>
              <a:pPr>
                <a:spcBef>
                  <a:spcPct val="0"/>
                </a:spcBef>
              </a:pPr>
              <a:t>8</a:t>
            </a:fld>
            <a:endParaRPr lang="en-US" altLang="fr-FR"/>
          </a:p>
        </p:txBody>
      </p:sp>
    </p:spTree>
    <p:extLst>
      <p:ext uri="{BB962C8B-B14F-4D97-AF65-F5344CB8AC3E}">
        <p14:creationId xmlns:p14="http://schemas.microsoft.com/office/powerpoint/2010/main" val="18004529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F1581F9-3872-4556-9FC8-99025A9D34AB}" type="slidenum">
              <a:rPr lang="en-US" altLang="fr-FR"/>
              <a:pPr>
                <a:spcBef>
                  <a:spcPct val="0"/>
                </a:spcBef>
              </a:pPr>
              <a:t>9</a:t>
            </a:fld>
            <a:endParaRPr lang="en-US" altLang="fr-F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2553695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D74D5D1-0213-486C-AD7F-017C9BED7F9F}" type="slidenum">
              <a:rPr lang="en-US" altLang="fr-FR"/>
              <a:pPr>
                <a:spcBef>
                  <a:spcPct val="0"/>
                </a:spcBef>
              </a:pPr>
              <a:t>10</a:t>
            </a:fld>
            <a:endParaRPr lang="en-US" altLang="fr-F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38231155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0145DDB-B5D9-441A-B512-BCBA42F91859}" type="slidenum">
              <a:rPr lang="en-US" altLang="fr-FR"/>
              <a:pPr>
                <a:spcBef>
                  <a:spcPct val="0"/>
                </a:spcBef>
              </a:pPr>
              <a:t>11</a:t>
            </a:fld>
            <a:endParaRPr lang="en-US" altLang="fr-F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2692026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E03BD9C-6722-4870-8D5B-9B9BFF66C5FA}" type="slidenum">
              <a:rPr lang="en-US" altLang="fr-FR"/>
              <a:pPr>
                <a:spcBef>
                  <a:spcPct val="0"/>
                </a:spcBef>
              </a:pPr>
              <a:t>12</a:t>
            </a:fld>
            <a:endParaRPr lang="en-US" altLang="fr-F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11044838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DF4E3AB-E71B-49AE-A4BB-7CB529575DC1}" type="slidenum">
              <a:rPr lang="en-US" altLang="fr-FR"/>
              <a:pPr>
                <a:spcBef>
                  <a:spcPct val="0"/>
                </a:spcBef>
              </a:pPr>
              <a:t>13</a:t>
            </a:fld>
            <a:endParaRPr lang="en-US" altLang="fr-F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16982226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524EC79-C75F-4F89-B2E7-6B072656AB1D}" type="slidenum">
              <a:rPr lang="en-US" altLang="fr-FR"/>
              <a:pPr>
                <a:spcBef>
                  <a:spcPct val="0"/>
                </a:spcBef>
              </a:pPr>
              <a:t>14</a:t>
            </a:fld>
            <a:endParaRPr lang="en-US" altLang="fr-F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11327089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F1FDD8F-6011-443D-8E49-E8EF9C4AEF15}" type="slidenum">
              <a:rPr lang="en-US" altLang="fr-FR"/>
              <a:pPr>
                <a:spcBef>
                  <a:spcPct val="0"/>
                </a:spcBef>
              </a:pPr>
              <a:t>15</a:t>
            </a:fld>
            <a:endParaRPr lang="en-US" altLang="fr-F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36157792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Espace réservé de l'image des diapositives 1"/>
          <p:cNvSpPr>
            <a:spLocks noGrp="1" noRot="1" noChangeAspect="1" noTextEdit="1"/>
          </p:cNvSpPr>
          <p:nvPr>
            <p:ph type="sldImg"/>
          </p:nvPr>
        </p:nvSpPr>
        <p:spPr>
          <a:ln/>
        </p:spPr>
      </p:sp>
      <p:sp>
        <p:nvSpPr>
          <p:cNvPr id="4198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4198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7DF711B-D64A-4AF8-80B3-291BA1D97366}" type="slidenum">
              <a:rPr lang="en-US" altLang="fr-FR"/>
              <a:pPr>
                <a:spcBef>
                  <a:spcPct val="0"/>
                </a:spcBef>
              </a:pPr>
              <a:t>16</a:t>
            </a:fld>
            <a:endParaRPr lang="en-US" altLang="fr-FR"/>
          </a:p>
        </p:txBody>
      </p:sp>
    </p:spTree>
    <p:extLst>
      <p:ext uri="{BB962C8B-B14F-4D97-AF65-F5344CB8AC3E}">
        <p14:creationId xmlns:p14="http://schemas.microsoft.com/office/powerpoint/2010/main" val="35228853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7E8277D-2693-4F55-98FB-ECC28DB4FFD2}" type="slidenum">
              <a:rPr lang="en-US" altLang="fr-FR"/>
              <a:pPr>
                <a:spcBef>
                  <a:spcPct val="0"/>
                </a:spcBef>
              </a:pPr>
              <a:t>17</a:t>
            </a:fld>
            <a:endParaRPr lang="en-US" altLang="fr-F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17200618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A7444CF-5195-47E8-919C-65C91378AB58}" type="slidenum">
              <a:rPr lang="en-US" altLang="fr-FR"/>
              <a:pPr>
                <a:spcBef>
                  <a:spcPct val="0"/>
                </a:spcBef>
              </a:pPr>
              <a:t>18</a:t>
            </a:fld>
            <a:endParaRPr lang="en-US" altLang="fr-F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18831041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2A8BCFD-6DE2-4255-BBF0-F81BF853EB60}" type="slidenum">
              <a:rPr lang="en-US" altLang="fr-FR"/>
              <a:pPr>
                <a:spcBef>
                  <a:spcPct val="0"/>
                </a:spcBef>
              </a:pPr>
              <a:t>19</a:t>
            </a:fld>
            <a:endParaRPr lang="en-US" altLang="fr-F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14716407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a:ln/>
        </p:spPr>
      </p:sp>
      <p:sp>
        <p:nvSpPr>
          <p:cNvPr id="50179"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50180"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2EBA486-3E7E-4E07-B9DB-770975030317}" type="slidenum">
              <a:rPr lang="en-US" altLang="fr-FR"/>
              <a:pPr>
                <a:spcBef>
                  <a:spcPct val="0"/>
                </a:spcBef>
              </a:pPr>
              <a:t>20</a:t>
            </a:fld>
            <a:endParaRPr lang="en-US" altLang="fr-FR"/>
          </a:p>
        </p:txBody>
      </p:sp>
    </p:spTree>
    <p:extLst>
      <p:ext uri="{BB962C8B-B14F-4D97-AF65-F5344CB8AC3E}">
        <p14:creationId xmlns:p14="http://schemas.microsoft.com/office/powerpoint/2010/main" val="6505153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Espace réservé de l'image des diapositives 1"/>
          <p:cNvSpPr>
            <a:spLocks noGrp="1" noRot="1" noChangeAspect="1" noTextEdit="1"/>
          </p:cNvSpPr>
          <p:nvPr>
            <p:ph type="sldImg"/>
          </p:nvPr>
        </p:nvSpPr>
        <p:spPr>
          <a:ln/>
        </p:spPr>
      </p:sp>
      <p:sp>
        <p:nvSpPr>
          <p:cNvPr id="5222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5222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07AA5D4-E011-4202-B608-CC3B947BC2B1}" type="slidenum">
              <a:rPr lang="en-US" altLang="fr-FR"/>
              <a:pPr>
                <a:spcBef>
                  <a:spcPct val="0"/>
                </a:spcBef>
              </a:pPr>
              <a:t>21</a:t>
            </a:fld>
            <a:endParaRPr lang="en-US" altLang="fr-FR"/>
          </a:p>
        </p:txBody>
      </p:sp>
    </p:spTree>
    <p:extLst>
      <p:ext uri="{BB962C8B-B14F-4D97-AF65-F5344CB8AC3E}">
        <p14:creationId xmlns:p14="http://schemas.microsoft.com/office/powerpoint/2010/main" val="8216064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Espace réservé de l'image des diapositives 1"/>
          <p:cNvSpPr>
            <a:spLocks noGrp="1" noRot="1" noChangeAspect="1" noTextEdit="1"/>
          </p:cNvSpPr>
          <p:nvPr>
            <p:ph type="sldImg"/>
          </p:nvPr>
        </p:nvSpPr>
        <p:spPr>
          <a:ln/>
        </p:spPr>
      </p:sp>
      <p:sp>
        <p:nvSpPr>
          <p:cNvPr id="54275"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54276"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BBEBE3B-04F0-4051-B549-9D6B7E016CFB}" type="slidenum">
              <a:rPr lang="en-US" altLang="fr-FR"/>
              <a:pPr>
                <a:spcBef>
                  <a:spcPct val="0"/>
                </a:spcBef>
              </a:pPr>
              <a:t>22</a:t>
            </a:fld>
            <a:endParaRPr lang="en-US" altLang="fr-FR"/>
          </a:p>
        </p:txBody>
      </p:sp>
    </p:spTree>
    <p:extLst>
      <p:ext uri="{BB962C8B-B14F-4D97-AF65-F5344CB8AC3E}">
        <p14:creationId xmlns:p14="http://schemas.microsoft.com/office/powerpoint/2010/main" val="1266963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Espace réservé de l'image des diapositives 1"/>
          <p:cNvSpPr>
            <a:spLocks noGrp="1" noRot="1" noChangeAspect="1" noTextEdit="1"/>
          </p:cNvSpPr>
          <p:nvPr>
            <p:ph type="sldImg"/>
          </p:nvPr>
        </p:nvSpPr>
        <p:spPr>
          <a:ln/>
        </p:spPr>
      </p:sp>
      <p:sp>
        <p:nvSpPr>
          <p:cNvPr id="56323"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56324"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D1DFDC3-881F-4FC1-81F4-5107858A44E3}" type="slidenum">
              <a:rPr lang="en-US" altLang="fr-FR"/>
              <a:pPr>
                <a:spcBef>
                  <a:spcPct val="0"/>
                </a:spcBef>
              </a:pPr>
              <a:t>23</a:t>
            </a:fld>
            <a:endParaRPr lang="en-US" altLang="fr-FR"/>
          </a:p>
        </p:txBody>
      </p:sp>
    </p:spTree>
    <p:extLst>
      <p:ext uri="{BB962C8B-B14F-4D97-AF65-F5344CB8AC3E}">
        <p14:creationId xmlns:p14="http://schemas.microsoft.com/office/powerpoint/2010/main" val="7307862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Espace réservé de l'image des diapositives 1"/>
          <p:cNvSpPr>
            <a:spLocks noGrp="1" noRot="1" noChangeAspect="1" noTextEdit="1"/>
          </p:cNvSpPr>
          <p:nvPr>
            <p:ph type="sldImg"/>
          </p:nvPr>
        </p:nvSpPr>
        <p:spPr>
          <a:ln/>
        </p:spPr>
      </p:sp>
      <p:sp>
        <p:nvSpPr>
          <p:cNvPr id="58371"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58372"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3822E5D-C2D5-42FD-AC59-D62D42471950}" type="slidenum">
              <a:rPr lang="en-US" altLang="fr-FR"/>
              <a:pPr>
                <a:spcBef>
                  <a:spcPct val="0"/>
                </a:spcBef>
              </a:pPr>
              <a:t>24</a:t>
            </a:fld>
            <a:endParaRPr lang="en-US" altLang="fr-FR"/>
          </a:p>
        </p:txBody>
      </p:sp>
    </p:spTree>
    <p:extLst>
      <p:ext uri="{BB962C8B-B14F-4D97-AF65-F5344CB8AC3E}">
        <p14:creationId xmlns:p14="http://schemas.microsoft.com/office/powerpoint/2010/main" val="3089182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Espace réservé de l'image des diapositives 1"/>
          <p:cNvSpPr>
            <a:spLocks noGrp="1" noRot="1" noChangeAspect="1" noTextEdit="1"/>
          </p:cNvSpPr>
          <p:nvPr>
            <p:ph type="sldImg"/>
          </p:nvPr>
        </p:nvSpPr>
        <p:spPr>
          <a:ln/>
        </p:spPr>
      </p:sp>
      <p:sp>
        <p:nvSpPr>
          <p:cNvPr id="60419"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60420"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76736E6-0458-4573-B5A0-C6A590C18C27}" type="slidenum">
              <a:rPr lang="en-US" altLang="fr-FR"/>
              <a:pPr>
                <a:spcBef>
                  <a:spcPct val="0"/>
                </a:spcBef>
              </a:pPr>
              <a:t>25</a:t>
            </a:fld>
            <a:endParaRPr lang="en-US" altLang="fr-FR"/>
          </a:p>
        </p:txBody>
      </p:sp>
    </p:spTree>
    <p:extLst>
      <p:ext uri="{BB962C8B-B14F-4D97-AF65-F5344CB8AC3E}">
        <p14:creationId xmlns:p14="http://schemas.microsoft.com/office/powerpoint/2010/main" val="17017844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Espace réservé de l'image des diapositives 1"/>
          <p:cNvSpPr>
            <a:spLocks noGrp="1" noRot="1" noChangeAspect="1" noTextEdit="1"/>
          </p:cNvSpPr>
          <p:nvPr>
            <p:ph type="sldImg"/>
          </p:nvPr>
        </p:nvSpPr>
        <p:spPr>
          <a:ln/>
        </p:spPr>
      </p:sp>
      <p:sp>
        <p:nvSpPr>
          <p:cNvPr id="6246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6246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E365528-2CBD-4A0B-A8ED-2CF059AC16C9}" type="slidenum">
              <a:rPr lang="en-US" altLang="fr-FR"/>
              <a:pPr>
                <a:spcBef>
                  <a:spcPct val="0"/>
                </a:spcBef>
              </a:pPr>
              <a:t>26</a:t>
            </a:fld>
            <a:endParaRPr lang="en-US" altLang="fr-FR"/>
          </a:p>
        </p:txBody>
      </p:sp>
    </p:spTree>
    <p:extLst>
      <p:ext uri="{BB962C8B-B14F-4D97-AF65-F5344CB8AC3E}">
        <p14:creationId xmlns:p14="http://schemas.microsoft.com/office/powerpoint/2010/main" val="37979913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Espace réservé de l'image des diapositives 1"/>
          <p:cNvSpPr>
            <a:spLocks noGrp="1" noRot="1" noChangeAspect="1" noTextEdit="1"/>
          </p:cNvSpPr>
          <p:nvPr>
            <p:ph type="sldImg"/>
          </p:nvPr>
        </p:nvSpPr>
        <p:spPr>
          <a:ln/>
        </p:spPr>
      </p:sp>
      <p:sp>
        <p:nvSpPr>
          <p:cNvPr id="64515"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64516"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EB0BAAF-83B1-433C-9C76-1A0926302A8D}" type="slidenum">
              <a:rPr lang="en-US" altLang="fr-FR"/>
              <a:pPr>
                <a:spcBef>
                  <a:spcPct val="0"/>
                </a:spcBef>
              </a:pPr>
              <a:t>27</a:t>
            </a:fld>
            <a:endParaRPr lang="en-US" altLang="fr-FR"/>
          </a:p>
        </p:txBody>
      </p:sp>
    </p:spTree>
    <p:extLst>
      <p:ext uri="{BB962C8B-B14F-4D97-AF65-F5344CB8AC3E}">
        <p14:creationId xmlns:p14="http://schemas.microsoft.com/office/powerpoint/2010/main" val="38904894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Espace réservé de l'image des diapositives 1"/>
          <p:cNvSpPr>
            <a:spLocks noGrp="1" noRot="1" noChangeAspect="1" noTextEdit="1"/>
          </p:cNvSpPr>
          <p:nvPr>
            <p:ph type="sldImg"/>
          </p:nvPr>
        </p:nvSpPr>
        <p:spPr>
          <a:ln/>
        </p:spPr>
      </p:sp>
      <p:sp>
        <p:nvSpPr>
          <p:cNvPr id="66563"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66564"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41D1548-2349-4A5F-A385-B628DDC6BDB8}" type="slidenum">
              <a:rPr lang="en-US" altLang="fr-FR"/>
              <a:pPr>
                <a:spcBef>
                  <a:spcPct val="0"/>
                </a:spcBef>
              </a:pPr>
              <a:t>28</a:t>
            </a:fld>
            <a:endParaRPr lang="en-US" altLang="fr-FR"/>
          </a:p>
        </p:txBody>
      </p:sp>
    </p:spTree>
    <p:extLst>
      <p:ext uri="{BB962C8B-B14F-4D97-AF65-F5344CB8AC3E}">
        <p14:creationId xmlns:p14="http://schemas.microsoft.com/office/powerpoint/2010/main" val="37144127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Espace réservé de l'image des diapositives 1"/>
          <p:cNvSpPr>
            <a:spLocks noGrp="1" noRot="1" noChangeAspect="1" noTextEdit="1"/>
          </p:cNvSpPr>
          <p:nvPr>
            <p:ph type="sldImg"/>
          </p:nvPr>
        </p:nvSpPr>
        <p:spPr>
          <a:ln/>
        </p:spPr>
      </p:sp>
      <p:sp>
        <p:nvSpPr>
          <p:cNvPr id="68611"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68612"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5972449-3E9D-4DB1-ADE5-8CF89F19C4C8}" type="slidenum">
              <a:rPr lang="en-US" altLang="fr-FR"/>
              <a:pPr>
                <a:spcBef>
                  <a:spcPct val="0"/>
                </a:spcBef>
              </a:pPr>
              <a:t>29</a:t>
            </a:fld>
            <a:endParaRPr lang="en-US" altLang="fr-FR"/>
          </a:p>
        </p:txBody>
      </p:sp>
    </p:spTree>
    <p:extLst>
      <p:ext uri="{BB962C8B-B14F-4D97-AF65-F5344CB8AC3E}">
        <p14:creationId xmlns:p14="http://schemas.microsoft.com/office/powerpoint/2010/main" val="3304895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Espace réservé de l'image des diapositives 1"/>
          <p:cNvSpPr>
            <a:spLocks noGrp="1" noRot="1" noChangeAspect="1" noTextEdit="1"/>
          </p:cNvSpPr>
          <p:nvPr>
            <p:ph type="sldImg"/>
          </p:nvPr>
        </p:nvSpPr>
        <p:spPr>
          <a:ln/>
        </p:spPr>
      </p:sp>
      <p:sp>
        <p:nvSpPr>
          <p:cNvPr id="70659"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70660"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9A49170-8DA7-45E9-8217-9FCB942F7971}" type="slidenum">
              <a:rPr lang="en-US" altLang="fr-FR"/>
              <a:pPr>
                <a:spcBef>
                  <a:spcPct val="0"/>
                </a:spcBef>
              </a:pPr>
              <a:t>30</a:t>
            </a:fld>
            <a:endParaRPr lang="en-US" altLang="fr-FR"/>
          </a:p>
        </p:txBody>
      </p:sp>
    </p:spTree>
    <p:extLst>
      <p:ext uri="{BB962C8B-B14F-4D97-AF65-F5344CB8AC3E}">
        <p14:creationId xmlns:p14="http://schemas.microsoft.com/office/powerpoint/2010/main" val="16175944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Espace réservé de l'image des diapositives 1"/>
          <p:cNvSpPr>
            <a:spLocks noGrp="1" noRot="1" noChangeAspect="1" noTextEdit="1"/>
          </p:cNvSpPr>
          <p:nvPr>
            <p:ph type="sldImg"/>
          </p:nvPr>
        </p:nvSpPr>
        <p:spPr>
          <a:ln/>
        </p:spPr>
      </p:sp>
      <p:sp>
        <p:nvSpPr>
          <p:cNvPr id="7270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7270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49BE2DF-E687-49D4-AAD9-AD3C72EEB7BE}" type="slidenum">
              <a:rPr lang="en-US" altLang="fr-FR"/>
              <a:pPr>
                <a:spcBef>
                  <a:spcPct val="0"/>
                </a:spcBef>
              </a:pPr>
              <a:t>31</a:t>
            </a:fld>
            <a:endParaRPr lang="en-US" altLang="fr-FR"/>
          </a:p>
        </p:txBody>
      </p:sp>
    </p:spTree>
    <p:extLst>
      <p:ext uri="{BB962C8B-B14F-4D97-AF65-F5344CB8AC3E}">
        <p14:creationId xmlns:p14="http://schemas.microsoft.com/office/powerpoint/2010/main" val="13010996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Espace réservé de l'image des diapositives 1"/>
          <p:cNvSpPr>
            <a:spLocks noGrp="1" noRot="1" noChangeAspect="1" noTextEdit="1"/>
          </p:cNvSpPr>
          <p:nvPr>
            <p:ph type="sldImg"/>
          </p:nvPr>
        </p:nvSpPr>
        <p:spPr>
          <a:ln/>
        </p:spPr>
      </p:sp>
      <p:sp>
        <p:nvSpPr>
          <p:cNvPr id="74755"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74756"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7A0BC7F-0B80-495F-8171-A66ECB42E937}" type="slidenum">
              <a:rPr lang="en-US" altLang="fr-FR"/>
              <a:pPr>
                <a:spcBef>
                  <a:spcPct val="0"/>
                </a:spcBef>
              </a:pPr>
              <a:t>32</a:t>
            </a:fld>
            <a:endParaRPr lang="en-US" altLang="fr-FR"/>
          </a:p>
        </p:txBody>
      </p:sp>
    </p:spTree>
    <p:extLst>
      <p:ext uri="{BB962C8B-B14F-4D97-AF65-F5344CB8AC3E}">
        <p14:creationId xmlns:p14="http://schemas.microsoft.com/office/powerpoint/2010/main" val="4294717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Espace réservé de l'image des diapositives 1"/>
          <p:cNvSpPr>
            <a:spLocks noGrp="1" noRot="1" noChangeAspect="1" noTextEdit="1"/>
          </p:cNvSpPr>
          <p:nvPr>
            <p:ph type="sldImg"/>
          </p:nvPr>
        </p:nvSpPr>
        <p:spPr>
          <a:ln/>
        </p:spPr>
      </p:sp>
      <p:sp>
        <p:nvSpPr>
          <p:cNvPr id="76803"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76804"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39FD42A-89EF-4163-B628-4DF21F5BE724}" type="slidenum">
              <a:rPr lang="en-US" altLang="fr-FR"/>
              <a:pPr>
                <a:spcBef>
                  <a:spcPct val="0"/>
                </a:spcBef>
              </a:pPr>
              <a:t>33</a:t>
            </a:fld>
            <a:endParaRPr lang="en-US" altLang="fr-FR"/>
          </a:p>
        </p:txBody>
      </p:sp>
    </p:spTree>
    <p:extLst>
      <p:ext uri="{BB962C8B-B14F-4D97-AF65-F5344CB8AC3E}">
        <p14:creationId xmlns:p14="http://schemas.microsoft.com/office/powerpoint/2010/main" val="25712018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Espace réservé de l'image des diapositives 1"/>
          <p:cNvSpPr>
            <a:spLocks noGrp="1" noRot="1" noChangeAspect="1" noTextEdit="1"/>
          </p:cNvSpPr>
          <p:nvPr>
            <p:ph type="sldImg"/>
          </p:nvPr>
        </p:nvSpPr>
        <p:spPr>
          <a:ln/>
        </p:spPr>
      </p:sp>
      <p:sp>
        <p:nvSpPr>
          <p:cNvPr id="78851"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78852"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E1ABA18-B593-4904-A855-33B379256E68}" type="slidenum">
              <a:rPr lang="en-US" altLang="fr-FR"/>
              <a:pPr>
                <a:spcBef>
                  <a:spcPct val="0"/>
                </a:spcBef>
              </a:pPr>
              <a:t>34</a:t>
            </a:fld>
            <a:endParaRPr lang="en-US" altLang="fr-FR"/>
          </a:p>
        </p:txBody>
      </p:sp>
    </p:spTree>
    <p:extLst>
      <p:ext uri="{BB962C8B-B14F-4D97-AF65-F5344CB8AC3E}">
        <p14:creationId xmlns:p14="http://schemas.microsoft.com/office/powerpoint/2010/main" val="22745545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Espace réservé de l'image des diapositives 1"/>
          <p:cNvSpPr>
            <a:spLocks noGrp="1" noRot="1" noChangeAspect="1" noTextEdit="1"/>
          </p:cNvSpPr>
          <p:nvPr>
            <p:ph type="sldImg"/>
          </p:nvPr>
        </p:nvSpPr>
        <p:spPr>
          <a:ln/>
        </p:spPr>
      </p:sp>
      <p:sp>
        <p:nvSpPr>
          <p:cNvPr id="80899"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80900"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CD23645-A8F7-46B0-8D9F-44422F39702A}" type="slidenum">
              <a:rPr lang="en-US" altLang="fr-FR"/>
              <a:pPr>
                <a:spcBef>
                  <a:spcPct val="0"/>
                </a:spcBef>
              </a:pPr>
              <a:t>35</a:t>
            </a:fld>
            <a:endParaRPr lang="en-US" altLang="fr-FR"/>
          </a:p>
        </p:txBody>
      </p:sp>
    </p:spTree>
    <p:extLst>
      <p:ext uri="{BB962C8B-B14F-4D97-AF65-F5344CB8AC3E}">
        <p14:creationId xmlns:p14="http://schemas.microsoft.com/office/powerpoint/2010/main" val="28049850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Espace réservé de l'image des diapositives 1"/>
          <p:cNvSpPr>
            <a:spLocks noGrp="1" noRot="1" noChangeAspect="1" noTextEdit="1"/>
          </p:cNvSpPr>
          <p:nvPr>
            <p:ph type="sldImg"/>
          </p:nvPr>
        </p:nvSpPr>
        <p:spPr>
          <a:ln/>
        </p:spPr>
      </p:sp>
      <p:sp>
        <p:nvSpPr>
          <p:cNvPr id="8294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smtClean="0"/>
          </a:p>
        </p:txBody>
      </p:sp>
      <p:sp>
        <p:nvSpPr>
          <p:cNvPr id="8294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A32469F-E07A-446D-B811-BB21227C0069}" type="slidenum">
              <a:rPr lang="en-US" altLang="fr-FR"/>
              <a:pPr>
                <a:spcBef>
                  <a:spcPct val="0"/>
                </a:spcBef>
              </a:pPr>
              <a:t>36</a:t>
            </a:fld>
            <a:endParaRPr lang="en-US" altLang="fr-FR"/>
          </a:p>
        </p:txBody>
      </p:sp>
    </p:spTree>
    <p:extLst>
      <p:ext uri="{BB962C8B-B14F-4D97-AF65-F5344CB8AC3E}">
        <p14:creationId xmlns:p14="http://schemas.microsoft.com/office/powerpoint/2010/main" val="33416586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1EDF1F4-4B19-4489-BF98-7F0B67250F66}" type="slidenum">
              <a:rPr lang="en-US" altLang="fr-FR"/>
              <a:pPr>
                <a:spcBef>
                  <a:spcPct val="0"/>
                </a:spcBef>
              </a:pPr>
              <a:t>37</a:t>
            </a:fld>
            <a:endParaRPr lang="en-US" altLang="fr-F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18585901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DC68097-F9F3-4D23-AC3E-DB0FDCF4FC0F}" type="slidenum">
              <a:rPr lang="en-US" altLang="fr-FR"/>
              <a:pPr>
                <a:spcBef>
                  <a:spcPct val="0"/>
                </a:spcBef>
              </a:pPr>
              <a:t>38</a:t>
            </a:fld>
            <a:endParaRPr lang="en-US" altLang="fr-F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34575945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F9D39BB-3C18-4F8F-8775-6F4233A0E708}" type="slidenum">
              <a:rPr lang="en-US" altLang="fr-FR"/>
              <a:pPr>
                <a:spcBef>
                  <a:spcPct val="0"/>
                </a:spcBef>
              </a:pPr>
              <a:t>39</a:t>
            </a:fld>
            <a:endParaRPr lang="en-US" altLang="fr-F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32291007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16DD8F0-57DE-48EC-9B6A-66B404CD147A}" type="slidenum">
              <a:rPr lang="en-US" altLang="fr-FR"/>
              <a:pPr>
                <a:spcBef>
                  <a:spcPct val="0"/>
                </a:spcBef>
              </a:pPr>
              <a:t>40</a:t>
            </a:fld>
            <a:endParaRPr lang="en-US" altLang="fr-F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35153631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9FEB405-C874-4C72-BC80-062287DD9448}" type="slidenum">
              <a:rPr lang="en-US" altLang="fr-FR"/>
              <a:pPr>
                <a:spcBef>
                  <a:spcPct val="0"/>
                </a:spcBef>
              </a:pPr>
              <a:t>41</a:t>
            </a:fld>
            <a:endParaRPr lang="en-US" altLang="fr-F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smtClean="0"/>
          </a:p>
        </p:txBody>
      </p:sp>
    </p:spTree>
    <p:extLst>
      <p:ext uri="{BB962C8B-B14F-4D97-AF65-F5344CB8AC3E}">
        <p14:creationId xmlns:p14="http://schemas.microsoft.com/office/powerpoint/2010/main" val="2595819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4" name="Forme libre 3"/>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hangingPunct="1">
              <a:defRPr/>
            </a:pPr>
            <a:endParaRPr lang="en-US"/>
          </a:p>
        </p:txBody>
      </p:sp>
      <p:sp>
        <p:nvSpPr>
          <p:cNvPr id="5" name="Forme libre 4"/>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hangingPunct="1">
              <a:defRPr/>
            </a:pPr>
            <a:endParaRPr lang="en-US"/>
          </a:p>
        </p:txBody>
      </p:sp>
      <p:sp>
        <p:nvSpPr>
          <p:cNvPr id="9" name="Titre 8"/>
          <p:cNvSpPr>
            <a:spLocks noGrp="1"/>
          </p:cNvSpPr>
          <p:nvPr>
            <p:ph type="ctrTitle"/>
          </p:nvPr>
        </p:nvSpPr>
        <p:spPr>
          <a:xfrm>
            <a:off x="429064" y="3337560"/>
            <a:ext cx="6480048" cy="2301240"/>
          </a:xfrm>
        </p:spPr>
        <p:txBody>
          <a:bodyPr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fr-FR" smtClean="0"/>
              <a:t>Cliquez pour modifier le style du titre</a:t>
            </a:r>
            <a:endParaRPr lang="en-US"/>
          </a:p>
        </p:txBody>
      </p:sp>
      <p:sp>
        <p:nvSpPr>
          <p:cNvPr id="17" name="Sous-titr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fr-FR" smtClean="0"/>
              <a:t>Cliquez pour modifier le style des sous-titres du masque</a:t>
            </a:r>
            <a:endParaRPr lang="en-US"/>
          </a:p>
        </p:txBody>
      </p:sp>
      <p:sp>
        <p:nvSpPr>
          <p:cNvPr id="6" name="Espace réservé de la date 29"/>
          <p:cNvSpPr>
            <a:spLocks noGrp="1"/>
          </p:cNvSpPr>
          <p:nvPr>
            <p:ph type="dt" sz="half" idx="10"/>
          </p:nvPr>
        </p:nvSpPr>
        <p:spPr/>
        <p:txBody>
          <a:bodyPr/>
          <a:lstStyle>
            <a:lvl1pPr>
              <a:defRPr/>
            </a:lvl1pPr>
          </a:lstStyle>
          <a:p>
            <a:pPr>
              <a:defRPr/>
            </a:pPr>
            <a:endParaRPr lang="en-US"/>
          </a:p>
        </p:txBody>
      </p:sp>
      <p:sp>
        <p:nvSpPr>
          <p:cNvPr id="7" name="Espace réservé du pied de page 18"/>
          <p:cNvSpPr>
            <a:spLocks noGrp="1"/>
          </p:cNvSpPr>
          <p:nvPr>
            <p:ph type="ftr" sz="quarter" idx="11"/>
          </p:nvPr>
        </p:nvSpPr>
        <p:spPr/>
        <p:txBody>
          <a:bodyPr/>
          <a:lstStyle>
            <a:lvl1pPr>
              <a:defRPr smtClean="0"/>
            </a:lvl1pPr>
          </a:lstStyle>
          <a:p>
            <a:pPr>
              <a:defRPr/>
            </a:pPr>
            <a:r>
              <a:rPr lang="en-US"/>
              <a:t>Commande des machines Mach asyn   Ali NEJMI</a:t>
            </a:r>
          </a:p>
        </p:txBody>
      </p:sp>
      <p:sp>
        <p:nvSpPr>
          <p:cNvPr id="8" name="Espace réservé du numéro de diapositive 26"/>
          <p:cNvSpPr>
            <a:spLocks noGrp="1"/>
          </p:cNvSpPr>
          <p:nvPr>
            <p:ph type="sldNum" sz="quarter" idx="12"/>
          </p:nvPr>
        </p:nvSpPr>
        <p:spPr/>
        <p:txBody>
          <a:bodyPr/>
          <a:lstStyle>
            <a:lvl1pPr>
              <a:defRPr smtClean="0"/>
            </a:lvl1pPr>
          </a:lstStyle>
          <a:p>
            <a:pPr>
              <a:defRPr/>
            </a:pPr>
            <a:fld id="{FE6F1B31-C1BD-460B-8DFE-62BF6FFF9229}" type="slidenum">
              <a:rPr lang="en-US" altLang="fr-FR"/>
              <a:pPr>
                <a:defRPr/>
              </a:pPr>
              <a:t>‹N°›</a:t>
            </a:fld>
            <a:endParaRPr lang="en-US" altLang="fr-FR"/>
          </a:p>
        </p:txBody>
      </p:sp>
    </p:spTree>
    <p:extLst>
      <p:ext uri="{BB962C8B-B14F-4D97-AF65-F5344CB8AC3E}">
        <p14:creationId xmlns:p14="http://schemas.microsoft.com/office/powerpoint/2010/main" val="423244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lgn="l">
              <a:defRPr/>
            </a:lvl1pPr>
          </a:lstStyle>
          <a:p>
            <a:r>
              <a:rPr lang="fr-FR" smtClean="0"/>
              <a:t>Cliquez pour modifier le style du titre</a:t>
            </a:r>
            <a:endParaRPr lang="en-US"/>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9"/>
          <p:cNvSpPr>
            <a:spLocks noGrp="1"/>
          </p:cNvSpPr>
          <p:nvPr>
            <p:ph type="dt" sz="half" idx="10"/>
          </p:nvPr>
        </p:nvSpPr>
        <p:spPr/>
        <p:txBody>
          <a:bodyPr/>
          <a:lstStyle>
            <a:lvl1pPr>
              <a:defRPr/>
            </a:lvl1pPr>
          </a:lstStyle>
          <a:p>
            <a:pPr>
              <a:defRPr/>
            </a:pPr>
            <a:endParaRPr lang="en-US"/>
          </a:p>
        </p:txBody>
      </p:sp>
      <p:sp>
        <p:nvSpPr>
          <p:cNvPr id="5"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6" name="Espace réservé du numéro de diapositive 17"/>
          <p:cNvSpPr>
            <a:spLocks noGrp="1"/>
          </p:cNvSpPr>
          <p:nvPr>
            <p:ph type="sldNum" sz="quarter" idx="12"/>
          </p:nvPr>
        </p:nvSpPr>
        <p:spPr/>
        <p:txBody>
          <a:bodyPr/>
          <a:lstStyle>
            <a:lvl1pPr>
              <a:defRPr/>
            </a:lvl1pPr>
          </a:lstStyle>
          <a:p>
            <a:pPr>
              <a:defRPr/>
            </a:pPr>
            <a:fld id="{5E10157E-CE96-41DC-9694-A2D66CED317E}" type="slidenum">
              <a:rPr lang="en-US" altLang="fr-FR"/>
              <a:pPr>
                <a:defRPr/>
              </a:pPr>
              <a:t>‹N°›</a:t>
            </a:fld>
            <a:endParaRPr lang="en-US" altLang="fr-FR"/>
          </a:p>
        </p:txBody>
      </p:sp>
    </p:spTree>
    <p:extLst>
      <p:ext uri="{BB962C8B-B14F-4D97-AF65-F5344CB8AC3E}">
        <p14:creationId xmlns:p14="http://schemas.microsoft.com/office/powerpoint/2010/main" val="4135304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4" name="Forme libre 3"/>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hangingPunct="1">
              <a:defRPr/>
            </a:pPr>
            <a:endParaRPr lang="en-US"/>
          </a:p>
        </p:txBody>
      </p:sp>
      <p:sp>
        <p:nvSpPr>
          <p:cNvPr id="5" name="Forme libre 4"/>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hangingPunct="1">
              <a:defRPr/>
            </a:pPr>
            <a:endParaRPr lang="en-US"/>
          </a:p>
        </p:txBody>
      </p:sp>
      <p:sp>
        <p:nvSpPr>
          <p:cNvPr id="2" name="Titr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fr-FR" smtClean="0"/>
              <a:t>Cliquez pour modifier le style du titre</a:t>
            </a:r>
            <a:endParaRPr lang="en-US"/>
          </a:p>
        </p:txBody>
      </p:sp>
      <p:sp>
        <p:nvSpPr>
          <p:cNvPr id="3" name="Espace réservé du texte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fr-FR" smtClean="0"/>
              <a:t>Cliquez pour modifier les styles du texte du masque</a:t>
            </a:r>
          </a:p>
        </p:txBody>
      </p:sp>
      <p:sp>
        <p:nvSpPr>
          <p:cNvPr id="6" name="Espace réservé de la date 3"/>
          <p:cNvSpPr>
            <a:spLocks noGrp="1"/>
          </p:cNvSpPr>
          <p:nvPr>
            <p:ph type="dt" sz="half" idx="10"/>
          </p:nvPr>
        </p:nvSpPr>
        <p:spPr/>
        <p:txBody>
          <a:bodyPr/>
          <a:lstStyle>
            <a:lvl1pPr>
              <a:defRPr/>
            </a:lvl1pPr>
          </a:lstStyle>
          <a:p>
            <a:pPr>
              <a:defRPr/>
            </a:pPr>
            <a:endParaRPr lang="en-US"/>
          </a:p>
        </p:txBody>
      </p:sp>
      <p:sp>
        <p:nvSpPr>
          <p:cNvPr id="7" name="Espace réservé du pied de page 4"/>
          <p:cNvSpPr>
            <a:spLocks noGrp="1"/>
          </p:cNvSpPr>
          <p:nvPr>
            <p:ph type="ftr" sz="quarter" idx="11"/>
          </p:nvPr>
        </p:nvSpPr>
        <p:spPr/>
        <p:txBody>
          <a:bodyPr/>
          <a:lstStyle>
            <a:lvl1pPr>
              <a:defRPr smtClean="0"/>
            </a:lvl1pPr>
          </a:lstStyle>
          <a:p>
            <a:pPr>
              <a:defRPr/>
            </a:pPr>
            <a:r>
              <a:rPr lang="en-US"/>
              <a:t>Commande des machines Mach asyn   Ali NEJMI</a:t>
            </a:r>
          </a:p>
        </p:txBody>
      </p:sp>
      <p:sp>
        <p:nvSpPr>
          <p:cNvPr id="8" name="Espace réservé du numéro de diapositive 5"/>
          <p:cNvSpPr>
            <a:spLocks noGrp="1"/>
          </p:cNvSpPr>
          <p:nvPr>
            <p:ph type="sldNum" sz="quarter" idx="12"/>
          </p:nvPr>
        </p:nvSpPr>
        <p:spPr/>
        <p:txBody>
          <a:bodyPr/>
          <a:lstStyle>
            <a:lvl1pPr>
              <a:defRPr smtClean="0"/>
            </a:lvl1pPr>
          </a:lstStyle>
          <a:p>
            <a:pPr>
              <a:defRPr/>
            </a:pPr>
            <a:fld id="{DAEE3183-C548-4CA9-B721-B4E01355CD34}" type="slidenum">
              <a:rPr lang="en-US" altLang="fr-FR"/>
              <a:pPr>
                <a:defRPr/>
              </a:pPr>
              <a:t>‹N°›</a:t>
            </a:fld>
            <a:endParaRPr lang="en-US" altLang="fr-FR"/>
          </a:p>
        </p:txBody>
      </p:sp>
    </p:spTree>
    <p:extLst>
      <p:ext uri="{BB962C8B-B14F-4D97-AF65-F5344CB8AC3E}">
        <p14:creationId xmlns:p14="http://schemas.microsoft.com/office/powerpoint/2010/main" val="2965889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1143000"/>
          </a:xfrm>
        </p:spPr>
        <p:txBody>
          <a:bodyPr/>
          <a:lstStyle/>
          <a:p>
            <a:r>
              <a:rPr lang="fr-FR" smtClean="0"/>
              <a:t>Cliquez pour modifier le style du titre</a:t>
            </a:r>
            <a:endParaRPr lang="en-US"/>
          </a:p>
        </p:txBody>
      </p:sp>
      <p:sp>
        <p:nvSpPr>
          <p:cNvPr id="3" name="Espace réservé du contenu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u contenu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e la date 9"/>
          <p:cNvSpPr>
            <a:spLocks noGrp="1"/>
          </p:cNvSpPr>
          <p:nvPr>
            <p:ph type="dt" sz="half" idx="10"/>
          </p:nvPr>
        </p:nvSpPr>
        <p:spPr/>
        <p:txBody>
          <a:bodyPr/>
          <a:lstStyle>
            <a:lvl1pPr>
              <a:defRPr/>
            </a:lvl1pPr>
          </a:lstStyle>
          <a:p>
            <a:pPr>
              <a:defRPr/>
            </a:pPr>
            <a:endParaRPr lang="en-US"/>
          </a:p>
        </p:txBody>
      </p:sp>
      <p:sp>
        <p:nvSpPr>
          <p:cNvPr id="6"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7" name="Espace réservé du numéro de diapositive 17"/>
          <p:cNvSpPr>
            <a:spLocks noGrp="1"/>
          </p:cNvSpPr>
          <p:nvPr>
            <p:ph type="sldNum" sz="quarter" idx="12"/>
          </p:nvPr>
        </p:nvSpPr>
        <p:spPr/>
        <p:txBody>
          <a:bodyPr/>
          <a:lstStyle>
            <a:lvl1pPr>
              <a:defRPr/>
            </a:lvl1pPr>
          </a:lstStyle>
          <a:p>
            <a:pPr>
              <a:defRPr/>
            </a:pPr>
            <a:fld id="{60F74F6C-95CE-4D72-ADAB-C675903B11C1}" type="slidenum">
              <a:rPr lang="en-US" altLang="fr-FR"/>
              <a:pPr>
                <a:defRPr/>
              </a:pPr>
              <a:t>‹N°›</a:t>
            </a:fld>
            <a:endParaRPr lang="en-US" altLang="fr-FR"/>
          </a:p>
        </p:txBody>
      </p:sp>
    </p:spTree>
    <p:extLst>
      <p:ext uri="{BB962C8B-B14F-4D97-AF65-F5344CB8AC3E}">
        <p14:creationId xmlns:p14="http://schemas.microsoft.com/office/powerpoint/2010/main" val="102982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8229600" cy="1143000"/>
          </a:xfrm>
        </p:spPr>
        <p:txBody>
          <a:bodyPr/>
          <a:lstStyle>
            <a:lvl1pPr>
              <a:defRPr/>
            </a:lvl1pPr>
          </a:lstStyle>
          <a:p>
            <a:r>
              <a:rPr lang="fr-FR" smtClean="0"/>
              <a:t>Cliquez pour modifier le style du titre</a:t>
            </a:r>
            <a:endParaRPr lang="en-US"/>
          </a:p>
        </p:txBody>
      </p:sp>
      <p:sp>
        <p:nvSpPr>
          <p:cNvPr id="3" name="Espace réservé du texte 2"/>
          <p:cNvSpPr>
            <a:spLocks noGrp="1"/>
          </p:cNvSpPr>
          <p:nvPr>
            <p:ph type="body" idx="1"/>
          </p:nvPr>
        </p:nvSpPr>
        <p:spPr>
          <a:xfrm>
            <a:off x="457200" y="5486400"/>
            <a:ext cx="4040188"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fr-FR" smtClean="0"/>
              <a:t>Cliquez pour modifier les styles du texte du masque</a:t>
            </a:r>
          </a:p>
        </p:txBody>
      </p:sp>
      <p:sp>
        <p:nvSpPr>
          <p:cNvPr id="4" name="Espace réservé du texte 3"/>
          <p:cNvSpPr>
            <a:spLocks noGrp="1"/>
          </p:cNvSpPr>
          <p:nvPr>
            <p:ph type="body" sz="half" idx="3"/>
          </p:nvPr>
        </p:nvSpPr>
        <p:spPr>
          <a:xfrm>
            <a:off x="4645025" y="5486400"/>
            <a:ext cx="4041775"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fr-FR" smtClean="0"/>
              <a:t>Cliquez pour modifier les styles du texte du masque</a:t>
            </a:r>
          </a:p>
        </p:txBody>
      </p:sp>
      <p:sp>
        <p:nvSpPr>
          <p:cNvPr id="5" name="Espace réservé du contenu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6" name="Espace réservé du contenu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7" name="Espace réservé de la date 9"/>
          <p:cNvSpPr>
            <a:spLocks noGrp="1"/>
          </p:cNvSpPr>
          <p:nvPr>
            <p:ph type="dt" sz="half" idx="10"/>
          </p:nvPr>
        </p:nvSpPr>
        <p:spPr/>
        <p:txBody>
          <a:bodyPr/>
          <a:lstStyle>
            <a:lvl1pPr>
              <a:defRPr/>
            </a:lvl1pPr>
          </a:lstStyle>
          <a:p>
            <a:pPr>
              <a:defRPr/>
            </a:pPr>
            <a:endParaRPr lang="en-US"/>
          </a:p>
        </p:txBody>
      </p:sp>
      <p:sp>
        <p:nvSpPr>
          <p:cNvPr id="8"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9" name="Espace réservé du numéro de diapositive 17"/>
          <p:cNvSpPr>
            <a:spLocks noGrp="1"/>
          </p:cNvSpPr>
          <p:nvPr>
            <p:ph type="sldNum" sz="quarter" idx="12"/>
          </p:nvPr>
        </p:nvSpPr>
        <p:spPr/>
        <p:txBody>
          <a:bodyPr/>
          <a:lstStyle>
            <a:lvl1pPr>
              <a:defRPr/>
            </a:lvl1pPr>
          </a:lstStyle>
          <a:p>
            <a:pPr>
              <a:defRPr/>
            </a:pPr>
            <a:fld id="{61615275-0BDA-4653-9575-80C8EDC29E66}" type="slidenum">
              <a:rPr lang="en-US" altLang="fr-FR"/>
              <a:pPr>
                <a:defRPr/>
              </a:pPr>
              <a:t>‹N°›</a:t>
            </a:fld>
            <a:endParaRPr lang="en-US" altLang="fr-FR"/>
          </a:p>
        </p:txBody>
      </p:sp>
    </p:spTree>
    <p:extLst>
      <p:ext uri="{BB962C8B-B14F-4D97-AF65-F5344CB8AC3E}">
        <p14:creationId xmlns:p14="http://schemas.microsoft.com/office/powerpoint/2010/main" val="1065746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274320"/>
            <a:ext cx="7470648" cy="1143000"/>
          </a:xfrm>
        </p:spPr>
        <p:txBody>
          <a:bodyPr/>
          <a:lstStyle>
            <a:lvl1pPr algn="l">
              <a:defRPr sz="4600"/>
            </a:lvl1pPr>
          </a:lstStyle>
          <a:p>
            <a:r>
              <a:rPr lang="fr-FR" smtClean="0"/>
              <a:t>Cliquez pour modifier le style du titre</a:t>
            </a:r>
            <a:endParaRPr lang="en-US"/>
          </a:p>
        </p:txBody>
      </p:sp>
      <p:sp>
        <p:nvSpPr>
          <p:cNvPr id="3" name="Espace réservé de la date 9"/>
          <p:cNvSpPr>
            <a:spLocks noGrp="1"/>
          </p:cNvSpPr>
          <p:nvPr>
            <p:ph type="dt" sz="half" idx="10"/>
          </p:nvPr>
        </p:nvSpPr>
        <p:spPr/>
        <p:txBody>
          <a:bodyPr/>
          <a:lstStyle>
            <a:lvl1pPr>
              <a:defRPr/>
            </a:lvl1pPr>
          </a:lstStyle>
          <a:p>
            <a:pPr>
              <a:defRPr/>
            </a:pPr>
            <a:endParaRPr lang="en-US"/>
          </a:p>
        </p:txBody>
      </p:sp>
      <p:sp>
        <p:nvSpPr>
          <p:cNvPr id="4"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5" name="Espace réservé du numéro de diapositive 17"/>
          <p:cNvSpPr>
            <a:spLocks noGrp="1"/>
          </p:cNvSpPr>
          <p:nvPr>
            <p:ph type="sldNum" sz="quarter" idx="12"/>
          </p:nvPr>
        </p:nvSpPr>
        <p:spPr/>
        <p:txBody>
          <a:bodyPr/>
          <a:lstStyle>
            <a:lvl1pPr>
              <a:defRPr/>
            </a:lvl1pPr>
          </a:lstStyle>
          <a:p>
            <a:pPr>
              <a:defRPr/>
            </a:pPr>
            <a:fld id="{259BAC0D-3F57-4931-B53E-46D163BB20D6}" type="slidenum">
              <a:rPr lang="en-US" altLang="fr-FR"/>
              <a:pPr>
                <a:defRPr/>
              </a:pPr>
              <a:t>‹N°›</a:t>
            </a:fld>
            <a:endParaRPr lang="en-US" altLang="fr-FR"/>
          </a:p>
        </p:txBody>
      </p:sp>
    </p:spTree>
    <p:extLst>
      <p:ext uri="{BB962C8B-B14F-4D97-AF65-F5344CB8AC3E}">
        <p14:creationId xmlns:p14="http://schemas.microsoft.com/office/powerpoint/2010/main" val="1520220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9"/>
          <p:cNvSpPr>
            <a:spLocks noGrp="1"/>
          </p:cNvSpPr>
          <p:nvPr>
            <p:ph type="dt" sz="half" idx="10"/>
          </p:nvPr>
        </p:nvSpPr>
        <p:spPr/>
        <p:txBody>
          <a:bodyPr/>
          <a:lstStyle>
            <a:lvl1pPr>
              <a:defRPr/>
            </a:lvl1pPr>
          </a:lstStyle>
          <a:p>
            <a:pPr>
              <a:defRPr/>
            </a:pPr>
            <a:endParaRPr lang="en-US"/>
          </a:p>
        </p:txBody>
      </p:sp>
      <p:sp>
        <p:nvSpPr>
          <p:cNvPr id="3"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4" name="Espace réservé du numéro de diapositive 17"/>
          <p:cNvSpPr>
            <a:spLocks noGrp="1"/>
          </p:cNvSpPr>
          <p:nvPr>
            <p:ph type="sldNum" sz="quarter" idx="12"/>
          </p:nvPr>
        </p:nvSpPr>
        <p:spPr/>
        <p:txBody>
          <a:bodyPr/>
          <a:lstStyle>
            <a:lvl1pPr>
              <a:defRPr/>
            </a:lvl1pPr>
          </a:lstStyle>
          <a:p>
            <a:pPr>
              <a:defRPr/>
            </a:pPr>
            <a:fld id="{9CB1655F-D14C-44F4-9E47-7A6E41570238}" type="slidenum">
              <a:rPr lang="en-US" altLang="fr-FR"/>
              <a:pPr>
                <a:defRPr/>
              </a:pPr>
              <a:t>‹N°›</a:t>
            </a:fld>
            <a:endParaRPr lang="en-US" altLang="fr-FR"/>
          </a:p>
        </p:txBody>
      </p:sp>
    </p:spTree>
    <p:extLst>
      <p:ext uri="{BB962C8B-B14F-4D97-AF65-F5344CB8AC3E}">
        <p14:creationId xmlns:p14="http://schemas.microsoft.com/office/powerpoint/2010/main" val="1872894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lang="fr-FR" smtClean="0"/>
              <a:t>Cliquez pour modifier le style du titre</a:t>
            </a:r>
            <a:endParaRPr lang="en-US"/>
          </a:p>
        </p:txBody>
      </p:sp>
      <p:sp>
        <p:nvSpPr>
          <p:cNvPr id="3" name="Espace réservé du texte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a:r>
              <a:rPr lang="fr-FR" smtClean="0"/>
              <a:t>Cliquez pour modifier les styles du texte du masque</a:t>
            </a:r>
          </a:p>
        </p:txBody>
      </p:sp>
      <p:sp>
        <p:nvSpPr>
          <p:cNvPr id="4" name="Espace réservé du contenu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e la date 4"/>
          <p:cNvSpPr>
            <a:spLocks noGrp="1"/>
          </p:cNvSpPr>
          <p:nvPr>
            <p:ph type="dt" sz="half" idx="10"/>
          </p:nvPr>
        </p:nvSpPr>
        <p:spPr/>
        <p:txBody>
          <a:bodyPr/>
          <a:lstStyle>
            <a:lvl1pPr>
              <a:defRPr/>
            </a:lvl1pPr>
          </a:lstStyle>
          <a:p>
            <a:pPr>
              <a:defRPr/>
            </a:pPr>
            <a:endParaRPr lang="en-US"/>
          </a:p>
        </p:txBody>
      </p:sp>
      <p:sp>
        <p:nvSpPr>
          <p:cNvPr id="6" name="Espace réservé du pied de page 5"/>
          <p:cNvSpPr>
            <a:spLocks noGrp="1"/>
          </p:cNvSpPr>
          <p:nvPr>
            <p:ph type="ftr" sz="quarter" idx="11"/>
          </p:nvPr>
        </p:nvSpPr>
        <p:spPr/>
        <p:txBody>
          <a:bodyPr/>
          <a:lstStyle>
            <a:lvl1pPr>
              <a:defRPr smtClean="0"/>
            </a:lvl1pPr>
          </a:lstStyle>
          <a:p>
            <a:pPr>
              <a:defRPr/>
            </a:pPr>
            <a:r>
              <a:rPr lang="en-US"/>
              <a:t>Commande des machines Mach asyn   Ali NEJMI</a:t>
            </a:r>
          </a:p>
        </p:txBody>
      </p:sp>
      <p:sp>
        <p:nvSpPr>
          <p:cNvPr id="7" name="Espace réservé du numéro de diapositive 6"/>
          <p:cNvSpPr>
            <a:spLocks noGrp="1"/>
          </p:cNvSpPr>
          <p:nvPr>
            <p:ph type="sldNum" sz="quarter" idx="12"/>
          </p:nvPr>
        </p:nvSpPr>
        <p:spPr>
          <a:xfrm>
            <a:off x="8156575" y="6421438"/>
            <a:ext cx="762000" cy="365125"/>
          </a:xfrm>
        </p:spPr>
        <p:txBody>
          <a:bodyPr/>
          <a:lstStyle>
            <a:lvl1pPr>
              <a:defRPr smtClean="0"/>
            </a:lvl1pPr>
          </a:lstStyle>
          <a:p>
            <a:pPr>
              <a:defRPr/>
            </a:pPr>
            <a:fld id="{C5EBC5CA-A7C6-4DEA-97FB-A1B526FD0A24}" type="slidenum">
              <a:rPr lang="en-US" altLang="fr-FR"/>
              <a:pPr>
                <a:defRPr/>
              </a:pPr>
              <a:t>‹N°›</a:t>
            </a:fld>
            <a:endParaRPr lang="en-US" altLang="fr-FR"/>
          </a:p>
        </p:txBody>
      </p:sp>
    </p:spTree>
    <p:extLst>
      <p:ext uri="{BB962C8B-B14F-4D97-AF65-F5344CB8AC3E}">
        <p14:creationId xmlns:p14="http://schemas.microsoft.com/office/powerpoint/2010/main" val="1861975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lang="fr-FR" smtClean="0"/>
              <a:t>Cliquez pour modifier le style du titre</a:t>
            </a:r>
            <a:endParaRPr lang="en-US"/>
          </a:p>
        </p:txBody>
      </p:sp>
      <p:sp>
        <p:nvSpPr>
          <p:cNvPr id="3" name="Espace réservé pour une image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normAutofit/>
          </a:bodyPr>
          <a:lstStyle>
            <a:lvl1pPr marL="0" indent="0">
              <a:buNone/>
              <a:defRPr sz="3200"/>
            </a:lvl1pPr>
          </a:lstStyle>
          <a:p>
            <a:pPr lvl="0"/>
            <a:r>
              <a:rPr lang="fr-FR" noProof="0" smtClean="0"/>
              <a:t>Cliquez sur l'icône pour ajouter une image</a:t>
            </a:r>
            <a:endParaRPr lang="en-US" noProof="0" dirty="0"/>
          </a:p>
        </p:txBody>
      </p:sp>
      <p:sp>
        <p:nvSpPr>
          <p:cNvPr id="4" name="Espace réservé du texte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a:r>
              <a:rPr lang="fr-FR" smtClean="0"/>
              <a:t>Cliquez pour modifier les styles du texte du masque</a:t>
            </a:r>
          </a:p>
        </p:txBody>
      </p:sp>
      <p:sp>
        <p:nvSpPr>
          <p:cNvPr id="5" name="Espace réservé de la date 9"/>
          <p:cNvSpPr>
            <a:spLocks noGrp="1"/>
          </p:cNvSpPr>
          <p:nvPr>
            <p:ph type="dt" sz="half" idx="10"/>
          </p:nvPr>
        </p:nvSpPr>
        <p:spPr/>
        <p:txBody>
          <a:bodyPr/>
          <a:lstStyle>
            <a:lvl1pPr>
              <a:defRPr/>
            </a:lvl1pPr>
          </a:lstStyle>
          <a:p>
            <a:pPr>
              <a:defRPr/>
            </a:pPr>
            <a:endParaRPr lang="en-US"/>
          </a:p>
        </p:txBody>
      </p:sp>
      <p:sp>
        <p:nvSpPr>
          <p:cNvPr id="6"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7" name="Espace réservé du numéro de diapositive 17"/>
          <p:cNvSpPr>
            <a:spLocks noGrp="1"/>
          </p:cNvSpPr>
          <p:nvPr>
            <p:ph type="sldNum" sz="quarter" idx="12"/>
          </p:nvPr>
        </p:nvSpPr>
        <p:spPr/>
        <p:txBody>
          <a:bodyPr/>
          <a:lstStyle>
            <a:lvl1pPr>
              <a:defRPr/>
            </a:lvl1pPr>
          </a:lstStyle>
          <a:p>
            <a:pPr>
              <a:defRPr/>
            </a:pPr>
            <a:fld id="{93C0FEC7-5E2D-484F-8B46-3C71F2B4A7DA}" type="slidenum">
              <a:rPr lang="en-US" altLang="fr-FR"/>
              <a:pPr>
                <a:defRPr/>
              </a:pPr>
              <a:t>‹N°›</a:t>
            </a:fld>
            <a:endParaRPr lang="en-US" altLang="fr-FR"/>
          </a:p>
        </p:txBody>
      </p:sp>
    </p:spTree>
    <p:extLst>
      <p:ext uri="{BB962C8B-B14F-4D97-AF65-F5344CB8AC3E}">
        <p14:creationId xmlns:p14="http://schemas.microsoft.com/office/powerpoint/2010/main" val="1184704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en-US"/>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9"/>
          <p:cNvSpPr>
            <a:spLocks noGrp="1"/>
          </p:cNvSpPr>
          <p:nvPr>
            <p:ph type="dt" sz="half" idx="10"/>
          </p:nvPr>
        </p:nvSpPr>
        <p:spPr/>
        <p:txBody>
          <a:bodyPr/>
          <a:lstStyle>
            <a:lvl1pPr>
              <a:defRPr/>
            </a:lvl1pPr>
          </a:lstStyle>
          <a:p>
            <a:pPr>
              <a:defRPr/>
            </a:pPr>
            <a:endParaRPr lang="en-US"/>
          </a:p>
        </p:txBody>
      </p:sp>
      <p:sp>
        <p:nvSpPr>
          <p:cNvPr id="5"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6" name="Espace réservé du numéro de diapositive 17"/>
          <p:cNvSpPr>
            <a:spLocks noGrp="1"/>
          </p:cNvSpPr>
          <p:nvPr>
            <p:ph type="sldNum" sz="quarter" idx="12"/>
          </p:nvPr>
        </p:nvSpPr>
        <p:spPr/>
        <p:txBody>
          <a:bodyPr/>
          <a:lstStyle>
            <a:lvl1pPr>
              <a:defRPr/>
            </a:lvl1pPr>
          </a:lstStyle>
          <a:p>
            <a:pPr>
              <a:defRPr/>
            </a:pPr>
            <a:fld id="{85D103FC-4823-4A47-9251-EAA19161FDAB}" type="slidenum">
              <a:rPr lang="en-US" altLang="fr-FR"/>
              <a:pPr>
                <a:defRPr/>
              </a:pPr>
              <a:t>‹N°›</a:t>
            </a:fld>
            <a:endParaRPr lang="en-US" altLang="fr-FR"/>
          </a:p>
        </p:txBody>
      </p:sp>
    </p:spTree>
    <p:extLst>
      <p:ext uri="{BB962C8B-B14F-4D97-AF65-F5344CB8AC3E}">
        <p14:creationId xmlns:p14="http://schemas.microsoft.com/office/powerpoint/2010/main" val="460132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9"/>
          <p:cNvSpPr>
            <a:spLocks noGrp="1"/>
          </p:cNvSpPr>
          <p:nvPr>
            <p:ph type="dt" sz="half" idx="10"/>
          </p:nvPr>
        </p:nvSpPr>
        <p:spPr/>
        <p:txBody>
          <a:bodyPr/>
          <a:lstStyle>
            <a:lvl1pPr>
              <a:defRPr/>
            </a:lvl1pPr>
          </a:lstStyle>
          <a:p>
            <a:pPr>
              <a:defRPr/>
            </a:pPr>
            <a:endParaRPr lang="en-US"/>
          </a:p>
        </p:txBody>
      </p:sp>
      <p:sp>
        <p:nvSpPr>
          <p:cNvPr id="5"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6" name="Espace réservé du numéro de diapositive 17"/>
          <p:cNvSpPr>
            <a:spLocks noGrp="1"/>
          </p:cNvSpPr>
          <p:nvPr>
            <p:ph type="sldNum" sz="quarter" idx="12"/>
          </p:nvPr>
        </p:nvSpPr>
        <p:spPr/>
        <p:txBody>
          <a:bodyPr/>
          <a:lstStyle>
            <a:lvl1pPr>
              <a:defRPr/>
            </a:lvl1pPr>
          </a:lstStyle>
          <a:p>
            <a:pPr>
              <a:defRPr/>
            </a:pPr>
            <a:fld id="{B62A23C4-EB8F-499C-BE44-B38F6F899CC3}" type="slidenum">
              <a:rPr lang="en-US" altLang="fr-FR"/>
              <a:pPr>
                <a:defRPr/>
              </a:pPr>
              <a:t>‹N°›</a:t>
            </a:fld>
            <a:endParaRPr lang="en-US" altLang="fr-FR"/>
          </a:p>
        </p:txBody>
      </p:sp>
    </p:spTree>
    <p:extLst>
      <p:ext uri="{BB962C8B-B14F-4D97-AF65-F5344CB8AC3E}">
        <p14:creationId xmlns:p14="http://schemas.microsoft.com/office/powerpoint/2010/main" val="26006642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u">
    <p:spTree>
      <p:nvGrpSpPr>
        <p:cNvPr id="1" name=""/>
        <p:cNvGrpSpPr/>
        <p:nvPr/>
      </p:nvGrpSpPr>
      <p:grpSpPr>
        <a:xfrm>
          <a:off x="0" y="0"/>
          <a:ext cx="0" cy="0"/>
          <a:chOff x="0" y="0"/>
          <a:chExt cx="0" cy="0"/>
        </a:xfrm>
      </p:grpSpPr>
      <p:sp>
        <p:nvSpPr>
          <p:cNvPr id="2" name="Espace réservé du contenu 1"/>
          <p:cNvSpPr>
            <a:spLocks noGrp="1"/>
          </p:cNvSpPr>
          <p:nvPr>
            <p:ph/>
          </p:nvPr>
        </p:nvSpPr>
        <p:spPr>
          <a:xfrm>
            <a:off x="685800" y="609600"/>
            <a:ext cx="7772400" cy="5486400"/>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3" name="Espace réservé de la date 2"/>
          <p:cNvSpPr>
            <a:spLocks noGrp="1"/>
          </p:cNvSpPr>
          <p:nvPr>
            <p:ph type="dt" sz="half" idx="10"/>
          </p:nvPr>
        </p:nvSpPr>
        <p:spPr>
          <a:xfrm>
            <a:off x="685800" y="6248400"/>
            <a:ext cx="1905000" cy="457200"/>
          </a:xfrm>
        </p:spPr>
        <p:txBody>
          <a:bodyPr/>
          <a:lstStyle>
            <a:lvl1pPr>
              <a:defRPr/>
            </a:lvl1pPr>
          </a:lstStyle>
          <a:p>
            <a:pPr>
              <a:defRPr/>
            </a:pPr>
            <a:endParaRPr lang="en-US"/>
          </a:p>
        </p:txBody>
      </p:sp>
      <p:sp>
        <p:nvSpPr>
          <p:cNvPr id="4" name="Espace réservé du pied de page 3"/>
          <p:cNvSpPr>
            <a:spLocks noGrp="1"/>
          </p:cNvSpPr>
          <p:nvPr>
            <p:ph type="ftr" sz="quarter" idx="11"/>
          </p:nvPr>
        </p:nvSpPr>
        <p:spPr>
          <a:xfrm>
            <a:off x="3124200" y="6248400"/>
            <a:ext cx="2895600" cy="457200"/>
          </a:xfrm>
        </p:spPr>
        <p:txBody>
          <a:bodyPr/>
          <a:lstStyle>
            <a:lvl1pPr>
              <a:defRPr smtClean="0"/>
            </a:lvl1pPr>
          </a:lstStyle>
          <a:p>
            <a:pPr>
              <a:defRPr/>
            </a:pPr>
            <a:r>
              <a:rPr lang="en-US"/>
              <a:t>Commande des machines Mach asyn   Ali NEJMI</a:t>
            </a:r>
          </a:p>
        </p:txBody>
      </p:sp>
      <p:sp>
        <p:nvSpPr>
          <p:cNvPr id="5" name="Espace réservé du numéro de diapositive 4"/>
          <p:cNvSpPr>
            <a:spLocks noGrp="1"/>
          </p:cNvSpPr>
          <p:nvPr>
            <p:ph type="sldNum" sz="quarter" idx="12"/>
          </p:nvPr>
        </p:nvSpPr>
        <p:spPr>
          <a:xfrm>
            <a:off x="6553200" y="6248400"/>
            <a:ext cx="1905000" cy="457200"/>
          </a:xfrm>
        </p:spPr>
        <p:txBody>
          <a:bodyPr/>
          <a:lstStyle>
            <a:lvl1pPr>
              <a:defRPr smtClean="0"/>
            </a:lvl1pPr>
          </a:lstStyle>
          <a:p>
            <a:pPr>
              <a:defRPr/>
            </a:pPr>
            <a:fld id="{257980D5-22D2-4C77-91CC-8B7BF95E4CE4}" type="slidenum">
              <a:rPr lang="en-US" altLang="fr-FR"/>
              <a:pPr>
                <a:defRPr/>
              </a:pPr>
              <a:t>‹N°›</a:t>
            </a:fld>
            <a:endParaRPr lang="en-US" altLang="fr-FR"/>
          </a:p>
        </p:txBody>
      </p:sp>
    </p:spTree>
    <p:extLst>
      <p:ext uri="{BB962C8B-B14F-4D97-AF65-F5344CB8AC3E}">
        <p14:creationId xmlns:p14="http://schemas.microsoft.com/office/powerpoint/2010/main" val="768918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srcRect/>
          <a:tile tx="0" ty="0" sx="100000" sy="100000" flip="none" algn="tl"/>
        </a:blipFill>
        <a:effectLst/>
      </p:bgPr>
    </p:bg>
    <p:spTree>
      <p:nvGrpSpPr>
        <p:cNvPr id="1" name=""/>
        <p:cNvGrpSpPr/>
        <p:nvPr/>
      </p:nvGrpSpPr>
      <p:grpSpPr>
        <a:xfrm>
          <a:off x="0" y="0"/>
          <a:ext cx="0" cy="0"/>
          <a:chOff x="0" y="0"/>
          <a:chExt cx="0" cy="0"/>
        </a:xfrm>
      </p:grpSpPr>
      <p:sp>
        <p:nvSpPr>
          <p:cNvPr id="12" name="Forme libre 11"/>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hangingPunct="1">
              <a:defRPr/>
            </a:pPr>
            <a:endParaRPr lang="en-US"/>
          </a:p>
        </p:txBody>
      </p:sp>
      <p:sp>
        <p:nvSpPr>
          <p:cNvPr id="16" name="Forme libre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hangingPunct="1">
              <a:defRPr/>
            </a:pPr>
            <a:endParaRPr lang="en-US"/>
          </a:p>
        </p:txBody>
      </p:sp>
      <p:sp>
        <p:nvSpPr>
          <p:cNvPr id="1028" name="Espace réservé du titre 8"/>
          <p:cNvSpPr>
            <a:spLocks noGrp="1"/>
          </p:cNvSpPr>
          <p:nvPr>
            <p:ph type="title"/>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lvl="0"/>
            <a:r>
              <a:rPr lang="fr-FR" altLang="fr-FR" smtClean="0"/>
              <a:t>Cliquez pour modifier le style du titre</a:t>
            </a:r>
            <a:endParaRPr lang="en-US" altLang="fr-FR" smtClean="0"/>
          </a:p>
        </p:txBody>
      </p:sp>
      <p:sp>
        <p:nvSpPr>
          <p:cNvPr id="1029" name="Espace réservé du texte 29"/>
          <p:cNvSpPr>
            <a:spLocks noGrp="1"/>
          </p:cNvSpPr>
          <p:nvPr>
            <p:ph type="body" idx="1"/>
          </p:nvPr>
        </p:nvSpPr>
        <p:spPr bwMode="auto">
          <a:xfrm>
            <a:off x="457200" y="1600200"/>
            <a:ext cx="7467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smtClean="0"/>
              <a:t>Cliquez pour modifier les styles du texte du masque</a:t>
            </a:r>
          </a:p>
          <a:p>
            <a:pPr lvl="1"/>
            <a:r>
              <a:rPr lang="fr-FR" altLang="fr-FR" smtClean="0"/>
              <a:t>Deuxième niveau</a:t>
            </a:r>
          </a:p>
          <a:p>
            <a:pPr lvl="2"/>
            <a:r>
              <a:rPr lang="fr-FR" altLang="fr-FR" smtClean="0"/>
              <a:t>Troisième niveau</a:t>
            </a:r>
          </a:p>
          <a:p>
            <a:pPr lvl="3"/>
            <a:r>
              <a:rPr lang="fr-FR" altLang="fr-FR" smtClean="0"/>
              <a:t>Quatrième niveau</a:t>
            </a:r>
          </a:p>
          <a:p>
            <a:pPr lvl="4"/>
            <a:r>
              <a:rPr lang="fr-FR" altLang="fr-FR" smtClean="0"/>
              <a:t>Cinquième niveau</a:t>
            </a:r>
            <a:endParaRPr lang="en-US" altLang="fr-FR" smtClean="0"/>
          </a:p>
        </p:txBody>
      </p:sp>
      <p:sp>
        <p:nvSpPr>
          <p:cNvPr id="10" name="Espace réservé de la date 9"/>
          <p:cNvSpPr>
            <a:spLocks noGrp="1"/>
          </p:cNvSpPr>
          <p:nvPr>
            <p:ph type="dt" sz="half" idx="2"/>
          </p:nvPr>
        </p:nvSpPr>
        <p:spPr>
          <a:xfrm>
            <a:off x="457200" y="6421438"/>
            <a:ext cx="2133600" cy="365125"/>
          </a:xfrm>
          <a:prstGeom prst="rect">
            <a:avLst/>
          </a:prstGeom>
        </p:spPr>
        <p:txBody>
          <a:bodyPr vert="horz" bIns="0" anchor="b"/>
          <a:lstStyle>
            <a:lvl1pPr algn="l" eaLnBrk="1" latinLnBrk="0" hangingPunct="1">
              <a:defRPr kumimoji="0" sz="1000">
                <a:solidFill>
                  <a:schemeClr val="tx2">
                    <a:shade val="50000"/>
                  </a:schemeClr>
                </a:solidFill>
                <a:latin typeface="Arial" pitchFamily="34" charset="0"/>
                <a:cs typeface="Arial" pitchFamily="34" charset="0"/>
              </a:defRPr>
            </a:lvl1pPr>
          </a:lstStyle>
          <a:p>
            <a:pPr>
              <a:defRPr/>
            </a:pPr>
            <a:endParaRPr lang="en-US"/>
          </a:p>
        </p:txBody>
      </p:sp>
      <p:sp>
        <p:nvSpPr>
          <p:cNvPr id="22" name="Espace réservé du pied de page 21"/>
          <p:cNvSpPr>
            <a:spLocks noGrp="1"/>
          </p:cNvSpPr>
          <p:nvPr>
            <p:ph type="ftr" sz="quarter" idx="3"/>
          </p:nvPr>
        </p:nvSpPr>
        <p:spPr>
          <a:xfrm>
            <a:off x="3124200" y="6421438"/>
            <a:ext cx="2895600" cy="365125"/>
          </a:xfrm>
          <a:prstGeom prst="rect">
            <a:avLst/>
          </a:prstGeom>
        </p:spPr>
        <p:txBody>
          <a:bodyPr vert="horz" lIns="0" rIns="0" bIns="0" anchor="b"/>
          <a:lstStyle>
            <a:lvl1pPr algn="ctr" eaLnBrk="1" latinLnBrk="0" hangingPunct="1">
              <a:defRPr kumimoji="0" sz="1000" smtClean="0">
                <a:solidFill>
                  <a:schemeClr val="tx2">
                    <a:shade val="50000"/>
                  </a:schemeClr>
                </a:solidFill>
                <a:latin typeface="Arial" pitchFamily="34" charset="0"/>
                <a:cs typeface="Arial" pitchFamily="34" charset="0"/>
              </a:defRPr>
            </a:lvl1pPr>
          </a:lstStyle>
          <a:p>
            <a:pPr>
              <a:defRPr/>
            </a:pPr>
            <a:r>
              <a:rPr lang="en-US"/>
              <a:t>Commande des machines Mach asyn   Ali NEJMI</a:t>
            </a:r>
          </a:p>
        </p:txBody>
      </p:sp>
      <p:sp>
        <p:nvSpPr>
          <p:cNvPr id="18" name="Espace réservé du numéro de diapositive 17"/>
          <p:cNvSpPr>
            <a:spLocks noGrp="1"/>
          </p:cNvSpPr>
          <p:nvPr>
            <p:ph type="sldNum" sz="quarter" idx="4"/>
          </p:nvPr>
        </p:nvSpPr>
        <p:spPr>
          <a:xfrm>
            <a:off x="8153400" y="6421438"/>
            <a:ext cx="762000" cy="365125"/>
          </a:xfrm>
          <a:prstGeom prst="rect">
            <a:avLst/>
          </a:prstGeom>
        </p:spPr>
        <p:txBody>
          <a:bodyPr vert="horz" wrap="square" lIns="0" tIns="0" rIns="0" bIns="0" numCol="1" anchor="b" anchorCtr="0" compatLnSpc="1">
            <a:prstTxWarp prst="textNoShape">
              <a:avLst/>
            </a:prstTxWarp>
          </a:bodyPr>
          <a:lstStyle>
            <a:lvl1pPr algn="r" eaLnBrk="1" hangingPunct="1">
              <a:defRPr sz="1000" smtClean="0">
                <a:solidFill>
                  <a:srgbClr val="292929"/>
                </a:solidFill>
                <a:latin typeface="Arial" panose="020B0604020202020204" pitchFamily="34" charset="0"/>
                <a:cs typeface="Arial" panose="020B0604020202020204" pitchFamily="34" charset="0"/>
              </a:defRPr>
            </a:lvl1pPr>
          </a:lstStyle>
          <a:p>
            <a:pPr>
              <a:defRPr/>
            </a:pPr>
            <a:fld id="{8190C74C-B9D8-47DD-A058-8CC26F08CC7D}" type="slidenum">
              <a:rPr lang="en-US" altLang="fr-FR"/>
              <a:pPr>
                <a:defRPr/>
              </a:pPr>
              <a:t>‹N°›</a:t>
            </a:fld>
            <a:endParaRPr lang="en-US" altLang="fr-FR"/>
          </a:p>
        </p:txBody>
      </p:sp>
    </p:spTree>
  </p:cSld>
  <p:clrMap bg1="lt1" tx1="dk1" bg2="lt2" tx2="dk2" accent1="accent1" accent2="accent2" accent3="accent3" accent4="accent4" accent5="accent5" accent6="accent6" hlink="hlink" folHlink="folHlink"/>
  <p:sldLayoutIdLst>
    <p:sldLayoutId id="2147484191" r:id="rId1"/>
    <p:sldLayoutId id="2147484183" r:id="rId2"/>
    <p:sldLayoutId id="2147484192" r:id="rId3"/>
    <p:sldLayoutId id="2147484184" r:id="rId4"/>
    <p:sldLayoutId id="2147484185" r:id="rId5"/>
    <p:sldLayoutId id="2147484186" r:id="rId6"/>
    <p:sldLayoutId id="2147484187" r:id="rId7"/>
    <p:sldLayoutId id="2147484193" r:id="rId8"/>
    <p:sldLayoutId id="2147484188" r:id="rId9"/>
    <p:sldLayoutId id="2147484189" r:id="rId10"/>
    <p:sldLayoutId id="2147484190" r:id="rId11"/>
    <p:sldLayoutId id="2147484194" r:id="rId12"/>
  </p:sldLayoutIdLst>
  <p:hf hdr="0" dt="0"/>
  <p:txStyles>
    <p:titleStyle>
      <a:lvl1pPr algn="l" rtl="0" eaLnBrk="0" fontAlgn="base" hangingPunct="0">
        <a:spcBef>
          <a:spcPct val="0"/>
        </a:spcBef>
        <a:spcAft>
          <a:spcPct val="0"/>
        </a:spcAft>
        <a:defRPr sz="4600" kern="1200">
          <a:solidFill>
            <a:schemeClr val="tx1"/>
          </a:solidFill>
          <a:latin typeface="+mj-lt"/>
          <a:ea typeface="+mj-ea"/>
          <a:cs typeface="+mj-cs"/>
        </a:defRPr>
      </a:lvl1pPr>
      <a:lvl2pPr algn="l" rtl="0" eaLnBrk="0" fontAlgn="base" hangingPunct="0">
        <a:spcBef>
          <a:spcPct val="0"/>
        </a:spcBef>
        <a:spcAft>
          <a:spcPct val="0"/>
        </a:spcAft>
        <a:defRPr sz="4600">
          <a:solidFill>
            <a:schemeClr val="tx1"/>
          </a:solidFill>
          <a:latin typeface="Lucida Sans" pitchFamily="34" charset="0"/>
        </a:defRPr>
      </a:lvl2pPr>
      <a:lvl3pPr algn="l" rtl="0" eaLnBrk="0" fontAlgn="base" hangingPunct="0">
        <a:spcBef>
          <a:spcPct val="0"/>
        </a:spcBef>
        <a:spcAft>
          <a:spcPct val="0"/>
        </a:spcAft>
        <a:defRPr sz="4600">
          <a:solidFill>
            <a:schemeClr val="tx1"/>
          </a:solidFill>
          <a:latin typeface="Lucida Sans" pitchFamily="34" charset="0"/>
        </a:defRPr>
      </a:lvl3pPr>
      <a:lvl4pPr algn="l" rtl="0" eaLnBrk="0" fontAlgn="base" hangingPunct="0">
        <a:spcBef>
          <a:spcPct val="0"/>
        </a:spcBef>
        <a:spcAft>
          <a:spcPct val="0"/>
        </a:spcAft>
        <a:defRPr sz="4600">
          <a:solidFill>
            <a:schemeClr val="tx1"/>
          </a:solidFill>
          <a:latin typeface="Lucida Sans" pitchFamily="34" charset="0"/>
        </a:defRPr>
      </a:lvl4pPr>
      <a:lvl5pPr algn="l" rtl="0" eaLnBrk="0" fontAlgn="base" hangingPunct="0">
        <a:spcBef>
          <a:spcPct val="0"/>
        </a:spcBef>
        <a:spcAft>
          <a:spcPct val="0"/>
        </a:spcAft>
        <a:defRPr sz="4600">
          <a:solidFill>
            <a:schemeClr val="tx1"/>
          </a:solidFill>
          <a:latin typeface="Lucida Sans" pitchFamily="34" charset="0"/>
        </a:defRPr>
      </a:lvl5pPr>
      <a:lvl6pPr marL="457200" algn="l" rtl="0" fontAlgn="base">
        <a:spcBef>
          <a:spcPct val="0"/>
        </a:spcBef>
        <a:spcAft>
          <a:spcPct val="0"/>
        </a:spcAft>
        <a:defRPr sz="4600">
          <a:solidFill>
            <a:schemeClr val="tx1"/>
          </a:solidFill>
          <a:latin typeface="Lucida Sans" pitchFamily="34" charset="0"/>
        </a:defRPr>
      </a:lvl6pPr>
      <a:lvl7pPr marL="914400" algn="l" rtl="0" fontAlgn="base">
        <a:spcBef>
          <a:spcPct val="0"/>
        </a:spcBef>
        <a:spcAft>
          <a:spcPct val="0"/>
        </a:spcAft>
        <a:defRPr sz="4600">
          <a:solidFill>
            <a:schemeClr val="tx1"/>
          </a:solidFill>
          <a:latin typeface="Lucida Sans" pitchFamily="34" charset="0"/>
        </a:defRPr>
      </a:lvl7pPr>
      <a:lvl8pPr marL="1371600" algn="l" rtl="0" fontAlgn="base">
        <a:spcBef>
          <a:spcPct val="0"/>
        </a:spcBef>
        <a:spcAft>
          <a:spcPct val="0"/>
        </a:spcAft>
        <a:defRPr sz="4600">
          <a:solidFill>
            <a:schemeClr val="tx1"/>
          </a:solidFill>
          <a:latin typeface="Lucida Sans" pitchFamily="34" charset="0"/>
        </a:defRPr>
      </a:lvl8pPr>
      <a:lvl9pPr marL="1828800" algn="l" rtl="0" fontAlgn="base">
        <a:spcBef>
          <a:spcPct val="0"/>
        </a:spcBef>
        <a:spcAft>
          <a:spcPct val="0"/>
        </a:spcAft>
        <a:defRPr sz="4600">
          <a:solidFill>
            <a:schemeClr val="tx1"/>
          </a:solidFill>
          <a:latin typeface="Lucida Sans" pitchFamily="34" charset="0"/>
        </a:defRPr>
      </a:lvl9pPr>
    </p:titleStyle>
    <p:bodyStyle>
      <a:lvl1pPr marL="419100" indent="-382588" algn="l" rtl="0" eaLnBrk="0" fontAlgn="base" hangingPunct="0">
        <a:spcBef>
          <a:spcPct val="20000"/>
        </a:spcBef>
        <a:spcAft>
          <a:spcPct val="0"/>
        </a:spcAft>
        <a:buClr>
          <a:schemeClr val="accent1"/>
        </a:buClr>
        <a:buSzPct val="80000"/>
        <a:buFont typeface="Wingdings 2" panose="05020102010507070707" pitchFamily="18"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panose="05020102010507070707" pitchFamily="18"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panose="020B0604020202020204" pitchFamily="34"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8D89A4"/>
        </a:buClr>
        <a:buSzPct val="90000"/>
        <a:buFont typeface="Wingdings 2" panose="05020102010507070707" pitchFamily="18"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748560"/>
        </a:buClr>
        <a:buSzPct val="100000"/>
        <a:buFont typeface="Arial" panose="020B0604020202020204" pitchFamily="34" charset="0"/>
        <a:buChar char="-"/>
        <a:defRPr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linejmi@yahoo.fr"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vmlDrawing" Target="../drawings/vmlDrawing2.vml"/><Relationship Id="rId5" Type="http://schemas.openxmlformats.org/officeDocument/2006/relationships/image" Target="../media/image3.png"/><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4.wmf"/><Relationship Id="rId4"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7.wmf"/><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6.wmf"/><Relationship Id="rId4" Type="http://schemas.openxmlformats.org/officeDocument/2006/relationships/oleObject" Target="../embeddings/oleObject4.bin"/></Relationships>
</file>

<file path=ppt/slides/_rels/slide1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0.wmf"/><Relationship Id="rId4" Type="http://schemas.openxmlformats.org/officeDocument/2006/relationships/oleObject" Target="../embeddings/oleObject6.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12.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8.bin"/><Relationship Id="rId5" Type="http://schemas.openxmlformats.org/officeDocument/2006/relationships/image" Target="../media/image11.wmf"/><Relationship Id="rId4" Type="http://schemas.openxmlformats.org/officeDocument/2006/relationships/oleObject" Target="../embeddings/oleObject7.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14.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0.bin"/><Relationship Id="rId5" Type="http://schemas.openxmlformats.org/officeDocument/2006/relationships/image" Target="../media/image13.wmf"/><Relationship Id="rId4" Type="http://schemas.openxmlformats.org/officeDocument/2006/relationships/oleObject" Target="../embeddings/oleObject9.bin"/></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notesSlide" Target="../notesSlides/notesSlide21.xml"/><Relationship Id="rId7" Type="http://schemas.openxmlformats.org/officeDocument/2006/relationships/image" Target="../media/image17.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12.bin"/><Relationship Id="rId5" Type="http://schemas.openxmlformats.org/officeDocument/2006/relationships/image" Target="../media/image16.wmf"/><Relationship Id="rId4" Type="http://schemas.openxmlformats.org/officeDocument/2006/relationships/oleObject" Target="../embeddings/oleObject11.bin"/><Relationship Id="rId9" Type="http://schemas.openxmlformats.org/officeDocument/2006/relationships/image" Target="../media/image18.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22.wmf"/><Relationship Id="rId3" Type="http://schemas.openxmlformats.org/officeDocument/2006/relationships/notesSlide" Target="../notesSlides/notesSlide22.xml"/><Relationship Id="rId7" Type="http://schemas.openxmlformats.org/officeDocument/2006/relationships/image" Target="../media/image20.wmf"/><Relationship Id="rId12"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15.bin"/><Relationship Id="rId11" Type="http://schemas.openxmlformats.org/officeDocument/2006/relationships/image" Target="../media/image1.jpeg"/><Relationship Id="rId5" Type="http://schemas.openxmlformats.org/officeDocument/2006/relationships/image" Target="../media/image19.wmf"/><Relationship Id="rId15" Type="http://schemas.openxmlformats.org/officeDocument/2006/relationships/image" Target="../media/image23.wmf"/><Relationship Id="rId10" Type="http://schemas.openxmlformats.org/officeDocument/2006/relationships/image" Target="../media/image24.png"/><Relationship Id="rId4" Type="http://schemas.openxmlformats.org/officeDocument/2006/relationships/oleObject" Target="../embeddings/oleObject14.bin"/><Relationship Id="rId9" Type="http://schemas.openxmlformats.org/officeDocument/2006/relationships/image" Target="../media/image21.wmf"/><Relationship Id="rId14" Type="http://schemas.openxmlformats.org/officeDocument/2006/relationships/oleObject" Target="../embeddings/oleObject18.bin"/></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1.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39.png"/><Relationship Id="rId5" Type="http://schemas.openxmlformats.org/officeDocument/2006/relationships/image" Target="../media/image38.wmf"/><Relationship Id="rId4" Type="http://schemas.openxmlformats.org/officeDocument/2006/relationships/oleObject" Target="../embeddings/oleObject19.bin"/></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847725" y="1822450"/>
            <a:ext cx="7772400" cy="1143000"/>
          </a:xfrm>
        </p:spPr>
        <p:txBody>
          <a:bodyPr/>
          <a:lstStyle/>
          <a:p>
            <a:pPr algn="ctr">
              <a:lnSpc>
                <a:spcPct val="80000"/>
              </a:lnSpc>
              <a:spcBef>
                <a:spcPct val="20000"/>
              </a:spcBef>
              <a:defRPr/>
            </a:pPr>
            <a:r>
              <a:rPr lang="en-US" sz="1700" b="1" dirty="0" smtClean="0">
                <a:latin typeface="+mn-lt"/>
                <a:ea typeface="+mn-ea"/>
                <a:cs typeface="+mn-cs"/>
              </a:rPr>
              <a:t>MODULE</a:t>
            </a:r>
            <a:br>
              <a:rPr lang="en-US" sz="1700" b="1" dirty="0" smtClean="0">
                <a:latin typeface="+mn-lt"/>
                <a:ea typeface="+mn-ea"/>
                <a:cs typeface="+mn-cs"/>
              </a:rPr>
            </a:br>
            <a:r>
              <a:rPr lang="en-US" sz="1700" b="1" dirty="0" smtClean="0">
                <a:latin typeface="+mn-lt"/>
                <a:ea typeface="+mn-ea"/>
                <a:cs typeface="+mn-cs"/>
              </a:rPr>
              <a:t>Machine </a:t>
            </a:r>
            <a:r>
              <a:rPr lang="en-US" sz="1700" b="1" dirty="0" err="1" smtClean="0">
                <a:latin typeface="+mn-lt"/>
                <a:ea typeface="+mn-ea"/>
                <a:cs typeface="+mn-cs"/>
              </a:rPr>
              <a:t>asynchrone</a:t>
            </a:r>
            <a:r>
              <a:rPr lang="en-US" sz="1700" b="1" dirty="0" smtClean="0">
                <a:latin typeface="+mn-lt"/>
                <a:ea typeface="+mn-ea"/>
                <a:cs typeface="+mn-cs"/>
              </a:rPr>
              <a:t/>
            </a:r>
            <a:br>
              <a:rPr lang="en-US" sz="1700" b="1" dirty="0" smtClean="0">
                <a:latin typeface="+mn-lt"/>
                <a:ea typeface="+mn-ea"/>
                <a:cs typeface="+mn-cs"/>
              </a:rPr>
            </a:br>
            <a:r>
              <a:rPr lang="en-US" sz="1700" b="1" dirty="0" smtClean="0">
                <a:latin typeface="+mn-lt"/>
                <a:ea typeface="+mn-ea"/>
                <a:cs typeface="+mn-cs"/>
              </a:rPr>
              <a:t>3.1. </a:t>
            </a:r>
            <a:r>
              <a:rPr lang="en-US" sz="1700" b="1" dirty="0" err="1" smtClean="0">
                <a:latin typeface="+mn-lt"/>
                <a:ea typeface="+mn-ea"/>
                <a:cs typeface="+mn-cs"/>
              </a:rPr>
              <a:t>Modèle</a:t>
            </a:r>
            <a:r>
              <a:rPr lang="en-US" sz="1700" b="1" dirty="0" smtClean="0">
                <a:latin typeface="+mn-lt"/>
                <a:ea typeface="+mn-ea"/>
                <a:cs typeface="+mn-cs"/>
              </a:rPr>
              <a:t> </a:t>
            </a:r>
            <a:r>
              <a:rPr lang="en-US" sz="1700" b="1" dirty="0" err="1" smtClean="0">
                <a:latin typeface="+mn-lt"/>
                <a:ea typeface="+mn-ea"/>
                <a:cs typeface="+mn-cs"/>
              </a:rPr>
              <a:t>statique</a:t>
            </a:r>
            <a:r>
              <a:rPr lang="en-US" sz="1700" b="1" dirty="0" smtClean="0">
                <a:latin typeface="+mn-lt"/>
                <a:ea typeface="+mn-ea"/>
                <a:cs typeface="+mn-cs"/>
              </a:rPr>
              <a:t> </a:t>
            </a:r>
            <a:r>
              <a:rPr lang="en-US" sz="5400" b="1" cap="small" dirty="0" smtClean="0"/>
              <a:t/>
            </a:r>
            <a:br>
              <a:rPr lang="en-US" sz="5400" b="1" cap="small" dirty="0" smtClean="0"/>
            </a:br>
            <a:endParaRPr lang="en-US" b="1" dirty="0"/>
          </a:p>
        </p:txBody>
      </p:sp>
      <p:sp>
        <p:nvSpPr>
          <p:cNvPr id="10243" name="Rectangle 4"/>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8" name="Rectangle 2"/>
          <p:cNvSpPr txBox="1">
            <a:spLocks noChangeArrowheads="1"/>
          </p:cNvSpPr>
          <p:nvPr/>
        </p:nvSpPr>
        <p:spPr bwMode="auto">
          <a:xfrm>
            <a:off x="920700" y="1042738"/>
            <a:ext cx="7906468" cy="673768"/>
          </a:xfrm>
          <a:prstGeom prst="rect">
            <a:avLst/>
          </a:prstGeom>
          <a:noFill/>
          <a:ln w="9525">
            <a:noFill/>
            <a:miter lim="800000"/>
            <a:headEnd/>
            <a:tailEnd/>
          </a:ln>
        </p:spPr>
        <p:txBody>
          <a:bodyPr lIns="45720" rIns="45720" anchor="ctr"/>
          <a:lstStyle/>
          <a:p>
            <a:pPr algn="r">
              <a:defRPr/>
            </a:pPr>
            <a:r>
              <a:rPr lang="fr-FR" b="1" cap="all" dirty="0" err="1">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latin typeface="+mj-lt"/>
                <a:ea typeface="+mj-ea"/>
                <a:cs typeface="+mj-cs"/>
              </a:rPr>
              <a:t>CommAnde</a:t>
            </a:r>
            <a:r>
              <a:rPr lang="fr-FR"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latin typeface="+mj-lt"/>
                <a:ea typeface="+mj-ea"/>
                <a:cs typeface="+mj-cs"/>
              </a:rPr>
              <a:t> des machines </a:t>
            </a:r>
            <a:r>
              <a:rPr lang="fr-FR" b="1" cap="all" dirty="0" err="1">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latin typeface="+mj-lt"/>
                <a:ea typeface="+mj-ea"/>
                <a:cs typeface="+mj-cs"/>
              </a:rPr>
              <a:t>electriques</a:t>
            </a:r>
            <a:endParaRPr lang="fr-FR"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latin typeface="+mj-lt"/>
              <a:ea typeface="+mj-ea"/>
              <a:cs typeface="+mj-cs"/>
            </a:endParaRPr>
          </a:p>
        </p:txBody>
      </p:sp>
      <p:sp>
        <p:nvSpPr>
          <p:cNvPr id="10245" name="Rectangle 4"/>
          <p:cNvSpPr>
            <a:spLocks noChangeArrowheads="1"/>
          </p:cNvSpPr>
          <p:nvPr/>
        </p:nvSpPr>
        <p:spPr bwMode="auto">
          <a:xfrm>
            <a:off x="2420938" y="3609975"/>
            <a:ext cx="4572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lnSpc>
                <a:spcPct val="80000"/>
              </a:lnSpc>
              <a:spcBef>
                <a:spcPct val="0"/>
              </a:spcBef>
              <a:buClrTx/>
              <a:buSzTx/>
              <a:buFontTx/>
              <a:buNone/>
            </a:pPr>
            <a:r>
              <a:rPr lang="en-US" altLang="fr-FR" sz="1600" dirty="0">
                <a:latin typeface="Arial Narrow" panose="020B0606020202030204" pitchFamily="34" charset="0"/>
              </a:rPr>
              <a:t>Ali NEJMI</a:t>
            </a:r>
          </a:p>
          <a:p>
            <a:pPr algn="ctr" eaLnBrk="1" hangingPunct="1">
              <a:lnSpc>
                <a:spcPct val="80000"/>
              </a:lnSpc>
              <a:spcBef>
                <a:spcPct val="0"/>
              </a:spcBef>
              <a:buClrTx/>
              <a:buSzTx/>
              <a:buFontTx/>
              <a:buNone/>
            </a:pPr>
            <a:r>
              <a:rPr lang="en-US" altLang="fr-FR" sz="1600" dirty="0" smtClean="0">
                <a:latin typeface="Arial Narrow" panose="020B0606020202030204" pitchFamily="34" charset="0"/>
              </a:rPr>
              <a:t>Version.2023</a:t>
            </a:r>
            <a:endParaRPr lang="en-US" altLang="fr-FR" sz="1600" dirty="0">
              <a:latin typeface="Arial Narrow" panose="020B0606020202030204" pitchFamily="34" charset="0"/>
            </a:endParaRPr>
          </a:p>
        </p:txBody>
      </p:sp>
      <p:sp>
        <p:nvSpPr>
          <p:cNvPr id="10246" name="ZoneTexte 6"/>
          <p:cNvSpPr txBox="1">
            <a:spLocks noChangeArrowheads="1"/>
          </p:cNvSpPr>
          <p:nvPr/>
        </p:nvSpPr>
        <p:spPr bwMode="auto">
          <a:xfrm>
            <a:off x="547688" y="4724400"/>
            <a:ext cx="8077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r">
              <a:buSzPct val="85000"/>
              <a:buFontTx/>
              <a:buNone/>
            </a:pPr>
            <a:r>
              <a:rPr lang="fr-FR" altLang="fr-FR" sz="1400" i="1">
                <a:solidFill>
                  <a:srgbClr val="FF0000"/>
                </a:solidFill>
                <a:latin typeface="Arial Narrow" panose="020B0606020202030204" pitchFamily="34" charset="0"/>
                <a:hlinkClick r:id="rId3"/>
              </a:rPr>
              <a:t>alinejmi@yahoo.fr</a:t>
            </a:r>
            <a:r>
              <a:rPr lang="fr-FR" altLang="fr-FR" sz="1400" i="1">
                <a:solidFill>
                  <a:srgbClr val="FF0000"/>
                </a:solidFill>
                <a:latin typeface="Arial Narrow" panose="020B0606020202030204" pitchFamily="34" charset="0"/>
              </a:rPr>
              <a:t>  (Email principal) ; </a:t>
            </a:r>
          </a:p>
        </p:txBody>
      </p:sp>
      <p:sp>
        <p:nvSpPr>
          <p:cNvPr id="10247" name="Sous-titre 2"/>
          <p:cNvSpPr txBox="1">
            <a:spLocks/>
          </p:cNvSpPr>
          <p:nvPr/>
        </p:nvSpPr>
        <p:spPr bwMode="auto">
          <a:xfrm>
            <a:off x="319088" y="5562600"/>
            <a:ext cx="4038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buClrTx/>
              <a:buSzTx/>
              <a:buFont typeface="Arial" panose="020B0604020202020204" pitchFamily="34" charset="0"/>
              <a:buNone/>
            </a:pPr>
            <a:r>
              <a:rPr lang="fr-FR" altLang="fr-FR" sz="1400">
                <a:solidFill>
                  <a:srgbClr val="0070C0"/>
                </a:solidFill>
                <a:latin typeface="Bradley Hand ITC" panose="03070402050302030203" pitchFamily="66" charset="0"/>
              </a:rPr>
              <a:t>Universté  Sultan  Moulay  Slimane</a:t>
            </a:r>
          </a:p>
          <a:p>
            <a:pPr eaLnBrk="1" hangingPunct="1">
              <a:buClrTx/>
              <a:buSzTx/>
              <a:buFont typeface="Arial" panose="020B0604020202020204" pitchFamily="34" charset="0"/>
              <a:buNone/>
            </a:pPr>
            <a:r>
              <a:rPr lang="fr-FR" altLang="fr-FR" sz="1400">
                <a:solidFill>
                  <a:srgbClr val="0070C0"/>
                </a:solidFill>
                <a:latin typeface="Bradley Hand ITC" panose="03070402050302030203" pitchFamily="66" charset="0"/>
              </a:rPr>
              <a:t>Faculté  des  Sciences  et  Techniques,  Beni Mellal</a:t>
            </a:r>
          </a:p>
          <a:p>
            <a:pPr eaLnBrk="1" hangingPunct="1">
              <a:buClrTx/>
              <a:buSzTx/>
              <a:buFont typeface="Arial" panose="020B0604020202020204" pitchFamily="34" charset="0"/>
              <a:buNone/>
            </a:pPr>
            <a:r>
              <a:rPr lang="fr-FR" altLang="fr-FR" sz="1400">
                <a:solidFill>
                  <a:srgbClr val="0070C0"/>
                </a:solidFill>
                <a:latin typeface="Bradley Hand ITC" panose="03070402050302030203" pitchFamily="66" charset="0"/>
              </a:rPr>
              <a:t>Filière  Ingénieur  en  Génie  Electrique</a:t>
            </a:r>
          </a:p>
          <a:p>
            <a:pPr eaLnBrk="1" hangingPunct="1">
              <a:buClrTx/>
              <a:buSzTx/>
              <a:buFont typeface="Arial" panose="020B0604020202020204" pitchFamily="34" charset="0"/>
              <a:buNone/>
            </a:pPr>
            <a:endParaRPr lang="fr-FR" altLang="fr-FR" sz="1400">
              <a:solidFill>
                <a:srgbClr val="FF0000"/>
              </a:solidFill>
              <a:latin typeface="Bradley Hand ITC" panose="03070402050302030203" pitchFamily="66" charset="0"/>
            </a:endParaRPr>
          </a:p>
        </p:txBody>
      </p:sp>
      <p:sp>
        <p:nvSpPr>
          <p:cNvPr id="10248" name="Espace réservé du numéro de diapositive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5C53C9E6-10E7-4528-8EE9-5B06E144F737}" type="slidenum">
              <a:rPr lang="en-US" altLang="fr-FR" sz="1000">
                <a:solidFill>
                  <a:srgbClr val="292929"/>
                </a:solidFill>
                <a:latin typeface="Arial" panose="020B0604020202020204" pitchFamily="34" charset="0"/>
              </a:rPr>
              <a:pPr>
                <a:spcBef>
                  <a:spcPct val="0"/>
                </a:spcBef>
                <a:buClrTx/>
                <a:buSzTx/>
                <a:buFontTx/>
                <a:buNone/>
              </a:pPr>
              <a:t>1</a:t>
            </a:fld>
            <a:endParaRPr lang="en-US" altLang="fr-FR" sz="1000">
              <a:solidFill>
                <a:srgbClr val="292929"/>
              </a:solidFill>
              <a:latin typeface="Arial" panose="020B0604020202020204" pitchFamily="34" charset="0"/>
            </a:endParaRPr>
          </a:p>
        </p:txBody>
      </p:sp>
      <p:sp>
        <p:nvSpPr>
          <p:cNvPr id="11" name="Espace réservé du pied de page 10"/>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8519178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6"/>
          <p:cNvSpPr>
            <a:spLocks noGrp="1" noChangeArrowheads="1"/>
          </p:cNvSpPr>
          <p:nvPr>
            <p:ph idx="1"/>
          </p:nvPr>
        </p:nvSpPr>
        <p:spPr>
          <a:xfrm>
            <a:off x="2209800" y="228600"/>
            <a:ext cx="4572000" cy="457200"/>
          </a:xfrm>
        </p:spPr>
        <p:txBody>
          <a:bodyPr/>
          <a:lstStyle/>
          <a:p>
            <a:pPr algn="ctr">
              <a:buFontTx/>
              <a:buNone/>
            </a:pPr>
            <a:r>
              <a:rPr lang="en-US" altLang="fr-FR" sz="2400" b="1" smtClean="0">
                <a:latin typeface="Arial Narrow" panose="020B0606020202030204" pitchFamily="34" charset="0"/>
              </a:rPr>
              <a:t>Construction </a:t>
            </a:r>
          </a:p>
        </p:txBody>
      </p:sp>
      <p:sp>
        <p:nvSpPr>
          <p:cNvPr id="12291" name="Rectangle 37"/>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292" name="Oval 2"/>
          <p:cNvSpPr>
            <a:spLocks noChangeAspect="1" noChangeArrowheads="1"/>
          </p:cNvSpPr>
          <p:nvPr/>
        </p:nvSpPr>
        <p:spPr bwMode="auto">
          <a:xfrm>
            <a:off x="2843213" y="1160463"/>
            <a:ext cx="3144837" cy="3097212"/>
          </a:xfrm>
          <a:prstGeom prst="ellipse">
            <a:avLst/>
          </a:prstGeom>
          <a:solidFill>
            <a:srgbClr val="C0C0C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293" name="Oval 3"/>
          <p:cNvSpPr>
            <a:spLocks noChangeAspect="1" noChangeArrowheads="1"/>
          </p:cNvSpPr>
          <p:nvPr/>
        </p:nvSpPr>
        <p:spPr bwMode="auto">
          <a:xfrm>
            <a:off x="3281363" y="1582738"/>
            <a:ext cx="2300287" cy="230505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294" name="Oval 4"/>
          <p:cNvSpPr>
            <a:spLocks noChangeAspect="1" noChangeArrowheads="1"/>
          </p:cNvSpPr>
          <p:nvPr/>
        </p:nvSpPr>
        <p:spPr bwMode="auto">
          <a:xfrm>
            <a:off x="3390900" y="1685925"/>
            <a:ext cx="2090738" cy="2114550"/>
          </a:xfrm>
          <a:prstGeom prst="ellipse">
            <a:avLst/>
          </a:prstGeom>
          <a:solidFill>
            <a:srgbClr val="C0C0C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295" name="Text Box 29"/>
          <p:cNvSpPr txBox="1">
            <a:spLocks noChangeArrowheads="1"/>
          </p:cNvSpPr>
          <p:nvPr/>
        </p:nvSpPr>
        <p:spPr bwMode="auto">
          <a:xfrm>
            <a:off x="4038600" y="1190625"/>
            <a:ext cx="45720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1800">
                <a:latin typeface="Arial Narrow" panose="020B0606020202030204" pitchFamily="34" charset="0"/>
              </a:rPr>
              <a:t>a</a:t>
            </a:r>
          </a:p>
        </p:txBody>
      </p:sp>
      <p:sp>
        <p:nvSpPr>
          <p:cNvPr id="12296" name="Text Box 30"/>
          <p:cNvSpPr txBox="1">
            <a:spLocks noChangeArrowheads="1"/>
          </p:cNvSpPr>
          <p:nvPr/>
        </p:nvSpPr>
        <p:spPr bwMode="auto">
          <a:xfrm>
            <a:off x="3276600" y="3400425"/>
            <a:ext cx="228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1800">
                <a:latin typeface="Arial Narrow" panose="020B0606020202030204" pitchFamily="34" charset="0"/>
              </a:rPr>
              <a:t>b</a:t>
            </a:r>
          </a:p>
        </p:txBody>
      </p:sp>
      <p:sp>
        <p:nvSpPr>
          <p:cNvPr id="12297" name="Text Box 31"/>
          <p:cNvSpPr txBox="1">
            <a:spLocks noChangeArrowheads="1"/>
          </p:cNvSpPr>
          <p:nvPr/>
        </p:nvSpPr>
        <p:spPr bwMode="auto">
          <a:xfrm>
            <a:off x="5526088" y="2038350"/>
            <a:ext cx="388937"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1800">
                <a:latin typeface="Arial Narrow" panose="020B0606020202030204" pitchFamily="34" charset="0"/>
              </a:rPr>
              <a:t>b’</a:t>
            </a:r>
          </a:p>
        </p:txBody>
      </p:sp>
      <p:sp>
        <p:nvSpPr>
          <p:cNvPr id="12298" name="Text Box 32"/>
          <p:cNvSpPr txBox="1">
            <a:spLocks noChangeArrowheads="1"/>
          </p:cNvSpPr>
          <p:nvPr/>
        </p:nvSpPr>
        <p:spPr bwMode="auto">
          <a:xfrm>
            <a:off x="3251200" y="1625600"/>
            <a:ext cx="441325"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1800">
                <a:latin typeface="Arial Narrow" panose="020B0606020202030204" pitchFamily="34" charset="0"/>
              </a:rPr>
              <a:t>c’</a:t>
            </a:r>
          </a:p>
        </p:txBody>
      </p:sp>
      <p:sp>
        <p:nvSpPr>
          <p:cNvPr id="12299" name="Text Box 33"/>
          <p:cNvSpPr txBox="1">
            <a:spLocks noChangeArrowheads="1"/>
          </p:cNvSpPr>
          <p:nvPr/>
        </p:nvSpPr>
        <p:spPr bwMode="auto">
          <a:xfrm>
            <a:off x="5384800" y="3324225"/>
            <a:ext cx="4413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1800">
                <a:latin typeface="Arial Narrow" panose="020B0606020202030204" pitchFamily="34" charset="0"/>
              </a:rPr>
              <a:t>c</a:t>
            </a:r>
          </a:p>
        </p:txBody>
      </p:sp>
      <p:sp>
        <p:nvSpPr>
          <p:cNvPr id="12300" name="Text Box 34"/>
          <p:cNvSpPr txBox="1">
            <a:spLocks noChangeArrowheads="1"/>
          </p:cNvSpPr>
          <p:nvPr/>
        </p:nvSpPr>
        <p:spPr bwMode="auto">
          <a:xfrm>
            <a:off x="4495800" y="3857625"/>
            <a:ext cx="3810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1800">
                <a:latin typeface="Arial Narrow" panose="020B0606020202030204" pitchFamily="34" charset="0"/>
              </a:rPr>
              <a:t>a’</a:t>
            </a:r>
          </a:p>
        </p:txBody>
      </p:sp>
      <p:grpSp>
        <p:nvGrpSpPr>
          <p:cNvPr id="12301" name="Group 42"/>
          <p:cNvGrpSpPr>
            <a:grpSpLocks/>
          </p:cNvGrpSpPr>
          <p:nvPr/>
        </p:nvGrpSpPr>
        <p:grpSpPr bwMode="auto">
          <a:xfrm>
            <a:off x="4329113" y="1352550"/>
            <a:ext cx="228600" cy="244475"/>
            <a:chOff x="1776" y="528"/>
            <a:chExt cx="144" cy="154"/>
          </a:xfrm>
        </p:grpSpPr>
        <p:grpSp>
          <p:nvGrpSpPr>
            <p:cNvPr id="12373" name="Group 41"/>
            <p:cNvGrpSpPr>
              <a:grpSpLocks/>
            </p:cNvGrpSpPr>
            <p:nvPr/>
          </p:nvGrpSpPr>
          <p:grpSpPr bwMode="auto">
            <a:xfrm>
              <a:off x="1776" y="528"/>
              <a:ext cx="144" cy="154"/>
              <a:chOff x="2512" y="920"/>
              <a:chExt cx="144" cy="154"/>
            </a:xfrm>
          </p:grpSpPr>
          <p:sp>
            <p:nvSpPr>
              <p:cNvPr id="12375" name="Rectangle 38"/>
              <p:cNvSpPr>
                <a:spLocks noChangeArrowheads="1"/>
              </p:cNvSpPr>
              <p:nvPr/>
            </p:nvSpPr>
            <p:spPr bwMode="auto">
              <a:xfrm>
                <a:off x="2512" y="920"/>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76" name="Rectangle 40"/>
              <p:cNvSpPr>
                <a:spLocks noChangeArrowheads="1"/>
              </p:cNvSpPr>
              <p:nvPr/>
            </p:nvSpPr>
            <p:spPr bwMode="auto">
              <a:xfrm>
                <a:off x="2517" y="100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2374" name="Oval 5"/>
            <p:cNvSpPr>
              <a:spLocks noChangeAspect="1" noChangeArrowheads="1"/>
            </p:cNvSpPr>
            <p:nvPr/>
          </p:nvSpPr>
          <p:spPr bwMode="auto">
            <a:xfrm>
              <a:off x="1815" y="585"/>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2302" name="Group 48"/>
          <p:cNvGrpSpPr>
            <a:grpSpLocks/>
          </p:cNvGrpSpPr>
          <p:nvPr/>
        </p:nvGrpSpPr>
        <p:grpSpPr bwMode="auto">
          <a:xfrm>
            <a:off x="4314825" y="3806825"/>
            <a:ext cx="228600" cy="304800"/>
            <a:chOff x="4128" y="1488"/>
            <a:chExt cx="144" cy="192"/>
          </a:xfrm>
        </p:grpSpPr>
        <p:sp>
          <p:nvSpPr>
            <p:cNvPr id="12370" name="Rectangle 45"/>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71" name="Rectangle 46"/>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72" name="Oval 47"/>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2303" name="Group 49"/>
          <p:cNvGrpSpPr>
            <a:grpSpLocks/>
          </p:cNvGrpSpPr>
          <p:nvPr/>
        </p:nvGrpSpPr>
        <p:grpSpPr bwMode="auto">
          <a:xfrm rot="-7593647">
            <a:off x="5305425" y="1885950"/>
            <a:ext cx="228600" cy="304800"/>
            <a:chOff x="4128" y="1488"/>
            <a:chExt cx="144" cy="192"/>
          </a:xfrm>
        </p:grpSpPr>
        <p:sp>
          <p:nvSpPr>
            <p:cNvPr id="12367" name="Rectangle 50"/>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68" name="Rectangle 51"/>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69" name="Oval 52"/>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2304" name="Group 53"/>
          <p:cNvGrpSpPr>
            <a:grpSpLocks/>
          </p:cNvGrpSpPr>
          <p:nvPr/>
        </p:nvGrpSpPr>
        <p:grpSpPr bwMode="auto">
          <a:xfrm rot="3277053">
            <a:off x="3238500" y="3209925"/>
            <a:ext cx="228600" cy="304800"/>
            <a:chOff x="4128" y="1488"/>
            <a:chExt cx="144" cy="192"/>
          </a:xfrm>
        </p:grpSpPr>
        <p:sp>
          <p:nvSpPr>
            <p:cNvPr id="12364" name="Rectangle 54"/>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65" name="Rectangle 55"/>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66" name="Oval 56"/>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2305" name="Group 57"/>
          <p:cNvGrpSpPr>
            <a:grpSpLocks/>
          </p:cNvGrpSpPr>
          <p:nvPr/>
        </p:nvGrpSpPr>
        <p:grpSpPr bwMode="auto">
          <a:xfrm rot="-3717561">
            <a:off x="5419725" y="3141663"/>
            <a:ext cx="228600" cy="304800"/>
            <a:chOff x="4128" y="1488"/>
            <a:chExt cx="144" cy="192"/>
          </a:xfrm>
        </p:grpSpPr>
        <p:sp>
          <p:nvSpPr>
            <p:cNvPr id="12361" name="Rectangle 58"/>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62" name="Rectangle 59"/>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63" name="Oval 60"/>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2306" name="Group 61"/>
          <p:cNvGrpSpPr>
            <a:grpSpLocks/>
          </p:cNvGrpSpPr>
          <p:nvPr/>
        </p:nvGrpSpPr>
        <p:grpSpPr bwMode="auto">
          <a:xfrm rot="7255122">
            <a:off x="3238500" y="1914525"/>
            <a:ext cx="228600" cy="304800"/>
            <a:chOff x="4128" y="1488"/>
            <a:chExt cx="144" cy="192"/>
          </a:xfrm>
        </p:grpSpPr>
        <p:sp>
          <p:nvSpPr>
            <p:cNvPr id="12358" name="Rectangle 62"/>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59" name="Rectangle 63"/>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60" name="Oval 64"/>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2307" name="Oval 103"/>
          <p:cNvSpPr>
            <a:spLocks noChangeAspect="1" noChangeArrowheads="1"/>
          </p:cNvSpPr>
          <p:nvPr/>
        </p:nvSpPr>
        <p:spPr bwMode="auto">
          <a:xfrm rot="16011782" flipH="1">
            <a:off x="4341018" y="1726407"/>
            <a:ext cx="131763"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08" name="Oval 115"/>
          <p:cNvSpPr>
            <a:spLocks noChangeAspect="1" noChangeArrowheads="1"/>
          </p:cNvSpPr>
          <p:nvPr/>
        </p:nvSpPr>
        <p:spPr bwMode="auto">
          <a:xfrm rot="16011782" flipH="1">
            <a:off x="4664869" y="1778794"/>
            <a:ext cx="131762"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09" name="Oval 116"/>
          <p:cNvSpPr>
            <a:spLocks noChangeAspect="1" noChangeArrowheads="1"/>
          </p:cNvSpPr>
          <p:nvPr/>
        </p:nvSpPr>
        <p:spPr bwMode="auto">
          <a:xfrm rot="16011782" flipH="1">
            <a:off x="4055269" y="1788319"/>
            <a:ext cx="131762"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10" name="Oval 117"/>
          <p:cNvSpPr>
            <a:spLocks noChangeAspect="1" noChangeArrowheads="1"/>
          </p:cNvSpPr>
          <p:nvPr/>
        </p:nvSpPr>
        <p:spPr bwMode="auto">
          <a:xfrm rot="16011782" flipH="1">
            <a:off x="3812381" y="1926432"/>
            <a:ext cx="131763"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11" name="Oval 118"/>
          <p:cNvSpPr>
            <a:spLocks noChangeAspect="1" noChangeArrowheads="1"/>
          </p:cNvSpPr>
          <p:nvPr/>
        </p:nvSpPr>
        <p:spPr bwMode="auto">
          <a:xfrm rot="16011782" flipH="1">
            <a:off x="3612356" y="2145507"/>
            <a:ext cx="131763"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12" name="Oval 119"/>
          <p:cNvSpPr>
            <a:spLocks noChangeAspect="1" noChangeArrowheads="1"/>
          </p:cNvSpPr>
          <p:nvPr/>
        </p:nvSpPr>
        <p:spPr bwMode="auto">
          <a:xfrm rot="16011782" flipH="1">
            <a:off x="3493294" y="2397919"/>
            <a:ext cx="131762"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13" name="Oval 120"/>
          <p:cNvSpPr>
            <a:spLocks noChangeAspect="1" noChangeArrowheads="1"/>
          </p:cNvSpPr>
          <p:nvPr/>
        </p:nvSpPr>
        <p:spPr bwMode="auto">
          <a:xfrm rot="16011782" flipH="1">
            <a:off x="3431382" y="2712244"/>
            <a:ext cx="131762"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14" name="Oval 121"/>
          <p:cNvSpPr>
            <a:spLocks noChangeAspect="1" noChangeArrowheads="1"/>
          </p:cNvSpPr>
          <p:nvPr/>
        </p:nvSpPr>
        <p:spPr bwMode="auto">
          <a:xfrm rot="16011782" flipH="1">
            <a:off x="3488532" y="3026569"/>
            <a:ext cx="131762"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15" name="Oval 122"/>
          <p:cNvSpPr>
            <a:spLocks noChangeAspect="1" noChangeArrowheads="1"/>
          </p:cNvSpPr>
          <p:nvPr/>
        </p:nvSpPr>
        <p:spPr bwMode="auto">
          <a:xfrm rot="16011782" flipH="1">
            <a:off x="3650456" y="3278982"/>
            <a:ext cx="131763"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16" name="Oval 123"/>
          <p:cNvSpPr>
            <a:spLocks noChangeAspect="1" noChangeArrowheads="1"/>
          </p:cNvSpPr>
          <p:nvPr/>
        </p:nvSpPr>
        <p:spPr bwMode="auto">
          <a:xfrm rot="16011782" flipH="1">
            <a:off x="3883818" y="3479007"/>
            <a:ext cx="131763"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17" name="Oval 124"/>
          <p:cNvSpPr>
            <a:spLocks noChangeAspect="1" noChangeArrowheads="1"/>
          </p:cNvSpPr>
          <p:nvPr/>
        </p:nvSpPr>
        <p:spPr bwMode="auto">
          <a:xfrm rot="16011782" flipH="1">
            <a:off x="4169568" y="3593307"/>
            <a:ext cx="131763"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18" name="Oval 125"/>
          <p:cNvSpPr>
            <a:spLocks noChangeAspect="1" noChangeArrowheads="1"/>
          </p:cNvSpPr>
          <p:nvPr/>
        </p:nvSpPr>
        <p:spPr bwMode="auto">
          <a:xfrm rot="16011782" flipH="1">
            <a:off x="4493418" y="3602832"/>
            <a:ext cx="131763"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19" name="Oval 126"/>
          <p:cNvSpPr>
            <a:spLocks noChangeAspect="1" noChangeArrowheads="1"/>
          </p:cNvSpPr>
          <p:nvPr/>
        </p:nvSpPr>
        <p:spPr bwMode="auto">
          <a:xfrm rot="16011782" flipH="1">
            <a:off x="4788693" y="3526632"/>
            <a:ext cx="131763"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20" name="Oval 127"/>
          <p:cNvSpPr>
            <a:spLocks noChangeAspect="1" noChangeArrowheads="1"/>
          </p:cNvSpPr>
          <p:nvPr/>
        </p:nvSpPr>
        <p:spPr bwMode="auto">
          <a:xfrm rot="16011782" flipH="1">
            <a:off x="5026818" y="3307557"/>
            <a:ext cx="131763"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21" name="Oval 128"/>
          <p:cNvSpPr>
            <a:spLocks noChangeAspect="1" noChangeArrowheads="1"/>
          </p:cNvSpPr>
          <p:nvPr/>
        </p:nvSpPr>
        <p:spPr bwMode="auto">
          <a:xfrm rot="16011782" flipH="1">
            <a:off x="5198269" y="3064669"/>
            <a:ext cx="131762"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22" name="Oval 129"/>
          <p:cNvSpPr>
            <a:spLocks noChangeAspect="1" noChangeArrowheads="1"/>
          </p:cNvSpPr>
          <p:nvPr/>
        </p:nvSpPr>
        <p:spPr bwMode="auto">
          <a:xfrm rot="16011782" flipH="1">
            <a:off x="5288756" y="2793207"/>
            <a:ext cx="131763"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23" name="Oval 130"/>
          <p:cNvSpPr>
            <a:spLocks noChangeAspect="1" noChangeArrowheads="1"/>
          </p:cNvSpPr>
          <p:nvPr/>
        </p:nvSpPr>
        <p:spPr bwMode="auto">
          <a:xfrm rot="16011782" flipH="1">
            <a:off x="5283994" y="2474119"/>
            <a:ext cx="131762"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24" name="Oval 131"/>
          <p:cNvSpPr>
            <a:spLocks noChangeAspect="1" noChangeArrowheads="1"/>
          </p:cNvSpPr>
          <p:nvPr/>
        </p:nvSpPr>
        <p:spPr bwMode="auto">
          <a:xfrm rot="16011782" flipH="1">
            <a:off x="5145882" y="2188369"/>
            <a:ext cx="131762"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25" name="Oval 132"/>
          <p:cNvSpPr>
            <a:spLocks noChangeAspect="1" noChangeArrowheads="1"/>
          </p:cNvSpPr>
          <p:nvPr/>
        </p:nvSpPr>
        <p:spPr bwMode="auto">
          <a:xfrm rot="16011782" flipH="1">
            <a:off x="4960143" y="1945482"/>
            <a:ext cx="131763"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26" name="Oval 133"/>
          <p:cNvSpPr>
            <a:spLocks noChangeArrowheads="1"/>
          </p:cNvSpPr>
          <p:nvPr/>
        </p:nvSpPr>
        <p:spPr bwMode="auto">
          <a:xfrm flipH="1" flipV="1">
            <a:off x="4425950" y="1487488"/>
            <a:ext cx="36513" cy="36512"/>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27" name="Oval 134"/>
          <p:cNvSpPr>
            <a:spLocks noChangeArrowheads="1"/>
          </p:cNvSpPr>
          <p:nvPr/>
        </p:nvSpPr>
        <p:spPr bwMode="auto">
          <a:xfrm flipH="1" flipV="1">
            <a:off x="3302000" y="3360738"/>
            <a:ext cx="36513" cy="36512"/>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28" name="Oval 135"/>
          <p:cNvSpPr>
            <a:spLocks noChangeArrowheads="1"/>
          </p:cNvSpPr>
          <p:nvPr/>
        </p:nvSpPr>
        <p:spPr bwMode="auto">
          <a:xfrm flipH="1" flipV="1">
            <a:off x="5551488" y="3292475"/>
            <a:ext cx="36512" cy="36513"/>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nvGrpSpPr>
          <p:cNvPr id="12329" name="Group 138"/>
          <p:cNvGrpSpPr>
            <a:grpSpLocks/>
          </p:cNvGrpSpPr>
          <p:nvPr/>
        </p:nvGrpSpPr>
        <p:grpSpPr bwMode="auto">
          <a:xfrm>
            <a:off x="5416550" y="1981200"/>
            <a:ext cx="71438" cy="73025"/>
            <a:chOff x="1247" y="1933"/>
            <a:chExt cx="45" cy="46"/>
          </a:xfrm>
        </p:grpSpPr>
        <p:sp>
          <p:nvSpPr>
            <p:cNvPr id="12356" name="Line 136"/>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357" name="Line 137"/>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nvGrpSpPr>
          <p:cNvPr id="12330" name="Group 139"/>
          <p:cNvGrpSpPr>
            <a:grpSpLocks/>
          </p:cNvGrpSpPr>
          <p:nvPr/>
        </p:nvGrpSpPr>
        <p:grpSpPr bwMode="auto">
          <a:xfrm>
            <a:off x="3287713" y="2011363"/>
            <a:ext cx="71437" cy="73025"/>
            <a:chOff x="1247" y="1933"/>
            <a:chExt cx="45" cy="46"/>
          </a:xfrm>
        </p:grpSpPr>
        <p:sp>
          <p:nvSpPr>
            <p:cNvPr id="12354" name="Line 140"/>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355" name="Line 141"/>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nvGrpSpPr>
          <p:cNvPr id="12331" name="Group 142"/>
          <p:cNvGrpSpPr>
            <a:grpSpLocks/>
          </p:cNvGrpSpPr>
          <p:nvPr/>
        </p:nvGrpSpPr>
        <p:grpSpPr bwMode="auto">
          <a:xfrm>
            <a:off x="4391025" y="3965575"/>
            <a:ext cx="71438" cy="73025"/>
            <a:chOff x="1247" y="1933"/>
            <a:chExt cx="45" cy="46"/>
          </a:xfrm>
        </p:grpSpPr>
        <p:sp>
          <p:nvSpPr>
            <p:cNvPr id="12352" name="Line 143"/>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353" name="Line 144"/>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12332" name="Text Box 146"/>
          <p:cNvSpPr txBox="1">
            <a:spLocks noChangeArrowheads="1"/>
          </p:cNvSpPr>
          <p:nvPr/>
        </p:nvSpPr>
        <p:spPr bwMode="auto">
          <a:xfrm>
            <a:off x="2376488" y="5084763"/>
            <a:ext cx="407828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Stator – Enroulement 3-phasé </a:t>
            </a:r>
          </a:p>
          <a:p>
            <a:pPr eaLnBrk="1" hangingPunct="1">
              <a:spcBef>
                <a:spcPct val="0"/>
              </a:spcBef>
              <a:buClrTx/>
              <a:buSzTx/>
              <a:buFontTx/>
              <a:buNone/>
            </a:pPr>
            <a:r>
              <a:rPr lang="en-US" altLang="fr-FR" sz="2400">
                <a:latin typeface="Arial Narrow" panose="020B0606020202030204" pitchFamily="34" charset="0"/>
              </a:rPr>
              <a:t>Rotor – cage d’écureil / bobiné </a:t>
            </a:r>
          </a:p>
        </p:txBody>
      </p:sp>
      <p:grpSp>
        <p:nvGrpSpPr>
          <p:cNvPr id="12" name="Group 242"/>
          <p:cNvGrpSpPr>
            <a:grpSpLocks/>
          </p:cNvGrpSpPr>
          <p:nvPr/>
        </p:nvGrpSpPr>
        <p:grpSpPr bwMode="auto">
          <a:xfrm>
            <a:off x="2411413" y="657225"/>
            <a:ext cx="4221162" cy="4254500"/>
            <a:chOff x="1519" y="414"/>
            <a:chExt cx="2659" cy="2680"/>
          </a:xfrm>
        </p:grpSpPr>
        <p:grpSp>
          <p:nvGrpSpPr>
            <p:cNvPr id="12336" name="Group 241"/>
            <p:cNvGrpSpPr>
              <a:grpSpLocks/>
            </p:cNvGrpSpPr>
            <p:nvPr/>
          </p:nvGrpSpPr>
          <p:grpSpPr bwMode="auto">
            <a:xfrm>
              <a:off x="1519" y="527"/>
              <a:ext cx="2659" cy="2567"/>
              <a:chOff x="1519" y="527"/>
              <a:chExt cx="2659" cy="2567"/>
            </a:xfrm>
          </p:grpSpPr>
          <p:grpSp>
            <p:nvGrpSpPr>
              <p:cNvPr id="12340" name="Group 240"/>
              <p:cNvGrpSpPr>
                <a:grpSpLocks/>
              </p:cNvGrpSpPr>
              <p:nvPr/>
            </p:nvGrpSpPr>
            <p:grpSpPr bwMode="auto">
              <a:xfrm>
                <a:off x="1587" y="527"/>
                <a:ext cx="2381" cy="2345"/>
                <a:chOff x="1587" y="527"/>
                <a:chExt cx="2381" cy="2345"/>
              </a:xfrm>
            </p:grpSpPr>
            <p:grpSp>
              <p:nvGrpSpPr>
                <p:cNvPr id="12344" name="Group 239"/>
                <p:cNvGrpSpPr>
                  <a:grpSpLocks/>
                </p:cNvGrpSpPr>
                <p:nvPr/>
              </p:nvGrpSpPr>
              <p:grpSpPr bwMode="auto">
                <a:xfrm>
                  <a:off x="1587" y="527"/>
                  <a:ext cx="2381" cy="2345"/>
                  <a:chOff x="1587" y="527"/>
                  <a:chExt cx="2381" cy="2345"/>
                </a:xfrm>
              </p:grpSpPr>
              <p:sp>
                <p:nvSpPr>
                  <p:cNvPr id="12347" name="Oval 219"/>
                  <p:cNvSpPr>
                    <a:spLocks noChangeAspect="1" noChangeArrowheads="1"/>
                  </p:cNvSpPr>
                  <p:nvPr/>
                </p:nvSpPr>
                <p:spPr bwMode="auto">
                  <a:xfrm flipH="1">
                    <a:off x="1587" y="527"/>
                    <a:ext cx="2381" cy="2345"/>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48" name="Line 228"/>
                  <p:cNvSpPr>
                    <a:spLocks noChangeShapeType="1"/>
                  </p:cNvSpPr>
                  <p:nvPr/>
                </p:nvSpPr>
                <p:spPr bwMode="auto">
                  <a:xfrm flipH="1">
                    <a:off x="3855" y="2160"/>
                    <a:ext cx="23" cy="68"/>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fr-FR"/>
                  </a:p>
                </p:txBody>
              </p:sp>
              <p:sp>
                <p:nvSpPr>
                  <p:cNvPr id="12349" name="Line 231"/>
                  <p:cNvSpPr>
                    <a:spLocks noChangeShapeType="1"/>
                  </p:cNvSpPr>
                  <p:nvPr/>
                </p:nvSpPr>
                <p:spPr bwMode="auto">
                  <a:xfrm flipH="1" flipV="1">
                    <a:off x="1814" y="2387"/>
                    <a:ext cx="23" cy="22"/>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fr-FR"/>
                  </a:p>
                </p:txBody>
              </p:sp>
              <p:sp>
                <p:nvSpPr>
                  <p:cNvPr id="12350" name="Line 233"/>
                  <p:cNvSpPr>
                    <a:spLocks noChangeShapeType="1"/>
                  </p:cNvSpPr>
                  <p:nvPr/>
                </p:nvSpPr>
                <p:spPr bwMode="auto">
                  <a:xfrm>
                    <a:off x="1746" y="2273"/>
                    <a:ext cx="23" cy="46"/>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fr-FR"/>
                  </a:p>
                </p:txBody>
              </p:sp>
              <p:sp>
                <p:nvSpPr>
                  <p:cNvPr id="12351" name="Line 235"/>
                  <p:cNvSpPr>
                    <a:spLocks noChangeShapeType="1"/>
                  </p:cNvSpPr>
                  <p:nvPr/>
                </p:nvSpPr>
                <p:spPr bwMode="auto">
                  <a:xfrm flipV="1">
                    <a:off x="3787" y="2296"/>
                    <a:ext cx="23" cy="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sp>
              <p:nvSpPr>
                <p:cNvPr id="12345" name="Line 226"/>
                <p:cNvSpPr>
                  <a:spLocks noChangeShapeType="1"/>
                </p:cNvSpPr>
                <p:nvPr/>
              </p:nvSpPr>
              <p:spPr bwMode="auto">
                <a:xfrm>
                  <a:off x="2699" y="527"/>
                  <a:ext cx="45"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fr-FR"/>
                </a:p>
              </p:txBody>
            </p:sp>
            <p:sp>
              <p:nvSpPr>
                <p:cNvPr id="12346" name="Line 234"/>
                <p:cNvSpPr>
                  <a:spLocks noChangeShapeType="1"/>
                </p:cNvSpPr>
                <p:nvPr/>
              </p:nvSpPr>
              <p:spPr bwMode="auto">
                <a:xfrm flipH="1">
                  <a:off x="2857" y="527"/>
                  <a:ext cx="46"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fr-FR"/>
                </a:p>
              </p:txBody>
            </p:sp>
          </p:grpSp>
          <p:sp>
            <p:nvSpPr>
              <p:cNvPr id="12341" name="Text Box 236"/>
              <p:cNvSpPr txBox="1">
                <a:spLocks noChangeArrowheads="1"/>
              </p:cNvSpPr>
              <p:nvPr/>
            </p:nvSpPr>
            <p:spPr bwMode="auto">
              <a:xfrm>
                <a:off x="3820" y="788"/>
                <a:ext cx="35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Narrow" panose="020B0606020202030204" pitchFamily="34" charset="0"/>
                  </a:rPr>
                  <a:t>120</a:t>
                </a:r>
                <a:r>
                  <a:rPr lang="en-US" altLang="fr-FR" sz="1800" baseline="30000">
                    <a:latin typeface="Arial Narrow" panose="020B0606020202030204" pitchFamily="34" charset="0"/>
                  </a:rPr>
                  <a:t>o</a:t>
                </a:r>
                <a:endParaRPr lang="en-US" altLang="fr-FR" sz="1800">
                  <a:latin typeface="Arial Narrow" panose="020B0606020202030204" pitchFamily="34" charset="0"/>
                </a:endParaRPr>
              </a:p>
            </p:txBody>
          </p:sp>
          <p:sp>
            <p:nvSpPr>
              <p:cNvPr id="12342" name="Text Box 237"/>
              <p:cNvSpPr txBox="1">
                <a:spLocks noChangeArrowheads="1"/>
              </p:cNvSpPr>
              <p:nvPr/>
            </p:nvSpPr>
            <p:spPr bwMode="auto">
              <a:xfrm>
                <a:off x="1519" y="822"/>
                <a:ext cx="35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Narrow" panose="020B0606020202030204" pitchFamily="34" charset="0"/>
                  </a:rPr>
                  <a:t>120</a:t>
                </a:r>
                <a:r>
                  <a:rPr lang="en-US" altLang="fr-FR" sz="1800" baseline="30000">
                    <a:latin typeface="Arial Narrow" panose="020B0606020202030204" pitchFamily="34" charset="0"/>
                  </a:rPr>
                  <a:t>o</a:t>
                </a:r>
                <a:endParaRPr lang="en-US" altLang="fr-FR" sz="1800">
                  <a:latin typeface="Arial Narrow" panose="020B0606020202030204" pitchFamily="34" charset="0"/>
                </a:endParaRPr>
              </a:p>
            </p:txBody>
          </p:sp>
          <p:sp>
            <p:nvSpPr>
              <p:cNvPr id="12343" name="Text Box 238"/>
              <p:cNvSpPr txBox="1">
                <a:spLocks noChangeArrowheads="1"/>
              </p:cNvSpPr>
              <p:nvPr/>
            </p:nvSpPr>
            <p:spPr bwMode="auto">
              <a:xfrm>
                <a:off x="2653" y="2863"/>
                <a:ext cx="35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Narrow" panose="020B0606020202030204" pitchFamily="34" charset="0"/>
                  </a:rPr>
                  <a:t>120</a:t>
                </a:r>
                <a:r>
                  <a:rPr lang="en-US" altLang="fr-FR" sz="1800" baseline="30000">
                    <a:latin typeface="Arial Narrow" panose="020B0606020202030204" pitchFamily="34" charset="0"/>
                  </a:rPr>
                  <a:t>o</a:t>
                </a:r>
                <a:endParaRPr lang="en-US" altLang="fr-FR" sz="1800">
                  <a:latin typeface="Arial Narrow" panose="020B0606020202030204" pitchFamily="34" charset="0"/>
                </a:endParaRPr>
              </a:p>
            </p:txBody>
          </p:sp>
        </p:grpSp>
        <p:sp>
          <p:nvSpPr>
            <p:cNvPr id="12337" name="Rectangle 223"/>
            <p:cNvSpPr>
              <a:spLocks noChangeArrowheads="1"/>
            </p:cNvSpPr>
            <p:nvPr/>
          </p:nvSpPr>
          <p:spPr bwMode="auto">
            <a:xfrm>
              <a:off x="2744" y="414"/>
              <a:ext cx="113" cy="295"/>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38" name="Rectangle 224"/>
            <p:cNvSpPr>
              <a:spLocks noChangeArrowheads="1"/>
            </p:cNvSpPr>
            <p:nvPr/>
          </p:nvSpPr>
          <p:spPr bwMode="auto">
            <a:xfrm rot="-3677644">
              <a:off x="3753" y="2080"/>
              <a:ext cx="90" cy="295"/>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39" name="Rectangle 225"/>
            <p:cNvSpPr>
              <a:spLocks noChangeArrowheads="1"/>
            </p:cNvSpPr>
            <p:nvPr/>
          </p:nvSpPr>
          <p:spPr bwMode="auto">
            <a:xfrm rot="-7323251">
              <a:off x="1735" y="2216"/>
              <a:ext cx="90" cy="295"/>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2334" name="Espace réservé du numéro de diapositive 9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5840D099-38A9-4B80-8104-E65F7D8F41EC}" type="slidenum">
              <a:rPr lang="en-US" altLang="fr-FR" sz="1000">
                <a:solidFill>
                  <a:srgbClr val="292929"/>
                </a:solidFill>
                <a:latin typeface="Arial" panose="020B0604020202020204" pitchFamily="34" charset="0"/>
              </a:rPr>
              <a:pPr>
                <a:spcBef>
                  <a:spcPct val="0"/>
                </a:spcBef>
                <a:buClrTx/>
                <a:buSzTx/>
                <a:buFontTx/>
                <a:buNone/>
              </a:pPr>
              <a:t>2</a:t>
            </a:fld>
            <a:endParaRPr lang="en-US" altLang="fr-FR" sz="1000">
              <a:solidFill>
                <a:srgbClr val="292929"/>
              </a:solidFill>
              <a:latin typeface="Arial" panose="020B0604020202020204" pitchFamily="34" charset="0"/>
            </a:endParaRPr>
          </a:p>
        </p:txBody>
      </p:sp>
      <p:sp>
        <p:nvSpPr>
          <p:cNvPr id="92" name="Espace réservé du pied de page 91"/>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28730016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3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idx="1"/>
          </p:nvPr>
        </p:nvSpPr>
        <p:spPr>
          <a:xfrm>
            <a:off x="2209800" y="228600"/>
            <a:ext cx="4572000" cy="457200"/>
          </a:xfrm>
        </p:spPr>
        <p:txBody>
          <a:bodyPr/>
          <a:lstStyle/>
          <a:p>
            <a:pPr algn="ctr">
              <a:buFontTx/>
              <a:buNone/>
            </a:pPr>
            <a:r>
              <a:rPr lang="en-US" altLang="fr-FR" sz="2400" b="1" smtClean="0">
                <a:latin typeface="Arial Narrow" panose="020B0606020202030204" pitchFamily="34" charset="0"/>
              </a:rPr>
              <a:t>Construction </a:t>
            </a:r>
          </a:p>
        </p:txBody>
      </p:sp>
      <p:sp>
        <p:nvSpPr>
          <p:cNvPr id="14339"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340" name="Oval 5"/>
          <p:cNvSpPr>
            <a:spLocks noChangeAspect="1" noChangeArrowheads="1"/>
          </p:cNvSpPr>
          <p:nvPr/>
        </p:nvSpPr>
        <p:spPr bwMode="auto">
          <a:xfrm>
            <a:off x="2843213" y="1160463"/>
            <a:ext cx="3144837" cy="3097212"/>
          </a:xfrm>
          <a:prstGeom prst="ellipse">
            <a:avLst/>
          </a:prstGeom>
          <a:solidFill>
            <a:srgbClr val="C0C0C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341" name="Oval 6"/>
          <p:cNvSpPr>
            <a:spLocks noChangeAspect="1" noChangeArrowheads="1"/>
          </p:cNvSpPr>
          <p:nvPr/>
        </p:nvSpPr>
        <p:spPr bwMode="auto">
          <a:xfrm>
            <a:off x="3281363" y="1582738"/>
            <a:ext cx="2300287" cy="230505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342" name="Oval 7"/>
          <p:cNvSpPr>
            <a:spLocks noChangeAspect="1" noChangeArrowheads="1"/>
          </p:cNvSpPr>
          <p:nvPr/>
        </p:nvSpPr>
        <p:spPr bwMode="auto">
          <a:xfrm>
            <a:off x="3390900" y="1685925"/>
            <a:ext cx="2090738" cy="2114550"/>
          </a:xfrm>
          <a:prstGeom prst="ellipse">
            <a:avLst/>
          </a:prstGeom>
          <a:solidFill>
            <a:srgbClr val="C0C0C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343" name="Text Box 8"/>
          <p:cNvSpPr txBox="1">
            <a:spLocks noChangeArrowheads="1"/>
          </p:cNvSpPr>
          <p:nvPr/>
        </p:nvSpPr>
        <p:spPr bwMode="auto">
          <a:xfrm>
            <a:off x="4038600" y="1190625"/>
            <a:ext cx="45720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1800">
                <a:latin typeface="Arial Narrow" panose="020B0606020202030204" pitchFamily="34" charset="0"/>
              </a:rPr>
              <a:t>a</a:t>
            </a:r>
          </a:p>
        </p:txBody>
      </p:sp>
      <p:sp>
        <p:nvSpPr>
          <p:cNvPr id="14344" name="Text Box 13"/>
          <p:cNvSpPr txBox="1">
            <a:spLocks noChangeArrowheads="1"/>
          </p:cNvSpPr>
          <p:nvPr/>
        </p:nvSpPr>
        <p:spPr bwMode="auto">
          <a:xfrm>
            <a:off x="4495800" y="3857625"/>
            <a:ext cx="3810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1800">
                <a:latin typeface="Arial Narrow" panose="020B0606020202030204" pitchFamily="34" charset="0"/>
              </a:rPr>
              <a:t>a’</a:t>
            </a:r>
          </a:p>
        </p:txBody>
      </p:sp>
      <p:grpSp>
        <p:nvGrpSpPr>
          <p:cNvPr id="14345" name="Group 14"/>
          <p:cNvGrpSpPr>
            <a:grpSpLocks/>
          </p:cNvGrpSpPr>
          <p:nvPr/>
        </p:nvGrpSpPr>
        <p:grpSpPr bwMode="auto">
          <a:xfrm>
            <a:off x="4329113" y="1352550"/>
            <a:ext cx="228600" cy="244475"/>
            <a:chOff x="1776" y="528"/>
            <a:chExt cx="144" cy="154"/>
          </a:xfrm>
        </p:grpSpPr>
        <p:grpSp>
          <p:nvGrpSpPr>
            <p:cNvPr id="14433" name="Group 15"/>
            <p:cNvGrpSpPr>
              <a:grpSpLocks/>
            </p:cNvGrpSpPr>
            <p:nvPr/>
          </p:nvGrpSpPr>
          <p:grpSpPr bwMode="auto">
            <a:xfrm>
              <a:off x="1776" y="528"/>
              <a:ext cx="144" cy="154"/>
              <a:chOff x="2512" y="920"/>
              <a:chExt cx="144" cy="154"/>
            </a:xfrm>
          </p:grpSpPr>
          <p:sp>
            <p:nvSpPr>
              <p:cNvPr id="14435" name="Rectangle 16"/>
              <p:cNvSpPr>
                <a:spLocks noChangeArrowheads="1"/>
              </p:cNvSpPr>
              <p:nvPr/>
            </p:nvSpPr>
            <p:spPr bwMode="auto">
              <a:xfrm>
                <a:off x="2512" y="920"/>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36" name="Rectangle 17"/>
              <p:cNvSpPr>
                <a:spLocks noChangeArrowheads="1"/>
              </p:cNvSpPr>
              <p:nvPr/>
            </p:nvSpPr>
            <p:spPr bwMode="auto">
              <a:xfrm>
                <a:off x="2517" y="100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4434" name="Oval 18"/>
            <p:cNvSpPr>
              <a:spLocks noChangeAspect="1" noChangeArrowheads="1"/>
            </p:cNvSpPr>
            <p:nvPr/>
          </p:nvSpPr>
          <p:spPr bwMode="auto">
            <a:xfrm>
              <a:off x="1815" y="585"/>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4346" name="Group 19"/>
          <p:cNvGrpSpPr>
            <a:grpSpLocks/>
          </p:cNvGrpSpPr>
          <p:nvPr/>
        </p:nvGrpSpPr>
        <p:grpSpPr bwMode="auto">
          <a:xfrm>
            <a:off x="4314825" y="3806825"/>
            <a:ext cx="228600" cy="304800"/>
            <a:chOff x="4128" y="1488"/>
            <a:chExt cx="144" cy="192"/>
          </a:xfrm>
        </p:grpSpPr>
        <p:sp>
          <p:nvSpPr>
            <p:cNvPr id="14430" name="Rectangle 20"/>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31" name="Rectangle 21"/>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32" name="Oval 22"/>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4347" name="Oval 58"/>
          <p:cNvSpPr>
            <a:spLocks noChangeArrowheads="1"/>
          </p:cNvSpPr>
          <p:nvPr/>
        </p:nvSpPr>
        <p:spPr bwMode="auto">
          <a:xfrm flipH="1" flipV="1">
            <a:off x="4425950" y="1487488"/>
            <a:ext cx="36513" cy="36512"/>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nvGrpSpPr>
          <p:cNvPr id="14348" name="Group 67"/>
          <p:cNvGrpSpPr>
            <a:grpSpLocks/>
          </p:cNvGrpSpPr>
          <p:nvPr/>
        </p:nvGrpSpPr>
        <p:grpSpPr bwMode="auto">
          <a:xfrm>
            <a:off x="4391025" y="3965575"/>
            <a:ext cx="71438" cy="73025"/>
            <a:chOff x="1247" y="1933"/>
            <a:chExt cx="45" cy="46"/>
          </a:xfrm>
        </p:grpSpPr>
        <p:sp>
          <p:nvSpPr>
            <p:cNvPr id="14428" name="Line 68"/>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429" name="Line 69"/>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nvGrpSpPr>
          <p:cNvPr id="6" name="Group 173"/>
          <p:cNvGrpSpPr>
            <a:grpSpLocks/>
          </p:cNvGrpSpPr>
          <p:nvPr/>
        </p:nvGrpSpPr>
        <p:grpSpPr bwMode="auto">
          <a:xfrm>
            <a:off x="3455988" y="1198563"/>
            <a:ext cx="1979612" cy="3021012"/>
            <a:chOff x="2177" y="755"/>
            <a:chExt cx="1247" cy="1903"/>
          </a:xfrm>
        </p:grpSpPr>
        <p:sp>
          <p:nvSpPr>
            <p:cNvPr id="14416" name="Oval 73"/>
            <p:cNvSpPr>
              <a:spLocks noChangeArrowheads="1"/>
            </p:cNvSpPr>
            <p:nvPr/>
          </p:nvSpPr>
          <p:spPr bwMode="auto">
            <a:xfrm>
              <a:off x="2313" y="783"/>
              <a:ext cx="930" cy="61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17" name="Oval 74"/>
            <p:cNvSpPr>
              <a:spLocks noChangeArrowheads="1"/>
            </p:cNvSpPr>
            <p:nvPr/>
          </p:nvSpPr>
          <p:spPr bwMode="auto">
            <a:xfrm>
              <a:off x="2205" y="755"/>
              <a:ext cx="1219" cy="861"/>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18" name="Oval 75"/>
            <p:cNvSpPr>
              <a:spLocks noChangeArrowheads="1"/>
            </p:cNvSpPr>
            <p:nvPr/>
          </p:nvSpPr>
          <p:spPr bwMode="auto">
            <a:xfrm>
              <a:off x="2540" y="2200"/>
              <a:ext cx="476" cy="408"/>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19" name="Oval 76"/>
            <p:cNvSpPr>
              <a:spLocks noChangeArrowheads="1"/>
            </p:cNvSpPr>
            <p:nvPr/>
          </p:nvSpPr>
          <p:spPr bwMode="auto">
            <a:xfrm>
              <a:off x="2313" y="2024"/>
              <a:ext cx="930" cy="61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20" name="Oval 77"/>
            <p:cNvSpPr>
              <a:spLocks noChangeArrowheads="1"/>
            </p:cNvSpPr>
            <p:nvPr/>
          </p:nvSpPr>
          <p:spPr bwMode="auto">
            <a:xfrm>
              <a:off x="2177" y="1797"/>
              <a:ext cx="1179" cy="861"/>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21" name="Oval 78"/>
            <p:cNvSpPr>
              <a:spLocks noChangeArrowheads="1"/>
            </p:cNvSpPr>
            <p:nvPr/>
          </p:nvSpPr>
          <p:spPr bwMode="auto">
            <a:xfrm>
              <a:off x="2540" y="822"/>
              <a:ext cx="476" cy="408"/>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22" name="Line 79"/>
            <p:cNvSpPr>
              <a:spLocks noChangeShapeType="1"/>
            </p:cNvSpPr>
            <p:nvPr/>
          </p:nvSpPr>
          <p:spPr bwMode="auto">
            <a:xfrm>
              <a:off x="2744" y="1230"/>
              <a:ext cx="4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423" name="Line 80"/>
            <p:cNvSpPr>
              <a:spLocks noChangeShapeType="1"/>
            </p:cNvSpPr>
            <p:nvPr/>
          </p:nvSpPr>
          <p:spPr bwMode="auto">
            <a:xfrm>
              <a:off x="2744" y="1389"/>
              <a:ext cx="4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424" name="Line 81"/>
            <p:cNvSpPr>
              <a:spLocks noChangeShapeType="1"/>
            </p:cNvSpPr>
            <p:nvPr/>
          </p:nvSpPr>
          <p:spPr bwMode="auto">
            <a:xfrm>
              <a:off x="2744" y="1616"/>
              <a:ext cx="4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425" name="Line 82"/>
            <p:cNvSpPr>
              <a:spLocks noChangeShapeType="1"/>
            </p:cNvSpPr>
            <p:nvPr/>
          </p:nvSpPr>
          <p:spPr bwMode="auto">
            <a:xfrm>
              <a:off x="2789" y="1797"/>
              <a:ext cx="4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426" name="Line 83"/>
            <p:cNvSpPr>
              <a:spLocks noChangeShapeType="1"/>
            </p:cNvSpPr>
            <p:nvPr/>
          </p:nvSpPr>
          <p:spPr bwMode="auto">
            <a:xfrm>
              <a:off x="2789" y="2024"/>
              <a:ext cx="4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427" name="Line 84"/>
            <p:cNvSpPr>
              <a:spLocks noChangeShapeType="1"/>
            </p:cNvSpPr>
            <p:nvPr/>
          </p:nvSpPr>
          <p:spPr bwMode="auto">
            <a:xfrm>
              <a:off x="2789" y="2205"/>
              <a:ext cx="4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sp>
        <p:nvSpPr>
          <p:cNvPr id="14350" name="Text Box 85"/>
          <p:cNvSpPr txBox="1">
            <a:spLocks noChangeArrowheads="1"/>
          </p:cNvSpPr>
          <p:nvPr/>
        </p:nvSpPr>
        <p:spPr bwMode="auto">
          <a:xfrm>
            <a:off x="431800" y="1062038"/>
            <a:ext cx="3190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latin typeface="Arial Narrow" panose="020B0606020202030204" pitchFamily="34" charset="0"/>
              </a:rPr>
              <a:t>Bobine à N spires traversée par  </a:t>
            </a:r>
            <a:r>
              <a:rPr lang="en-US" altLang="fr-FR" sz="1800" b="1" i="1">
                <a:latin typeface="Arial Narrow" panose="020B0606020202030204" pitchFamily="34" charset="0"/>
              </a:rPr>
              <a:t>i</a:t>
            </a:r>
          </a:p>
        </p:txBody>
      </p:sp>
      <p:sp>
        <p:nvSpPr>
          <p:cNvPr id="58454" name="Text Box 86"/>
          <p:cNvSpPr txBox="1">
            <a:spLocks noChangeArrowheads="1"/>
          </p:cNvSpPr>
          <p:nvPr/>
        </p:nvSpPr>
        <p:spPr bwMode="auto">
          <a:xfrm>
            <a:off x="5724525" y="1101725"/>
            <a:ext cx="28733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latin typeface="Arial Narrow" panose="020B0606020202030204" pitchFamily="34" charset="0"/>
              </a:rPr>
              <a:t>Perméabilité du fer &gt;&gt; </a:t>
            </a:r>
            <a:r>
              <a:rPr lang="en-US" altLang="fr-FR" sz="1800" b="1">
                <a:latin typeface="Arial Narrow" panose="020B0606020202030204" pitchFamily="34" charset="0"/>
                <a:sym typeface="Symbol" panose="05050102010706020507" pitchFamily="18" charset="2"/>
              </a:rPr>
              <a:t></a:t>
            </a:r>
            <a:r>
              <a:rPr lang="en-US" altLang="fr-FR" sz="1800" b="1" baseline="-25000">
                <a:latin typeface="Arial Narrow" panose="020B0606020202030204" pitchFamily="34" charset="0"/>
                <a:sym typeface="Symbol" panose="05050102010706020507" pitchFamily="18" charset="2"/>
              </a:rPr>
              <a:t>o</a:t>
            </a:r>
          </a:p>
          <a:p>
            <a:pPr eaLnBrk="1" hangingPunct="1">
              <a:spcBef>
                <a:spcPct val="0"/>
              </a:spcBef>
              <a:buClrTx/>
              <a:buSzTx/>
              <a:buFontTx/>
              <a:buNone/>
            </a:pPr>
            <a:r>
              <a:rPr lang="en-US" altLang="fr-FR" sz="1800" b="1" baseline="-25000">
                <a:latin typeface="Arial Narrow" panose="020B0606020202030204" pitchFamily="34" charset="0"/>
                <a:sym typeface="Symbol" panose="05050102010706020507" pitchFamily="18" charset="2"/>
              </a:rPr>
              <a:t>   </a:t>
            </a:r>
            <a:r>
              <a:rPr lang="en-US" altLang="fr-FR" sz="1800" b="1">
                <a:latin typeface="Arial Narrow" panose="020B0606020202030204" pitchFamily="34" charset="0"/>
                <a:cs typeface="Times New Roman" panose="02020603050405020304" pitchFamily="18" charset="0"/>
                <a:sym typeface="Symbol" panose="05050102010706020507" pitchFamily="18" charset="2"/>
              </a:rPr>
              <a:t>→ toute la chute de la FMM</a:t>
            </a:r>
          </a:p>
          <a:p>
            <a:pPr eaLnBrk="1" hangingPunct="1">
              <a:spcBef>
                <a:spcPct val="0"/>
              </a:spcBef>
              <a:buClrTx/>
              <a:buSzTx/>
              <a:buFontTx/>
              <a:buNone/>
            </a:pPr>
            <a:r>
              <a:rPr lang="en-US" altLang="fr-FR" sz="1800" b="1">
                <a:latin typeface="Arial Narrow" panose="020B0606020202030204" pitchFamily="34" charset="0"/>
                <a:cs typeface="Times New Roman" panose="02020603050405020304" pitchFamily="18" charset="0"/>
                <a:sym typeface="Symbol" panose="05050102010706020507" pitchFamily="18" charset="2"/>
              </a:rPr>
              <a:t>       </a:t>
            </a:r>
            <a:r>
              <a:rPr lang="en-US" altLang="fr-FR" sz="1800" b="1">
                <a:latin typeface="Arial Narrow" panose="020B0606020202030204" pitchFamily="34" charset="0"/>
                <a:sym typeface="Symbol" panose="05050102010706020507" pitchFamily="18" charset="2"/>
              </a:rPr>
              <a:t>apparaît dans l’entrefer</a:t>
            </a:r>
          </a:p>
        </p:txBody>
      </p:sp>
      <p:grpSp>
        <p:nvGrpSpPr>
          <p:cNvPr id="7" name="Group 174"/>
          <p:cNvGrpSpPr>
            <a:grpSpLocks/>
          </p:cNvGrpSpPr>
          <p:nvPr/>
        </p:nvGrpSpPr>
        <p:grpSpPr bwMode="auto">
          <a:xfrm>
            <a:off x="4392613" y="1952625"/>
            <a:ext cx="2627312" cy="755650"/>
            <a:chOff x="2767" y="1230"/>
            <a:chExt cx="1655" cy="476"/>
          </a:xfrm>
        </p:grpSpPr>
        <p:sp>
          <p:nvSpPr>
            <p:cNvPr id="14413" name="Line 132"/>
            <p:cNvSpPr>
              <a:spLocks noChangeShapeType="1"/>
            </p:cNvSpPr>
            <p:nvPr/>
          </p:nvSpPr>
          <p:spPr bwMode="auto">
            <a:xfrm>
              <a:off x="2767" y="1706"/>
              <a:ext cx="1655" cy="0"/>
            </a:xfrm>
            <a:prstGeom prst="line">
              <a:avLst/>
            </a:prstGeom>
            <a:noFill/>
            <a:ln w="2857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fr-FR"/>
            </a:p>
          </p:txBody>
        </p:sp>
        <p:sp>
          <p:nvSpPr>
            <p:cNvPr id="14414" name="Freeform 136"/>
            <p:cNvSpPr>
              <a:spLocks/>
            </p:cNvSpPr>
            <p:nvPr/>
          </p:nvSpPr>
          <p:spPr bwMode="auto">
            <a:xfrm>
              <a:off x="4014" y="1389"/>
              <a:ext cx="99" cy="295"/>
            </a:xfrm>
            <a:custGeom>
              <a:avLst/>
              <a:gdLst>
                <a:gd name="T0" fmla="*/ 91 w 99"/>
                <a:gd name="T1" fmla="*/ 295 h 295"/>
                <a:gd name="T2" fmla="*/ 91 w 99"/>
                <a:gd name="T3" fmla="*/ 181 h 295"/>
                <a:gd name="T4" fmla="*/ 45 w 99"/>
                <a:gd name="T5" fmla="*/ 45 h 295"/>
                <a:gd name="T6" fmla="*/ 0 w 99"/>
                <a:gd name="T7" fmla="*/ 0 h 295"/>
                <a:gd name="T8" fmla="*/ 0 60000 65536"/>
                <a:gd name="T9" fmla="*/ 0 60000 65536"/>
                <a:gd name="T10" fmla="*/ 0 60000 65536"/>
                <a:gd name="T11" fmla="*/ 0 60000 65536"/>
                <a:gd name="T12" fmla="*/ 0 w 99"/>
                <a:gd name="T13" fmla="*/ 0 h 295"/>
                <a:gd name="T14" fmla="*/ 99 w 99"/>
                <a:gd name="T15" fmla="*/ 295 h 295"/>
              </a:gdLst>
              <a:ahLst/>
              <a:cxnLst>
                <a:cxn ang="T8">
                  <a:pos x="T0" y="T1"/>
                </a:cxn>
                <a:cxn ang="T9">
                  <a:pos x="T2" y="T3"/>
                </a:cxn>
                <a:cxn ang="T10">
                  <a:pos x="T4" y="T5"/>
                </a:cxn>
                <a:cxn ang="T11">
                  <a:pos x="T6" y="T7"/>
                </a:cxn>
              </a:cxnLst>
              <a:rect l="T12" t="T13" r="T14" b="T15"/>
              <a:pathLst>
                <a:path w="99" h="295">
                  <a:moveTo>
                    <a:pt x="91" y="295"/>
                  </a:moveTo>
                  <a:cubicBezTo>
                    <a:pt x="95" y="259"/>
                    <a:pt x="99" y="223"/>
                    <a:pt x="91" y="181"/>
                  </a:cubicBezTo>
                  <a:cubicBezTo>
                    <a:pt x="83" y="139"/>
                    <a:pt x="60" y="75"/>
                    <a:pt x="45" y="45"/>
                  </a:cubicBezTo>
                  <a:cubicBezTo>
                    <a:pt x="30" y="15"/>
                    <a:pt x="15" y="7"/>
                    <a:pt x="0" y="0"/>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415" name="Text Box 137"/>
            <p:cNvSpPr txBox="1">
              <a:spLocks noChangeArrowheads="1"/>
            </p:cNvSpPr>
            <p:nvPr/>
          </p:nvSpPr>
          <p:spPr bwMode="auto">
            <a:xfrm>
              <a:off x="4037" y="1230"/>
              <a:ext cx="17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a:latin typeface="Arial Narrow" panose="020B0606020202030204" pitchFamily="34" charset="0"/>
                  <a:sym typeface="Symbol" panose="05050102010706020507" pitchFamily="18" charset="2"/>
                </a:rPr>
                <a:t></a:t>
              </a:r>
            </a:p>
          </p:txBody>
        </p:sp>
      </p:grpSp>
      <p:grpSp>
        <p:nvGrpSpPr>
          <p:cNvPr id="8" name="Group 175"/>
          <p:cNvGrpSpPr>
            <a:grpSpLocks/>
          </p:cNvGrpSpPr>
          <p:nvPr/>
        </p:nvGrpSpPr>
        <p:grpSpPr bwMode="auto">
          <a:xfrm>
            <a:off x="1150938" y="4400550"/>
            <a:ext cx="6829425" cy="2052638"/>
            <a:chOff x="725" y="2772"/>
            <a:chExt cx="4302" cy="1293"/>
          </a:xfrm>
        </p:grpSpPr>
        <p:sp>
          <p:nvSpPr>
            <p:cNvPr id="14360" name="Rectangle 87"/>
            <p:cNvSpPr>
              <a:spLocks noChangeArrowheads="1"/>
            </p:cNvSpPr>
            <p:nvPr/>
          </p:nvSpPr>
          <p:spPr bwMode="auto">
            <a:xfrm>
              <a:off x="1224" y="3793"/>
              <a:ext cx="3765" cy="272"/>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361" name="Line 88"/>
            <p:cNvSpPr>
              <a:spLocks noChangeShapeType="1"/>
            </p:cNvSpPr>
            <p:nvPr/>
          </p:nvSpPr>
          <p:spPr bwMode="auto">
            <a:xfrm>
              <a:off x="1246" y="3793"/>
              <a:ext cx="367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362" name="Line 89"/>
            <p:cNvSpPr>
              <a:spLocks noChangeShapeType="1"/>
            </p:cNvSpPr>
            <p:nvPr/>
          </p:nvSpPr>
          <p:spPr bwMode="auto">
            <a:xfrm>
              <a:off x="1246" y="4065"/>
              <a:ext cx="367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nvGrpSpPr>
            <p:cNvPr id="14363" name="Group 107"/>
            <p:cNvGrpSpPr>
              <a:grpSpLocks/>
            </p:cNvGrpSpPr>
            <p:nvPr/>
          </p:nvGrpSpPr>
          <p:grpSpPr bwMode="auto">
            <a:xfrm>
              <a:off x="3447" y="3760"/>
              <a:ext cx="144" cy="192"/>
              <a:chOff x="1360" y="2931"/>
              <a:chExt cx="144" cy="192"/>
            </a:xfrm>
          </p:grpSpPr>
          <p:grpSp>
            <p:nvGrpSpPr>
              <p:cNvPr id="14408" name="Group 90"/>
              <p:cNvGrpSpPr>
                <a:grpSpLocks/>
              </p:cNvGrpSpPr>
              <p:nvPr/>
            </p:nvGrpSpPr>
            <p:grpSpPr bwMode="auto">
              <a:xfrm>
                <a:off x="1360" y="2931"/>
                <a:ext cx="144" cy="192"/>
                <a:chOff x="4128" y="1488"/>
                <a:chExt cx="144" cy="192"/>
              </a:xfrm>
            </p:grpSpPr>
            <p:sp>
              <p:nvSpPr>
                <p:cNvPr id="14410" name="Rectangle 91"/>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11" name="Rectangle 92"/>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12" name="Oval 93"/>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4409" name="Oval 97"/>
              <p:cNvSpPr>
                <a:spLocks noChangeArrowheads="1"/>
              </p:cNvSpPr>
              <p:nvPr/>
            </p:nvSpPr>
            <p:spPr bwMode="auto">
              <a:xfrm flipH="1" flipV="1">
                <a:off x="1416" y="3040"/>
                <a:ext cx="23" cy="23"/>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4364" name="Group 106"/>
            <p:cNvGrpSpPr>
              <a:grpSpLocks/>
            </p:cNvGrpSpPr>
            <p:nvPr/>
          </p:nvGrpSpPr>
          <p:grpSpPr bwMode="auto">
            <a:xfrm>
              <a:off x="2192" y="3747"/>
              <a:ext cx="144" cy="192"/>
              <a:chOff x="2008" y="2981"/>
              <a:chExt cx="144" cy="192"/>
            </a:xfrm>
          </p:grpSpPr>
          <p:grpSp>
            <p:nvGrpSpPr>
              <p:cNvPr id="14401" name="Group 98"/>
              <p:cNvGrpSpPr>
                <a:grpSpLocks/>
              </p:cNvGrpSpPr>
              <p:nvPr/>
            </p:nvGrpSpPr>
            <p:grpSpPr bwMode="auto">
              <a:xfrm>
                <a:off x="2008" y="2981"/>
                <a:ext cx="144" cy="192"/>
                <a:chOff x="4128" y="1488"/>
                <a:chExt cx="144" cy="192"/>
              </a:xfrm>
            </p:grpSpPr>
            <p:sp>
              <p:nvSpPr>
                <p:cNvPr id="14405" name="Rectangle 99"/>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06" name="Rectangle 100"/>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07" name="Oval 101"/>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4402" name="Group 103"/>
              <p:cNvGrpSpPr>
                <a:grpSpLocks/>
              </p:cNvGrpSpPr>
              <p:nvPr/>
            </p:nvGrpSpPr>
            <p:grpSpPr bwMode="auto">
              <a:xfrm>
                <a:off x="2057" y="3084"/>
                <a:ext cx="45" cy="46"/>
                <a:chOff x="1247" y="1933"/>
                <a:chExt cx="45" cy="46"/>
              </a:xfrm>
            </p:grpSpPr>
            <p:sp>
              <p:nvSpPr>
                <p:cNvPr id="14403" name="Line 104"/>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404" name="Line 105"/>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sp>
          <p:nvSpPr>
            <p:cNvPr id="14365" name="Line 109"/>
            <p:cNvSpPr>
              <a:spLocks noChangeShapeType="1"/>
            </p:cNvSpPr>
            <p:nvPr/>
          </p:nvSpPr>
          <p:spPr bwMode="auto">
            <a:xfrm flipV="1">
              <a:off x="2880" y="2772"/>
              <a:ext cx="0" cy="93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366" name="Line 110"/>
            <p:cNvSpPr>
              <a:spLocks noChangeShapeType="1"/>
            </p:cNvSpPr>
            <p:nvPr/>
          </p:nvSpPr>
          <p:spPr bwMode="auto">
            <a:xfrm>
              <a:off x="1270" y="3226"/>
              <a:ext cx="360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367" name="Line 112"/>
            <p:cNvSpPr>
              <a:spLocks noChangeShapeType="1"/>
            </p:cNvSpPr>
            <p:nvPr/>
          </p:nvSpPr>
          <p:spPr bwMode="auto">
            <a:xfrm>
              <a:off x="2245" y="2954"/>
              <a:ext cx="127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368" name="Line 113"/>
            <p:cNvSpPr>
              <a:spLocks noChangeAspect="1" noChangeShapeType="1"/>
            </p:cNvSpPr>
            <p:nvPr/>
          </p:nvSpPr>
          <p:spPr bwMode="auto">
            <a:xfrm>
              <a:off x="2245" y="2954"/>
              <a:ext cx="0" cy="56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369" name="Line 114"/>
            <p:cNvSpPr>
              <a:spLocks noChangeAspect="1" noChangeShapeType="1"/>
            </p:cNvSpPr>
            <p:nvPr/>
          </p:nvSpPr>
          <p:spPr bwMode="auto">
            <a:xfrm>
              <a:off x="3515" y="2954"/>
              <a:ext cx="0" cy="5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370" name="Line 115"/>
            <p:cNvSpPr>
              <a:spLocks noChangeShapeType="1"/>
            </p:cNvSpPr>
            <p:nvPr/>
          </p:nvSpPr>
          <p:spPr bwMode="auto">
            <a:xfrm>
              <a:off x="1315" y="3521"/>
              <a:ext cx="93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371" name="Line 116"/>
            <p:cNvSpPr>
              <a:spLocks noChangeShapeType="1"/>
            </p:cNvSpPr>
            <p:nvPr/>
          </p:nvSpPr>
          <p:spPr bwMode="auto">
            <a:xfrm>
              <a:off x="3515" y="3498"/>
              <a:ext cx="127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nvGrpSpPr>
            <p:cNvPr id="14372" name="Group 123"/>
            <p:cNvGrpSpPr>
              <a:grpSpLocks/>
            </p:cNvGrpSpPr>
            <p:nvPr/>
          </p:nvGrpSpPr>
          <p:grpSpPr bwMode="auto">
            <a:xfrm>
              <a:off x="4717" y="3748"/>
              <a:ext cx="144" cy="192"/>
              <a:chOff x="2008" y="2981"/>
              <a:chExt cx="144" cy="192"/>
            </a:xfrm>
          </p:grpSpPr>
          <p:grpSp>
            <p:nvGrpSpPr>
              <p:cNvPr id="14394" name="Group 124"/>
              <p:cNvGrpSpPr>
                <a:grpSpLocks/>
              </p:cNvGrpSpPr>
              <p:nvPr/>
            </p:nvGrpSpPr>
            <p:grpSpPr bwMode="auto">
              <a:xfrm>
                <a:off x="2008" y="2981"/>
                <a:ext cx="144" cy="192"/>
                <a:chOff x="4128" y="1488"/>
                <a:chExt cx="144" cy="192"/>
              </a:xfrm>
            </p:grpSpPr>
            <p:sp>
              <p:nvSpPr>
                <p:cNvPr id="14398" name="Rectangle 125"/>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399" name="Rectangle 126"/>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00" name="Oval 127"/>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4395" name="Group 128"/>
              <p:cNvGrpSpPr>
                <a:grpSpLocks/>
              </p:cNvGrpSpPr>
              <p:nvPr/>
            </p:nvGrpSpPr>
            <p:grpSpPr bwMode="auto">
              <a:xfrm>
                <a:off x="2057" y="3084"/>
                <a:ext cx="45" cy="46"/>
                <a:chOff x="1247" y="1933"/>
                <a:chExt cx="45" cy="46"/>
              </a:xfrm>
            </p:grpSpPr>
            <p:sp>
              <p:nvSpPr>
                <p:cNvPr id="14396" name="Line 129"/>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397" name="Line 130"/>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sp>
          <p:nvSpPr>
            <p:cNvPr id="14373" name="Line 131"/>
            <p:cNvSpPr>
              <a:spLocks noChangeAspect="1" noChangeShapeType="1"/>
            </p:cNvSpPr>
            <p:nvPr/>
          </p:nvSpPr>
          <p:spPr bwMode="auto">
            <a:xfrm>
              <a:off x="4785" y="2931"/>
              <a:ext cx="0" cy="5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374" name="Text Box 138"/>
            <p:cNvSpPr txBox="1">
              <a:spLocks noChangeArrowheads="1"/>
            </p:cNvSpPr>
            <p:nvPr/>
          </p:nvSpPr>
          <p:spPr bwMode="auto">
            <a:xfrm>
              <a:off x="4853" y="3181"/>
              <a:ext cx="17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a:latin typeface="Arial Narrow" panose="020B0606020202030204" pitchFamily="34" charset="0"/>
                  <a:sym typeface="Symbol" panose="05050102010706020507" pitchFamily="18" charset="2"/>
                </a:rPr>
                <a:t></a:t>
              </a:r>
            </a:p>
          </p:txBody>
        </p:sp>
        <p:sp>
          <p:nvSpPr>
            <p:cNvPr id="14375" name="Text Box 139"/>
            <p:cNvSpPr txBox="1">
              <a:spLocks noChangeArrowheads="1"/>
            </p:cNvSpPr>
            <p:nvPr/>
          </p:nvSpPr>
          <p:spPr bwMode="auto">
            <a:xfrm>
              <a:off x="4032" y="3158"/>
              <a:ext cx="1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a:t>
              </a:r>
            </a:p>
          </p:txBody>
        </p:sp>
        <p:sp>
          <p:nvSpPr>
            <p:cNvPr id="14376" name="Text Box 140"/>
            <p:cNvSpPr txBox="1">
              <a:spLocks noChangeArrowheads="1"/>
            </p:cNvSpPr>
            <p:nvPr/>
          </p:nvSpPr>
          <p:spPr bwMode="auto">
            <a:xfrm>
              <a:off x="3379" y="3181"/>
              <a:ext cx="2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/2</a:t>
              </a:r>
            </a:p>
          </p:txBody>
        </p:sp>
        <p:sp>
          <p:nvSpPr>
            <p:cNvPr id="14377" name="Text Box 141"/>
            <p:cNvSpPr txBox="1">
              <a:spLocks noChangeArrowheads="1"/>
            </p:cNvSpPr>
            <p:nvPr/>
          </p:nvSpPr>
          <p:spPr bwMode="auto">
            <a:xfrm>
              <a:off x="2104" y="3203"/>
              <a:ext cx="32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-/2</a:t>
              </a:r>
            </a:p>
          </p:txBody>
        </p:sp>
        <p:sp>
          <p:nvSpPr>
            <p:cNvPr id="14378" name="Text Box 142"/>
            <p:cNvSpPr txBox="1">
              <a:spLocks noChangeArrowheads="1"/>
            </p:cNvSpPr>
            <p:nvPr/>
          </p:nvSpPr>
          <p:spPr bwMode="auto">
            <a:xfrm>
              <a:off x="1451" y="3181"/>
              <a:ext cx="22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a:t>
              </a:r>
            </a:p>
          </p:txBody>
        </p:sp>
        <p:grpSp>
          <p:nvGrpSpPr>
            <p:cNvPr id="14379" name="Group 166"/>
            <p:cNvGrpSpPr>
              <a:grpSpLocks/>
            </p:cNvGrpSpPr>
            <p:nvPr/>
          </p:nvGrpSpPr>
          <p:grpSpPr bwMode="auto">
            <a:xfrm>
              <a:off x="725" y="2818"/>
              <a:ext cx="4060" cy="839"/>
              <a:chOff x="725" y="2818"/>
              <a:chExt cx="4060" cy="839"/>
            </a:xfrm>
          </p:grpSpPr>
          <p:grpSp>
            <p:nvGrpSpPr>
              <p:cNvPr id="14384" name="Group 158"/>
              <p:cNvGrpSpPr>
                <a:grpSpLocks/>
              </p:cNvGrpSpPr>
              <p:nvPr/>
            </p:nvGrpSpPr>
            <p:grpSpPr bwMode="auto">
              <a:xfrm>
                <a:off x="2245" y="2886"/>
                <a:ext cx="1270" cy="340"/>
                <a:chOff x="250" y="1525"/>
                <a:chExt cx="1224" cy="522"/>
              </a:xfrm>
            </p:grpSpPr>
            <p:sp>
              <p:nvSpPr>
                <p:cNvPr id="14392" name="Freeform 156"/>
                <p:cNvSpPr>
                  <a:spLocks/>
                </p:cNvSpPr>
                <p:nvPr/>
              </p:nvSpPr>
              <p:spPr bwMode="auto">
                <a:xfrm>
                  <a:off x="862"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393" name="Freeform 157"/>
                <p:cNvSpPr>
                  <a:spLocks/>
                </p:cNvSpPr>
                <p:nvPr/>
              </p:nvSpPr>
              <p:spPr bwMode="auto">
                <a:xfrm flipH="1">
                  <a:off x="250"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14385" name="Group 159"/>
              <p:cNvGrpSpPr>
                <a:grpSpLocks/>
              </p:cNvGrpSpPr>
              <p:nvPr/>
            </p:nvGrpSpPr>
            <p:grpSpPr bwMode="auto">
              <a:xfrm flipV="1">
                <a:off x="3515" y="3226"/>
                <a:ext cx="1270" cy="340"/>
                <a:chOff x="250" y="1525"/>
                <a:chExt cx="1224" cy="522"/>
              </a:xfrm>
            </p:grpSpPr>
            <p:sp>
              <p:nvSpPr>
                <p:cNvPr id="14390" name="Freeform 160"/>
                <p:cNvSpPr>
                  <a:spLocks/>
                </p:cNvSpPr>
                <p:nvPr/>
              </p:nvSpPr>
              <p:spPr bwMode="auto">
                <a:xfrm>
                  <a:off x="862"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391" name="Freeform 161"/>
                <p:cNvSpPr>
                  <a:spLocks/>
                </p:cNvSpPr>
                <p:nvPr/>
              </p:nvSpPr>
              <p:spPr bwMode="auto">
                <a:xfrm flipH="1">
                  <a:off x="250"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14386" name="Group 162"/>
              <p:cNvGrpSpPr>
                <a:grpSpLocks/>
              </p:cNvGrpSpPr>
              <p:nvPr/>
            </p:nvGrpSpPr>
            <p:grpSpPr bwMode="auto">
              <a:xfrm flipV="1">
                <a:off x="952" y="3249"/>
                <a:ext cx="1270" cy="340"/>
                <a:chOff x="250" y="1525"/>
                <a:chExt cx="1224" cy="522"/>
              </a:xfrm>
            </p:grpSpPr>
            <p:sp>
              <p:nvSpPr>
                <p:cNvPr id="14388" name="Freeform 163"/>
                <p:cNvSpPr>
                  <a:spLocks/>
                </p:cNvSpPr>
                <p:nvPr/>
              </p:nvSpPr>
              <p:spPr bwMode="auto">
                <a:xfrm>
                  <a:off x="862"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389" name="Freeform 164"/>
                <p:cNvSpPr>
                  <a:spLocks/>
                </p:cNvSpPr>
                <p:nvPr/>
              </p:nvSpPr>
              <p:spPr bwMode="auto">
                <a:xfrm flipH="1">
                  <a:off x="250"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sp>
            <p:nvSpPr>
              <p:cNvPr id="14387" name="Rectangle 165"/>
              <p:cNvSpPr>
                <a:spLocks noChangeArrowheads="1"/>
              </p:cNvSpPr>
              <p:nvPr/>
            </p:nvSpPr>
            <p:spPr bwMode="auto">
              <a:xfrm>
                <a:off x="725" y="2818"/>
                <a:ext cx="590" cy="839"/>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4380" name="Text Box 168"/>
            <p:cNvSpPr txBox="1">
              <a:spLocks noChangeArrowheads="1"/>
            </p:cNvSpPr>
            <p:nvPr/>
          </p:nvSpPr>
          <p:spPr bwMode="auto">
            <a:xfrm>
              <a:off x="816" y="2818"/>
              <a:ext cx="36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rPr>
                <a:t>N</a:t>
              </a:r>
              <a:r>
                <a:rPr lang="en-US" altLang="fr-FR" sz="1600" i="1">
                  <a:latin typeface="Arial Narrow" panose="020B0606020202030204" pitchFamily="34" charset="0"/>
                </a:rPr>
                <a:t>i</a:t>
              </a:r>
              <a:r>
                <a:rPr lang="en-US" altLang="fr-FR" sz="1600">
                  <a:latin typeface="Arial Narrow" panose="020B0606020202030204" pitchFamily="34" charset="0"/>
                </a:rPr>
                <a:t> / 2</a:t>
              </a:r>
            </a:p>
          </p:txBody>
        </p:sp>
        <p:sp>
          <p:nvSpPr>
            <p:cNvPr id="14381" name="Text Box 170"/>
            <p:cNvSpPr txBox="1">
              <a:spLocks noChangeArrowheads="1"/>
            </p:cNvSpPr>
            <p:nvPr/>
          </p:nvSpPr>
          <p:spPr bwMode="auto">
            <a:xfrm>
              <a:off x="793" y="3385"/>
              <a:ext cx="39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rPr>
                <a:t>-N</a:t>
              </a:r>
              <a:r>
                <a:rPr lang="en-US" altLang="fr-FR" sz="1600" i="1">
                  <a:latin typeface="Arial Narrow" panose="020B0606020202030204" pitchFamily="34" charset="0"/>
                </a:rPr>
                <a:t>i</a:t>
              </a:r>
              <a:r>
                <a:rPr lang="en-US" altLang="fr-FR" sz="1600">
                  <a:latin typeface="Arial Narrow" panose="020B0606020202030204" pitchFamily="34" charset="0"/>
                </a:rPr>
                <a:t> / 2</a:t>
              </a:r>
            </a:p>
          </p:txBody>
        </p:sp>
        <p:sp>
          <p:nvSpPr>
            <p:cNvPr id="14382" name="Line 171"/>
            <p:cNvSpPr>
              <a:spLocks noChangeShapeType="1"/>
            </p:cNvSpPr>
            <p:nvPr/>
          </p:nvSpPr>
          <p:spPr bwMode="auto">
            <a:xfrm flipH="1">
              <a:off x="1156" y="2954"/>
              <a:ext cx="1066"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4383" name="Line 172"/>
            <p:cNvSpPr>
              <a:spLocks noChangeShapeType="1"/>
            </p:cNvSpPr>
            <p:nvPr/>
          </p:nvSpPr>
          <p:spPr bwMode="auto">
            <a:xfrm flipH="1">
              <a:off x="1156" y="3521"/>
              <a:ext cx="204"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99" name="ZoneTexte 98"/>
          <p:cNvSpPr txBox="1">
            <a:spLocks noChangeArrowheads="1"/>
          </p:cNvSpPr>
          <p:nvPr/>
        </p:nvSpPr>
        <p:spPr bwMode="auto">
          <a:xfrm>
            <a:off x="665163" y="3867150"/>
            <a:ext cx="21542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Répartition spatiale de la FMM</a:t>
            </a:r>
          </a:p>
        </p:txBody>
      </p:sp>
      <p:sp>
        <p:nvSpPr>
          <p:cNvPr id="14355" name="ZoneTexte 99"/>
          <p:cNvSpPr txBox="1">
            <a:spLocks noChangeArrowheads="1"/>
          </p:cNvSpPr>
          <p:nvPr/>
        </p:nvSpPr>
        <p:spPr bwMode="auto">
          <a:xfrm>
            <a:off x="2819400" y="2406650"/>
            <a:ext cx="5476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Sud</a:t>
            </a:r>
          </a:p>
        </p:txBody>
      </p:sp>
      <p:sp>
        <p:nvSpPr>
          <p:cNvPr id="14356" name="ZoneTexte 100"/>
          <p:cNvSpPr txBox="1">
            <a:spLocks noChangeArrowheads="1"/>
          </p:cNvSpPr>
          <p:nvPr/>
        </p:nvSpPr>
        <p:spPr bwMode="auto">
          <a:xfrm>
            <a:off x="5484813" y="2297113"/>
            <a:ext cx="5476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Nord</a:t>
            </a:r>
          </a:p>
        </p:txBody>
      </p:sp>
      <p:sp>
        <p:nvSpPr>
          <p:cNvPr id="102" name="ZoneTexte 101"/>
          <p:cNvSpPr txBox="1">
            <a:spLocks noChangeArrowheads="1"/>
          </p:cNvSpPr>
          <p:nvPr/>
        </p:nvSpPr>
        <p:spPr bwMode="auto">
          <a:xfrm>
            <a:off x="6507163" y="2698750"/>
            <a:ext cx="21542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Axe de la bobine</a:t>
            </a:r>
          </a:p>
        </p:txBody>
      </p:sp>
      <p:sp>
        <p:nvSpPr>
          <p:cNvPr id="14358" name="Espace réservé du numéro de diapositive 10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75DA2F14-D5DF-456C-B197-6ABFE6A28D9A}" type="slidenum">
              <a:rPr lang="en-US" altLang="fr-FR" sz="1000">
                <a:solidFill>
                  <a:srgbClr val="292929"/>
                </a:solidFill>
                <a:latin typeface="Arial" panose="020B0604020202020204" pitchFamily="34" charset="0"/>
              </a:rPr>
              <a:pPr>
                <a:spcBef>
                  <a:spcPct val="0"/>
                </a:spcBef>
                <a:buClrTx/>
                <a:buSzTx/>
                <a:buFontTx/>
                <a:buNone/>
              </a:pPr>
              <a:t>3</a:t>
            </a:fld>
            <a:endParaRPr lang="en-US" altLang="fr-FR" sz="1000">
              <a:solidFill>
                <a:srgbClr val="292929"/>
              </a:solidFill>
              <a:latin typeface="Arial" panose="020B0604020202020204" pitchFamily="34" charset="0"/>
            </a:endParaRPr>
          </a:p>
        </p:txBody>
      </p:sp>
      <p:sp>
        <p:nvSpPr>
          <p:cNvPr id="103" name="Espace réservé du pied de page 102"/>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2141524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58454"/>
                                        </p:tgtEl>
                                        <p:attrNameLst>
                                          <p:attrName>style.visibility</p:attrName>
                                        </p:attrNameLst>
                                      </p:cBhvr>
                                      <p:to>
                                        <p:strVal val="visible"/>
                                      </p:to>
                                    </p:set>
                                    <p:anim calcmode="lin" valueType="num">
                                      <p:cBhvr>
                                        <p:cTn id="12" dur="500" fill="hold"/>
                                        <p:tgtEl>
                                          <p:spTgt spid="58454"/>
                                        </p:tgtEl>
                                        <p:attrNameLst>
                                          <p:attrName>ppt_w</p:attrName>
                                        </p:attrNameLst>
                                      </p:cBhvr>
                                      <p:tavLst>
                                        <p:tav tm="0">
                                          <p:val>
                                            <p:fltVal val="0"/>
                                          </p:val>
                                        </p:tav>
                                        <p:tav tm="100000">
                                          <p:val>
                                            <p:strVal val="#ppt_w"/>
                                          </p:val>
                                        </p:tav>
                                      </p:tavLst>
                                    </p:anim>
                                    <p:anim calcmode="lin" valueType="num">
                                      <p:cBhvr>
                                        <p:cTn id="13" dur="500" fill="hold"/>
                                        <p:tgtEl>
                                          <p:spTgt spid="58454"/>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102"/>
                                        </p:tgtEl>
                                        <p:attrNameLst>
                                          <p:attrName>style.visibility</p:attrName>
                                        </p:attrNameLst>
                                      </p:cBhvr>
                                      <p:to>
                                        <p:strVal val="visible"/>
                                      </p:to>
                                    </p:set>
                                    <p:animEffect transition="in" filter="checkerboard(across)">
                                      <p:cBhvr>
                                        <p:cTn id="23" dur="500"/>
                                        <p:tgtEl>
                                          <p:spTgt spid="10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99"/>
                                        </p:tgtEl>
                                        <p:attrNameLst>
                                          <p:attrName>style.visibility</p:attrName>
                                        </p:attrNameLst>
                                      </p:cBhvr>
                                      <p:to>
                                        <p:strVal val="visible"/>
                                      </p:to>
                                    </p:set>
                                    <p:animEffect transition="in" filter="checkerboard(across)">
                                      <p:cBhvr>
                                        <p:cTn id="28" dur="500"/>
                                        <p:tgtEl>
                                          <p:spTgt spid="9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54" grpId="0"/>
      <p:bldP spid="99" grpId="0"/>
      <p:bldP spid="10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nvGrpSpPr>
          <p:cNvPr id="16387" name="Group 175"/>
          <p:cNvGrpSpPr>
            <a:grpSpLocks/>
          </p:cNvGrpSpPr>
          <p:nvPr/>
        </p:nvGrpSpPr>
        <p:grpSpPr bwMode="auto">
          <a:xfrm>
            <a:off x="1285875" y="1266825"/>
            <a:ext cx="6829425" cy="2052638"/>
            <a:chOff x="725" y="2772"/>
            <a:chExt cx="4302" cy="1293"/>
          </a:xfrm>
        </p:grpSpPr>
        <p:sp>
          <p:nvSpPr>
            <p:cNvPr id="16392" name="Rectangle 87"/>
            <p:cNvSpPr>
              <a:spLocks noChangeArrowheads="1"/>
            </p:cNvSpPr>
            <p:nvPr/>
          </p:nvSpPr>
          <p:spPr bwMode="auto">
            <a:xfrm>
              <a:off x="1224" y="3793"/>
              <a:ext cx="3765" cy="272"/>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6393" name="Line 88"/>
            <p:cNvSpPr>
              <a:spLocks noChangeShapeType="1"/>
            </p:cNvSpPr>
            <p:nvPr/>
          </p:nvSpPr>
          <p:spPr bwMode="auto">
            <a:xfrm>
              <a:off x="1246" y="3793"/>
              <a:ext cx="367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394" name="Line 89"/>
            <p:cNvSpPr>
              <a:spLocks noChangeShapeType="1"/>
            </p:cNvSpPr>
            <p:nvPr/>
          </p:nvSpPr>
          <p:spPr bwMode="auto">
            <a:xfrm>
              <a:off x="1246" y="4065"/>
              <a:ext cx="367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nvGrpSpPr>
            <p:cNvPr id="16395" name="Group 107"/>
            <p:cNvGrpSpPr>
              <a:grpSpLocks/>
            </p:cNvGrpSpPr>
            <p:nvPr/>
          </p:nvGrpSpPr>
          <p:grpSpPr bwMode="auto">
            <a:xfrm>
              <a:off x="3447" y="3760"/>
              <a:ext cx="144" cy="192"/>
              <a:chOff x="1360" y="2931"/>
              <a:chExt cx="144" cy="192"/>
            </a:xfrm>
          </p:grpSpPr>
          <p:grpSp>
            <p:nvGrpSpPr>
              <p:cNvPr id="16440" name="Group 90"/>
              <p:cNvGrpSpPr>
                <a:grpSpLocks/>
              </p:cNvGrpSpPr>
              <p:nvPr/>
            </p:nvGrpSpPr>
            <p:grpSpPr bwMode="auto">
              <a:xfrm>
                <a:off x="1360" y="2931"/>
                <a:ext cx="144" cy="192"/>
                <a:chOff x="4128" y="1488"/>
                <a:chExt cx="144" cy="192"/>
              </a:xfrm>
            </p:grpSpPr>
            <p:sp>
              <p:nvSpPr>
                <p:cNvPr id="16442" name="Rectangle 91"/>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6443" name="Rectangle 92"/>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6444" name="Oval 93"/>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6441" name="Oval 97"/>
              <p:cNvSpPr>
                <a:spLocks noChangeArrowheads="1"/>
              </p:cNvSpPr>
              <p:nvPr/>
            </p:nvSpPr>
            <p:spPr bwMode="auto">
              <a:xfrm flipH="1" flipV="1">
                <a:off x="1416" y="3040"/>
                <a:ext cx="23" cy="23"/>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6396" name="Group 106"/>
            <p:cNvGrpSpPr>
              <a:grpSpLocks/>
            </p:cNvGrpSpPr>
            <p:nvPr/>
          </p:nvGrpSpPr>
          <p:grpSpPr bwMode="auto">
            <a:xfrm>
              <a:off x="2192" y="3747"/>
              <a:ext cx="144" cy="192"/>
              <a:chOff x="2008" y="2981"/>
              <a:chExt cx="144" cy="192"/>
            </a:xfrm>
          </p:grpSpPr>
          <p:grpSp>
            <p:nvGrpSpPr>
              <p:cNvPr id="16433" name="Group 98"/>
              <p:cNvGrpSpPr>
                <a:grpSpLocks/>
              </p:cNvGrpSpPr>
              <p:nvPr/>
            </p:nvGrpSpPr>
            <p:grpSpPr bwMode="auto">
              <a:xfrm>
                <a:off x="2008" y="2981"/>
                <a:ext cx="144" cy="192"/>
                <a:chOff x="4128" y="1488"/>
                <a:chExt cx="144" cy="192"/>
              </a:xfrm>
            </p:grpSpPr>
            <p:sp>
              <p:nvSpPr>
                <p:cNvPr id="16437" name="Rectangle 99"/>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6438" name="Rectangle 100"/>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6439" name="Oval 101"/>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6434" name="Group 103"/>
              <p:cNvGrpSpPr>
                <a:grpSpLocks/>
              </p:cNvGrpSpPr>
              <p:nvPr/>
            </p:nvGrpSpPr>
            <p:grpSpPr bwMode="auto">
              <a:xfrm>
                <a:off x="2057" y="3084"/>
                <a:ext cx="45" cy="46"/>
                <a:chOff x="1247" y="1933"/>
                <a:chExt cx="45" cy="46"/>
              </a:xfrm>
            </p:grpSpPr>
            <p:sp>
              <p:nvSpPr>
                <p:cNvPr id="16435" name="Line 104"/>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436" name="Line 105"/>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sp>
          <p:nvSpPr>
            <p:cNvPr id="16397" name="Line 109"/>
            <p:cNvSpPr>
              <a:spLocks noChangeShapeType="1"/>
            </p:cNvSpPr>
            <p:nvPr/>
          </p:nvSpPr>
          <p:spPr bwMode="auto">
            <a:xfrm flipV="1">
              <a:off x="2880" y="2772"/>
              <a:ext cx="0" cy="93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6398" name="Line 110"/>
            <p:cNvSpPr>
              <a:spLocks noChangeShapeType="1"/>
            </p:cNvSpPr>
            <p:nvPr/>
          </p:nvSpPr>
          <p:spPr bwMode="auto">
            <a:xfrm>
              <a:off x="1270" y="3226"/>
              <a:ext cx="360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6399" name="Line 112"/>
            <p:cNvSpPr>
              <a:spLocks noChangeShapeType="1"/>
            </p:cNvSpPr>
            <p:nvPr/>
          </p:nvSpPr>
          <p:spPr bwMode="auto">
            <a:xfrm>
              <a:off x="2245" y="2954"/>
              <a:ext cx="127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400" name="Line 113"/>
            <p:cNvSpPr>
              <a:spLocks noChangeAspect="1" noChangeShapeType="1"/>
            </p:cNvSpPr>
            <p:nvPr/>
          </p:nvSpPr>
          <p:spPr bwMode="auto">
            <a:xfrm>
              <a:off x="2245" y="2954"/>
              <a:ext cx="0" cy="56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401" name="Line 114"/>
            <p:cNvSpPr>
              <a:spLocks noChangeAspect="1" noChangeShapeType="1"/>
            </p:cNvSpPr>
            <p:nvPr/>
          </p:nvSpPr>
          <p:spPr bwMode="auto">
            <a:xfrm>
              <a:off x="3515" y="2954"/>
              <a:ext cx="0" cy="5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402" name="Line 115"/>
            <p:cNvSpPr>
              <a:spLocks noChangeShapeType="1"/>
            </p:cNvSpPr>
            <p:nvPr/>
          </p:nvSpPr>
          <p:spPr bwMode="auto">
            <a:xfrm>
              <a:off x="1315" y="3521"/>
              <a:ext cx="93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403" name="Line 116"/>
            <p:cNvSpPr>
              <a:spLocks noChangeShapeType="1"/>
            </p:cNvSpPr>
            <p:nvPr/>
          </p:nvSpPr>
          <p:spPr bwMode="auto">
            <a:xfrm>
              <a:off x="3515" y="3498"/>
              <a:ext cx="127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nvGrpSpPr>
            <p:cNvPr id="16404" name="Group 123"/>
            <p:cNvGrpSpPr>
              <a:grpSpLocks/>
            </p:cNvGrpSpPr>
            <p:nvPr/>
          </p:nvGrpSpPr>
          <p:grpSpPr bwMode="auto">
            <a:xfrm>
              <a:off x="4717" y="3748"/>
              <a:ext cx="144" cy="192"/>
              <a:chOff x="2008" y="2981"/>
              <a:chExt cx="144" cy="192"/>
            </a:xfrm>
          </p:grpSpPr>
          <p:grpSp>
            <p:nvGrpSpPr>
              <p:cNvPr id="16426" name="Group 124"/>
              <p:cNvGrpSpPr>
                <a:grpSpLocks/>
              </p:cNvGrpSpPr>
              <p:nvPr/>
            </p:nvGrpSpPr>
            <p:grpSpPr bwMode="auto">
              <a:xfrm>
                <a:off x="2008" y="2981"/>
                <a:ext cx="144" cy="192"/>
                <a:chOff x="4128" y="1488"/>
                <a:chExt cx="144" cy="192"/>
              </a:xfrm>
            </p:grpSpPr>
            <p:sp>
              <p:nvSpPr>
                <p:cNvPr id="16430" name="Rectangle 125"/>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6431" name="Rectangle 126"/>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6432" name="Oval 127"/>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6427" name="Group 128"/>
              <p:cNvGrpSpPr>
                <a:grpSpLocks/>
              </p:cNvGrpSpPr>
              <p:nvPr/>
            </p:nvGrpSpPr>
            <p:grpSpPr bwMode="auto">
              <a:xfrm>
                <a:off x="2057" y="3084"/>
                <a:ext cx="45" cy="46"/>
                <a:chOff x="1247" y="1933"/>
                <a:chExt cx="45" cy="46"/>
              </a:xfrm>
            </p:grpSpPr>
            <p:sp>
              <p:nvSpPr>
                <p:cNvPr id="16428" name="Line 129"/>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429" name="Line 130"/>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sp>
          <p:nvSpPr>
            <p:cNvPr id="16405" name="Line 131"/>
            <p:cNvSpPr>
              <a:spLocks noChangeAspect="1" noChangeShapeType="1"/>
            </p:cNvSpPr>
            <p:nvPr/>
          </p:nvSpPr>
          <p:spPr bwMode="auto">
            <a:xfrm>
              <a:off x="4785" y="2931"/>
              <a:ext cx="0" cy="5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406" name="Text Box 138"/>
            <p:cNvSpPr txBox="1">
              <a:spLocks noChangeArrowheads="1"/>
            </p:cNvSpPr>
            <p:nvPr/>
          </p:nvSpPr>
          <p:spPr bwMode="auto">
            <a:xfrm>
              <a:off x="4853" y="3181"/>
              <a:ext cx="17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a:latin typeface="Arial Narrow" panose="020B0606020202030204" pitchFamily="34" charset="0"/>
                  <a:sym typeface="Symbol" panose="05050102010706020507" pitchFamily="18" charset="2"/>
                </a:rPr>
                <a:t></a:t>
              </a:r>
            </a:p>
          </p:txBody>
        </p:sp>
        <p:sp>
          <p:nvSpPr>
            <p:cNvPr id="16407" name="Text Box 139"/>
            <p:cNvSpPr txBox="1">
              <a:spLocks noChangeArrowheads="1"/>
            </p:cNvSpPr>
            <p:nvPr/>
          </p:nvSpPr>
          <p:spPr bwMode="auto">
            <a:xfrm>
              <a:off x="4032" y="3158"/>
              <a:ext cx="1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a:t>
              </a:r>
            </a:p>
          </p:txBody>
        </p:sp>
        <p:sp>
          <p:nvSpPr>
            <p:cNvPr id="16408" name="Text Box 140"/>
            <p:cNvSpPr txBox="1">
              <a:spLocks noChangeArrowheads="1"/>
            </p:cNvSpPr>
            <p:nvPr/>
          </p:nvSpPr>
          <p:spPr bwMode="auto">
            <a:xfrm>
              <a:off x="3379" y="3181"/>
              <a:ext cx="2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/2</a:t>
              </a:r>
            </a:p>
          </p:txBody>
        </p:sp>
        <p:sp>
          <p:nvSpPr>
            <p:cNvPr id="16409" name="Text Box 141"/>
            <p:cNvSpPr txBox="1">
              <a:spLocks noChangeArrowheads="1"/>
            </p:cNvSpPr>
            <p:nvPr/>
          </p:nvSpPr>
          <p:spPr bwMode="auto">
            <a:xfrm>
              <a:off x="2104" y="3203"/>
              <a:ext cx="32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-/2</a:t>
              </a:r>
            </a:p>
          </p:txBody>
        </p:sp>
        <p:sp>
          <p:nvSpPr>
            <p:cNvPr id="16410" name="Text Box 142"/>
            <p:cNvSpPr txBox="1">
              <a:spLocks noChangeArrowheads="1"/>
            </p:cNvSpPr>
            <p:nvPr/>
          </p:nvSpPr>
          <p:spPr bwMode="auto">
            <a:xfrm>
              <a:off x="1451" y="3181"/>
              <a:ext cx="22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a:t>
              </a:r>
            </a:p>
          </p:txBody>
        </p:sp>
        <p:grpSp>
          <p:nvGrpSpPr>
            <p:cNvPr id="16411" name="Group 166"/>
            <p:cNvGrpSpPr>
              <a:grpSpLocks/>
            </p:cNvGrpSpPr>
            <p:nvPr/>
          </p:nvGrpSpPr>
          <p:grpSpPr bwMode="auto">
            <a:xfrm>
              <a:off x="725" y="2818"/>
              <a:ext cx="4060" cy="839"/>
              <a:chOff x="725" y="2818"/>
              <a:chExt cx="4060" cy="839"/>
            </a:xfrm>
          </p:grpSpPr>
          <p:grpSp>
            <p:nvGrpSpPr>
              <p:cNvPr id="16416" name="Group 158"/>
              <p:cNvGrpSpPr>
                <a:grpSpLocks/>
              </p:cNvGrpSpPr>
              <p:nvPr/>
            </p:nvGrpSpPr>
            <p:grpSpPr bwMode="auto">
              <a:xfrm>
                <a:off x="2245" y="2886"/>
                <a:ext cx="1270" cy="340"/>
                <a:chOff x="250" y="1525"/>
                <a:chExt cx="1224" cy="522"/>
              </a:xfrm>
            </p:grpSpPr>
            <p:sp>
              <p:nvSpPr>
                <p:cNvPr id="16424" name="Freeform 156"/>
                <p:cNvSpPr>
                  <a:spLocks/>
                </p:cNvSpPr>
                <p:nvPr/>
              </p:nvSpPr>
              <p:spPr bwMode="auto">
                <a:xfrm>
                  <a:off x="862"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6425" name="Freeform 157"/>
                <p:cNvSpPr>
                  <a:spLocks/>
                </p:cNvSpPr>
                <p:nvPr/>
              </p:nvSpPr>
              <p:spPr bwMode="auto">
                <a:xfrm flipH="1">
                  <a:off x="250"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16417" name="Group 159"/>
              <p:cNvGrpSpPr>
                <a:grpSpLocks/>
              </p:cNvGrpSpPr>
              <p:nvPr/>
            </p:nvGrpSpPr>
            <p:grpSpPr bwMode="auto">
              <a:xfrm flipV="1">
                <a:off x="3515" y="3226"/>
                <a:ext cx="1270" cy="340"/>
                <a:chOff x="250" y="1525"/>
                <a:chExt cx="1224" cy="522"/>
              </a:xfrm>
            </p:grpSpPr>
            <p:sp>
              <p:nvSpPr>
                <p:cNvPr id="16422" name="Freeform 160"/>
                <p:cNvSpPr>
                  <a:spLocks/>
                </p:cNvSpPr>
                <p:nvPr/>
              </p:nvSpPr>
              <p:spPr bwMode="auto">
                <a:xfrm>
                  <a:off x="862"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6423" name="Freeform 161"/>
                <p:cNvSpPr>
                  <a:spLocks/>
                </p:cNvSpPr>
                <p:nvPr/>
              </p:nvSpPr>
              <p:spPr bwMode="auto">
                <a:xfrm flipH="1">
                  <a:off x="250"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16418" name="Group 162"/>
              <p:cNvGrpSpPr>
                <a:grpSpLocks/>
              </p:cNvGrpSpPr>
              <p:nvPr/>
            </p:nvGrpSpPr>
            <p:grpSpPr bwMode="auto">
              <a:xfrm flipV="1">
                <a:off x="952" y="3249"/>
                <a:ext cx="1270" cy="340"/>
                <a:chOff x="250" y="1525"/>
                <a:chExt cx="1224" cy="522"/>
              </a:xfrm>
            </p:grpSpPr>
            <p:sp>
              <p:nvSpPr>
                <p:cNvPr id="16420" name="Freeform 163"/>
                <p:cNvSpPr>
                  <a:spLocks/>
                </p:cNvSpPr>
                <p:nvPr/>
              </p:nvSpPr>
              <p:spPr bwMode="auto">
                <a:xfrm>
                  <a:off x="862"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6421" name="Freeform 164"/>
                <p:cNvSpPr>
                  <a:spLocks/>
                </p:cNvSpPr>
                <p:nvPr/>
              </p:nvSpPr>
              <p:spPr bwMode="auto">
                <a:xfrm flipH="1">
                  <a:off x="250"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sp>
            <p:nvSpPr>
              <p:cNvPr id="16419" name="Rectangle 165"/>
              <p:cNvSpPr>
                <a:spLocks noChangeArrowheads="1"/>
              </p:cNvSpPr>
              <p:nvPr/>
            </p:nvSpPr>
            <p:spPr bwMode="auto">
              <a:xfrm>
                <a:off x="725" y="2818"/>
                <a:ext cx="590" cy="839"/>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6412" name="Text Box 168"/>
            <p:cNvSpPr txBox="1">
              <a:spLocks noChangeArrowheads="1"/>
            </p:cNvSpPr>
            <p:nvPr/>
          </p:nvSpPr>
          <p:spPr bwMode="auto">
            <a:xfrm>
              <a:off x="816" y="2818"/>
              <a:ext cx="36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rPr>
                <a:t>N</a:t>
              </a:r>
              <a:r>
                <a:rPr lang="en-US" altLang="fr-FR" sz="1600" i="1">
                  <a:latin typeface="Arial Narrow" panose="020B0606020202030204" pitchFamily="34" charset="0"/>
                </a:rPr>
                <a:t>i</a:t>
              </a:r>
              <a:r>
                <a:rPr lang="en-US" altLang="fr-FR" sz="1600">
                  <a:latin typeface="Arial Narrow" panose="020B0606020202030204" pitchFamily="34" charset="0"/>
                </a:rPr>
                <a:t> / 2</a:t>
              </a:r>
            </a:p>
          </p:txBody>
        </p:sp>
        <p:sp>
          <p:nvSpPr>
            <p:cNvPr id="16413" name="Text Box 170"/>
            <p:cNvSpPr txBox="1">
              <a:spLocks noChangeArrowheads="1"/>
            </p:cNvSpPr>
            <p:nvPr/>
          </p:nvSpPr>
          <p:spPr bwMode="auto">
            <a:xfrm>
              <a:off x="793" y="3385"/>
              <a:ext cx="39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rPr>
                <a:t>-N</a:t>
              </a:r>
              <a:r>
                <a:rPr lang="en-US" altLang="fr-FR" sz="1600" i="1">
                  <a:latin typeface="Arial Narrow" panose="020B0606020202030204" pitchFamily="34" charset="0"/>
                </a:rPr>
                <a:t>i</a:t>
              </a:r>
              <a:r>
                <a:rPr lang="en-US" altLang="fr-FR" sz="1600">
                  <a:latin typeface="Arial Narrow" panose="020B0606020202030204" pitchFamily="34" charset="0"/>
                </a:rPr>
                <a:t> / 2</a:t>
              </a:r>
            </a:p>
          </p:txBody>
        </p:sp>
        <p:sp>
          <p:nvSpPr>
            <p:cNvPr id="16414" name="Line 171"/>
            <p:cNvSpPr>
              <a:spLocks noChangeShapeType="1"/>
            </p:cNvSpPr>
            <p:nvPr/>
          </p:nvSpPr>
          <p:spPr bwMode="auto">
            <a:xfrm flipH="1">
              <a:off x="1156" y="2954"/>
              <a:ext cx="1066"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6415" name="Line 172"/>
            <p:cNvSpPr>
              <a:spLocks noChangeShapeType="1"/>
            </p:cNvSpPr>
            <p:nvPr/>
          </p:nvSpPr>
          <p:spPr bwMode="auto">
            <a:xfrm flipH="1">
              <a:off x="1156" y="3521"/>
              <a:ext cx="204"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16388" name="Rectangle 2"/>
          <p:cNvSpPr txBox="1">
            <a:spLocks noChangeArrowheads="1"/>
          </p:cNvSpPr>
          <p:nvPr/>
        </p:nvSpPr>
        <p:spPr bwMode="auto">
          <a:xfrm>
            <a:off x="2209800" y="22860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19100" indent="-382588">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a:buFontTx/>
              <a:buNone/>
            </a:pPr>
            <a:r>
              <a:rPr lang="en-US" altLang="fr-FR" sz="2400" b="1">
                <a:latin typeface="Arial Narrow" panose="020B0606020202030204" pitchFamily="34" charset="0"/>
              </a:rPr>
              <a:t>Construction </a:t>
            </a:r>
          </a:p>
        </p:txBody>
      </p:sp>
      <p:sp>
        <p:nvSpPr>
          <p:cNvPr id="16389" name="ZoneTexte 59"/>
          <p:cNvSpPr txBox="1">
            <a:spLocks noChangeArrowheads="1"/>
          </p:cNvSpPr>
          <p:nvPr/>
        </p:nvSpPr>
        <p:spPr bwMode="auto">
          <a:xfrm>
            <a:off x="1030288" y="4232275"/>
            <a:ext cx="7375525"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Narrow" panose="020B0606020202030204" pitchFamily="34" charset="0"/>
              </a:rPr>
              <a:t>La décomposition en série de Fourier donne une composante fondamentale:</a:t>
            </a:r>
          </a:p>
          <a:p>
            <a:pPr eaLnBrk="1" hangingPunct="1">
              <a:spcBef>
                <a:spcPct val="0"/>
              </a:spcBef>
              <a:buClrTx/>
              <a:buSzTx/>
              <a:buFontTx/>
              <a:buNone/>
            </a:pPr>
            <a:endParaRPr lang="fr-FR" altLang="fr-FR" sz="2000">
              <a:latin typeface="Arial Narrow" panose="020B0606020202030204" pitchFamily="34" charset="0"/>
            </a:endParaRPr>
          </a:p>
          <a:p>
            <a:pPr eaLnBrk="1" hangingPunct="1">
              <a:spcBef>
                <a:spcPct val="0"/>
              </a:spcBef>
              <a:buClrTx/>
              <a:buSzTx/>
              <a:buFontTx/>
              <a:buNone/>
            </a:pPr>
            <a:r>
              <a:rPr lang="fr-FR" altLang="fr-FR" sz="2400">
                <a:latin typeface="Calibri" panose="020F0502020204030204" pitchFamily="34" charset="0"/>
              </a:rPr>
              <a:t>                                  </a:t>
            </a:r>
            <a:r>
              <a:rPr lang="el-GR" altLang="fr-FR" sz="2400">
                <a:latin typeface="Calibri" panose="020F0502020204030204" pitchFamily="34" charset="0"/>
              </a:rPr>
              <a:t>ε</a:t>
            </a:r>
            <a:r>
              <a:rPr lang="fr-FR" altLang="fr-FR" sz="2400" baseline="-25000">
                <a:latin typeface="Calibri" panose="020F0502020204030204" pitchFamily="34" charset="0"/>
              </a:rPr>
              <a:t>1</a:t>
            </a:r>
            <a:r>
              <a:rPr lang="fr-FR" altLang="fr-FR" sz="2400">
                <a:latin typeface="Calibri" panose="020F0502020204030204" pitchFamily="34" charset="0"/>
              </a:rPr>
              <a:t> = (2/</a:t>
            </a:r>
            <a:r>
              <a:rPr lang="el-GR" altLang="fr-FR" sz="2400">
                <a:latin typeface="Calibri" panose="020F0502020204030204" pitchFamily="34" charset="0"/>
              </a:rPr>
              <a:t>π</a:t>
            </a:r>
            <a:r>
              <a:rPr lang="fr-FR" altLang="fr-FR" sz="2400">
                <a:latin typeface="Calibri" panose="020F0502020204030204" pitchFamily="34" charset="0"/>
              </a:rPr>
              <a:t>).N.</a:t>
            </a:r>
            <a:r>
              <a:rPr lang="fr-FR" altLang="fr-FR" sz="2400" i="1">
                <a:latin typeface="Calibri" panose="020F0502020204030204" pitchFamily="34" charset="0"/>
              </a:rPr>
              <a:t>i</a:t>
            </a:r>
            <a:r>
              <a:rPr lang="fr-FR" altLang="fr-FR" sz="2400">
                <a:latin typeface="Calibri" panose="020F0502020204030204" pitchFamily="34" charset="0"/>
              </a:rPr>
              <a:t>.cos(</a:t>
            </a:r>
            <a:r>
              <a:rPr lang="el-GR" altLang="fr-FR" sz="2400">
                <a:latin typeface="Calibri" panose="020F0502020204030204" pitchFamily="34" charset="0"/>
              </a:rPr>
              <a:t>θ</a:t>
            </a:r>
            <a:r>
              <a:rPr lang="fr-FR" altLang="fr-FR" sz="2400">
                <a:latin typeface="Calibri" panose="020F0502020204030204" pitchFamily="34" charset="0"/>
              </a:rPr>
              <a:t>)</a:t>
            </a:r>
            <a:endParaRPr lang="fr-FR" altLang="fr-FR" sz="2400">
              <a:latin typeface="Arial Narrow" panose="020B0606020202030204" pitchFamily="34" charset="0"/>
            </a:endParaRPr>
          </a:p>
          <a:p>
            <a:pPr eaLnBrk="1" hangingPunct="1">
              <a:spcBef>
                <a:spcPct val="0"/>
              </a:spcBef>
              <a:buClrTx/>
              <a:buSzTx/>
              <a:buFontTx/>
              <a:buNone/>
            </a:pPr>
            <a:endParaRPr lang="fr-FR" altLang="fr-FR" sz="2000">
              <a:latin typeface="Arial Narrow" panose="020B0606020202030204" pitchFamily="34" charset="0"/>
            </a:endParaRPr>
          </a:p>
          <a:p>
            <a:pPr eaLnBrk="1" hangingPunct="1">
              <a:spcBef>
                <a:spcPct val="0"/>
              </a:spcBef>
              <a:buClrTx/>
              <a:buSzTx/>
              <a:buFontTx/>
              <a:buNone/>
            </a:pPr>
            <a:r>
              <a:rPr lang="fr-FR" altLang="fr-FR" sz="2000">
                <a:latin typeface="Arial Narrow" panose="020B0606020202030204" pitchFamily="34" charset="0"/>
              </a:rPr>
              <a:t> </a:t>
            </a:r>
          </a:p>
        </p:txBody>
      </p:sp>
      <p:sp>
        <p:nvSpPr>
          <p:cNvPr id="16390" name="Espace réservé du numéro de diapositive 6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E31068D-D48C-4F9A-88BE-87771C21CC18}" type="slidenum">
              <a:rPr lang="en-US" altLang="fr-FR" sz="1000">
                <a:solidFill>
                  <a:srgbClr val="292929"/>
                </a:solidFill>
                <a:latin typeface="Arial" panose="020B0604020202020204" pitchFamily="34" charset="0"/>
              </a:rPr>
              <a:pPr>
                <a:spcBef>
                  <a:spcPct val="0"/>
                </a:spcBef>
                <a:buClrTx/>
                <a:buSzTx/>
                <a:buFontTx/>
                <a:buNone/>
              </a:pPr>
              <a:t>4</a:t>
            </a:fld>
            <a:endParaRPr lang="en-US" altLang="fr-FR" sz="1000">
              <a:solidFill>
                <a:srgbClr val="292929"/>
              </a:solidFill>
              <a:latin typeface="Arial" panose="020B0604020202020204" pitchFamily="34" charset="0"/>
            </a:endParaRPr>
          </a:p>
        </p:txBody>
      </p:sp>
      <p:sp>
        <p:nvSpPr>
          <p:cNvPr id="62" name="Espace réservé du pied de page 61"/>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6749792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idx="1"/>
          </p:nvPr>
        </p:nvSpPr>
        <p:spPr>
          <a:xfrm>
            <a:off x="2209800" y="228600"/>
            <a:ext cx="4572000" cy="457200"/>
          </a:xfrm>
        </p:spPr>
        <p:txBody>
          <a:bodyPr/>
          <a:lstStyle/>
          <a:p>
            <a:pPr algn="ctr">
              <a:buFontTx/>
              <a:buNone/>
            </a:pPr>
            <a:r>
              <a:rPr lang="en-US" altLang="fr-FR" sz="2400" b="1" smtClean="0">
                <a:latin typeface="Arial Narrow" panose="020B0606020202030204" pitchFamily="34" charset="0"/>
              </a:rPr>
              <a:t>Construction </a:t>
            </a:r>
          </a:p>
        </p:txBody>
      </p:sp>
      <p:sp>
        <p:nvSpPr>
          <p:cNvPr id="18435"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436" name="Oval 4"/>
          <p:cNvSpPr>
            <a:spLocks noChangeAspect="1" noChangeArrowheads="1"/>
          </p:cNvSpPr>
          <p:nvPr/>
        </p:nvSpPr>
        <p:spPr bwMode="auto">
          <a:xfrm>
            <a:off x="2843213" y="1160463"/>
            <a:ext cx="3144837" cy="3097212"/>
          </a:xfrm>
          <a:prstGeom prst="ellipse">
            <a:avLst/>
          </a:prstGeom>
          <a:solidFill>
            <a:srgbClr val="C0C0C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437" name="Oval 5"/>
          <p:cNvSpPr>
            <a:spLocks noChangeAspect="1" noChangeArrowheads="1"/>
          </p:cNvSpPr>
          <p:nvPr/>
        </p:nvSpPr>
        <p:spPr bwMode="auto">
          <a:xfrm>
            <a:off x="3281363" y="1582738"/>
            <a:ext cx="2300287" cy="230505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438" name="Oval 6"/>
          <p:cNvSpPr>
            <a:spLocks noChangeAspect="1" noChangeArrowheads="1"/>
          </p:cNvSpPr>
          <p:nvPr/>
        </p:nvSpPr>
        <p:spPr bwMode="auto">
          <a:xfrm>
            <a:off x="3390900" y="1685925"/>
            <a:ext cx="2090738" cy="2114550"/>
          </a:xfrm>
          <a:prstGeom prst="ellipse">
            <a:avLst/>
          </a:prstGeom>
          <a:solidFill>
            <a:srgbClr val="C0C0C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nvGrpSpPr>
          <p:cNvPr id="18439" name="Group 9"/>
          <p:cNvGrpSpPr>
            <a:grpSpLocks/>
          </p:cNvGrpSpPr>
          <p:nvPr/>
        </p:nvGrpSpPr>
        <p:grpSpPr bwMode="auto">
          <a:xfrm>
            <a:off x="4329113" y="1352550"/>
            <a:ext cx="228600" cy="244475"/>
            <a:chOff x="1776" y="528"/>
            <a:chExt cx="144" cy="154"/>
          </a:xfrm>
        </p:grpSpPr>
        <p:grpSp>
          <p:nvGrpSpPr>
            <p:cNvPr id="18597" name="Group 10"/>
            <p:cNvGrpSpPr>
              <a:grpSpLocks/>
            </p:cNvGrpSpPr>
            <p:nvPr/>
          </p:nvGrpSpPr>
          <p:grpSpPr bwMode="auto">
            <a:xfrm>
              <a:off x="1776" y="528"/>
              <a:ext cx="144" cy="154"/>
              <a:chOff x="2512" y="920"/>
              <a:chExt cx="144" cy="154"/>
            </a:xfrm>
          </p:grpSpPr>
          <p:sp>
            <p:nvSpPr>
              <p:cNvPr id="18599" name="Rectangle 11"/>
              <p:cNvSpPr>
                <a:spLocks noChangeArrowheads="1"/>
              </p:cNvSpPr>
              <p:nvPr/>
            </p:nvSpPr>
            <p:spPr bwMode="auto">
              <a:xfrm>
                <a:off x="2512" y="920"/>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600" name="Rectangle 12"/>
              <p:cNvSpPr>
                <a:spLocks noChangeArrowheads="1"/>
              </p:cNvSpPr>
              <p:nvPr/>
            </p:nvSpPr>
            <p:spPr bwMode="auto">
              <a:xfrm>
                <a:off x="2517" y="100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8598" name="Oval 13"/>
            <p:cNvSpPr>
              <a:spLocks noChangeAspect="1" noChangeArrowheads="1"/>
            </p:cNvSpPr>
            <p:nvPr/>
          </p:nvSpPr>
          <p:spPr bwMode="auto">
            <a:xfrm>
              <a:off x="1815" y="585"/>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440" name="Group 14"/>
          <p:cNvGrpSpPr>
            <a:grpSpLocks/>
          </p:cNvGrpSpPr>
          <p:nvPr/>
        </p:nvGrpSpPr>
        <p:grpSpPr bwMode="auto">
          <a:xfrm>
            <a:off x="4314825" y="3806825"/>
            <a:ext cx="228600" cy="304800"/>
            <a:chOff x="4128" y="1488"/>
            <a:chExt cx="144" cy="192"/>
          </a:xfrm>
        </p:grpSpPr>
        <p:sp>
          <p:nvSpPr>
            <p:cNvPr id="18594" name="Rectangle 15"/>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95" name="Rectangle 16"/>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96" name="Oval 17"/>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8441" name="Oval 18"/>
          <p:cNvSpPr>
            <a:spLocks noChangeArrowheads="1"/>
          </p:cNvSpPr>
          <p:nvPr/>
        </p:nvSpPr>
        <p:spPr bwMode="auto">
          <a:xfrm flipH="1" flipV="1">
            <a:off x="4425950" y="1487488"/>
            <a:ext cx="36513" cy="36512"/>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nvGrpSpPr>
          <p:cNvPr id="18442" name="Group 19"/>
          <p:cNvGrpSpPr>
            <a:grpSpLocks/>
          </p:cNvGrpSpPr>
          <p:nvPr/>
        </p:nvGrpSpPr>
        <p:grpSpPr bwMode="auto">
          <a:xfrm>
            <a:off x="4391025" y="3965575"/>
            <a:ext cx="71438" cy="73025"/>
            <a:chOff x="1247" y="1933"/>
            <a:chExt cx="45" cy="46"/>
          </a:xfrm>
        </p:grpSpPr>
        <p:sp>
          <p:nvSpPr>
            <p:cNvPr id="18592" name="Line 20"/>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593" name="Line 21"/>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18443" name="Text Box 34"/>
          <p:cNvSpPr txBox="1">
            <a:spLocks noChangeArrowheads="1"/>
          </p:cNvSpPr>
          <p:nvPr/>
        </p:nvSpPr>
        <p:spPr bwMode="auto">
          <a:xfrm>
            <a:off x="358775" y="681038"/>
            <a:ext cx="386397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Arial Narrow" panose="020B0606020202030204" pitchFamily="34" charset="0"/>
              </a:rPr>
              <a:t>Enroulement distribué  :</a:t>
            </a:r>
          </a:p>
          <a:p>
            <a:pPr eaLnBrk="1" hangingPunct="1">
              <a:spcBef>
                <a:spcPct val="0"/>
              </a:spcBef>
              <a:buClrTx/>
              <a:buSzTx/>
              <a:buFontTx/>
              <a:buNone/>
            </a:pPr>
            <a:r>
              <a:rPr lang="en-US" altLang="fr-FR" sz="1600" b="1">
                <a:latin typeface="Arial Narrow" panose="020B0606020202030204" pitchFamily="34" charset="0"/>
              </a:rPr>
              <a:t>  – </a:t>
            </a:r>
            <a:r>
              <a:rPr lang="fr-FR" altLang="fr-FR" sz="1600" b="1">
                <a:latin typeface="Arial Narrow" panose="020B0606020202030204" pitchFamily="34" charset="0"/>
              </a:rPr>
              <a:t>bobines réparties dans plusieurs encoches</a:t>
            </a:r>
            <a:endParaRPr lang="en-US" altLang="fr-FR" sz="1600" b="1">
              <a:latin typeface="Arial Narrow" panose="020B0606020202030204" pitchFamily="34" charset="0"/>
            </a:endParaRPr>
          </a:p>
          <a:p>
            <a:pPr eaLnBrk="1" hangingPunct="1">
              <a:spcBef>
                <a:spcPct val="0"/>
              </a:spcBef>
              <a:buClrTx/>
              <a:buSzTx/>
              <a:buFontTx/>
              <a:buNone/>
            </a:pPr>
            <a:endParaRPr lang="en-US" altLang="fr-FR" sz="1600" b="1">
              <a:latin typeface="Arial Narrow" panose="020B0606020202030204" pitchFamily="34" charset="0"/>
            </a:endParaRPr>
          </a:p>
          <a:p>
            <a:pPr eaLnBrk="1" hangingPunct="1">
              <a:spcBef>
                <a:spcPct val="0"/>
              </a:spcBef>
              <a:buClrTx/>
              <a:buSzTx/>
              <a:buFontTx/>
              <a:buNone/>
            </a:pPr>
            <a:r>
              <a:rPr lang="en-US" altLang="fr-FR" sz="1600" b="1">
                <a:latin typeface="Arial Narrow" panose="020B0606020202030204" pitchFamily="34" charset="0"/>
              </a:rPr>
              <a:t>N</a:t>
            </a:r>
            <a:r>
              <a:rPr lang="en-US" altLang="fr-FR" sz="1600" b="1" baseline="-25000">
                <a:latin typeface="Arial Narrow" panose="020B0606020202030204" pitchFamily="34" charset="0"/>
              </a:rPr>
              <a:t>c</a:t>
            </a:r>
            <a:r>
              <a:rPr lang="en-US" altLang="fr-FR" sz="1600" b="1">
                <a:latin typeface="Arial Narrow" panose="020B0606020202030204" pitchFamily="34" charset="0"/>
              </a:rPr>
              <a:t> spires /encoche</a:t>
            </a:r>
          </a:p>
          <a:p>
            <a:pPr eaLnBrk="1" hangingPunct="1">
              <a:spcBef>
                <a:spcPct val="0"/>
              </a:spcBef>
              <a:buClrTx/>
              <a:buSzTx/>
              <a:buFontTx/>
              <a:buNone/>
            </a:pPr>
            <a:endParaRPr lang="en-US" altLang="fr-FR" sz="1600" b="1">
              <a:latin typeface="Arial Narrow" panose="020B0606020202030204" pitchFamily="34" charset="0"/>
            </a:endParaRPr>
          </a:p>
        </p:txBody>
      </p:sp>
      <p:sp>
        <p:nvSpPr>
          <p:cNvPr id="18444" name="Rectangle 36"/>
          <p:cNvSpPr>
            <a:spLocks noChangeArrowheads="1"/>
          </p:cNvSpPr>
          <p:nvPr/>
        </p:nvSpPr>
        <p:spPr bwMode="auto">
          <a:xfrm>
            <a:off x="1943100" y="6021388"/>
            <a:ext cx="5976938" cy="431800"/>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445" name="Line 37"/>
          <p:cNvSpPr>
            <a:spLocks noChangeShapeType="1"/>
          </p:cNvSpPr>
          <p:nvPr/>
        </p:nvSpPr>
        <p:spPr bwMode="auto">
          <a:xfrm>
            <a:off x="1978025" y="6021388"/>
            <a:ext cx="5832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46" name="Line 38"/>
          <p:cNvSpPr>
            <a:spLocks noChangeShapeType="1"/>
          </p:cNvSpPr>
          <p:nvPr/>
        </p:nvSpPr>
        <p:spPr bwMode="auto">
          <a:xfrm>
            <a:off x="1978025" y="6453188"/>
            <a:ext cx="5832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nvGrpSpPr>
          <p:cNvPr id="18447" name="Group 39"/>
          <p:cNvGrpSpPr>
            <a:grpSpLocks/>
          </p:cNvGrpSpPr>
          <p:nvPr/>
        </p:nvGrpSpPr>
        <p:grpSpPr bwMode="auto">
          <a:xfrm>
            <a:off x="5472113" y="5949950"/>
            <a:ext cx="228600" cy="304800"/>
            <a:chOff x="1360" y="2931"/>
            <a:chExt cx="144" cy="192"/>
          </a:xfrm>
        </p:grpSpPr>
        <p:grpSp>
          <p:nvGrpSpPr>
            <p:cNvPr id="18587" name="Group 40"/>
            <p:cNvGrpSpPr>
              <a:grpSpLocks/>
            </p:cNvGrpSpPr>
            <p:nvPr/>
          </p:nvGrpSpPr>
          <p:grpSpPr bwMode="auto">
            <a:xfrm>
              <a:off x="1360" y="2931"/>
              <a:ext cx="144" cy="192"/>
              <a:chOff x="4128" y="1488"/>
              <a:chExt cx="144" cy="192"/>
            </a:xfrm>
          </p:grpSpPr>
          <p:sp>
            <p:nvSpPr>
              <p:cNvPr id="18589" name="Rectangle 41"/>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90" name="Rectangle 42"/>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91" name="Oval 43"/>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8588" name="Oval 44"/>
            <p:cNvSpPr>
              <a:spLocks noChangeArrowheads="1"/>
            </p:cNvSpPr>
            <p:nvPr/>
          </p:nvSpPr>
          <p:spPr bwMode="auto">
            <a:xfrm flipH="1" flipV="1">
              <a:off x="1416" y="3040"/>
              <a:ext cx="23" cy="23"/>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448" name="Group 45"/>
          <p:cNvGrpSpPr>
            <a:grpSpLocks/>
          </p:cNvGrpSpPr>
          <p:nvPr/>
        </p:nvGrpSpPr>
        <p:grpSpPr bwMode="auto">
          <a:xfrm>
            <a:off x="3479800" y="5948363"/>
            <a:ext cx="228600" cy="304800"/>
            <a:chOff x="2008" y="2981"/>
            <a:chExt cx="144" cy="192"/>
          </a:xfrm>
        </p:grpSpPr>
        <p:grpSp>
          <p:nvGrpSpPr>
            <p:cNvPr id="18580" name="Group 46"/>
            <p:cNvGrpSpPr>
              <a:grpSpLocks/>
            </p:cNvGrpSpPr>
            <p:nvPr/>
          </p:nvGrpSpPr>
          <p:grpSpPr bwMode="auto">
            <a:xfrm>
              <a:off x="2008" y="2981"/>
              <a:ext cx="144" cy="192"/>
              <a:chOff x="4128" y="1488"/>
              <a:chExt cx="144" cy="192"/>
            </a:xfrm>
          </p:grpSpPr>
          <p:sp>
            <p:nvSpPr>
              <p:cNvPr id="18584" name="Rectangle 47"/>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85" name="Rectangle 48"/>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86" name="Oval 49"/>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581" name="Group 50"/>
            <p:cNvGrpSpPr>
              <a:grpSpLocks/>
            </p:cNvGrpSpPr>
            <p:nvPr/>
          </p:nvGrpSpPr>
          <p:grpSpPr bwMode="auto">
            <a:xfrm>
              <a:off x="2057" y="3084"/>
              <a:ext cx="45" cy="46"/>
              <a:chOff x="1247" y="1933"/>
              <a:chExt cx="45" cy="46"/>
            </a:xfrm>
          </p:grpSpPr>
          <p:sp>
            <p:nvSpPr>
              <p:cNvPr id="18582" name="Line 51"/>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583" name="Line 52"/>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sp>
        <p:nvSpPr>
          <p:cNvPr id="18449" name="Line 53"/>
          <p:cNvSpPr>
            <a:spLocks noChangeShapeType="1"/>
          </p:cNvSpPr>
          <p:nvPr/>
        </p:nvSpPr>
        <p:spPr bwMode="auto">
          <a:xfrm flipV="1">
            <a:off x="4572000" y="4400550"/>
            <a:ext cx="0" cy="14763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8450" name="Line 54"/>
          <p:cNvSpPr>
            <a:spLocks noChangeShapeType="1"/>
          </p:cNvSpPr>
          <p:nvPr/>
        </p:nvSpPr>
        <p:spPr bwMode="auto">
          <a:xfrm>
            <a:off x="2016125" y="5121275"/>
            <a:ext cx="57245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8451" name="Line 55"/>
          <p:cNvSpPr>
            <a:spLocks noChangeShapeType="1"/>
          </p:cNvSpPr>
          <p:nvPr/>
        </p:nvSpPr>
        <p:spPr bwMode="auto">
          <a:xfrm>
            <a:off x="3995738" y="4689475"/>
            <a:ext cx="11890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52" name="Line 57"/>
          <p:cNvSpPr>
            <a:spLocks noChangeAspect="1" noChangeShapeType="1"/>
          </p:cNvSpPr>
          <p:nvPr/>
        </p:nvSpPr>
        <p:spPr bwMode="auto">
          <a:xfrm>
            <a:off x="5184775" y="4689475"/>
            <a:ext cx="0" cy="2873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53" name="Line 58"/>
          <p:cNvSpPr>
            <a:spLocks noChangeAspect="1" noChangeShapeType="1"/>
          </p:cNvSpPr>
          <p:nvPr/>
        </p:nvSpPr>
        <p:spPr bwMode="auto">
          <a:xfrm>
            <a:off x="5184775" y="4976813"/>
            <a:ext cx="395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nvGrpSpPr>
          <p:cNvPr id="18454" name="Group 60"/>
          <p:cNvGrpSpPr>
            <a:grpSpLocks/>
          </p:cNvGrpSpPr>
          <p:nvPr/>
        </p:nvGrpSpPr>
        <p:grpSpPr bwMode="auto">
          <a:xfrm>
            <a:off x="7488238" y="5949950"/>
            <a:ext cx="228600" cy="304800"/>
            <a:chOff x="2008" y="2981"/>
            <a:chExt cx="144" cy="192"/>
          </a:xfrm>
        </p:grpSpPr>
        <p:grpSp>
          <p:nvGrpSpPr>
            <p:cNvPr id="18573" name="Group 61"/>
            <p:cNvGrpSpPr>
              <a:grpSpLocks/>
            </p:cNvGrpSpPr>
            <p:nvPr/>
          </p:nvGrpSpPr>
          <p:grpSpPr bwMode="auto">
            <a:xfrm>
              <a:off x="2008" y="2981"/>
              <a:ext cx="144" cy="192"/>
              <a:chOff x="4128" y="1488"/>
              <a:chExt cx="144" cy="192"/>
            </a:xfrm>
          </p:grpSpPr>
          <p:sp>
            <p:nvSpPr>
              <p:cNvPr id="18577" name="Rectangle 62"/>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78" name="Rectangle 63"/>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79" name="Oval 64"/>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574" name="Group 65"/>
            <p:cNvGrpSpPr>
              <a:grpSpLocks/>
            </p:cNvGrpSpPr>
            <p:nvPr/>
          </p:nvGrpSpPr>
          <p:grpSpPr bwMode="auto">
            <a:xfrm>
              <a:off x="2057" y="3084"/>
              <a:ext cx="45" cy="46"/>
              <a:chOff x="1247" y="1933"/>
              <a:chExt cx="45" cy="46"/>
            </a:xfrm>
          </p:grpSpPr>
          <p:sp>
            <p:nvSpPr>
              <p:cNvPr id="18575" name="Line 66"/>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576" name="Line 67"/>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grpSp>
        <p:nvGrpSpPr>
          <p:cNvPr id="18455" name="Group 75"/>
          <p:cNvGrpSpPr>
            <a:grpSpLocks/>
          </p:cNvGrpSpPr>
          <p:nvPr/>
        </p:nvGrpSpPr>
        <p:grpSpPr bwMode="auto">
          <a:xfrm rot="987558">
            <a:off x="4811713" y="1455738"/>
            <a:ext cx="228600" cy="244475"/>
            <a:chOff x="1073" y="1395"/>
            <a:chExt cx="144" cy="154"/>
          </a:xfrm>
        </p:grpSpPr>
        <p:grpSp>
          <p:nvGrpSpPr>
            <p:cNvPr id="18567" name="Group 69"/>
            <p:cNvGrpSpPr>
              <a:grpSpLocks/>
            </p:cNvGrpSpPr>
            <p:nvPr/>
          </p:nvGrpSpPr>
          <p:grpSpPr bwMode="auto">
            <a:xfrm>
              <a:off x="1073" y="1395"/>
              <a:ext cx="144" cy="154"/>
              <a:chOff x="1776" y="528"/>
              <a:chExt cx="144" cy="154"/>
            </a:xfrm>
          </p:grpSpPr>
          <p:grpSp>
            <p:nvGrpSpPr>
              <p:cNvPr id="18569" name="Group 70"/>
              <p:cNvGrpSpPr>
                <a:grpSpLocks/>
              </p:cNvGrpSpPr>
              <p:nvPr/>
            </p:nvGrpSpPr>
            <p:grpSpPr bwMode="auto">
              <a:xfrm>
                <a:off x="1776" y="528"/>
                <a:ext cx="144" cy="154"/>
                <a:chOff x="2512" y="920"/>
                <a:chExt cx="144" cy="154"/>
              </a:xfrm>
            </p:grpSpPr>
            <p:sp>
              <p:nvSpPr>
                <p:cNvPr id="18571" name="Rectangle 71"/>
                <p:cNvSpPr>
                  <a:spLocks noChangeArrowheads="1"/>
                </p:cNvSpPr>
                <p:nvPr/>
              </p:nvSpPr>
              <p:spPr bwMode="auto">
                <a:xfrm>
                  <a:off x="2512" y="920"/>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72" name="Rectangle 72"/>
                <p:cNvSpPr>
                  <a:spLocks noChangeArrowheads="1"/>
                </p:cNvSpPr>
                <p:nvPr/>
              </p:nvSpPr>
              <p:spPr bwMode="auto">
                <a:xfrm>
                  <a:off x="2517" y="100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8570" name="Oval 73"/>
              <p:cNvSpPr>
                <a:spLocks noChangeAspect="1" noChangeArrowheads="1"/>
              </p:cNvSpPr>
              <p:nvPr/>
            </p:nvSpPr>
            <p:spPr bwMode="auto">
              <a:xfrm>
                <a:off x="1815" y="585"/>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8568" name="Oval 74"/>
            <p:cNvSpPr>
              <a:spLocks noChangeArrowheads="1"/>
            </p:cNvSpPr>
            <p:nvPr/>
          </p:nvSpPr>
          <p:spPr bwMode="auto">
            <a:xfrm flipH="1" flipV="1">
              <a:off x="1134" y="1480"/>
              <a:ext cx="23" cy="23"/>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456" name="Group 76"/>
          <p:cNvGrpSpPr>
            <a:grpSpLocks/>
          </p:cNvGrpSpPr>
          <p:nvPr/>
        </p:nvGrpSpPr>
        <p:grpSpPr bwMode="auto">
          <a:xfrm rot="-1381149">
            <a:off x="3838575" y="1455738"/>
            <a:ext cx="228600" cy="244475"/>
            <a:chOff x="1073" y="1395"/>
            <a:chExt cx="144" cy="154"/>
          </a:xfrm>
        </p:grpSpPr>
        <p:grpSp>
          <p:nvGrpSpPr>
            <p:cNvPr id="18561" name="Group 77"/>
            <p:cNvGrpSpPr>
              <a:grpSpLocks/>
            </p:cNvGrpSpPr>
            <p:nvPr/>
          </p:nvGrpSpPr>
          <p:grpSpPr bwMode="auto">
            <a:xfrm>
              <a:off x="1073" y="1395"/>
              <a:ext cx="144" cy="154"/>
              <a:chOff x="1776" y="528"/>
              <a:chExt cx="144" cy="154"/>
            </a:xfrm>
          </p:grpSpPr>
          <p:grpSp>
            <p:nvGrpSpPr>
              <p:cNvPr id="18563" name="Group 78"/>
              <p:cNvGrpSpPr>
                <a:grpSpLocks/>
              </p:cNvGrpSpPr>
              <p:nvPr/>
            </p:nvGrpSpPr>
            <p:grpSpPr bwMode="auto">
              <a:xfrm>
                <a:off x="1776" y="528"/>
                <a:ext cx="144" cy="154"/>
                <a:chOff x="2512" y="920"/>
                <a:chExt cx="144" cy="154"/>
              </a:xfrm>
            </p:grpSpPr>
            <p:sp>
              <p:nvSpPr>
                <p:cNvPr id="18565" name="Rectangle 79"/>
                <p:cNvSpPr>
                  <a:spLocks noChangeArrowheads="1"/>
                </p:cNvSpPr>
                <p:nvPr/>
              </p:nvSpPr>
              <p:spPr bwMode="auto">
                <a:xfrm>
                  <a:off x="2512" y="920"/>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66" name="Rectangle 80"/>
                <p:cNvSpPr>
                  <a:spLocks noChangeArrowheads="1"/>
                </p:cNvSpPr>
                <p:nvPr/>
              </p:nvSpPr>
              <p:spPr bwMode="auto">
                <a:xfrm>
                  <a:off x="2517" y="100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8564" name="Oval 81"/>
              <p:cNvSpPr>
                <a:spLocks noChangeAspect="1" noChangeArrowheads="1"/>
              </p:cNvSpPr>
              <p:nvPr/>
            </p:nvSpPr>
            <p:spPr bwMode="auto">
              <a:xfrm>
                <a:off x="1815" y="585"/>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8562" name="Oval 82"/>
            <p:cNvSpPr>
              <a:spLocks noChangeArrowheads="1"/>
            </p:cNvSpPr>
            <p:nvPr/>
          </p:nvSpPr>
          <p:spPr bwMode="auto">
            <a:xfrm flipH="1" flipV="1">
              <a:off x="1134" y="1480"/>
              <a:ext cx="23" cy="23"/>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457" name="Group 84"/>
          <p:cNvGrpSpPr>
            <a:grpSpLocks/>
          </p:cNvGrpSpPr>
          <p:nvPr/>
        </p:nvGrpSpPr>
        <p:grpSpPr bwMode="auto">
          <a:xfrm rot="20612442" flipV="1">
            <a:off x="4775200" y="3760788"/>
            <a:ext cx="228600" cy="244475"/>
            <a:chOff x="1776" y="528"/>
            <a:chExt cx="144" cy="154"/>
          </a:xfrm>
        </p:grpSpPr>
        <p:grpSp>
          <p:nvGrpSpPr>
            <p:cNvPr id="18557" name="Group 85"/>
            <p:cNvGrpSpPr>
              <a:grpSpLocks/>
            </p:cNvGrpSpPr>
            <p:nvPr/>
          </p:nvGrpSpPr>
          <p:grpSpPr bwMode="auto">
            <a:xfrm>
              <a:off x="1776" y="528"/>
              <a:ext cx="144" cy="154"/>
              <a:chOff x="2512" y="920"/>
              <a:chExt cx="144" cy="154"/>
            </a:xfrm>
          </p:grpSpPr>
          <p:sp>
            <p:nvSpPr>
              <p:cNvPr id="18559" name="Rectangle 86"/>
              <p:cNvSpPr>
                <a:spLocks noChangeArrowheads="1"/>
              </p:cNvSpPr>
              <p:nvPr/>
            </p:nvSpPr>
            <p:spPr bwMode="auto">
              <a:xfrm>
                <a:off x="2512" y="920"/>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60" name="Rectangle 87"/>
              <p:cNvSpPr>
                <a:spLocks noChangeArrowheads="1"/>
              </p:cNvSpPr>
              <p:nvPr/>
            </p:nvSpPr>
            <p:spPr bwMode="auto">
              <a:xfrm>
                <a:off x="2517" y="100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8558" name="Oval 88"/>
            <p:cNvSpPr>
              <a:spLocks noChangeAspect="1" noChangeArrowheads="1"/>
            </p:cNvSpPr>
            <p:nvPr/>
          </p:nvSpPr>
          <p:spPr bwMode="auto">
            <a:xfrm>
              <a:off x="1815" y="585"/>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458" name="Group 91"/>
          <p:cNvGrpSpPr>
            <a:grpSpLocks/>
          </p:cNvGrpSpPr>
          <p:nvPr/>
        </p:nvGrpSpPr>
        <p:grpSpPr bwMode="auto">
          <a:xfrm rot="1381149" flipV="1">
            <a:off x="3802063" y="3760788"/>
            <a:ext cx="228600" cy="244475"/>
            <a:chOff x="1776" y="528"/>
            <a:chExt cx="144" cy="154"/>
          </a:xfrm>
        </p:grpSpPr>
        <p:grpSp>
          <p:nvGrpSpPr>
            <p:cNvPr id="18553" name="Group 92"/>
            <p:cNvGrpSpPr>
              <a:grpSpLocks/>
            </p:cNvGrpSpPr>
            <p:nvPr/>
          </p:nvGrpSpPr>
          <p:grpSpPr bwMode="auto">
            <a:xfrm>
              <a:off x="1776" y="528"/>
              <a:ext cx="144" cy="154"/>
              <a:chOff x="2512" y="920"/>
              <a:chExt cx="144" cy="154"/>
            </a:xfrm>
          </p:grpSpPr>
          <p:sp>
            <p:nvSpPr>
              <p:cNvPr id="18555" name="Rectangle 93"/>
              <p:cNvSpPr>
                <a:spLocks noChangeArrowheads="1"/>
              </p:cNvSpPr>
              <p:nvPr/>
            </p:nvSpPr>
            <p:spPr bwMode="auto">
              <a:xfrm>
                <a:off x="2512" y="920"/>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56" name="Rectangle 94"/>
              <p:cNvSpPr>
                <a:spLocks noChangeArrowheads="1"/>
              </p:cNvSpPr>
              <p:nvPr/>
            </p:nvSpPr>
            <p:spPr bwMode="auto">
              <a:xfrm>
                <a:off x="2517" y="100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8554" name="Oval 95"/>
            <p:cNvSpPr>
              <a:spLocks noChangeAspect="1" noChangeArrowheads="1"/>
            </p:cNvSpPr>
            <p:nvPr/>
          </p:nvSpPr>
          <p:spPr bwMode="auto">
            <a:xfrm>
              <a:off x="1815" y="585"/>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459" name="Group 97"/>
          <p:cNvGrpSpPr>
            <a:grpSpLocks/>
          </p:cNvGrpSpPr>
          <p:nvPr/>
        </p:nvGrpSpPr>
        <p:grpSpPr bwMode="auto">
          <a:xfrm>
            <a:off x="4854575" y="3814763"/>
            <a:ext cx="71438" cy="73025"/>
            <a:chOff x="1247" y="1933"/>
            <a:chExt cx="45" cy="46"/>
          </a:xfrm>
        </p:grpSpPr>
        <p:sp>
          <p:nvSpPr>
            <p:cNvPr id="18551" name="Line 98"/>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552" name="Line 99"/>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nvGrpSpPr>
          <p:cNvPr id="18460" name="Group 100"/>
          <p:cNvGrpSpPr>
            <a:grpSpLocks/>
          </p:cNvGrpSpPr>
          <p:nvPr/>
        </p:nvGrpSpPr>
        <p:grpSpPr bwMode="auto">
          <a:xfrm>
            <a:off x="3897313" y="3824288"/>
            <a:ext cx="71437" cy="73025"/>
            <a:chOff x="1247" y="1933"/>
            <a:chExt cx="45" cy="46"/>
          </a:xfrm>
        </p:grpSpPr>
        <p:sp>
          <p:nvSpPr>
            <p:cNvPr id="18549" name="Line 101"/>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550" name="Line 102"/>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18461" name="Line 122"/>
          <p:cNvSpPr>
            <a:spLocks noChangeAspect="1" noChangeShapeType="1"/>
          </p:cNvSpPr>
          <p:nvPr/>
        </p:nvSpPr>
        <p:spPr bwMode="auto">
          <a:xfrm>
            <a:off x="5580063" y="4976813"/>
            <a:ext cx="0" cy="3238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62" name="Line 123"/>
          <p:cNvSpPr>
            <a:spLocks noChangeAspect="1" noChangeShapeType="1"/>
          </p:cNvSpPr>
          <p:nvPr/>
        </p:nvSpPr>
        <p:spPr bwMode="auto">
          <a:xfrm>
            <a:off x="5580063" y="5300663"/>
            <a:ext cx="3968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63" name="Line 124"/>
          <p:cNvSpPr>
            <a:spLocks noChangeAspect="1" noChangeShapeType="1"/>
          </p:cNvSpPr>
          <p:nvPr/>
        </p:nvSpPr>
        <p:spPr bwMode="auto">
          <a:xfrm>
            <a:off x="5976938" y="5300663"/>
            <a:ext cx="0" cy="2873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64" name="Line 125"/>
          <p:cNvSpPr>
            <a:spLocks noChangeAspect="1" noChangeShapeType="1"/>
          </p:cNvSpPr>
          <p:nvPr/>
        </p:nvSpPr>
        <p:spPr bwMode="auto">
          <a:xfrm>
            <a:off x="7164388" y="5300663"/>
            <a:ext cx="0" cy="2873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65" name="Line 126"/>
          <p:cNvSpPr>
            <a:spLocks noChangeAspect="1" noChangeShapeType="1"/>
          </p:cNvSpPr>
          <p:nvPr/>
        </p:nvSpPr>
        <p:spPr bwMode="auto">
          <a:xfrm>
            <a:off x="7164388" y="5300663"/>
            <a:ext cx="431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66" name="Line 129"/>
          <p:cNvSpPr>
            <a:spLocks noChangeShapeType="1"/>
          </p:cNvSpPr>
          <p:nvPr/>
        </p:nvSpPr>
        <p:spPr bwMode="auto">
          <a:xfrm>
            <a:off x="5976938" y="5589588"/>
            <a:ext cx="11874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67" name="Line 130"/>
          <p:cNvSpPr>
            <a:spLocks noChangeAspect="1" noChangeShapeType="1"/>
          </p:cNvSpPr>
          <p:nvPr/>
        </p:nvSpPr>
        <p:spPr bwMode="auto">
          <a:xfrm>
            <a:off x="7596188" y="4976813"/>
            <a:ext cx="0" cy="3238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68" name="Line 131"/>
          <p:cNvSpPr>
            <a:spLocks noChangeAspect="1" noChangeShapeType="1"/>
          </p:cNvSpPr>
          <p:nvPr/>
        </p:nvSpPr>
        <p:spPr bwMode="auto">
          <a:xfrm>
            <a:off x="3995738" y="4689475"/>
            <a:ext cx="0" cy="2873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69" name="Line 132"/>
          <p:cNvSpPr>
            <a:spLocks noChangeAspect="1" noChangeShapeType="1"/>
          </p:cNvSpPr>
          <p:nvPr/>
        </p:nvSpPr>
        <p:spPr bwMode="auto">
          <a:xfrm>
            <a:off x="3600450" y="4976813"/>
            <a:ext cx="395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70" name="Line 133"/>
          <p:cNvSpPr>
            <a:spLocks noChangeAspect="1" noChangeShapeType="1"/>
          </p:cNvSpPr>
          <p:nvPr/>
        </p:nvSpPr>
        <p:spPr bwMode="auto">
          <a:xfrm>
            <a:off x="3600450" y="4976813"/>
            <a:ext cx="0" cy="3238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71" name="Line 134"/>
          <p:cNvSpPr>
            <a:spLocks noChangeAspect="1" noChangeShapeType="1"/>
          </p:cNvSpPr>
          <p:nvPr/>
        </p:nvSpPr>
        <p:spPr bwMode="auto">
          <a:xfrm>
            <a:off x="3203575" y="5300663"/>
            <a:ext cx="3968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72" name="Line 135"/>
          <p:cNvSpPr>
            <a:spLocks noChangeAspect="1" noChangeShapeType="1"/>
          </p:cNvSpPr>
          <p:nvPr/>
        </p:nvSpPr>
        <p:spPr bwMode="auto">
          <a:xfrm>
            <a:off x="3203575" y="5300663"/>
            <a:ext cx="0" cy="2873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73" name="Line 136"/>
          <p:cNvSpPr>
            <a:spLocks noChangeShapeType="1"/>
          </p:cNvSpPr>
          <p:nvPr/>
        </p:nvSpPr>
        <p:spPr bwMode="auto">
          <a:xfrm>
            <a:off x="2268538" y="5589588"/>
            <a:ext cx="9350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nvGrpSpPr>
          <p:cNvPr id="18474" name="Group 137"/>
          <p:cNvGrpSpPr>
            <a:grpSpLocks/>
          </p:cNvGrpSpPr>
          <p:nvPr/>
        </p:nvGrpSpPr>
        <p:grpSpPr bwMode="auto">
          <a:xfrm>
            <a:off x="5867400" y="5949950"/>
            <a:ext cx="228600" cy="304800"/>
            <a:chOff x="1360" y="2931"/>
            <a:chExt cx="144" cy="192"/>
          </a:xfrm>
        </p:grpSpPr>
        <p:grpSp>
          <p:nvGrpSpPr>
            <p:cNvPr id="18544" name="Group 138"/>
            <p:cNvGrpSpPr>
              <a:grpSpLocks/>
            </p:cNvGrpSpPr>
            <p:nvPr/>
          </p:nvGrpSpPr>
          <p:grpSpPr bwMode="auto">
            <a:xfrm>
              <a:off x="1360" y="2931"/>
              <a:ext cx="144" cy="192"/>
              <a:chOff x="4128" y="1488"/>
              <a:chExt cx="144" cy="192"/>
            </a:xfrm>
          </p:grpSpPr>
          <p:sp>
            <p:nvSpPr>
              <p:cNvPr id="18546" name="Rectangle 139"/>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47" name="Rectangle 140"/>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48" name="Oval 141"/>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8545" name="Oval 142"/>
            <p:cNvSpPr>
              <a:spLocks noChangeArrowheads="1"/>
            </p:cNvSpPr>
            <p:nvPr/>
          </p:nvSpPr>
          <p:spPr bwMode="auto">
            <a:xfrm flipH="1" flipV="1">
              <a:off x="1416" y="3040"/>
              <a:ext cx="23" cy="23"/>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475" name="Group 143"/>
          <p:cNvGrpSpPr>
            <a:grpSpLocks/>
          </p:cNvGrpSpPr>
          <p:nvPr/>
        </p:nvGrpSpPr>
        <p:grpSpPr bwMode="auto">
          <a:xfrm>
            <a:off x="5064125" y="5949950"/>
            <a:ext cx="228600" cy="304800"/>
            <a:chOff x="1360" y="2931"/>
            <a:chExt cx="144" cy="192"/>
          </a:xfrm>
        </p:grpSpPr>
        <p:grpSp>
          <p:nvGrpSpPr>
            <p:cNvPr id="18539" name="Group 144"/>
            <p:cNvGrpSpPr>
              <a:grpSpLocks/>
            </p:cNvGrpSpPr>
            <p:nvPr/>
          </p:nvGrpSpPr>
          <p:grpSpPr bwMode="auto">
            <a:xfrm>
              <a:off x="1360" y="2931"/>
              <a:ext cx="144" cy="192"/>
              <a:chOff x="4128" y="1488"/>
              <a:chExt cx="144" cy="192"/>
            </a:xfrm>
          </p:grpSpPr>
          <p:sp>
            <p:nvSpPr>
              <p:cNvPr id="18541" name="Rectangle 145"/>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42" name="Rectangle 146"/>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43" name="Oval 147"/>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8540" name="Oval 148"/>
            <p:cNvSpPr>
              <a:spLocks noChangeArrowheads="1"/>
            </p:cNvSpPr>
            <p:nvPr/>
          </p:nvSpPr>
          <p:spPr bwMode="auto">
            <a:xfrm flipH="1" flipV="1">
              <a:off x="1416" y="3040"/>
              <a:ext cx="23" cy="23"/>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476" name="Group 149"/>
          <p:cNvGrpSpPr>
            <a:grpSpLocks/>
          </p:cNvGrpSpPr>
          <p:nvPr/>
        </p:nvGrpSpPr>
        <p:grpSpPr bwMode="auto">
          <a:xfrm>
            <a:off x="3887788" y="5949950"/>
            <a:ext cx="228600" cy="304800"/>
            <a:chOff x="2008" y="2981"/>
            <a:chExt cx="144" cy="192"/>
          </a:xfrm>
        </p:grpSpPr>
        <p:grpSp>
          <p:nvGrpSpPr>
            <p:cNvPr id="18532" name="Group 150"/>
            <p:cNvGrpSpPr>
              <a:grpSpLocks/>
            </p:cNvGrpSpPr>
            <p:nvPr/>
          </p:nvGrpSpPr>
          <p:grpSpPr bwMode="auto">
            <a:xfrm>
              <a:off x="2008" y="2981"/>
              <a:ext cx="144" cy="192"/>
              <a:chOff x="4128" y="1488"/>
              <a:chExt cx="144" cy="192"/>
            </a:xfrm>
          </p:grpSpPr>
          <p:sp>
            <p:nvSpPr>
              <p:cNvPr id="18536" name="Rectangle 151"/>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37" name="Rectangle 152"/>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38" name="Oval 153"/>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533" name="Group 154"/>
            <p:cNvGrpSpPr>
              <a:grpSpLocks/>
            </p:cNvGrpSpPr>
            <p:nvPr/>
          </p:nvGrpSpPr>
          <p:grpSpPr bwMode="auto">
            <a:xfrm>
              <a:off x="2057" y="3084"/>
              <a:ext cx="45" cy="46"/>
              <a:chOff x="1247" y="1933"/>
              <a:chExt cx="45" cy="46"/>
            </a:xfrm>
          </p:grpSpPr>
          <p:sp>
            <p:nvSpPr>
              <p:cNvPr id="18534" name="Line 155"/>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535" name="Line 156"/>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grpSp>
        <p:nvGrpSpPr>
          <p:cNvPr id="18477" name="Group 157"/>
          <p:cNvGrpSpPr>
            <a:grpSpLocks/>
          </p:cNvGrpSpPr>
          <p:nvPr/>
        </p:nvGrpSpPr>
        <p:grpSpPr bwMode="auto">
          <a:xfrm>
            <a:off x="3059113" y="5949950"/>
            <a:ext cx="228600" cy="304800"/>
            <a:chOff x="2008" y="2981"/>
            <a:chExt cx="144" cy="192"/>
          </a:xfrm>
        </p:grpSpPr>
        <p:grpSp>
          <p:nvGrpSpPr>
            <p:cNvPr id="18525" name="Group 158"/>
            <p:cNvGrpSpPr>
              <a:grpSpLocks/>
            </p:cNvGrpSpPr>
            <p:nvPr/>
          </p:nvGrpSpPr>
          <p:grpSpPr bwMode="auto">
            <a:xfrm>
              <a:off x="2008" y="2981"/>
              <a:ext cx="144" cy="192"/>
              <a:chOff x="4128" y="1488"/>
              <a:chExt cx="144" cy="192"/>
            </a:xfrm>
          </p:grpSpPr>
          <p:sp>
            <p:nvSpPr>
              <p:cNvPr id="18529" name="Rectangle 159"/>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30" name="Rectangle 160"/>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31" name="Oval 161"/>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526" name="Group 162"/>
            <p:cNvGrpSpPr>
              <a:grpSpLocks/>
            </p:cNvGrpSpPr>
            <p:nvPr/>
          </p:nvGrpSpPr>
          <p:grpSpPr bwMode="auto">
            <a:xfrm>
              <a:off x="2057" y="3084"/>
              <a:ext cx="45" cy="46"/>
              <a:chOff x="1247" y="1933"/>
              <a:chExt cx="45" cy="46"/>
            </a:xfrm>
          </p:grpSpPr>
          <p:sp>
            <p:nvSpPr>
              <p:cNvPr id="18527" name="Line 163"/>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528" name="Line 164"/>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grpSp>
        <p:nvGrpSpPr>
          <p:cNvPr id="18478" name="Group 165"/>
          <p:cNvGrpSpPr>
            <a:grpSpLocks/>
          </p:cNvGrpSpPr>
          <p:nvPr/>
        </p:nvGrpSpPr>
        <p:grpSpPr bwMode="auto">
          <a:xfrm>
            <a:off x="7092950" y="5949950"/>
            <a:ext cx="228600" cy="304800"/>
            <a:chOff x="2008" y="2981"/>
            <a:chExt cx="144" cy="192"/>
          </a:xfrm>
        </p:grpSpPr>
        <p:grpSp>
          <p:nvGrpSpPr>
            <p:cNvPr id="18518" name="Group 166"/>
            <p:cNvGrpSpPr>
              <a:grpSpLocks/>
            </p:cNvGrpSpPr>
            <p:nvPr/>
          </p:nvGrpSpPr>
          <p:grpSpPr bwMode="auto">
            <a:xfrm>
              <a:off x="2008" y="2981"/>
              <a:ext cx="144" cy="192"/>
              <a:chOff x="4128" y="1488"/>
              <a:chExt cx="144" cy="192"/>
            </a:xfrm>
          </p:grpSpPr>
          <p:sp>
            <p:nvSpPr>
              <p:cNvPr id="18522" name="Rectangle 167"/>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23" name="Rectangle 168"/>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24" name="Oval 169"/>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519" name="Group 170"/>
            <p:cNvGrpSpPr>
              <a:grpSpLocks/>
            </p:cNvGrpSpPr>
            <p:nvPr/>
          </p:nvGrpSpPr>
          <p:grpSpPr bwMode="auto">
            <a:xfrm>
              <a:off x="2057" y="3084"/>
              <a:ext cx="45" cy="46"/>
              <a:chOff x="1247" y="1933"/>
              <a:chExt cx="45" cy="46"/>
            </a:xfrm>
          </p:grpSpPr>
          <p:sp>
            <p:nvSpPr>
              <p:cNvPr id="18520" name="Line 171"/>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521" name="Line 172"/>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sp>
        <p:nvSpPr>
          <p:cNvPr id="18479" name="Line 173"/>
          <p:cNvSpPr>
            <a:spLocks noChangeShapeType="1"/>
          </p:cNvSpPr>
          <p:nvPr/>
        </p:nvSpPr>
        <p:spPr bwMode="auto">
          <a:xfrm>
            <a:off x="4392613" y="2708275"/>
            <a:ext cx="2627312" cy="0"/>
          </a:xfrm>
          <a:prstGeom prst="line">
            <a:avLst/>
          </a:prstGeom>
          <a:noFill/>
          <a:ln w="2857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fr-FR"/>
          </a:p>
        </p:txBody>
      </p:sp>
      <p:sp>
        <p:nvSpPr>
          <p:cNvPr id="18480" name="Freeform 174"/>
          <p:cNvSpPr>
            <a:spLocks/>
          </p:cNvSpPr>
          <p:nvPr/>
        </p:nvSpPr>
        <p:spPr bwMode="auto">
          <a:xfrm>
            <a:off x="6372225" y="2205038"/>
            <a:ext cx="157163" cy="468312"/>
          </a:xfrm>
          <a:custGeom>
            <a:avLst/>
            <a:gdLst>
              <a:gd name="T0" fmla="*/ 2147483646 w 99"/>
              <a:gd name="T1" fmla="*/ 2147483646 h 295"/>
              <a:gd name="T2" fmla="*/ 2147483646 w 99"/>
              <a:gd name="T3" fmla="*/ 2147483646 h 295"/>
              <a:gd name="T4" fmla="*/ 2147483646 w 99"/>
              <a:gd name="T5" fmla="*/ 2147483646 h 295"/>
              <a:gd name="T6" fmla="*/ 0 w 99"/>
              <a:gd name="T7" fmla="*/ 0 h 295"/>
              <a:gd name="T8" fmla="*/ 0 60000 65536"/>
              <a:gd name="T9" fmla="*/ 0 60000 65536"/>
              <a:gd name="T10" fmla="*/ 0 60000 65536"/>
              <a:gd name="T11" fmla="*/ 0 60000 65536"/>
              <a:gd name="T12" fmla="*/ 0 w 99"/>
              <a:gd name="T13" fmla="*/ 0 h 295"/>
              <a:gd name="T14" fmla="*/ 99 w 99"/>
              <a:gd name="T15" fmla="*/ 295 h 295"/>
            </a:gdLst>
            <a:ahLst/>
            <a:cxnLst>
              <a:cxn ang="T8">
                <a:pos x="T0" y="T1"/>
              </a:cxn>
              <a:cxn ang="T9">
                <a:pos x="T2" y="T3"/>
              </a:cxn>
              <a:cxn ang="T10">
                <a:pos x="T4" y="T5"/>
              </a:cxn>
              <a:cxn ang="T11">
                <a:pos x="T6" y="T7"/>
              </a:cxn>
            </a:cxnLst>
            <a:rect l="T12" t="T13" r="T14" b="T15"/>
            <a:pathLst>
              <a:path w="99" h="295">
                <a:moveTo>
                  <a:pt x="91" y="295"/>
                </a:moveTo>
                <a:cubicBezTo>
                  <a:pt x="95" y="259"/>
                  <a:pt x="99" y="223"/>
                  <a:pt x="91" y="181"/>
                </a:cubicBezTo>
                <a:cubicBezTo>
                  <a:pt x="83" y="139"/>
                  <a:pt x="60" y="75"/>
                  <a:pt x="45" y="45"/>
                </a:cubicBezTo>
                <a:cubicBezTo>
                  <a:pt x="30" y="15"/>
                  <a:pt x="15" y="7"/>
                  <a:pt x="0" y="0"/>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8481" name="Text Box 175"/>
          <p:cNvSpPr txBox="1">
            <a:spLocks noChangeArrowheads="1"/>
          </p:cNvSpPr>
          <p:nvPr/>
        </p:nvSpPr>
        <p:spPr bwMode="auto">
          <a:xfrm>
            <a:off x="6408738" y="1952625"/>
            <a:ext cx="276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a:latin typeface="Arial Narrow" panose="020B0606020202030204" pitchFamily="34" charset="0"/>
                <a:sym typeface="Symbol" panose="05050102010706020507" pitchFamily="18" charset="2"/>
              </a:rPr>
              <a:t></a:t>
            </a:r>
          </a:p>
        </p:txBody>
      </p:sp>
      <p:sp>
        <p:nvSpPr>
          <p:cNvPr id="18482" name="Text Box 176"/>
          <p:cNvSpPr txBox="1">
            <a:spLocks noChangeArrowheads="1"/>
          </p:cNvSpPr>
          <p:nvPr/>
        </p:nvSpPr>
        <p:spPr bwMode="auto">
          <a:xfrm>
            <a:off x="7704138" y="5049838"/>
            <a:ext cx="276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a:latin typeface="Arial Narrow" panose="020B0606020202030204" pitchFamily="34" charset="0"/>
                <a:sym typeface="Symbol" panose="05050102010706020507" pitchFamily="18" charset="2"/>
              </a:rPr>
              <a:t></a:t>
            </a:r>
          </a:p>
        </p:txBody>
      </p:sp>
      <p:sp>
        <p:nvSpPr>
          <p:cNvPr id="18483" name="Text Box 177"/>
          <p:cNvSpPr txBox="1">
            <a:spLocks noChangeArrowheads="1"/>
          </p:cNvSpPr>
          <p:nvPr/>
        </p:nvSpPr>
        <p:spPr bwMode="auto">
          <a:xfrm>
            <a:off x="6400800" y="5013325"/>
            <a:ext cx="295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a:t>
            </a:r>
          </a:p>
        </p:txBody>
      </p:sp>
      <p:sp>
        <p:nvSpPr>
          <p:cNvPr id="18484" name="Text Box 178"/>
          <p:cNvSpPr txBox="1">
            <a:spLocks noChangeArrowheads="1"/>
          </p:cNvSpPr>
          <p:nvPr/>
        </p:nvSpPr>
        <p:spPr bwMode="auto">
          <a:xfrm>
            <a:off x="5364163" y="5049838"/>
            <a:ext cx="454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/2</a:t>
            </a:r>
          </a:p>
        </p:txBody>
      </p:sp>
      <p:sp>
        <p:nvSpPr>
          <p:cNvPr id="18485" name="Text Box 179"/>
          <p:cNvSpPr txBox="1">
            <a:spLocks noChangeArrowheads="1"/>
          </p:cNvSpPr>
          <p:nvPr/>
        </p:nvSpPr>
        <p:spPr bwMode="auto">
          <a:xfrm>
            <a:off x="3348038" y="5037138"/>
            <a:ext cx="5222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-/2</a:t>
            </a:r>
          </a:p>
        </p:txBody>
      </p:sp>
      <p:sp>
        <p:nvSpPr>
          <p:cNvPr id="18486" name="Text Box 180"/>
          <p:cNvSpPr txBox="1">
            <a:spLocks noChangeArrowheads="1"/>
          </p:cNvSpPr>
          <p:nvPr/>
        </p:nvSpPr>
        <p:spPr bwMode="auto">
          <a:xfrm>
            <a:off x="2303463" y="5049838"/>
            <a:ext cx="3635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a:t>
            </a:r>
          </a:p>
        </p:txBody>
      </p:sp>
      <p:grpSp>
        <p:nvGrpSpPr>
          <p:cNvPr id="18487" name="Group 181"/>
          <p:cNvGrpSpPr>
            <a:grpSpLocks/>
          </p:cNvGrpSpPr>
          <p:nvPr/>
        </p:nvGrpSpPr>
        <p:grpSpPr bwMode="auto">
          <a:xfrm>
            <a:off x="1150938" y="4508500"/>
            <a:ext cx="6445250" cy="1260475"/>
            <a:chOff x="725" y="2818"/>
            <a:chExt cx="4060" cy="839"/>
          </a:xfrm>
        </p:grpSpPr>
        <p:grpSp>
          <p:nvGrpSpPr>
            <p:cNvPr id="18508" name="Group 182"/>
            <p:cNvGrpSpPr>
              <a:grpSpLocks/>
            </p:cNvGrpSpPr>
            <p:nvPr/>
          </p:nvGrpSpPr>
          <p:grpSpPr bwMode="auto">
            <a:xfrm>
              <a:off x="2245" y="2886"/>
              <a:ext cx="1270" cy="340"/>
              <a:chOff x="250" y="1525"/>
              <a:chExt cx="1224" cy="522"/>
            </a:xfrm>
          </p:grpSpPr>
          <p:sp>
            <p:nvSpPr>
              <p:cNvPr id="18516" name="Freeform 183"/>
              <p:cNvSpPr>
                <a:spLocks/>
              </p:cNvSpPr>
              <p:nvPr/>
            </p:nvSpPr>
            <p:spPr bwMode="auto">
              <a:xfrm>
                <a:off x="862"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8517" name="Freeform 184"/>
              <p:cNvSpPr>
                <a:spLocks/>
              </p:cNvSpPr>
              <p:nvPr/>
            </p:nvSpPr>
            <p:spPr bwMode="auto">
              <a:xfrm flipH="1">
                <a:off x="250"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18509" name="Group 185"/>
            <p:cNvGrpSpPr>
              <a:grpSpLocks/>
            </p:cNvGrpSpPr>
            <p:nvPr/>
          </p:nvGrpSpPr>
          <p:grpSpPr bwMode="auto">
            <a:xfrm flipV="1">
              <a:off x="3515" y="3226"/>
              <a:ext cx="1270" cy="340"/>
              <a:chOff x="250" y="1525"/>
              <a:chExt cx="1224" cy="522"/>
            </a:xfrm>
          </p:grpSpPr>
          <p:sp>
            <p:nvSpPr>
              <p:cNvPr id="18514" name="Freeform 186"/>
              <p:cNvSpPr>
                <a:spLocks/>
              </p:cNvSpPr>
              <p:nvPr/>
            </p:nvSpPr>
            <p:spPr bwMode="auto">
              <a:xfrm>
                <a:off x="862"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8515" name="Freeform 187"/>
              <p:cNvSpPr>
                <a:spLocks/>
              </p:cNvSpPr>
              <p:nvPr/>
            </p:nvSpPr>
            <p:spPr bwMode="auto">
              <a:xfrm flipH="1">
                <a:off x="250"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18510" name="Group 188"/>
            <p:cNvGrpSpPr>
              <a:grpSpLocks/>
            </p:cNvGrpSpPr>
            <p:nvPr/>
          </p:nvGrpSpPr>
          <p:grpSpPr bwMode="auto">
            <a:xfrm flipV="1">
              <a:off x="952" y="3249"/>
              <a:ext cx="1270" cy="340"/>
              <a:chOff x="250" y="1525"/>
              <a:chExt cx="1224" cy="522"/>
            </a:xfrm>
          </p:grpSpPr>
          <p:sp>
            <p:nvSpPr>
              <p:cNvPr id="18512" name="Freeform 189"/>
              <p:cNvSpPr>
                <a:spLocks/>
              </p:cNvSpPr>
              <p:nvPr/>
            </p:nvSpPr>
            <p:spPr bwMode="auto">
              <a:xfrm>
                <a:off x="862"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8513" name="Freeform 190"/>
              <p:cNvSpPr>
                <a:spLocks/>
              </p:cNvSpPr>
              <p:nvPr/>
            </p:nvSpPr>
            <p:spPr bwMode="auto">
              <a:xfrm flipH="1">
                <a:off x="250"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sp>
          <p:nvSpPr>
            <p:cNvPr id="18511" name="Rectangle 191"/>
            <p:cNvSpPr>
              <a:spLocks noChangeArrowheads="1"/>
            </p:cNvSpPr>
            <p:nvPr/>
          </p:nvSpPr>
          <p:spPr bwMode="auto">
            <a:xfrm>
              <a:off x="725" y="2818"/>
              <a:ext cx="590" cy="839"/>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8488" name="Oval 192"/>
          <p:cNvSpPr>
            <a:spLocks noChangeArrowheads="1"/>
          </p:cNvSpPr>
          <p:nvPr/>
        </p:nvSpPr>
        <p:spPr bwMode="auto">
          <a:xfrm>
            <a:off x="3671888" y="1243013"/>
            <a:ext cx="1476375" cy="971550"/>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489" name="Oval 193"/>
          <p:cNvSpPr>
            <a:spLocks noChangeArrowheads="1"/>
          </p:cNvSpPr>
          <p:nvPr/>
        </p:nvSpPr>
        <p:spPr bwMode="auto">
          <a:xfrm>
            <a:off x="3500438" y="1198563"/>
            <a:ext cx="1935162" cy="1366837"/>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490" name="Oval 194"/>
          <p:cNvSpPr>
            <a:spLocks noChangeArrowheads="1"/>
          </p:cNvSpPr>
          <p:nvPr/>
        </p:nvSpPr>
        <p:spPr bwMode="auto">
          <a:xfrm>
            <a:off x="4032250" y="1304925"/>
            <a:ext cx="755650" cy="647700"/>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491" name="Oval 195"/>
          <p:cNvSpPr>
            <a:spLocks noChangeArrowheads="1"/>
          </p:cNvSpPr>
          <p:nvPr/>
        </p:nvSpPr>
        <p:spPr bwMode="auto">
          <a:xfrm>
            <a:off x="4032250" y="3492500"/>
            <a:ext cx="755650" cy="647700"/>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492" name="Oval 196"/>
          <p:cNvSpPr>
            <a:spLocks noChangeArrowheads="1"/>
          </p:cNvSpPr>
          <p:nvPr/>
        </p:nvSpPr>
        <p:spPr bwMode="auto">
          <a:xfrm>
            <a:off x="3671888" y="3213100"/>
            <a:ext cx="1476375" cy="971550"/>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493" name="Oval 197"/>
          <p:cNvSpPr>
            <a:spLocks noChangeArrowheads="1"/>
          </p:cNvSpPr>
          <p:nvPr/>
        </p:nvSpPr>
        <p:spPr bwMode="auto">
          <a:xfrm>
            <a:off x="3455988" y="2852738"/>
            <a:ext cx="1871662" cy="1366837"/>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494" name="Line 198"/>
          <p:cNvSpPr>
            <a:spLocks noChangeShapeType="1"/>
          </p:cNvSpPr>
          <p:nvPr/>
        </p:nvSpPr>
        <p:spPr bwMode="auto">
          <a:xfrm>
            <a:off x="4356100" y="1952625"/>
            <a:ext cx="7143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8495" name="Line 199"/>
          <p:cNvSpPr>
            <a:spLocks noChangeShapeType="1"/>
          </p:cNvSpPr>
          <p:nvPr/>
        </p:nvSpPr>
        <p:spPr bwMode="auto">
          <a:xfrm>
            <a:off x="4356100" y="2205038"/>
            <a:ext cx="7143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8496" name="Line 200"/>
          <p:cNvSpPr>
            <a:spLocks noChangeShapeType="1"/>
          </p:cNvSpPr>
          <p:nvPr/>
        </p:nvSpPr>
        <p:spPr bwMode="auto">
          <a:xfrm>
            <a:off x="4356100" y="2565400"/>
            <a:ext cx="7143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8497" name="Line 201"/>
          <p:cNvSpPr>
            <a:spLocks noChangeShapeType="1"/>
          </p:cNvSpPr>
          <p:nvPr/>
        </p:nvSpPr>
        <p:spPr bwMode="auto">
          <a:xfrm>
            <a:off x="4427538" y="2852738"/>
            <a:ext cx="714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8498" name="Line 202"/>
          <p:cNvSpPr>
            <a:spLocks noChangeShapeType="1"/>
          </p:cNvSpPr>
          <p:nvPr/>
        </p:nvSpPr>
        <p:spPr bwMode="auto">
          <a:xfrm>
            <a:off x="4427538" y="3213100"/>
            <a:ext cx="714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8499" name="Line 203"/>
          <p:cNvSpPr>
            <a:spLocks noChangeShapeType="1"/>
          </p:cNvSpPr>
          <p:nvPr/>
        </p:nvSpPr>
        <p:spPr bwMode="auto">
          <a:xfrm>
            <a:off x="4427538" y="3500438"/>
            <a:ext cx="714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8500" name="Line 213"/>
          <p:cNvSpPr>
            <a:spLocks noChangeAspect="1" noChangeShapeType="1"/>
          </p:cNvSpPr>
          <p:nvPr/>
        </p:nvSpPr>
        <p:spPr bwMode="auto">
          <a:xfrm>
            <a:off x="2016125" y="4689475"/>
            <a:ext cx="194468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8501" name="Line 214"/>
          <p:cNvSpPr>
            <a:spLocks noChangeAspect="1" noChangeShapeType="1"/>
          </p:cNvSpPr>
          <p:nvPr/>
        </p:nvSpPr>
        <p:spPr bwMode="auto">
          <a:xfrm>
            <a:off x="1692275" y="4976813"/>
            <a:ext cx="194468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8502" name="Text Box 215"/>
          <p:cNvSpPr txBox="1">
            <a:spLocks noChangeArrowheads="1"/>
          </p:cNvSpPr>
          <p:nvPr/>
        </p:nvSpPr>
        <p:spPr bwMode="auto">
          <a:xfrm>
            <a:off x="1331913" y="4473575"/>
            <a:ext cx="8461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(3N</a:t>
            </a:r>
            <a:r>
              <a:rPr lang="en-US" altLang="fr-FR" sz="1600" baseline="-25000">
                <a:latin typeface="Arial Narrow" panose="020B0606020202030204" pitchFamily="34" charset="0"/>
                <a:sym typeface="Symbol" panose="05050102010706020507" pitchFamily="18" charset="2"/>
              </a:rPr>
              <a:t>c</a:t>
            </a:r>
            <a:r>
              <a:rPr lang="en-US" altLang="fr-FR" sz="1600">
                <a:latin typeface="Arial Narrow" panose="020B0606020202030204" pitchFamily="34" charset="0"/>
                <a:sym typeface="Symbol" panose="05050102010706020507" pitchFamily="18" charset="2"/>
              </a:rPr>
              <a:t>i)/2</a:t>
            </a:r>
          </a:p>
        </p:txBody>
      </p:sp>
      <p:sp>
        <p:nvSpPr>
          <p:cNvPr id="18503" name="Text Box 216"/>
          <p:cNvSpPr txBox="1">
            <a:spLocks noChangeArrowheads="1"/>
          </p:cNvSpPr>
          <p:nvPr/>
        </p:nvSpPr>
        <p:spPr bwMode="auto">
          <a:xfrm>
            <a:off x="971550" y="4833938"/>
            <a:ext cx="7445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(N</a:t>
            </a:r>
            <a:r>
              <a:rPr lang="en-US" altLang="fr-FR" sz="1600" baseline="-25000">
                <a:latin typeface="Arial Narrow" panose="020B0606020202030204" pitchFamily="34" charset="0"/>
                <a:sym typeface="Symbol" panose="05050102010706020507" pitchFamily="18" charset="2"/>
              </a:rPr>
              <a:t>c</a:t>
            </a:r>
            <a:r>
              <a:rPr lang="en-US" altLang="fr-FR" sz="1600">
                <a:latin typeface="Arial Narrow" panose="020B0606020202030204" pitchFamily="34" charset="0"/>
                <a:sym typeface="Symbol" panose="05050102010706020507" pitchFamily="18" charset="2"/>
              </a:rPr>
              <a:t>i)/2</a:t>
            </a:r>
          </a:p>
        </p:txBody>
      </p:sp>
      <p:sp>
        <p:nvSpPr>
          <p:cNvPr id="18504" name="ZoneTexte 168"/>
          <p:cNvSpPr txBox="1">
            <a:spLocks noChangeArrowheads="1"/>
          </p:cNvSpPr>
          <p:nvPr/>
        </p:nvSpPr>
        <p:spPr bwMode="auto">
          <a:xfrm>
            <a:off x="5484813" y="2333625"/>
            <a:ext cx="5476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Nord</a:t>
            </a:r>
          </a:p>
        </p:txBody>
      </p:sp>
      <p:sp>
        <p:nvSpPr>
          <p:cNvPr id="18505" name="ZoneTexte 169"/>
          <p:cNvSpPr txBox="1">
            <a:spLocks noChangeArrowheads="1"/>
          </p:cNvSpPr>
          <p:nvPr/>
        </p:nvSpPr>
        <p:spPr bwMode="auto">
          <a:xfrm>
            <a:off x="2819400" y="2406650"/>
            <a:ext cx="5476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Sud</a:t>
            </a:r>
          </a:p>
        </p:txBody>
      </p:sp>
      <p:sp>
        <p:nvSpPr>
          <p:cNvPr id="18506" name="Espace réservé du numéro de diapositive 16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A189700-B2E4-447E-9A6D-C0E937DBAF38}" type="slidenum">
              <a:rPr lang="en-US" altLang="fr-FR" sz="1000">
                <a:solidFill>
                  <a:srgbClr val="292929"/>
                </a:solidFill>
                <a:latin typeface="Arial" panose="020B0604020202020204" pitchFamily="34" charset="0"/>
              </a:rPr>
              <a:pPr>
                <a:spcBef>
                  <a:spcPct val="0"/>
                </a:spcBef>
                <a:buClrTx/>
                <a:buSzTx/>
                <a:buFontTx/>
                <a:buNone/>
              </a:pPr>
              <a:t>5</a:t>
            </a:fld>
            <a:endParaRPr lang="en-US" altLang="fr-FR" sz="1000">
              <a:solidFill>
                <a:srgbClr val="292929"/>
              </a:solidFill>
              <a:latin typeface="Arial" panose="020B0604020202020204" pitchFamily="34" charset="0"/>
            </a:endParaRPr>
          </a:p>
        </p:txBody>
      </p:sp>
      <p:sp>
        <p:nvSpPr>
          <p:cNvPr id="170" name="Espace réservé du pied de page 169"/>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22540145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idx="1"/>
          </p:nvPr>
        </p:nvSpPr>
        <p:spPr>
          <a:xfrm>
            <a:off x="2209800" y="228600"/>
            <a:ext cx="4572000" cy="457200"/>
          </a:xfrm>
        </p:spPr>
        <p:txBody>
          <a:bodyPr/>
          <a:lstStyle/>
          <a:p>
            <a:pPr algn="ctr">
              <a:buFontTx/>
              <a:buNone/>
            </a:pPr>
            <a:r>
              <a:rPr lang="en-US" altLang="fr-FR" sz="2400" b="1" smtClean="0">
                <a:latin typeface="Arial Narrow" panose="020B0606020202030204" pitchFamily="34" charset="0"/>
              </a:rPr>
              <a:t>Construction </a:t>
            </a:r>
          </a:p>
        </p:txBody>
      </p:sp>
      <p:sp>
        <p:nvSpPr>
          <p:cNvPr id="20483"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0484" name="Text Box 169"/>
          <p:cNvSpPr txBox="1">
            <a:spLocks noChangeArrowheads="1"/>
          </p:cNvSpPr>
          <p:nvPr/>
        </p:nvSpPr>
        <p:spPr bwMode="auto">
          <a:xfrm>
            <a:off x="647700" y="939800"/>
            <a:ext cx="2933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Enroulement distribué </a:t>
            </a:r>
          </a:p>
        </p:txBody>
      </p:sp>
      <p:sp>
        <p:nvSpPr>
          <p:cNvPr id="20485" name="Text Box 170"/>
          <p:cNvSpPr txBox="1">
            <a:spLocks noChangeArrowheads="1"/>
          </p:cNvSpPr>
          <p:nvPr/>
        </p:nvSpPr>
        <p:spPr bwMode="auto">
          <a:xfrm>
            <a:off x="1258888" y="1700213"/>
            <a:ext cx="64817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La FMM résultante  est la somme des contributions des FMM de chaque spire</a:t>
            </a:r>
          </a:p>
        </p:txBody>
      </p:sp>
      <p:sp>
        <p:nvSpPr>
          <p:cNvPr id="20486" name="Text Box 171"/>
          <p:cNvSpPr txBox="1">
            <a:spLocks noChangeArrowheads="1"/>
          </p:cNvSpPr>
          <p:nvPr/>
        </p:nvSpPr>
        <p:spPr bwMode="auto">
          <a:xfrm>
            <a:off x="1295400" y="2673350"/>
            <a:ext cx="648176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Considérons seulement  les composantes spatiales fondamentales , </a:t>
            </a:r>
          </a:p>
        </p:txBody>
      </p:sp>
      <p:grpSp>
        <p:nvGrpSpPr>
          <p:cNvPr id="3" name="Group 191"/>
          <p:cNvGrpSpPr>
            <a:grpSpLocks/>
          </p:cNvGrpSpPr>
          <p:nvPr/>
        </p:nvGrpSpPr>
        <p:grpSpPr bwMode="auto">
          <a:xfrm>
            <a:off x="3889375" y="4122738"/>
            <a:ext cx="936625" cy="433387"/>
            <a:chOff x="3492" y="3225"/>
            <a:chExt cx="590" cy="273"/>
          </a:xfrm>
        </p:grpSpPr>
        <p:sp>
          <p:nvSpPr>
            <p:cNvPr id="20495" name="Line 175"/>
            <p:cNvSpPr>
              <a:spLocks noChangeShapeType="1"/>
            </p:cNvSpPr>
            <p:nvPr/>
          </p:nvSpPr>
          <p:spPr bwMode="auto">
            <a:xfrm>
              <a:off x="3515" y="3361"/>
              <a:ext cx="567"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496" name="Line 182"/>
            <p:cNvSpPr>
              <a:spLocks noChangeShapeType="1"/>
            </p:cNvSpPr>
            <p:nvPr/>
          </p:nvSpPr>
          <p:spPr bwMode="auto">
            <a:xfrm rot="-1358773">
              <a:off x="3492" y="3225"/>
              <a:ext cx="567"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497" name="Line 186"/>
            <p:cNvSpPr>
              <a:spLocks noChangeShapeType="1"/>
            </p:cNvSpPr>
            <p:nvPr/>
          </p:nvSpPr>
          <p:spPr bwMode="auto">
            <a:xfrm rot="1358773" flipV="1">
              <a:off x="3492" y="3498"/>
              <a:ext cx="567"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grpSp>
        <p:nvGrpSpPr>
          <p:cNvPr id="4" name="Group 195"/>
          <p:cNvGrpSpPr>
            <a:grpSpLocks/>
          </p:cNvGrpSpPr>
          <p:nvPr/>
        </p:nvGrpSpPr>
        <p:grpSpPr bwMode="auto">
          <a:xfrm>
            <a:off x="3924300" y="4013200"/>
            <a:ext cx="2592388" cy="180975"/>
            <a:chOff x="3538" y="3293"/>
            <a:chExt cx="1633" cy="114"/>
          </a:xfrm>
        </p:grpSpPr>
        <p:sp>
          <p:nvSpPr>
            <p:cNvPr id="20492" name="Line 185"/>
            <p:cNvSpPr>
              <a:spLocks noChangeShapeType="1"/>
            </p:cNvSpPr>
            <p:nvPr/>
          </p:nvSpPr>
          <p:spPr bwMode="auto">
            <a:xfrm rot="-1358773">
              <a:off x="4083" y="3293"/>
              <a:ext cx="567" cy="0"/>
            </a:xfrm>
            <a:prstGeom prst="line">
              <a:avLst/>
            </a:prstGeom>
            <a:noFill/>
            <a:ln w="57150">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493" name="Line 187"/>
            <p:cNvSpPr>
              <a:spLocks noChangeShapeType="1"/>
            </p:cNvSpPr>
            <p:nvPr/>
          </p:nvSpPr>
          <p:spPr bwMode="auto">
            <a:xfrm rot="1358773" flipV="1">
              <a:off x="4604" y="3317"/>
              <a:ext cx="567" cy="0"/>
            </a:xfrm>
            <a:prstGeom prst="line">
              <a:avLst/>
            </a:prstGeom>
            <a:noFill/>
            <a:ln w="57150">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494" name="Line 192"/>
            <p:cNvSpPr>
              <a:spLocks noChangeShapeType="1"/>
            </p:cNvSpPr>
            <p:nvPr/>
          </p:nvSpPr>
          <p:spPr bwMode="auto">
            <a:xfrm>
              <a:off x="3538" y="3407"/>
              <a:ext cx="567" cy="0"/>
            </a:xfrm>
            <a:prstGeom prst="line">
              <a:avLst/>
            </a:prstGeom>
            <a:noFill/>
            <a:ln w="57150">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sp>
        <p:nvSpPr>
          <p:cNvPr id="64708" name="Line 196"/>
          <p:cNvSpPr>
            <a:spLocks noChangeShapeType="1"/>
          </p:cNvSpPr>
          <p:nvPr/>
        </p:nvSpPr>
        <p:spPr bwMode="auto">
          <a:xfrm>
            <a:off x="3924300" y="4338638"/>
            <a:ext cx="2592388"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490" name="Espace réservé du numéro de diapositive 2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7C119838-D4AE-45B0-8066-44A24249D14A}" type="slidenum">
              <a:rPr lang="en-US" altLang="fr-FR" sz="1000">
                <a:solidFill>
                  <a:srgbClr val="292929"/>
                </a:solidFill>
                <a:latin typeface="Arial" panose="020B0604020202020204" pitchFamily="34" charset="0"/>
              </a:rPr>
              <a:pPr>
                <a:spcBef>
                  <a:spcPct val="0"/>
                </a:spcBef>
                <a:buClrTx/>
                <a:buSzTx/>
                <a:buFontTx/>
                <a:buNone/>
              </a:pPr>
              <a:t>6</a:t>
            </a:fld>
            <a:endParaRPr lang="en-US" altLang="fr-FR" sz="1000">
              <a:solidFill>
                <a:srgbClr val="292929"/>
              </a:solidFill>
              <a:latin typeface="Arial" panose="020B0604020202020204" pitchFamily="34" charset="0"/>
            </a:endParaRPr>
          </a:p>
        </p:txBody>
      </p:sp>
      <p:sp>
        <p:nvSpPr>
          <p:cNvPr id="28" name="Espace réservé du pied de page 27"/>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5703568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0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xit" presetSubtype="0" fill="hold" nodeType="clickEffect">
                                  <p:stCondLst>
                                    <p:cond delay="0"/>
                                  </p:stCondLst>
                                  <p:childTnLst>
                                    <p:animEffect transition="out" filter="fade">
                                      <p:cBhvr>
                                        <p:cTn id="16" dur="2000"/>
                                        <p:tgtEl>
                                          <p:spTgt spid="4"/>
                                        </p:tgtEl>
                                      </p:cBhvr>
                                    </p:animEffect>
                                    <p:set>
                                      <p:cBhvr>
                                        <p:cTn id="17" dur="1" fill="hold">
                                          <p:stCondLst>
                                            <p:cond delay="1999"/>
                                          </p:stCondLst>
                                        </p:cTn>
                                        <p:tgtEl>
                                          <p:spTgt spid="4"/>
                                        </p:tgtEl>
                                        <p:attrNameLst>
                                          <p:attrName>style.visibility</p:attrName>
                                        </p:attrNameLst>
                                      </p:cBhvr>
                                      <p:to>
                                        <p:strVal val="hidden"/>
                                      </p:to>
                                    </p:set>
                                  </p:childTnLst>
                                </p:cTn>
                              </p:par>
                              <p:par>
                                <p:cTn id="18" presetID="10" presetClass="entr" presetSubtype="0" fill="hold" grpId="0" nodeType="withEffect">
                                  <p:stCondLst>
                                    <p:cond delay="0"/>
                                  </p:stCondLst>
                                  <p:childTnLst>
                                    <p:set>
                                      <p:cBhvr>
                                        <p:cTn id="19" dur="1" fill="hold">
                                          <p:stCondLst>
                                            <p:cond delay="0"/>
                                          </p:stCondLst>
                                        </p:cTn>
                                        <p:tgtEl>
                                          <p:spTgt spid="64708"/>
                                        </p:tgtEl>
                                        <p:attrNameLst>
                                          <p:attrName>style.visibility</p:attrName>
                                        </p:attrNameLst>
                                      </p:cBhvr>
                                      <p:to>
                                        <p:strVal val="visible"/>
                                      </p:to>
                                    </p:set>
                                    <p:animEffect transition="in" filter="fade">
                                      <p:cBhvr>
                                        <p:cTn id="20" dur="2000"/>
                                        <p:tgtEl>
                                          <p:spTgt spid="64708"/>
                                        </p:tgtEl>
                                      </p:cBhvr>
                                    </p:animEffect>
                                  </p:childTnLst>
                                </p:cTn>
                              </p:par>
                            </p:childTnLst>
                          </p:cTn>
                        </p:par>
                        <p:par>
                          <p:cTn id="21" fill="hold" nodeType="afterGroup">
                            <p:stCondLst>
                              <p:cond delay="2000"/>
                            </p:stCondLst>
                            <p:childTnLst>
                              <p:par>
                                <p:cTn id="22" presetID="10" presetClass="exit" presetSubtype="0" fill="hold" nodeType="afterEffect">
                                  <p:stCondLst>
                                    <p:cond delay="0"/>
                                  </p:stCondLst>
                                  <p:childTnLst>
                                    <p:animEffect transition="out" filter="fade">
                                      <p:cBhvr>
                                        <p:cTn id="23" dur="2000"/>
                                        <p:tgtEl>
                                          <p:spTgt spid="3"/>
                                        </p:tgtEl>
                                      </p:cBhvr>
                                    </p:animEffect>
                                    <p:set>
                                      <p:cBhvr>
                                        <p:cTn id="24" dur="1" fill="hold">
                                          <p:stCondLst>
                                            <p:cond delay="1999"/>
                                          </p:stCondLst>
                                        </p:cTn>
                                        <p:tgtEl>
                                          <p:spTgt spid="3"/>
                                        </p:tgtEl>
                                        <p:attrNameLst>
                                          <p:attrName>style.visibility</p:attrName>
                                        </p:attrNameLst>
                                      </p:cBhvr>
                                      <p:to>
                                        <p:strVal val="hidden"/>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0" presetClass="path" presetSubtype="0" accel="50000" decel="50000" fill="hold" grpId="1" nodeType="clickEffect">
                                  <p:stCondLst>
                                    <p:cond delay="0"/>
                                  </p:stCondLst>
                                  <p:childTnLst>
                                    <p:animMotion origin="layout" path="M 6.66667E-6 -2.22222E-6 L -0.14166 0.12593 " pathEditMode="relative" ptsTypes="AA">
                                      <p:cBhvr>
                                        <p:cTn id="28" dur="2000" fill="hold"/>
                                        <p:tgtEl>
                                          <p:spTgt spid="6470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08" grpId="0" animBg="1"/>
      <p:bldP spid="64708"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idx="1"/>
          </p:nvPr>
        </p:nvSpPr>
        <p:spPr>
          <a:xfrm>
            <a:off x="1431925" y="304800"/>
            <a:ext cx="6499225" cy="762000"/>
          </a:xfrm>
        </p:spPr>
        <p:txBody>
          <a:bodyPr/>
          <a:lstStyle/>
          <a:p>
            <a:pPr algn="ctr">
              <a:buFontTx/>
              <a:buNone/>
            </a:pPr>
            <a:r>
              <a:rPr lang="en-US" altLang="fr-FR" sz="2400" b="1" smtClean="0">
                <a:latin typeface="Arial Narrow" panose="020B0606020202030204" pitchFamily="34" charset="0"/>
              </a:rPr>
              <a:t>Phase a – enroulement à distribution sinusoïdale </a:t>
            </a:r>
          </a:p>
        </p:txBody>
      </p:sp>
      <p:sp>
        <p:nvSpPr>
          <p:cNvPr id="22531"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32" name="Oval 4"/>
          <p:cNvSpPr>
            <a:spLocks noChangeAspect="1" noChangeArrowheads="1"/>
          </p:cNvSpPr>
          <p:nvPr/>
        </p:nvSpPr>
        <p:spPr bwMode="auto">
          <a:xfrm>
            <a:off x="2514600" y="838200"/>
            <a:ext cx="3810000" cy="3752850"/>
          </a:xfrm>
          <a:prstGeom prst="ellipse">
            <a:avLst/>
          </a:prstGeom>
          <a:solidFill>
            <a:srgbClr val="C0C0C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33" name="Oval 5"/>
          <p:cNvSpPr>
            <a:spLocks noChangeAspect="1" noChangeArrowheads="1"/>
          </p:cNvSpPr>
          <p:nvPr/>
        </p:nvSpPr>
        <p:spPr bwMode="auto">
          <a:xfrm>
            <a:off x="3238500" y="1574800"/>
            <a:ext cx="2300288" cy="2305050"/>
          </a:xfrm>
          <a:prstGeom prst="ellipse">
            <a:avLst/>
          </a:prstGeom>
          <a:gradFill rotWithShape="1">
            <a:gsLst>
              <a:gs pos="0">
                <a:srgbClr val="FFFF99"/>
              </a:gs>
              <a:gs pos="50000">
                <a:srgbClr val="FC2C59"/>
              </a:gs>
              <a:gs pos="100000">
                <a:srgbClr val="FFFF99"/>
              </a:gs>
            </a:gsLst>
            <a:lin ang="5400000" scaled="1"/>
          </a:gra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34" name="Oval 6"/>
          <p:cNvSpPr>
            <a:spLocks noChangeAspect="1" noChangeArrowheads="1"/>
          </p:cNvSpPr>
          <p:nvPr/>
        </p:nvSpPr>
        <p:spPr bwMode="auto">
          <a:xfrm>
            <a:off x="3416300" y="1739900"/>
            <a:ext cx="1943100" cy="1965325"/>
          </a:xfrm>
          <a:prstGeom prst="ellipse">
            <a:avLst/>
          </a:prstGeom>
          <a:solidFill>
            <a:srgbClr val="C0C0C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35" name="Line 7"/>
          <p:cNvSpPr>
            <a:spLocks noChangeShapeType="1"/>
          </p:cNvSpPr>
          <p:nvPr/>
        </p:nvSpPr>
        <p:spPr bwMode="auto">
          <a:xfrm>
            <a:off x="3429000" y="2514600"/>
            <a:ext cx="1905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22536" name="Line 8"/>
          <p:cNvSpPr>
            <a:spLocks noChangeShapeType="1"/>
          </p:cNvSpPr>
          <p:nvPr/>
        </p:nvSpPr>
        <p:spPr bwMode="auto">
          <a:xfrm>
            <a:off x="3429000" y="2819400"/>
            <a:ext cx="1905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22537" name="Oval 9"/>
          <p:cNvSpPr>
            <a:spLocks noChangeArrowheads="1"/>
          </p:cNvSpPr>
          <p:nvPr/>
        </p:nvSpPr>
        <p:spPr bwMode="auto">
          <a:xfrm>
            <a:off x="2971800" y="1143000"/>
            <a:ext cx="2819400" cy="3124200"/>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38" name="Rectangle 10"/>
          <p:cNvSpPr>
            <a:spLocks noChangeArrowheads="1"/>
          </p:cNvSpPr>
          <p:nvPr/>
        </p:nvSpPr>
        <p:spPr bwMode="auto">
          <a:xfrm>
            <a:off x="2857500" y="2241550"/>
            <a:ext cx="342900" cy="819150"/>
          </a:xfrm>
          <a:prstGeom prst="rect">
            <a:avLst/>
          </a:prstGeom>
          <a:solidFill>
            <a:srgbClr val="C0C0C0"/>
          </a:solidFill>
          <a:ln w="9525">
            <a:solidFill>
              <a:srgbClr val="C0C0C0"/>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39" name="Rectangle 11"/>
          <p:cNvSpPr>
            <a:spLocks noChangeArrowheads="1"/>
          </p:cNvSpPr>
          <p:nvPr/>
        </p:nvSpPr>
        <p:spPr bwMode="auto">
          <a:xfrm>
            <a:off x="5575300" y="2317750"/>
            <a:ext cx="228600" cy="711200"/>
          </a:xfrm>
          <a:prstGeom prst="rect">
            <a:avLst/>
          </a:prstGeom>
          <a:solidFill>
            <a:srgbClr val="C0C0C0"/>
          </a:solidFill>
          <a:ln w="9525">
            <a:solidFill>
              <a:srgbClr val="C0C0C0"/>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40" name="Freeform 12"/>
          <p:cNvSpPr>
            <a:spLocks/>
          </p:cNvSpPr>
          <p:nvPr/>
        </p:nvSpPr>
        <p:spPr bwMode="auto">
          <a:xfrm>
            <a:off x="5340350" y="2286000"/>
            <a:ext cx="444500" cy="223838"/>
          </a:xfrm>
          <a:custGeom>
            <a:avLst/>
            <a:gdLst>
              <a:gd name="T0" fmla="*/ 2147483646 w 208"/>
              <a:gd name="T1" fmla="*/ 0 h 141"/>
              <a:gd name="T2" fmla="*/ 2147483646 w 208"/>
              <a:gd name="T3" fmla="*/ 2147483646 h 141"/>
              <a:gd name="T4" fmla="*/ 2147483646 w 208"/>
              <a:gd name="T5" fmla="*/ 2147483646 h 141"/>
              <a:gd name="T6" fmla="*/ 0 w 208"/>
              <a:gd name="T7" fmla="*/ 2147483646 h 141"/>
              <a:gd name="T8" fmla="*/ 0 60000 65536"/>
              <a:gd name="T9" fmla="*/ 0 60000 65536"/>
              <a:gd name="T10" fmla="*/ 0 60000 65536"/>
              <a:gd name="T11" fmla="*/ 0 60000 65536"/>
              <a:gd name="T12" fmla="*/ 0 w 208"/>
              <a:gd name="T13" fmla="*/ 0 h 141"/>
              <a:gd name="T14" fmla="*/ 208 w 208"/>
              <a:gd name="T15" fmla="*/ 141 h 141"/>
            </a:gdLst>
            <a:ahLst/>
            <a:cxnLst>
              <a:cxn ang="T8">
                <a:pos x="T0" y="T1"/>
              </a:cxn>
              <a:cxn ang="T9">
                <a:pos x="T2" y="T3"/>
              </a:cxn>
              <a:cxn ang="T10">
                <a:pos x="T4" y="T5"/>
              </a:cxn>
              <a:cxn ang="T11">
                <a:pos x="T6" y="T7"/>
              </a:cxn>
            </a:cxnLst>
            <a:rect l="T12" t="T13" r="T14" b="T15"/>
            <a:pathLst>
              <a:path w="208" h="141">
                <a:moveTo>
                  <a:pt x="188" y="0"/>
                </a:moveTo>
                <a:cubicBezTo>
                  <a:pt x="198" y="21"/>
                  <a:pt x="208" y="43"/>
                  <a:pt x="196" y="64"/>
                </a:cubicBezTo>
                <a:cubicBezTo>
                  <a:pt x="184" y="85"/>
                  <a:pt x="149" y="115"/>
                  <a:pt x="116" y="128"/>
                </a:cubicBezTo>
                <a:cubicBezTo>
                  <a:pt x="83" y="141"/>
                  <a:pt x="19" y="138"/>
                  <a:pt x="0" y="140"/>
                </a:cubicBezTo>
              </a:path>
            </a:pathLst>
          </a:custGeom>
          <a:noFill/>
          <a:ln w="9525" cap="flat">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2541" name="Freeform 13"/>
          <p:cNvSpPr>
            <a:spLocks/>
          </p:cNvSpPr>
          <p:nvPr/>
        </p:nvSpPr>
        <p:spPr bwMode="auto">
          <a:xfrm flipH="1">
            <a:off x="2990850" y="2222500"/>
            <a:ext cx="444500" cy="287338"/>
          </a:xfrm>
          <a:custGeom>
            <a:avLst/>
            <a:gdLst>
              <a:gd name="T0" fmla="*/ 2147483646 w 208"/>
              <a:gd name="T1" fmla="*/ 0 h 141"/>
              <a:gd name="T2" fmla="*/ 2147483646 w 208"/>
              <a:gd name="T3" fmla="*/ 2147483646 h 141"/>
              <a:gd name="T4" fmla="*/ 2147483646 w 208"/>
              <a:gd name="T5" fmla="*/ 2147483646 h 141"/>
              <a:gd name="T6" fmla="*/ 0 w 208"/>
              <a:gd name="T7" fmla="*/ 2147483646 h 141"/>
              <a:gd name="T8" fmla="*/ 0 60000 65536"/>
              <a:gd name="T9" fmla="*/ 0 60000 65536"/>
              <a:gd name="T10" fmla="*/ 0 60000 65536"/>
              <a:gd name="T11" fmla="*/ 0 60000 65536"/>
              <a:gd name="T12" fmla="*/ 0 w 208"/>
              <a:gd name="T13" fmla="*/ 0 h 141"/>
              <a:gd name="T14" fmla="*/ 208 w 208"/>
              <a:gd name="T15" fmla="*/ 141 h 141"/>
            </a:gdLst>
            <a:ahLst/>
            <a:cxnLst>
              <a:cxn ang="T8">
                <a:pos x="T0" y="T1"/>
              </a:cxn>
              <a:cxn ang="T9">
                <a:pos x="T2" y="T3"/>
              </a:cxn>
              <a:cxn ang="T10">
                <a:pos x="T4" y="T5"/>
              </a:cxn>
              <a:cxn ang="T11">
                <a:pos x="T6" y="T7"/>
              </a:cxn>
            </a:cxnLst>
            <a:rect l="T12" t="T13" r="T14" b="T15"/>
            <a:pathLst>
              <a:path w="208" h="141">
                <a:moveTo>
                  <a:pt x="188" y="0"/>
                </a:moveTo>
                <a:cubicBezTo>
                  <a:pt x="198" y="21"/>
                  <a:pt x="208" y="43"/>
                  <a:pt x="196" y="64"/>
                </a:cubicBezTo>
                <a:cubicBezTo>
                  <a:pt x="184" y="85"/>
                  <a:pt x="149" y="115"/>
                  <a:pt x="116" y="128"/>
                </a:cubicBezTo>
                <a:cubicBezTo>
                  <a:pt x="83" y="141"/>
                  <a:pt x="19" y="138"/>
                  <a:pt x="0" y="140"/>
                </a:cubicBezTo>
              </a:path>
            </a:pathLst>
          </a:custGeom>
          <a:noFill/>
          <a:ln w="9525" cap="flat">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2542" name="Freeform 14"/>
          <p:cNvSpPr>
            <a:spLocks/>
          </p:cNvSpPr>
          <p:nvPr/>
        </p:nvSpPr>
        <p:spPr bwMode="auto">
          <a:xfrm flipH="1" flipV="1">
            <a:off x="3003550" y="2819400"/>
            <a:ext cx="393700" cy="317500"/>
          </a:xfrm>
          <a:custGeom>
            <a:avLst/>
            <a:gdLst>
              <a:gd name="T0" fmla="*/ 2147483646 w 208"/>
              <a:gd name="T1" fmla="*/ 0 h 141"/>
              <a:gd name="T2" fmla="*/ 2147483646 w 208"/>
              <a:gd name="T3" fmla="*/ 2147483646 h 141"/>
              <a:gd name="T4" fmla="*/ 2147483646 w 208"/>
              <a:gd name="T5" fmla="*/ 2147483646 h 141"/>
              <a:gd name="T6" fmla="*/ 0 w 208"/>
              <a:gd name="T7" fmla="*/ 2147483646 h 141"/>
              <a:gd name="T8" fmla="*/ 0 60000 65536"/>
              <a:gd name="T9" fmla="*/ 0 60000 65536"/>
              <a:gd name="T10" fmla="*/ 0 60000 65536"/>
              <a:gd name="T11" fmla="*/ 0 60000 65536"/>
              <a:gd name="T12" fmla="*/ 0 w 208"/>
              <a:gd name="T13" fmla="*/ 0 h 141"/>
              <a:gd name="T14" fmla="*/ 208 w 208"/>
              <a:gd name="T15" fmla="*/ 141 h 141"/>
            </a:gdLst>
            <a:ahLst/>
            <a:cxnLst>
              <a:cxn ang="T8">
                <a:pos x="T0" y="T1"/>
              </a:cxn>
              <a:cxn ang="T9">
                <a:pos x="T2" y="T3"/>
              </a:cxn>
              <a:cxn ang="T10">
                <a:pos x="T4" y="T5"/>
              </a:cxn>
              <a:cxn ang="T11">
                <a:pos x="T6" y="T7"/>
              </a:cxn>
            </a:cxnLst>
            <a:rect l="T12" t="T13" r="T14" b="T15"/>
            <a:pathLst>
              <a:path w="208" h="141">
                <a:moveTo>
                  <a:pt x="188" y="0"/>
                </a:moveTo>
                <a:cubicBezTo>
                  <a:pt x="198" y="21"/>
                  <a:pt x="208" y="43"/>
                  <a:pt x="196" y="64"/>
                </a:cubicBezTo>
                <a:cubicBezTo>
                  <a:pt x="184" y="85"/>
                  <a:pt x="149" y="115"/>
                  <a:pt x="116" y="128"/>
                </a:cubicBezTo>
                <a:cubicBezTo>
                  <a:pt x="83" y="141"/>
                  <a:pt x="19" y="138"/>
                  <a:pt x="0" y="140"/>
                </a:cubicBezTo>
              </a:path>
            </a:pathLst>
          </a:custGeom>
          <a:noFill/>
          <a:ln w="9525" cap="flat">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2543" name="Freeform 15"/>
          <p:cNvSpPr>
            <a:spLocks/>
          </p:cNvSpPr>
          <p:nvPr/>
        </p:nvSpPr>
        <p:spPr bwMode="auto">
          <a:xfrm flipV="1">
            <a:off x="5353050" y="2819400"/>
            <a:ext cx="431800" cy="241300"/>
          </a:xfrm>
          <a:custGeom>
            <a:avLst/>
            <a:gdLst>
              <a:gd name="T0" fmla="*/ 2147483646 w 208"/>
              <a:gd name="T1" fmla="*/ 0 h 141"/>
              <a:gd name="T2" fmla="*/ 2147483646 w 208"/>
              <a:gd name="T3" fmla="*/ 2147483646 h 141"/>
              <a:gd name="T4" fmla="*/ 2147483646 w 208"/>
              <a:gd name="T5" fmla="*/ 2147483646 h 141"/>
              <a:gd name="T6" fmla="*/ 0 w 208"/>
              <a:gd name="T7" fmla="*/ 2147483646 h 141"/>
              <a:gd name="T8" fmla="*/ 0 60000 65536"/>
              <a:gd name="T9" fmla="*/ 0 60000 65536"/>
              <a:gd name="T10" fmla="*/ 0 60000 65536"/>
              <a:gd name="T11" fmla="*/ 0 60000 65536"/>
              <a:gd name="T12" fmla="*/ 0 w 208"/>
              <a:gd name="T13" fmla="*/ 0 h 141"/>
              <a:gd name="T14" fmla="*/ 208 w 208"/>
              <a:gd name="T15" fmla="*/ 141 h 141"/>
            </a:gdLst>
            <a:ahLst/>
            <a:cxnLst>
              <a:cxn ang="T8">
                <a:pos x="T0" y="T1"/>
              </a:cxn>
              <a:cxn ang="T9">
                <a:pos x="T2" y="T3"/>
              </a:cxn>
              <a:cxn ang="T10">
                <a:pos x="T4" y="T5"/>
              </a:cxn>
              <a:cxn ang="T11">
                <a:pos x="T6" y="T7"/>
              </a:cxn>
            </a:cxnLst>
            <a:rect l="T12" t="T13" r="T14" b="T15"/>
            <a:pathLst>
              <a:path w="208" h="141">
                <a:moveTo>
                  <a:pt x="188" y="0"/>
                </a:moveTo>
                <a:cubicBezTo>
                  <a:pt x="198" y="21"/>
                  <a:pt x="208" y="43"/>
                  <a:pt x="196" y="64"/>
                </a:cubicBezTo>
                <a:cubicBezTo>
                  <a:pt x="184" y="85"/>
                  <a:pt x="149" y="115"/>
                  <a:pt x="116" y="128"/>
                </a:cubicBezTo>
                <a:cubicBezTo>
                  <a:pt x="83" y="141"/>
                  <a:pt x="19" y="138"/>
                  <a:pt x="0" y="140"/>
                </a:cubicBezTo>
              </a:path>
            </a:pathLst>
          </a:custGeom>
          <a:noFill/>
          <a:ln w="9525" cap="flat">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2544" name="Line 16"/>
          <p:cNvSpPr>
            <a:spLocks noChangeShapeType="1"/>
          </p:cNvSpPr>
          <p:nvPr/>
        </p:nvSpPr>
        <p:spPr bwMode="auto">
          <a:xfrm>
            <a:off x="4495800" y="2667000"/>
            <a:ext cx="2514600" cy="0"/>
          </a:xfrm>
          <a:prstGeom prst="line">
            <a:avLst/>
          </a:prstGeom>
          <a:noFill/>
          <a:ln w="5715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22545" name="Line 17"/>
          <p:cNvSpPr>
            <a:spLocks noChangeShapeType="1"/>
          </p:cNvSpPr>
          <p:nvPr/>
        </p:nvSpPr>
        <p:spPr bwMode="auto">
          <a:xfrm>
            <a:off x="5378450" y="2501900"/>
            <a:ext cx="127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546" name="Line 18"/>
          <p:cNvSpPr>
            <a:spLocks noChangeShapeType="1"/>
          </p:cNvSpPr>
          <p:nvPr/>
        </p:nvSpPr>
        <p:spPr bwMode="auto">
          <a:xfrm>
            <a:off x="5410200" y="2819400"/>
            <a:ext cx="127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547" name="Line 19"/>
          <p:cNvSpPr>
            <a:spLocks noChangeShapeType="1"/>
          </p:cNvSpPr>
          <p:nvPr/>
        </p:nvSpPr>
        <p:spPr bwMode="auto">
          <a:xfrm>
            <a:off x="3276600" y="2508250"/>
            <a:ext cx="127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548" name="Line 20"/>
          <p:cNvSpPr>
            <a:spLocks noChangeShapeType="1"/>
          </p:cNvSpPr>
          <p:nvPr/>
        </p:nvSpPr>
        <p:spPr bwMode="auto">
          <a:xfrm>
            <a:off x="3308350" y="2825750"/>
            <a:ext cx="127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549" name="Oval 21"/>
          <p:cNvSpPr>
            <a:spLocks noChangeArrowheads="1"/>
          </p:cNvSpPr>
          <p:nvPr/>
        </p:nvSpPr>
        <p:spPr bwMode="auto">
          <a:xfrm>
            <a:off x="4241800" y="3898900"/>
            <a:ext cx="304800" cy="304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50" name="Oval 22"/>
          <p:cNvSpPr>
            <a:spLocks noChangeArrowheads="1"/>
          </p:cNvSpPr>
          <p:nvPr/>
        </p:nvSpPr>
        <p:spPr bwMode="auto">
          <a:xfrm>
            <a:off x="3911600" y="1333500"/>
            <a:ext cx="228600" cy="228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51" name="Oval 23"/>
          <p:cNvSpPr>
            <a:spLocks noChangeArrowheads="1"/>
          </p:cNvSpPr>
          <p:nvPr/>
        </p:nvSpPr>
        <p:spPr bwMode="auto">
          <a:xfrm>
            <a:off x="3733800" y="1498600"/>
            <a:ext cx="152400" cy="152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52" name="Oval 24"/>
          <p:cNvSpPr>
            <a:spLocks noChangeArrowheads="1"/>
          </p:cNvSpPr>
          <p:nvPr/>
        </p:nvSpPr>
        <p:spPr bwMode="auto">
          <a:xfrm>
            <a:off x="3556000" y="1587500"/>
            <a:ext cx="114300" cy="1143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53" name="Oval 25"/>
          <p:cNvSpPr>
            <a:spLocks noChangeArrowheads="1"/>
          </p:cNvSpPr>
          <p:nvPr/>
        </p:nvSpPr>
        <p:spPr bwMode="auto">
          <a:xfrm flipH="1">
            <a:off x="4254500" y="1219200"/>
            <a:ext cx="304800" cy="304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54" name="Oval 26"/>
          <p:cNvSpPr>
            <a:spLocks noChangeArrowheads="1"/>
          </p:cNvSpPr>
          <p:nvPr/>
        </p:nvSpPr>
        <p:spPr bwMode="auto">
          <a:xfrm flipH="1">
            <a:off x="4737100" y="1346200"/>
            <a:ext cx="228600" cy="228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55" name="Oval 27"/>
          <p:cNvSpPr>
            <a:spLocks noChangeArrowheads="1"/>
          </p:cNvSpPr>
          <p:nvPr/>
        </p:nvSpPr>
        <p:spPr bwMode="auto">
          <a:xfrm flipH="1">
            <a:off x="5003800" y="1536700"/>
            <a:ext cx="152400" cy="152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56" name="Oval 28"/>
          <p:cNvSpPr>
            <a:spLocks noChangeArrowheads="1"/>
          </p:cNvSpPr>
          <p:nvPr/>
        </p:nvSpPr>
        <p:spPr bwMode="auto">
          <a:xfrm flipH="1">
            <a:off x="5194300" y="1689100"/>
            <a:ext cx="114300" cy="1143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57" name="Oval 29"/>
          <p:cNvSpPr>
            <a:spLocks noChangeArrowheads="1"/>
          </p:cNvSpPr>
          <p:nvPr/>
        </p:nvSpPr>
        <p:spPr bwMode="auto">
          <a:xfrm flipV="1">
            <a:off x="3886200" y="3886200"/>
            <a:ext cx="228600" cy="228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58" name="Oval 30"/>
          <p:cNvSpPr>
            <a:spLocks noChangeArrowheads="1"/>
          </p:cNvSpPr>
          <p:nvPr/>
        </p:nvSpPr>
        <p:spPr bwMode="auto">
          <a:xfrm flipV="1">
            <a:off x="3657600" y="3810000"/>
            <a:ext cx="152400" cy="152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59" name="Oval 31"/>
          <p:cNvSpPr>
            <a:spLocks noChangeArrowheads="1"/>
          </p:cNvSpPr>
          <p:nvPr/>
        </p:nvSpPr>
        <p:spPr bwMode="auto">
          <a:xfrm flipV="1">
            <a:off x="3467100" y="3657600"/>
            <a:ext cx="114300" cy="1143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60" name="Oval 32"/>
          <p:cNvSpPr>
            <a:spLocks noChangeArrowheads="1"/>
          </p:cNvSpPr>
          <p:nvPr/>
        </p:nvSpPr>
        <p:spPr bwMode="auto">
          <a:xfrm flipH="1" flipV="1">
            <a:off x="4660900" y="3873500"/>
            <a:ext cx="228600" cy="228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61" name="Oval 33"/>
          <p:cNvSpPr>
            <a:spLocks noChangeArrowheads="1"/>
          </p:cNvSpPr>
          <p:nvPr/>
        </p:nvSpPr>
        <p:spPr bwMode="auto">
          <a:xfrm flipH="1" flipV="1">
            <a:off x="4965700" y="3810000"/>
            <a:ext cx="152400" cy="152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62" name="Oval 34"/>
          <p:cNvSpPr>
            <a:spLocks noChangeArrowheads="1"/>
          </p:cNvSpPr>
          <p:nvPr/>
        </p:nvSpPr>
        <p:spPr bwMode="auto">
          <a:xfrm flipH="1" flipV="1">
            <a:off x="5168900" y="3702050"/>
            <a:ext cx="114300" cy="1143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63" name="Line 35"/>
          <p:cNvSpPr>
            <a:spLocks noChangeShapeType="1"/>
          </p:cNvSpPr>
          <p:nvPr/>
        </p:nvSpPr>
        <p:spPr bwMode="auto">
          <a:xfrm>
            <a:off x="4495800" y="2667000"/>
            <a:ext cx="3505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564" name="Line 36"/>
          <p:cNvSpPr>
            <a:spLocks noChangeShapeType="1"/>
          </p:cNvSpPr>
          <p:nvPr/>
        </p:nvSpPr>
        <p:spPr bwMode="auto">
          <a:xfrm flipV="1">
            <a:off x="4495800" y="1371600"/>
            <a:ext cx="3429000" cy="1295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22565" name="Freeform 37"/>
          <p:cNvSpPr>
            <a:spLocks/>
          </p:cNvSpPr>
          <p:nvPr/>
        </p:nvSpPr>
        <p:spPr bwMode="auto">
          <a:xfrm>
            <a:off x="7137400" y="1663700"/>
            <a:ext cx="177800" cy="1003300"/>
          </a:xfrm>
          <a:custGeom>
            <a:avLst/>
            <a:gdLst>
              <a:gd name="T0" fmla="*/ 2147483646 w 171"/>
              <a:gd name="T1" fmla="*/ 2147483646 h 632"/>
              <a:gd name="T2" fmla="*/ 2147483646 w 171"/>
              <a:gd name="T3" fmla="*/ 2147483646 h 632"/>
              <a:gd name="T4" fmla="*/ 0 w 171"/>
              <a:gd name="T5" fmla="*/ 0 h 632"/>
              <a:gd name="T6" fmla="*/ 0 60000 65536"/>
              <a:gd name="T7" fmla="*/ 0 60000 65536"/>
              <a:gd name="T8" fmla="*/ 0 60000 65536"/>
              <a:gd name="T9" fmla="*/ 0 w 171"/>
              <a:gd name="T10" fmla="*/ 0 h 632"/>
              <a:gd name="T11" fmla="*/ 171 w 171"/>
              <a:gd name="T12" fmla="*/ 632 h 632"/>
            </a:gdLst>
            <a:ahLst/>
            <a:cxnLst>
              <a:cxn ang="T6">
                <a:pos x="T0" y="T1"/>
              </a:cxn>
              <a:cxn ang="T7">
                <a:pos x="T2" y="T3"/>
              </a:cxn>
              <a:cxn ang="T8">
                <a:pos x="T4" y="T5"/>
              </a:cxn>
            </a:cxnLst>
            <a:rect l="T9" t="T10" r="T11" b="T12"/>
            <a:pathLst>
              <a:path w="171" h="632">
                <a:moveTo>
                  <a:pt x="160" y="632"/>
                </a:moveTo>
                <a:cubicBezTo>
                  <a:pt x="165" y="548"/>
                  <a:pt x="171" y="465"/>
                  <a:pt x="144" y="360"/>
                </a:cubicBezTo>
                <a:cubicBezTo>
                  <a:pt x="117" y="255"/>
                  <a:pt x="29" y="59"/>
                  <a:pt x="0" y="0"/>
                </a:cubicBezTo>
              </a:path>
            </a:pathLst>
          </a:custGeom>
          <a:noFill/>
          <a:ln w="9525">
            <a:solidFill>
              <a:schemeClr val="tx1"/>
            </a:solidFill>
            <a:round/>
            <a:headEnd type="none" w="med" len="med"/>
            <a:tailEnd type="triangle" w="lg" len="me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2566" name="Text Box 38"/>
          <p:cNvSpPr txBox="1">
            <a:spLocks noChangeArrowheads="1"/>
          </p:cNvSpPr>
          <p:nvPr/>
        </p:nvSpPr>
        <p:spPr bwMode="auto">
          <a:xfrm>
            <a:off x="7299325" y="1711325"/>
            <a:ext cx="342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sym typeface="Symbol" panose="05050102010706020507" pitchFamily="18" charset="2"/>
              </a:rPr>
              <a:t></a:t>
            </a:r>
          </a:p>
        </p:txBody>
      </p:sp>
      <p:sp>
        <p:nvSpPr>
          <p:cNvPr id="22567" name="Oval 39"/>
          <p:cNvSpPr>
            <a:spLocks noChangeArrowheads="1"/>
          </p:cNvSpPr>
          <p:nvPr/>
        </p:nvSpPr>
        <p:spPr bwMode="auto">
          <a:xfrm>
            <a:off x="4368800" y="1346200"/>
            <a:ext cx="76200" cy="76200"/>
          </a:xfrm>
          <a:prstGeom prst="ellipse">
            <a:avLst/>
          </a:prstGeom>
          <a:solidFill>
            <a:schemeClr val="tx2"/>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nvGrpSpPr>
          <p:cNvPr id="22568" name="Group 40"/>
          <p:cNvGrpSpPr>
            <a:grpSpLocks/>
          </p:cNvGrpSpPr>
          <p:nvPr/>
        </p:nvGrpSpPr>
        <p:grpSpPr bwMode="auto">
          <a:xfrm>
            <a:off x="4332288" y="3987800"/>
            <a:ext cx="117475" cy="130175"/>
            <a:chOff x="2894" y="3166"/>
            <a:chExt cx="74" cy="82"/>
          </a:xfrm>
        </p:grpSpPr>
        <p:sp>
          <p:nvSpPr>
            <p:cNvPr id="22584" name="Line 41"/>
            <p:cNvSpPr>
              <a:spLocks noChangeShapeType="1"/>
            </p:cNvSpPr>
            <p:nvPr/>
          </p:nvSpPr>
          <p:spPr bwMode="auto">
            <a:xfrm>
              <a:off x="2894" y="3166"/>
              <a:ext cx="74" cy="8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2585" name="Line 42"/>
            <p:cNvSpPr>
              <a:spLocks noChangeShapeType="1"/>
            </p:cNvSpPr>
            <p:nvPr/>
          </p:nvSpPr>
          <p:spPr bwMode="auto">
            <a:xfrm flipH="1">
              <a:off x="2896" y="3168"/>
              <a:ext cx="72" cy="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22569" name="Freeform 43"/>
          <p:cNvSpPr>
            <a:spLocks noChangeAspect="1"/>
          </p:cNvSpPr>
          <p:nvPr/>
        </p:nvSpPr>
        <p:spPr bwMode="auto">
          <a:xfrm flipH="1">
            <a:off x="2141538" y="4400550"/>
            <a:ext cx="1200150" cy="1012825"/>
          </a:xfrm>
          <a:custGeom>
            <a:avLst/>
            <a:gdLst>
              <a:gd name="T0" fmla="*/ 0 w 720"/>
              <a:gd name="T1" fmla="*/ 2147483646 h 920"/>
              <a:gd name="T2" fmla="*/ 2147483646 w 720"/>
              <a:gd name="T3" fmla="*/ 2147483646 h 920"/>
              <a:gd name="T4" fmla="*/ 2147483646 w 720"/>
              <a:gd name="T5" fmla="*/ 2147483646 h 920"/>
              <a:gd name="T6" fmla="*/ 2147483646 w 720"/>
              <a:gd name="T7" fmla="*/ 2147483646 h 920"/>
              <a:gd name="T8" fmla="*/ 0 60000 65536"/>
              <a:gd name="T9" fmla="*/ 0 60000 65536"/>
              <a:gd name="T10" fmla="*/ 0 60000 65536"/>
              <a:gd name="T11" fmla="*/ 0 60000 65536"/>
              <a:gd name="T12" fmla="*/ 0 w 720"/>
              <a:gd name="T13" fmla="*/ 0 h 920"/>
              <a:gd name="T14" fmla="*/ 720 w 720"/>
              <a:gd name="T15" fmla="*/ 920 h 920"/>
            </a:gdLst>
            <a:ahLst/>
            <a:cxnLst>
              <a:cxn ang="T8">
                <a:pos x="T0" y="T1"/>
              </a:cxn>
              <a:cxn ang="T9">
                <a:pos x="T2" y="T3"/>
              </a:cxn>
              <a:cxn ang="T10">
                <a:pos x="T4" y="T5"/>
              </a:cxn>
              <a:cxn ang="T11">
                <a:pos x="T6" y="T7"/>
              </a:cxn>
            </a:cxnLst>
            <a:rect l="T12" t="T13" r="T14" b="T15"/>
            <a:pathLst>
              <a:path w="720" h="920">
                <a:moveTo>
                  <a:pt x="0" y="920"/>
                </a:moveTo>
                <a:cubicBezTo>
                  <a:pt x="120" y="704"/>
                  <a:pt x="240" y="488"/>
                  <a:pt x="336" y="344"/>
                </a:cubicBezTo>
                <a:cubicBezTo>
                  <a:pt x="432" y="200"/>
                  <a:pt x="512" y="112"/>
                  <a:pt x="576" y="56"/>
                </a:cubicBezTo>
                <a:cubicBezTo>
                  <a:pt x="640" y="0"/>
                  <a:pt x="680" y="4"/>
                  <a:pt x="720" y="8"/>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2570" name="Freeform 44"/>
          <p:cNvSpPr>
            <a:spLocks noChangeAspect="1"/>
          </p:cNvSpPr>
          <p:nvPr/>
        </p:nvSpPr>
        <p:spPr bwMode="auto">
          <a:xfrm flipV="1">
            <a:off x="3341688" y="5413375"/>
            <a:ext cx="1201737" cy="1012825"/>
          </a:xfrm>
          <a:custGeom>
            <a:avLst/>
            <a:gdLst>
              <a:gd name="T0" fmla="*/ 0 w 720"/>
              <a:gd name="T1" fmla="*/ 2147483646 h 920"/>
              <a:gd name="T2" fmla="*/ 2147483646 w 720"/>
              <a:gd name="T3" fmla="*/ 2147483646 h 920"/>
              <a:gd name="T4" fmla="*/ 2147483646 w 720"/>
              <a:gd name="T5" fmla="*/ 2147483646 h 920"/>
              <a:gd name="T6" fmla="*/ 2147483646 w 720"/>
              <a:gd name="T7" fmla="*/ 2147483646 h 920"/>
              <a:gd name="T8" fmla="*/ 0 60000 65536"/>
              <a:gd name="T9" fmla="*/ 0 60000 65536"/>
              <a:gd name="T10" fmla="*/ 0 60000 65536"/>
              <a:gd name="T11" fmla="*/ 0 60000 65536"/>
              <a:gd name="T12" fmla="*/ 0 w 720"/>
              <a:gd name="T13" fmla="*/ 0 h 920"/>
              <a:gd name="T14" fmla="*/ 720 w 720"/>
              <a:gd name="T15" fmla="*/ 920 h 920"/>
            </a:gdLst>
            <a:ahLst/>
            <a:cxnLst>
              <a:cxn ang="T8">
                <a:pos x="T0" y="T1"/>
              </a:cxn>
              <a:cxn ang="T9">
                <a:pos x="T2" y="T3"/>
              </a:cxn>
              <a:cxn ang="T10">
                <a:pos x="T4" y="T5"/>
              </a:cxn>
              <a:cxn ang="T11">
                <a:pos x="T6" y="T7"/>
              </a:cxn>
            </a:cxnLst>
            <a:rect l="T12" t="T13" r="T14" b="T15"/>
            <a:pathLst>
              <a:path w="720" h="920">
                <a:moveTo>
                  <a:pt x="0" y="920"/>
                </a:moveTo>
                <a:cubicBezTo>
                  <a:pt x="120" y="704"/>
                  <a:pt x="240" y="488"/>
                  <a:pt x="336" y="344"/>
                </a:cubicBezTo>
                <a:cubicBezTo>
                  <a:pt x="432" y="200"/>
                  <a:pt x="512" y="112"/>
                  <a:pt x="576" y="56"/>
                </a:cubicBezTo>
                <a:cubicBezTo>
                  <a:pt x="640" y="0"/>
                  <a:pt x="680" y="4"/>
                  <a:pt x="720" y="8"/>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2571" name="Freeform 45"/>
          <p:cNvSpPr>
            <a:spLocks noChangeAspect="1"/>
          </p:cNvSpPr>
          <p:nvPr/>
        </p:nvSpPr>
        <p:spPr bwMode="auto">
          <a:xfrm flipH="1" flipV="1">
            <a:off x="4543425" y="5413375"/>
            <a:ext cx="1200150" cy="1012825"/>
          </a:xfrm>
          <a:custGeom>
            <a:avLst/>
            <a:gdLst>
              <a:gd name="T0" fmla="*/ 0 w 720"/>
              <a:gd name="T1" fmla="*/ 2147483646 h 920"/>
              <a:gd name="T2" fmla="*/ 2147483646 w 720"/>
              <a:gd name="T3" fmla="*/ 2147483646 h 920"/>
              <a:gd name="T4" fmla="*/ 2147483646 w 720"/>
              <a:gd name="T5" fmla="*/ 2147483646 h 920"/>
              <a:gd name="T6" fmla="*/ 2147483646 w 720"/>
              <a:gd name="T7" fmla="*/ 2147483646 h 920"/>
              <a:gd name="T8" fmla="*/ 0 60000 65536"/>
              <a:gd name="T9" fmla="*/ 0 60000 65536"/>
              <a:gd name="T10" fmla="*/ 0 60000 65536"/>
              <a:gd name="T11" fmla="*/ 0 60000 65536"/>
              <a:gd name="T12" fmla="*/ 0 w 720"/>
              <a:gd name="T13" fmla="*/ 0 h 920"/>
              <a:gd name="T14" fmla="*/ 720 w 720"/>
              <a:gd name="T15" fmla="*/ 920 h 920"/>
            </a:gdLst>
            <a:ahLst/>
            <a:cxnLst>
              <a:cxn ang="T8">
                <a:pos x="T0" y="T1"/>
              </a:cxn>
              <a:cxn ang="T9">
                <a:pos x="T2" y="T3"/>
              </a:cxn>
              <a:cxn ang="T10">
                <a:pos x="T4" y="T5"/>
              </a:cxn>
              <a:cxn ang="T11">
                <a:pos x="T6" y="T7"/>
              </a:cxn>
            </a:cxnLst>
            <a:rect l="T12" t="T13" r="T14" b="T15"/>
            <a:pathLst>
              <a:path w="720" h="920">
                <a:moveTo>
                  <a:pt x="0" y="920"/>
                </a:moveTo>
                <a:cubicBezTo>
                  <a:pt x="120" y="704"/>
                  <a:pt x="240" y="488"/>
                  <a:pt x="336" y="344"/>
                </a:cubicBezTo>
                <a:cubicBezTo>
                  <a:pt x="432" y="200"/>
                  <a:pt x="512" y="112"/>
                  <a:pt x="576" y="56"/>
                </a:cubicBezTo>
                <a:cubicBezTo>
                  <a:pt x="640" y="0"/>
                  <a:pt x="680" y="4"/>
                  <a:pt x="720" y="8"/>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2572" name="Line 46"/>
          <p:cNvSpPr>
            <a:spLocks noChangeShapeType="1"/>
          </p:cNvSpPr>
          <p:nvPr/>
        </p:nvSpPr>
        <p:spPr bwMode="auto">
          <a:xfrm>
            <a:off x="2124075" y="5410200"/>
            <a:ext cx="5257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573" name="Text Box 47"/>
          <p:cNvSpPr txBox="1">
            <a:spLocks noChangeArrowheads="1"/>
          </p:cNvSpPr>
          <p:nvPr/>
        </p:nvSpPr>
        <p:spPr bwMode="auto">
          <a:xfrm>
            <a:off x="7381875" y="5257800"/>
            <a:ext cx="381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50000"/>
              </a:spcBef>
              <a:buClrTx/>
              <a:buSzTx/>
              <a:buFontTx/>
              <a:buNone/>
            </a:pPr>
            <a:r>
              <a:rPr lang="en-US" altLang="fr-FR" sz="1600">
                <a:latin typeface="Arial Narrow" panose="020B0606020202030204" pitchFamily="34" charset="0"/>
                <a:sym typeface="Symbol" panose="05050102010706020507" pitchFamily="18" charset="2"/>
              </a:rPr>
              <a:t></a:t>
            </a:r>
            <a:endParaRPr lang="en-US" altLang="fr-FR" sz="1600">
              <a:latin typeface="Arial Narrow" panose="020B0606020202030204" pitchFamily="34" charset="0"/>
            </a:endParaRPr>
          </a:p>
        </p:txBody>
      </p:sp>
      <p:sp>
        <p:nvSpPr>
          <p:cNvPr id="22574" name="Line 48"/>
          <p:cNvSpPr>
            <a:spLocks noChangeShapeType="1"/>
          </p:cNvSpPr>
          <p:nvPr/>
        </p:nvSpPr>
        <p:spPr bwMode="auto">
          <a:xfrm flipV="1">
            <a:off x="2124075" y="3886200"/>
            <a:ext cx="0" cy="2514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575" name="Text Box 49"/>
          <p:cNvSpPr txBox="1">
            <a:spLocks noChangeArrowheads="1"/>
          </p:cNvSpPr>
          <p:nvPr/>
        </p:nvSpPr>
        <p:spPr bwMode="auto">
          <a:xfrm>
            <a:off x="6507163" y="4049713"/>
            <a:ext cx="2073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rPr>
              <a:t>FMM dans l’entrefer</a:t>
            </a:r>
          </a:p>
        </p:txBody>
      </p:sp>
      <p:sp>
        <p:nvSpPr>
          <p:cNvPr id="22576" name="Text Box 50"/>
          <p:cNvSpPr txBox="1">
            <a:spLocks noChangeArrowheads="1"/>
          </p:cNvSpPr>
          <p:nvPr/>
        </p:nvSpPr>
        <p:spPr bwMode="auto">
          <a:xfrm>
            <a:off x="1438275" y="3810000"/>
            <a:ext cx="5683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800">
                <a:latin typeface="Calibri" panose="020F0502020204030204" pitchFamily="34" charset="0"/>
              </a:rPr>
              <a:t>ε</a:t>
            </a:r>
            <a:r>
              <a:rPr lang="en-US" altLang="fr-FR" sz="1600">
                <a:latin typeface="Arial Narrow" panose="020B0606020202030204" pitchFamily="34" charset="0"/>
              </a:rPr>
              <a:t>(</a:t>
            </a:r>
            <a:r>
              <a:rPr lang="en-US" altLang="fr-FR" sz="1600">
                <a:latin typeface="Arial Narrow" panose="020B0606020202030204" pitchFamily="34" charset="0"/>
                <a:sym typeface="Symbol" panose="05050102010706020507" pitchFamily="18" charset="2"/>
              </a:rPr>
              <a:t>)</a:t>
            </a:r>
            <a:endParaRPr lang="en-US" altLang="fr-FR" sz="1600">
              <a:latin typeface="Arial Narrow" panose="020B0606020202030204" pitchFamily="34" charset="0"/>
            </a:endParaRPr>
          </a:p>
        </p:txBody>
      </p:sp>
      <p:sp>
        <p:nvSpPr>
          <p:cNvPr id="22577" name="Freeform 51"/>
          <p:cNvSpPr>
            <a:spLocks noChangeAspect="1"/>
          </p:cNvSpPr>
          <p:nvPr/>
        </p:nvSpPr>
        <p:spPr bwMode="auto">
          <a:xfrm>
            <a:off x="5740400" y="4394200"/>
            <a:ext cx="1200150" cy="1012825"/>
          </a:xfrm>
          <a:custGeom>
            <a:avLst/>
            <a:gdLst>
              <a:gd name="T0" fmla="*/ 0 w 720"/>
              <a:gd name="T1" fmla="*/ 2147483646 h 920"/>
              <a:gd name="T2" fmla="*/ 2147483646 w 720"/>
              <a:gd name="T3" fmla="*/ 2147483646 h 920"/>
              <a:gd name="T4" fmla="*/ 2147483646 w 720"/>
              <a:gd name="T5" fmla="*/ 2147483646 h 920"/>
              <a:gd name="T6" fmla="*/ 2147483646 w 720"/>
              <a:gd name="T7" fmla="*/ 2147483646 h 920"/>
              <a:gd name="T8" fmla="*/ 0 60000 65536"/>
              <a:gd name="T9" fmla="*/ 0 60000 65536"/>
              <a:gd name="T10" fmla="*/ 0 60000 65536"/>
              <a:gd name="T11" fmla="*/ 0 60000 65536"/>
              <a:gd name="T12" fmla="*/ 0 w 720"/>
              <a:gd name="T13" fmla="*/ 0 h 920"/>
              <a:gd name="T14" fmla="*/ 720 w 720"/>
              <a:gd name="T15" fmla="*/ 920 h 920"/>
            </a:gdLst>
            <a:ahLst/>
            <a:cxnLst>
              <a:cxn ang="T8">
                <a:pos x="T0" y="T1"/>
              </a:cxn>
              <a:cxn ang="T9">
                <a:pos x="T2" y="T3"/>
              </a:cxn>
              <a:cxn ang="T10">
                <a:pos x="T4" y="T5"/>
              </a:cxn>
              <a:cxn ang="T11">
                <a:pos x="T6" y="T7"/>
              </a:cxn>
            </a:cxnLst>
            <a:rect l="T12" t="T13" r="T14" b="T15"/>
            <a:pathLst>
              <a:path w="720" h="920">
                <a:moveTo>
                  <a:pt x="0" y="920"/>
                </a:moveTo>
                <a:cubicBezTo>
                  <a:pt x="120" y="704"/>
                  <a:pt x="240" y="488"/>
                  <a:pt x="336" y="344"/>
                </a:cubicBezTo>
                <a:cubicBezTo>
                  <a:pt x="432" y="200"/>
                  <a:pt x="512" y="112"/>
                  <a:pt x="576" y="56"/>
                </a:cubicBezTo>
                <a:cubicBezTo>
                  <a:pt x="640" y="0"/>
                  <a:pt x="680" y="4"/>
                  <a:pt x="720" y="8"/>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2578" name="Text Box 52"/>
          <p:cNvSpPr txBox="1">
            <a:spLocks noChangeArrowheads="1"/>
          </p:cNvSpPr>
          <p:nvPr/>
        </p:nvSpPr>
        <p:spPr bwMode="auto">
          <a:xfrm>
            <a:off x="4343400" y="5334000"/>
            <a:ext cx="2968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a:t>
            </a:r>
          </a:p>
        </p:txBody>
      </p:sp>
      <p:sp>
        <p:nvSpPr>
          <p:cNvPr id="22579" name="Text Box 53"/>
          <p:cNvSpPr txBox="1">
            <a:spLocks noChangeArrowheads="1"/>
          </p:cNvSpPr>
          <p:nvPr/>
        </p:nvSpPr>
        <p:spPr bwMode="auto">
          <a:xfrm>
            <a:off x="6756400" y="5410200"/>
            <a:ext cx="3905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2</a:t>
            </a:r>
          </a:p>
        </p:txBody>
      </p:sp>
      <p:sp>
        <p:nvSpPr>
          <p:cNvPr id="22580" name="Line 54"/>
          <p:cNvSpPr>
            <a:spLocks noChangeShapeType="1"/>
          </p:cNvSpPr>
          <p:nvPr/>
        </p:nvSpPr>
        <p:spPr bwMode="auto">
          <a:xfrm>
            <a:off x="7010400" y="53340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2581" name="Line 55"/>
          <p:cNvSpPr>
            <a:spLocks noChangeShapeType="1"/>
          </p:cNvSpPr>
          <p:nvPr/>
        </p:nvSpPr>
        <p:spPr bwMode="auto">
          <a:xfrm>
            <a:off x="4535488" y="5373688"/>
            <a:ext cx="0" cy="714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2582" name="Espace réservé du numéro de diapositive 5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1B95C590-B92D-4230-AA55-37068DA9B80F}" type="slidenum">
              <a:rPr lang="en-US" altLang="fr-FR" sz="1000">
                <a:solidFill>
                  <a:srgbClr val="292929"/>
                </a:solidFill>
                <a:latin typeface="Arial" panose="020B0604020202020204" pitchFamily="34" charset="0"/>
              </a:rPr>
              <a:pPr>
                <a:spcBef>
                  <a:spcPct val="0"/>
                </a:spcBef>
                <a:buClrTx/>
                <a:buSzTx/>
                <a:buFontTx/>
                <a:buNone/>
              </a:pPr>
              <a:t>7</a:t>
            </a:fld>
            <a:endParaRPr lang="en-US" altLang="fr-FR" sz="1000">
              <a:solidFill>
                <a:srgbClr val="292929"/>
              </a:solidFill>
              <a:latin typeface="Arial" panose="020B0604020202020204" pitchFamily="34" charset="0"/>
            </a:endParaRPr>
          </a:p>
        </p:txBody>
      </p:sp>
      <p:sp>
        <p:nvSpPr>
          <p:cNvPr id="61" name="Espace réservé du pied de page 60"/>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42272197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reeform 43"/>
          <p:cNvSpPr>
            <a:spLocks noChangeAspect="1"/>
          </p:cNvSpPr>
          <p:nvPr/>
        </p:nvSpPr>
        <p:spPr bwMode="auto">
          <a:xfrm flipH="1">
            <a:off x="1989138" y="1470025"/>
            <a:ext cx="1200150" cy="1012825"/>
          </a:xfrm>
          <a:custGeom>
            <a:avLst/>
            <a:gdLst>
              <a:gd name="T0" fmla="*/ 0 w 720"/>
              <a:gd name="T1" fmla="*/ 2147483646 h 920"/>
              <a:gd name="T2" fmla="*/ 2147483646 w 720"/>
              <a:gd name="T3" fmla="*/ 2147483646 h 920"/>
              <a:gd name="T4" fmla="*/ 2147483646 w 720"/>
              <a:gd name="T5" fmla="*/ 2147483646 h 920"/>
              <a:gd name="T6" fmla="*/ 2147483646 w 720"/>
              <a:gd name="T7" fmla="*/ 2147483646 h 920"/>
              <a:gd name="T8" fmla="*/ 0 60000 65536"/>
              <a:gd name="T9" fmla="*/ 0 60000 65536"/>
              <a:gd name="T10" fmla="*/ 0 60000 65536"/>
              <a:gd name="T11" fmla="*/ 0 60000 65536"/>
              <a:gd name="T12" fmla="*/ 0 w 720"/>
              <a:gd name="T13" fmla="*/ 0 h 920"/>
              <a:gd name="T14" fmla="*/ 720 w 720"/>
              <a:gd name="T15" fmla="*/ 920 h 920"/>
            </a:gdLst>
            <a:ahLst/>
            <a:cxnLst>
              <a:cxn ang="T8">
                <a:pos x="T0" y="T1"/>
              </a:cxn>
              <a:cxn ang="T9">
                <a:pos x="T2" y="T3"/>
              </a:cxn>
              <a:cxn ang="T10">
                <a:pos x="T4" y="T5"/>
              </a:cxn>
              <a:cxn ang="T11">
                <a:pos x="T6" y="T7"/>
              </a:cxn>
            </a:cxnLst>
            <a:rect l="T12" t="T13" r="T14" b="T15"/>
            <a:pathLst>
              <a:path w="720" h="920">
                <a:moveTo>
                  <a:pt x="0" y="920"/>
                </a:moveTo>
                <a:cubicBezTo>
                  <a:pt x="120" y="704"/>
                  <a:pt x="240" y="488"/>
                  <a:pt x="336" y="344"/>
                </a:cubicBezTo>
                <a:cubicBezTo>
                  <a:pt x="432" y="200"/>
                  <a:pt x="512" y="112"/>
                  <a:pt x="576" y="56"/>
                </a:cubicBezTo>
                <a:cubicBezTo>
                  <a:pt x="640" y="0"/>
                  <a:pt x="680" y="4"/>
                  <a:pt x="720" y="8"/>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4579" name="Freeform 44"/>
          <p:cNvSpPr>
            <a:spLocks noChangeAspect="1"/>
          </p:cNvSpPr>
          <p:nvPr/>
        </p:nvSpPr>
        <p:spPr bwMode="auto">
          <a:xfrm flipV="1">
            <a:off x="3189288" y="2482850"/>
            <a:ext cx="1201737" cy="1012825"/>
          </a:xfrm>
          <a:custGeom>
            <a:avLst/>
            <a:gdLst>
              <a:gd name="T0" fmla="*/ 0 w 720"/>
              <a:gd name="T1" fmla="*/ 2147483646 h 920"/>
              <a:gd name="T2" fmla="*/ 2147483646 w 720"/>
              <a:gd name="T3" fmla="*/ 2147483646 h 920"/>
              <a:gd name="T4" fmla="*/ 2147483646 w 720"/>
              <a:gd name="T5" fmla="*/ 2147483646 h 920"/>
              <a:gd name="T6" fmla="*/ 2147483646 w 720"/>
              <a:gd name="T7" fmla="*/ 2147483646 h 920"/>
              <a:gd name="T8" fmla="*/ 0 60000 65536"/>
              <a:gd name="T9" fmla="*/ 0 60000 65536"/>
              <a:gd name="T10" fmla="*/ 0 60000 65536"/>
              <a:gd name="T11" fmla="*/ 0 60000 65536"/>
              <a:gd name="T12" fmla="*/ 0 w 720"/>
              <a:gd name="T13" fmla="*/ 0 h 920"/>
              <a:gd name="T14" fmla="*/ 720 w 720"/>
              <a:gd name="T15" fmla="*/ 920 h 920"/>
            </a:gdLst>
            <a:ahLst/>
            <a:cxnLst>
              <a:cxn ang="T8">
                <a:pos x="T0" y="T1"/>
              </a:cxn>
              <a:cxn ang="T9">
                <a:pos x="T2" y="T3"/>
              </a:cxn>
              <a:cxn ang="T10">
                <a:pos x="T4" y="T5"/>
              </a:cxn>
              <a:cxn ang="T11">
                <a:pos x="T6" y="T7"/>
              </a:cxn>
            </a:cxnLst>
            <a:rect l="T12" t="T13" r="T14" b="T15"/>
            <a:pathLst>
              <a:path w="720" h="920">
                <a:moveTo>
                  <a:pt x="0" y="920"/>
                </a:moveTo>
                <a:cubicBezTo>
                  <a:pt x="120" y="704"/>
                  <a:pt x="240" y="488"/>
                  <a:pt x="336" y="344"/>
                </a:cubicBezTo>
                <a:cubicBezTo>
                  <a:pt x="432" y="200"/>
                  <a:pt x="512" y="112"/>
                  <a:pt x="576" y="56"/>
                </a:cubicBezTo>
                <a:cubicBezTo>
                  <a:pt x="640" y="0"/>
                  <a:pt x="680" y="4"/>
                  <a:pt x="720" y="8"/>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4580" name="Freeform 45"/>
          <p:cNvSpPr>
            <a:spLocks noChangeAspect="1"/>
          </p:cNvSpPr>
          <p:nvPr/>
        </p:nvSpPr>
        <p:spPr bwMode="auto">
          <a:xfrm flipH="1" flipV="1">
            <a:off x="4391025" y="2482850"/>
            <a:ext cx="1200150" cy="1012825"/>
          </a:xfrm>
          <a:custGeom>
            <a:avLst/>
            <a:gdLst>
              <a:gd name="T0" fmla="*/ 0 w 720"/>
              <a:gd name="T1" fmla="*/ 2147483646 h 920"/>
              <a:gd name="T2" fmla="*/ 2147483646 w 720"/>
              <a:gd name="T3" fmla="*/ 2147483646 h 920"/>
              <a:gd name="T4" fmla="*/ 2147483646 w 720"/>
              <a:gd name="T5" fmla="*/ 2147483646 h 920"/>
              <a:gd name="T6" fmla="*/ 2147483646 w 720"/>
              <a:gd name="T7" fmla="*/ 2147483646 h 920"/>
              <a:gd name="T8" fmla="*/ 0 60000 65536"/>
              <a:gd name="T9" fmla="*/ 0 60000 65536"/>
              <a:gd name="T10" fmla="*/ 0 60000 65536"/>
              <a:gd name="T11" fmla="*/ 0 60000 65536"/>
              <a:gd name="T12" fmla="*/ 0 w 720"/>
              <a:gd name="T13" fmla="*/ 0 h 920"/>
              <a:gd name="T14" fmla="*/ 720 w 720"/>
              <a:gd name="T15" fmla="*/ 920 h 920"/>
            </a:gdLst>
            <a:ahLst/>
            <a:cxnLst>
              <a:cxn ang="T8">
                <a:pos x="T0" y="T1"/>
              </a:cxn>
              <a:cxn ang="T9">
                <a:pos x="T2" y="T3"/>
              </a:cxn>
              <a:cxn ang="T10">
                <a:pos x="T4" y="T5"/>
              </a:cxn>
              <a:cxn ang="T11">
                <a:pos x="T6" y="T7"/>
              </a:cxn>
            </a:cxnLst>
            <a:rect l="T12" t="T13" r="T14" b="T15"/>
            <a:pathLst>
              <a:path w="720" h="920">
                <a:moveTo>
                  <a:pt x="0" y="920"/>
                </a:moveTo>
                <a:cubicBezTo>
                  <a:pt x="120" y="704"/>
                  <a:pt x="240" y="488"/>
                  <a:pt x="336" y="344"/>
                </a:cubicBezTo>
                <a:cubicBezTo>
                  <a:pt x="432" y="200"/>
                  <a:pt x="512" y="112"/>
                  <a:pt x="576" y="56"/>
                </a:cubicBezTo>
                <a:cubicBezTo>
                  <a:pt x="640" y="0"/>
                  <a:pt x="680" y="4"/>
                  <a:pt x="720" y="8"/>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4581" name="Line 46"/>
          <p:cNvSpPr>
            <a:spLocks noChangeShapeType="1"/>
          </p:cNvSpPr>
          <p:nvPr/>
        </p:nvSpPr>
        <p:spPr bwMode="auto">
          <a:xfrm>
            <a:off x="1971675" y="2479675"/>
            <a:ext cx="5257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4582" name="Text Box 47"/>
          <p:cNvSpPr txBox="1">
            <a:spLocks noChangeArrowheads="1"/>
          </p:cNvSpPr>
          <p:nvPr/>
        </p:nvSpPr>
        <p:spPr bwMode="auto">
          <a:xfrm>
            <a:off x="7229475" y="2327275"/>
            <a:ext cx="381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50000"/>
              </a:spcBef>
              <a:buClrTx/>
              <a:buSzTx/>
              <a:buFontTx/>
              <a:buNone/>
            </a:pPr>
            <a:r>
              <a:rPr lang="en-US" altLang="fr-FR" sz="1600">
                <a:latin typeface="Arial Narrow" panose="020B0606020202030204" pitchFamily="34" charset="0"/>
                <a:sym typeface="Symbol" panose="05050102010706020507" pitchFamily="18" charset="2"/>
              </a:rPr>
              <a:t></a:t>
            </a:r>
            <a:endParaRPr lang="en-US" altLang="fr-FR" sz="1600">
              <a:latin typeface="Arial Narrow" panose="020B0606020202030204" pitchFamily="34" charset="0"/>
            </a:endParaRPr>
          </a:p>
        </p:txBody>
      </p:sp>
      <p:sp>
        <p:nvSpPr>
          <p:cNvPr id="24583" name="Line 48"/>
          <p:cNvSpPr>
            <a:spLocks noChangeShapeType="1"/>
          </p:cNvSpPr>
          <p:nvPr/>
        </p:nvSpPr>
        <p:spPr bwMode="auto">
          <a:xfrm flipV="1">
            <a:off x="1971675" y="955675"/>
            <a:ext cx="0" cy="2514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4584" name="Text Box 49"/>
          <p:cNvSpPr txBox="1">
            <a:spLocks noChangeArrowheads="1"/>
          </p:cNvSpPr>
          <p:nvPr/>
        </p:nvSpPr>
        <p:spPr bwMode="auto">
          <a:xfrm>
            <a:off x="6354763" y="1119188"/>
            <a:ext cx="2073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rPr>
              <a:t>FMM dans l’entrefer</a:t>
            </a:r>
          </a:p>
        </p:txBody>
      </p:sp>
      <p:sp>
        <p:nvSpPr>
          <p:cNvPr id="24585" name="Text Box 50"/>
          <p:cNvSpPr txBox="1">
            <a:spLocks noChangeArrowheads="1"/>
          </p:cNvSpPr>
          <p:nvPr/>
        </p:nvSpPr>
        <p:spPr bwMode="auto">
          <a:xfrm>
            <a:off x="1285875" y="879475"/>
            <a:ext cx="5683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800">
                <a:latin typeface="Calibri" panose="020F0502020204030204" pitchFamily="34" charset="0"/>
              </a:rPr>
              <a:t>ε</a:t>
            </a:r>
            <a:r>
              <a:rPr lang="en-US" altLang="fr-FR" sz="1600">
                <a:latin typeface="Arial Narrow" panose="020B0606020202030204" pitchFamily="34" charset="0"/>
              </a:rPr>
              <a:t>(</a:t>
            </a:r>
            <a:r>
              <a:rPr lang="en-US" altLang="fr-FR" sz="1600">
                <a:latin typeface="Arial Narrow" panose="020B0606020202030204" pitchFamily="34" charset="0"/>
                <a:sym typeface="Symbol" panose="05050102010706020507" pitchFamily="18" charset="2"/>
              </a:rPr>
              <a:t>)</a:t>
            </a:r>
            <a:endParaRPr lang="en-US" altLang="fr-FR" sz="1600">
              <a:latin typeface="Arial Narrow" panose="020B0606020202030204" pitchFamily="34" charset="0"/>
            </a:endParaRPr>
          </a:p>
        </p:txBody>
      </p:sp>
      <p:sp>
        <p:nvSpPr>
          <p:cNvPr id="24586" name="Freeform 51"/>
          <p:cNvSpPr>
            <a:spLocks noChangeAspect="1"/>
          </p:cNvSpPr>
          <p:nvPr/>
        </p:nvSpPr>
        <p:spPr bwMode="auto">
          <a:xfrm>
            <a:off x="5588000" y="1463675"/>
            <a:ext cx="1200150" cy="1012825"/>
          </a:xfrm>
          <a:custGeom>
            <a:avLst/>
            <a:gdLst>
              <a:gd name="T0" fmla="*/ 0 w 720"/>
              <a:gd name="T1" fmla="*/ 2147483646 h 920"/>
              <a:gd name="T2" fmla="*/ 2147483646 w 720"/>
              <a:gd name="T3" fmla="*/ 2147483646 h 920"/>
              <a:gd name="T4" fmla="*/ 2147483646 w 720"/>
              <a:gd name="T5" fmla="*/ 2147483646 h 920"/>
              <a:gd name="T6" fmla="*/ 2147483646 w 720"/>
              <a:gd name="T7" fmla="*/ 2147483646 h 920"/>
              <a:gd name="T8" fmla="*/ 0 60000 65536"/>
              <a:gd name="T9" fmla="*/ 0 60000 65536"/>
              <a:gd name="T10" fmla="*/ 0 60000 65536"/>
              <a:gd name="T11" fmla="*/ 0 60000 65536"/>
              <a:gd name="T12" fmla="*/ 0 w 720"/>
              <a:gd name="T13" fmla="*/ 0 h 920"/>
              <a:gd name="T14" fmla="*/ 720 w 720"/>
              <a:gd name="T15" fmla="*/ 920 h 920"/>
            </a:gdLst>
            <a:ahLst/>
            <a:cxnLst>
              <a:cxn ang="T8">
                <a:pos x="T0" y="T1"/>
              </a:cxn>
              <a:cxn ang="T9">
                <a:pos x="T2" y="T3"/>
              </a:cxn>
              <a:cxn ang="T10">
                <a:pos x="T4" y="T5"/>
              </a:cxn>
              <a:cxn ang="T11">
                <a:pos x="T6" y="T7"/>
              </a:cxn>
            </a:cxnLst>
            <a:rect l="T12" t="T13" r="T14" b="T15"/>
            <a:pathLst>
              <a:path w="720" h="920">
                <a:moveTo>
                  <a:pt x="0" y="920"/>
                </a:moveTo>
                <a:cubicBezTo>
                  <a:pt x="120" y="704"/>
                  <a:pt x="240" y="488"/>
                  <a:pt x="336" y="344"/>
                </a:cubicBezTo>
                <a:cubicBezTo>
                  <a:pt x="432" y="200"/>
                  <a:pt x="512" y="112"/>
                  <a:pt x="576" y="56"/>
                </a:cubicBezTo>
                <a:cubicBezTo>
                  <a:pt x="640" y="0"/>
                  <a:pt x="680" y="4"/>
                  <a:pt x="720" y="8"/>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4587" name="Text Box 52"/>
          <p:cNvSpPr txBox="1">
            <a:spLocks noChangeArrowheads="1"/>
          </p:cNvSpPr>
          <p:nvPr/>
        </p:nvSpPr>
        <p:spPr bwMode="auto">
          <a:xfrm>
            <a:off x="4191000" y="2403475"/>
            <a:ext cx="2968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a:t>
            </a:r>
          </a:p>
        </p:txBody>
      </p:sp>
      <p:sp>
        <p:nvSpPr>
          <p:cNvPr id="24588" name="Text Box 53"/>
          <p:cNvSpPr txBox="1">
            <a:spLocks noChangeArrowheads="1"/>
          </p:cNvSpPr>
          <p:nvPr/>
        </p:nvSpPr>
        <p:spPr bwMode="auto">
          <a:xfrm>
            <a:off x="6604000" y="2479675"/>
            <a:ext cx="3905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2</a:t>
            </a:r>
          </a:p>
        </p:txBody>
      </p:sp>
      <p:sp>
        <p:nvSpPr>
          <p:cNvPr id="24589" name="Line 54"/>
          <p:cNvSpPr>
            <a:spLocks noChangeShapeType="1"/>
          </p:cNvSpPr>
          <p:nvPr/>
        </p:nvSpPr>
        <p:spPr bwMode="auto">
          <a:xfrm>
            <a:off x="6858000" y="2403475"/>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4590" name="Line 55"/>
          <p:cNvSpPr>
            <a:spLocks noChangeShapeType="1"/>
          </p:cNvSpPr>
          <p:nvPr/>
        </p:nvSpPr>
        <p:spPr bwMode="auto">
          <a:xfrm>
            <a:off x="4383088" y="2443163"/>
            <a:ext cx="0" cy="714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4591" name="ZoneTexte 26"/>
          <p:cNvSpPr txBox="1">
            <a:spLocks noChangeArrowheads="1"/>
          </p:cNvSpPr>
          <p:nvPr/>
        </p:nvSpPr>
        <p:spPr bwMode="auto">
          <a:xfrm>
            <a:off x="1030288" y="4232275"/>
            <a:ext cx="7375525"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Narrow" panose="020B0606020202030204" pitchFamily="34" charset="0"/>
              </a:rPr>
              <a:t>La décomposition en série de Fourier donne une composante fondamentale:</a:t>
            </a:r>
          </a:p>
          <a:p>
            <a:pPr eaLnBrk="1" hangingPunct="1">
              <a:spcBef>
                <a:spcPct val="0"/>
              </a:spcBef>
              <a:buClrTx/>
              <a:buSzTx/>
              <a:buFontTx/>
              <a:buNone/>
            </a:pPr>
            <a:endParaRPr lang="fr-FR" altLang="fr-FR" sz="2000">
              <a:latin typeface="Arial Narrow" panose="020B0606020202030204" pitchFamily="34" charset="0"/>
            </a:endParaRPr>
          </a:p>
          <a:p>
            <a:pPr eaLnBrk="1" hangingPunct="1">
              <a:spcBef>
                <a:spcPct val="0"/>
              </a:spcBef>
              <a:buClrTx/>
              <a:buSzTx/>
              <a:buFontTx/>
              <a:buNone/>
            </a:pPr>
            <a:r>
              <a:rPr lang="fr-FR" altLang="fr-FR" sz="2400">
                <a:latin typeface="Calibri" panose="020F0502020204030204" pitchFamily="34" charset="0"/>
              </a:rPr>
              <a:t>                                  </a:t>
            </a:r>
            <a:r>
              <a:rPr lang="el-GR" altLang="fr-FR" sz="2400">
                <a:latin typeface="Calibri" panose="020F0502020204030204" pitchFamily="34" charset="0"/>
              </a:rPr>
              <a:t>ε</a:t>
            </a:r>
            <a:r>
              <a:rPr lang="fr-FR" altLang="fr-FR" sz="2400" baseline="-25000">
                <a:latin typeface="Calibri" panose="020F0502020204030204" pitchFamily="34" charset="0"/>
              </a:rPr>
              <a:t>1</a:t>
            </a:r>
            <a:r>
              <a:rPr lang="fr-FR" altLang="fr-FR" sz="2400">
                <a:latin typeface="Calibri" panose="020F0502020204030204" pitchFamily="34" charset="0"/>
              </a:rPr>
              <a:t> = k.(2/</a:t>
            </a:r>
            <a:r>
              <a:rPr lang="el-GR" altLang="fr-FR" sz="2400">
                <a:latin typeface="Calibri" panose="020F0502020204030204" pitchFamily="34" charset="0"/>
              </a:rPr>
              <a:t>π</a:t>
            </a:r>
            <a:r>
              <a:rPr lang="fr-FR" altLang="fr-FR" sz="2400">
                <a:latin typeface="Calibri" panose="020F0502020204030204" pitchFamily="34" charset="0"/>
              </a:rPr>
              <a:t>).N.</a:t>
            </a:r>
            <a:r>
              <a:rPr lang="fr-FR" altLang="fr-FR" sz="2400" i="1">
                <a:latin typeface="Calibri" panose="020F0502020204030204" pitchFamily="34" charset="0"/>
              </a:rPr>
              <a:t>i</a:t>
            </a:r>
            <a:r>
              <a:rPr lang="fr-FR" altLang="fr-FR" sz="2400">
                <a:latin typeface="Calibri" panose="020F0502020204030204" pitchFamily="34" charset="0"/>
              </a:rPr>
              <a:t>.cos(</a:t>
            </a:r>
            <a:r>
              <a:rPr lang="el-GR" altLang="fr-FR" sz="2400">
                <a:latin typeface="Calibri" panose="020F0502020204030204" pitchFamily="34" charset="0"/>
              </a:rPr>
              <a:t>θ</a:t>
            </a:r>
            <a:r>
              <a:rPr lang="fr-FR" altLang="fr-FR" sz="2400">
                <a:latin typeface="Calibri" panose="020F0502020204030204" pitchFamily="34" charset="0"/>
              </a:rPr>
              <a:t>) = </a:t>
            </a:r>
            <a:r>
              <a:rPr lang="el-GR" altLang="fr-FR" sz="2400">
                <a:latin typeface="Calibri" panose="020F0502020204030204" pitchFamily="34" charset="0"/>
              </a:rPr>
              <a:t>ε</a:t>
            </a:r>
            <a:r>
              <a:rPr lang="fr-FR" altLang="fr-FR" sz="2400" baseline="-25000">
                <a:latin typeface="Calibri" panose="020F0502020204030204" pitchFamily="34" charset="0"/>
              </a:rPr>
              <a:t>m</a:t>
            </a:r>
            <a:r>
              <a:rPr lang="fr-FR" altLang="fr-FR" sz="2400">
                <a:latin typeface="Calibri" panose="020F0502020204030204" pitchFamily="34" charset="0"/>
              </a:rPr>
              <a:t>.cos(</a:t>
            </a:r>
            <a:r>
              <a:rPr lang="el-GR" altLang="fr-FR" sz="2400">
                <a:latin typeface="Calibri" panose="020F0502020204030204" pitchFamily="34" charset="0"/>
              </a:rPr>
              <a:t>θ</a:t>
            </a:r>
            <a:r>
              <a:rPr lang="fr-FR" altLang="fr-FR" sz="2400">
                <a:latin typeface="Calibri" panose="020F0502020204030204" pitchFamily="34" charset="0"/>
              </a:rPr>
              <a:t>)</a:t>
            </a:r>
          </a:p>
          <a:p>
            <a:pPr eaLnBrk="1" hangingPunct="1">
              <a:spcBef>
                <a:spcPct val="0"/>
              </a:spcBef>
              <a:buClrTx/>
              <a:buSzTx/>
              <a:buFontTx/>
              <a:buNone/>
            </a:pPr>
            <a:endParaRPr lang="fr-FR" altLang="fr-FR" sz="2400">
              <a:latin typeface="Calibri" panose="020F0502020204030204" pitchFamily="34" charset="0"/>
            </a:endParaRPr>
          </a:p>
          <a:p>
            <a:pPr eaLnBrk="1" hangingPunct="1">
              <a:spcBef>
                <a:spcPct val="0"/>
              </a:spcBef>
              <a:buClrTx/>
              <a:buSzTx/>
              <a:buFontTx/>
              <a:buNone/>
            </a:pPr>
            <a:r>
              <a:rPr lang="fr-FR" altLang="fr-FR" sz="2400">
                <a:latin typeface="Calibri" panose="020F0502020204030204" pitchFamily="34" charset="0"/>
              </a:rPr>
              <a:t>  </a:t>
            </a:r>
            <a:r>
              <a:rPr lang="fr-FR" altLang="fr-FR" sz="2000">
                <a:latin typeface="Calibri" panose="020F0502020204030204" pitchFamily="34" charset="0"/>
              </a:rPr>
              <a:t>k étant le facteur de bobinage.</a:t>
            </a:r>
            <a:endParaRPr lang="fr-FR" altLang="fr-FR" sz="2000">
              <a:latin typeface="Arial Narrow" panose="020B0606020202030204" pitchFamily="34" charset="0"/>
            </a:endParaRPr>
          </a:p>
          <a:p>
            <a:pPr eaLnBrk="1" hangingPunct="1">
              <a:spcBef>
                <a:spcPct val="0"/>
              </a:spcBef>
              <a:buClrTx/>
              <a:buSzTx/>
              <a:buFontTx/>
              <a:buNone/>
            </a:pPr>
            <a:endParaRPr lang="fr-FR" altLang="fr-FR" sz="2000">
              <a:latin typeface="Arial Narrow" panose="020B0606020202030204" pitchFamily="34" charset="0"/>
            </a:endParaRPr>
          </a:p>
          <a:p>
            <a:pPr eaLnBrk="1" hangingPunct="1">
              <a:spcBef>
                <a:spcPct val="0"/>
              </a:spcBef>
              <a:buClrTx/>
              <a:buSzTx/>
              <a:buFontTx/>
              <a:buNone/>
            </a:pPr>
            <a:r>
              <a:rPr lang="fr-FR" altLang="fr-FR" sz="2000">
                <a:latin typeface="Arial Narrow" panose="020B0606020202030204" pitchFamily="34" charset="0"/>
              </a:rPr>
              <a:t> </a:t>
            </a:r>
          </a:p>
        </p:txBody>
      </p:sp>
      <p:sp>
        <p:nvSpPr>
          <p:cNvPr id="24592" name="Rectangle 2"/>
          <p:cNvSpPr txBox="1">
            <a:spLocks noChangeArrowheads="1"/>
          </p:cNvSpPr>
          <p:nvPr/>
        </p:nvSpPr>
        <p:spPr bwMode="auto">
          <a:xfrm>
            <a:off x="1431925" y="304800"/>
            <a:ext cx="64992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19100" indent="-382588">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a:buFontTx/>
              <a:buNone/>
            </a:pPr>
            <a:r>
              <a:rPr lang="en-US" altLang="fr-FR" sz="2400" b="1">
                <a:latin typeface="Arial Narrow" panose="020B0606020202030204" pitchFamily="34" charset="0"/>
              </a:rPr>
              <a:t>Phase a – enroulement à distribution sinusoïdale </a:t>
            </a:r>
          </a:p>
        </p:txBody>
      </p:sp>
      <p:sp>
        <p:nvSpPr>
          <p:cNvPr id="24593"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4594" name="Espace réservé du numéro de diapositive 1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72A6EC2-D28C-4F9E-B527-D7477EC6FDC7}" type="slidenum">
              <a:rPr lang="en-US" altLang="fr-FR" sz="1000">
                <a:solidFill>
                  <a:srgbClr val="292929"/>
                </a:solidFill>
                <a:latin typeface="Arial" panose="020B0604020202020204" pitchFamily="34" charset="0"/>
              </a:rPr>
              <a:pPr>
                <a:spcBef>
                  <a:spcPct val="0"/>
                </a:spcBef>
                <a:buClrTx/>
                <a:buSzTx/>
                <a:buFontTx/>
                <a:buNone/>
              </a:pPr>
              <a:t>8</a:t>
            </a:fld>
            <a:endParaRPr lang="en-US" altLang="fr-FR" sz="1000">
              <a:solidFill>
                <a:srgbClr val="292929"/>
              </a:solidFill>
              <a:latin typeface="Arial" panose="020B0604020202020204" pitchFamily="34" charset="0"/>
            </a:endParaRPr>
          </a:p>
        </p:txBody>
      </p:sp>
      <p:sp>
        <p:nvSpPr>
          <p:cNvPr id="21" name="Espace réservé du pied de page 20"/>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22804611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17"/>
          <p:cNvSpPr>
            <a:spLocks noGrp="1" noChangeArrowheads="1"/>
          </p:cNvSpPr>
          <p:nvPr>
            <p:ph idx="1"/>
          </p:nvPr>
        </p:nvSpPr>
        <p:spPr>
          <a:xfrm>
            <a:off x="685800" y="873125"/>
            <a:ext cx="7772400" cy="2771775"/>
          </a:xfrm>
        </p:spPr>
        <p:txBody>
          <a:bodyPr/>
          <a:lstStyle/>
          <a:p>
            <a:pPr>
              <a:lnSpc>
                <a:spcPct val="80000"/>
              </a:lnSpc>
            </a:pPr>
            <a:r>
              <a:rPr lang="en-US" altLang="fr-FR" sz="2400" smtClean="0">
                <a:latin typeface="Arial Narrow" panose="020B0606020202030204" pitchFamily="34" charset="0"/>
              </a:rPr>
              <a:t>L’enroulement sinusoïdale de chaque phase produit une FMM et un flux spatialement sinusoidaux.  </a:t>
            </a:r>
            <a:br>
              <a:rPr lang="en-US" altLang="fr-FR" sz="2400" smtClean="0">
                <a:latin typeface="Arial Narrow" panose="020B0606020202030204" pitchFamily="34" charset="0"/>
              </a:rPr>
            </a:br>
            <a:endParaRPr lang="en-US" altLang="fr-FR" sz="2400" smtClean="0">
              <a:latin typeface="Arial Narrow" panose="020B0606020202030204" pitchFamily="34" charset="0"/>
            </a:endParaRPr>
          </a:p>
          <a:p>
            <a:pPr>
              <a:lnSpc>
                <a:spcPct val="80000"/>
              </a:lnSpc>
            </a:pPr>
            <a:r>
              <a:rPr lang="en-US" altLang="fr-FR" sz="2400" smtClean="0">
                <a:latin typeface="Arial Narrow" panose="020B0606020202030204" pitchFamily="34" charset="0"/>
              </a:rPr>
              <a:t>Un courant sinusoidal (fréquence </a:t>
            </a:r>
            <a:r>
              <a:rPr lang="en-US" altLang="fr-FR" sz="2400" smtClean="0">
                <a:latin typeface="Arial Narrow" panose="020B0606020202030204" pitchFamily="34" charset="0"/>
                <a:sym typeface="Symbol" panose="05050102010706020507" pitchFamily="18" charset="2"/>
              </a:rPr>
              <a:t></a:t>
            </a:r>
            <a:r>
              <a:rPr lang="en-US" altLang="fr-FR" sz="2400" baseline="-25000" smtClean="0">
                <a:latin typeface="Arial Narrow" panose="020B0606020202030204" pitchFamily="34" charset="0"/>
                <a:sym typeface="Symbol" panose="05050102010706020507" pitchFamily="18" charset="2"/>
              </a:rPr>
              <a:t>s</a:t>
            </a:r>
            <a:r>
              <a:rPr lang="en-US" altLang="fr-FR" sz="2400" smtClean="0">
                <a:latin typeface="Arial Narrow" panose="020B0606020202030204" pitchFamily="34" charset="0"/>
                <a:sym typeface="Symbol" panose="05050102010706020507" pitchFamily="18" charset="2"/>
              </a:rPr>
              <a:t>) dans une phase statorique </a:t>
            </a:r>
            <a:r>
              <a:rPr lang="en-US" altLang="fr-FR" sz="2400" smtClean="0">
                <a:latin typeface="Arial Narrow" panose="020B0606020202030204" pitchFamily="34" charset="0"/>
              </a:rPr>
              <a:t> produit une FMM stationnaire sinusoïdale. </a:t>
            </a:r>
          </a:p>
          <a:p>
            <a:pPr>
              <a:lnSpc>
                <a:spcPct val="80000"/>
              </a:lnSpc>
            </a:pPr>
            <a:endParaRPr lang="en-US" altLang="fr-FR" sz="2400" smtClean="0">
              <a:latin typeface="Arial Narrow" panose="020B0606020202030204" pitchFamily="34" charset="0"/>
            </a:endParaRPr>
          </a:p>
          <a:p>
            <a:pPr>
              <a:lnSpc>
                <a:spcPct val="80000"/>
              </a:lnSpc>
            </a:pPr>
            <a:r>
              <a:rPr lang="en-US" altLang="fr-FR" sz="2400" smtClean="0">
                <a:latin typeface="Arial Narrow" panose="020B0606020202030204" pitchFamily="34" charset="0"/>
              </a:rPr>
              <a:t>La combinaison  des 3 ondes sinusoïdales stationnaires  produit une onde de la FMM  tournant  à: </a:t>
            </a:r>
          </a:p>
          <a:p>
            <a:pPr>
              <a:lnSpc>
                <a:spcPct val="80000"/>
              </a:lnSpc>
            </a:pPr>
            <a:endParaRPr lang="en-US" altLang="fr-FR" sz="2400" smtClean="0">
              <a:latin typeface="Arial Narrow" panose="020B0606020202030204" pitchFamily="34" charset="0"/>
            </a:endParaRPr>
          </a:p>
        </p:txBody>
      </p:sp>
      <p:graphicFrame>
        <p:nvGraphicFramePr>
          <p:cNvPr id="26627" name="Object 118"/>
          <p:cNvGraphicFramePr>
            <a:graphicFrameLocks noChangeAspect="1"/>
          </p:cNvGraphicFramePr>
          <p:nvPr/>
        </p:nvGraphicFramePr>
        <p:xfrm>
          <a:off x="3535363" y="3868738"/>
          <a:ext cx="1538287" cy="1058862"/>
        </p:xfrm>
        <a:graphic>
          <a:graphicData uri="http://schemas.openxmlformats.org/presentationml/2006/ole">
            <mc:AlternateContent xmlns:mc="http://schemas.openxmlformats.org/markup-compatibility/2006">
              <mc:Choice xmlns:v="urn:schemas-microsoft-com:vml" Requires="v">
                <p:oleObj spid="_x0000_s283654" name="Équation" r:id="rId4" imgW="622030" imgH="431613" progId="Equation.3">
                  <p:embed/>
                </p:oleObj>
              </mc:Choice>
              <mc:Fallback>
                <p:oleObj name="Équation" r:id="rId4" imgW="622030" imgH="431613"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35363" y="3868738"/>
                        <a:ext cx="1538287" cy="105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28" name="Text Box 120"/>
          <p:cNvSpPr txBox="1">
            <a:spLocks noChangeArrowheads="1"/>
          </p:cNvSpPr>
          <p:nvPr/>
        </p:nvSpPr>
        <p:spPr bwMode="auto">
          <a:xfrm>
            <a:off x="1905000" y="5257800"/>
            <a:ext cx="35369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sym typeface="Symbol" panose="05050102010706020507" pitchFamily="18" charset="2"/>
              </a:rPr>
              <a:t>p : nombre de paires de pôles</a:t>
            </a:r>
          </a:p>
          <a:p>
            <a:pPr eaLnBrk="1" hangingPunct="1">
              <a:spcBef>
                <a:spcPct val="0"/>
              </a:spcBef>
              <a:buClrTx/>
              <a:buSzTx/>
              <a:buFontTx/>
              <a:buNone/>
            </a:pPr>
            <a:r>
              <a:rPr lang="en-US" altLang="fr-FR" sz="2400">
                <a:latin typeface="Arial Narrow" panose="020B0606020202030204" pitchFamily="34" charset="0"/>
                <a:sym typeface="Symbol" panose="05050102010706020507" pitchFamily="18" charset="2"/>
              </a:rPr>
              <a:t>f  – fréquence d’alimentation</a:t>
            </a:r>
            <a:endParaRPr lang="en-US" altLang="fr-FR" sz="2400">
              <a:latin typeface="Arial Narrow" panose="020B0606020202030204" pitchFamily="34" charset="0"/>
            </a:endParaRPr>
          </a:p>
        </p:txBody>
      </p:sp>
      <p:sp>
        <p:nvSpPr>
          <p:cNvPr id="26629" name="Rectangle 121"/>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6630" name="Text Box 122"/>
          <p:cNvSpPr txBox="1">
            <a:spLocks noChangeArrowheads="1"/>
          </p:cNvSpPr>
          <p:nvPr/>
        </p:nvSpPr>
        <p:spPr bwMode="auto">
          <a:xfrm>
            <a:off x="6019800" y="4572000"/>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50000"/>
              </a:spcBef>
              <a:buClrTx/>
              <a:buSzTx/>
              <a:buFontTx/>
              <a:buNone/>
            </a:pPr>
            <a:endParaRPr lang="fr-FR" altLang="fr-FR" sz="2400">
              <a:latin typeface="Arial Narrow" panose="020B0606020202030204" pitchFamily="34" charset="0"/>
            </a:endParaRPr>
          </a:p>
        </p:txBody>
      </p:sp>
      <p:sp>
        <p:nvSpPr>
          <p:cNvPr id="26631" name="Espace réservé du numéro de diapositive 1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542B811E-49C1-4B41-8987-C4F6F8C38692}" type="slidenum">
              <a:rPr lang="en-US" altLang="fr-FR" sz="1000">
                <a:solidFill>
                  <a:srgbClr val="292929"/>
                </a:solidFill>
                <a:latin typeface="Arial" panose="020B0604020202020204" pitchFamily="34" charset="0"/>
              </a:rPr>
              <a:pPr>
                <a:spcBef>
                  <a:spcPct val="0"/>
                </a:spcBef>
                <a:buClrTx/>
                <a:buSzTx/>
                <a:buFontTx/>
                <a:buNone/>
              </a:pPr>
              <a:t>9</a:t>
            </a:fld>
            <a:endParaRPr lang="en-US" altLang="fr-FR" sz="1000">
              <a:solidFill>
                <a:srgbClr val="292929"/>
              </a:solidFill>
              <a:latin typeface="Arial" panose="020B0604020202020204" pitchFamily="34" charset="0"/>
            </a:endParaRPr>
          </a:p>
        </p:txBody>
      </p:sp>
      <p:sp>
        <p:nvSpPr>
          <p:cNvPr id="12" name="Espace réservé du pied de page 11"/>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73078760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6"/>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8675" name="Text Box 7"/>
          <p:cNvSpPr txBox="1">
            <a:spLocks noChangeArrowheads="1"/>
          </p:cNvSpPr>
          <p:nvPr/>
        </p:nvSpPr>
        <p:spPr bwMode="auto">
          <a:xfrm>
            <a:off x="6019800" y="4572000"/>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50000"/>
              </a:spcBef>
              <a:buClrTx/>
              <a:buSzTx/>
              <a:buFontTx/>
              <a:buNone/>
            </a:pPr>
            <a:endParaRPr lang="fr-FR" altLang="fr-FR" sz="2400">
              <a:latin typeface="Arial Narrow" panose="020B0606020202030204" pitchFamily="34" charset="0"/>
            </a:endParaRPr>
          </a:p>
        </p:txBody>
      </p:sp>
      <p:graphicFrame>
        <p:nvGraphicFramePr>
          <p:cNvPr id="28676" name="Object 16">
            <a:hlinkClick r:id="" action="ppaction://ole?verb=0"/>
          </p:cNvPr>
          <p:cNvGraphicFramePr>
            <a:graphicFrameLocks noGrp="1" noChangeAspect="1"/>
          </p:cNvGraphicFramePr>
          <p:nvPr>
            <p:ph/>
          </p:nvPr>
        </p:nvGraphicFramePr>
        <p:xfrm>
          <a:off x="2146300" y="361950"/>
          <a:ext cx="4849813" cy="4438650"/>
        </p:xfrm>
        <a:graphic>
          <a:graphicData uri="http://schemas.openxmlformats.org/presentationml/2006/ole">
            <mc:AlternateContent xmlns:mc="http://schemas.openxmlformats.org/markup-compatibility/2006">
              <mc:Choice xmlns:v="urn:schemas-microsoft-com:vml" Requires="v">
                <p:oleObj spid="_x0000_s284678" name="Video Clip" r:id="rId4" imgW="5172797" imgH="4734586" progId="AVIFile">
                  <p:embed/>
                </p:oleObj>
              </mc:Choice>
              <mc:Fallback>
                <p:oleObj name="Video Clip" r:id="rId4" imgW="5172797" imgH="4734586" progId="AVIFil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6300" y="361950"/>
                        <a:ext cx="4849813" cy="4438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77" name="ZoneTexte 8"/>
          <p:cNvSpPr txBox="1">
            <a:spLocks noChangeArrowheads="1"/>
          </p:cNvSpPr>
          <p:nvPr/>
        </p:nvSpPr>
        <p:spPr bwMode="auto">
          <a:xfrm>
            <a:off x="2855913" y="393700"/>
            <a:ext cx="3286125"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cs typeface="Arial" panose="020B0604020202020204" pitchFamily="34" charset="0"/>
              </a:rPr>
              <a:t>Distribution spatiale de l’onde</a:t>
            </a:r>
          </a:p>
        </p:txBody>
      </p:sp>
      <p:sp>
        <p:nvSpPr>
          <p:cNvPr id="28678" name="ZoneTexte 8"/>
          <p:cNvSpPr txBox="1">
            <a:spLocks noChangeArrowheads="1"/>
          </p:cNvSpPr>
          <p:nvPr/>
        </p:nvSpPr>
        <p:spPr bwMode="auto">
          <a:xfrm>
            <a:off x="701675" y="5072063"/>
            <a:ext cx="75946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b="1">
                <a:latin typeface="Arial Narrow" panose="020B0606020202030204" pitchFamily="34" charset="0"/>
              </a:rPr>
              <a:t>Théorème de Ferraris:</a:t>
            </a:r>
          </a:p>
          <a:p>
            <a:pPr algn="just" eaLnBrk="1" hangingPunct="1">
              <a:spcBef>
                <a:spcPct val="0"/>
              </a:spcBef>
              <a:buClrTx/>
              <a:buSzTx/>
              <a:buFontTx/>
              <a:buNone/>
            </a:pPr>
            <a:r>
              <a:rPr lang="fr-FR" altLang="fr-FR" sz="1800">
                <a:latin typeface="Arial Narrow" panose="020B0606020202030204" pitchFamily="34" charset="0"/>
              </a:rPr>
              <a:t>Un enroulement multipolaire, polyphasé parcouru par des courants sinusoïdaux polyphasés équilibrés crée dans l’entrefer une force magnétomotrice circulaire unique tournant dans l’espace lié à cet enroulement, à la vitesse angulaire  </a:t>
            </a:r>
            <a:r>
              <a:rPr lang="fr-FR" altLang="fr-FR" sz="1800">
                <a:latin typeface="Calibri" panose="020F0502020204030204" pitchFamily="34" charset="0"/>
              </a:rPr>
              <a:t>±</a:t>
            </a:r>
            <a:r>
              <a:rPr lang="el-GR" altLang="fr-FR" sz="1800">
                <a:latin typeface="Calibri" panose="020F0502020204030204" pitchFamily="34" charset="0"/>
              </a:rPr>
              <a:t>ω</a:t>
            </a:r>
            <a:r>
              <a:rPr lang="fr-FR" altLang="fr-FR" sz="1800">
                <a:latin typeface="Calibri" panose="020F0502020204030204" pitchFamily="34" charset="0"/>
              </a:rPr>
              <a:t>/p  (</a:t>
            </a:r>
            <a:r>
              <a:rPr lang="el-GR" altLang="fr-FR" sz="1800">
                <a:latin typeface="Calibri" panose="020F0502020204030204" pitchFamily="34" charset="0"/>
              </a:rPr>
              <a:t>ω</a:t>
            </a:r>
            <a:r>
              <a:rPr lang="fr-FR" altLang="fr-FR" sz="1800">
                <a:latin typeface="Calibri" panose="020F0502020204030204" pitchFamily="34" charset="0"/>
              </a:rPr>
              <a:t> </a:t>
            </a:r>
            <a:r>
              <a:rPr lang="fr-FR" altLang="fr-FR" sz="1800">
                <a:latin typeface="Arial Narrow" panose="020B0606020202030204" pitchFamily="34" charset="0"/>
              </a:rPr>
              <a:t>étant la pulsation des courants).</a:t>
            </a:r>
          </a:p>
          <a:p>
            <a:pPr algn="just" eaLnBrk="1" hangingPunct="1">
              <a:spcBef>
                <a:spcPct val="0"/>
              </a:spcBef>
              <a:buClrTx/>
              <a:buSzTx/>
              <a:buFontTx/>
              <a:buNone/>
            </a:pPr>
            <a:endParaRPr lang="fr-FR" altLang="fr-FR" sz="1800">
              <a:latin typeface="Arial Narrow" panose="020B0606020202030204" pitchFamily="34" charset="0"/>
            </a:endParaRPr>
          </a:p>
        </p:txBody>
      </p:sp>
      <p:sp>
        <p:nvSpPr>
          <p:cNvPr id="28679" name="Espace réservé du numéro de diapositive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FED3FFE9-D2BA-4BBF-8F77-6C784C9B7E3E}" type="slidenum">
              <a:rPr lang="en-US" altLang="fr-FR" sz="1000">
                <a:solidFill>
                  <a:srgbClr val="292929"/>
                </a:solidFill>
                <a:latin typeface="Arial" panose="020B0604020202020204" pitchFamily="34" charset="0"/>
              </a:rPr>
              <a:pPr>
                <a:spcBef>
                  <a:spcPct val="0"/>
                </a:spcBef>
                <a:buClrTx/>
                <a:buSzTx/>
                <a:buFontTx/>
                <a:buNone/>
              </a:pPr>
              <a:t>10</a:t>
            </a:fld>
            <a:endParaRPr lang="en-US" altLang="fr-FR" sz="1000">
              <a:solidFill>
                <a:srgbClr val="292929"/>
              </a:solidFill>
              <a:latin typeface="Arial" panose="020B0604020202020204" pitchFamily="34" charset="0"/>
            </a:endParaRPr>
          </a:p>
        </p:txBody>
      </p:sp>
      <p:sp>
        <p:nvSpPr>
          <p:cNvPr id="10" name="Espace réservé du pied de page 9"/>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22113982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26"/>
          <p:cNvSpPr>
            <a:spLocks noGrp="1" noChangeArrowheads="1"/>
          </p:cNvSpPr>
          <p:nvPr>
            <p:ph idx="1"/>
          </p:nvPr>
        </p:nvSpPr>
        <p:spPr>
          <a:xfrm>
            <a:off x="685800" y="609600"/>
            <a:ext cx="7772400" cy="1295400"/>
          </a:xfrm>
        </p:spPr>
        <p:txBody>
          <a:bodyPr/>
          <a:lstStyle/>
          <a:p>
            <a:pPr algn="just"/>
            <a:r>
              <a:rPr lang="en-US" altLang="fr-FR" sz="2400" smtClean="0">
                <a:latin typeface="Arial Narrow" panose="020B0606020202030204" pitchFamily="34" charset="0"/>
              </a:rPr>
              <a:t>Flux induit tournant  produit:</a:t>
            </a:r>
          </a:p>
          <a:p>
            <a:pPr marL="914400" lvl="1" indent="-457200" algn="just">
              <a:buFontTx/>
              <a:buNone/>
            </a:pPr>
            <a:r>
              <a:rPr lang="en-US" altLang="fr-FR" sz="2000" smtClean="0">
                <a:latin typeface="Arial Narrow" panose="020B0606020202030204" pitchFamily="34" charset="0"/>
              </a:rPr>
              <a:t>Fem dans les enroulement statorique (force contre électromotrice)</a:t>
            </a:r>
          </a:p>
          <a:p>
            <a:pPr marL="914400" lvl="1" indent="-457200" algn="just">
              <a:buFontTx/>
              <a:buNone/>
            </a:pPr>
            <a:r>
              <a:rPr lang="en-US" altLang="fr-FR" sz="2000" smtClean="0">
                <a:latin typeface="Arial Narrow" panose="020B0606020202030204" pitchFamily="34" charset="0"/>
              </a:rPr>
              <a:t>Fem dans les enroulement rotorique </a:t>
            </a:r>
          </a:p>
          <a:p>
            <a:pPr marL="914400" lvl="1" indent="-457200" algn="just">
              <a:buFontTx/>
              <a:buNone/>
            </a:pPr>
            <a:r>
              <a:rPr lang="en-US" altLang="fr-FR" sz="2000" smtClean="0">
                <a:latin typeface="Arial Narrow" panose="020B0606020202030204" pitchFamily="34" charset="0"/>
              </a:rPr>
              <a:t>Flux rotorique tournant à la vitesse synchrone </a:t>
            </a:r>
          </a:p>
        </p:txBody>
      </p:sp>
      <p:sp>
        <p:nvSpPr>
          <p:cNvPr id="30723" name="Rectangle 1030"/>
          <p:cNvSpPr>
            <a:spLocks noChangeArrowheads="1"/>
          </p:cNvSpPr>
          <p:nvPr/>
        </p:nvSpPr>
        <p:spPr bwMode="auto">
          <a:xfrm>
            <a:off x="685800" y="2209800"/>
            <a:ext cx="77724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a:buSzTx/>
              <a:buFont typeface="Arial" panose="020B0604020202020204" pitchFamily="34" charset="0"/>
              <a:buChar char="•"/>
            </a:pPr>
            <a:r>
              <a:rPr lang="en-US" altLang="fr-FR" sz="2400">
                <a:latin typeface="Arial Narrow" panose="020B0606020202030204" pitchFamily="34" charset="0"/>
              </a:rPr>
              <a:t>Le courant rotorique interagit avec le flux: production du couple</a:t>
            </a:r>
            <a:br>
              <a:rPr lang="en-US" altLang="fr-FR" sz="2400">
                <a:latin typeface="Arial Narrow" panose="020B0606020202030204" pitchFamily="34" charset="0"/>
              </a:rPr>
            </a:br>
            <a:endParaRPr lang="en-US" altLang="fr-FR" sz="2400">
              <a:latin typeface="Arial Narrow" panose="020B0606020202030204" pitchFamily="34" charset="0"/>
            </a:endParaRPr>
          </a:p>
          <a:p>
            <a:pPr algn="just">
              <a:buSzTx/>
              <a:buFontTx/>
              <a:buChar char="•"/>
            </a:pPr>
            <a:r>
              <a:rPr lang="en-US" altLang="fr-FR" sz="2400">
                <a:latin typeface="Arial Narrow" panose="020B0606020202030204" pitchFamily="34" charset="0"/>
              </a:rPr>
              <a:t>Le Rotor tourne souvent à une vitesse inférieure à la vitesse synchrone, i.e. à une vitesse glissante:</a:t>
            </a:r>
          </a:p>
          <a:p>
            <a:pPr algn="just">
              <a:buSzTx/>
              <a:buFontTx/>
              <a:buNone/>
            </a:pPr>
            <a:r>
              <a:rPr lang="en-US" altLang="fr-FR" sz="2400">
                <a:latin typeface="Arial Narrow" panose="020B0606020202030204" pitchFamily="34" charset="0"/>
              </a:rPr>
              <a:t/>
            </a:r>
            <a:br>
              <a:rPr lang="en-US" altLang="fr-FR" sz="2400">
                <a:latin typeface="Arial Narrow" panose="020B0606020202030204" pitchFamily="34" charset="0"/>
              </a:rPr>
            </a:br>
            <a:r>
              <a:rPr lang="en-US" altLang="fr-FR" sz="2400">
                <a:latin typeface="Arial Narrow" panose="020B0606020202030204" pitchFamily="34" charset="0"/>
              </a:rPr>
              <a:t>			</a:t>
            </a:r>
            <a:r>
              <a:rPr lang="en-US" altLang="fr-FR" sz="2400">
                <a:latin typeface="Arial Narrow" panose="020B0606020202030204" pitchFamily="34" charset="0"/>
                <a:sym typeface="Symbol" panose="05050102010706020507" pitchFamily="18" charset="2"/>
              </a:rPr>
              <a:t></a:t>
            </a:r>
            <a:r>
              <a:rPr lang="en-US" altLang="fr-FR" sz="2400" baseline="-25000">
                <a:latin typeface="Arial Narrow" panose="020B0606020202030204" pitchFamily="34" charset="0"/>
              </a:rPr>
              <a:t>gl</a:t>
            </a:r>
            <a:r>
              <a:rPr lang="en-US" altLang="fr-FR" sz="2400">
                <a:latin typeface="Arial Narrow" panose="020B0606020202030204" pitchFamily="34" charset="0"/>
              </a:rPr>
              <a:t> = </a:t>
            </a:r>
            <a:r>
              <a:rPr lang="en-US" altLang="fr-FR" sz="2400">
                <a:latin typeface="Arial Narrow" panose="020B0606020202030204" pitchFamily="34" charset="0"/>
                <a:sym typeface="Symbol" panose="05050102010706020507" pitchFamily="18" charset="2"/>
              </a:rPr>
              <a:t></a:t>
            </a:r>
            <a:r>
              <a:rPr lang="en-US" altLang="fr-FR" sz="2400" baseline="-25000">
                <a:latin typeface="Arial Narrow" panose="020B0606020202030204" pitchFamily="34" charset="0"/>
                <a:sym typeface="Symbol" panose="05050102010706020507" pitchFamily="18" charset="2"/>
              </a:rPr>
              <a:t>s</a:t>
            </a:r>
            <a:r>
              <a:rPr lang="en-US" altLang="fr-FR" sz="2400">
                <a:latin typeface="Arial Narrow" panose="020B0606020202030204" pitchFamily="34" charset="0"/>
              </a:rPr>
              <a:t> – </a:t>
            </a:r>
            <a:r>
              <a:rPr lang="en-US" altLang="fr-FR" sz="2400">
                <a:latin typeface="Arial Narrow" panose="020B0606020202030204" pitchFamily="34" charset="0"/>
                <a:sym typeface="Symbol" panose="05050102010706020507" pitchFamily="18" charset="2"/>
              </a:rPr>
              <a:t></a:t>
            </a:r>
            <a:r>
              <a:rPr lang="en-US" altLang="fr-FR" sz="2400" baseline="-25000">
                <a:latin typeface="Arial Narrow" panose="020B0606020202030204" pitchFamily="34" charset="0"/>
              </a:rPr>
              <a:t>r</a:t>
            </a:r>
            <a:r>
              <a:rPr lang="en-US" altLang="fr-FR" sz="2400">
                <a:latin typeface="Arial Narrow" panose="020B0606020202030204" pitchFamily="34" charset="0"/>
              </a:rPr>
              <a:t> </a:t>
            </a:r>
          </a:p>
          <a:p>
            <a:pPr algn="just">
              <a:buSzTx/>
              <a:buFontTx/>
              <a:buChar char="•"/>
            </a:pPr>
            <a:r>
              <a:rPr lang="en-US" altLang="fr-FR" sz="2400">
                <a:latin typeface="Arial Narrow" panose="020B0606020202030204" pitchFamily="34" charset="0"/>
              </a:rPr>
              <a:t>Glissement: Rapport entre la vitesse synchrone et celle du rotor </a:t>
            </a:r>
          </a:p>
        </p:txBody>
      </p:sp>
      <p:graphicFrame>
        <p:nvGraphicFramePr>
          <p:cNvPr id="30724" name="Object 1031"/>
          <p:cNvGraphicFramePr>
            <a:graphicFrameLocks noChangeAspect="1"/>
          </p:cNvGraphicFramePr>
          <p:nvPr/>
        </p:nvGraphicFramePr>
        <p:xfrm>
          <a:off x="3503613" y="5327650"/>
          <a:ext cx="1452562" cy="800100"/>
        </p:xfrm>
        <a:graphic>
          <a:graphicData uri="http://schemas.openxmlformats.org/presentationml/2006/ole">
            <mc:AlternateContent xmlns:mc="http://schemas.openxmlformats.org/markup-compatibility/2006">
              <mc:Choice xmlns:v="urn:schemas-microsoft-com:vml" Requires="v">
                <p:oleObj spid="_x0000_s285702" name="Équation" r:id="rId4" imgW="622030" imgH="342751" progId="Equation.3">
                  <p:embed/>
                </p:oleObj>
              </mc:Choice>
              <mc:Fallback>
                <p:oleObj name="Équation" r:id="rId4" imgW="622030" imgH="342751"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3613" y="5327650"/>
                        <a:ext cx="1452562"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25" name="Rectangle 103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30726" name="Espace réservé du numéro de diapositive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1557439A-4800-402C-9EBF-5686398F276B}" type="slidenum">
              <a:rPr lang="en-US" altLang="fr-FR" sz="1000">
                <a:solidFill>
                  <a:srgbClr val="292929"/>
                </a:solidFill>
                <a:latin typeface="Arial" panose="020B0604020202020204" pitchFamily="34" charset="0"/>
              </a:rPr>
              <a:pPr>
                <a:spcBef>
                  <a:spcPct val="0"/>
                </a:spcBef>
                <a:buClrTx/>
                <a:buSzTx/>
                <a:buFontTx/>
                <a:buNone/>
              </a:pPr>
              <a:t>11</a:t>
            </a:fld>
            <a:endParaRPr lang="en-US" altLang="fr-FR" sz="1000">
              <a:solidFill>
                <a:srgbClr val="292929"/>
              </a:solidFill>
              <a:latin typeface="Arial" panose="020B0604020202020204" pitchFamily="34" charset="0"/>
            </a:endParaRPr>
          </a:p>
        </p:txBody>
      </p:sp>
      <p:sp>
        <p:nvSpPr>
          <p:cNvPr id="11" name="Espace réservé du pied de page 10"/>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4503002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33"/>
          <p:cNvSpPr txBox="1">
            <a:spLocks noChangeArrowheads="1"/>
          </p:cNvSpPr>
          <p:nvPr/>
        </p:nvSpPr>
        <p:spPr bwMode="auto">
          <a:xfrm>
            <a:off x="1143000" y="533400"/>
            <a:ext cx="6553200"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cs typeface="Times New Roman" panose="02020603050405020304" pitchFamily="18" charset="0"/>
              </a:rPr>
              <a:t>Equation de la tension statorique:</a:t>
            </a:r>
          </a:p>
          <a:p>
            <a:pPr eaLnBrk="1" hangingPunct="1">
              <a:spcBef>
                <a:spcPct val="0"/>
              </a:spcBef>
              <a:buClrTx/>
              <a:buSzTx/>
              <a:buFontTx/>
              <a:buNone/>
            </a:pPr>
            <a:endParaRPr lang="en-US" altLang="fr-FR" sz="24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en-US" altLang="fr-FR" sz="2400">
                <a:latin typeface="Arial Narrow" panose="020B0606020202030204" pitchFamily="34" charset="0"/>
                <a:cs typeface="Times New Roman" panose="02020603050405020304" pitchFamily="18" charset="0"/>
              </a:rPr>
              <a:t>	V</a:t>
            </a:r>
            <a:r>
              <a:rPr lang="en-US" altLang="fr-FR" sz="2400" baseline="-30000">
                <a:latin typeface="Arial Narrow" panose="020B0606020202030204" pitchFamily="34" charset="0"/>
                <a:cs typeface="Times New Roman" panose="02020603050405020304" pitchFamily="18" charset="0"/>
              </a:rPr>
              <a:t>s</a:t>
            </a:r>
            <a:r>
              <a:rPr lang="en-US" altLang="fr-FR" sz="2400">
                <a:latin typeface="Arial Narrow" panose="020B0606020202030204" pitchFamily="34" charset="0"/>
                <a:cs typeface="Times New Roman" panose="02020603050405020304" pitchFamily="18" charset="0"/>
              </a:rPr>
              <a:t> = R</a:t>
            </a:r>
            <a:r>
              <a:rPr lang="en-US" altLang="fr-FR" sz="2400" baseline="-30000">
                <a:latin typeface="Arial Narrow" panose="020B0606020202030204" pitchFamily="34" charset="0"/>
                <a:cs typeface="Times New Roman" panose="02020603050405020304" pitchFamily="18" charset="0"/>
              </a:rPr>
              <a:t>s</a:t>
            </a:r>
            <a:r>
              <a:rPr lang="en-US" altLang="fr-FR" sz="2400">
                <a:latin typeface="Arial Narrow" panose="020B0606020202030204" pitchFamily="34" charset="0"/>
                <a:cs typeface="Times New Roman" panose="02020603050405020304" pitchFamily="18" charset="0"/>
              </a:rPr>
              <a:t> I</a:t>
            </a:r>
            <a:r>
              <a:rPr lang="en-US" altLang="fr-FR" sz="2400" baseline="-30000">
                <a:latin typeface="Arial Narrow" panose="020B0606020202030204" pitchFamily="34" charset="0"/>
                <a:cs typeface="Times New Roman" panose="02020603050405020304" pitchFamily="18" charset="0"/>
              </a:rPr>
              <a:t>s</a:t>
            </a:r>
            <a:r>
              <a:rPr lang="en-US" altLang="fr-FR" sz="2400">
                <a:latin typeface="Arial Narrow" panose="020B0606020202030204" pitchFamily="34" charset="0"/>
                <a:cs typeface="Times New Roman" panose="02020603050405020304" pitchFamily="18" charset="0"/>
              </a:rPr>
              <a:t> + j(2</a:t>
            </a:r>
            <a:r>
              <a:rPr lang="en-US" altLang="fr-FR" sz="2400">
                <a:latin typeface="Arial Narrow" panose="020B0606020202030204" pitchFamily="34" charset="0"/>
                <a:cs typeface="Times New Roman" panose="02020603050405020304" pitchFamily="18" charset="0"/>
                <a:sym typeface="Symbol" panose="05050102010706020507" pitchFamily="18" charset="2"/>
              </a:rPr>
              <a:t></a:t>
            </a:r>
            <a:r>
              <a:rPr lang="en-US" altLang="fr-FR" sz="2400">
                <a:latin typeface="Arial Narrow" panose="020B0606020202030204" pitchFamily="34" charset="0"/>
                <a:cs typeface="Times New Roman" panose="02020603050405020304" pitchFamily="18" charset="0"/>
              </a:rPr>
              <a:t>f)L</a:t>
            </a:r>
            <a:r>
              <a:rPr lang="en-US" altLang="fr-FR" sz="2400" baseline="-30000">
                <a:latin typeface="Arial Narrow" panose="020B0606020202030204" pitchFamily="34" charset="0"/>
                <a:cs typeface="Times New Roman" panose="02020603050405020304" pitchFamily="18" charset="0"/>
              </a:rPr>
              <a:t>ls</a:t>
            </a:r>
            <a:r>
              <a:rPr lang="en-US" altLang="fr-FR" sz="2400">
                <a:latin typeface="Arial Narrow" panose="020B0606020202030204" pitchFamily="34" charset="0"/>
                <a:cs typeface="Times New Roman" panose="02020603050405020304" pitchFamily="18" charset="0"/>
              </a:rPr>
              <a:t>I</a:t>
            </a:r>
            <a:r>
              <a:rPr lang="en-US" altLang="fr-FR" sz="2400" baseline="-25000">
                <a:latin typeface="Arial Narrow" panose="020B0606020202030204" pitchFamily="34" charset="0"/>
                <a:cs typeface="Times New Roman" panose="02020603050405020304" pitchFamily="18" charset="0"/>
              </a:rPr>
              <a:t>s</a:t>
            </a:r>
            <a:r>
              <a:rPr lang="en-US" altLang="fr-FR" sz="2400">
                <a:latin typeface="Arial Narrow" panose="020B0606020202030204" pitchFamily="34" charset="0"/>
                <a:cs typeface="Times New Roman" panose="02020603050405020304" pitchFamily="18" charset="0"/>
              </a:rPr>
              <a:t> + E</a:t>
            </a:r>
            <a:r>
              <a:rPr lang="en-US" altLang="fr-FR" sz="2400" baseline="-30000">
                <a:latin typeface="Arial Narrow" panose="020B0606020202030204" pitchFamily="34" charset="0"/>
                <a:cs typeface="Times New Roman" panose="02020603050405020304" pitchFamily="18" charset="0"/>
              </a:rPr>
              <a:t>s</a:t>
            </a:r>
          </a:p>
          <a:p>
            <a:pPr eaLnBrk="1" hangingPunct="1">
              <a:spcBef>
                <a:spcPct val="0"/>
              </a:spcBef>
              <a:buClrTx/>
              <a:buSzTx/>
              <a:buFontTx/>
              <a:buNone/>
            </a:pPr>
            <a:endParaRPr lang="en-US" altLang="fr-FR" sz="2400" baseline="-300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en-US" altLang="fr-FR" sz="2400">
                <a:latin typeface="Arial Narrow" panose="020B0606020202030204" pitchFamily="34" charset="0"/>
                <a:cs typeface="Times New Roman" panose="02020603050405020304" pitchFamily="18" charset="0"/>
              </a:rPr>
              <a:t>	E</a:t>
            </a:r>
            <a:r>
              <a:rPr lang="en-US" altLang="fr-FR" sz="2400" baseline="-25000">
                <a:latin typeface="Arial Narrow" panose="020B0606020202030204" pitchFamily="34" charset="0"/>
                <a:cs typeface="Times New Roman" panose="02020603050405020304" pitchFamily="18" charset="0"/>
              </a:rPr>
              <a:t>s</a:t>
            </a:r>
            <a:r>
              <a:rPr lang="en-US" altLang="fr-FR" sz="2400">
                <a:latin typeface="Arial Narrow" panose="020B0606020202030204" pitchFamily="34" charset="0"/>
                <a:cs typeface="Times New Roman" panose="02020603050405020304" pitchFamily="18" charset="0"/>
              </a:rPr>
              <a:t> : fcem</a:t>
            </a:r>
          </a:p>
          <a:p>
            <a:pPr eaLnBrk="1" hangingPunct="1">
              <a:spcBef>
                <a:spcPct val="0"/>
              </a:spcBef>
              <a:buClrTx/>
              <a:buSzTx/>
              <a:buFontTx/>
              <a:buNone/>
            </a:pPr>
            <a:endParaRPr lang="en-US" altLang="fr-FR" sz="24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en-US" altLang="fr-FR" sz="2400">
                <a:latin typeface="Arial Narrow" panose="020B0606020202030204" pitchFamily="34" charset="0"/>
                <a:cs typeface="Times New Roman" panose="02020603050405020304" pitchFamily="18" charset="0"/>
              </a:rPr>
              <a:t>	E</a:t>
            </a:r>
            <a:r>
              <a:rPr lang="en-US" altLang="fr-FR" sz="2400" baseline="-30000">
                <a:latin typeface="Arial Narrow" panose="020B0606020202030204" pitchFamily="34" charset="0"/>
                <a:cs typeface="Times New Roman" panose="02020603050405020304" pitchFamily="18" charset="0"/>
              </a:rPr>
              <a:t>s</a:t>
            </a:r>
            <a:r>
              <a:rPr lang="en-US" altLang="fr-FR" sz="2400">
                <a:latin typeface="Arial Narrow" panose="020B0606020202030204" pitchFamily="34" charset="0"/>
                <a:cs typeface="Times New Roman" panose="02020603050405020304" pitchFamily="18" charset="0"/>
              </a:rPr>
              <a:t> = k f </a:t>
            </a:r>
            <a:r>
              <a:rPr lang="en-US" altLang="fr-FR" sz="2400">
                <a:latin typeface="Arial Narrow" panose="020B0606020202030204" pitchFamily="34" charset="0"/>
                <a:cs typeface="Times New Roman" panose="02020603050405020304" pitchFamily="18" charset="0"/>
                <a:sym typeface="Symbol" panose="05050102010706020507" pitchFamily="18" charset="2"/>
              </a:rPr>
              <a:t></a:t>
            </a:r>
            <a:r>
              <a:rPr lang="en-US" altLang="fr-FR" sz="2400">
                <a:latin typeface="Arial Narrow" panose="020B0606020202030204" pitchFamily="34" charset="0"/>
              </a:rPr>
              <a:t> </a:t>
            </a:r>
          </a:p>
          <a:p>
            <a:pPr eaLnBrk="1" hangingPunct="1">
              <a:spcBef>
                <a:spcPct val="0"/>
              </a:spcBef>
              <a:buClrTx/>
              <a:buSzTx/>
              <a:buFontTx/>
              <a:buNone/>
            </a:pPr>
            <a:endParaRPr lang="en-US" altLang="fr-FR" sz="2400">
              <a:latin typeface="Arial Narrow" panose="020B0606020202030204" pitchFamily="34" charset="0"/>
            </a:endParaRPr>
          </a:p>
        </p:txBody>
      </p:sp>
      <p:sp>
        <p:nvSpPr>
          <p:cNvPr id="32771" name="Text Box 34"/>
          <p:cNvSpPr txBox="1">
            <a:spLocks noChangeArrowheads="1"/>
          </p:cNvSpPr>
          <p:nvPr/>
        </p:nvSpPr>
        <p:spPr bwMode="auto">
          <a:xfrm>
            <a:off x="1143000" y="3581400"/>
            <a:ext cx="73914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cs typeface="Times New Roman" panose="02020603050405020304" pitchFamily="18" charset="0"/>
              </a:rPr>
              <a:t>Equation de la tension rotorique:</a:t>
            </a:r>
          </a:p>
          <a:p>
            <a:pPr eaLnBrk="1" hangingPunct="1">
              <a:spcBef>
                <a:spcPct val="0"/>
              </a:spcBef>
              <a:buClrTx/>
              <a:buSzTx/>
              <a:buFontTx/>
              <a:buNone/>
            </a:pPr>
            <a:r>
              <a:rPr lang="en-US" altLang="fr-FR" sz="2400">
                <a:latin typeface="Arial Narrow" panose="020B0606020202030204" pitchFamily="34" charset="0"/>
                <a:cs typeface="Times New Roman" panose="02020603050405020304" pitchFamily="18" charset="0"/>
              </a:rPr>
              <a:t>	 </a:t>
            </a:r>
          </a:p>
          <a:p>
            <a:pPr eaLnBrk="1" hangingPunct="1">
              <a:spcBef>
                <a:spcPct val="0"/>
              </a:spcBef>
              <a:buClrTx/>
              <a:buSzTx/>
              <a:buFontTx/>
              <a:buNone/>
            </a:pPr>
            <a:r>
              <a:rPr lang="en-US" altLang="fr-FR" sz="2400">
                <a:latin typeface="Arial Narrow" panose="020B0606020202030204" pitchFamily="34" charset="0"/>
                <a:cs typeface="Times New Roman" panose="02020603050405020304" pitchFamily="18" charset="0"/>
              </a:rPr>
              <a:t>	</a:t>
            </a:r>
            <a:r>
              <a:rPr lang="pt-BR" altLang="fr-FR" sz="2400">
                <a:latin typeface="Arial Narrow" panose="020B0606020202030204" pitchFamily="34" charset="0"/>
                <a:cs typeface="Times New Roman" panose="02020603050405020304" pitchFamily="18" charset="0"/>
              </a:rPr>
              <a:t>E</a:t>
            </a:r>
            <a:r>
              <a:rPr lang="pt-BR" altLang="fr-FR" sz="2400" baseline="-25000">
                <a:latin typeface="Arial Narrow" panose="020B0606020202030204" pitchFamily="34" charset="0"/>
                <a:cs typeface="Times New Roman" panose="02020603050405020304" pitchFamily="18" charset="0"/>
              </a:rPr>
              <a:t>r</a:t>
            </a:r>
            <a:r>
              <a:rPr lang="pt-BR" altLang="fr-FR" sz="2400">
                <a:latin typeface="Arial Narrow" panose="020B0606020202030204" pitchFamily="34" charset="0"/>
                <a:cs typeface="Times New Roman" panose="02020603050405020304" pitchFamily="18" charset="0"/>
              </a:rPr>
              <a:t> = R</a:t>
            </a:r>
            <a:r>
              <a:rPr lang="pt-BR" altLang="fr-FR" sz="2400" baseline="-25000">
                <a:latin typeface="Arial Narrow" panose="020B0606020202030204" pitchFamily="34" charset="0"/>
                <a:cs typeface="Times New Roman" panose="02020603050405020304" pitchFamily="18" charset="0"/>
              </a:rPr>
              <a:t>r</a:t>
            </a:r>
            <a:r>
              <a:rPr lang="pt-BR" altLang="fr-FR" sz="2400">
                <a:latin typeface="Arial Narrow" panose="020B0606020202030204" pitchFamily="34" charset="0"/>
                <a:cs typeface="Times New Roman" panose="02020603050405020304" pitchFamily="18" charset="0"/>
              </a:rPr>
              <a:t> I</a:t>
            </a:r>
            <a:r>
              <a:rPr lang="pt-BR" altLang="fr-FR" sz="2400" baseline="-25000">
                <a:latin typeface="Arial Narrow" panose="020B0606020202030204" pitchFamily="34" charset="0"/>
                <a:cs typeface="Times New Roman" panose="02020603050405020304" pitchFamily="18" charset="0"/>
              </a:rPr>
              <a:t>r</a:t>
            </a:r>
            <a:r>
              <a:rPr lang="pt-BR" altLang="fr-FR" sz="2400">
                <a:latin typeface="Arial Narrow" panose="020B0606020202030204" pitchFamily="34" charset="0"/>
                <a:cs typeface="Times New Roman" panose="02020603050405020304" pitchFamily="18" charset="0"/>
              </a:rPr>
              <a:t> + jg(2</a:t>
            </a:r>
            <a:r>
              <a:rPr lang="en-US" altLang="fr-FR" sz="2400">
                <a:latin typeface="Arial Narrow" panose="020B0606020202030204" pitchFamily="34" charset="0"/>
                <a:cs typeface="Times New Roman" panose="02020603050405020304" pitchFamily="18" charset="0"/>
                <a:sym typeface="Symbol" panose="05050102010706020507" pitchFamily="18" charset="2"/>
              </a:rPr>
              <a:t></a:t>
            </a:r>
            <a:r>
              <a:rPr lang="pt-BR" altLang="fr-FR" sz="2400">
                <a:latin typeface="Arial Narrow" panose="020B0606020202030204" pitchFamily="34" charset="0"/>
                <a:cs typeface="Times New Roman" panose="02020603050405020304" pitchFamily="18" charset="0"/>
              </a:rPr>
              <a:t>f)Ll</a:t>
            </a:r>
            <a:r>
              <a:rPr lang="pt-BR" altLang="fr-FR" sz="2400" baseline="-25000">
                <a:latin typeface="Arial Narrow" panose="020B0606020202030204" pitchFamily="34" charset="0"/>
                <a:cs typeface="Times New Roman" panose="02020603050405020304" pitchFamily="18" charset="0"/>
              </a:rPr>
              <a:t>r</a:t>
            </a:r>
            <a:r>
              <a:rPr lang="en-US" altLang="fr-FR" sz="2400">
                <a:latin typeface="Arial Narrow" panose="020B0606020202030204" pitchFamily="34" charset="0"/>
                <a:cs typeface="Times New Roman" panose="02020603050405020304" pitchFamily="18" charset="0"/>
              </a:rPr>
              <a:t> </a:t>
            </a:r>
          </a:p>
          <a:p>
            <a:pPr eaLnBrk="1" hangingPunct="1">
              <a:spcBef>
                <a:spcPct val="0"/>
              </a:spcBef>
              <a:buClrTx/>
              <a:buSzTx/>
              <a:buFontTx/>
              <a:buNone/>
            </a:pPr>
            <a:endParaRPr lang="en-US" altLang="fr-FR" sz="24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en-US" altLang="fr-FR" sz="2400">
                <a:latin typeface="Arial Narrow" panose="020B0606020202030204" pitchFamily="34" charset="0"/>
                <a:cs typeface="Times New Roman" panose="02020603050405020304" pitchFamily="18" charset="0"/>
              </a:rPr>
              <a:t>	          </a:t>
            </a:r>
            <a:r>
              <a:rPr lang="pt-BR" altLang="fr-FR" sz="2400">
                <a:latin typeface="Arial Narrow" panose="020B0606020202030204" pitchFamily="34" charset="0"/>
              </a:rPr>
              <a:t>E</a:t>
            </a:r>
            <a:r>
              <a:rPr lang="pt-BR" altLang="fr-FR" sz="2400" baseline="-25000">
                <a:latin typeface="Arial Narrow" panose="020B0606020202030204" pitchFamily="34" charset="0"/>
              </a:rPr>
              <a:t>r</a:t>
            </a:r>
            <a:r>
              <a:rPr lang="pt-BR" altLang="fr-FR" sz="2400">
                <a:latin typeface="Arial Narrow" panose="020B0606020202030204" pitchFamily="34" charset="0"/>
              </a:rPr>
              <a:t> : fem induite au rotor</a:t>
            </a:r>
            <a:r>
              <a:rPr lang="en-US" altLang="fr-FR" sz="2400">
                <a:latin typeface="Arial Narrow" panose="020B0606020202030204" pitchFamily="34" charset="0"/>
              </a:rPr>
              <a:t> </a:t>
            </a:r>
          </a:p>
          <a:p>
            <a:pPr eaLnBrk="1" hangingPunct="1">
              <a:spcBef>
                <a:spcPct val="0"/>
              </a:spcBef>
              <a:buClrTx/>
              <a:buSzTx/>
              <a:buFontTx/>
              <a:buNone/>
            </a:pPr>
            <a:r>
              <a:rPr lang="en-US" altLang="fr-FR" sz="2400">
                <a:latin typeface="Arial Narrow" panose="020B0606020202030204" pitchFamily="34" charset="0"/>
                <a:cs typeface="Times New Roman" panose="02020603050405020304" pitchFamily="18" charset="0"/>
              </a:rPr>
              <a:t>	</a:t>
            </a:r>
          </a:p>
          <a:p>
            <a:pPr eaLnBrk="1" hangingPunct="1">
              <a:spcBef>
                <a:spcPct val="0"/>
              </a:spcBef>
              <a:buClrTx/>
              <a:buSzTx/>
              <a:buFontTx/>
              <a:buNone/>
            </a:pPr>
            <a:r>
              <a:rPr lang="en-US" altLang="fr-FR" sz="2400">
                <a:latin typeface="Arial Narrow" panose="020B0606020202030204" pitchFamily="34" charset="0"/>
                <a:cs typeface="Times New Roman" panose="02020603050405020304" pitchFamily="18" charset="0"/>
              </a:rPr>
              <a:t>	</a:t>
            </a:r>
            <a:r>
              <a:rPr lang="pt-BR" altLang="fr-FR" sz="2400">
                <a:latin typeface="Arial Narrow" panose="020B0606020202030204" pitchFamily="34" charset="0"/>
              </a:rPr>
              <a:t>E</a:t>
            </a:r>
            <a:r>
              <a:rPr lang="pt-BR" altLang="fr-FR" sz="2400" baseline="-25000">
                <a:latin typeface="Arial Narrow" panose="020B0606020202030204" pitchFamily="34" charset="0"/>
              </a:rPr>
              <a:t>r </a:t>
            </a:r>
            <a:r>
              <a:rPr lang="pt-BR" altLang="fr-FR" sz="2400">
                <a:latin typeface="Arial Narrow" panose="020B0606020202030204" pitchFamily="34" charset="0"/>
              </a:rPr>
              <a:t>/g = (R</a:t>
            </a:r>
            <a:r>
              <a:rPr lang="pt-BR" altLang="fr-FR" sz="2400" baseline="-25000">
                <a:latin typeface="Arial Narrow" panose="020B0606020202030204" pitchFamily="34" charset="0"/>
              </a:rPr>
              <a:t>r </a:t>
            </a:r>
            <a:r>
              <a:rPr lang="pt-BR" altLang="fr-FR" sz="2400">
                <a:latin typeface="Arial Narrow" panose="020B0606020202030204" pitchFamily="34" charset="0"/>
              </a:rPr>
              <a:t>/ g) I</a:t>
            </a:r>
            <a:r>
              <a:rPr lang="pt-BR" altLang="fr-FR" sz="2400" baseline="-25000">
                <a:latin typeface="Arial Narrow" panose="020B0606020202030204" pitchFamily="34" charset="0"/>
              </a:rPr>
              <a:t>r</a:t>
            </a:r>
            <a:r>
              <a:rPr lang="pt-BR" altLang="fr-FR" sz="2400">
                <a:latin typeface="Arial Narrow" panose="020B0606020202030204" pitchFamily="34" charset="0"/>
              </a:rPr>
              <a:t> + j(2</a:t>
            </a:r>
            <a:r>
              <a:rPr lang="en-US" altLang="fr-FR" sz="2400">
                <a:latin typeface="Arial Narrow" panose="020B0606020202030204" pitchFamily="34" charset="0"/>
                <a:sym typeface="Symbol" panose="05050102010706020507" pitchFamily="18" charset="2"/>
              </a:rPr>
              <a:t></a:t>
            </a:r>
            <a:r>
              <a:rPr lang="pt-BR" altLang="fr-FR" sz="2400">
                <a:latin typeface="Arial Narrow" panose="020B0606020202030204" pitchFamily="34" charset="0"/>
              </a:rPr>
              <a:t>f)Ll</a:t>
            </a:r>
            <a:r>
              <a:rPr lang="pt-BR" altLang="fr-FR" sz="2400" baseline="-25000">
                <a:latin typeface="Arial Narrow" panose="020B0606020202030204" pitchFamily="34" charset="0"/>
              </a:rPr>
              <a:t>r</a:t>
            </a:r>
            <a:r>
              <a:rPr lang="en-US" altLang="fr-FR" sz="2400">
                <a:latin typeface="Arial Narrow" panose="020B0606020202030204" pitchFamily="34" charset="0"/>
              </a:rPr>
              <a:t> </a:t>
            </a:r>
            <a:endParaRPr lang="en-US" altLang="fr-FR" sz="24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en-US" altLang="fr-FR" sz="2400">
                <a:latin typeface="Arial Narrow" panose="020B0606020202030204" pitchFamily="34" charset="0"/>
                <a:cs typeface="Times New Roman" panose="02020603050405020304" pitchFamily="18" charset="0"/>
              </a:rPr>
              <a:t>	</a:t>
            </a:r>
            <a:r>
              <a:rPr lang="en-US" altLang="fr-FR" sz="2400" baseline="-30000">
                <a:latin typeface="Bookman Old Style" panose="02050604050505020204" pitchFamily="18" charset="0"/>
                <a:cs typeface="Times New Roman" panose="02020603050405020304" pitchFamily="18" charset="0"/>
              </a:rPr>
              <a:t>	</a:t>
            </a:r>
            <a:r>
              <a:rPr lang="en-US" altLang="fr-FR" sz="2400">
                <a:latin typeface="Arial Narrow" panose="020B0606020202030204" pitchFamily="34" charset="0"/>
                <a:cs typeface="Times New Roman" panose="02020603050405020304" pitchFamily="18" charset="0"/>
              </a:rPr>
              <a:t> </a:t>
            </a:r>
          </a:p>
        </p:txBody>
      </p:sp>
      <p:sp>
        <p:nvSpPr>
          <p:cNvPr id="32772" name="Rectangle 35"/>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32773" name="Espace réservé du numéro de diapositive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C9E66B41-5486-4B7D-818D-C5BE13960634}" type="slidenum">
              <a:rPr lang="en-US" altLang="fr-FR" sz="1000">
                <a:solidFill>
                  <a:srgbClr val="292929"/>
                </a:solidFill>
                <a:latin typeface="Arial" panose="020B0604020202020204" pitchFamily="34" charset="0"/>
              </a:rPr>
              <a:pPr>
                <a:spcBef>
                  <a:spcPct val="0"/>
                </a:spcBef>
                <a:buClrTx/>
                <a:buSzTx/>
                <a:buFontTx/>
                <a:buNone/>
              </a:pPr>
              <a:t>12</a:t>
            </a:fld>
            <a:endParaRPr lang="en-US" altLang="fr-FR" sz="1000">
              <a:solidFill>
                <a:srgbClr val="292929"/>
              </a:solidFill>
              <a:latin typeface="Arial" panose="020B0604020202020204" pitchFamily="34" charset="0"/>
            </a:endParaRPr>
          </a:p>
        </p:txBody>
      </p:sp>
      <p:sp>
        <p:nvSpPr>
          <p:cNvPr id="10" name="Espace réservé du pied de page 9"/>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73685970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7"/>
          <p:cNvPicPr>
            <a:picLocks noGrp="1" noChangeAspect="1" noChangeArrowheads="1"/>
          </p:cNvPicPr>
          <p:nvPr>
            <p:ph/>
          </p:nvPr>
        </p:nvPicPr>
        <p:blipFill>
          <a:blip r:embed="rId3">
            <a:grayscl/>
            <a:extLst>
              <a:ext uri="{28A0092B-C50C-407E-A947-70E740481C1C}">
                <a14:useLocalDpi xmlns:a14="http://schemas.microsoft.com/office/drawing/2010/main" val="0"/>
              </a:ext>
            </a:extLst>
          </a:blip>
          <a:srcRect/>
          <a:stretch>
            <a:fillRect/>
          </a:stretch>
        </p:blipFill>
        <p:spPr>
          <a:xfrm>
            <a:off x="914400" y="1447800"/>
            <a:ext cx="7239000" cy="1836738"/>
          </a:xfrm>
          <a:noFill/>
        </p:spPr>
      </p:pic>
      <p:sp>
        <p:nvSpPr>
          <p:cNvPr id="34819" name="Text Box 3"/>
          <p:cNvSpPr txBox="1">
            <a:spLocks noChangeArrowheads="1"/>
          </p:cNvSpPr>
          <p:nvPr/>
        </p:nvSpPr>
        <p:spPr bwMode="auto">
          <a:xfrm>
            <a:off x="2438400" y="457200"/>
            <a:ext cx="441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cs typeface="Times New Roman" panose="02020603050405020304" pitchFamily="18" charset="0"/>
              </a:rPr>
              <a:t>Circuit équivalent / phase</a:t>
            </a:r>
          </a:p>
        </p:txBody>
      </p:sp>
      <p:sp>
        <p:nvSpPr>
          <p:cNvPr id="34820" name="Text Box 10"/>
          <p:cNvSpPr txBox="1">
            <a:spLocks noChangeAspect="1" noChangeArrowheads="1"/>
          </p:cNvSpPr>
          <p:nvPr/>
        </p:nvSpPr>
        <p:spPr bwMode="auto">
          <a:xfrm>
            <a:off x="7162800" y="2286000"/>
            <a:ext cx="112395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R</a:t>
            </a:r>
            <a:r>
              <a:rPr lang="en-US" altLang="fr-FR" sz="2400" baseline="-25000">
                <a:latin typeface="Arial Narrow" panose="020B0606020202030204" pitchFamily="34" charset="0"/>
              </a:rPr>
              <a:t>r</a:t>
            </a:r>
            <a:r>
              <a:rPr lang="en-US" altLang="fr-FR" sz="2400">
                <a:latin typeface="Arial Narrow" panose="020B0606020202030204" pitchFamily="34" charset="0"/>
              </a:rPr>
              <a:t>/g</a:t>
            </a:r>
          </a:p>
        </p:txBody>
      </p:sp>
      <p:sp>
        <p:nvSpPr>
          <p:cNvPr id="34821" name="Text Box 6"/>
          <p:cNvSpPr txBox="1">
            <a:spLocks noChangeAspect="1" noChangeArrowheads="1"/>
          </p:cNvSpPr>
          <p:nvPr/>
        </p:nvSpPr>
        <p:spPr bwMode="auto">
          <a:xfrm>
            <a:off x="1219200" y="1600200"/>
            <a:ext cx="889000" cy="147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V</a:t>
            </a:r>
            <a:r>
              <a:rPr lang="en-US" altLang="fr-FR" sz="2000" baseline="-25000">
                <a:latin typeface="Arial Narrow" panose="020B0606020202030204" pitchFamily="34" charset="0"/>
              </a:rPr>
              <a:t>s</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34822" name="Text Box 7"/>
          <p:cNvSpPr txBox="1">
            <a:spLocks noChangeAspect="1" noChangeArrowheads="1"/>
          </p:cNvSpPr>
          <p:nvPr/>
        </p:nvSpPr>
        <p:spPr bwMode="auto">
          <a:xfrm>
            <a:off x="1752600" y="1143000"/>
            <a:ext cx="631825"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R</a:t>
            </a:r>
            <a:r>
              <a:rPr lang="en-US" altLang="fr-FR" sz="2000" baseline="-25000">
                <a:latin typeface="Arial Narrow" panose="020B0606020202030204" pitchFamily="34" charset="0"/>
              </a:rPr>
              <a:t>s</a:t>
            </a:r>
            <a:endParaRPr lang="en-US" altLang="fr-FR" sz="2000">
              <a:latin typeface="Arial Narrow" panose="020B0606020202030204" pitchFamily="34" charset="0"/>
            </a:endParaRPr>
          </a:p>
        </p:txBody>
      </p:sp>
      <p:sp>
        <p:nvSpPr>
          <p:cNvPr id="34823" name="Text Box 8"/>
          <p:cNvSpPr txBox="1">
            <a:spLocks noChangeAspect="1" noChangeArrowheads="1"/>
          </p:cNvSpPr>
          <p:nvPr/>
        </p:nvSpPr>
        <p:spPr bwMode="auto">
          <a:xfrm>
            <a:off x="2667000" y="1066800"/>
            <a:ext cx="112395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ls</a:t>
            </a:r>
          </a:p>
        </p:txBody>
      </p:sp>
      <p:sp>
        <p:nvSpPr>
          <p:cNvPr id="34824" name="Text Box 9"/>
          <p:cNvSpPr txBox="1">
            <a:spLocks noChangeAspect="1" noChangeArrowheads="1"/>
          </p:cNvSpPr>
          <p:nvPr/>
        </p:nvSpPr>
        <p:spPr bwMode="auto">
          <a:xfrm>
            <a:off x="6781800" y="990600"/>
            <a:ext cx="1125538"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lr</a:t>
            </a:r>
          </a:p>
        </p:txBody>
      </p:sp>
      <p:sp>
        <p:nvSpPr>
          <p:cNvPr id="34825" name="Text Box 13"/>
          <p:cNvSpPr txBox="1">
            <a:spLocks noChangeAspect="1" noChangeArrowheads="1"/>
          </p:cNvSpPr>
          <p:nvPr/>
        </p:nvSpPr>
        <p:spPr bwMode="auto">
          <a:xfrm>
            <a:off x="4800600" y="1600200"/>
            <a:ext cx="719138" cy="142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E</a:t>
            </a:r>
            <a:r>
              <a:rPr lang="en-US" altLang="fr-FR" sz="2000" baseline="-25000">
                <a:latin typeface="Arial Narrow" panose="020B0606020202030204" pitchFamily="34" charset="0"/>
              </a:rPr>
              <a:t>s</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34826" name="Line 14"/>
          <p:cNvSpPr>
            <a:spLocks noChangeAspect="1" noChangeShapeType="1"/>
          </p:cNvSpPr>
          <p:nvPr/>
        </p:nvSpPr>
        <p:spPr bwMode="auto">
          <a:xfrm flipV="1">
            <a:off x="3124200" y="1828800"/>
            <a:ext cx="38893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34827" name="Text Box 15"/>
          <p:cNvSpPr txBox="1">
            <a:spLocks noChangeAspect="1" noChangeArrowheads="1"/>
          </p:cNvSpPr>
          <p:nvPr/>
        </p:nvSpPr>
        <p:spPr bwMode="auto">
          <a:xfrm>
            <a:off x="3200400" y="1752600"/>
            <a:ext cx="7366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I</a:t>
            </a:r>
            <a:r>
              <a:rPr lang="en-US" altLang="fr-FR" sz="2400" baseline="-25000">
                <a:latin typeface="Arial Narrow" panose="020B0606020202030204" pitchFamily="34" charset="0"/>
              </a:rPr>
              <a:t>s</a:t>
            </a:r>
          </a:p>
        </p:txBody>
      </p:sp>
      <p:sp>
        <p:nvSpPr>
          <p:cNvPr id="34828" name="Text Box 16"/>
          <p:cNvSpPr txBox="1">
            <a:spLocks noChangeAspect="1" noChangeArrowheads="1"/>
          </p:cNvSpPr>
          <p:nvPr/>
        </p:nvSpPr>
        <p:spPr bwMode="auto">
          <a:xfrm>
            <a:off x="7772400" y="1047750"/>
            <a:ext cx="6762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I</a:t>
            </a:r>
            <a:r>
              <a:rPr lang="en-US" altLang="fr-FR" sz="2400" baseline="-25000">
                <a:latin typeface="Arial Narrow" panose="020B0606020202030204" pitchFamily="34" charset="0"/>
              </a:rPr>
              <a:t>r</a:t>
            </a:r>
            <a:endParaRPr lang="en-US" altLang="fr-FR" sz="2400">
              <a:latin typeface="Arial Narrow" panose="020B0606020202030204" pitchFamily="34" charset="0"/>
            </a:endParaRPr>
          </a:p>
        </p:txBody>
      </p:sp>
      <p:sp>
        <p:nvSpPr>
          <p:cNvPr id="34829" name="Line 17"/>
          <p:cNvSpPr>
            <a:spLocks noChangeAspect="1" noChangeShapeType="1"/>
          </p:cNvSpPr>
          <p:nvPr/>
        </p:nvSpPr>
        <p:spPr bwMode="auto">
          <a:xfrm>
            <a:off x="7696200" y="1524000"/>
            <a:ext cx="38576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34830" name="Line 18"/>
          <p:cNvSpPr>
            <a:spLocks noChangeAspect="1" noChangeShapeType="1"/>
          </p:cNvSpPr>
          <p:nvPr/>
        </p:nvSpPr>
        <p:spPr bwMode="auto">
          <a:xfrm>
            <a:off x="4114800" y="2514600"/>
            <a:ext cx="0" cy="3952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34831" name="Text Box 19"/>
          <p:cNvSpPr txBox="1">
            <a:spLocks noChangeAspect="1" noChangeArrowheads="1"/>
          </p:cNvSpPr>
          <p:nvPr/>
        </p:nvSpPr>
        <p:spPr bwMode="auto">
          <a:xfrm>
            <a:off x="3733800" y="2514600"/>
            <a:ext cx="7620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I</a:t>
            </a:r>
            <a:r>
              <a:rPr lang="en-US" altLang="fr-FR" sz="2000" baseline="-25000">
                <a:latin typeface="Arial Narrow" panose="020B0606020202030204" pitchFamily="34" charset="0"/>
              </a:rPr>
              <a:t>m</a:t>
            </a:r>
          </a:p>
        </p:txBody>
      </p:sp>
      <p:sp>
        <p:nvSpPr>
          <p:cNvPr id="34832" name="Text Box 20"/>
          <p:cNvSpPr txBox="1">
            <a:spLocks noChangeAspect="1" noChangeArrowheads="1"/>
          </p:cNvSpPr>
          <p:nvPr/>
        </p:nvSpPr>
        <p:spPr bwMode="auto">
          <a:xfrm>
            <a:off x="4419600" y="2325688"/>
            <a:ext cx="1123950" cy="72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L</a:t>
            </a:r>
            <a:r>
              <a:rPr lang="en-US" altLang="fr-FR" sz="2000" baseline="-25000">
                <a:latin typeface="Arial Narrow" panose="020B0606020202030204" pitchFamily="34" charset="0"/>
              </a:rPr>
              <a:t>m</a:t>
            </a:r>
          </a:p>
        </p:txBody>
      </p:sp>
      <p:sp>
        <p:nvSpPr>
          <p:cNvPr id="34833" name="Text Box 22"/>
          <p:cNvSpPr txBox="1">
            <a:spLocks noChangeArrowheads="1"/>
          </p:cNvSpPr>
          <p:nvPr/>
        </p:nvSpPr>
        <p:spPr bwMode="auto">
          <a:xfrm>
            <a:off x="1203325" y="3905250"/>
            <a:ext cx="3852863"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R</a:t>
            </a:r>
            <a:r>
              <a:rPr lang="pt-BR" altLang="fr-FR" sz="2000" baseline="-30000">
                <a:latin typeface="Arial Narrow" panose="020B0606020202030204" pitchFamily="34" charset="0"/>
                <a:cs typeface="Times New Roman" panose="02020603050405020304" pitchFamily="18" charset="0"/>
              </a:rPr>
              <a:t>s</a:t>
            </a:r>
            <a:r>
              <a:rPr lang="pt-BR" altLang="fr-FR" sz="2000">
                <a:latin typeface="Arial Narrow" panose="020B0606020202030204" pitchFamily="34" charset="0"/>
                <a:cs typeface="Times New Roman" panose="02020603050405020304" pitchFamily="18" charset="0"/>
              </a:rPr>
              <a:t> :	résistance statorique</a:t>
            </a:r>
            <a:endParaRPr lang="en-US" altLang="fr-FR" sz="20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R</a:t>
            </a:r>
            <a:r>
              <a:rPr lang="pt-BR" altLang="fr-FR" sz="2000" baseline="-30000">
                <a:latin typeface="Arial Narrow" panose="020B0606020202030204" pitchFamily="34" charset="0"/>
                <a:cs typeface="Times New Roman" panose="02020603050405020304" pitchFamily="18" charset="0"/>
              </a:rPr>
              <a:t>r</a:t>
            </a:r>
            <a:r>
              <a:rPr lang="pt-BR" altLang="fr-FR" sz="2000">
                <a:latin typeface="Arial Narrow" panose="020B0606020202030204" pitchFamily="34" charset="0"/>
                <a:cs typeface="Times New Roman" panose="02020603050405020304" pitchFamily="18" charset="0"/>
              </a:rPr>
              <a:t> :	résistance rotorique</a:t>
            </a:r>
            <a:endParaRPr lang="en-US" altLang="fr-FR" sz="20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L</a:t>
            </a:r>
            <a:r>
              <a:rPr lang="pt-BR" altLang="fr-FR" sz="2000" baseline="-30000">
                <a:latin typeface="Arial Narrow" panose="020B0606020202030204" pitchFamily="34" charset="0"/>
                <a:cs typeface="Times New Roman" panose="02020603050405020304" pitchFamily="18" charset="0"/>
              </a:rPr>
              <a:t>ls</a:t>
            </a:r>
            <a:r>
              <a:rPr lang="pt-BR" altLang="fr-FR" sz="2000">
                <a:latin typeface="Arial Narrow" panose="020B0606020202030204" pitchFamily="34" charset="0"/>
                <a:cs typeface="Times New Roman" panose="02020603050405020304" pitchFamily="18" charset="0"/>
              </a:rPr>
              <a:t> :	inductance de fuite statorique</a:t>
            </a:r>
            <a:endParaRPr lang="en-US" altLang="fr-FR" sz="20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L</a:t>
            </a:r>
            <a:r>
              <a:rPr lang="pt-BR" altLang="fr-FR" sz="2000" baseline="-30000">
                <a:latin typeface="Arial Narrow" panose="020B0606020202030204" pitchFamily="34" charset="0"/>
                <a:cs typeface="Times New Roman" panose="02020603050405020304" pitchFamily="18" charset="0"/>
              </a:rPr>
              <a:t>lr</a:t>
            </a:r>
            <a:r>
              <a:rPr lang="pt-BR" altLang="fr-FR" sz="2000">
                <a:latin typeface="Arial Narrow" panose="020B0606020202030204" pitchFamily="34" charset="0"/>
                <a:cs typeface="Times New Roman" panose="02020603050405020304" pitchFamily="18" charset="0"/>
              </a:rPr>
              <a:t> :	inductance de fuite rotorique</a:t>
            </a:r>
            <a:endParaRPr lang="en-US" altLang="fr-FR" sz="20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L</a:t>
            </a:r>
            <a:r>
              <a:rPr lang="pt-BR" altLang="fr-FR" sz="2000" baseline="-30000">
                <a:latin typeface="Arial Narrow" panose="020B0606020202030204" pitchFamily="34" charset="0"/>
                <a:cs typeface="Times New Roman" panose="02020603050405020304" pitchFamily="18" charset="0"/>
              </a:rPr>
              <a:t>m</a:t>
            </a:r>
            <a:r>
              <a:rPr lang="pt-BR" altLang="fr-FR" sz="2000">
                <a:latin typeface="Arial Narrow" panose="020B0606020202030204" pitchFamily="34" charset="0"/>
                <a:cs typeface="Times New Roman" panose="02020603050405020304" pitchFamily="18" charset="0"/>
              </a:rPr>
              <a:t> :	inductance mutuelle</a:t>
            </a:r>
            <a:endParaRPr lang="en-US" altLang="fr-FR" sz="20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g :	glissement</a:t>
            </a:r>
            <a:endParaRPr lang="en-US" altLang="fr-FR" sz="2000">
              <a:latin typeface="Arial Narrow" panose="020B0606020202030204" pitchFamily="34" charset="0"/>
              <a:cs typeface="Times New Roman" panose="02020603050405020304" pitchFamily="18" charset="0"/>
            </a:endParaRPr>
          </a:p>
          <a:p>
            <a:pPr eaLnBrk="1" hangingPunct="1">
              <a:spcBef>
                <a:spcPct val="0"/>
              </a:spcBef>
              <a:buClrTx/>
              <a:buSzTx/>
              <a:buFontTx/>
              <a:buNone/>
            </a:pPr>
            <a:endParaRPr lang="en-US" altLang="fr-FR" sz="2000">
              <a:latin typeface="Arial Narrow" panose="020B0606020202030204" pitchFamily="34" charset="0"/>
            </a:endParaRPr>
          </a:p>
        </p:txBody>
      </p:sp>
      <p:sp>
        <p:nvSpPr>
          <p:cNvPr id="34834" name="Rectangle 26"/>
          <p:cNvSpPr>
            <a:spLocks noChangeArrowheads="1"/>
          </p:cNvSpPr>
          <p:nvPr/>
        </p:nvSpPr>
        <p:spPr bwMode="auto">
          <a:xfrm>
            <a:off x="300038"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34835" name="Text Box 29"/>
          <p:cNvSpPr txBox="1">
            <a:spLocks noChangeAspect="1" noChangeArrowheads="1"/>
          </p:cNvSpPr>
          <p:nvPr/>
        </p:nvSpPr>
        <p:spPr bwMode="auto">
          <a:xfrm>
            <a:off x="6062663" y="1600200"/>
            <a:ext cx="719137" cy="142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E</a:t>
            </a:r>
            <a:r>
              <a:rPr lang="en-US" altLang="fr-FR" sz="2000" baseline="-25000">
                <a:latin typeface="Arial Narrow" panose="020B0606020202030204" pitchFamily="34" charset="0"/>
              </a:rPr>
              <a:t>r</a:t>
            </a:r>
            <a:r>
              <a:rPr lang="en-US" altLang="fr-FR" sz="2000">
                <a:latin typeface="Arial Narrow" panose="020B0606020202030204" pitchFamily="34" charset="0"/>
              </a:rPr>
              <a:t>/g</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34836" name="Espace réservé du numéro de diapositive 2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A36D0350-F391-470F-8A5B-0B21C57749EA}" type="slidenum">
              <a:rPr lang="en-US" altLang="fr-FR" sz="1000">
                <a:solidFill>
                  <a:srgbClr val="292929"/>
                </a:solidFill>
                <a:latin typeface="Arial" panose="020B0604020202020204" pitchFamily="34" charset="0"/>
              </a:rPr>
              <a:pPr>
                <a:spcBef>
                  <a:spcPct val="0"/>
                </a:spcBef>
                <a:buClrTx/>
                <a:buSzTx/>
                <a:buFontTx/>
                <a:buNone/>
              </a:pPr>
              <a:t>13</a:t>
            </a:fld>
            <a:endParaRPr lang="en-US" altLang="fr-FR" sz="1000">
              <a:solidFill>
                <a:srgbClr val="292929"/>
              </a:solidFill>
              <a:latin typeface="Arial" panose="020B0604020202020204" pitchFamily="34" charset="0"/>
            </a:endParaRPr>
          </a:p>
        </p:txBody>
      </p:sp>
      <p:sp>
        <p:nvSpPr>
          <p:cNvPr id="25" name="Espace réservé du pied de page 24"/>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4656871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1044"/>
          <p:cNvSpPr txBox="1">
            <a:spLocks noChangeArrowheads="1"/>
          </p:cNvSpPr>
          <p:nvPr/>
        </p:nvSpPr>
        <p:spPr bwMode="auto">
          <a:xfrm>
            <a:off x="976313" y="533400"/>
            <a:ext cx="6553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en-US" altLang="fr-FR" sz="2000">
              <a:latin typeface="Arial" panose="020B0604020202020204" pitchFamily="34" charset="0"/>
              <a:cs typeface="Arial" panose="020B0604020202020204" pitchFamily="34" charset="0"/>
            </a:endParaRPr>
          </a:p>
          <a:p>
            <a:pPr eaLnBrk="1" hangingPunct="1">
              <a:spcBef>
                <a:spcPct val="0"/>
              </a:spcBef>
              <a:buClrTx/>
              <a:buSzTx/>
              <a:buFontTx/>
              <a:buNone/>
            </a:pPr>
            <a:r>
              <a:rPr lang="en-US" altLang="fr-FR" sz="2000">
                <a:latin typeface="Arial" panose="020B0604020202020204" pitchFamily="34" charset="0"/>
                <a:cs typeface="Arial" panose="020B0604020202020204" pitchFamily="34" charset="0"/>
              </a:rPr>
              <a:t>E</a:t>
            </a:r>
            <a:r>
              <a:rPr lang="en-US" altLang="fr-FR" sz="2000" baseline="-25000">
                <a:latin typeface="Arial" panose="020B0604020202020204" pitchFamily="34" charset="0"/>
                <a:cs typeface="Arial" panose="020B0604020202020204" pitchFamily="34" charset="0"/>
              </a:rPr>
              <a:t>s</a:t>
            </a:r>
            <a:r>
              <a:rPr lang="en-US" altLang="fr-FR" sz="2000">
                <a:latin typeface="Arial" panose="020B0604020202020204" pitchFamily="34" charset="0"/>
                <a:cs typeface="Arial" panose="020B0604020202020204" pitchFamily="34" charset="0"/>
              </a:rPr>
              <a:t> et E</a:t>
            </a:r>
            <a:r>
              <a:rPr lang="en-US" altLang="fr-FR" sz="2000" baseline="-25000">
                <a:latin typeface="Arial" panose="020B0604020202020204" pitchFamily="34" charset="0"/>
                <a:cs typeface="Arial" panose="020B0604020202020204" pitchFamily="34" charset="0"/>
              </a:rPr>
              <a:t>r</a:t>
            </a:r>
            <a:r>
              <a:rPr lang="en-US" altLang="fr-FR" sz="2000">
                <a:latin typeface="Arial" panose="020B0604020202020204" pitchFamily="34" charset="0"/>
                <a:cs typeface="Arial" panose="020B0604020202020204" pitchFamily="34" charset="0"/>
              </a:rPr>
              <a:t> sont liés par :</a:t>
            </a:r>
          </a:p>
          <a:p>
            <a:pPr eaLnBrk="1" hangingPunct="1">
              <a:spcBef>
                <a:spcPct val="0"/>
              </a:spcBef>
              <a:buClrTx/>
              <a:buSzTx/>
              <a:buFontTx/>
              <a:buNone/>
            </a:pPr>
            <a:r>
              <a:rPr lang="en-US" altLang="fr-FR" sz="2000">
                <a:latin typeface="Arial" panose="020B0604020202020204" pitchFamily="34" charset="0"/>
                <a:cs typeface="Arial" panose="020B0604020202020204" pitchFamily="34" charset="0"/>
              </a:rPr>
              <a:t> 	</a:t>
            </a:r>
          </a:p>
          <a:p>
            <a:pPr eaLnBrk="1" hangingPunct="1">
              <a:spcBef>
                <a:spcPct val="0"/>
              </a:spcBef>
              <a:buClrTx/>
              <a:buSzTx/>
              <a:buFontTx/>
              <a:buNone/>
            </a:pPr>
            <a:endParaRPr lang="en-US" altLang="fr-FR" sz="2000">
              <a:latin typeface="Arial" panose="020B0604020202020204" pitchFamily="34" charset="0"/>
              <a:cs typeface="Arial" panose="020B0604020202020204" pitchFamily="34" charset="0"/>
            </a:endParaRPr>
          </a:p>
        </p:txBody>
      </p:sp>
      <p:sp>
        <p:nvSpPr>
          <p:cNvPr id="36867" name="Text Box 1045"/>
          <p:cNvSpPr txBox="1">
            <a:spLocks noChangeArrowheads="1"/>
          </p:cNvSpPr>
          <p:nvPr/>
        </p:nvSpPr>
        <p:spPr bwMode="auto">
          <a:xfrm>
            <a:off x="1066800" y="4419600"/>
            <a:ext cx="73914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 typeface="Symbol" panose="05050102010706020507" pitchFamily="18" charset="2"/>
              <a:buChar char="\"/>
            </a:pPr>
            <a:r>
              <a:rPr lang="en-US" altLang="fr-FR" sz="2000">
                <a:latin typeface="Arial" panose="020B0604020202020204" pitchFamily="34" charset="0"/>
                <a:cs typeface="Arial" panose="020B0604020202020204" pitchFamily="34" charset="0"/>
              </a:rPr>
              <a:t> L’équation de la tension rotorique devient:</a:t>
            </a:r>
          </a:p>
          <a:p>
            <a:pPr eaLnBrk="1" hangingPunct="1">
              <a:spcBef>
                <a:spcPct val="0"/>
              </a:spcBef>
              <a:buClrTx/>
              <a:buSzTx/>
              <a:buFont typeface="Symbol" panose="05050102010706020507" pitchFamily="18" charset="2"/>
              <a:buNone/>
            </a:pPr>
            <a:endParaRPr lang="en-US" altLang="fr-FR" sz="2000">
              <a:latin typeface="Arial" panose="020B0604020202020204" pitchFamily="34" charset="0"/>
              <a:cs typeface="Arial" panose="020B0604020202020204" pitchFamily="34" charset="0"/>
            </a:endParaRPr>
          </a:p>
          <a:p>
            <a:pPr eaLnBrk="1" hangingPunct="1">
              <a:spcBef>
                <a:spcPct val="0"/>
              </a:spcBef>
              <a:buClrTx/>
              <a:buSzTx/>
              <a:buFontTx/>
              <a:buNone/>
            </a:pPr>
            <a:r>
              <a:rPr lang="en-US" altLang="fr-FR" sz="2000">
                <a:latin typeface="Arial" panose="020B0604020202020204" pitchFamily="34" charset="0"/>
                <a:cs typeface="Arial" panose="020B0604020202020204" pitchFamily="34" charset="0"/>
              </a:rPr>
              <a:t>	</a:t>
            </a:r>
            <a:r>
              <a:rPr lang="pt-BR" altLang="fr-FR" sz="2000">
                <a:latin typeface="Arial" panose="020B0604020202020204" pitchFamily="34" charset="0"/>
                <a:cs typeface="Arial" panose="020B0604020202020204" pitchFamily="34" charset="0"/>
              </a:rPr>
              <a:t>E</a:t>
            </a:r>
            <a:r>
              <a:rPr lang="pt-BR" altLang="fr-FR" sz="2000" baseline="-25000">
                <a:latin typeface="Arial" panose="020B0604020202020204" pitchFamily="34" charset="0"/>
                <a:cs typeface="Arial" panose="020B0604020202020204" pitchFamily="34" charset="0"/>
              </a:rPr>
              <a:t>s</a:t>
            </a:r>
            <a:r>
              <a:rPr lang="pt-BR" altLang="fr-FR" sz="2000">
                <a:latin typeface="Arial" panose="020B0604020202020204" pitchFamily="34" charset="0"/>
                <a:cs typeface="Arial" panose="020B0604020202020204" pitchFamily="34" charset="0"/>
              </a:rPr>
              <a:t> = (R</a:t>
            </a:r>
            <a:r>
              <a:rPr lang="pt-BR" altLang="fr-FR" sz="2000" baseline="-25000">
                <a:latin typeface="Arial" panose="020B0604020202020204" pitchFamily="34" charset="0"/>
                <a:cs typeface="Arial" panose="020B0604020202020204" pitchFamily="34" charset="0"/>
              </a:rPr>
              <a:t>r</a:t>
            </a:r>
            <a:r>
              <a:rPr lang="pt-BR" altLang="fr-FR" sz="2000">
                <a:latin typeface="Arial" panose="020B0604020202020204" pitchFamily="34" charset="0"/>
                <a:cs typeface="Arial" panose="020B0604020202020204" pitchFamily="34" charset="0"/>
              </a:rPr>
              <a:t>’ / g) I</a:t>
            </a:r>
            <a:r>
              <a:rPr lang="pt-BR" altLang="fr-FR" sz="2000" baseline="-25000">
                <a:latin typeface="Arial" panose="020B0604020202020204" pitchFamily="34" charset="0"/>
                <a:cs typeface="Arial" panose="020B0604020202020204" pitchFamily="34" charset="0"/>
              </a:rPr>
              <a:t>r</a:t>
            </a:r>
            <a:r>
              <a:rPr lang="pt-BR" altLang="fr-FR" sz="2000">
                <a:latin typeface="Arial" panose="020B0604020202020204" pitchFamily="34" charset="0"/>
                <a:cs typeface="Arial" panose="020B0604020202020204" pitchFamily="34" charset="0"/>
              </a:rPr>
              <a:t>’ + j(2</a:t>
            </a:r>
            <a:r>
              <a:rPr lang="en-US" altLang="fr-FR" sz="2000">
                <a:latin typeface="Arial" panose="020B0604020202020204" pitchFamily="34" charset="0"/>
                <a:cs typeface="Arial" panose="020B0604020202020204" pitchFamily="34" charset="0"/>
                <a:sym typeface="Symbol" panose="05050102010706020507" pitchFamily="18" charset="2"/>
              </a:rPr>
              <a:t></a:t>
            </a:r>
            <a:r>
              <a:rPr lang="pt-BR" altLang="fr-FR" sz="2000">
                <a:latin typeface="Arial" panose="020B0604020202020204" pitchFamily="34" charset="0"/>
                <a:cs typeface="Arial" panose="020B0604020202020204" pitchFamily="34" charset="0"/>
              </a:rPr>
              <a:t>f)L</a:t>
            </a:r>
            <a:r>
              <a:rPr lang="pt-BR" altLang="fr-FR" sz="2000" baseline="-25000">
                <a:latin typeface="Arial" panose="020B0604020202020204" pitchFamily="34" charset="0"/>
                <a:cs typeface="Arial" panose="020B0604020202020204" pitchFamily="34" charset="0"/>
              </a:rPr>
              <a:t>lr</a:t>
            </a:r>
            <a:r>
              <a:rPr lang="pt-BR" altLang="fr-FR" sz="2000">
                <a:latin typeface="Arial" panose="020B0604020202020204" pitchFamily="34" charset="0"/>
                <a:cs typeface="Arial" panose="020B0604020202020204" pitchFamily="34" charset="0"/>
              </a:rPr>
              <a:t>’ I</a:t>
            </a:r>
            <a:r>
              <a:rPr lang="pt-BR" altLang="fr-FR" sz="2000" baseline="-25000">
                <a:latin typeface="Arial" panose="020B0604020202020204" pitchFamily="34" charset="0"/>
                <a:cs typeface="Arial" panose="020B0604020202020204" pitchFamily="34" charset="0"/>
              </a:rPr>
              <a:t>r</a:t>
            </a:r>
            <a:r>
              <a:rPr lang="pt-BR" altLang="fr-FR" sz="2000">
                <a:latin typeface="Arial" panose="020B0604020202020204" pitchFamily="34" charset="0"/>
                <a:cs typeface="Arial" panose="020B0604020202020204" pitchFamily="34" charset="0"/>
              </a:rPr>
              <a:t>’</a:t>
            </a:r>
            <a:r>
              <a:rPr lang="en-US" altLang="fr-FR" sz="2000">
                <a:latin typeface="Arial" panose="020B0604020202020204" pitchFamily="34" charset="0"/>
                <a:cs typeface="Arial" panose="020B0604020202020204" pitchFamily="34" charset="0"/>
              </a:rPr>
              <a:t> </a:t>
            </a:r>
          </a:p>
          <a:p>
            <a:pPr eaLnBrk="1" hangingPunct="1">
              <a:spcBef>
                <a:spcPct val="0"/>
              </a:spcBef>
              <a:buClrTx/>
              <a:buSzTx/>
              <a:buFontTx/>
              <a:buNone/>
            </a:pPr>
            <a:r>
              <a:rPr lang="en-US" altLang="fr-FR" sz="2000">
                <a:latin typeface="Arial" panose="020B0604020202020204" pitchFamily="34" charset="0"/>
                <a:cs typeface="Arial" panose="020B0604020202020204" pitchFamily="34" charset="0"/>
              </a:rPr>
              <a:t>	</a:t>
            </a:r>
            <a:r>
              <a:rPr lang="en-US" altLang="fr-FR" sz="2000" baseline="-30000">
                <a:latin typeface="Arial" panose="020B0604020202020204" pitchFamily="34" charset="0"/>
                <a:cs typeface="Arial" panose="020B0604020202020204" pitchFamily="34" charset="0"/>
              </a:rPr>
              <a:t>	</a:t>
            </a:r>
            <a:r>
              <a:rPr lang="en-US" altLang="fr-FR" sz="2000">
                <a:latin typeface="Arial" panose="020B0604020202020204" pitchFamily="34" charset="0"/>
                <a:cs typeface="Arial" panose="020B0604020202020204" pitchFamily="34" charset="0"/>
              </a:rPr>
              <a:t> </a:t>
            </a:r>
          </a:p>
        </p:txBody>
      </p:sp>
      <p:sp>
        <p:nvSpPr>
          <p:cNvPr id="36868" name="Rectangle 1046"/>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aphicFrame>
        <p:nvGraphicFramePr>
          <p:cNvPr id="36869" name="Object 1047"/>
          <p:cNvGraphicFramePr>
            <a:graphicFrameLocks noGrp="1" noChangeAspect="1"/>
          </p:cNvGraphicFramePr>
          <p:nvPr>
            <p:ph/>
          </p:nvPr>
        </p:nvGraphicFramePr>
        <p:xfrm>
          <a:off x="2919413" y="1695450"/>
          <a:ext cx="941387" cy="769938"/>
        </p:xfrm>
        <a:graphic>
          <a:graphicData uri="http://schemas.openxmlformats.org/presentationml/2006/ole">
            <mc:AlternateContent xmlns:mc="http://schemas.openxmlformats.org/markup-compatibility/2006">
              <mc:Choice xmlns:v="urn:schemas-microsoft-com:vml" Requires="v">
                <p:oleObj spid="_x0000_s286730" name="Équation" r:id="rId4" imgW="418918" imgH="342751" progId="Equation.3">
                  <p:embed/>
                </p:oleObj>
              </mc:Choice>
              <mc:Fallback>
                <p:oleObj name="Équation" r:id="rId4" imgW="418918" imgH="342751"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9413" y="1695450"/>
                        <a:ext cx="941387" cy="769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0" name="Text Box 1049"/>
          <p:cNvSpPr txBox="1">
            <a:spLocks noChangeArrowheads="1"/>
          </p:cNvSpPr>
          <p:nvPr/>
        </p:nvSpPr>
        <p:spPr bwMode="auto">
          <a:xfrm>
            <a:off x="4495800" y="1676400"/>
            <a:ext cx="4202113"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en-US" altLang="fr-FR" sz="1800">
                <a:latin typeface="Arial" panose="020B0604020202020204" pitchFamily="34" charset="0"/>
                <a:cs typeface="Arial" panose="020B0604020202020204" pitchFamily="34" charset="0"/>
              </a:rPr>
              <a:t>Où </a:t>
            </a:r>
            <a:r>
              <a:rPr lang="en-US" altLang="fr-FR" sz="1800" b="1">
                <a:latin typeface="Arial" panose="020B0604020202020204" pitchFamily="34" charset="0"/>
                <a:cs typeface="Arial" panose="020B0604020202020204" pitchFamily="34" charset="0"/>
              </a:rPr>
              <a:t>a</a:t>
            </a:r>
            <a:r>
              <a:rPr lang="en-US" altLang="fr-FR" sz="1800">
                <a:latin typeface="Arial" panose="020B0604020202020204" pitchFamily="34" charset="0"/>
                <a:cs typeface="Arial" panose="020B0604020202020204" pitchFamily="34" charset="0"/>
              </a:rPr>
              <a:t> est le rapport de nombres de spires statorique et rotorique.</a:t>
            </a:r>
          </a:p>
          <a:p>
            <a:pPr algn="just" eaLnBrk="1" hangingPunct="1">
              <a:spcBef>
                <a:spcPct val="0"/>
              </a:spcBef>
              <a:buClrTx/>
              <a:buSzTx/>
              <a:buFontTx/>
              <a:buNone/>
            </a:pPr>
            <a:endParaRPr lang="en-US" altLang="fr-FR" sz="2000">
              <a:latin typeface="Arial" panose="020B0604020202020204" pitchFamily="34" charset="0"/>
              <a:cs typeface="Arial" panose="020B0604020202020204" pitchFamily="34" charset="0"/>
            </a:endParaRPr>
          </a:p>
        </p:txBody>
      </p:sp>
      <p:sp>
        <p:nvSpPr>
          <p:cNvPr id="36871" name="Text Box 1050"/>
          <p:cNvSpPr txBox="1">
            <a:spLocks noChangeArrowheads="1"/>
          </p:cNvSpPr>
          <p:nvPr/>
        </p:nvSpPr>
        <p:spPr bwMode="auto">
          <a:xfrm>
            <a:off x="990600" y="2667000"/>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000">
                <a:latin typeface="Arial" panose="020B0604020202020204" pitchFamily="34" charset="0"/>
                <a:cs typeface="Arial" panose="020B0604020202020204" pitchFamily="34" charset="0"/>
                <a:sym typeface="Symbol" panose="05050102010706020507" pitchFamily="18" charset="2"/>
              </a:rPr>
              <a:t>Les paramètres du rotor ramenés au stator sont:</a:t>
            </a:r>
            <a:endParaRPr lang="en-US" altLang="fr-FR" sz="2000">
              <a:latin typeface="Arial" panose="020B0604020202020204" pitchFamily="34" charset="0"/>
              <a:cs typeface="Arial" panose="020B0604020202020204" pitchFamily="34" charset="0"/>
            </a:endParaRPr>
          </a:p>
          <a:p>
            <a:pPr eaLnBrk="1" hangingPunct="1">
              <a:spcBef>
                <a:spcPct val="0"/>
              </a:spcBef>
              <a:buClrTx/>
              <a:buSzTx/>
              <a:buFontTx/>
              <a:buNone/>
            </a:pPr>
            <a:r>
              <a:rPr lang="en-US" altLang="fr-FR" sz="2000">
                <a:latin typeface="Arial" panose="020B0604020202020204" pitchFamily="34" charset="0"/>
                <a:cs typeface="Arial" panose="020B0604020202020204" pitchFamily="34" charset="0"/>
              </a:rPr>
              <a:t>		</a:t>
            </a:r>
            <a:r>
              <a:rPr lang="en-US" altLang="fr-FR" sz="2000" baseline="-30000">
                <a:latin typeface="Arial" panose="020B0604020202020204" pitchFamily="34" charset="0"/>
                <a:cs typeface="Arial" panose="020B0604020202020204" pitchFamily="34" charset="0"/>
              </a:rPr>
              <a:t>	</a:t>
            </a:r>
            <a:r>
              <a:rPr lang="en-US" altLang="fr-FR" sz="2000">
                <a:latin typeface="Arial" panose="020B0604020202020204" pitchFamily="34" charset="0"/>
                <a:cs typeface="Arial" panose="020B0604020202020204" pitchFamily="34" charset="0"/>
              </a:rPr>
              <a:t> </a:t>
            </a:r>
          </a:p>
        </p:txBody>
      </p:sp>
      <p:graphicFrame>
        <p:nvGraphicFramePr>
          <p:cNvPr id="36872" name="Object 1051"/>
          <p:cNvGraphicFramePr>
            <a:graphicFrameLocks noChangeAspect="1"/>
          </p:cNvGraphicFramePr>
          <p:nvPr/>
        </p:nvGraphicFramePr>
        <p:xfrm>
          <a:off x="2014538" y="3429000"/>
          <a:ext cx="4054475" cy="866775"/>
        </p:xfrm>
        <a:graphic>
          <a:graphicData uri="http://schemas.openxmlformats.org/presentationml/2006/ole">
            <mc:AlternateContent xmlns:mc="http://schemas.openxmlformats.org/markup-compatibility/2006">
              <mc:Choice xmlns:v="urn:schemas-microsoft-com:vml" Requires="v">
                <p:oleObj spid="_x0000_s286731" name="Equation" r:id="rId6" imgW="1663700" imgH="355600" progId="Equation.3">
                  <p:embed/>
                </p:oleObj>
              </mc:Choice>
              <mc:Fallback>
                <p:oleObj name="Equation" r:id="rId6" imgW="1663700" imgH="3556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14538" y="3429000"/>
                        <a:ext cx="4054475" cy="86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3" name="Espace réservé du numéro de diapositive 1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932E7EB8-8771-4B22-8F5A-D64D99D58A57}" type="slidenum">
              <a:rPr lang="en-US" altLang="fr-FR" sz="1000">
                <a:solidFill>
                  <a:srgbClr val="292929"/>
                </a:solidFill>
                <a:latin typeface="Arial" panose="020B0604020202020204" pitchFamily="34" charset="0"/>
              </a:rPr>
              <a:pPr>
                <a:spcBef>
                  <a:spcPct val="0"/>
                </a:spcBef>
                <a:buClrTx/>
                <a:buSzTx/>
                <a:buFontTx/>
                <a:buNone/>
              </a:pPr>
              <a:t>14</a:t>
            </a:fld>
            <a:endParaRPr lang="en-US" altLang="fr-FR" sz="1000">
              <a:solidFill>
                <a:srgbClr val="292929"/>
              </a:solidFill>
              <a:latin typeface="Arial" panose="020B0604020202020204" pitchFamily="34" charset="0"/>
            </a:endParaRPr>
          </a:p>
        </p:txBody>
      </p:sp>
      <p:sp>
        <p:nvSpPr>
          <p:cNvPr id="14" name="Espace réservé du pied de page 13"/>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417649640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2052638" y="457200"/>
            <a:ext cx="57118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cs typeface="Times New Roman" panose="02020603050405020304" pitchFamily="18" charset="0"/>
              </a:rPr>
              <a:t>Circuit équivalent  / phase ramené au stator</a:t>
            </a:r>
          </a:p>
        </p:txBody>
      </p:sp>
      <p:grpSp>
        <p:nvGrpSpPr>
          <p:cNvPr id="38915" name="Group 3"/>
          <p:cNvGrpSpPr>
            <a:grpSpLocks/>
          </p:cNvGrpSpPr>
          <p:nvPr/>
        </p:nvGrpSpPr>
        <p:grpSpPr bwMode="auto">
          <a:xfrm>
            <a:off x="1219200" y="1219200"/>
            <a:ext cx="7600950" cy="2584450"/>
            <a:chOff x="768" y="768"/>
            <a:chExt cx="4788" cy="1628"/>
          </a:xfrm>
        </p:grpSpPr>
        <p:pic>
          <p:nvPicPr>
            <p:cNvPr id="38920" name="Picture 4"/>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864" y="1056"/>
              <a:ext cx="4008" cy="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1" name="Text Box 5"/>
            <p:cNvSpPr txBox="1">
              <a:spLocks noChangeAspect="1" noChangeArrowheads="1"/>
            </p:cNvSpPr>
            <p:nvPr/>
          </p:nvSpPr>
          <p:spPr bwMode="auto">
            <a:xfrm>
              <a:off x="4848" y="1440"/>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R</a:t>
              </a:r>
              <a:r>
                <a:rPr lang="en-US" altLang="fr-FR" sz="2400" baseline="-25000">
                  <a:latin typeface="Arial Narrow" panose="020B0606020202030204" pitchFamily="34" charset="0"/>
                </a:rPr>
                <a:t>r</a:t>
              </a:r>
              <a:r>
                <a:rPr lang="en-US" altLang="fr-FR" sz="2400">
                  <a:latin typeface="Arial Narrow" panose="020B0606020202030204" pitchFamily="34" charset="0"/>
                </a:rPr>
                <a:t>’/g</a:t>
              </a:r>
            </a:p>
          </p:txBody>
        </p:sp>
        <p:sp>
          <p:nvSpPr>
            <p:cNvPr id="38922" name="Text Box 6"/>
            <p:cNvSpPr txBox="1">
              <a:spLocks noChangeAspect="1" noChangeArrowheads="1"/>
            </p:cNvSpPr>
            <p:nvPr/>
          </p:nvSpPr>
          <p:spPr bwMode="auto">
            <a:xfrm>
              <a:off x="768" y="1248"/>
              <a:ext cx="560" cy="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V</a:t>
              </a:r>
              <a:r>
                <a:rPr lang="en-US" altLang="fr-FR" sz="2000" baseline="-25000">
                  <a:latin typeface="Arial Narrow" panose="020B0606020202030204" pitchFamily="34" charset="0"/>
                </a:rPr>
                <a:t>s</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38923" name="Text Box 7"/>
            <p:cNvSpPr txBox="1">
              <a:spLocks noChangeAspect="1" noChangeArrowheads="1"/>
            </p:cNvSpPr>
            <p:nvPr/>
          </p:nvSpPr>
          <p:spPr bwMode="auto">
            <a:xfrm>
              <a:off x="1296" y="864"/>
              <a:ext cx="398"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R</a:t>
              </a:r>
              <a:r>
                <a:rPr lang="en-US" altLang="fr-FR" sz="2000" baseline="-25000">
                  <a:latin typeface="Arial Narrow" panose="020B0606020202030204" pitchFamily="34" charset="0"/>
                </a:rPr>
                <a:t>s</a:t>
              </a:r>
              <a:endParaRPr lang="en-US" altLang="fr-FR" sz="2000">
                <a:latin typeface="Arial Narrow" panose="020B0606020202030204" pitchFamily="34" charset="0"/>
              </a:endParaRPr>
            </a:p>
          </p:txBody>
        </p:sp>
        <p:sp>
          <p:nvSpPr>
            <p:cNvPr id="38924" name="Text Box 8"/>
            <p:cNvSpPr txBox="1">
              <a:spLocks noChangeAspect="1" noChangeArrowheads="1"/>
            </p:cNvSpPr>
            <p:nvPr/>
          </p:nvSpPr>
          <p:spPr bwMode="auto">
            <a:xfrm>
              <a:off x="2268" y="794"/>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ls</a:t>
              </a:r>
            </a:p>
          </p:txBody>
        </p:sp>
        <p:sp>
          <p:nvSpPr>
            <p:cNvPr id="38925" name="Text Box 9"/>
            <p:cNvSpPr txBox="1">
              <a:spLocks noChangeAspect="1" noChangeArrowheads="1"/>
            </p:cNvSpPr>
            <p:nvPr/>
          </p:nvSpPr>
          <p:spPr bwMode="auto">
            <a:xfrm>
              <a:off x="3888" y="816"/>
              <a:ext cx="709"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lr</a:t>
              </a:r>
              <a:r>
                <a:rPr lang="en-US" altLang="fr-FR" sz="2400">
                  <a:latin typeface="Arial Narrow" panose="020B0606020202030204" pitchFamily="34" charset="0"/>
                </a:rPr>
                <a:t>’</a:t>
              </a:r>
              <a:endParaRPr lang="en-US" altLang="fr-FR" sz="2400" baseline="-25000">
                <a:latin typeface="Arial Narrow" panose="020B0606020202030204" pitchFamily="34" charset="0"/>
              </a:endParaRPr>
            </a:p>
          </p:txBody>
        </p:sp>
        <p:sp>
          <p:nvSpPr>
            <p:cNvPr id="38926" name="Text Box 10"/>
            <p:cNvSpPr txBox="1">
              <a:spLocks noChangeAspect="1" noChangeArrowheads="1"/>
            </p:cNvSpPr>
            <p:nvPr/>
          </p:nvSpPr>
          <p:spPr bwMode="auto">
            <a:xfrm>
              <a:off x="3195" y="1211"/>
              <a:ext cx="453" cy="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E</a:t>
              </a:r>
              <a:r>
                <a:rPr lang="en-US" altLang="fr-FR" sz="2000" baseline="-25000">
                  <a:latin typeface="Arial Narrow" panose="020B0606020202030204" pitchFamily="34" charset="0"/>
                </a:rPr>
                <a:t>s</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38927" name="Line 11"/>
            <p:cNvSpPr>
              <a:spLocks noChangeAspect="1" noChangeShapeType="1"/>
            </p:cNvSpPr>
            <p:nvPr/>
          </p:nvSpPr>
          <p:spPr bwMode="auto">
            <a:xfrm flipV="1">
              <a:off x="1740" y="1081"/>
              <a:ext cx="24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38928" name="Text Box 12"/>
            <p:cNvSpPr txBox="1">
              <a:spLocks noChangeAspect="1" noChangeArrowheads="1"/>
            </p:cNvSpPr>
            <p:nvPr/>
          </p:nvSpPr>
          <p:spPr bwMode="auto">
            <a:xfrm>
              <a:off x="1683" y="768"/>
              <a:ext cx="46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I</a:t>
              </a:r>
              <a:r>
                <a:rPr lang="en-US" altLang="fr-FR" sz="2400" baseline="-25000">
                  <a:latin typeface="Arial Narrow" panose="020B0606020202030204" pitchFamily="34" charset="0"/>
                </a:rPr>
                <a:t>s</a:t>
              </a:r>
            </a:p>
          </p:txBody>
        </p:sp>
        <p:sp>
          <p:nvSpPr>
            <p:cNvPr id="38929" name="Text Box 13"/>
            <p:cNvSpPr txBox="1">
              <a:spLocks noChangeAspect="1" noChangeArrowheads="1"/>
            </p:cNvSpPr>
            <p:nvPr/>
          </p:nvSpPr>
          <p:spPr bwMode="auto">
            <a:xfrm>
              <a:off x="4512" y="816"/>
              <a:ext cx="426"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I</a:t>
              </a:r>
              <a:r>
                <a:rPr lang="en-US" altLang="fr-FR" sz="2400" baseline="-25000">
                  <a:latin typeface="Arial Narrow" panose="020B0606020202030204" pitchFamily="34" charset="0"/>
                </a:rPr>
                <a:t>r</a:t>
              </a:r>
              <a:r>
                <a:rPr lang="en-US" altLang="fr-FR" sz="2400">
                  <a:latin typeface="Arial Narrow" panose="020B0606020202030204" pitchFamily="34" charset="0"/>
                </a:rPr>
                <a:t>’</a:t>
              </a:r>
            </a:p>
          </p:txBody>
        </p:sp>
        <p:sp>
          <p:nvSpPr>
            <p:cNvPr id="38930" name="Line 14"/>
            <p:cNvSpPr>
              <a:spLocks noChangeAspect="1" noChangeShapeType="1"/>
            </p:cNvSpPr>
            <p:nvPr/>
          </p:nvSpPr>
          <p:spPr bwMode="auto">
            <a:xfrm>
              <a:off x="4304" y="1099"/>
              <a:ext cx="24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38931" name="Line 15"/>
            <p:cNvSpPr>
              <a:spLocks noChangeAspect="1" noChangeShapeType="1"/>
            </p:cNvSpPr>
            <p:nvPr/>
          </p:nvSpPr>
          <p:spPr bwMode="auto">
            <a:xfrm>
              <a:off x="2976" y="1911"/>
              <a:ext cx="0" cy="24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38932" name="Text Box 16"/>
            <p:cNvSpPr txBox="1">
              <a:spLocks noChangeAspect="1" noChangeArrowheads="1"/>
            </p:cNvSpPr>
            <p:nvPr/>
          </p:nvSpPr>
          <p:spPr bwMode="auto">
            <a:xfrm>
              <a:off x="2748" y="1850"/>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I</a:t>
              </a:r>
              <a:r>
                <a:rPr lang="en-US" altLang="fr-FR" sz="2000" baseline="-25000">
                  <a:latin typeface="Arial Narrow" panose="020B0606020202030204" pitchFamily="34" charset="0"/>
                </a:rPr>
                <a:t>m</a:t>
              </a:r>
            </a:p>
          </p:txBody>
        </p:sp>
        <p:sp>
          <p:nvSpPr>
            <p:cNvPr id="38933" name="Text Box 17"/>
            <p:cNvSpPr txBox="1">
              <a:spLocks noChangeAspect="1" noChangeArrowheads="1"/>
            </p:cNvSpPr>
            <p:nvPr/>
          </p:nvSpPr>
          <p:spPr bwMode="auto">
            <a:xfrm>
              <a:off x="2832" y="1465"/>
              <a:ext cx="708"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L</a:t>
              </a:r>
              <a:r>
                <a:rPr lang="en-US" altLang="fr-FR" sz="2000" baseline="-25000">
                  <a:latin typeface="Arial Narrow" panose="020B0606020202030204" pitchFamily="34" charset="0"/>
                </a:rPr>
                <a:t>m</a:t>
              </a:r>
            </a:p>
          </p:txBody>
        </p:sp>
      </p:grpSp>
      <p:sp>
        <p:nvSpPr>
          <p:cNvPr id="38916" name="Text Box 18"/>
          <p:cNvSpPr txBox="1">
            <a:spLocks noChangeArrowheads="1"/>
          </p:cNvSpPr>
          <p:nvPr/>
        </p:nvSpPr>
        <p:spPr bwMode="auto">
          <a:xfrm>
            <a:off x="1203325" y="3905250"/>
            <a:ext cx="7494588"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R</a:t>
            </a:r>
            <a:r>
              <a:rPr lang="pt-BR" altLang="fr-FR" sz="2000" baseline="-25000">
                <a:latin typeface="Arial Narrow" panose="020B0606020202030204" pitchFamily="34" charset="0"/>
                <a:cs typeface="Times New Roman" panose="02020603050405020304" pitchFamily="18" charset="0"/>
              </a:rPr>
              <a:t>s</a:t>
            </a:r>
            <a:r>
              <a:rPr lang="pt-BR" altLang="fr-FR" sz="2000">
                <a:latin typeface="Arial Narrow" panose="020B0606020202030204" pitchFamily="34" charset="0"/>
                <a:cs typeface="Times New Roman" panose="02020603050405020304" pitchFamily="18" charset="0"/>
              </a:rPr>
              <a:t> :	Résistance statorique</a:t>
            </a:r>
            <a:endParaRPr lang="en-US" altLang="fr-FR" sz="20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R</a:t>
            </a:r>
            <a:r>
              <a:rPr lang="pt-BR" altLang="fr-FR" sz="2000" baseline="-25000">
                <a:latin typeface="Arial Narrow" panose="020B0606020202030204" pitchFamily="34" charset="0"/>
                <a:cs typeface="Times New Roman" panose="02020603050405020304" pitchFamily="18" charset="0"/>
              </a:rPr>
              <a:t>r</a:t>
            </a:r>
            <a:r>
              <a:rPr lang="pt-BR" altLang="fr-FR" sz="2000">
                <a:latin typeface="Arial Narrow" panose="020B0606020202030204" pitchFamily="34" charset="0"/>
                <a:cs typeface="Times New Roman" panose="02020603050405020304" pitchFamily="18" charset="0"/>
              </a:rPr>
              <a:t>’ :          Résistance rotorique ramenée au stator</a:t>
            </a:r>
            <a:endParaRPr lang="en-US" altLang="fr-FR" sz="20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L</a:t>
            </a:r>
            <a:r>
              <a:rPr lang="pt-BR" altLang="fr-FR" sz="2000" baseline="-30000">
                <a:latin typeface="Arial Narrow" panose="020B0606020202030204" pitchFamily="34" charset="0"/>
                <a:cs typeface="Times New Roman" panose="02020603050405020304" pitchFamily="18" charset="0"/>
              </a:rPr>
              <a:t>ls</a:t>
            </a:r>
            <a:r>
              <a:rPr lang="pt-BR" altLang="fr-FR" sz="2000">
                <a:latin typeface="Arial Narrow" panose="020B0606020202030204" pitchFamily="34" charset="0"/>
                <a:cs typeface="Times New Roman" panose="02020603050405020304" pitchFamily="18" charset="0"/>
              </a:rPr>
              <a:t> –	Inductance de fuite statorique</a:t>
            </a:r>
            <a:endParaRPr lang="en-US" altLang="fr-FR" sz="20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L</a:t>
            </a:r>
            <a:r>
              <a:rPr lang="pt-BR" altLang="fr-FR" sz="2000" baseline="-30000">
                <a:latin typeface="Arial Narrow" panose="020B0606020202030204" pitchFamily="34" charset="0"/>
                <a:cs typeface="Times New Roman" panose="02020603050405020304" pitchFamily="18" charset="0"/>
              </a:rPr>
              <a:t>lr</a:t>
            </a:r>
            <a:r>
              <a:rPr lang="pt-BR" altLang="fr-FR" sz="2000">
                <a:latin typeface="Arial Narrow" panose="020B0606020202030204" pitchFamily="34" charset="0"/>
                <a:cs typeface="Times New Roman" panose="02020603050405020304" pitchFamily="18" charset="0"/>
              </a:rPr>
              <a:t>’ –	Inductance de fuite statorique ramenée au stator</a:t>
            </a:r>
            <a:endParaRPr lang="en-US" altLang="fr-FR" sz="20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L</a:t>
            </a:r>
            <a:r>
              <a:rPr lang="pt-BR" altLang="fr-FR" sz="2000" baseline="-30000">
                <a:latin typeface="Arial Narrow" panose="020B0606020202030204" pitchFamily="34" charset="0"/>
                <a:cs typeface="Times New Roman" panose="02020603050405020304" pitchFamily="18" charset="0"/>
              </a:rPr>
              <a:t>m</a:t>
            </a:r>
            <a:r>
              <a:rPr lang="pt-BR" altLang="fr-FR" sz="2000">
                <a:latin typeface="Arial Narrow" panose="020B0606020202030204" pitchFamily="34" charset="0"/>
                <a:cs typeface="Times New Roman" panose="02020603050405020304" pitchFamily="18" charset="0"/>
              </a:rPr>
              <a:t> –	Inductance mutuelle</a:t>
            </a:r>
            <a:endParaRPr lang="en-US" altLang="fr-FR" sz="20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I</a:t>
            </a:r>
            <a:r>
              <a:rPr lang="pt-BR" altLang="fr-FR" sz="2000" baseline="-25000">
                <a:latin typeface="Arial Narrow" panose="020B0606020202030204" pitchFamily="34" charset="0"/>
                <a:cs typeface="Times New Roman" panose="02020603050405020304" pitchFamily="18" charset="0"/>
              </a:rPr>
              <a:t>r</a:t>
            </a:r>
            <a:r>
              <a:rPr lang="pt-BR" altLang="fr-FR" sz="2000">
                <a:latin typeface="Arial Narrow" panose="020B0606020202030204" pitchFamily="34" charset="0"/>
                <a:cs typeface="Times New Roman" panose="02020603050405020304" pitchFamily="18" charset="0"/>
              </a:rPr>
              <a:t>’   –	Courant rotorique ramené au stator</a:t>
            </a:r>
            <a:endParaRPr lang="en-US" altLang="fr-FR" sz="2000">
              <a:latin typeface="Arial Narrow" panose="020B0606020202030204" pitchFamily="34" charset="0"/>
              <a:cs typeface="Times New Roman" panose="02020603050405020304" pitchFamily="18" charset="0"/>
            </a:endParaRPr>
          </a:p>
          <a:p>
            <a:pPr eaLnBrk="1" hangingPunct="1">
              <a:spcBef>
                <a:spcPct val="0"/>
              </a:spcBef>
              <a:buClrTx/>
              <a:buSzTx/>
              <a:buFontTx/>
              <a:buNone/>
            </a:pPr>
            <a:endParaRPr lang="en-US" altLang="fr-FR" sz="2000">
              <a:latin typeface="Arial Narrow" panose="020B0606020202030204" pitchFamily="34" charset="0"/>
            </a:endParaRPr>
          </a:p>
        </p:txBody>
      </p:sp>
      <p:sp>
        <p:nvSpPr>
          <p:cNvPr id="38917" name="Rectangle 19"/>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38918" name="Espace réservé du numéro de diapositive 2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B428B55A-DDD3-4EE8-8A11-589AA96C51FE}" type="slidenum">
              <a:rPr lang="en-US" altLang="fr-FR" sz="1000">
                <a:solidFill>
                  <a:srgbClr val="292929"/>
                </a:solidFill>
                <a:latin typeface="Arial" panose="020B0604020202020204" pitchFamily="34" charset="0"/>
              </a:rPr>
              <a:pPr>
                <a:spcBef>
                  <a:spcPct val="0"/>
                </a:spcBef>
                <a:buClrTx/>
                <a:buSzTx/>
                <a:buFontTx/>
                <a:buNone/>
              </a:pPr>
              <a:t>15</a:t>
            </a:fld>
            <a:endParaRPr lang="en-US" altLang="fr-FR" sz="1000">
              <a:solidFill>
                <a:srgbClr val="292929"/>
              </a:solidFill>
              <a:latin typeface="Arial" panose="020B0604020202020204" pitchFamily="34" charset="0"/>
            </a:endParaRPr>
          </a:p>
        </p:txBody>
      </p:sp>
      <p:sp>
        <p:nvSpPr>
          <p:cNvPr id="25" name="Espace réservé du pied de page 24"/>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25373354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ChangeArrowheads="1"/>
          </p:cNvSpPr>
          <p:nvPr/>
        </p:nvSpPr>
        <p:spPr bwMode="auto">
          <a:xfrm>
            <a:off x="701675" y="836613"/>
            <a:ext cx="7886700"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2000">
                <a:latin typeface="Arial Narrow" panose="020B0606020202030204" pitchFamily="34" charset="0"/>
              </a:rPr>
              <a:t>Pour donner des ordres de grandeur aux éléments du schéma équivalent, on les compare à l’impédance nominale. Le schéma est vu depuis une phase du stator. On prend donc comme référence l’</a:t>
            </a:r>
            <a:r>
              <a:rPr lang="fr-FR" altLang="fr-FR" sz="2000" i="1">
                <a:latin typeface="Arial Narrow" panose="020B0606020202030204" pitchFamily="34" charset="0"/>
              </a:rPr>
              <a:t>impédance nominale de phase du stator en [</a:t>
            </a:r>
            <a:r>
              <a:rPr lang="fr-FR" altLang="fr-FR" sz="2000" i="1">
                <a:latin typeface="GreekC" pitchFamily="2" charset="0"/>
                <a:ea typeface="GreekC" pitchFamily="2" charset="0"/>
                <a:cs typeface="GreekC" pitchFamily="2" charset="0"/>
              </a:rPr>
              <a:t>W</a:t>
            </a:r>
            <a:r>
              <a:rPr lang="fr-FR" altLang="fr-FR" sz="2000" i="1">
                <a:latin typeface="Arial Narrow" panose="020B0606020202030204" pitchFamily="34" charset="0"/>
              </a:rPr>
              <a:t>/phase] :</a:t>
            </a:r>
          </a:p>
          <a:p>
            <a:pPr algn="just" eaLnBrk="1" hangingPunct="1">
              <a:spcBef>
                <a:spcPct val="0"/>
              </a:spcBef>
              <a:buClrTx/>
              <a:buSzTx/>
              <a:buFontTx/>
              <a:buNone/>
            </a:pPr>
            <a:r>
              <a:rPr lang="fr-FR" altLang="fr-FR" sz="2000">
                <a:latin typeface="Arial Narrow" panose="020B0606020202030204" pitchFamily="34" charset="0"/>
              </a:rPr>
              <a:t>                                                             Z</a:t>
            </a:r>
            <a:r>
              <a:rPr lang="fr-FR" altLang="fr-FR" sz="2000" baseline="-25000">
                <a:latin typeface="Arial Narrow" panose="020B0606020202030204" pitchFamily="34" charset="0"/>
              </a:rPr>
              <a:t>N</a:t>
            </a:r>
            <a:r>
              <a:rPr lang="fr-FR" altLang="fr-FR" sz="2000">
                <a:latin typeface="Arial Narrow" panose="020B0606020202030204" pitchFamily="34" charset="0"/>
              </a:rPr>
              <a:t> = V</a:t>
            </a:r>
            <a:r>
              <a:rPr lang="fr-FR" altLang="fr-FR" sz="2000" baseline="-25000">
                <a:latin typeface="Arial Narrow" panose="020B0606020202030204" pitchFamily="34" charset="0"/>
              </a:rPr>
              <a:t>N</a:t>
            </a:r>
            <a:r>
              <a:rPr lang="fr-FR" altLang="fr-FR" sz="2000">
                <a:latin typeface="Arial Narrow" panose="020B0606020202030204" pitchFamily="34" charset="0"/>
              </a:rPr>
              <a:t>/I</a:t>
            </a:r>
            <a:r>
              <a:rPr lang="fr-FR" altLang="fr-FR" sz="2000" baseline="-25000">
                <a:latin typeface="Arial Narrow" panose="020B0606020202030204" pitchFamily="34" charset="0"/>
              </a:rPr>
              <a:t>N</a:t>
            </a:r>
          </a:p>
          <a:p>
            <a:pPr algn="just" eaLnBrk="1" hangingPunct="1">
              <a:spcBef>
                <a:spcPct val="0"/>
              </a:spcBef>
              <a:buClrTx/>
              <a:buSzTx/>
              <a:buFontTx/>
              <a:buNone/>
            </a:pPr>
            <a:endParaRPr lang="fr-FR" altLang="fr-FR" sz="2000" i="1">
              <a:latin typeface="Arial Narrow" panose="020B0606020202030204" pitchFamily="34" charset="0"/>
            </a:endParaRPr>
          </a:p>
          <a:p>
            <a:pPr algn="just" eaLnBrk="1" hangingPunct="1">
              <a:spcBef>
                <a:spcPct val="0"/>
              </a:spcBef>
              <a:buClrTx/>
              <a:buSzTx/>
              <a:buFontTx/>
              <a:buNone/>
            </a:pPr>
            <a:r>
              <a:rPr lang="fr-FR" altLang="fr-FR" sz="2000">
                <a:latin typeface="Arial Narrow" panose="020B0606020202030204" pitchFamily="34" charset="0"/>
              </a:rPr>
              <a:t>où V</a:t>
            </a:r>
            <a:r>
              <a:rPr lang="fr-FR" altLang="fr-FR" sz="2000" baseline="-25000">
                <a:latin typeface="Arial Narrow" panose="020B0606020202030204" pitchFamily="34" charset="0"/>
              </a:rPr>
              <a:t>N</a:t>
            </a:r>
            <a:r>
              <a:rPr lang="fr-FR" altLang="fr-FR" sz="2000">
                <a:latin typeface="Arial Narrow" panose="020B0606020202030204" pitchFamily="34" charset="0"/>
              </a:rPr>
              <a:t> et I</a:t>
            </a:r>
            <a:r>
              <a:rPr lang="fr-FR" altLang="fr-FR" sz="2000" baseline="-25000">
                <a:latin typeface="Arial Narrow" panose="020B0606020202030204" pitchFamily="34" charset="0"/>
              </a:rPr>
              <a:t>N</a:t>
            </a:r>
            <a:r>
              <a:rPr lang="fr-FR" altLang="fr-FR" sz="2000">
                <a:latin typeface="Arial Narrow" panose="020B0606020202030204" pitchFamily="34" charset="0"/>
              </a:rPr>
              <a:t> sont respectivement la tension et le courant de phase nominale du stator.</a:t>
            </a:r>
          </a:p>
        </p:txBody>
      </p:sp>
      <p:grpSp>
        <p:nvGrpSpPr>
          <p:cNvPr id="40963" name="Groupe 10"/>
          <p:cNvGrpSpPr>
            <a:grpSpLocks/>
          </p:cNvGrpSpPr>
          <p:nvPr/>
        </p:nvGrpSpPr>
        <p:grpSpPr bwMode="auto">
          <a:xfrm>
            <a:off x="2673350" y="3536950"/>
            <a:ext cx="4271963" cy="2411413"/>
            <a:chOff x="2855889" y="3538539"/>
            <a:chExt cx="4271855" cy="2412000"/>
          </a:xfrm>
        </p:grpSpPr>
        <p:pic>
          <p:nvPicPr>
            <p:cNvPr id="40968" name="Picture 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55889" y="3538539"/>
              <a:ext cx="4271855" cy="241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9" name="ZoneTexte 7"/>
            <p:cNvSpPr txBox="1">
              <a:spLocks noChangeArrowheads="1"/>
            </p:cNvSpPr>
            <p:nvPr/>
          </p:nvSpPr>
          <p:spPr bwMode="auto">
            <a:xfrm>
              <a:off x="3111480" y="4268799"/>
              <a:ext cx="1095390" cy="400110"/>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Narrow" panose="020B0606020202030204" pitchFamily="34" charset="0"/>
                </a:rPr>
                <a:t>X</a:t>
              </a:r>
              <a:r>
                <a:rPr lang="fr-FR" altLang="fr-FR" sz="2000" b="1" baseline="-25000">
                  <a:latin typeface="Arial Narrow" panose="020B0606020202030204" pitchFamily="34" charset="0"/>
                </a:rPr>
                <a:t>ls</a:t>
              </a:r>
              <a:r>
                <a:rPr lang="fr-FR" altLang="fr-FR" sz="2000" b="1">
                  <a:latin typeface="Arial Narrow" panose="020B0606020202030204" pitchFamily="34" charset="0"/>
                </a:rPr>
                <a:t> et X’</a:t>
              </a:r>
              <a:r>
                <a:rPr lang="fr-FR" altLang="fr-FR" sz="2000" b="1" baseline="-25000">
                  <a:latin typeface="Arial Narrow" panose="020B0606020202030204" pitchFamily="34" charset="0"/>
                </a:rPr>
                <a:t>ls</a:t>
              </a:r>
            </a:p>
          </p:txBody>
        </p:sp>
        <p:sp>
          <p:nvSpPr>
            <p:cNvPr id="40970" name="ZoneTexte 8"/>
            <p:cNvSpPr txBox="1">
              <a:spLocks noChangeArrowheads="1"/>
            </p:cNvSpPr>
            <p:nvPr/>
          </p:nvSpPr>
          <p:spPr bwMode="auto">
            <a:xfrm>
              <a:off x="3403584" y="4853007"/>
              <a:ext cx="547695" cy="400110"/>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Narrow" panose="020B0606020202030204" pitchFamily="34" charset="0"/>
                </a:rPr>
                <a:t>X</a:t>
              </a:r>
              <a:r>
                <a:rPr lang="fr-FR" altLang="fr-FR" sz="2000" b="1" baseline="-25000">
                  <a:latin typeface="Arial Narrow" panose="020B0606020202030204" pitchFamily="34" charset="0"/>
                </a:rPr>
                <a:t>m</a:t>
              </a:r>
              <a:r>
                <a:rPr lang="fr-FR" altLang="fr-FR" sz="2000" b="1">
                  <a:latin typeface="Arial Narrow" panose="020B0606020202030204" pitchFamily="34" charset="0"/>
                </a:rPr>
                <a:t> </a:t>
              </a:r>
              <a:endParaRPr lang="fr-FR" altLang="fr-FR" sz="2000" b="1" baseline="-25000">
                <a:latin typeface="Arial Narrow" panose="020B0606020202030204" pitchFamily="34" charset="0"/>
              </a:endParaRPr>
            </a:p>
          </p:txBody>
        </p:sp>
        <p:sp>
          <p:nvSpPr>
            <p:cNvPr id="40971" name="ZoneTexte 9"/>
            <p:cNvSpPr txBox="1">
              <a:spLocks noChangeArrowheads="1"/>
            </p:cNvSpPr>
            <p:nvPr/>
          </p:nvSpPr>
          <p:spPr bwMode="auto">
            <a:xfrm>
              <a:off x="5740416" y="5400702"/>
              <a:ext cx="547695" cy="400110"/>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Narrow" panose="020B0606020202030204" pitchFamily="34" charset="0"/>
                </a:rPr>
                <a:t>X</a:t>
              </a:r>
              <a:r>
                <a:rPr lang="fr-FR" altLang="fr-FR" sz="2000" b="1" baseline="-25000">
                  <a:latin typeface="Arial Narrow" panose="020B0606020202030204" pitchFamily="34" charset="0"/>
                </a:rPr>
                <a:t>m</a:t>
              </a:r>
              <a:r>
                <a:rPr lang="fr-FR" altLang="fr-FR" sz="2000" b="1">
                  <a:latin typeface="Arial Narrow" panose="020B0606020202030204" pitchFamily="34" charset="0"/>
                </a:rPr>
                <a:t> </a:t>
              </a:r>
              <a:endParaRPr lang="fr-FR" altLang="fr-FR" sz="2000" b="1" baseline="-25000">
                <a:latin typeface="Arial Narrow" panose="020B0606020202030204" pitchFamily="34" charset="0"/>
              </a:endParaRPr>
            </a:p>
          </p:txBody>
        </p:sp>
      </p:grpSp>
      <p:sp>
        <p:nvSpPr>
          <p:cNvPr id="40964" name="Rectangle 19"/>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40965" name="Rectangle 12"/>
          <p:cNvSpPr>
            <a:spLocks noChangeArrowheads="1"/>
          </p:cNvSpPr>
          <p:nvPr/>
        </p:nvSpPr>
        <p:spPr bwMode="auto">
          <a:xfrm>
            <a:off x="847725" y="288925"/>
            <a:ext cx="2144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i="1">
                <a:latin typeface="Arial Narrow" panose="020B0606020202030204" pitchFamily="34" charset="0"/>
              </a:rPr>
              <a:t>Ordres de grandeur</a:t>
            </a:r>
            <a:endParaRPr lang="fr-FR" altLang="fr-FR" sz="2000">
              <a:latin typeface="Arial Narrow" panose="020B0606020202030204" pitchFamily="34" charset="0"/>
            </a:endParaRPr>
          </a:p>
        </p:txBody>
      </p:sp>
      <p:sp>
        <p:nvSpPr>
          <p:cNvPr id="40966" name="Espace réservé du numéro de diapositive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D39B0FE2-7DEF-441D-A224-72A862F2CE16}" type="slidenum">
              <a:rPr lang="en-US" altLang="fr-FR" sz="1000">
                <a:solidFill>
                  <a:srgbClr val="292929"/>
                </a:solidFill>
                <a:latin typeface="Arial" panose="020B0604020202020204" pitchFamily="34" charset="0"/>
              </a:rPr>
              <a:pPr>
                <a:spcBef>
                  <a:spcPct val="0"/>
                </a:spcBef>
                <a:buClrTx/>
                <a:buSzTx/>
                <a:buFontTx/>
                <a:buNone/>
              </a:pPr>
              <a:t>16</a:t>
            </a:fld>
            <a:endParaRPr lang="en-US" altLang="fr-FR" sz="1000">
              <a:solidFill>
                <a:srgbClr val="292929"/>
              </a:solidFill>
              <a:latin typeface="Arial" panose="020B0604020202020204" pitchFamily="34" charset="0"/>
            </a:endParaRPr>
          </a:p>
        </p:txBody>
      </p:sp>
      <p:sp>
        <p:nvSpPr>
          <p:cNvPr id="13" name="Espace réservé du pied de page 12"/>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288791770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3"/>
          <p:cNvSpPr txBox="1">
            <a:spLocks noChangeArrowheads="1"/>
          </p:cNvSpPr>
          <p:nvPr/>
        </p:nvSpPr>
        <p:spPr bwMode="auto">
          <a:xfrm>
            <a:off x="3124200" y="381000"/>
            <a:ext cx="37480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cs typeface="Arial" panose="020B0604020202020204" pitchFamily="34" charset="0"/>
              </a:rPr>
              <a:t>Puissance et couple</a:t>
            </a:r>
          </a:p>
        </p:txBody>
      </p:sp>
      <p:sp>
        <p:nvSpPr>
          <p:cNvPr id="43011" name="Text Box 18"/>
          <p:cNvSpPr txBox="1">
            <a:spLocks noChangeArrowheads="1"/>
          </p:cNvSpPr>
          <p:nvPr/>
        </p:nvSpPr>
        <p:spPr bwMode="auto">
          <a:xfrm>
            <a:off x="898525" y="1184275"/>
            <a:ext cx="77628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Narrow" panose="020B0606020202030204" pitchFamily="34" charset="0"/>
                <a:cs typeface="Arial" panose="020B0604020202020204" pitchFamily="34" charset="0"/>
              </a:rPr>
              <a:t>La puissance est transmise du stator au rotor via l’entrefer</a:t>
            </a:r>
            <a:r>
              <a:rPr lang="en-US" altLang="fr-FR" sz="2000">
                <a:latin typeface="Arial Narrow" panose="020B0606020202030204" pitchFamily="34" charset="0"/>
                <a:cs typeface="Arial" panose="020B0604020202020204" pitchFamily="34" charset="0"/>
              </a:rPr>
              <a:t>: </a:t>
            </a:r>
          </a:p>
          <a:p>
            <a:pPr eaLnBrk="1" hangingPunct="1">
              <a:spcBef>
                <a:spcPct val="0"/>
              </a:spcBef>
              <a:buClrTx/>
              <a:buSzTx/>
              <a:buFontTx/>
              <a:buNone/>
            </a:pPr>
            <a:r>
              <a:rPr lang="en-US" altLang="fr-FR" sz="2000">
                <a:latin typeface="Arial Narrow" panose="020B0606020202030204" pitchFamily="34" charset="0"/>
                <a:cs typeface="Arial" panose="020B0604020202020204" pitchFamily="34" charset="0"/>
              </a:rPr>
              <a:t>appelée puissance de l’entrefer (ou puissance transmise).</a:t>
            </a:r>
          </a:p>
        </p:txBody>
      </p:sp>
      <p:graphicFrame>
        <p:nvGraphicFramePr>
          <p:cNvPr id="43012" name="Object 19"/>
          <p:cNvGraphicFramePr>
            <a:graphicFrameLocks noChangeAspect="1"/>
          </p:cNvGraphicFramePr>
          <p:nvPr/>
        </p:nvGraphicFramePr>
        <p:xfrm>
          <a:off x="1436688" y="2386013"/>
          <a:ext cx="5129212" cy="633412"/>
        </p:xfrm>
        <a:graphic>
          <a:graphicData uri="http://schemas.openxmlformats.org/presentationml/2006/ole">
            <mc:AlternateContent xmlns:mc="http://schemas.openxmlformats.org/markup-compatibility/2006">
              <mc:Choice xmlns:v="urn:schemas-microsoft-com:vml" Requires="v">
                <p:oleObj spid="_x0000_s287750" name="Équation" r:id="rId4" imgW="2324100" imgH="330200" progId="Equation.3">
                  <p:embed/>
                </p:oleObj>
              </mc:Choice>
              <mc:Fallback>
                <p:oleObj name="Équation" r:id="rId4" imgW="2324100" imgH="330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36688" y="2386013"/>
                        <a:ext cx="5129212" cy="63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13" name="Line 20"/>
          <p:cNvSpPr>
            <a:spLocks noChangeShapeType="1"/>
          </p:cNvSpPr>
          <p:nvPr/>
        </p:nvSpPr>
        <p:spPr bwMode="auto">
          <a:xfrm>
            <a:off x="3581400" y="30480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3014" name="Line 21"/>
          <p:cNvSpPr>
            <a:spLocks noChangeShapeType="1"/>
          </p:cNvSpPr>
          <p:nvPr/>
        </p:nvSpPr>
        <p:spPr bwMode="auto">
          <a:xfrm flipH="1">
            <a:off x="3733800" y="3048000"/>
            <a:ext cx="30480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3015" name="Line 22"/>
          <p:cNvSpPr>
            <a:spLocks noChangeShapeType="1"/>
          </p:cNvSpPr>
          <p:nvPr/>
        </p:nvSpPr>
        <p:spPr bwMode="auto">
          <a:xfrm>
            <a:off x="5257800" y="3048000"/>
            <a:ext cx="1371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3016" name="Line 23"/>
          <p:cNvSpPr>
            <a:spLocks noChangeShapeType="1"/>
          </p:cNvSpPr>
          <p:nvPr/>
        </p:nvSpPr>
        <p:spPr bwMode="auto">
          <a:xfrm>
            <a:off x="5715000" y="3048000"/>
            <a:ext cx="1524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3017" name="Text Box 24"/>
          <p:cNvSpPr txBox="1">
            <a:spLocks noChangeArrowheads="1"/>
          </p:cNvSpPr>
          <p:nvPr/>
        </p:nvSpPr>
        <p:spPr bwMode="auto">
          <a:xfrm>
            <a:off x="2971800" y="4038600"/>
            <a:ext cx="18446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cs typeface="Arial" panose="020B0604020202020204" pitchFamily="34" charset="0"/>
              </a:rPr>
              <a:t>Pertes dans les enroulement rotorique</a:t>
            </a:r>
          </a:p>
        </p:txBody>
      </p:sp>
      <p:sp>
        <p:nvSpPr>
          <p:cNvPr id="43018" name="Text Box 25"/>
          <p:cNvSpPr txBox="1">
            <a:spLocks noChangeArrowheads="1"/>
          </p:cNvSpPr>
          <p:nvPr/>
        </p:nvSpPr>
        <p:spPr bwMode="auto">
          <a:xfrm>
            <a:off x="5029200" y="4114800"/>
            <a:ext cx="27924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en-US" altLang="fr-FR" sz="1800">
                <a:latin typeface="Arial" panose="020B0604020202020204" pitchFamily="34" charset="0"/>
                <a:cs typeface="Arial" panose="020B0604020202020204" pitchFamily="34" charset="0"/>
              </a:rPr>
              <a:t>Convertie en puissance mécanique = (1–g)P</a:t>
            </a:r>
            <a:r>
              <a:rPr lang="en-US" altLang="fr-FR" sz="1800" baseline="-25000">
                <a:latin typeface="Arial" panose="020B0604020202020204" pitchFamily="34" charset="0"/>
                <a:cs typeface="Arial" panose="020B0604020202020204" pitchFamily="34" charset="0"/>
              </a:rPr>
              <a:t>tr</a:t>
            </a:r>
            <a:endParaRPr lang="en-US" altLang="fr-FR" sz="1800">
              <a:latin typeface="Arial" panose="020B0604020202020204" pitchFamily="34" charset="0"/>
              <a:cs typeface="Arial" panose="020B0604020202020204" pitchFamily="34" charset="0"/>
            </a:endParaRPr>
          </a:p>
        </p:txBody>
      </p:sp>
      <p:sp>
        <p:nvSpPr>
          <p:cNvPr id="43019" name="Rectangle 26"/>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43020" name="Rectangle 15"/>
          <p:cNvSpPr>
            <a:spLocks noChangeArrowheads="1"/>
          </p:cNvSpPr>
          <p:nvPr/>
        </p:nvSpPr>
        <p:spPr bwMode="auto">
          <a:xfrm>
            <a:off x="811213" y="5389563"/>
            <a:ext cx="78136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Narrow" panose="020B0606020202030204" pitchFamily="34" charset="0"/>
              </a:rPr>
              <a:t>Le rendement rotorique croît lorsque le glissement diminue, donc lorsque la vitesse augmente. Un moteur asynchrone n’est alors </a:t>
            </a:r>
            <a:r>
              <a:rPr lang="fr-FR" altLang="fr-FR" sz="1800" i="1">
                <a:latin typeface="Arial Narrow" panose="020B0606020202030204" pitchFamily="34" charset="0"/>
              </a:rPr>
              <a:t>intéressant d’un point de vue énergétique que pour les faibles glissements.</a:t>
            </a:r>
            <a:endParaRPr lang="fr-FR" altLang="fr-FR" sz="1800">
              <a:latin typeface="Arial Narrow" panose="020B0606020202030204" pitchFamily="34" charset="0"/>
            </a:endParaRPr>
          </a:p>
        </p:txBody>
      </p:sp>
      <p:sp>
        <p:nvSpPr>
          <p:cNvPr id="43021" name="Espace réservé du numéro de diapositive 1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8E88B98C-3ED1-4EB3-B5F6-D17DA76FF9B2}" type="slidenum">
              <a:rPr lang="en-US" altLang="fr-FR" sz="1000">
                <a:solidFill>
                  <a:srgbClr val="292929"/>
                </a:solidFill>
                <a:latin typeface="Arial" panose="020B0604020202020204" pitchFamily="34" charset="0"/>
              </a:rPr>
              <a:pPr>
                <a:spcBef>
                  <a:spcPct val="0"/>
                </a:spcBef>
                <a:buClrTx/>
                <a:buSzTx/>
                <a:buFontTx/>
                <a:buNone/>
              </a:pPr>
              <a:t>17</a:t>
            </a:fld>
            <a:endParaRPr lang="en-US" altLang="fr-FR" sz="1000">
              <a:solidFill>
                <a:srgbClr val="292929"/>
              </a:solidFill>
              <a:latin typeface="Arial" panose="020B0604020202020204" pitchFamily="34" charset="0"/>
            </a:endParaRPr>
          </a:p>
        </p:txBody>
      </p:sp>
      <p:sp>
        <p:nvSpPr>
          <p:cNvPr id="17" name="Espace réservé du pied de page 16"/>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24936942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3124200" y="3810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cs typeface="Times New Roman" panose="02020603050405020304" pitchFamily="18" charset="0"/>
              </a:rPr>
              <a:t>puissance et couple</a:t>
            </a:r>
          </a:p>
        </p:txBody>
      </p:sp>
      <p:sp>
        <p:nvSpPr>
          <p:cNvPr id="45059" name="Rectangle 11"/>
          <p:cNvSpPr>
            <a:spLocks noChangeArrowheads="1"/>
          </p:cNvSpPr>
          <p:nvPr/>
        </p:nvSpPr>
        <p:spPr bwMode="auto">
          <a:xfrm>
            <a:off x="838200" y="982663"/>
            <a:ext cx="6019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Puissance mécanique,</a:t>
            </a:r>
            <a:r>
              <a:rPr lang="pt-BR" altLang="fr-FR" sz="2400">
                <a:latin typeface="Courier New" panose="02070309020205020404" pitchFamily="49" charset="0"/>
                <a:cs typeface="Times New Roman" panose="02020603050405020304" pitchFamily="18" charset="0"/>
              </a:rPr>
              <a:t> </a:t>
            </a:r>
            <a:r>
              <a:rPr lang="pt-BR" altLang="fr-FR" sz="2400">
                <a:latin typeface="Arial Narrow" panose="020B0606020202030204" pitchFamily="34" charset="0"/>
                <a:cs typeface="Times New Roman" panose="02020603050405020304" pitchFamily="18" charset="0"/>
              </a:rPr>
              <a:t>P</a:t>
            </a:r>
            <a:r>
              <a:rPr lang="pt-BR" altLang="fr-FR" sz="2400" baseline="-30000">
                <a:latin typeface="Arial Narrow" panose="020B0606020202030204" pitchFamily="34" charset="0"/>
                <a:cs typeface="Times New Roman" panose="02020603050405020304" pitchFamily="18" charset="0"/>
              </a:rPr>
              <a:t>m</a:t>
            </a:r>
            <a:r>
              <a:rPr lang="pt-BR" altLang="fr-FR" sz="2400">
                <a:latin typeface="Arial Narrow" panose="020B0606020202030204" pitchFamily="34" charset="0"/>
                <a:cs typeface="Times New Roman" panose="02020603050405020304" pitchFamily="18" charset="0"/>
              </a:rPr>
              <a:t> = T</a:t>
            </a:r>
            <a:r>
              <a:rPr lang="pt-BR" altLang="fr-FR" sz="2400" baseline="-30000">
                <a:latin typeface="Arial Narrow" panose="020B0606020202030204" pitchFamily="34" charset="0"/>
                <a:cs typeface="Times New Roman" panose="02020603050405020304" pitchFamily="18" charset="0"/>
              </a:rPr>
              <a:t>em</a:t>
            </a:r>
            <a:r>
              <a:rPr lang="pt-BR" altLang="fr-FR" sz="2400">
                <a:latin typeface="Arial Narrow" panose="020B0606020202030204" pitchFamily="34" charset="0"/>
                <a:cs typeface="Times New Roman" panose="02020603050405020304" pitchFamily="18" charset="0"/>
              </a:rPr>
              <a:t> </a:t>
            </a:r>
            <a:r>
              <a:rPr lang="en-US" altLang="fr-FR" sz="2400">
                <a:latin typeface="Arial Narrow" panose="020B0606020202030204" pitchFamily="34" charset="0"/>
                <a:cs typeface="Times New Roman" panose="02020603050405020304" pitchFamily="18" charset="0"/>
                <a:sym typeface="Symbol" panose="05050102010706020507" pitchFamily="18" charset="2"/>
              </a:rPr>
              <a:t></a:t>
            </a:r>
            <a:r>
              <a:rPr lang="pt-BR" altLang="fr-FR" sz="2400" baseline="-30000">
                <a:latin typeface="Arial Narrow" panose="020B0606020202030204" pitchFamily="34" charset="0"/>
                <a:cs typeface="Times New Roman" panose="02020603050405020304" pitchFamily="18" charset="0"/>
              </a:rPr>
              <a:t>r</a:t>
            </a:r>
            <a:endParaRPr lang="en-US" altLang="fr-FR" sz="2400">
              <a:latin typeface="Arial Narrow" panose="020B0606020202030204" pitchFamily="34" charset="0"/>
              <a:cs typeface="Times New Roman" panose="02020603050405020304" pitchFamily="18" charset="0"/>
              <a:sym typeface="Symbol" panose="05050102010706020507" pitchFamily="18" charset="2"/>
            </a:endParaRPr>
          </a:p>
          <a:p>
            <a:pPr>
              <a:spcBef>
                <a:spcPct val="0"/>
              </a:spcBef>
              <a:buClrTx/>
              <a:buSzTx/>
              <a:buFontTx/>
              <a:buNone/>
            </a:pPr>
            <a:endParaRPr lang="en-US" altLang="fr-FR" sz="2400">
              <a:latin typeface="Arial Narrow" panose="020B0606020202030204" pitchFamily="34" charset="0"/>
              <a:cs typeface="Times New Roman" panose="02020603050405020304" pitchFamily="18" charset="0"/>
              <a:sym typeface="Symbol" panose="05050102010706020507" pitchFamily="18" charset="2"/>
            </a:endParaRPr>
          </a:p>
        </p:txBody>
      </p:sp>
      <p:sp>
        <p:nvSpPr>
          <p:cNvPr id="45060" name="Rectangle 12"/>
          <p:cNvSpPr>
            <a:spLocks noChangeArrowheads="1"/>
          </p:cNvSpPr>
          <p:nvPr/>
        </p:nvSpPr>
        <p:spPr bwMode="auto">
          <a:xfrm>
            <a:off x="914400" y="1639888"/>
            <a:ext cx="693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pt-BR" altLang="fr-FR" sz="2400">
                <a:latin typeface="Bookman Old Style" panose="02050604050505020204" pitchFamily="18" charset="0"/>
                <a:cs typeface="Times New Roman" panose="02020603050405020304" pitchFamily="18" charset="0"/>
                <a:sym typeface="Symbol" panose="05050102010706020507" pitchFamily="18" charset="2"/>
              </a:rPr>
              <a:t> </a:t>
            </a:r>
            <a:r>
              <a:rPr lang="pt-BR" altLang="fr-FR" sz="2000">
                <a:latin typeface="Arial Narrow" panose="020B0606020202030204" pitchFamily="34" charset="0"/>
                <a:cs typeface="Times New Roman" panose="02020603050405020304" pitchFamily="18" charset="0"/>
                <a:sym typeface="Symbol" panose="05050102010706020507" pitchFamily="18" charset="2"/>
              </a:rPr>
              <a:t>Mais,      g</a:t>
            </a:r>
            <a:r>
              <a:rPr lang="en-US" altLang="fr-FR" sz="2000">
                <a:latin typeface="Arial Narrow" panose="020B0606020202030204" pitchFamily="34" charset="0"/>
                <a:cs typeface="Times New Roman" panose="02020603050405020304" pitchFamily="18" charset="0"/>
                <a:sym typeface="Symbol" panose="05050102010706020507" pitchFamily="18" charset="2"/>
              </a:rPr>
              <a:t></a:t>
            </a:r>
            <a:r>
              <a:rPr lang="pt-BR" altLang="fr-FR" sz="2000" baseline="-30000">
                <a:latin typeface="Arial Narrow" panose="020B0606020202030204" pitchFamily="34" charset="0"/>
                <a:cs typeface="Times New Roman" panose="02020603050405020304" pitchFamily="18" charset="0"/>
                <a:sym typeface="Symbol" panose="05050102010706020507" pitchFamily="18" charset="2"/>
              </a:rPr>
              <a:t>s</a:t>
            </a:r>
            <a:r>
              <a:rPr lang="pt-BR" altLang="fr-FR" sz="2000">
                <a:latin typeface="Arial Narrow" panose="020B0606020202030204" pitchFamily="34" charset="0"/>
                <a:cs typeface="Times New Roman" panose="02020603050405020304" pitchFamily="18" charset="0"/>
                <a:sym typeface="Symbol" panose="05050102010706020507" pitchFamily="18" charset="2"/>
              </a:rPr>
              <a:t> = </a:t>
            </a:r>
            <a:r>
              <a:rPr lang="en-US" altLang="fr-FR" sz="2000">
                <a:latin typeface="Arial Narrow" panose="020B0606020202030204" pitchFamily="34" charset="0"/>
                <a:cs typeface="Times New Roman" panose="02020603050405020304" pitchFamily="18" charset="0"/>
                <a:sym typeface="Symbol" panose="05050102010706020507" pitchFamily="18" charset="2"/>
              </a:rPr>
              <a:t></a:t>
            </a:r>
            <a:r>
              <a:rPr lang="pt-BR" altLang="fr-FR" sz="2000" baseline="-30000">
                <a:latin typeface="Arial Narrow" panose="020B0606020202030204" pitchFamily="34" charset="0"/>
                <a:cs typeface="Times New Roman" panose="02020603050405020304" pitchFamily="18" charset="0"/>
                <a:sym typeface="Symbol" panose="05050102010706020507" pitchFamily="18" charset="2"/>
              </a:rPr>
              <a:t>s</a:t>
            </a:r>
            <a:r>
              <a:rPr lang="pt-BR" altLang="fr-FR" sz="2000">
                <a:latin typeface="Arial Narrow" panose="020B0606020202030204" pitchFamily="34" charset="0"/>
                <a:cs typeface="Times New Roman" panose="02020603050405020304" pitchFamily="18" charset="0"/>
                <a:sym typeface="Symbol" panose="05050102010706020507" pitchFamily="18" charset="2"/>
              </a:rPr>
              <a:t> - </a:t>
            </a:r>
            <a:r>
              <a:rPr lang="en-US" altLang="fr-FR" sz="2000">
                <a:latin typeface="Arial Narrow" panose="020B0606020202030204" pitchFamily="34" charset="0"/>
                <a:cs typeface="Times New Roman" panose="02020603050405020304" pitchFamily="18" charset="0"/>
                <a:sym typeface="Symbol" panose="05050102010706020507" pitchFamily="18" charset="2"/>
              </a:rPr>
              <a:t></a:t>
            </a:r>
            <a:r>
              <a:rPr lang="pt-BR" altLang="fr-FR" sz="2000" baseline="-30000">
                <a:latin typeface="Arial Narrow" panose="020B0606020202030204" pitchFamily="34" charset="0"/>
                <a:cs typeface="Times New Roman" panose="02020603050405020304" pitchFamily="18" charset="0"/>
                <a:sym typeface="Symbol" panose="05050102010706020507" pitchFamily="18" charset="2"/>
              </a:rPr>
              <a:t>r</a:t>
            </a:r>
            <a:r>
              <a:rPr lang="pt-BR" altLang="fr-FR" sz="2000">
                <a:latin typeface="Arial Narrow" panose="020B0606020202030204" pitchFamily="34" charset="0"/>
                <a:cs typeface="Times New Roman" panose="02020603050405020304" pitchFamily="18" charset="0"/>
                <a:sym typeface="Symbol" panose="05050102010706020507" pitchFamily="18" charset="2"/>
              </a:rPr>
              <a:t>			</a:t>
            </a:r>
            <a:r>
              <a:rPr lang="en-US" altLang="fr-FR" sz="2000">
                <a:latin typeface="Arial Narrow" panose="020B0606020202030204" pitchFamily="34" charset="0"/>
                <a:cs typeface="Times New Roman" panose="02020603050405020304" pitchFamily="18" charset="0"/>
                <a:sym typeface="Symbol" panose="05050102010706020507" pitchFamily="18" charset="2"/>
              </a:rPr>
              <a:t></a:t>
            </a:r>
            <a:r>
              <a:rPr lang="pt-BR" altLang="fr-FR" sz="2000" baseline="-30000">
                <a:latin typeface="Arial Narrow" panose="020B0606020202030204" pitchFamily="34" charset="0"/>
                <a:cs typeface="Times New Roman" panose="02020603050405020304" pitchFamily="18" charset="0"/>
                <a:sym typeface="Symbol" panose="05050102010706020507" pitchFamily="18" charset="2"/>
              </a:rPr>
              <a:t>r</a:t>
            </a:r>
            <a:r>
              <a:rPr lang="pt-BR" altLang="fr-FR" sz="2000">
                <a:latin typeface="Arial Narrow" panose="020B0606020202030204" pitchFamily="34" charset="0"/>
                <a:cs typeface="Times New Roman" panose="02020603050405020304" pitchFamily="18" charset="0"/>
                <a:sym typeface="Symbol" panose="05050102010706020507" pitchFamily="18" charset="2"/>
              </a:rPr>
              <a:t> = (1-g)</a:t>
            </a:r>
            <a:r>
              <a:rPr lang="en-US" altLang="fr-FR" sz="2000">
                <a:latin typeface="Arial Narrow" panose="020B0606020202030204" pitchFamily="34" charset="0"/>
                <a:cs typeface="Times New Roman" panose="02020603050405020304" pitchFamily="18" charset="0"/>
                <a:sym typeface="Symbol" panose="05050102010706020507" pitchFamily="18" charset="2"/>
              </a:rPr>
              <a:t></a:t>
            </a:r>
            <a:r>
              <a:rPr lang="pt-BR" altLang="fr-FR" sz="2000" baseline="-30000">
                <a:latin typeface="Arial Narrow" panose="020B0606020202030204" pitchFamily="34" charset="0"/>
                <a:cs typeface="Times New Roman" panose="02020603050405020304" pitchFamily="18" charset="0"/>
                <a:sym typeface="Symbol" panose="05050102010706020507" pitchFamily="18" charset="2"/>
              </a:rPr>
              <a:t>s</a:t>
            </a:r>
            <a:r>
              <a:rPr lang="pt-BR" altLang="fr-FR" sz="2000">
                <a:latin typeface="Arial Narrow" panose="020B0606020202030204" pitchFamily="34" charset="0"/>
                <a:cs typeface="Times New Roman" panose="02020603050405020304" pitchFamily="18" charset="0"/>
                <a:sym typeface="Symbol" panose="05050102010706020507" pitchFamily="18" charset="2"/>
              </a:rPr>
              <a:t> </a:t>
            </a:r>
            <a:endParaRPr lang="en-US" altLang="fr-FR" sz="2000">
              <a:latin typeface="Arial Narrow" panose="020B0606020202030204" pitchFamily="34" charset="0"/>
              <a:cs typeface="Times New Roman" panose="02020603050405020304" pitchFamily="18" charset="0"/>
              <a:sym typeface="Symbol" panose="05050102010706020507" pitchFamily="18" charset="2"/>
            </a:endParaRPr>
          </a:p>
        </p:txBody>
      </p:sp>
      <p:sp>
        <p:nvSpPr>
          <p:cNvPr id="45061" name="Rectangle 13"/>
          <p:cNvSpPr>
            <a:spLocks noChangeArrowheads="1"/>
          </p:cNvSpPr>
          <p:nvPr/>
        </p:nvSpPr>
        <p:spPr bwMode="auto">
          <a:xfrm>
            <a:off x="914400" y="2297113"/>
            <a:ext cx="693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pt-BR" altLang="fr-FR" sz="2400">
                <a:latin typeface="Bookman Old Style" panose="02050604050505020204" pitchFamily="18" charset="0"/>
                <a:cs typeface="Times New Roman" panose="02020603050405020304" pitchFamily="18" charset="0"/>
                <a:sym typeface="Symbol" panose="05050102010706020507" pitchFamily="18" charset="2"/>
              </a:rPr>
              <a:t>    </a:t>
            </a:r>
            <a:r>
              <a:rPr lang="pt-BR" altLang="fr-FR" sz="2000">
                <a:latin typeface="Arial Narrow" panose="020B0606020202030204" pitchFamily="34" charset="0"/>
                <a:cs typeface="Times New Roman" panose="02020603050405020304" pitchFamily="18" charset="0"/>
                <a:sym typeface="Symbol" panose="05050102010706020507" pitchFamily="18" charset="2"/>
              </a:rPr>
              <a:t>P</a:t>
            </a:r>
            <a:r>
              <a:rPr lang="pt-BR" altLang="fr-FR" sz="2000" baseline="-30000">
                <a:latin typeface="Arial Narrow" panose="020B0606020202030204" pitchFamily="34" charset="0"/>
                <a:cs typeface="Times New Roman" panose="02020603050405020304" pitchFamily="18" charset="0"/>
                <a:sym typeface="Symbol" panose="05050102010706020507" pitchFamily="18" charset="2"/>
              </a:rPr>
              <a:t>tr</a:t>
            </a:r>
            <a:r>
              <a:rPr lang="pt-BR" altLang="fr-FR" sz="2000">
                <a:latin typeface="Arial Narrow" panose="020B0606020202030204" pitchFamily="34" charset="0"/>
                <a:cs typeface="Times New Roman" panose="02020603050405020304" pitchFamily="18" charset="0"/>
                <a:sym typeface="Symbol" panose="05050102010706020507" pitchFamily="18" charset="2"/>
              </a:rPr>
              <a:t> = T</a:t>
            </a:r>
            <a:r>
              <a:rPr lang="pt-BR" altLang="fr-FR" sz="2000" baseline="-30000">
                <a:latin typeface="Arial Narrow" panose="020B0606020202030204" pitchFamily="34" charset="0"/>
                <a:cs typeface="Times New Roman" panose="02020603050405020304" pitchFamily="18" charset="0"/>
                <a:sym typeface="Symbol" panose="05050102010706020507" pitchFamily="18" charset="2"/>
              </a:rPr>
              <a:t>em</a:t>
            </a:r>
            <a:r>
              <a:rPr lang="pt-BR" altLang="fr-FR" sz="2000">
                <a:latin typeface="Arial Narrow" panose="020B0606020202030204" pitchFamily="34" charset="0"/>
                <a:cs typeface="Times New Roman" panose="02020603050405020304" pitchFamily="18" charset="0"/>
                <a:sym typeface="Symbol" panose="05050102010706020507" pitchFamily="18" charset="2"/>
              </a:rPr>
              <a:t> </a:t>
            </a:r>
            <a:r>
              <a:rPr lang="en-US" altLang="fr-FR" sz="2000">
                <a:latin typeface="Arial Narrow" panose="020B0606020202030204" pitchFamily="34" charset="0"/>
                <a:cs typeface="Times New Roman" panose="02020603050405020304" pitchFamily="18" charset="0"/>
                <a:sym typeface="Symbol" panose="05050102010706020507" pitchFamily="18" charset="2"/>
              </a:rPr>
              <a:t></a:t>
            </a:r>
            <a:r>
              <a:rPr lang="pt-BR" altLang="fr-FR" sz="2000" baseline="-30000">
                <a:latin typeface="Arial Narrow" panose="020B0606020202030204" pitchFamily="34" charset="0"/>
                <a:cs typeface="Times New Roman" panose="02020603050405020304" pitchFamily="18" charset="0"/>
                <a:sym typeface="Symbol" panose="05050102010706020507" pitchFamily="18" charset="2"/>
              </a:rPr>
              <a:t>s</a:t>
            </a:r>
            <a:endParaRPr lang="en-US" altLang="fr-FR" sz="2000" baseline="-30000">
              <a:latin typeface="Arial Narrow" panose="020B0606020202030204" pitchFamily="34" charset="0"/>
              <a:cs typeface="Times New Roman" panose="02020603050405020304" pitchFamily="18" charset="0"/>
              <a:sym typeface="Symbol" panose="05050102010706020507" pitchFamily="18" charset="2"/>
            </a:endParaRPr>
          </a:p>
        </p:txBody>
      </p:sp>
      <p:graphicFrame>
        <p:nvGraphicFramePr>
          <p:cNvPr id="45062" name="Object 14"/>
          <p:cNvGraphicFramePr>
            <a:graphicFrameLocks noChangeAspect="1"/>
          </p:cNvGraphicFramePr>
          <p:nvPr/>
        </p:nvGraphicFramePr>
        <p:xfrm>
          <a:off x="3603625" y="2917825"/>
          <a:ext cx="1863725" cy="698500"/>
        </p:xfrm>
        <a:graphic>
          <a:graphicData uri="http://schemas.openxmlformats.org/presentationml/2006/ole">
            <mc:AlternateContent xmlns:mc="http://schemas.openxmlformats.org/markup-compatibility/2006">
              <mc:Choice xmlns:v="urn:schemas-microsoft-com:vml" Requires="v">
                <p:oleObj spid="_x0000_s288778" name="Équation" r:id="rId4" imgW="977900" imgH="368300" progId="Equation.3">
                  <p:embed/>
                </p:oleObj>
              </mc:Choice>
              <mc:Fallback>
                <p:oleObj name="Équation" r:id="rId4" imgW="977900" imgH="3683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3625" y="2917825"/>
                        <a:ext cx="1863725"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3" name="Text Box 16"/>
          <p:cNvSpPr txBox="1">
            <a:spLocks noChangeArrowheads="1"/>
          </p:cNvSpPr>
          <p:nvPr/>
        </p:nvSpPr>
        <p:spPr bwMode="auto">
          <a:xfrm>
            <a:off x="914400" y="3757613"/>
            <a:ext cx="4192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Narrow" panose="020B0606020202030204" pitchFamily="34" charset="0"/>
              </a:rPr>
              <a:t>Par conséquent, le couple est donné par :</a:t>
            </a:r>
            <a:endParaRPr lang="en-US" altLang="fr-FR" sz="2000">
              <a:latin typeface="Arial Narrow" panose="020B0606020202030204" pitchFamily="34" charset="0"/>
            </a:endParaRPr>
          </a:p>
        </p:txBody>
      </p:sp>
      <p:graphicFrame>
        <p:nvGraphicFramePr>
          <p:cNvPr id="45064" name="Object 17"/>
          <p:cNvGraphicFramePr>
            <a:graphicFrameLocks noChangeAspect="1"/>
          </p:cNvGraphicFramePr>
          <p:nvPr/>
        </p:nvGraphicFramePr>
        <p:xfrm>
          <a:off x="2917825" y="4159250"/>
          <a:ext cx="4071938" cy="1247775"/>
        </p:xfrm>
        <a:graphic>
          <a:graphicData uri="http://schemas.openxmlformats.org/presentationml/2006/ole">
            <mc:AlternateContent xmlns:mc="http://schemas.openxmlformats.org/markup-compatibility/2006">
              <mc:Choice xmlns:v="urn:schemas-microsoft-com:vml" Requires="v">
                <p:oleObj spid="_x0000_s288779" name="Équation" r:id="rId6" imgW="1879600" imgH="571500" progId="Equation.3">
                  <p:embed/>
                </p:oleObj>
              </mc:Choice>
              <mc:Fallback>
                <p:oleObj name="Équation" r:id="rId6" imgW="1879600" imgH="5715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7825" y="4159250"/>
                        <a:ext cx="4071938"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5" name="Rectangle 19"/>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45066" name="Rectangle 13"/>
          <p:cNvSpPr>
            <a:spLocks noChangeArrowheads="1"/>
          </p:cNvSpPr>
          <p:nvPr/>
        </p:nvSpPr>
        <p:spPr bwMode="auto">
          <a:xfrm>
            <a:off x="811213" y="5426075"/>
            <a:ext cx="785018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Narrow" panose="020B0606020202030204" pitchFamily="34" charset="0"/>
              </a:rPr>
              <a:t>Pour le moteur asynchrone, le régime permanent correspond généralement à une valeur du couple de 60% (petites machines) à 40% (grandes puissances) du couple maximum. En d’autres termes, le couple maximum vaut:    </a:t>
            </a:r>
            <a:r>
              <a:rPr lang="fr-FR" altLang="fr-FR" sz="1800" b="1" u="sng">
                <a:solidFill>
                  <a:srgbClr val="FF0000"/>
                </a:solidFill>
                <a:latin typeface="Arial Narrow" panose="020B0606020202030204" pitchFamily="34" charset="0"/>
              </a:rPr>
              <a:t>T</a:t>
            </a:r>
            <a:r>
              <a:rPr lang="fr-FR" altLang="fr-FR" sz="1800" b="1" u="sng" baseline="-25000">
                <a:solidFill>
                  <a:srgbClr val="FF0000"/>
                </a:solidFill>
                <a:latin typeface="Arial Narrow" panose="020B0606020202030204" pitchFamily="34" charset="0"/>
              </a:rPr>
              <a:t>max</a:t>
            </a:r>
            <a:r>
              <a:rPr lang="fr-FR" altLang="fr-FR" sz="1800" b="1" u="sng">
                <a:solidFill>
                  <a:srgbClr val="FF0000"/>
                </a:solidFill>
                <a:latin typeface="Arial Narrow" panose="020B0606020202030204" pitchFamily="34" charset="0"/>
              </a:rPr>
              <a:t> = 1,7 à 2,5 T</a:t>
            </a:r>
            <a:r>
              <a:rPr lang="fr-FR" altLang="fr-FR" sz="1800" b="1" u="sng" baseline="-25000">
                <a:solidFill>
                  <a:srgbClr val="FF0000"/>
                </a:solidFill>
                <a:latin typeface="Arial Narrow" panose="020B0606020202030204" pitchFamily="34" charset="0"/>
              </a:rPr>
              <a:t>n</a:t>
            </a:r>
          </a:p>
        </p:txBody>
      </p:sp>
      <p:sp>
        <p:nvSpPr>
          <p:cNvPr id="45067" name="Espace réservé du numéro de diapositive 1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86107FD2-4EC2-4CD8-B04F-5D527AAE5655}" type="slidenum">
              <a:rPr lang="en-US" altLang="fr-FR" sz="1000">
                <a:solidFill>
                  <a:srgbClr val="292929"/>
                </a:solidFill>
                <a:latin typeface="Arial" panose="020B0604020202020204" pitchFamily="34" charset="0"/>
              </a:rPr>
              <a:pPr>
                <a:spcBef>
                  <a:spcPct val="0"/>
                </a:spcBef>
                <a:buClrTx/>
                <a:buSzTx/>
                <a:buFontTx/>
                <a:buNone/>
              </a:pPr>
              <a:t>18</a:t>
            </a:fld>
            <a:endParaRPr lang="en-US" altLang="fr-FR" sz="1000">
              <a:solidFill>
                <a:srgbClr val="292929"/>
              </a:solidFill>
              <a:latin typeface="Arial" panose="020B0604020202020204" pitchFamily="34" charset="0"/>
            </a:endParaRPr>
          </a:p>
        </p:txBody>
      </p:sp>
      <p:sp>
        <p:nvSpPr>
          <p:cNvPr id="15" name="Espace réservé du pied de page 14"/>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75905757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a:spLocks noChangeArrowheads="1"/>
          </p:cNvSpPr>
          <p:nvPr/>
        </p:nvSpPr>
        <p:spPr bwMode="auto">
          <a:xfrm>
            <a:off x="3124200" y="3810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cs typeface="Times New Roman" panose="02020603050405020304" pitchFamily="18" charset="0"/>
              </a:rPr>
              <a:t>puissance et couple</a:t>
            </a:r>
          </a:p>
        </p:txBody>
      </p:sp>
      <p:sp>
        <p:nvSpPr>
          <p:cNvPr id="47107" name="Line 15"/>
          <p:cNvSpPr>
            <a:spLocks noChangeAspect="1" noChangeShapeType="1"/>
          </p:cNvSpPr>
          <p:nvPr/>
        </p:nvSpPr>
        <p:spPr bwMode="auto">
          <a:xfrm flipV="1">
            <a:off x="1085850" y="1217613"/>
            <a:ext cx="9525" cy="36020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47108" name="Line 16"/>
          <p:cNvSpPr>
            <a:spLocks noChangeAspect="1" noChangeShapeType="1"/>
          </p:cNvSpPr>
          <p:nvPr/>
        </p:nvSpPr>
        <p:spPr bwMode="auto">
          <a:xfrm>
            <a:off x="1085850" y="4819650"/>
            <a:ext cx="5156200" cy="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47109" name="Freeform 17"/>
          <p:cNvSpPr>
            <a:spLocks noChangeAspect="1"/>
          </p:cNvSpPr>
          <p:nvPr/>
        </p:nvSpPr>
        <p:spPr bwMode="auto">
          <a:xfrm>
            <a:off x="1079500" y="1858963"/>
            <a:ext cx="4203700" cy="2962275"/>
          </a:xfrm>
          <a:custGeom>
            <a:avLst/>
            <a:gdLst>
              <a:gd name="T0" fmla="*/ 0 w 7336"/>
              <a:gd name="T1" fmla="*/ 2147483646 h 5166"/>
              <a:gd name="T2" fmla="*/ 2147483646 w 7336"/>
              <a:gd name="T3" fmla="*/ 2147483646 h 5166"/>
              <a:gd name="T4" fmla="*/ 2147483646 w 7336"/>
              <a:gd name="T5" fmla="*/ 2147483646 h 5166"/>
              <a:gd name="T6" fmla="*/ 2147483646 w 7336"/>
              <a:gd name="T7" fmla="*/ 2147483646 h 5166"/>
              <a:gd name="T8" fmla="*/ 2147483646 w 7336"/>
              <a:gd name="T9" fmla="*/ 2147483646 h 5166"/>
              <a:gd name="T10" fmla="*/ 2147483646 w 7336"/>
              <a:gd name="T11" fmla="*/ 2147483646 h 5166"/>
              <a:gd name="T12" fmla="*/ 2147483646 w 7336"/>
              <a:gd name="T13" fmla="*/ 2147483646 h 5166"/>
              <a:gd name="T14" fmla="*/ 2147483646 w 7336"/>
              <a:gd name="T15" fmla="*/ 2147483646 h 5166"/>
              <a:gd name="T16" fmla="*/ 2147483646 w 7336"/>
              <a:gd name="T17" fmla="*/ 2147483646 h 5166"/>
              <a:gd name="T18" fmla="*/ 2147483646 w 7336"/>
              <a:gd name="T19" fmla="*/ 2147483646 h 5166"/>
              <a:gd name="T20" fmla="*/ 2147483646 w 7336"/>
              <a:gd name="T21" fmla="*/ 2147483646 h 51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336"/>
              <a:gd name="T34" fmla="*/ 0 h 5166"/>
              <a:gd name="T35" fmla="*/ 7336 w 7336"/>
              <a:gd name="T36" fmla="*/ 5166 h 51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336" h="5166">
                <a:moveTo>
                  <a:pt x="0" y="2310"/>
                </a:moveTo>
                <a:cubicBezTo>
                  <a:pt x="352" y="2387"/>
                  <a:pt x="705" y="2464"/>
                  <a:pt x="1120" y="2394"/>
                </a:cubicBezTo>
                <a:cubicBezTo>
                  <a:pt x="1535" y="2324"/>
                  <a:pt x="1911" y="2233"/>
                  <a:pt x="2492" y="1890"/>
                </a:cubicBezTo>
                <a:cubicBezTo>
                  <a:pt x="3073" y="1547"/>
                  <a:pt x="4144" y="646"/>
                  <a:pt x="4606" y="336"/>
                </a:cubicBezTo>
                <a:cubicBezTo>
                  <a:pt x="5068" y="26"/>
                  <a:pt x="5063" y="56"/>
                  <a:pt x="5264" y="28"/>
                </a:cubicBezTo>
                <a:cubicBezTo>
                  <a:pt x="5465" y="0"/>
                  <a:pt x="5700" y="131"/>
                  <a:pt x="5810" y="168"/>
                </a:cubicBezTo>
                <a:cubicBezTo>
                  <a:pt x="5920" y="205"/>
                  <a:pt x="5854" y="180"/>
                  <a:pt x="5922" y="252"/>
                </a:cubicBezTo>
                <a:cubicBezTo>
                  <a:pt x="5990" y="324"/>
                  <a:pt x="6125" y="446"/>
                  <a:pt x="6216" y="602"/>
                </a:cubicBezTo>
                <a:cubicBezTo>
                  <a:pt x="6307" y="758"/>
                  <a:pt x="6393" y="975"/>
                  <a:pt x="6468" y="1190"/>
                </a:cubicBezTo>
                <a:cubicBezTo>
                  <a:pt x="6543" y="1405"/>
                  <a:pt x="6519" y="1227"/>
                  <a:pt x="6664" y="1890"/>
                </a:cubicBezTo>
                <a:cubicBezTo>
                  <a:pt x="6809" y="2553"/>
                  <a:pt x="7072" y="3859"/>
                  <a:pt x="7336" y="5166"/>
                </a:cubicBezTo>
              </a:path>
            </a:pathLst>
          </a:custGeom>
          <a:noFill/>
          <a:ln w="381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47110" name="Line 18"/>
          <p:cNvSpPr>
            <a:spLocks noChangeAspect="1" noChangeShapeType="1"/>
          </p:cNvSpPr>
          <p:nvPr/>
        </p:nvSpPr>
        <p:spPr bwMode="auto">
          <a:xfrm>
            <a:off x="1079500" y="3521075"/>
            <a:ext cx="3930650"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47111" name="Line 19"/>
          <p:cNvSpPr>
            <a:spLocks noChangeAspect="1" noChangeShapeType="1"/>
          </p:cNvSpPr>
          <p:nvPr/>
        </p:nvSpPr>
        <p:spPr bwMode="auto">
          <a:xfrm>
            <a:off x="5010150" y="3521075"/>
            <a:ext cx="0" cy="1300163"/>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47112" name="Line 20"/>
          <p:cNvSpPr>
            <a:spLocks noChangeAspect="1" noChangeShapeType="1"/>
          </p:cNvSpPr>
          <p:nvPr/>
        </p:nvSpPr>
        <p:spPr bwMode="auto">
          <a:xfrm flipH="1">
            <a:off x="1071563" y="1866900"/>
            <a:ext cx="30321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47113" name="Line 21"/>
          <p:cNvSpPr>
            <a:spLocks noChangeAspect="1" noChangeShapeType="1"/>
          </p:cNvSpPr>
          <p:nvPr/>
        </p:nvSpPr>
        <p:spPr bwMode="auto">
          <a:xfrm flipH="1">
            <a:off x="1103313" y="5486400"/>
            <a:ext cx="4179887" cy="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47114" name="Text Box 22"/>
          <p:cNvSpPr txBox="1">
            <a:spLocks noChangeAspect="1" noChangeArrowheads="1"/>
          </p:cNvSpPr>
          <p:nvPr/>
        </p:nvSpPr>
        <p:spPr bwMode="auto">
          <a:xfrm>
            <a:off x="990600" y="5478463"/>
            <a:ext cx="6469063"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1                                                                   0</a:t>
            </a:r>
            <a:endParaRPr lang="en-US" altLang="fr-FR" sz="2000" baseline="-25000">
              <a:latin typeface="Arial Narrow" panose="020B0606020202030204" pitchFamily="34" charset="0"/>
            </a:endParaRPr>
          </a:p>
        </p:txBody>
      </p:sp>
      <p:sp>
        <p:nvSpPr>
          <p:cNvPr id="47115" name="Text Box 23"/>
          <p:cNvSpPr txBox="1">
            <a:spLocks noChangeAspect="1" noChangeArrowheads="1"/>
          </p:cNvSpPr>
          <p:nvPr/>
        </p:nvSpPr>
        <p:spPr bwMode="auto">
          <a:xfrm>
            <a:off x="6103938" y="4522788"/>
            <a:ext cx="76835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sym typeface="Symbol" panose="05050102010706020507" pitchFamily="18" charset="2"/>
              </a:rPr>
              <a:t></a:t>
            </a:r>
            <a:r>
              <a:rPr lang="en-US" altLang="fr-FR" sz="2000" baseline="-25000">
                <a:latin typeface="Arial Narrow" panose="020B0606020202030204" pitchFamily="34" charset="0"/>
              </a:rPr>
              <a:t>r</a:t>
            </a:r>
          </a:p>
        </p:txBody>
      </p:sp>
      <p:sp>
        <p:nvSpPr>
          <p:cNvPr id="47116" name="Text Box 24"/>
          <p:cNvSpPr txBox="1">
            <a:spLocks noChangeAspect="1" noChangeArrowheads="1"/>
          </p:cNvSpPr>
          <p:nvPr/>
        </p:nvSpPr>
        <p:spPr bwMode="auto">
          <a:xfrm>
            <a:off x="781050" y="5084763"/>
            <a:ext cx="769938"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baseline="-25000">
                <a:latin typeface="Arial Narrow" panose="020B0606020202030204" pitchFamily="34" charset="0"/>
              </a:rPr>
              <a:t>g</a:t>
            </a:r>
          </a:p>
        </p:txBody>
      </p:sp>
      <p:sp>
        <p:nvSpPr>
          <p:cNvPr id="47117" name="Text Box 25"/>
          <p:cNvSpPr txBox="1">
            <a:spLocks noChangeAspect="1" noChangeArrowheads="1"/>
          </p:cNvSpPr>
          <p:nvPr/>
        </p:nvSpPr>
        <p:spPr bwMode="auto">
          <a:xfrm>
            <a:off x="238125" y="3260725"/>
            <a:ext cx="106045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T</a:t>
            </a:r>
            <a:r>
              <a:rPr lang="en-US" altLang="fr-FR" sz="2000" baseline="-25000">
                <a:latin typeface="Arial Narrow" panose="020B0606020202030204" pitchFamily="34" charset="0"/>
              </a:rPr>
              <a:t>n</a:t>
            </a:r>
          </a:p>
        </p:txBody>
      </p:sp>
      <p:sp>
        <p:nvSpPr>
          <p:cNvPr id="47118" name="Text Box 26"/>
          <p:cNvSpPr txBox="1">
            <a:spLocks noChangeAspect="1" noChangeArrowheads="1"/>
          </p:cNvSpPr>
          <p:nvPr/>
        </p:nvSpPr>
        <p:spPr bwMode="auto">
          <a:xfrm>
            <a:off x="201613" y="1620838"/>
            <a:ext cx="1447800" cy="103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T</a:t>
            </a:r>
            <a:r>
              <a:rPr lang="en-US" altLang="fr-FR" sz="2000" baseline="-25000">
                <a:latin typeface="Arial Narrow" panose="020B0606020202030204" pitchFamily="34" charset="0"/>
              </a:rPr>
              <a:t>max</a:t>
            </a:r>
          </a:p>
        </p:txBody>
      </p:sp>
      <p:sp>
        <p:nvSpPr>
          <p:cNvPr id="47119" name="Text Box 27"/>
          <p:cNvSpPr txBox="1">
            <a:spLocks noChangeAspect="1" noChangeArrowheads="1"/>
          </p:cNvSpPr>
          <p:nvPr/>
        </p:nvSpPr>
        <p:spPr bwMode="auto">
          <a:xfrm>
            <a:off x="579438" y="990600"/>
            <a:ext cx="769937"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T</a:t>
            </a:r>
            <a:r>
              <a:rPr lang="en-US" altLang="fr-FR" sz="2000" baseline="-25000">
                <a:latin typeface="Arial Narrow" panose="020B0606020202030204" pitchFamily="34" charset="0"/>
              </a:rPr>
              <a:t>em</a:t>
            </a:r>
          </a:p>
        </p:txBody>
      </p:sp>
      <p:sp>
        <p:nvSpPr>
          <p:cNvPr id="47120" name="Text Box 12"/>
          <p:cNvSpPr txBox="1">
            <a:spLocks noChangeAspect="1" noChangeArrowheads="1"/>
          </p:cNvSpPr>
          <p:nvPr/>
        </p:nvSpPr>
        <p:spPr bwMode="auto">
          <a:xfrm>
            <a:off x="963613" y="4743450"/>
            <a:ext cx="5522912"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0                                                                 </a:t>
            </a:r>
            <a:r>
              <a:rPr lang="en-US" altLang="fr-FR" sz="2000">
                <a:latin typeface="Arial Narrow" panose="020B0606020202030204" pitchFamily="34" charset="0"/>
                <a:sym typeface="Symbol" panose="05050102010706020507" pitchFamily="18" charset="2"/>
              </a:rPr>
              <a:t></a:t>
            </a:r>
            <a:r>
              <a:rPr lang="en-US" altLang="fr-FR" sz="2000" baseline="-25000">
                <a:latin typeface="Arial Narrow" panose="020B0606020202030204" pitchFamily="34" charset="0"/>
              </a:rPr>
              <a:t>n</a:t>
            </a:r>
            <a:r>
              <a:rPr lang="en-US" altLang="fr-FR" sz="2000">
                <a:latin typeface="Arial Narrow" panose="020B0606020202030204" pitchFamily="34" charset="0"/>
              </a:rPr>
              <a:t>  </a:t>
            </a:r>
            <a:r>
              <a:rPr lang="en-US" altLang="fr-FR" sz="2000">
                <a:latin typeface="Arial Narrow" panose="020B0606020202030204" pitchFamily="34" charset="0"/>
                <a:sym typeface="Symbol" panose="05050102010706020507" pitchFamily="18" charset="2"/>
              </a:rPr>
              <a:t></a:t>
            </a:r>
            <a:r>
              <a:rPr lang="en-US" altLang="fr-FR" sz="1200" baseline="-25000">
                <a:latin typeface="Arial Narrow" panose="020B0606020202030204" pitchFamily="34" charset="0"/>
              </a:rPr>
              <a:t>s</a:t>
            </a:r>
          </a:p>
        </p:txBody>
      </p:sp>
      <p:sp>
        <p:nvSpPr>
          <p:cNvPr id="47121" name="Line 29"/>
          <p:cNvSpPr>
            <a:spLocks noChangeAspect="1" noChangeShapeType="1"/>
          </p:cNvSpPr>
          <p:nvPr/>
        </p:nvSpPr>
        <p:spPr bwMode="auto">
          <a:xfrm>
            <a:off x="5307013" y="4800600"/>
            <a:ext cx="0" cy="919163"/>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aphicFrame>
        <p:nvGraphicFramePr>
          <p:cNvPr id="47122" name="Object 31"/>
          <p:cNvGraphicFramePr>
            <a:graphicFrameLocks noChangeAspect="1"/>
          </p:cNvGraphicFramePr>
          <p:nvPr/>
        </p:nvGraphicFramePr>
        <p:xfrm>
          <a:off x="5572125" y="1436688"/>
          <a:ext cx="2800350" cy="790575"/>
        </p:xfrm>
        <a:graphic>
          <a:graphicData uri="http://schemas.openxmlformats.org/presentationml/2006/ole">
            <mc:AlternateContent xmlns:mc="http://schemas.openxmlformats.org/markup-compatibility/2006">
              <mc:Choice xmlns:v="urn:schemas-microsoft-com:vml" Requires="v">
                <p:oleObj spid="_x0000_s289802" name="Équation" r:id="rId4" imgW="1612900" imgH="457200" progId="Equation.3">
                  <p:embed/>
                </p:oleObj>
              </mc:Choice>
              <mc:Fallback>
                <p:oleObj name="Équation" r:id="rId4" imgW="1612900" imgH="457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72125" y="1436688"/>
                        <a:ext cx="2800350"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23" name="Object 33"/>
          <p:cNvGraphicFramePr>
            <a:graphicFrameLocks noChangeAspect="1"/>
          </p:cNvGraphicFramePr>
          <p:nvPr/>
        </p:nvGraphicFramePr>
        <p:xfrm>
          <a:off x="5362575" y="3529013"/>
          <a:ext cx="3294063" cy="830262"/>
        </p:xfrm>
        <a:graphic>
          <a:graphicData uri="http://schemas.openxmlformats.org/presentationml/2006/ole">
            <mc:AlternateContent xmlns:mc="http://schemas.openxmlformats.org/markup-compatibility/2006">
              <mc:Choice xmlns:v="urn:schemas-microsoft-com:vml" Requires="v">
                <p:oleObj spid="_x0000_s289803" name="Équation" r:id="rId6" imgW="2222500" imgH="558800" progId="Equation.3">
                  <p:embed/>
                </p:oleObj>
              </mc:Choice>
              <mc:Fallback>
                <p:oleObj name="Équation" r:id="rId6" imgW="2222500" imgH="5588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62575" y="3529013"/>
                        <a:ext cx="32940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24" name="Line 35"/>
          <p:cNvSpPr>
            <a:spLocks noChangeShapeType="1"/>
          </p:cNvSpPr>
          <p:nvPr/>
        </p:nvSpPr>
        <p:spPr bwMode="auto">
          <a:xfrm>
            <a:off x="4164013" y="1905000"/>
            <a:ext cx="0" cy="30480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47125" name="Text Box 36"/>
          <p:cNvSpPr txBox="1">
            <a:spLocks noChangeArrowheads="1"/>
          </p:cNvSpPr>
          <p:nvPr/>
        </p:nvSpPr>
        <p:spPr bwMode="auto">
          <a:xfrm>
            <a:off x="3995738" y="4765675"/>
            <a:ext cx="4333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Narrow" panose="020B0606020202030204" pitchFamily="34" charset="0"/>
              </a:rPr>
              <a:t>g</a:t>
            </a:r>
            <a:r>
              <a:rPr lang="en-US" altLang="fr-FR" sz="2000" baseline="-25000">
                <a:latin typeface="Arial Narrow" panose="020B0606020202030204" pitchFamily="34" charset="0"/>
              </a:rPr>
              <a:t>m</a:t>
            </a:r>
          </a:p>
        </p:txBody>
      </p:sp>
      <p:sp>
        <p:nvSpPr>
          <p:cNvPr id="47126"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47127" name="Rectangle 26"/>
          <p:cNvSpPr>
            <a:spLocks noChangeArrowheads="1"/>
          </p:cNvSpPr>
          <p:nvPr/>
        </p:nvSpPr>
        <p:spPr bwMode="auto">
          <a:xfrm>
            <a:off x="263525" y="2625725"/>
            <a:ext cx="18716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b="1" i="1">
                <a:latin typeface="Arial Narrow" panose="020B0606020202030204" pitchFamily="34" charset="0"/>
              </a:rPr>
              <a:t>couple de démarrage</a:t>
            </a:r>
            <a:endParaRPr lang="fr-FR" altLang="fr-FR" sz="1600">
              <a:latin typeface="Arial Narrow" panose="020B0606020202030204" pitchFamily="34" charset="0"/>
            </a:endParaRPr>
          </a:p>
        </p:txBody>
      </p:sp>
      <p:cxnSp>
        <p:nvCxnSpPr>
          <p:cNvPr id="29" name="Connecteur droit avec flèche 28"/>
          <p:cNvCxnSpPr/>
          <p:nvPr/>
        </p:nvCxnSpPr>
        <p:spPr>
          <a:xfrm>
            <a:off x="3771900" y="1603375"/>
            <a:ext cx="292100" cy="1825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7129" name="Rectangle 29"/>
          <p:cNvSpPr>
            <a:spLocks noChangeArrowheads="1"/>
          </p:cNvSpPr>
          <p:nvPr/>
        </p:nvSpPr>
        <p:spPr bwMode="auto">
          <a:xfrm>
            <a:off x="6105525" y="5108575"/>
            <a:ext cx="24098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 typeface="Arial" panose="020B0604020202020204" pitchFamily="34" charset="0"/>
              <a:buChar char="•"/>
            </a:pPr>
            <a:r>
              <a:rPr lang="fr-FR" altLang="fr-FR" sz="1600">
                <a:latin typeface="Arial Narrow" panose="020B0606020202030204" pitchFamily="34" charset="0"/>
              </a:rPr>
              <a:t>Le couple de décrochage est </a:t>
            </a:r>
            <a:r>
              <a:rPr lang="fr-FR" altLang="fr-FR" sz="1600" i="1">
                <a:latin typeface="Arial Narrow" panose="020B0606020202030204" pitchFamily="34" charset="0"/>
              </a:rPr>
              <a:t>indépendant de la résistance rotorique.</a:t>
            </a:r>
            <a:endParaRPr lang="fr-FR" altLang="fr-FR" sz="1600">
              <a:latin typeface="Arial Narrow" panose="020B0606020202030204" pitchFamily="34" charset="0"/>
            </a:endParaRPr>
          </a:p>
        </p:txBody>
      </p:sp>
      <p:sp>
        <p:nvSpPr>
          <p:cNvPr id="47130" name="Rectangle 30"/>
          <p:cNvSpPr>
            <a:spLocks noChangeArrowheads="1"/>
          </p:cNvSpPr>
          <p:nvPr/>
        </p:nvSpPr>
        <p:spPr bwMode="auto">
          <a:xfrm>
            <a:off x="5776913" y="2443163"/>
            <a:ext cx="29575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 typeface="Arial" panose="020B0604020202020204" pitchFamily="34" charset="0"/>
              <a:buChar char="•"/>
            </a:pPr>
            <a:r>
              <a:rPr lang="fr-FR" altLang="fr-FR" sz="1600">
                <a:latin typeface="Arial Narrow" panose="020B0606020202030204" pitchFamily="34" charset="0"/>
              </a:rPr>
              <a:t>Le glissement g</a:t>
            </a:r>
            <a:r>
              <a:rPr lang="fr-FR" altLang="fr-FR" sz="1600" baseline="-25000">
                <a:latin typeface="Arial Narrow" panose="020B0606020202030204" pitchFamily="34" charset="0"/>
              </a:rPr>
              <a:t>m</a:t>
            </a:r>
            <a:r>
              <a:rPr lang="fr-FR" altLang="fr-FR" sz="1600">
                <a:latin typeface="Arial Narrow" panose="020B0606020202030204" pitchFamily="34" charset="0"/>
              </a:rPr>
              <a:t> est proportionnel à la résistance rotorique.</a:t>
            </a:r>
          </a:p>
        </p:txBody>
      </p:sp>
      <p:sp>
        <p:nvSpPr>
          <p:cNvPr id="47131" name="Rectangle 31"/>
          <p:cNvSpPr>
            <a:spLocks noChangeArrowheads="1"/>
          </p:cNvSpPr>
          <p:nvPr/>
        </p:nvSpPr>
        <p:spPr bwMode="auto">
          <a:xfrm>
            <a:off x="2746375" y="1274763"/>
            <a:ext cx="19542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b="1" i="1">
                <a:latin typeface="Arial Narrow" panose="020B0606020202030204" pitchFamily="34" charset="0"/>
              </a:rPr>
              <a:t>couple de décrochage</a:t>
            </a:r>
            <a:endParaRPr lang="fr-FR" altLang="fr-FR" sz="1600">
              <a:latin typeface="Arial Narrow" panose="020B0606020202030204" pitchFamily="34" charset="0"/>
            </a:endParaRPr>
          </a:p>
        </p:txBody>
      </p:sp>
      <p:cxnSp>
        <p:nvCxnSpPr>
          <p:cNvPr id="33" name="Connecteur droit avec flèche 32"/>
          <p:cNvCxnSpPr/>
          <p:nvPr/>
        </p:nvCxnSpPr>
        <p:spPr>
          <a:xfrm>
            <a:off x="774700" y="2990850"/>
            <a:ext cx="292100" cy="1825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7133" name="Espace réservé du numéro de diapositive 3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FFFFA7E8-F8FF-401D-8DD1-7D2BE4035EE2}" type="slidenum">
              <a:rPr lang="en-US" altLang="fr-FR" sz="1000">
                <a:solidFill>
                  <a:srgbClr val="292929"/>
                </a:solidFill>
                <a:latin typeface="Arial" panose="020B0604020202020204" pitchFamily="34" charset="0"/>
              </a:rPr>
              <a:pPr>
                <a:spcBef>
                  <a:spcPct val="0"/>
                </a:spcBef>
                <a:buClrTx/>
                <a:buSzTx/>
                <a:buFontTx/>
                <a:buNone/>
              </a:pPr>
              <a:t>19</a:t>
            </a:fld>
            <a:endParaRPr lang="en-US" altLang="fr-FR" sz="1000">
              <a:solidFill>
                <a:srgbClr val="292929"/>
              </a:solidFill>
              <a:latin typeface="Arial" panose="020B0604020202020204" pitchFamily="34" charset="0"/>
            </a:endParaRPr>
          </a:p>
        </p:txBody>
      </p:sp>
      <p:sp>
        <p:nvSpPr>
          <p:cNvPr id="32" name="Espace réservé du pied de page 31"/>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207247021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4"/>
          <p:cNvSpPr>
            <a:spLocks noChangeArrowheads="1"/>
          </p:cNvSpPr>
          <p:nvPr/>
        </p:nvSpPr>
        <p:spPr bwMode="auto">
          <a:xfrm>
            <a:off x="774700" y="1530350"/>
            <a:ext cx="457200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2000">
                <a:latin typeface="Arial Narrow" panose="020B0606020202030204" pitchFamily="34" charset="0"/>
              </a:rPr>
              <a:t>Les machines de grande puissance ont une caractéristique couple/vitesse (ou couple/glissement) beaucoup plus « pointue » que les petites machines.</a:t>
            </a:r>
          </a:p>
          <a:p>
            <a:pPr algn="just" eaLnBrk="1" hangingPunct="1">
              <a:spcBef>
                <a:spcPct val="0"/>
              </a:spcBef>
              <a:buClrTx/>
              <a:buSzTx/>
              <a:buFontTx/>
              <a:buNone/>
            </a:pPr>
            <a:r>
              <a:rPr lang="fr-FR" altLang="fr-FR" sz="2000">
                <a:latin typeface="Arial Narrow" panose="020B0606020202030204" pitchFamily="34" charset="0"/>
              </a:rPr>
              <a:t>Ceci s’explique par le fait que les petites machines ont une résistance rotorique qui, comparée aux autres impédances du schéma équivalent est plus élevée que celle des grosses. En effet, plus R</a:t>
            </a:r>
            <a:r>
              <a:rPr lang="fr-FR" altLang="fr-FR" sz="2000" baseline="-25000">
                <a:latin typeface="Arial Narrow" panose="020B0606020202030204" pitchFamily="34" charset="0"/>
              </a:rPr>
              <a:t>r</a:t>
            </a:r>
            <a:r>
              <a:rPr lang="fr-FR" altLang="fr-FR" sz="2000">
                <a:latin typeface="Arial Narrow" panose="020B0606020202030204" pitchFamily="34" charset="0"/>
              </a:rPr>
              <a:t>’ est important par rapport à R</a:t>
            </a:r>
            <a:r>
              <a:rPr lang="fr-FR" altLang="fr-FR" sz="2000" baseline="-25000">
                <a:latin typeface="Arial Narrow" panose="020B0606020202030204" pitchFamily="34" charset="0"/>
              </a:rPr>
              <a:t>s</a:t>
            </a:r>
            <a:r>
              <a:rPr lang="fr-FR" altLang="fr-FR" sz="2000">
                <a:latin typeface="Arial Narrow" panose="020B0606020202030204" pitchFamily="34" charset="0"/>
              </a:rPr>
              <a:t>, X</a:t>
            </a:r>
            <a:r>
              <a:rPr lang="fr-FR" altLang="fr-FR" sz="2000" baseline="-25000">
                <a:latin typeface="Arial Narrow" panose="020B0606020202030204" pitchFamily="34" charset="0"/>
              </a:rPr>
              <a:t>s</a:t>
            </a:r>
            <a:r>
              <a:rPr lang="fr-FR" altLang="fr-FR" sz="2000">
                <a:latin typeface="Arial Narrow" panose="020B0606020202030204" pitchFamily="34" charset="0"/>
              </a:rPr>
              <a:t> et X</a:t>
            </a:r>
            <a:r>
              <a:rPr lang="fr-FR" altLang="fr-FR" sz="2000" baseline="-25000">
                <a:latin typeface="Arial Narrow" panose="020B0606020202030204" pitchFamily="34" charset="0"/>
              </a:rPr>
              <a:t>lr</a:t>
            </a:r>
            <a:r>
              <a:rPr lang="fr-FR" altLang="fr-FR" sz="2000">
                <a:latin typeface="Arial Narrow" panose="020B0606020202030204" pitchFamily="34" charset="0"/>
              </a:rPr>
              <a:t>’, plus le glissement de décrochage g</a:t>
            </a:r>
            <a:r>
              <a:rPr lang="fr-FR" altLang="fr-FR" sz="2000" baseline="-25000">
                <a:latin typeface="Arial Narrow" panose="020B0606020202030204" pitchFamily="34" charset="0"/>
              </a:rPr>
              <a:t>m</a:t>
            </a:r>
            <a:r>
              <a:rPr lang="fr-FR" altLang="fr-FR" sz="2000">
                <a:latin typeface="Arial Narrow" panose="020B0606020202030204" pitchFamily="34" charset="0"/>
              </a:rPr>
              <a:t> est élevé est plus la caractéristique coupe/vitesse est arrondie.</a:t>
            </a:r>
          </a:p>
        </p:txBody>
      </p:sp>
      <p:sp>
        <p:nvSpPr>
          <p:cNvPr id="49155" name="Text Box 2"/>
          <p:cNvSpPr txBox="1">
            <a:spLocks noChangeArrowheads="1"/>
          </p:cNvSpPr>
          <p:nvPr/>
        </p:nvSpPr>
        <p:spPr bwMode="auto">
          <a:xfrm>
            <a:off x="3124200" y="3810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cs typeface="Times New Roman" panose="02020603050405020304" pitchFamily="18" charset="0"/>
              </a:rPr>
              <a:t>puissance et couple</a:t>
            </a:r>
          </a:p>
        </p:txBody>
      </p:sp>
      <p:sp>
        <p:nvSpPr>
          <p:cNvPr id="49156"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nvGrpSpPr>
          <p:cNvPr id="49157" name="Groupe 11"/>
          <p:cNvGrpSpPr>
            <a:grpSpLocks/>
          </p:cNvGrpSpPr>
          <p:nvPr/>
        </p:nvGrpSpPr>
        <p:grpSpPr bwMode="auto">
          <a:xfrm>
            <a:off x="5468938" y="908050"/>
            <a:ext cx="2811462" cy="4356100"/>
            <a:chOff x="5740400" y="1311275"/>
            <a:chExt cx="2811463" cy="4356100"/>
          </a:xfrm>
        </p:grpSpPr>
        <p:pic>
          <p:nvPicPr>
            <p:cNvPr id="49160" name="Picture 2"/>
            <p:cNvPicPr>
              <a:picLocks noChangeAspect="1" noChangeArrowheads="1"/>
            </p:cNvPicPr>
            <p:nvPr/>
          </p:nvPicPr>
          <p:blipFill>
            <a:blip r:embed="rId3">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5740400" y="1311275"/>
              <a:ext cx="2705100" cy="435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1" name="ZoneTexte 7"/>
            <p:cNvSpPr txBox="1">
              <a:spLocks noChangeArrowheads="1"/>
            </p:cNvSpPr>
            <p:nvPr/>
          </p:nvSpPr>
          <p:spPr bwMode="auto">
            <a:xfrm>
              <a:off x="7529513" y="3100388"/>
              <a:ext cx="511175" cy="307975"/>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l-GR" altLang="fr-FR" sz="1400" b="1">
                  <a:latin typeface="Calibri" panose="020F0502020204030204" pitchFamily="34" charset="0"/>
                </a:rPr>
                <a:t>ω</a:t>
              </a:r>
              <a:r>
                <a:rPr lang="fr-FR" altLang="fr-FR" sz="1400" b="1" baseline="-25000">
                  <a:latin typeface="Calibri" panose="020F0502020204030204" pitchFamily="34" charset="0"/>
                </a:rPr>
                <a:t>s</a:t>
              </a:r>
              <a:endParaRPr lang="fr-FR" altLang="fr-FR" sz="1400" b="1" baseline="-25000">
                <a:latin typeface="Arial Narrow" panose="020B0606020202030204" pitchFamily="34" charset="0"/>
              </a:endParaRPr>
            </a:p>
          </p:txBody>
        </p:sp>
        <p:sp>
          <p:nvSpPr>
            <p:cNvPr id="49162" name="ZoneTexte 8"/>
            <p:cNvSpPr txBox="1">
              <a:spLocks noChangeArrowheads="1"/>
            </p:cNvSpPr>
            <p:nvPr/>
          </p:nvSpPr>
          <p:spPr bwMode="auto">
            <a:xfrm>
              <a:off x="8004222" y="2625725"/>
              <a:ext cx="511175" cy="307975"/>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l-GR" altLang="fr-FR" sz="1400" b="1">
                  <a:latin typeface="Calibri" panose="020F0502020204030204" pitchFamily="34" charset="0"/>
                </a:rPr>
                <a:t>ω</a:t>
              </a:r>
              <a:endParaRPr lang="fr-FR" altLang="fr-FR" sz="1400" b="1" baseline="-25000">
                <a:latin typeface="Arial Narrow" panose="020B0606020202030204" pitchFamily="34" charset="0"/>
              </a:endParaRPr>
            </a:p>
          </p:txBody>
        </p:sp>
        <p:sp>
          <p:nvSpPr>
            <p:cNvPr id="49163" name="ZoneTexte 9"/>
            <p:cNvSpPr txBox="1">
              <a:spLocks noChangeArrowheads="1"/>
            </p:cNvSpPr>
            <p:nvPr/>
          </p:nvSpPr>
          <p:spPr bwMode="auto">
            <a:xfrm>
              <a:off x="7602538" y="5327650"/>
              <a:ext cx="511175" cy="307975"/>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l-GR" altLang="fr-FR" sz="1400" b="1">
                  <a:latin typeface="Calibri" panose="020F0502020204030204" pitchFamily="34" charset="0"/>
                </a:rPr>
                <a:t>ω</a:t>
              </a:r>
              <a:r>
                <a:rPr lang="fr-FR" altLang="fr-FR" sz="1400" b="1" baseline="-25000">
                  <a:latin typeface="Calibri" panose="020F0502020204030204" pitchFamily="34" charset="0"/>
                </a:rPr>
                <a:t>s</a:t>
              </a:r>
              <a:endParaRPr lang="fr-FR" altLang="fr-FR" sz="1400" b="1" baseline="-25000">
                <a:latin typeface="Arial Narrow" panose="020B0606020202030204" pitchFamily="34" charset="0"/>
              </a:endParaRPr>
            </a:p>
          </p:txBody>
        </p:sp>
        <p:sp>
          <p:nvSpPr>
            <p:cNvPr id="49164" name="ZoneTexte 10"/>
            <p:cNvSpPr txBox="1">
              <a:spLocks noChangeArrowheads="1"/>
            </p:cNvSpPr>
            <p:nvPr/>
          </p:nvSpPr>
          <p:spPr bwMode="auto">
            <a:xfrm>
              <a:off x="8040688" y="4873625"/>
              <a:ext cx="511175" cy="307975"/>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l-GR" altLang="fr-FR" sz="1400" b="1">
                  <a:latin typeface="Calibri" panose="020F0502020204030204" pitchFamily="34" charset="0"/>
                </a:rPr>
                <a:t>ω</a:t>
              </a:r>
              <a:endParaRPr lang="fr-FR" altLang="fr-FR" sz="1400" b="1" baseline="-25000">
                <a:latin typeface="Arial Narrow" panose="020B0606020202030204" pitchFamily="34" charset="0"/>
              </a:endParaRPr>
            </a:p>
          </p:txBody>
        </p:sp>
      </p:grpSp>
      <p:sp>
        <p:nvSpPr>
          <p:cNvPr id="49158" name="Espace réservé du numéro de diapositive 1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49DFEEA9-9788-4AEB-A767-C0412B8D6B08}" type="slidenum">
              <a:rPr lang="en-US" altLang="fr-FR" sz="1000">
                <a:solidFill>
                  <a:srgbClr val="292929"/>
                </a:solidFill>
                <a:latin typeface="Arial" panose="020B0604020202020204" pitchFamily="34" charset="0"/>
              </a:rPr>
              <a:pPr>
                <a:spcBef>
                  <a:spcPct val="0"/>
                </a:spcBef>
                <a:buClrTx/>
                <a:buSzTx/>
                <a:buFontTx/>
                <a:buNone/>
              </a:pPr>
              <a:t>20</a:t>
            </a:fld>
            <a:endParaRPr lang="en-US" altLang="fr-FR" sz="1000">
              <a:solidFill>
                <a:srgbClr val="292929"/>
              </a:solidFill>
              <a:latin typeface="Arial" panose="020B0604020202020204" pitchFamily="34" charset="0"/>
            </a:endParaRPr>
          </a:p>
        </p:txBody>
      </p:sp>
      <p:sp>
        <p:nvSpPr>
          <p:cNvPr id="14" name="Espace réservé du pied de page 13"/>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57697792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3124200" y="3810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cs typeface="Times New Roman" panose="02020603050405020304" pitchFamily="18" charset="0"/>
              </a:rPr>
              <a:t>puissance et couple</a:t>
            </a:r>
          </a:p>
        </p:txBody>
      </p:sp>
      <p:sp>
        <p:nvSpPr>
          <p:cNvPr id="51203"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51204" name="Rectangle 5"/>
          <p:cNvSpPr>
            <a:spLocks noChangeArrowheads="1"/>
          </p:cNvSpPr>
          <p:nvPr/>
        </p:nvSpPr>
        <p:spPr bwMode="auto">
          <a:xfrm>
            <a:off x="409575" y="1019175"/>
            <a:ext cx="8251825"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Narrow" panose="020B0606020202030204" pitchFamily="34" charset="0"/>
              </a:rPr>
              <a:t>Pour les </a:t>
            </a:r>
            <a:r>
              <a:rPr lang="fr-FR" altLang="fr-FR" sz="2000" i="1">
                <a:latin typeface="Arial Narrow" panose="020B0606020202030204" pitchFamily="34" charset="0"/>
              </a:rPr>
              <a:t>moteurs de puissance importante (P</a:t>
            </a:r>
            <a:r>
              <a:rPr lang="fr-FR" altLang="fr-FR" sz="2000" i="1" baseline="-25000">
                <a:latin typeface="Arial Narrow" panose="020B0606020202030204" pitchFamily="34" charset="0"/>
              </a:rPr>
              <a:t>mec</a:t>
            </a:r>
            <a:r>
              <a:rPr lang="fr-FR" altLang="fr-FR" sz="2000" i="1">
                <a:latin typeface="Arial Narrow" panose="020B0606020202030204" pitchFamily="34" charset="0"/>
              </a:rPr>
              <a:t> &gt; 1 kW), les expressions de couple peuvent être </a:t>
            </a:r>
            <a:r>
              <a:rPr lang="fr-FR" altLang="fr-FR" sz="2000">
                <a:latin typeface="Arial Narrow" panose="020B0606020202030204" pitchFamily="34" charset="0"/>
              </a:rPr>
              <a:t>simplifiées comme suit :</a:t>
            </a:r>
          </a:p>
          <a:p>
            <a:pPr eaLnBrk="1" hangingPunct="1">
              <a:spcBef>
                <a:spcPct val="0"/>
              </a:spcBef>
              <a:buClrTx/>
              <a:buSzTx/>
              <a:buFontTx/>
              <a:buNone/>
            </a:pPr>
            <a:endParaRPr lang="fr-FR" altLang="fr-FR" sz="2000">
              <a:latin typeface="Arial Narrow" panose="020B0606020202030204" pitchFamily="34" charset="0"/>
            </a:endParaRPr>
          </a:p>
          <a:p>
            <a:pPr eaLnBrk="1" hangingPunct="1">
              <a:spcBef>
                <a:spcPct val="0"/>
              </a:spcBef>
              <a:buClrTx/>
              <a:buSzTx/>
              <a:buFontTx/>
              <a:buNone/>
            </a:pPr>
            <a:endParaRPr lang="fr-FR" altLang="fr-FR" sz="2000">
              <a:latin typeface="Arial Narrow" panose="020B0606020202030204" pitchFamily="34" charset="0"/>
            </a:endParaRPr>
          </a:p>
          <a:p>
            <a:pPr eaLnBrk="1" hangingPunct="1">
              <a:spcBef>
                <a:spcPct val="0"/>
              </a:spcBef>
              <a:buClrTx/>
              <a:buSzTx/>
              <a:buFontTx/>
              <a:buNone/>
            </a:pPr>
            <a:endParaRPr lang="fr-FR" altLang="fr-FR" sz="2000">
              <a:latin typeface="Arial Narrow" panose="020B0606020202030204" pitchFamily="34" charset="0"/>
            </a:endParaRPr>
          </a:p>
          <a:p>
            <a:pPr eaLnBrk="1" hangingPunct="1">
              <a:spcBef>
                <a:spcPct val="0"/>
              </a:spcBef>
              <a:buClrTx/>
              <a:buSzTx/>
              <a:buFontTx/>
              <a:buNone/>
            </a:pPr>
            <a:endParaRPr lang="fr-FR" altLang="fr-FR" sz="2000">
              <a:latin typeface="Arial Narrow" panose="020B0606020202030204" pitchFamily="34" charset="0"/>
            </a:endParaRPr>
          </a:p>
          <a:p>
            <a:pPr eaLnBrk="1" hangingPunct="1">
              <a:spcBef>
                <a:spcPct val="0"/>
              </a:spcBef>
              <a:buClrTx/>
              <a:buSzTx/>
              <a:buFontTx/>
              <a:buNone/>
            </a:pPr>
            <a:endParaRPr lang="fr-FR" altLang="fr-FR" sz="2000">
              <a:latin typeface="Arial Narrow" panose="020B0606020202030204" pitchFamily="34" charset="0"/>
            </a:endParaRPr>
          </a:p>
          <a:p>
            <a:pPr eaLnBrk="1" hangingPunct="1">
              <a:spcBef>
                <a:spcPct val="0"/>
              </a:spcBef>
              <a:buClrTx/>
              <a:buSzTx/>
              <a:buFontTx/>
              <a:buNone/>
            </a:pPr>
            <a:endParaRPr lang="fr-FR" altLang="fr-FR" sz="2000">
              <a:latin typeface="Arial Narrow" panose="020B0606020202030204" pitchFamily="34" charset="0"/>
            </a:endParaRPr>
          </a:p>
          <a:p>
            <a:pPr eaLnBrk="1" hangingPunct="1">
              <a:spcBef>
                <a:spcPct val="0"/>
              </a:spcBef>
              <a:buClrTx/>
              <a:buSzTx/>
              <a:buFontTx/>
              <a:buNone/>
            </a:pPr>
            <a:r>
              <a:rPr lang="fr-FR" altLang="fr-FR" sz="2000">
                <a:latin typeface="Arial Narrow" panose="020B0606020202030204" pitchFamily="34" charset="0"/>
              </a:rPr>
              <a:t>      Rs &lt;&lt; X</a:t>
            </a:r>
            <a:r>
              <a:rPr lang="fr-FR" altLang="fr-FR" sz="2000" baseline="-25000">
                <a:latin typeface="Arial Narrow" panose="020B0606020202030204" pitchFamily="34" charset="0"/>
              </a:rPr>
              <a:t>ls</a:t>
            </a:r>
            <a:r>
              <a:rPr lang="fr-FR" altLang="fr-FR" sz="2000">
                <a:latin typeface="Arial Narrow" panose="020B0606020202030204" pitchFamily="34" charset="0"/>
              </a:rPr>
              <a:t>+X</a:t>
            </a:r>
            <a:r>
              <a:rPr lang="fr-FR" altLang="fr-FR" sz="2000" baseline="-25000">
                <a:latin typeface="Arial Narrow" panose="020B0606020202030204" pitchFamily="34" charset="0"/>
              </a:rPr>
              <a:t>lr</a:t>
            </a:r>
            <a:r>
              <a:rPr lang="fr-FR" altLang="fr-FR" sz="2000">
                <a:latin typeface="Arial Narrow" panose="020B0606020202030204" pitchFamily="34" charset="0"/>
              </a:rPr>
              <a:t>’</a:t>
            </a:r>
          </a:p>
        </p:txBody>
      </p:sp>
      <p:graphicFrame>
        <p:nvGraphicFramePr>
          <p:cNvPr id="51205" name="Object 17"/>
          <p:cNvGraphicFramePr>
            <a:graphicFrameLocks noChangeAspect="1"/>
          </p:cNvGraphicFramePr>
          <p:nvPr/>
        </p:nvGraphicFramePr>
        <p:xfrm>
          <a:off x="2692400" y="2030413"/>
          <a:ext cx="4181475" cy="1416050"/>
        </p:xfrm>
        <a:graphic>
          <a:graphicData uri="http://schemas.openxmlformats.org/presentationml/2006/ole">
            <mc:AlternateContent xmlns:mc="http://schemas.openxmlformats.org/markup-compatibility/2006">
              <mc:Choice xmlns:v="urn:schemas-microsoft-com:vml" Requires="v">
                <p:oleObj spid="_x0000_s290830" name="Équation" r:id="rId4" imgW="1930400" imgH="647700" progId="Equation.3">
                  <p:embed/>
                </p:oleObj>
              </mc:Choice>
              <mc:Fallback>
                <p:oleObj name="Équation" r:id="rId4" imgW="1930400" imgH="6477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2400" y="2030413"/>
                        <a:ext cx="4181475" cy="141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6" name="Object 31"/>
          <p:cNvGraphicFramePr>
            <a:graphicFrameLocks noChangeAspect="1"/>
          </p:cNvGraphicFramePr>
          <p:nvPr/>
        </p:nvGraphicFramePr>
        <p:xfrm>
          <a:off x="3727450" y="4013200"/>
          <a:ext cx="2238375" cy="790575"/>
        </p:xfrm>
        <a:graphic>
          <a:graphicData uri="http://schemas.openxmlformats.org/presentationml/2006/ole">
            <mc:AlternateContent xmlns:mc="http://schemas.openxmlformats.org/markup-compatibility/2006">
              <mc:Choice xmlns:v="urn:schemas-microsoft-com:vml" Requires="v">
                <p:oleObj spid="_x0000_s290831" name="Équation" r:id="rId6" imgW="1282700" imgH="457200" progId="Equation.3">
                  <p:embed/>
                </p:oleObj>
              </mc:Choice>
              <mc:Fallback>
                <p:oleObj name="Équation" r:id="rId6" imgW="1282700" imgH="457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27450" y="4013200"/>
                        <a:ext cx="2238375"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7" name="Object 33"/>
          <p:cNvGraphicFramePr>
            <a:graphicFrameLocks noChangeAspect="1"/>
          </p:cNvGraphicFramePr>
          <p:nvPr/>
        </p:nvGraphicFramePr>
        <p:xfrm>
          <a:off x="3857625" y="5127625"/>
          <a:ext cx="2428875" cy="830263"/>
        </p:xfrm>
        <a:graphic>
          <a:graphicData uri="http://schemas.openxmlformats.org/presentationml/2006/ole">
            <mc:AlternateContent xmlns:mc="http://schemas.openxmlformats.org/markup-compatibility/2006">
              <mc:Choice xmlns:v="urn:schemas-microsoft-com:vml" Requires="v">
                <p:oleObj spid="_x0000_s290832" name="Équation" r:id="rId8" imgW="1638300" imgH="558800" progId="Equation.3">
                  <p:embed/>
                </p:oleObj>
              </mc:Choice>
              <mc:Fallback>
                <p:oleObj name="Équation" r:id="rId8" imgW="1638300" imgH="5588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57625" y="5127625"/>
                        <a:ext cx="24288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08" name="Espace réservé du numéro de diapositive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B463DF79-7702-4ECB-8EDE-D6F426E6CD23}" type="slidenum">
              <a:rPr lang="en-US" altLang="fr-FR" sz="1000">
                <a:solidFill>
                  <a:srgbClr val="292929"/>
                </a:solidFill>
                <a:latin typeface="Arial" panose="020B0604020202020204" pitchFamily="34" charset="0"/>
              </a:rPr>
              <a:pPr>
                <a:spcBef>
                  <a:spcPct val="0"/>
                </a:spcBef>
                <a:buClrTx/>
                <a:buSzTx/>
                <a:buFontTx/>
                <a:buNone/>
              </a:pPr>
              <a:t>21</a:t>
            </a:fld>
            <a:endParaRPr lang="en-US" altLang="fr-FR" sz="1000">
              <a:solidFill>
                <a:srgbClr val="292929"/>
              </a:solidFill>
              <a:latin typeface="Arial" panose="020B0604020202020204" pitchFamily="34" charset="0"/>
            </a:endParaRPr>
          </a:p>
        </p:txBody>
      </p:sp>
      <p:sp>
        <p:nvSpPr>
          <p:cNvPr id="11" name="Espace réservé du pied de page 10"/>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05708019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ChangeArrowheads="1"/>
          </p:cNvSpPr>
          <p:nvPr/>
        </p:nvSpPr>
        <p:spPr bwMode="auto">
          <a:xfrm>
            <a:off x="417513" y="441325"/>
            <a:ext cx="6170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i="1">
                <a:latin typeface="Arial Narrow" panose="020B0606020202030204" pitchFamily="34" charset="0"/>
              </a:rPr>
              <a:t>Approximation des caractéristiques de couple</a:t>
            </a:r>
            <a:endParaRPr lang="fr-FR" altLang="fr-FR" sz="2000">
              <a:latin typeface="Arial Narrow" panose="020B0606020202030204" pitchFamily="34" charset="0"/>
            </a:endParaRPr>
          </a:p>
        </p:txBody>
      </p:sp>
      <p:sp>
        <p:nvSpPr>
          <p:cNvPr id="53251" name="Rectangle 5"/>
          <p:cNvSpPr>
            <a:spLocks noChangeArrowheads="1"/>
          </p:cNvSpPr>
          <p:nvPr/>
        </p:nvSpPr>
        <p:spPr bwMode="auto">
          <a:xfrm>
            <a:off x="395288" y="1019175"/>
            <a:ext cx="3419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Narrow" panose="020B0606020202030204" pitchFamily="34" charset="0"/>
              </a:rPr>
              <a:t>Selon ces approximations, il vient :</a:t>
            </a:r>
          </a:p>
        </p:txBody>
      </p:sp>
      <p:graphicFrame>
        <p:nvGraphicFramePr>
          <p:cNvPr id="53252" name="Object 17"/>
          <p:cNvGraphicFramePr>
            <a:graphicFrameLocks noChangeAspect="1"/>
          </p:cNvGraphicFramePr>
          <p:nvPr/>
        </p:nvGraphicFramePr>
        <p:xfrm>
          <a:off x="1843088" y="1747838"/>
          <a:ext cx="1887537" cy="1128712"/>
        </p:xfrm>
        <a:graphic>
          <a:graphicData uri="http://schemas.openxmlformats.org/presentationml/2006/ole">
            <mc:AlternateContent xmlns:mc="http://schemas.openxmlformats.org/markup-compatibility/2006">
              <mc:Choice xmlns:v="urn:schemas-microsoft-com:vml" Requires="v">
                <p:oleObj spid="_x0000_s291862" name="Équation" r:id="rId4" imgW="1028700" imgH="609600" progId="Equation.3">
                  <p:embed/>
                </p:oleObj>
              </mc:Choice>
              <mc:Fallback>
                <p:oleObj name="Équation" r:id="rId4" imgW="1028700" imgH="609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43088" y="1747838"/>
                        <a:ext cx="1887537" cy="112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3" name="Rectangle 16"/>
          <p:cNvSpPr>
            <a:spLocks noChangeArrowheads="1"/>
          </p:cNvSpPr>
          <p:nvPr/>
        </p:nvSpPr>
        <p:spPr bwMode="auto">
          <a:xfrm>
            <a:off x="577850" y="3027363"/>
            <a:ext cx="457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Narrow" panose="020B0606020202030204" pitchFamily="34" charset="0"/>
              </a:rPr>
              <a:t>Ainsi, pour les </a:t>
            </a:r>
            <a:r>
              <a:rPr lang="fr-FR" altLang="fr-FR" sz="2000" i="1">
                <a:latin typeface="Arial Narrow" panose="020B0606020202030204" pitchFamily="34" charset="0"/>
              </a:rPr>
              <a:t>faibles glissements (g &lt;&lt; g</a:t>
            </a:r>
            <a:r>
              <a:rPr lang="fr-FR" altLang="fr-FR" sz="2000" i="1" baseline="-25000">
                <a:latin typeface="Arial Narrow" panose="020B0606020202030204" pitchFamily="34" charset="0"/>
              </a:rPr>
              <a:t>m</a:t>
            </a:r>
            <a:r>
              <a:rPr lang="fr-FR" altLang="fr-FR" sz="2000" i="1">
                <a:latin typeface="Arial Narrow" panose="020B0606020202030204" pitchFamily="34" charset="0"/>
              </a:rPr>
              <a:t>) :</a:t>
            </a:r>
            <a:endParaRPr lang="fr-FR" altLang="fr-FR" sz="2000">
              <a:latin typeface="Arial Narrow" panose="020B0606020202030204" pitchFamily="34" charset="0"/>
            </a:endParaRPr>
          </a:p>
        </p:txBody>
      </p:sp>
      <p:graphicFrame>
        <p:nvGraphicFramePr>
          <p:cNvPr id="53254" name="Object 9"/>
          <p:cNvGraphicFramePr>
            <a:graphicFrameLocks noChangeAspect="1"/>
          </p:cNvGraphicFramePr>
          <p:nvPr/>
        </p:nvGraphicFramePr>
        <p:xfrm>
          <a:off x="2530475" y="3749675"/>
          <a:ext cx="1047750" cy="706438"/>
        </p:xfrm>
        <a:graphic>
          <a:graphicData uri="http://schemas.openxmlformats.org/presentationml/2006/ole">
            <mc:AlternateContent xmlns:mc="http://schemas.openxmlformats.org/markup-compatibility/2006">
              <mc:Choice xmlns:v="urn:schemas-microsoft-com:vml" Requires="v">
                <p:oleObj spid="_x0000_s291863" name="Équation" r:id="rId6" imgW="571252" imgH="380835" progId="Equation.3">
                  <p:embed/>
                </p:oleObj>
              </mc:Choice>
              <mc:Fallback>
                <p:oleObj name="Équation" r:id="rId6" imgW="571252" imgH="380835"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30475" y="3749675"/>
                        <a:ext cx="1047750"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5" name="Rectangle 19"/>
          <p:cNvSpPr>
            <a:spLocks noChangeArrowheads="1"/>
          </p:cNvSpPr>
          <p:nvPr/>
        </p:nvSpPr>
        <p:spPr bwMode="auto">
          <a:xfrm>
            <a:off x="715963" y="4560888"/>
            <a:ext cx="457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Narrow" panose="020B0606020202030204" pitchFamily="34" charset="0"/>
              </a:rPr>
              <a:t>Et pour les </a:t>
            </a:r>
            <a:r>
              <a:rPr lang="fr-FR" altLang="fr-FR" sz="2000" i="1">
                <a:latin typeface="Arial Narrow" panose="020B0606020202030204" pitchFamily="34" charset="0"/>
              </a:rPr>
              <a:t>grands glissements (g &gt;&gt; g</a:t>
            </a:r>
            <a:r>
              <a:rPr lang="fr-FR" altLang="fr-FR" sz="2000" i="1" baseline="-25000">
                <a:latin typeface="Arial Narrow" panose="020B0606020202030204" pitchFamily="34" charset="0"/>
              </a:rPr>
              <a:t>m</a:t>
            </a:r>
            <a:r>
              <a:rPr lang="fr-FR" altLang="fr-FR" sz="2000" i="1">
                <a:latin typeface="Arial Narrow" panose="020B0606020202030204" pitchFamily="34" charset="0"/>
              </a:rPr>
              <a:t>) :</a:t>
            </a:r>
            <a:endParaRPr lang="fr-FR" altLang="fr-FR" sz="2000">
              <a:latin typeface="Arial Narrow" panose="020B0606020202030204" pitchFamily="34" charset="0"/>
            </a:endParaRPr>
          </a:p>
        </p:txBody>
      </p:sp>
      <p:graphicFrame>
        <p:nvGraphicFramePr>
          <p:cNvPr id="53256" name="Object 6"/>
          <p:cNvGraphicFramePr>
            <a:graphicFrameLocks noChangeAspect="1"/>
          </p:cNvGraphicFramePr>
          <p:nvPr/>
        </p:nvGraphicFramePr>
        <p:xfrm>
          <a:off x="2419350" y="5181600"/>
          <a:ext cx="1163638" cy="706438"/>
        </p:xfrm>
        <a:graphic>
          <a:graphicData uri="http://schemas.openxmlformats.org/presentationml/2006/ole">
            <mc:AlternateContent xmlns:mc="http://schemas.openxmlformats.org/markup-compatibility/2006">
              <mc:Choice xmlns:v="urn:schemas-microsoft-com:vml" Requires="v">
                <p:oleObj spid="_x0000_s291864" name="Équation" r:id="rId8" imgW="634725" imgH="380835" progId="Equation.3">
                  <p:embed/>
                </p:oleObj>
              </mc:Choice>
              <mc:Fallback>
                <p:oleObj name="Équation" r:id="rId8" imgW="634725" imgH="380835"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19350" y="5181600"/>
                        <a:ext cx="1163638"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7" name="ZoneTexte 23"/>
          <p:cNvSpPr txBox="1">
            <a:spLocks noChangeArrowheads="1"/>
          </p:cNvSpPr>
          <p:nvPr/>
        </p:nvSpPr>
        <p:spPr bwMode="auto">
          <a:xfrm>
            <a:off x="4010025" y="3898900"/>
            <a:ext cx="8032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Narrow" panose="020B0606020202030204" pitchFamily="34" charset="0"/>
              </a:rPr>
              <a:t>Droite</a:t>
            </a:r>
          </a:p>
        </p:txBody>
      </p:sp>
      <p:sp>
        <p:nvSpPr>
          <p:cNvPr id="53258" name="ZoneTexte 24"/>
          <p:cNvSpPr txBox="1">
            <a:spLocks noChangeArrowheads="1"/>
          </p:cNvSpPr>
          <p:nvPr/>
        </p:nvSpPr>
        <p:spPr bwMode="auto">
          <a:xfrm>
            <a:off x="3937000" y="5327650"/>
            <a:ext cx="1460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Narrow" panose="020B0606020202030204" pitchFamily="34" charset="0"/>
              </a:rPr>
              <a:t>Hyperbole</a:t>
            </a:r>
          </a:p>
        </p:txBody>
      </p:sp>
      <p:sp>
        <p:nvSpPr>
          <p:cNvPr id="53259"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nvGrpSpPr>
          <p:cNvPr id="53260" name="Groupe 2"/>
          <p:cNvGrpSpPr>
            <a:grpSpLocks/>
          </p:cNvGrpSpPr>
          <p:nvPr/>
        </p:nvGrpSpPr>
        <p:grpSpPr bwMode="auto">
          <a:xfrm>
            <a:off x="5040313" y="1744663"/>
            <a:ext cx="3562350" cy="3163887"/>
            <a:chOff x="4972050" y="1743870"/>
            <a:chExt cx="3562350" cy="3164691"/>
          </a:xfrm>
        </p:grpSpPr>
        <p:grpSp>
          <p:nvGrpSpPr>
            <p:cNvPr id="53263" name="Groupe 17"/>
            <p:cNvGrpSpPr>
              <a:grpSpLocks/>
            </p:cNvGrpSpPr>
            <p:nvPr/>
          </p:nvGrpSpPr>
          <p:grpSpPr bwMode="auto">
            <a:xfrm>
              <a:off x="4972050" y="1743870"/>
              <a:ext cx="3562350" cy="3038475"/>
              <a:chOff x="5026080" y="1749402"/>
              <a:chExt cx="3562350" cy="3038475"/>
            </a:xfrm>
          </p:grpSpPr>
          <p:pic>
            <p:nvPicPr>
              <p:cNvPr id="53267" name="Picture 2"/>
              <p:cNvPicPr>
                <a:picLocks noChangeAspect="1" noChangeArrowheads="1"/>
              </p:cNvPicPr>
              <p:nvPr/>
            </p:nvPicPr>
            <p:blipFill>
              <a:blip r:embed="rId10">
                <a:clrChange>
                  <a:clrFrom>
                    <a:srgbClr val="FFFFFF"/>
                  </a:clrFrom>
                  <a:clrTo>
                    <a:srgbClr val="FFFFFF">
                      <a:alpha val="0"/>
                    </a:srgbClr>
                  </a:clrTo>
                </a:clrChange>
                <a:lum bright="-20000"/>
                <a:extLst>
                  <a:ext uri="{28A0092B-C50C-407E-A947-70E740481C1C}">
                    <a14:useLocalDpi xmlns:a14="http://schemas.microsoft.com/office/drawing/2010/main" val="0"/>
                  </a:ext>
                </a:extLst>
              </a:blip>
              <a:srcRect/>
              <a:stretch>
                <a:fillRect/>
              </a:stretch>
            </p:blipFill>
            <p:spPr bwMode="auto">
              <a:xfrm>
                <a:off x="5026080" y="1749402"/>
                <a:ext cx="3562350" cy="303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68" name="ZoneTexte 10"/>
              <p:cNvSpPr txBox="1">
                <a:spLocks noChangeArrowheads="1"/>
              </p:cNvSpPr>
              <p:nvPr/>
            </p:nvSpPr>
            <p:spPr bwMode="auto">
              <a:xfrm>
                <a:off x="6288111" y="3721104"/>
                <a:ext cx="620721" cy="461665"/>
              </a:xfrm>
              <a:prstGeom prst="rect">
                <a:avLst/>
              </a:prstGeom>
              <a:blipFill dpi="0" rotWithShape="1">
                <a:blip r:embed="rId11"/>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aphicFrame>
            <p:nvGraphicFramePr>
              <p:cNvPr id="53269" name="Object 7"/>
              <p:cNvGraphicFramePr>
                <a:graphicFrameLocks noChangeAspect="1"/>
              </p:cNvGraphicFramePr>
              <p:nvPr/>
            </p:nvGraphicFramePr>
            <p:xfrm>
              <a:off x="6288088" y="3684588"/>
              <a:ext cx="685800" cy="609600"/>
            </p:xfrm>
            <a:graphic>
              <a:graphicData uri="http://schemas.openxmlformats.org/presentationml/2006/ole">
                <mc:AlternateContent xmlns:mc="http://schemas.openxmlformats.org/markup-compatibility/2006">
                  <mc:Choice xmlns:v="urn:schemas-microsoft-com:vml" Requires="v">
                    <p:oleObj spid="_x0000_s291865" name="Équation" r:id="rId12" imgW="685800" imgH="609600" progId="Equation.3">
                      <p:embed/>
                    </p:oleObj>
                  </mc:Choice>
                  <mc:Fallback>
                    <p:oleObj name="Équation" r:id="rId12" imgW="685800" imgH="6096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88088" y="3684588"/>
                            <a:ext cx="68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3270" name="ZoneTexte 14"/>
              <p:cNvSpPr txBox="1">
                <a:spLocks noChangeArrowheads="1"/>
              </p:cNvSpPr>
              <p:nvPr/>
            </p:nvSpPr>
            <p:spPr bwMode="auto">
              <a:xfrm>
                <a:off x="5265747" y="3003848"/>
                <a:ext cx="474669" cy="461665"/>
              </a:xfrm>
              <a:prstGeom prst="rect">
                <a:avLst/>
              </a:prstGeom>
              <a:blipFill dpi="0" rotWithShape="1">
                <a:blip r:embed="rId11"/>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aphicFrame>
            <p:nvGraphicFramePr>
              <p:cNvPr id="53271" name="Object 8"/>
              <p:cNvGraphicFramePr>
                <a:graphicFrameLocks noChangeAspect="1"/>
              </p:cNvGraphicFramePr>
              <p:nvPr/>
            </p:nvGraphicFramePr>
            <p:xfrm>
              <a:off x="5119695" y="3238500"/>
              <a:ext cx="228600" cy="381000"/>
            </p:xfrm>
            <a:graphic>
              <a:graphicData uri="http://schemas.openxmlformats.org/presentationml/2006/ole">
                <mc:AlternateContent xmlns:mc="http://schemas.openxmlformats.org/markup-compatibility/2006">
                  <mc:Choice xmlns:v="urn:schemas-microsoft-com:vml" Requires="v">
                    <p:oleObj spid="_x0000_s291866" name="Équation" r:id="rId14" imgW="228600" imgH="381000" progId="Equation.3">
                      <p:embed/>
                    </p:oleObj>
                  </mc:Choice>
                  <mc:Fallback>
                    <p:oleObj name="Équation" r:id="rId14" imgW="228600" imgH="3810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119695" y="3238500"/>
                            <a:ext cx="228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3264" name="ZoneTexte 20"/>
            <p:cNvSpPr txBox="1">
              <a:spLocks noChangeArrowheads="1"/>
            </p:cNvSpPr>
            <p:nvPr/>
          </p:nvSpPr>
          <p:spPr bwMode="auto">
            <a:xfrm>
              <a:off x="5004048" y="4446598"/>
              <a:ext cx="1058863" cy="461963"/>
            </a:xfrm>
            <a:prstGeom prst="rect">
              <a:avLst/>
            </a:prstGeom>
            <a:blipFill dpi="0" rotWithShape="1">
              <a:blip r:embed="rId11"/>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53265" name="ZoneTexte 21"/>
            <p:cNvSpPr txBox="1">
              <a:spLocks noChangeArrowheads="1"/>
            </p:cNvSpPr>
            <p:nvPr/>
          </p:nvSpPr>
          <p:spPr bwMode="auto">
            <a:xfrm>
              <a:off x="5054949" y="3859224"/>
              <a:ext cx="1058862" cy="461962"/>
            </a:xfrm>
            <a:prstGeom prst="rect">
              <a:avLst/>
            </a:prstGeom>
            <a:blipFill dpi="0" rotWithShape="1">
              <a:blip r:embed="rId11"/>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53266" name="ZoneTexte 22"/>
            <p:cNvSpPr txBox="1">
              <a:spLocks noChangeArrowheads="1"/>
            </p:cNvSpPr>
            <p:nvPr/>
          </p:nvSpPr>
          <p:spPr bwMode="auto">
            <a:xfrm>
              <a:off x="7164288" y="1776413"/>
              <a:ext cx="912812" cy="338137"/>
            </a:xfrm>
            <a:prstGeom prst="rect">
              <a:avLst/>
            </a:prstGeom>
            <a:blipFill dpi="0" rotWithShape="1">
              <a:blip r:embed="rId11"/>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Narrow" panose="020B0606020202030204" pitchFamily="34" charset="0"/>
                </a:rPr>
                <a:t>T</a:t>
              </a:r>
              <a:r>
                <a:rPr lang="fr-FR" altLang="fr-FR" sz="1600" baseline="-25000">
                  <a:latin typeface="Arial Narrow" panose="020B0606020202030204" pitchFamily="34" charset="0"/>
                </a:rPr>
                <a:t>em</a:t>
              </a:r>
              <a:r>
                <a:rPr lang="fr-FR" altLang="fr-FR" sz="1600">
                  <a:latin typeface="Arial Narrow" panose="020B0606020202030204" pitchFamily="34" charset="0"/>
                </a:rPr>
                <a:t>/T</a:t>
              </a:r>
              <a:r>
                <a:rPr lang="fr-FR" altLang="fr-FR" sz="1600" baseline="-25000">
                  <a:latin typeface="Arial Narrow" panose="020B0606020202030204" pitchFamily="34" charset="0"/>
                </a:rPr>
                <a:t>m</a:t>
              </a:r>
            </a:p>
          </p:txBody>
        </p:sp>
      </p:grpSp>
      <p:sp>
        <p:nvSpPr>
          <p:cNvPr id="53261" name="Espace réservé du numéro de diapositive 2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FB05F540-6674-4422-9959-5F61B3E04A0A}" type="slidenum">
              <a:rPr lang="en-US" altLang="fr-FR" sz="1000">
                <a:solidFill>
                  <a:srgbClr val="292929"/>
                </a:solidFill>
                <a:latin typeface="Arial" panose="020B0604020202020204" pitchFamily="34" charset="0"/>
              </a:rPr>
              <a:pPr>
                <a:spcBef>
                  <a:spcPct val="0"/>
                </a:spcBef>
                <a:buClrTx/>
                <a:buSzTx/>
                <a:buFontTx/>
                <a:buNone/>
              </a:pPr>
              <a:t>22</a:t>
            </a:fld>
            <a:endParaRPr lang="en-US" altLang="fr-FR" sz="1000">
              <a:solidFill>
                <a:srgbClr val="292929"/>
              </a:solidFill>
              <a:latin typeface="Arial" panose="020B0604020202020204" pitchFamily="34" charset="0"/>
            </a:endParaRPr>
          </a:p>
        </p:txBody>
      </p:sp>
      <p:sp>
        <p:nvSpPr>
          <p:cNvPr id="24" name="Espace réservé du pied de page 23"/>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164048356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4"/>
          <p:cNvSpPr>
            <a:spLocks noChangeArrowheads="1"/>
          </p:cNvSpPr>
          <p:nvPr/>
        </p:nvSpPr>
        <p:spPr bwMode="auto">
          <a:xfrm>
            <a:off x="738188" y="1077913"/>
            <a:ext cx="76676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Narrow" panose="020B0606020202030204" pitchFamily="34" charset="0"/>
              </a:rPr>
              <a:t>Le flux de puissance active pour un </a:t>
            </a:r>
            <a:r>
              <a:rPr lang="fr-FR" altLang="fr-FR" sz="2000" i="1">
                <a:latin typeface="Arial Narrow" panose="020B0606020202030204" pitchFamily="34" charset="0"/>
              </a:rPr>
              <a:t>fonctionnement en moteur </a:t>
            </a:r>
            <a:r>
              <a:rPr lang="fr-FR" altLang="fr-FR" sz="2000">
                <a:latin typeface="Arial Narrow" panose="020B0606020202030204" pitchFamily="34" charset="0"/>
              </a:rPr>
              <a:t>(à g&gt;0) et celle de droite pour un fonctionnement </a:t>
            </a:r>
            <a:r>
              <a:rPr lang="fr-FR" altLang="fr-FR" sz="2000" i="1">
                <a:latin typeface="Arial Narrow" panose="020B0606020202030204" pitchFamily="34" charset="0"/>
              </a:rPr>
              <a:t>en génératrice (à g &lt;0).</a:t>
            </a:r>
            <a:endParaRPr lang="fr-FR" altLang="fr-FR" sz="2000">
              <a:latin typeface="Arial Narrow" panose="020B0606020202030204" pitchFamily="34" charset="0"/>
            </a:endParaRPr>
          </a:p>
        </p:txBody>
      </p:sp>
      <p:grpSp>
        <p:nvGrpSpPr>
          <p:cNvPr id="55299" name="Groupe 13"/>
          <p:cNvGrpSpPr>
            <a:grpSpLocks/>
          </p:cNvGrpSpPr>
          <p:nvPr/>
        </p:nvGrpSpPr>
        <p:grpSpPr bwMode="auto">
          <a:xfrm>
            <a:off x="263525" y="1984375"/>
            <a:ext cx="8782050" cy="3671888"/>
            <a:chOff x="263466" y="1984293"/>
            <a:chExt cx="8782200" cy="3672000"/>
          </a:xfrm>
        </p:grpSpPr>
        <p:grpSp>
          <p:nvGrpSpPr>
            <p:cNvPr id="55304" name="Groupe 9"/>
            <p:cNvGrpSpPr>
              <a:grpSpLocks/>
            </p:cNvGrpSpPr>
            <p:nvPr/>
          </p:nvGrpSpPr>
          <p:grpSpPr bwMode="auto">
            <a:xfrm>
              <a:off x="263466" y="1984293"/>
              <a:ext cx="8782200" cy="3672000"/>
              <a:chOff x="263466" y="1984293"/>
              <a:chExt cx="8782200" cy="3672000"/>
            </a:xfrm>
          </p:grpSpPr>
          <p:pic>
            <p:nvPicPr>
              <p:cNvPr id="55308" name="Picture 2"/>
              <p:cNvPicPr>
                <a:picLocks noChangeAspect="1" noChangeArrowheads="1"/>
              </p:cNvPicPr>
              <p:nvPr/>
            </p:nvPicPr>
            <p:blipFill>
              <a:blip r:embed="rId3">
                <a:clrChange>
                  <a:clrFrom>
                    <a:srgbClr val="FFFFFF"/>
                  </a:clrFrom>
                  <a:clrTo>
                    <a:srgbClr val="FFFFFF">
                      <a:alpha val="0"/>
                    </a:srgbClr>
                  </a:clrTo>
                </a:clrChange>
                <a:lum bright="-20000"/>
                <a:extLst>
                  <a:ext uri="{28A0092B-C50C-407E-A947-70E740481C1C}">
                    <a14:useLocalDpi xmlns:a14="http://schemas.microsoft.com/office/drawing/2010/main" val="0"/>
                  </a:ext>
                </a:extLst>
              </a:blip>
              <a:srcRect/>
              <a:stretch>
                <a:fillRect/>
              </a:stretch>
            </p:blipFill>
            <p:spPr bwMode="auto">
              <a:xfrm>
                <a:off x="263466" y="1984293"/>
                <a:ext cx="8782200" cy="36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9" name="ZoneTexte 5"/>
              <p:cNvSpPr txBox="1">
                <a:spLocks noChangeArrowheads="1"/>
              </p:cNvSpPr>
              <p:nvPr/>
            </p:nvSpPr>
            <p:spPr bwMode="auto">
              <a:xfrm>
                <a:off x="884187" y="3173409"/>
                <a:ext cx="432000"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1-g</a:t>
                </a:r>
              </a:p>
            </p:txBody>
          </p:sp>
          <p:sp>
            <p:nvSpPr>
              <p:cNvPr id="55310" name="ZoneTexte 6"/>
              <p:cNvSpPr txBox="1">
                <a:spLocks noChangeArrowheads="1"/>
              </p:cNvSpPr>
              <p:nvPr/>
            </p:nvSpPr>
            <p:spPr bwMode="auto">
              <a:xfrm>
                <a:off x="1727064" y="3173409"/>
                <a:ext cx="216000"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g</a:t>
                </a:r>
              </a:p>
            </p:txBody>
          </p:sp>
          <p:sp>
            <p:nvSpPr>
              <p:cNvPr id="55311" name="ZoneTexte 7"/>
              <p:cNvSpPr txBox="1">
                <a:spLocks noChangeArrowheads="1"/>
              </p:cNvSpPr>
              <p:nvPr/>
            </p:nvSpPr>
            <p:spPr bwMode="auto">
              <a:xfrm>
                <a:off x="6914988" y="4508717"/>
                <a:ext cx="432000"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1-g</a:t>
                </a:r>
              </a:p>
            </p:txBody>
          </p:sp>
          <p:sp>
            <p:nvSpPr>
              <p:cNvPr id="55312" name="ZoneTexte 8"/>
              <p:cNvSpPr txBox="1">
                <a:spLocks noChangeArrowheads="1"/>
              </p:cNvSpPr>
              <p:nvPr/>
            </p:nvSpPr>
            <p:spPr bwMode="auto">
              <a:xfrm>
                <a:off x="7350066" y="4414851"/>
                <a:ext cx="216000"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g</a:t>
                </a:r>
              </a:p>
            </p:txBody>
          </p:sp>
        </p:grpSp>
        <p:sp>
          <p:nvSpPr>
            <p:cNvPr id="55305" name="ZoneTexte 10"/>
            <p:cNvSpPr txBox="1">
              <a:spLocks noChangeArrowheads="1"/>
            </p:cNvSpPr>
            <p:nvPr/>
          </p:nvSpPr>
          <p:spPr bwMode="auto">
            <a:xfrm>
              <a:off x="993726" y="2756093"/>
              <a:ext cx="438156"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latin typeface="Arial Narrow" panose="020B0606020202030204" pitchFamily="34" charset="0"/>
                </a:rPr>
                <a:t>P</a:t>
              </a:r>
              <a:r>
                <a:rPr lang="fr-FR" altLang="fr-FR" sz="1400" b="1" baseline="-25000">
                  <a:latin typeface="Arial Narrow" panose="020B0606020202030204" pitchFamily="34" charset="0"/>
                </a:rPr>
                <a:t>tr</a:t>
              </a:r>
            </a:p>
          </p:txBody>
        </p:sp>
        <p:sp>
          <p:nvSpPr>
            <p:cNvPr id="55306" name="ZoneTexte 11"/>
            <p:cNvSpPr txBox="1">
              <a:spLocks noChangeArrowheads="1"/>
            </p:cNvSpPr>
            <p:nvPr/>
          </p:nvSpPr>
          <p:spPr bwMode="auto">
            <a:xfrm>
              <a:off x="6945345" y="3757617"/>
              <a:ext cx="438156"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latin typeface="Arial Narrow" panose="020B0606020202030204" pitchFamily="34" charset="0"/>
                </a:rPr>
                <a:t>P</a:t>
              </a:r>
              <a:r>
                <a:rPr lang="fr-FR" altLang="fr-FR" sz="1400" b="1" baseline="-25000">
                  <a:latin typeface="Arial Narrow" panose="020B0606020202030204" pitchFamily="34" charset="0"/>
                </a:rPr>
                <a:t>tr</a:t>
              </a:r>
            </a:p>
          </p:txBody>
        </p:sp>
        <p:sp>
          <p:nvSpPr>
            <p:cNvPr id="55307" name="ZoneTexte 12"/>
            <p:cNvSpPr txBox="1">
              <a:spLocks noChangeArrowheads="1"/>
            </p:cNvSpPr>
            <p:nvPr/>
          </p:nvSpPr>
          <p:spPr bwMode="auto">
            <a:xfrm>
              <a:off x="3111480" y="3465513"/>
              <a:ext cx="438156"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latin typeface="Arial Narrow" panose="020B0606020202030204" pitchFamily="34" charset="0"/>
                </a:rPr>
                <a:t>P</a:t>
              </a:r>
              <a:r>
                <a:rPr lang="fr-FR" altLang="fr-FR" sz="1400" b="1" baseline="-25000">
                  <a:latin typeface="Arial Narrow" panose="020B0606020202030204" pitchFamily="34" charset="0"/>
                </a:rPr>
                <a:t>tr</a:t>
              </a:r>
            </a:p>
          </p:txBody>
        </p:sp>
      </p:grpSp>
      <p:sp>
        <p:nvSpPr>
          <p:cNvPr id="55300" name="Rectangle 14"/>
          <p:cNvSpPr>
            <a:spLocks noChangeArrowheads="1"/>
          </p:cNvSpPr>
          <p:nvPr/>
        </p:nvSpPr>
        <p:spPr bwMode="auto">
          <a:xfrm>
            <a:off x="3184525" y="508000"/>
            <a:ext cx="23193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i="1">
                <a:latin typeface="Arial Narrow" panose="020B0606020202030204" pitchFamily="34" charset="0"/>
              </a:rPr>
              <a:t>Bilan des puissances</a:t>
            </a:r>
            <a:endParaRPr lang="fr-FR" altLang="fr-FR" sz="2000">
              <a:latin typeface="Arial Narrow" panose="020B0606020202030204" pitchFamily="34" charset="0"/>
            </a:endParaRPr>
          </a:p>
        </p:txBody>
      </p:sp>
      <p:sp>
        <p:nvSpPr>
          <p:cNvPr id="55301"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55302" name="Espace réservé du numéro de diapositive 1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E4B213AB-9870-4871-8E5B-8E84D4BD7100}" type="slidenum">
              <a:rPr lang="en-US" altLang="fr-FR" sz="1000">
                <a:solidFill>
                  <a:srgbClr val="292929"/>
                </a:solidFill>
                <a:latin typeface="Arial" panose="020B0604020202020204" pitchFamily="34" charset="0"/>
              </a:rPr>
              <a:pPr>
                <a:spcBef>
                  <a:spcPct val="0"/>
                </a:spcBef>
                <a:buClrTx/>
                <a:buSzTx/>
                <a:buFontTx/>
                <a:buNone/>
              </a:pPr>
              <a:t>23</a:t>
            </a:fld>
            <a:endParaRPr lang="en-US" altLang="fr-FR" sz="1000">
              <a:solidFill>
                <a:srgbClr val="292929"/>
              </a:solidFill>
              <a:latin typeface="Arial" panose="020B0604020202020204" pitchFamily="34" charset="0"/>
            </a:endParaRPr>
          </a:p>
        </p:txBody>
      </p:sp>
      <p:sp>
        <p:nvSpPr>
          <p:cNvPr id="18" name="Espace réservé du pied de page 17"/>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93568575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44525" y="1304925"/>
            <a:ext cx="7777163" cy="3816350"/>
          </a:xfrm>
          <a:prstGeom prst="rect">
            <a:avLst/>
          </a:prstGeom>
        </p:spPr>
        <p:txBody>
          <a:bodyPr>
            <a:spAutoFit/>
          </a:bodyPr>
          <a:lstStyle/>
          <a:p>
            <a:pPr marL="268288" indent="-268288" algn="just" eaLnBrk="1" hangingPunct="1">
              <a:buFont typeface="Wingdings" pitchFamily="2" charset="2"/>
              <a:buChar char="q"/>
              <a:defRPr/>
            </a:pPr>
            <a:r>
              <a:rPr lang="fr-FR" sz="2200" dirty="0"/>
              <a:t>Le mode de démarrage le plus simple est </a:t>
            </a:r>
            <a:r>
              <a:rPr lang="fr-FR" sz="2200" dirty="0">
                <a:solidFill>
                  <a:srgbClr val="FF0000"/>
                </a:solidFill>
              </a:rPr>
              <a:t>le démarrage direct</a:t>
            </a:r>
            <a:r>
              <a:rPr lang="fr-FR" sz="2200" dirty="0"/>
              <a:t>. Il n’est utilisé que pour les moteurs de faible puissance, il a l’inconvénient de provoquer des </a:t>
            </a:r>
            <a:r>
              <a:rPr lang="fr-FR" sz="2200" dirty="0">
                <a:solidFill>
                  <a:srgbClr val="FF0000"/>
                </a:solidFill>
              </a:rPr>
              <a:t>courants d’appel transitoires trop importants.</a:t>
            </a:r>
            <a:r>
              <a:rPr lang="fr-FR" sz="2200" dirty="0"/>
              <a:t> </a:t>
            </a:r>
          </a:p>
          <a:p>
            <a:pPr algn="just" eaLnBrk="1" hangingPunct="1">
              <a:buFont typeface="Wingdings" pitchFamily="2" charset="2"/>
              <a:buChar char="q"/>
              <a:defRPr/>
            </a:pPr>
            <a:endParaRPr lang="fr-FR" sz="2200" dirty="0"/>
          </a:p>
          <a:p>
            <a:pPr marL="268288" indent="-268288" algn="just" eaLnBrk="1" hangingPunct="1">
              <a:buFont typeface="Wingdings" pitchFamily="2" charset="2"/>
              <a:buChar char="q"/>
              <a:defRPr/>
            </a:pPr>
            <a:r>
              <a:rPr lang="fr-FR" sz="2200" dirty="0"/>
              <a:t>De tels courants ne peuvent être tolérés par les entreprises d’électricité car ils provoquent momentanément d’importantes variations de tension dans le réseau et les transformateurs.</a:t>
            </a:r>
          </a:p>
          <a:p>
            <a:pPr marL="268288" indent="-268288" algn="just" eaLnBrk="1" hangingPunct="1">
              <a:buFont typeface="Wingdings" pitchFamily="2" charset="2"/>
              <a:buChar char="q"/>
              <a:defRPr/>
            </a:pPr>
            <a:endParaRPr lang="fr-FR" sz="2200" dirty="0"/>
          </a:p>
          <a:p>
            <a:pPr marL="268288" indent="-268288" algn="just" eaLnBrk="1" hangingPunct="1">
              <a:buFont typeface="Wingdings" pitchFamily="2" charset="2"/>
              <a:buChar char="q"/>
              <a:defRPr/>
            </a:pPr>
            <a:r>
              <a:rPr lang="fr-FR" sz="2200" dirty="0"/>
              <a:t>D’autre part, l’échauffement du moteur ne doit pas être prohibitif. Or, il dépend de l’amplitude du courant au démarrage et du nombre de démarrages.</a:t>
            </a:r>
          </a:p>
        </p:txBody>
      </p:sp>
      <p:sp>
        <p:nvSpPr>
          <p:cNvPr id="57347" name="Rectangle 4"/>
          <p:cNvSpPr>
            <a:spLocks noChangeArrowheads="1"/>
          </p:cNvSpPr>
          <p:nvPr/>
        </p:nvSpPr>
        <p:spPr bwMode="auto">
          <a:xfrm>
            <a:off x="1692275" y="254000"/>
            <a:ext cx="53990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400" b="1">
                <a:latin typeface="Arial Narrow" panose="020B0606020202030204" pitchFamily="34" charset="0"/>
              </a:rPr>
              <a:t>Démarrage des moteurs asynchrones</a:t>
            </a:r>
            <a:endParaRPr lang="fr-FR" altLang="fr-FR" sz="2400">
              <a:latin typeface="Arial Narrow" panose="020B0606020202030204" pitchFamily="34" charset="0"/>
            </a:endParaRPr>
          </a:p>
        </p:txBody>
      </p:sp>
      <p:sp>
        <p:nvSpPr>
          <p:cNvPr id="57348"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57349" name="Espace réservé du numéro de diapositive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E449C41A-9D92-4DC1-84A4-F2D9FC26AE2E}" type="slidenum">
              <a:rPr lang="en-US" altLang="fr-FR" sz="1000">
                <a:solidFill>
                  <a:srgbClr val="292929"/>
                </a:solidFill>
                <a:latin typeface="Arial" panose="020B0604020202020204" pitchFamily="34" charset="0"/>
              </a:rPr>
              <a:pPr>
                <a:spcBef>
                  <a:spcPct val="0"/>
                </a:spcBef>
                <a:buClrTx/>
                <a:buSzTx/>
                <a:buFontTx/>
                <a:buNone/>
              </a:pPr>
              <a:t>24</a:t>
            </a:fld>
            <a:endParaRPr lang="en-US" altLang="fr-FR" sz="1000">
              <a:solidFill>
                <a:srgbClr val="292929"/>
              </a:solidFill>
              <a:latin typeface="Arial" panose="020B0604020202020204" pitchFamily="34" charset="0"/>
            </a:endParaRPr>
          </a:p>
        </p:txBody>
      </p:sp>
      <p:sp>
        <p:nvSpPr>
          <p:cNvPr id="8" name="Espace réservé du pied de page 7"/>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05078471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44525" y="1125538"/>
            <a:ext cx="7777163" cy="4030662"/>
          </a:xfrm>
          <a:prstGeom prst="rect">
            <a:avLst/>
          </a:prstGeom>
        </p:spPr>
        <p:txBody>
          <a:bodyPr>
            <a:spAutoFit/>
          </a:bodyPr>
          <a:lstStyle/>
          <a:p>
            <a:pPr marL="268288" indent="-268288" algn="just" eaLnBrk="1" hangingPunct="1">
              <a:buFont typeface="Wingdings" pitchFamily="2" charset="2"/>
              <a:buChar char="q"/>
              <a:defRPr/>
            </a:pPr>
            <a:r>
              <a:rPr lang="fr-FR" dirty="0"/>
              <a:t>Il est donc nécessaire de réduire la valeur du courant de démarrage en abaissant par exemple la tension aux bornes du moteur. Ce qui a pour effet de réduire le couple de démarrage, car le couple électromagnétique est proportionnel à V</a:t>
            </a:r>
            <a:r>
              <a:rPr lang="fr-FR" baseline="-25000" dirty="0"/>
              <a:t>s</a:t>
            </a:r>
            <a:r>
              <a:rPr lang="fr-FR" baseline="30000" dirty="0"/>
              <a:t>2</a:t>
            </a:r>
          </a:p>
          <a:p>
            <a:pPr marL="268288" indent="-268288" algn="just" eaLnBrk="1" hangingPunct="1">
              <a:buFont typeface="Wingdings" pitchFamily="2" charset="2"/>
              <a:buChar char="q"/>
              <a:defRPr/>
            </a:pPr>
            <a:endParaRPr lang="fr-FR" baseline="30000" dirty="0"/>
          </a:p>
          <a:p>
            <a:pPr marL="268288" indent="-268288" algn="just" eaLnBrk="1" hangingPunct="1">
              <a:buFont typeface="Wingdings" pitchFamily="2" charset="2"/>
              <a:buChar char="q"/>
              <a:defRPr/>
            </a:pPr>
            <a:endParaRPr lang="fr-FR" dirty="0"/>
          </a:p>
          <a:p>
            <a:pPr marL="268288" indent="-268288" algn="just" eaLnBrk="1" hangingPunct="1">
              <a:buFont typeface="Wingdings" pitchFamily="2" charset="2"/>
              <a:buChar char="q"/>
              <a:defRPr/>
            </a:pPr>
            <a:r>
              <a:rPr lang="fr-FR" dirty="0"/>
              <a:t>D’autre part, il faut aussi garder un couple de démarrage suffisant, afin qu’il soit supérieur au couple résistant, et parce qu’une diminution du couple augmente le temps de démarrage.</a:t>
            </a:r>
          </a:p>
          <a:p>
            <a:pPr algn="just" eaLnBrk="1" hangingPunct="1">
              <a:defRPr/>
            </a:pPr>
            <a:endParaRPr lang="fr-FR" dirty="0"/>
          </a:p>
          <a:p>
            <a:pPr algn="just" eaLnBrk="1" hangingPunct="1">
              <a:buFont typeface="Wingdings" pitchFamily="2" charset="2"/>
              <a:buChar char="q"/>
              <a:defRPr/>
            </a:pPr>
            <a:endParaRPr lang="fr-FR" dirty="0"/>
          </a:p>
        </p:txBody>
      </p:sp>
      <p:sp>
        <p:nvSpPr>
          <p:cNvPr id="59395"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59396" name="Espace réservé du numéro de diapositive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AD958948-8034-4F16-B74A-55280335CFDF}" type="slidenum">
              <a:rPr lang="en-US" altLang="fr-FR" sz="1000">
                <a:solidFill>
                  <a:srgbClr val="292929"/>
                </a:solidFill>
                <a:latin typeface="Arial" panose="020B0604020202020204" pitchFamily="34" charset="0"/>
              </a:rPr>
              <a:pPr>
                <a:spcBef>
                  <a:spcPct val="0"/>
                </a:spcBef>
                <a:buClrTx/>
                <a:buSzTx/>
                <a:buFontTx/>
                <a:buNone/>
              </a:pPr>
              <a:t>25</a:t>
            </a:fld>
            <a:endParaRPr lang="en-US" altLang="fr-FR" sz="1000">
              <a:solidFill>
                <a:srgbClr val="292929"/>
              </a:solidFill>
              <a:latin typeface="Arial" panose="020B0604020202020204" pitchFamily="34" charset="0"/>
            </a:endParaRPr>
          </a:p>
        </p:txBody>
      </p:sp>
      <p:sp>
        <p:nvSpPr>
          <p:cNvPr id="8" name="Espace réservé du pied de page 7"/>
          <p:cNvSpPr>
            <a:spLocks noGrp="1"/>
          </p:cNvSpPr>
          <p:nvPr>
            <p:ph type="ftr" sz="quarter" idx="11"/>
          </p:nvPr>
        </p:nvSpPr>
        <p:spPr/>
        <p:txBody>
          <a:bodyPr/>
          <a:lstStyle/>
          <a:p>
            <a:pPr>
              <a:defRPr/>
            </a:pPr>
            <a:r>
              <a:rPr lang="en-US"/>
              <a:t>Commande des machines Mach asyn   Ali NEJMI</a:t>
            </a:r>
          </a:p>
        </p:txBody>
      </p:sp>
      <p:sp>
        <p:nvSpPr>
          <p:cNvPr id="59398" name="Rectangle 4"/>
          <p:cNvSpPr>
            <a:spLocks noChangeArrowheads="1"/>
          </p:cNvSpPr>
          <p:nvPr/>
        </p:nvSpPr>
        <p:spPr bwMode="auto">
          <a:xfrm>
            <a:off x="1692275" y="254000"/>
            <a:ext cx="53990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400" b="1">
                <a:latin typeface="Arial Narrow" panose="020B0606020202030204" pitchFamily="34" charset="0"/>
              </a:rPr>
              <a:t>Démarrage des moteurs asynchrones</a:t>
            </a:r>
            <a:endParaRPr lang="fr-FR" altLang="fr-FR" sz="2400">
              <a:latin typeface="Arial Narrow" panose="020B0606020202030204" pitchFamily="34" charset="0"/>
            </a:endParaRPr>
          </a:p>
        </p:txBody>
      </p:sp>
    </p:spTree>
    <p:extLst>
      <p:ext uri="{BB962C8B-B14F-4D97-AF65-F5344CB8AC3E}">
        <p14:creationId xmlns:p14="http://schemas.microsoft.com/office/powerpoint/2010/main" val="34919484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ChangeArrowheads="1"/>
          </p:cNvSpPr>
          <p:nvPr/>
        </p:nvSpPr>
        <p:spPr bwMode="auto">
          <a:xfrm>
            <a:off x="665163" y="909638"/>
            <a:ext cx="77771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Narrow" panose="020B0606020202030204" pitchFamily="34" charset="0"/>
              </a:rPr>
              <a:t>Pour un </a:t>
            </a:r>
            <a:r>
              <a:rPr lang="fr-FR" altLang="fr-FR" sz="1800" i="1">
                <a:latin typeface="Arial Narrow" panose="020B0606020202030204" pitchFamily="34" charset="0"/>
              </a:rPr>
              <a:t>démarrage à vide (T</a:t>
            </a:r>
            <a:r>
              <a:rPr lang="fr-FR" altLang="fr-FR" sz="1800" i="1" baseline="-25000">
                <a:latin typeface="Arial Narrow" panose="020B0606020202030204" pitchFamily="34" charset="0"/>
              </a:rPr>
              <a:t>res</a:t>
            </a:r>
            <a:r>
              <a:rPr lang="fr-FR" altLang="fr-FR" sz="1800" i="1">
                <a:latin typeface="Arial Narrow" panose="020B0606020202030204" pitchFamily="34" charset="0"/>
              </a:rPr>
              <a:t> = 0), en négligeant le couple T</a:t>
            </a:r>
            <a:r>
              <a:rPr lang="fr-FR" altLang="fr-FR" sz="1800" i="1" baseline="-25000">
                <a:latin typeface="Arial Narrow" panose="020B0606020202030204" pitchFamily="34" charset="0"/>
              </a:rPr>
              <a:t>f+v  </a:t>
            </a:r>
            <a:r>
              <a:rPr lang="fr-FR" altLang="fr-FR" sz="1800" i="1">
                <a:latin typeface="Arial Narrow" panose="020B0606020202030204" pitchFamily="34" charset="0"/>
              </a:rPr>
              <a:t> (pertes de frottement et ventilation).</a:t>
            </a:r>
            <a:endParaRPr lang="fr-FR" altLang="fr-FR" sz="1800" i="1" baseline="-25000">
              <a:latin typeface="Arial Narrow" panose="020B0606020202030204" pitchFamily="34" charset="0"/>
            </a:endParaRPr>
          </a:p>
        </p:txBody>
      </p:sp>
      <p:sp>
        <p:nvSpPr>
          <p:cNvPr id="61443" name="Rectangle 4"/>
          <p:cNvSpPr>
            <a:spLocks noChangeArrowheads="1"/>
          </p:cNvSpPr>
          <p:nvPr/>
        </p:nvSpPr>
        <p:spPr bwMode="auto">
          <a:xfrm>
            <a:off x="2519363" y="254000"/>
            <a:ext cx="457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Narrow" panose="020B0606020202030204" pitchFamily="34" charset="0"/>
              </a:rPr>
              <a:t>Démarrage des moteurs asynchrones</a:t>
            </a:r>
            <a:endParaRPr lang="fr-FR" altLang="fr-FR" sz="2000">
              <a:latin typeface="Arial Narrow" panose="020B0606020202030204" pitchFamily="34" charset="0"/>
            </a:endParaRPr>
          </a:p>
        </p:txBody>
      </p:sp>
      <p:sp>
        <p:nvSpPr>
          <p:cNvPr id="61444"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pic>
        <p:nvPicPr>
          <p:cNvPr id="61445" name="Picture 2"/>
          <p:cNvPicPr>
            <a:picLocks noChangeAspect="1" noChangeArrowheads="1"/>
          </p:cNvPicPr>
          <p:nvPr/>
        </p:nvPicPr>
        <p:blipFill>
          <a:blip r:embed="rId3">
            <a:clrChange>
              <a:clrFrom>
                <a:srgbClr val="FFFFFF"/>
              </a:clrFrom>
              <a:clrTo>
                <a:srgbClr val="FFFFFF">
                  <a:alpha val="0"/>
                </a:srgbClr>
              </a:clrTo>
            </a:clrChange>
            <a:lum bright="-20000"/>
            <a:extLst>
              <a:ext uri="{28A0092B-C50C-407E-A947-70E740481C1C}">
                <a14:useLocalDpi xmlns:a14="http://schemas.microsoft.com/office/drawing/2010/main" val="0"/>
              </a:ext>
            </a:extLst>
          </a:blip>
          <a:srcRect/>
          <a:stretch>
            <a:fillRect/>
          </a:stretch>
        </p:blipFill>
        <p:spPr bwMode="auto">
          <a:xfrm>
            <a:off x="3294063" y="1530350"/>
            <a:ext cx="2817812"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6" name="Rectangle 7"/>
          <p:cNvSpPr>
            <a:spLocks noChangeArrowheads="1"/>
          </p:cNvSpPr>
          <p:nvPr/>
        </p:nvSpPr>
        <p:spPr bwMode="auto">
          <a:xfrm>
            <a:off x="774700" y="2370138"/>
            <a:ext cx="7667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Narrow" panose="020B0606020202030204" pitchFamily="34" charset="0"/>
              </a:rPr>
              <a:t>L’énergie dissipée dans l’enroulement rotorique, au cours du démarrage, est :</a:t>
            </a:r>
          </a:p>
        </p:txBody>
      </p:sp>
      <p:sp>
        <p:nvSpPr>
          <p:cNvPr id="61447" name="Rectangle 9"/>
          <p:cNvSpPr>
            <a:spLocks noChangeArrowheads="1"/>
          </p:cNvSpPr>
          <p:nvPr/>
        </p:nvSpPr>
        <p:spPr bwMode="auto">
          <a:xfrm>
            <a:off x="920750" y="3757613"/>
            <a:ext cx="763111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Wingdings" panose="05000000000000000000" pitchFamily="2" charset="2"/>
              <a:buChar char="§"/>
            </a:pPr>
            <a:r>
              <a:rPr lang="fr-FR" altLang="fr-FR" sz="1800">
                <a:latin typeface="Arial Narrow" panose="020B0606020202030204" pitchFamily="34" charset="0"/>
              </a:rPr>
              <a:t> Dans un démarrage à vide, l’</a:t>
            </a:r>
            <a:r>
              <a:rPr lang="fr-FR" altLang="fr-FR" sz="1800" i="1">
                <a:latin typeface="Arial Narrow" panose="020B0606020202030204" pitchFamily="34" charset="0"/>
              </a:rPr>
              <a:t>énergie thermique dissipée dans le rotor est égale à l’énergie cinétique de toutes les masses tournantes, ceci indépendamment du temps de démarrage, donc de la tension appliquée.</a:t>
            </a:r>
            <a:endParaRPr lang="fr-FR" altLang="fr-FR" sz="1800">
              <a:latin typeface="Arial Narrow" panose="020B0606020202030204" pitchFamily="34" charset="0"/>
            </a:endParaRPr>
          </a:p>
        </p:txBody>
      </p:sp>
      <p:sp>
        <p:nvSpPr>
          <p:cNvPr id="61448" name="Rectangle 10"/>
          <p:cNvSpPr>
            <a:spLocks noChangeArrowheads="1"/>
          </p:cNvSpPr>
          <p:nvPr/>
        </p:nvSpPr>
        <p:spPr bwMode="auto">
          <a:xfrm>
            <a:off x="920750" y="4864100"/>
            <a:ext cx="76676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 typeface="Wingdings" panose="05000000000000000000" pitchFamily="2" charset="2"/>
              <a:buChar char="§"/>
            </a:pPr>
            <a:r>
              <a:rPr lang="fr-FR" altLang="fr-FR" sz="1800">
                <a:latin typeface="Arial Narrow" panose="020B0606020202030204" pitchFamily="34" charset="0"/>
              </a:rPr>
              <a:t> En présence d’un couple résistant, W</a:t>
            </a:r>
            <a:r>
              <a:rPr lang="fr-FR" altLang="fr-FR" sz="1800" i="1" baseline="-25000">
                <a:latin typeface="Arial Narrow" panose="020B0606020202030204" pitchFamily="34" charset="0"/>
              </a:rPr>
              <a:t>thr</a:t>
            </a:r>
            <a:r>
              <a:rPr lang="fr-FR" altLang="fr-FR" sz="1800">
                <a:latin typeface="Arial Narrow" panose="020B0606020202030204" pitchFamily="34" charset="0"/>
              </a:rPr>
              <a:t> est supérieur à W</a:t>
            </a:r>
            <a:r>
              <a:rPr lang="fr-FR" altLang="fr-FR" sz="1800" i="1" baseline="-25000">
                <a:latin typeface="Arial Narrow" panose="020B0606020202030204" pitchFamily="34" charset="0"/>
              </a:rPr>
              <a:t>cin</a:t>
            </a:r>
            <a:r>
              <a:rPr lang="fr-FR" altLang="fr-FR" sz="1800">
                <a:latin typeface="Arial Narrow" panose="020B0606020202030204" pitchFamily="34" charset="0"/>
              </a:rPr>
              <a:t>, et ceci d’autant plus que le couple résistant T</a:t>
            </a:r>
            <a:r>
              <a:rPr lang="fr-FR" altLang="fr-FR" sz="1800" i="1" baseline="-25000">
                <a:latin typeface="Arial Narrow" panose="020B0606020202030204" pitchFamily="34" charset="0"/>
              </a:rPr>
              <a:t>res</a:t>
            </a:r>
            <a:r>
              <a:rPr lang="fr-FR" altLang="fr-FR" sz="1800">
                <a:latin typeface="Arial Narrow" panose="020B0606020202030204" pitchFamily="34" charset="0"/>
              </a:rPr>
              <a:t> et que le temps de démarrage sont importants.</a:t>
            </a:r>
          </a:p>
        </p:txBody>
      </p:sp>
      <p:sp>
        <p:nvSpPr>
          <p:cNvPr id="61449" name="Espace réservé du numéro de diapositive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692321FA-71EF-4344-9923-4AF77910C2D2}" type="slidenum">
              <a:rPr lang="en-US" altLang="fr-FR" sz="1000">
                <a:solidFill>
                  <a:srgbClr val="292929"/>
                </a:solidFill>
                <a:latin typeface="Arial" panose="020B0604020202020204" pitchFamily="34" charset="0"/>
              </a:rPr>
              <a:pPr>
                <a:spcBef>
                  <a:spcPct val="0"/>
                </a:spcBef>
                <a:buClrTx/>
                <a:buSzTx/>
                <a:buFontTx/>
                <a:buNone/>
              </a:pPr>
              <a:t>26</a:t>
            </a:fld>
            <a:endParaRPr lang="en-US" altLang="fr-FR" sz="1000">
              <a:solidFill>
                <a:srgbClr val="292929"/>
              </a:solidFill>
              <a:latin typeface="Arial" panose="020B0604020202020204" pitchFamily="34" charset="0"/>
            </a:endParaRPr>
          </a:p>
        </p:txBody>
      </p:sp>
      <p:sp>
        <p:nvSpPr>
          <p:cNvPr id="13" name="Espace réservé du pied de page 12"/>
          <p:cNvSpPr>
            <a:spLocks noGrp="1"/>
          </p:cNvSpPr>
          <p:nvPr>
            <p:ph type="ftr" sz="quarter" idx="11"/>
          </p:nvPr>
        </p:nvSpPr>
        <p:spPr/>
        <p:txBody>
          <a:bodyPr/>
          <a:lstStyle/>
          <a:p>
            <a:pPr>
              <a:defRPr/>
            </a:pPr>
            <a:r>
              <a:rPr lang="en-US"/>
              <a:t>Commande des machines Mach asyn   Ali NEJMI</a:t>
            </a:r>
          </a:p>
        </p:txBody>
      </p:sp>
      <p:sp>
        <p:nvSpPr>
          <p:cNvPr id="61451" name="ZoneTexte 14"/>
          <p:cNvSpPr txBox="1">
            <a:spLocks noChangeArrowheads="1"/>
          </p:cNvSpPr>
          <p:nvPr/>
        </p:nvSpPr>
        <p:spPr bwMode="auto">
          <a:xfrm>
            <a:off x="5484813" y="1895475"/>
            <a:ext cx="292100" cy="461963"/>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61452" name="ZoneTexte 13"/>
          <p:cNvSpPr txBox="1">
            <a:spLocks noChangeArrowheads="1"/>
          </p:cNvSpPr>
          <p:nvPr/>
        </p:nvSpPr>
        <p:spPr bwMode="auto">
          <a:xfrm>
            <a:off x="5557838" y="1806575"/>
            <a:ext cx="4746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latin typeface="Arial Narrow" panose="020B0606020202030204" pitchFamily="34" charset="0"/>
              </a:rPr>
              <a:t>g</a:t>
            </a:r>
          </a:p>
        </p:txBody>
      </p:sp>
      <p:grpSp>
        <p:nvGrpSpPr>
          <p:cNvPr id="61453" name="Groupe 18"/>
          <p:cNvGrpSpPr>
            <a:grpSpLocks/>
          </p:cNvGrpSpPr>
          <p:nvPr/>
        </p:nvGrpSpPr>
        <p:grpSpPr bwMode="auto">
          <a:xfrm>
            <a:off x="2563813" y="2917825"/>
            <a:ext cx="4879975" cy="592138"/>
            <a:chOff x="2563813" y="2917818"/>
            <a:chExt cx="4879975" cy="592349"/>
          </a:xfrm>
        </p:grpSpPr>
        <p:pic>
          <p:nvPicPr>
            <p:cNvPr id="61458" name="Picture 3"/>
            <p:cNvPicPr>
              <a:picLocks noChangeAspect="1" noChangeArrowheads="1"/>
            </p:cNvPicPr>
            <p:nvPr/>
          </p:nvPicPr>
          <p:blipFill>
            <a:blip r:embed="rId5">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2563813" y="2917825"/>
              <a:ext cx="48799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59" name="ZoneTexte 15"/>
            <p:cNvSpPr txBox="1">
              <a:spLocks noChangeArrowheads="1"/>
            </p:cNvSpPr>
            <p:nvPr/>
          </p:nvSpPr>
          <p:spPr bwMode="auto">
            <a:xfrm>
              <a:off x="5411799" y="2917818"/>
              <a:ext cx="216000" cy="461665"/>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61460" name="ZoneTexte 16"/>
            <p:cNvSpPr txBox="1">
              <a:spLocks noChangeArrowheads="1"/>
            </p:cNvSpPr>
            <p:nvPr/>
          </p:nvSpPr>
          <p:spPr bwMode="auto">
            <a:xfrm>
              <a:off x="5375286" y="3063870"/>
              <a:ext cx="47466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latin typeface="Arial Narrow" panose="020B0606020202030204" pitchFamily="34" charset="0"/>
                </a:rPr>
                <a:t>g</a:t>
              </a:r>
            </a:p>
          </p:txBody>
        </p:sp>
        <p:sp>
          <p:nvSpPr>
            <p:cNvPr id="61461" name="ZoneTexte 17"/>
            <p:cNvSpPr txBox="1">
              <a:spLocks noChangeArrowheads="1"/>
            </p:cNvSpPr>
            <p:nvPr/>
          </p:nvSpPr>
          <p:spPr bwMode="auto">
            <a:xfrm>
              <a:off x="5025350" y="3202390"/>
              <a:ext cx="47466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latin typeface="Arial Narrow" panose="020B0606020202030204" pitchFamily="34" charset="0"/>
                </a:rPr>
                <a:t>g</a:t>
              </a:r>
            </a:p>
          </p:txBody>
        </p:sp>
      </p:grpSp>
      <p:sp>
        <p:nvSpPr>
          <p:cNvPr id="61454" name="ZoneTexte 20"/>
          <p:cNvSpPr txBox="1">
            <a:spLocks noChangeArrowheads="1"/>
          </p:cNvSpPr>
          <p:nvPr/>
        </p:nvSpPr>
        <p:spPr bwMode="auto">
          <a:xfrm>
            <a:off x="5338763" y="1311275"/>
            <a:ext cx="107950" cy="461963"/>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61455" name="ZoneTexte 21"/>
          <p:cNvSpPr txBox="1">
            <a:spLocks noChangeArrowheads="1"/>
          </p:cNvSpPr>
          <p:nvPr/>
        </p:nvSpPr>
        <p:spPr bwMode="auto">
          <a:xfrm>
            <a:off x="5265738" y="1514475"/>
            <a:ext cx="4746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latin typeface="Arial Narrow" panose="020B0606020202030204" pitchFamily="34" charset="0"/>
              </a:rPr>
              <a:t>g</a:t>
            </a:r>
          </a:p>
        </p:txBody>
      </p:sp>
      <p:sp>
        <p:nvSpPr>
          <p:cNvPr id="61456" name="ZoneTexte 23"/>
          <p:cNvSpPr txBox="1">
            <a:spLocks noChangeArrowheads="1"/>
          </p:cNvSpPr>
          <p:nvPr/>
        </p:nvSpPr>
        <p:spPr bwMode="auto">
          <a:xfrm>
            <a:off x="5776913" y="2990850"/>
            <a:ext cx="107950" cy="461963"/>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61457" name="ZoneTexte 24"/>
          <p:cNvSpPr txBox="1">
            <a:spLocks noChangeArrowheads="1"/>
          </p:cNvSpPr>
          <p:nvPr/>
        </p:nvSpPr>
        <p:spPr bwMode="auto">
          <a:xfrm>
            <a:off x="5703888" y="3063875"/>
            <a:ext cx="4746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latin typeface="Arial Narrow" panose="020B0606020202030204" pitchFamily="34" charset="0"/>
              </a:rPr>
              <a:t>g</a:t>
            </a:r>
          </a:p>
        </p:txBody>
      </p:sp>
    </p:spTree>
    <p:extLst>
      <p:ext uri="{BB962C8B-B14F-4D97-AF65-F5344CB8AC3E}">
        <p14:creationId xmlns:p14="http://schemas.microsoft.com/office/powerpoint/2010/main" val="215560858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p:cNvSpPr>
            <a:spLocks noChangeArrowheads="1"/>
          </p:cNvSpPr>
          <p:nvPr/>
        </p:nvSpPr>
        <p:spPr bwMode="auto">
          <a:xfrm>
            <a:off x="884238" y="1098550"/>
            <a:ext cx="770413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Wingdings" panose="05000000000000000000" pitchFamily="2" charset="2"/>
              <a:buChar char="q"/>
            </a:pPr>
            <a:r>
              <a:rPr lang="fr-FR" altLang="fr-FR" sz="2000">
                <a:latin typeface="Arial Narrow" panose="020B0606020202030204" pitchFamily="34" charset="0"/>
              </a:rPr>
              <a:t>Les échauffements consécutifs aux dissipations doivent être contrôlés, surtout dans le cadre d’un démarrage lourd (forte inertie et couple résistant important). Le rotor est généralement le plus sollicité thermiquement.</a:t>
            </a:r>
          </a:p>
        </p:txBody>
      </p:sp>
      <p:sp>
        <p:nvSpPr>
          <p:cNvPr id="63491" name="Rectangle 4"/>
          <p:cNvSpPr>
            <a:spLocks noChangeArrowheads="1"/>
          </p:cNvSpPr>
          <p:nvPr/>
        </p:nvSpPr>
        <p:spPr bwMode="auto">
          <a:xfrm>
            <a:off x="920750" y="2570163"/>
            <a:ext cx="7667625"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Wingdings" panose="05000000000000000000" pitchFamily="2" charset="2"/>
              <a:buChar char="q"/>
            </a:pPr>
            <a:r>
              <a:rPr lang="fr-FR" altLang="fr-FR" sz="2000">
                <a:latin typeface="Arial Narrow" panose="020B0606020202030204" pitchFamily="34" charset="0"/>
              </a:rPr>
              <a:t>L’énergie W</a:t>
            </a:r>
            <a:r>
              <a:rPr lang="fr-FR" altLang="fr-FR" sz="2000" baseline="-25000">
                <a:latin typeface="Arial Narrow" panose="020B0606020202030204" pitchFamily="34" charset="0"/>
              </a:rPr>
              <a:t>thr</a:t>
            </a:r>
            <a:r>
              <a:rPr lang="fr-FR" altLang="fr-FR" sz="2000">
                <a:latin typeface="Arial Narrow" panose="020B0606020202030204" pitchFamily="34" charset="0"/>
              </a:rPr>
              <a:t> est dans un moteur à cage entièrement dissipée dans la cage rotorique, et dans un moteur à bagues en majeure partie dans le rhéostat de démarrage. Pour des inerties ou des couples externes trop importants, l’échauffement du rotor peut devenir prohibitif.</a:t>
            </a:r>
          </a:p>
          <a:p>
            <a:pPr algn="just" eaLnBrk="1" hangingPunct="1">
              <a:spcBef>
                <a:spcPct val="0"/>
              </a:spcBef>
              <a:buClrTx/>
              <a:buSzTx/>
              <a:buFont typeface="Wingdings" panose="05000000000000000000" pitchFamily="2" charset="2"/>
              <a:buChar char="q"/>
            </a:pPr>
            <a:endParaRPr lang="fr-FR" altLang="fr-FR" sz="2000">
              <a:latin typeface="Arial Narrow" panose="020B0606020202030204" pitchFamily="34" charset="0"/>
            </a:endParaRPr>
          </a:p>
          <a:p>
            <a:pPr algn="just" eaLnBrk="1" hangingPunct="1">
              <a:spcBef>
                <a:spcPct val="0"/>
              </a:spcBef>
              <a:buClrTx/>
              <a:buSzTx/>
              <a:buFont typeface="Wingdings" panose="05000000000000000000" pitchFamily="2" charset="2"/>
              <a:buChar char="q"/>
            </a:pPr>
            <a:endParaRPr lang="fr-FR" altLang="fr-FR" sz="2000">
              <a:latin typeface="Arial Narrow" panose="020B0606020202030204" pitchFamily="34" charset="0"/>
            </a:endParaRPr>
          </a:p>
          <a:p>
            <a:pPr algn="just" eaLnBrk="1" hangingPunct="1">
              <a:spcBef>
                <a:spcPct val="0"/>
              </a:spcBef>
              <a:buClrTx/>
              <a:buSzTx/>
              <a:buFont typeface="Wingdings" panose="05000000000000000000" pitchFamily="2" charset="2"/>
              <a:buChar char="q"/>
            </a:pPr>
            <a:r>
              <a:rPr lang="fr-FR" altLang="fr-FR" sz="2000">
                <a:latin typeface="Arial Narrow" panose="020B0606020202030204" pitchFamily="34" charset="0"/>
              </a:rPr>
              <a:t>Dans le cas des rotors à cage, la limite thermique acceptable est environ vers 200°C.</a:t>
            </a:r>
          </a:p>
        </p:txBody>
      </p:sp>
      <p:sp>
        <p:nvSpPr>
          <p:cNvPr id="63492" name="Rectangle 5"/>
          <p:cNvSpPr>
            <a:spLocks noChangeArrowheads="1"/>
          </p:cNvSpPr>
          <p:nvPr/>
        </p:nvSpPr>
        <p:spPr bwMode="auto">
          <a:xfrm>
            <a:off x="2019300" y="442913"/>
            <a:ext cx="457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Narrow" panose="020B0606020202030204" pitchFamily="34" charset="0"/>
              </a:rPr>
              <a:t>Démarrage des moteurs asynchrones</a:t>
            </a:r>
            <a:endParaRPr lang="fr-FR" altLang="fr-FR" sz="2000">
              <a:latin typeface="Arial Narrow" panose="020B0606020202030204" pitchFamily="34" charset="0"/>
            </a:endParaRPr>
          </a:p>
        </p:txBody>
      </p:sp>
      <p:sp>
        <p:nvSpPr>
          <p:cNvPr id="63493"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63494" name="Espace réservé du numéro de diapositive 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AA8678F7-4F80-4EC7-BB43-D71574758B74}" type="slidenum">
              <a:rPr lang="en-US" altLang="fr-FR" sz="1000">
                <a:solidFill>
                  <a:srgbClr val="292929"/>
                </a:solidFill>
                <a:latin typeface="Arial" panose="020B0604020202020204" pitchFamily="34" charset="0"/>
              </a:rPr>
              <a:pPr>
                <a:spcBef>
                  <a:spcPct val="0"/>
                </a:spcBef>
                <a:buClrTx/>
                <a:buSzTx/>
                <a:buFontTx/>
                <a:buNone/>
              </a:pPr>
              <a:t>27</a:t>
            </a:fld>
            <a:endParaRPr lang="en-US" altLang="fr-FR" sz="1000">
              <a:solidFill>
                <a:srgbClr val="292929"/>
              </a:solidFill>
              <a:latin typeface="Arial" panose="020B0604020202020204" pitchFamily="34" charset="0"/>
            </a:endParaRPr>
          </a:p>
        </p:txBody>
      </p:sp>
      <p:sp>
        <p:nvSpPr>
          <p:cNvPr id="9" name="Espace réservé du pied de page 8"/>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11410685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555625" y="1030288"/>
            <a:ext cx="81788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Wingdings" panose="05000000000000000000" pitchFamily="2" charset="2"/>
              <a:buChar char="q"/>
            </a:pPr>
            <a:r>
              <a:rPr lang="fr-FR" altLang="fr-FR" sz="2000">
                <a:latin typeface="Arial Narrow" panose="020B0606020202030204" pitchFamily="34" charset="0"/>
              </a:rPr>
              <a:t> Dans le cas d’un rotor à bagues, l’insertion d’une résistance additionnelle extérieure par l’intermédiaire des bagues et des balais </a:t>
            </a:r>
            <a:r>
              <a:rPr lang="fr-FR" altLang="fr-FR" sz="2000">
                <a:solidFill>
                  <a:srgbClr val="FF0000"/>
                </a:solidFill>
                <a:latin typeface="Arial Narrow" panose="020B0606020202030204" pitchFamily="34" charset="0"/>
              </a:rPr>
              <a:t>permet de déplacer le glissement</a:t>
            </a:r>
            <a:r>
              <a:rPr lang="fr-FR" altLang="fr-FR" sz="2000">
                <a:latin typeface="Arial Narrow" panose="020B0606020202030204" pitchFamily="34" charset="0"/>
              </a:rPr>
              <a:t> g</a:t>
            </a:r>
            <a:r>
              <a:rPr lang="fr-FR" altLang="fr-FR" sz="2000" baseline="-25000">
                <a:latin typeface="Arial Narrow" panose="020B0606020202030204" pitchFamily="34" charset="0"/>
              </a:rPr>
              <a:t>m</a:t>
            </a:r>
            <a:r>
              <a:rPr lang="fr-FR" altLang="fr-FR" sz="2000">
                <a:latin typeface="Arial Narrow" panose="020B0606020202030204" pitchFamily="34" charset="0"/>
              </a:rPr>
              <a:t> et d’obtenir des conditions optimales de démarrage. En augmentant la résistance du rotor, le </a:t>
            </a:r>
            <a:r>
              <a:rPr lang="fr-FR" altLang="fr-FR" sz="2000">
                <a:solidFill>
                  <a:srgbClr val="FF0000"/>
                </a:solidFill>
                <a:latin typeface="Arial Narrow" panose="020B0606020202030204" pitchFamily="34" charset="0"/>
              </a:rPr>
              <a:t>courant d’appel au démarrage est réduit</a:t>
            </a:r>
            <a:r>
              <a:rPr lang="fr-FR" altLang="fr-FR" sz="2000">
                <a:latin typeface="Arial Narrow" panose="020B0606020202030204" pitchFamily="34" charset="0"/>
              </a:rPr>
              <a:t> et le </a:t>
            </a:r>
            <a:r>
              <a:rPr lang="fr-FR" altLang="fr-FR" sz="2000">
                <a:solidFill>
                  <a:srgbClr val="FF0000"/>
                </a:solidFill>
                <a:latin typeface="Arial Narrow" panose="020B0606020202030204" pitchFamily="34" charset="0"/>
              </a:rPr>
              <a:t>couple de démarrage augmenté</a:t>
            </a:r>
            <a:r>
              <a:rPr lang="fr-FR" altLang="fr-FR" sz="2000">
                <a:latin typeface="Arial Narrow" panose="020B0606020202030204" pitchFamily="34" charset="0"/>
              </a:rPr>
              <a:t>. Ceci permet aussi un réglage de vitesse.</a:t>
            </a:r>
          </a:p>
        </p:txBody>
      </p:sp>
      <p:pic>
        <p:nvPicPr>
          <p:cNvPr id="65539" name="Picture 2"/>
          <p:cNvPicPr>
            <a:picLocks noChangeAspect="1" noChangeArrowheads="1"/>
          </p:cNvPicPr>
          <p:nvPr/>
        </p:nvPicPr>
        <p:blipFill>
          <a:blip r:embed="rId3">
            <a:clrChange>
              <a:clrFrom>
                <a:srgbClr val="FFFFFF"/>
              </a:clrFrom>
              <a:clrTo>
                <a:srgbClr val="FFFFFF">
                  <a:alpha val="0"/>
                </a:srgbClr>
              </a:clrTo>
            </a:clrChange>
            <a:lum bright="-10000"/>
            <a:extLst>
              <a:ext uri="{28A0092B-C50C-407E-A947-70E740481C1C}">
                <a14:useLocalDpi xmlns:a14="http://schemas.microsoft.com/office/drawing/2010/main" val="0"/>
              </a:ext>
            </a:extLst>
          </a:blip>
          <a:srcRect/>
          <a:stretch>
            <a:fillRect/>
          </a:stretch>
        </p:blipFill>
        <p:spPr bwMode="auto">
          <a:xfrm>
            <a:off x="150813" y="3035300"/>
            <a:ext cx="5459412"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0" name="Picture 3"/>
          <p:cNvPicPr>
            <a:picLocks noChangeAspect="1" noChangeArrowheads="1"/>
          </p:cNvPicPr>
          <p:nvPr/>
        </p:nvPicPr>
        <p:blipFill>
          <a:blip r:embed="rId4">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5795963" y="2906713"/>
            <a:ext cx="2465387"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1" name="Rectangle 6"/>
          <p:cNvSpPr>
            <a:spLocks noChangeArrowheads="1"/>
          </p:cNvSpPr>
          <p:nvPr/>
        </p:nvSpPr>
        <p:spPr bwMode="auto">
          <a:xfrm>
            <a:off x="592138" y="361950"/>
            <a:ext cx="457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Narrow" panose="020B0606020202030204" pitchFamily="34" charset="0"/>
              </a:rPr>
              <a:t>Démarrage d’un moteur asynchrone à bagues:</a:t>
            </a:r>
            <a:endParaRPr lang="fr-FR" altLang="fr-FR" sz="1800">
              <a:latin typeface="Arial Narrow" panose="020B0606020202030204" pitchFamily="34" charset="0"/>
            </a:endParaRPr>
          </a:p>
        </p:txBody>
      </p:sp>
      <p:sp>
        <p:nvSpPr>
          <p:cNvPr id="65542"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65543" name="Espace réservé du numéro de diapositive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6E65D6CF-F563-4A0A-97BE-FFC422ABF394}" type="slidenum">
              <a:rPr lang="en-US" altLang="fr-FR" sz="1000">
                <a:solidFill>
                  <a:srgbClr val="292929"/>
                </a:solidFill>
                <a:latin typeface="Arial" panose="020B0604020202020204" pitchFamily="34" charset="0"/>
              </a:rPr>
              <a:pPr>
                <a:spcBef>
                  <a:spcPct val="0"/>
                </a:spcBef>
                <a:buClrTx/>
                <a:buSzTx/>
                <a:buFontTx/>
                <a:buNone/>
              </a:pPr>
              <a:t>28</a:t>
            </a:fld>
            <a:endParaRPr lang="en-US" altLang="fr-FR" sz="1000">
              <a:solidFill>
                <a:srgbClr val="292929"/>
              </a:solidFill>
              <a:latin typeface="Arial" panose="020B0604020202020204" pitchFamily="34" charset="0"/>
            </a:endParaRPr>
          </a:p>
        </p:txBody>
      </p:sp>
      <p:sp>
        <p:nvSpPr>
          <p:cNvPr id="10" name="Espace réservé du pied de page 9"/>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114822022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p:cNvSpPr>
            <a:spLocks noChangeArrowheads="1"/>
          </p:cNvSpPr>
          <p:nvPr/>
        </p:nvSpPr>
        <p:spPr bwMode="auto">
          <a:xfrm>
            <a:off x="446088" y="471488"/>
            <a:ext cx="5038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i="1">
                <a:latin typeface="Arial Narrow" panose="020B0606020202030204" pitchFamily="34" charset="0"/>
              </a:rPr>
              <a:t>Démarrage des moteurs asynchrones à cage</a:t>
            </a:r>
            <a:endParaRPr lang="fr-FR" altLang="fr-FR" sz="1800">
              <a:latin typeface="Arial Narrow" panose="020B0606020202030204" pitchFamily="34" charset="0"/>
            </a:endParaRPr>
          </a:p>
        </p:txBody>
      </p:sp>
      <p:sp>
        <p:nvSpPr>
          <p:cNvPr id="67587" name="Rectangle 4"/>
          <p:cNvSpPr>
            <a:spLocks noChangeArrowheads="1"/>
          </p:cNvSpPr>
          <p:nvPr/>
        </p:nvSpPr>
        <p:spPr bwMode="auto">
          <a:xfrm>
            <a:off x="482600" y="1055688"/>
            <a:ext cx="8178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Wingdings" panose="05000000000000000000" pitchFamily="2" charset="2"/>
              <a:buChar char="q"/>
            </a:pPr>
            <a:r>
              <a:rPr lang="fr-FR" altLang="fr-FR" sz="1800">
                <a:latin typeface="Arial Narrow" panose="020B0606020202030204" pitchFamily="34" charset="0"/>
              </a:rPr>
              <a:t> En raison de l’impossibilité d’augmenter la résistance rotorique au moyen d’un rhéostat, le </a:t>
            </a:r>
            <a:r>
              <a:rPr lang="fr-FR" altLang="fr-FR" sz="1800" i="1">
                <a:latin typeface="Arial Narrow" panose="020B0606020202030204" pitchFamily="34" charset="0"/>
              </a:rPr>
              <a:t>courant au démarrage est important, comparé au courant nominal du moteur, en général </a:t>
            </a:r>
            <a:r>
              <a:rPr lang="fr-FR" altLang="fr-FR" sz="1800" i="1">
                <a:solidFill>
                  <a:srgbClr val="FF0000"/>
                </a:solidFill>
                <a:latin typeface="Arial Narrow" panose="020B0606020202030204" pitchFamily="34" charset="0"/>
              </a:rPr>
              <a:t>I</a:t>
            </a:r>
            <a:r>
              <a:rPr lang="fr-FR" altLang="fr-FR" sz="1800" i="1" baseline="-25000">
                <a:solidFill>
                  <a:srgbClr val="FF0000"/>
                </a:solidFill>
                <a:latin typeface="Arial Narrow" panose="020B0606020202030204" pitchFamily="34" charset="0"/>
              </a:rPr>
              <a:t>d</a:t>
            </a:r>
            <a:r>
              <a:rPr lang="fr-FR" altLang="fr-FR" sz="1800" i="1">
                <a:solidFill>
                  <a:srgbClr val="FF0000"/>
                </a:solidFill>
                <a:latin typeface="Arial Narrow" panose="020B0606020202030204" pitchFamily="34" charset="0"/>
              </a:rPr>
              <a:t> = 4 à 6 I</a:t>
            </a:r>
            <a:r>
              <a:rPr lang="fr-FR" altLang="fr-FR" sz="1800" i="1" baseline="-25000">
                <a:solidFill>
                  <a:srgbClr val="FF0000"/>
                </a:solidFill>
                <a:latin typeface="Arial Narrow" panose="020B0606020202030204" pitchFamily="34" charset="0"/>
              </a:rPr>
              <a:t>N</a:t>
            </a:r>
            <a:r>
              <a:rPr lang="fr-FR" altLang="fr-FR" sz="1800" i="1">
                <a:solidFill>
                  <a:srgbClr val="FF0000"/>
                </a:solidFill>
                <a:latin typeface="Arial Narrow" panose="020B0606020202030204" pitchFamily="34" charset="0"/>
              </a:rPr>
              <a:t> </a:t>
            </a:r>
            <a:r>
              <a:rPr lang="fr-FR" altLang="fr-FR" sz="1800" i="1">
                <a:latin typeface="Arial Narrow" panose="020B0606020202030204" pitchFamily="34" charset="0"/>
              </a:rPr>
              <a:t>. Le couple au démarrage est généralement compris entre </a:t>
            </a:r>
            <a:r>
              <a:rPr lang="fr-FR" altLang="fr-FR" sz="1800" i="1">
                <a:solidFill>
                  <a:srgbClr val="FF0000"/>
                </a:solidFill>
                <a:latin typeface="Arial Narrow" panose="020B0606020202030204" pitchFamily="34" charset="0"/>
              </a:rPr>
              <a:t>30% et 100% </a:t>
            </a:r>
            <a:r>
              <a:rPr lang="fr-FR" altLang="fr-FR" sz="1800" i="1">
                <a:latin typeface="Arial Narrow" panose="020B0606020202030204" pitchFamily="34" charset="0"/>
              </a:rPr>
              <a:t>du couple nominal.</a:t>
            </a:r>
            <a:endParaRPr lang="fr-FR" altLang="fr-FR" sz="1800">
              <a:latin typeface="Arial Narrow" panose="020B0606020202030204" pitchFamily="34" charset="0"/>
            </a:endParaRPr>
          </a:p>
        </p:txBody>
      </p:sp>
      <p:sp>
        <p:nvSpPr>
          <p:cNvPr id="67588" name="Rectangle 5"/>
          <p:cNvSpPr>
            <a:spLocks noChangeArrowheads="1"/>
          </p:cNvSpPr>
          <p:nvPr/>
        </p:nvSpPr>
        <p:spPr bwMode="auto">
          <a:xfrm>
            <a:off x="1249363" y="5556250"/>
            <a:ext cx="70104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600">
                <a:latin typeface="Arial Narrow" panose="020B0606020202030204" pitchFamily="34" charset="0"/>
              </a:rPr>
              <a:t>l’allure typique du </a:t>
            </a:r>
            <a:r>
              <a:rPr lang="fr-FR" altLang="fr-FR" sz="1600" i="1">
                <a:latin typeface="Arial Narrow" panose="020B0606020202030204" pitchFamily="34" charset="0"/>
              </a:rPr>
              <a:t>couple électromagnétique lors du régime transitoire correspondant </a:t>
            </a:r>
            <a:r>
              <a:rPr lang="fr-FR" altLang="fr-FR" sz="1600">
                <a:latin typeface="Arial Narrow" panose="020B0606020202030204" pitchFamily="34" charset="0"/>
              </a:rPr>
              <a:t>au démarrage direct d’un moteur asynchrone connecté sur le réseau (moteur : 1.5 kW, 1500 tr/min, 380 V).</a:t>
            </a:r>
          </a:p>
        </p:txBody>
      </p:sp>
      <p:pic>
        <p:nvPicPr>
          <p:cNvPr id="67589"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17863" y="2270125"/>
            <a:ext cx="3873500" cy="320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0"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67591" name="Rectangle 8"/>
          <p:cNvSpPr>
            <a:spLocks noChangeArrowheads="1"/>
          </p:cNvSpPr>
          <p:nvPr/>
        </p:nvSpPr>
        <p:spPr bwMode="auto">
          <a:xfrm>
            <a:off x="665163" y="2589213"/>
            <a:ext cx="2263775"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600" i="1">
                <a:latin typeface="Arial Narrow" panose="020B0606020202030204" pitchFamily="34" charset="0"/>
              </a:rPr>
              <a:t>Composante pulsante très importante, qui peut être </a:t>
            </a:r>
            <a:r>
              <a:rPr lang="fr-FR" altLang="fr-FR" sz="1600">
                <a:latin typeface="Arial Narrow" panose="020B0606020202030204" pitchFamily="34" charset="0"/>
              </a:rPr>
              <a:t>dommageable pour l’arbre et l’accouplement, si le moteur est soumis à des démarrages très fréquents.</a:t>
            </a:r>
          </a:p>
        </p:txBody>
      </p:sp>
      <p:cxnSp>
        <p:nvCxnSpPr>
          <p:cNvPr id="11" name="Connecteur droit avec flèche 10"/>
          <p:cNvCxnSpPr/>
          <p:nvPr/>
        </p:nvCxnSpPr>
        <p:spPr>
          <a:xfrm>
            <a:off x="2965450" y="2917825"/>
            <a:ext cx="803275" cy="292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7593" name="Espace réservé du numéro de diapositive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9BD4C9EB-0942-4A84-9EA5-EF29C067B5EA}" type="slidenum">
              <a:rPr lang="en-US" altLang="fr-FR" sz="1000">
                <a:solidFill>
                  <a:srgbClr val="292929"/>
                </a:solidFill>
                <a:latin typeface="Arial" panose="020B0604020202020204" pitchFamily="34" charset="0"/>
              </a:rPr>
              <a:pPr>
                <a:spcBef>
                  <a:spcPct val="0"/>
                </a:spcBef>
                <a:buClrTx/>
                <a:buSzTx/>
                <a:buFontTx/>
                <a:buNone/>
              </a:pPr>
              <a:t>29</a:t>
            </a:fld>
            <a:endParaRPr lang="en-US" altLang="fr-FR" sz="1000">
              <a:solidFill>
                <a:srgbClr val="292929"/>
              </a:solidFill>
              <a:latin typeface="Arial" panose="020B0604020202020204" pitchFamily="34" charset="0"/>
            </a:endParaRPr>
          </a:p>
        </p:txBody>
      </p:sp>
      <p:sp>
        <p:nvSpPr>
          <p:cNvPr id="13" name="Espace réservé du pied de page 12"/>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426796395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
          <p:cNvSpPr>
            <a:spLocks noChangeArrowheads="1"/>
          </p:cNvSpPr>
          <p:nvPr/>
        </p:nvSpPr>
        <p:spPr bwMode="auto">
          <a:xfrm>
            <a:off x="482600" y="898525"/>
            <a:ext cx="82518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Narrow" panose="020B0606020202030204" pitchFamily="34" charset="0"/>
              </a:rPr>
              <a:t>Les figures suivantes montrent l’évolution typique du courant et de la vitesse lors d’un démarrage direct.</a:t>
            </a:r>
          </a:p>
          <a:p>
            <a:pPr algn="just" eaLnBrk="1" hangingPunct="1">
              <a:spcBef>
                <a:spcPct val="0"/>
              </a:spcBef>
              <a:buClrTx/>
              <a:buSzTx/>
              <a:buFontTx/>
              <a:buNone/>
            </a:pPr>
            <a:r>
              <a:rPr lang="fr-FR" altLang="fr-FR" sz="1800">
                <a:latin typeface="Arial Narrow" panose="020B0606020202030204" pitchFamily="34" charset="0"/>
              </a:rPr>
              <a:t>On notera l’importance de l’amplitude du courant statorique I</a:t>
            </a:r>
            <a:r>
              <a:rPr lang="fr-FR" altLang="fr-FR" sz="1800" baseline="-25000">
                <a:latin typeface="Arial Narrow" panose="020B0606020202030204" pitchFamily="34" charset="0"/>
              </a:rPr>
              <a:t>s</a:t>
            </a:r>
            <a:r>
              <a:rPr lang="fr-FR" altLang="fr-FR" sz="1800">
                <a:latin typeface="Arial Narrow" panose="020B0606020202030204" pitchFamily="34" charset="0"/>
              </a:rPr>
              <a:t> par rapport la valeur nominale I</a:t>
            </a:r>
            <a:r>
              <a:rPr lang="fr-FR" altLang="fr-FR" sz="1800" baseline="-25000">
                <a:latin typeface="Arial Narrow" panose="020B0606020202030204" pitchFamily="34" charset="0"/>
              </a:rPr>
              <a:t>sN</a:t>
            </a:r>
            <a:r>
              <a:rPr lang="fr-FR" altLang="fr-FR" sz="1800">
                <a:latin typeface="Arial Narrow" panose="020B0606020202030204" pitchFamily="34" charset="0"/>
              </a:rPr>
              <a:t>.</a:t>
            </a:r>
          </a:p>
        </p:txBody>
      </p:sp>
      <p:pic>
        <p:nvPicPr>
          <p:cNvPr id="69635"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66800" y="2384425"/>
            <a:ext cx="3563938" cy="356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6" name="Picture 3"/>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64100" y="2420938"/>
            <a:ext cx="3563938" cy="356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7" name="Rectangle 37"/>
          <p:cNvSpPr>
            <a:spLocks noChangeArrowheads="1"/>
          </p:cNvSpPr>
          <p:nvPr/>
        </p:nvSpPr>
        <p:spPr bwMode="auto">
          <a:xfrm>
            <a:off x="227013" y="244475"/>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69638" name="Rectangle 3"/>
          <p:cNvSpPr>
            <a:spLocks noChangeArrowheads="1"/>
          </p:cNvSpPr>
          <p:nvPr/>
        </p:nvSpPr>
        <p:spPr bwMode="auto">
          <a:xfrm>
            <a:off x="446088" y="471488"/>
            <a:ext cx="5038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i="1">
                <a:latin typeface="Arial Narrow" panose="020B0606020202030204" pitchFamily="34" charset="0"/>
              </a:rPr>
              <a:t>Démarrage des moteurs asynchrones à cage</a:t>
            </a:r>
            <a:endParaRPr lang="fr-FR" altLang="fr-FR" sz="1800">
              <a:latin typeface="Arial Narrow" panose="020B0606020202030204" pitchFamily="34" charset="0"/>
            </a:endParaRPr>
          </a:p>
        </p:txBody>
      </p:sp>
      <p:sp>
        <p:nvSpPr>
          <p:cNvPr id="69639" name="Espace réservé du numéro de diapositive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52A127D2-1C2C-4ECB-B9FC-7C323978F2E4}" type="slidenum">
              <a:rPr lang="en-US" altLang="fr-FR" sz="1000">
                <a:solidFill>
                  <a:srgbClr val="292929"/>
                </a:solidFill>
                <a:latin typeface="Arial" panose="020B0604020202020204" pitchFamily="34" charset="0"/>
              </a:rPr>
              <a:pPr>
                <a:spcBef>
                  <a:spcPct val="0"/>
                </a:spcBef>
                <a:buClrTx/>
                <a:buSzTx/>
                <a:buFontTx/>
                <a:buNone/>
              </a:pPr>
              <a:t>30</a:t>
            </a:fld>
            <a:endParaRPr lang="en-US" altLang="fr-FR" sz="1000">
              <a:solidFill>
                <a:srgbClr val="292929"/>
              </a:solidFill>
              <a:latin typeface="Arial" panose="020B0604020202020204" pitchFamily="34" charset="0"/>
            </a:endParaRPr>
          </a:p>
        </p:txBody>
      </p:sp>
      <p:sp>
        <p:nvSpPr>
          <p:cNvPr id="10" name="Espace réservé du pied de page 9"/>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429246151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38188" y="982663"/>
            <a:ext cx="7923212" cy="4092575"/>
          </a:xfrm>
          <a:prstGeom prst="rect">
            <a:avLst/>
          </a:prstGeom>
        </p:spPr>
        <p:txBody>
          <a:bodyPr>
            <a:spAutoFit/>
          </a:bodyPr>
          <a:lstStyle/>
          <a:p>
            <a:pPr eaLnBrk="1" hangingPunct="1">
              <a:defRPr/>
            </a:pPr>
            <a:r>
              <a:rPr lang="fr-FR" sz="2000" dirty="0"/>
              <a:t>Les moyens couramment employés sont :</a:t>
            </a:r>
          </a:p>
          <a:p>
            <a:pPr eaLnBrk="1" hangingPunct="1">
              <a:defRPr/>
            </a:pPr>
            <a:endParaRPr lang="fr-FR" sz="2000" dirty="0"/>
          </a:p>
          <a:p>
            <a:pPr eaLnBrk="1" hangingPunct="1">
              <a:defRPr/>
            </a:pPr>
            <a:endParaRPr lang="fr-FR" sz="2000" dirty="0"/>
          </a:p>
          <a:p>
            <a:pPr marL="538163" indent="-538163" eaLnBrk="1" hangingPunct="1">
              <a:buFont typeface="Wingdings" pitchFamily="2" charset="2"/>
              <a:buChar char="q"/>
              <a:defRPr/>
            </a:pPr>
            <a:r>
              <a:rPr lang="fr-FR" sz="2000" dirty="0"/>
              <a:t>le démarrage étoile-triangle</a:t>
            </a:r>
          </a:p>
          <a:p>
            <a:pPr marL="538163" indent="-538163" eaLnBrk="1" hangingPunct="1">
              <a:buFont typeface="Wingdings" pitchFamily="2" charset="2"/>
              <a:buChar char="q"/>
              <a:defRPr/>
            </a:pPr>
            <a:endParaRPr lang="fr-FR" sz="2000" dirty="0"/>
          </a:p>
          <a:p>
            <a:pPr marL="538163" indent="-538163" eaLnBrk="1" hangingPunct="1">
              <a:buFont typeface="Wingdings" pitchFamily="2" charset="2"/>
              <a:buChar char="q"/>
              <a:defRPr/>
            </a:pPr>
            <a:r>
              <a:rPr lang="fr-FR" sz="2000" dirty="0"/>
              <a:t>le démarrage avec inductances additionnelles (pour moteurs de moyennes et grandes puissances)</a:t>
            </a:r>
          </a:p>
          <a:p>
            <a:pPr marL="538163" indent="-538163" eaLnBrk="1" hangingPunct="1">
              <a:buFont typeface="Wingdings" pitchFamily="2" charset="2"/>
              <a:buChar char="q"/>
              <a:defRPr/>
            </a:pPr>
            <a:endParaRPr lang="fr-FR" sz="2000" dirty="0"/>
          </a:p>
          <a:p>
            <a:pPr marL="538163" indent="-538163" eaLnBrk="1" hangingPunct="1">
              <a:buFont typeface="Wingdings" pitchFamily="2" charset="2"/>
              <a:buChar char="q"/>
              <a:defRPr/>
            </a:pPr>
            <a:r>
              <a:rPr lang="fr-FR" sz="2000" dirty="0"/>
              <a:t>le démarrage avec transformateur ou un autotransformateur (pour moyennes et grandes puissances)</a:t>
            </a:r>
          </a:p>
          <a:p>
            <a:pPr marL="538163" indent="-538163" eaLnBrk="1" hangingPunct="1">
              <a:defRPr/>
            </a:pPr>
            <a:endParaRPr lang="fr-FR" sz="2000" dirty="0"/>
          </a:p>
          <a:p>
            <a:pPr marL="538163" indent="-538163" eaLnBrk="1" hangingPunct="1">
              <a:buFont typeface="Wingdings" pitchFamily="2" charset="2"/>
              <a:buChar char="q"/>
              <a:defRPr/>
            </a:pPr>
            <a:r>
              <a:rPr lang="fr-FR" sz="2000" dirty="0"/>
              <a:t>le démarrage avec un </a:t>
            </a:r>
            <a:r>
              <a:rPr lang="fr-FR" sz="2000" i="1" dirty="0"/>
              <a:t>convertisseur statique, qui est la solution la plus moderne et la plus élégante.</a:t>
            </a:r>
            <a:endParaRPr lang="fr-FR" sz="2000" dirty="0"/>
          </a:p>
        </p:txBody>
      </p:sp>
      <p:sp>
        <p:nvSpPr>
          <p:cNvPr id="71683" name="Rectangle 4"/>
          <p:cNvSpPr>
            <a:spLocks noChangeArrowheads="1"/>
          </p:cNvSpPr>
          <p:nvPr/>
        </p:nvSpPr>
        <p:spPr bwMode="auto">
          <a:xfrm>
            <a:off x="446088" y="471488"/>
            <a:ext cx="5038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i="1">
                <a:latin typeface="Arial Narrow" panose="020B0606020202030204" pitchFamily="34" charset="0"/>
              </a:rPr>
              <a:t>Démarrage des moteurs asynchrones à cage</a:t>
            </a:r>
            <a:endParaRPr lang="fr-FR" altLang="fr-FR" sz="1800">
              <a:latin typeface="Arial Narrow" panose="020B0606020202030204" pitchFamily="34" charset="0"/>
            </a:endParaRPr>
          </a:p>
        </p:txBody>
      </p:sp>
      <p:sp>
        <p:nvSpPr>
          <p:cNvPr id="71684"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71685" name="Espace réservé du numéro de diapositive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15413EC2-88F4-4668-AB62-E4DD405342E4}" type="slidenum">
              <a:rPr lang="en-US" altLang="fr-FR" sz="1000">
                <a:solidFill>
                  <a:srgbClr val="292929"/>
                </a:solidFill>
                <a:latin typeface="Arial" panose="020B0604020202020204" pitchFamily="34" charset="0"/>
              </a:rPr>
              <a:pPr>
                <a:spcBef>
                  <a:spcPct val="0"/>
                </a:spcBef>
                <a:buClrTx/>
                <a:buSzTx/>
                <a:buFontTx/>
                <a:buNone/>
              </a:pPr>
              <a:t>31</a:t>
            </a:fld>
            <a:endParaRPr lang="en-US" altLang="fr-FR" sz="1000">
              <a:solidFill>
                <a:srgbClr val="292929"/>
              </a:solidFill>
              <a:latin typeface="Arial" panose="020B0604020202020204" pitchFamily="34" charset="0"/>
            </a:endParaRPr>
          </a:p>
        </p:txBody>
      </p:sp>
      <p:sp>
        <p:nvSpPr>
          <p:cNvPr id="8" name="Espace réservé du pied de page 7"/>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74419150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3"/>
          <p:cNvSpPr>
            <a:spLocks noChangeArrowheads="1"/>
          </p:cNvSpPr>
          <p:nvPr/>
        </p:nvSpPr>
        <p:spPr bwMode="auto">
          <a:xfrm>
            <a:off x="519113" y="544513"/>
            <a:ext cx="63896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Narrow" panose="020B0606020202030204" pitchFamily="34" charset="0"/>
              </a:rPr>
              <a:t>Démarrage avec inductances (self) additionnelles</a:t>
            </a:r>
            <a:endParaRPr lang="fr-FR" altLang="fr-FR" sz="1800">
              <a:latin typeface="Arial Narrow" panose="020B0606020202030204" pitchFamily="34" charset="0"/>
            </a:endParaRPr>
          </a:p>
        </p:txBody>
      </p:sp>
      <p:pic>
        <p:nvPicPr>
          <p:cNvPr id="73731"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05525" y="2463800"/>
            <a:ext cx="2352675"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2" name="Rectangle 5"/>
          <p:cNvSpPr>
            <a:spLocks noChangeArrowheads="1"/>
          </p:cNvSpPr>
          <p:nvPr/>
        </p:nvSpPr>
        <p:spPr bwMode="auto">
          <a:xfrm>
            <a:off x="592138" y="1176338"/>
            <a:ext cx="80327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Narrow" panose="020B0606020202030204" pitchFamily="34" charset="0"/>
              </a:rPr>
              <a:t>Au démarrage, une self est insérée en série avec chaque phase du moteur, du coté du point neutre. A la fin du démarrage, les trois selfs sont court-circuitées.</a:t>
            </a:r>
          </a:p>
        </p:txBody>
      </p:sp>
      <p:sp>
        <p:nvSpPr>
          <p:cNvPr id="73733" name="Rectangle 6"/>
          <p:cNvSpPr>
            <a:spLocks noChangeArrowheads="1"/>
          </p:cNvSpPr>
          <p:nvPr/>
        </p:nvSpPr>
        <p:spPr bwMode="auto">
          <a:xfrm>
            <a:off x="592138" y="1931988"/>
            <a:ext cx="51847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Narrow" panose="020B0606020202030204" pitchFamily="34" charset="0"/>
              </a:rPr>
              <a:t>Soient Z</a:t>
            </a:r>
            <a:r>
              <a:rPr lang="fr-FR" altLang="fr-FR" sz="1800" baseline="-25000">
                <a:latin typeface="Arial Narrow" panose="020B0606020202030204" pitchFamily="34" charset="0"/>
              </a:rPr>
              <a:t>dph</a:t>
            </a:r>
            <a:r>
              <a:rPr lang="fr-FR" altLang="fr-FR" sz="1800">
                <a:latin typeface="Arial Narrow" panose="020B0606020202030204" pitchFamily="34" charset="0"/>
              </a:rPr>
              <a:t> l’impédance d’une phase du moteur au démarrage, et Z</a:t>
            </a:r>
            <a:r>
              <a:rPr lang="fr-FR" altLang="fr-FR" sz="1800" baseline="-25000">
                <a:latin typeface="Arial Narrow" panose="020B0606020202030204" pitchFamily="34" charset="0"/>
              </a:rPr>
              <a:t>add</a:t>
            </a:r>
            <a:r>
              <a:rPr lang="fr-FR" altLang="fr-FR" sz="1800">
                <a:latin typeface="Arial Narrow" panose="020B0606020202030204" pitchFamily="34" charset="0"/>
              </a:rPr>
              <a:t> l’impédance de la self additionnelle par phase ( Z</a:t>
            </a:r>
            <a:r>
              <a:rPr lang="fr-FR" altLang="fr-FR" sz="1800" baseline="-25000">
                <a:latin typeface="Arial Narrow" panose="020B0606020202030204" pitchFamily="34" charset="0"/>
              </a:rPr>
              <a:t>dph</a:t>
            </a:r>
            <a:r>
              <a:rPr lang="fr-FR" altLang="fr-FR" sz="1800">
                <a:latin typeface="Arial Narrow" panose="020B0606020202030204" pitchFamily="34" charset="0"/>
              </a:rPr>
              <a:t> = jX</a:t>
            </a:r>
            <a:r>
              <a:rPr lang="fr-FR" altLang="fr-FR" sz="1800" baseline="-25000">
                <a:latin typeface="Arial Narrow" panose="020B0606020202030204" pitchFamily="34" charset="0"/>
              </a:rPr>
              <a:t>dph</a:t>
            </a:r>
            <a:r>
              <a:rPr lang="fr-FR" altLang="fr-FR" sz="1800">
                <a:latin typeface="Arial Narrow" panose="020B0606020202030204" pitchFamily="34" charset="0"/>
              </a:rPr>
              <a:t> et Z</a:t>
            </a:r>
            <a:r>
              <a:rPr lang="fr-FR" altLang="fr-FR" sz="1800" baseline="-25000">
                <a:latin typeface="Arial Narrow" panose="020B0606020202030204" pitchFamily="34" charset="0"/>
              </a:rPr>
              <a:t>add</a:t>
            </a:r>
            <a:r>
              <a:rPr lang="fr-FR" altLang="fr-FR" sz="1800">
                <a:latin typeface="Arial Narrow" panose="020B0606020202030204" pitchFamily="34" charset="0"/>
              </a:rPr>
              <a:t> = jX</a:t>
            </a:r>
            <a:r>
              <a:rPr lang="fr-FR" altLang="fr-FR" sz="1800" baseline="-25000">
                <a:latin typeface="Arial Narrow" panose="020B0606020202030204" pitchFamily="34" charset="0"/>
              </a:rPr>
              <a:t>add</a:t>
            </a:r>
            <a:r>
              <a:rPr lang="fr-FR" altLang="fr-FR" sz="1800">
                <a:latin typeface="Arial Narrow" panose="020B0606020202030204" pitchFamily="34" charset="0"/>
              </a:rPr>
              <a:t> )</a:t>
            </a:r>
          </a:p>
        </p:txBody>
      </p:sp>
      <p:sp>
        <p:nvSpPr>
          <p:cNvPr id="73734" name="Rectangle 7"/>
          <p:cNvSpPr>
            <a:spLocks noChangeArrowheads="1"/>
          </p:cNvSpPr>
          <p:nvPr/>
        </p:nvSpPr>
        <p:spPr bwMode="auto">
          <a:xfrm>
            <a:off x="620713" y="3027363"/>
            <a:ext cx="52292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Narrow" panose="020B0606020202030204" pitchFamily="34" charset="0"/>
              </a:rPr>
              <a:t>En cas de démarrage direct, le courant d’appel au réseau serait :</a:t>
            </a:r>
          </a:p>
        </p:txBody>
      </p:sp>
      <p:pic>
        <p:nvPicPr>
          <p:cNvPr id="73735" name="Picture 3"/>
          <p:cNvPicPr>
            <a:picLocks noChangeAspect="1" noChangeArrowheads="1"/>
          </p:cNvPicPr>
          <p:nvPr/>
        </p:nvPicPr>
        <p:blipFill>
          <a:blip r:embed="rId4">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2584450" y="3429000"/>
            <a:ext cx="103822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6" name="Rectangle 9"/>
          <p:cNvSpPr>
            <a:spLocks noChangeArrowheads="1"/>
          </p:cNvSpPr>
          <p:nvPr/>
        </p:nvSpPr>
        <p:spPr bwMode="auto">
          <a:xfrm>
            <a:off x="701675" y="4013200"/>
            <a:ext cx="51482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Narrow" panose="020B0606020202030204" pitchFamily="34" charset="0"/>
              </a:rPr>
              <a:t>Avec l’insertion des selfs additionnelles, le courant est réduit :</a:t>
            </a:r>
          </a:p>
        </p:txBody>
      </p:sp>
      <p:pic>
        <p:nvPicPr>
          <p:cNvPr id="73737" name="Picture 4"/>
          <p:cNvPicPr>
            <a:picLocks noChangeAspect="1" noChangeArrowheads="1"/>
          </p:cNvPicPr>
          <p:nvPr/>
        </p:nvPicPr>
        <p:blipFill>
          <a:blip r:embed="rId5">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2563813" y="4451350"/>
            <a:ext cx="16002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8" name="Rectangle 11"/>
          <p:cNvSpPr>
            <a:spLocks noChangeArrowheads="1"/>
          </p:cNvSpPr>
          <p:nvPr/>
        </p:nvSpPr>
        <p:spPr bwMode="auto">
          <a:xfrm>
            <a:off x="738188" y="4999038"/>
            <a:ext cx="52212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Narrow" panose="020B0606020202030204" pitchFamily="34" charset="0"/>
              </a:rPr>
              <a:t>Les rapports de réduction du courant et du couple de démarrage sont donc :</a:t>
            </a:r>
          </a:p>
        </p:txBody>
      </p:sp>
      <p:pic>
        <p:nvPicPr>
          <p:cNvPr id="73739" name="Picture 5"/>
          <p:cNvPicPr>
            <a:picLocks noChangeAspect="1" noChangeArrowheads="1"/>
          </p:cNvPicPr>
          <p:nvPr/>
        </p:nvPicPr>
        <p:blipFill>
          <a:blip r:embed="rId6">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1724025" y="5692775"/>
            <a:ext cx="3990975"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40"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73741" name="Espace réservé du numéro de diapositive 1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A264C693-7B0C-4519-A1BD-F86531EF1F3E}" type="slidenum">
              <a:rPr lang="en-US" altLang="fr-FR" sz="1000">
                <a:solidFill>
                  <a:srgbClr val="292929"/>
                </a:solidFill>
                <a:latin typeface="Arial" panose="020B0604020202020204" pitchFamily="34" charset="0"/>
              </a:rPr>
              <a:pPr>
                <a:spcBef>
                  <a:spcPct val="0"/>
                </a:spcBef>
                <a:buClrTx/>
                <a:buSzTx/>
                <a:buFontTx/>
                <a:buNone/>
              </a:pPr>
              <a:t>32</a:t>
            </a:fld>
            <a:endParaRPr lang="en-US" altLang="fr-FR" sz="1000">
              <a:solidFill>
                <a:srgbClr val="292929"/>
              </a:solidFill>
              <a:latin typeface="Arial" panose="020B0604020202020204" pitchFamily="34" charset="0"/>
            </a:endParaRPr>
          </a:p>
        </p:txBody>
      </p:sp>
      <p:sp>
        <p:nvSpPr>
          <p:cNvPr id="16" name="Espace réservé du pied de page 15"/>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136133598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ChangeArrowheads="1"/>
          </p:cNvSpPr>
          <p:nvPr/>
        </p:nvSpPr>
        <p:spPr bwMode="auto">
          <a:xfrm>
            <a:off x="3844925" y="325438"/>
            <a:ext cx="12382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400" b="1">
                <a:latin typeface="Arial Narrow" panose="020B0606020202030204" pitchFamily="34" charset="0"/>
              </a:rPr>
              <a:t>Freinage</a:t>
            </a:r>
            <a:endParaRPr lang="fr-FR" altLang="fr-FR" sz="2400">
              <a:latin typeface="Arial Narrow" panose="020B0606020202030204" pitchFamily="34" charset="0"/>
            </a:endParaRPr>
          </a:p>
        </p:txBody>
      </p:sp>
      <p:sp>
        <p:nvSpPr>
          <p:cNvPr id="5" name="Rectangle 4"/>
          <p:cNvSpPr/>
          <p:nvPr/>
        </p:nvSpPr>
        <p:spPr>
          <a:xfrm>
            <a:off x="628650" y="1166813"/>
            <a:ext cx="8032750" cy="5016500"/>
          </a:xfrm>
          <a:prstGeom prst="rect">
            <a:avLst/>
          </a:prstGeom>
        </p:spPr>
        <p:txBody>
          <a:bodyPr>
            <a:spAutoFit/>
          </a:bodyPr>
          <a:lstStyle/>
          <a:p>
            <a:pPr algn="just" eaLnBrk="1" hangingPunct="1">
              <a:defRPr/>
            </a:pPr>
            <a:r>
              <a:rPr lang="fr-FR" sz="2000" dirty="0"/>
              <a:t>Souvent, lors d’entraînements par moteurs asynchrones, un freinage électrique est souhaité. Celui-ci peut être effectué de différentes manières, par exemple:</a:t>
            </a:r>
          </a:p>
          <a:p>
            <a:pPr algn="just" eaLnBrk="1" hangingPunct="1">
              <a:defRPr/>
            </a:pPr>
            <a:endParaRPr lang="fr-FR" sz="2000" dirty="0"/>
          </a:p>
          <a:p>
            <a:pPr algn="just" eaLnBrk="1" hangingPunct="1">
              <a:defRPr/>
            </a:pPr>
            <a:endParaRPr lang="fr-FR" sz="2000" dirty="0"/>
          </a:p>
          <a:p>
            <a:pPr marL="174625" indent="363538" algn="just" eaLnBrk="1" hangingPunct="1">
              <a:buFont typeface="Wingdings" pitchFamily="2" charset="2"/>
              <a:buChar char="q"/>
              <a:defRPr/>
            </a:pPr>
            <a:r>
              <a:rPr lang="fr-FR" sz="2000" dirty="0"/>
              <a:t> par inversion de phases :</a:t>
            </a:r>
          </a:p>
          <a:p>
            <a:pPr marL="174625" indent="363538" algn="just" eaLnBrk="1" hangingPunct="1">
              <a:defRPr/>
            </a:pPr>
            <a:r>
              <a:rPr lang="fr-FR" sz="2000" dirty="0"/>
              <a:t>(fonctionnement à contre-courant)</a:t>
            </a:r>
          </a:p>
          <a:p>
            <a:pPr marL="174625" indent="363538" algn="just" eaLnBrk="1" hangingPunct="1">
              <a:buFont typeface="Wingdings" pitchFamily="2" charset="2"/>
              <a:buChar char="q"/>
              <a:defRPr/>
            </a:pPr>
            <a:endParaRPr lang="fr-FR" sz="2000" dirty="0"/>
          </a:p>
          <a:p>
            <a:pPr marL="174625" indent="363538" algn="just" eaLnBrk="1" hangingPunct="1">
              <a:buFont typeface="Wingdings" pitchFamily="2" charset="2"/>
              <a:buChar char="q"/>
              <a:defRPr/>
            </a:pPr>
            <a:endParaRPr lang="fr-FR" sz="2000" dirty="0"/>
          </a:p>
          <a:p>
            <a:pPr marL="174625" indent="363538" algn="just" eaLnBrk="1" hangingPunct="1">
              <a:buFont typeface="Wingdings" pitchFamily="2" charset="2"/>
              <a:buChar char="q"/>
              <a:defRPr/>
            </a:pPr>
            <a:r>
              <a:rPr lang="fr-FR" sz="2000" dirty="0"/>
              <a:t> par injection de courant continu</a:t>
            </a:r>
          </a:p>
          <a:p>
            <a:pPr marL="174625" indent="363538" algn="just" eaLnBrk="1" hangingPunct="1">
              <a:buFont typeface="Wingdings" pitchFamily="2" charset="2"/>
              <a:buChar char="q"/>
              <a:defRPr/>
            </a:pPr>
            <a:endParaRPr lang="fr-FR" sz="2000" dirty="0"/>
          </a:p>
          <a:p>
            <a:pPr marL="174625" indent="363538" algn="just" eaLnBrk="1" hangingPunct="1">
              <a:buFont typeface="Wingdings" pitchFamily="2" charset="2"/>
              <a:buChar char="q"/>
              <a:defRPr/>
            </a:pPr>
            <a:endParaRPr lang="fr-FR" sz="2000" dirty="0"/>
          </a:p>
          <a:p>
            <a:pPr marL="174625" indent="363538" algn="just" eaLnBrk="1" hangingPunct="1">
              <a:buFont typeface="Wingdings" pitchFamily="2" charset="2"/>
              <a:buChar char="q"/>
              <a:defRPr/>
            </a:pPr>
            <a:r>
              <a:rPr lang="fr-FR" sz="2000" dirty="0"/>
              <a:t> par utilisation d’un moteur-frein</a:t>
            </a:r>
          </a:p>
          <a:p>
            <a:pPr marL="174625" indent="363538" algn="just" eaLnBrk="1" hangingPunct="1">
              <a:buFont typeface="Wingdings" pitchFamily="2" charset="2"/>
              <a:buChar char="q"/>
              <a:defRPr/>
            </a:pPr>
            <a:endParaRPr lang="fr-FR" sz="2000" dirty="0"/>
          </a:p>
          <a:p>
            <a:pPr marL="174625" indent="363538" algn="just" eaLnBrk="1" hangingPunct="1">
              <a:buFont typeface="Wingdings" pitchFamily="2" charset="2"/>
              <a:buChar char="q"/>
              <a:defRPr/>
            </a:pPr>
            <a:endParaRPr lang="fr-FR" sz="2000" dirty="0"/>
          </a:p>
          <a:p>
            <a:pPr marL="174625" indent="363538" algn="just" eaLnBrk="1" hangingPunct="1">
              <a:buFont typeface="Wingdings" pitchFamily="2" charset="2"/>
              <a:buChar char="q"/>
              <a:defRPr/>
            </a:pPr>
            <a:r>
              <a:rPr lang="fr-FR" sz="2000" dirty="0"/>
              <a:t> par utilisation d’un convertisseur statique. Dans ce cas, il est possible de récupérer l’énergie.</a:t>
            </a:r>
          </a:p>
        </p:txBody>
      </p:sp>
      <p:sp>
        <p:nvSpPr>
          <p:cNvPr id="75780"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nvGrpSpPr>
          <p:cNvPr id="75781" name="Groupe 11"/>
          <p:cNvGrpSpPr>
            <a:grpSpLocks/>
          </p:cNvGrpSpPr>
          <p:nvPr/>
        </p:nvGrpSpPr>
        <p:grpSpPr bwMode="auto">
          <a:xfrm>
            <a:off x="4535488" y="2297113"/>
            <a:ext cx="4078287" cy="2952750"/>
            <a:chOff x="4535487" y="2297097"/>
            <a:chExt cx="4077586" cy="2952000"/>
          </a:xfrm>
        </p:grpSpPr>
        <p:pic>
          <p:nvPicPr>
            <p:cNvPr id="75784" name="Picture 7"/>
            <p:cNvPicPr>
              <a:picLocks noChangeAspect="1" noChangeArrowheads="1"/>
            </p:cNvPicPr>
            <p:nvPr/>
          </p:nvPicPr>
          <p:blipFill>
            <a:blip r:embed="rId3">
              <a:clrChange>
                <a:clrFrom>
                  <a:srgbClr val="FFFFFF"/>
                </a:clrFrom>
                <a:clrTo>
                  <a:srgbClr val="FFFFFF">
                    <a:alpha val="0"/>
                  </a:srgbClr>
                </a:clrTo>
              </a:clrChange>
              <a:lum bright="-20000"/>
              <a:extLst>
                <a:ext uri="{28A0092B-C50C-407E-A947-70E740481C1C}">
                  <a14:useLocalDpi xmlns:a14="http://schemas.microsoft.com/office/drawing/2010/main" val="0"/>
                </a:ext>
              </a:extLst>
            </a:blip>
            <a:srcRect/>
            <a:stretch>
              <a:fillRect/>
            </a:stretch>
          </p:blipFill>
          <p:spPr bwMode="auto">
            <a:xfrm>
              <a:off x="4535487" y="2297097"/>
              <a:ext cx="4077586" cy="295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5" name="ZoneTexte 7"/>
            <p:cNvSpPr txBox="1">
              <a:spLocks noChangeArrowheads="1"/>
            </p:cNvSpPr>
            <p:nvPr/>
          </p:nvSpPr>
          <p:spPr bwMode="auto">
            <a:xfrm>
              <a:off x="5192721" y="2656208"/>
              <a:ext cx="511182"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latin typeface="Arial Narrow" panose="020B0606020202030204" pitchFamily="34" charset="0"/>
                </a:rPr>
                <a:t>T</a:t>
              </a:r>
              <a:r>
                <a:rPr lang="fr-FR" altLang="fr-FR" sz="1400" b="1" baseline="-25000">
                  <a:latin typeface="Arial Narrow" panose="020B0606020202030204" pitchFamily="34" charset="0"/>
                </a:rPr>
                <a:t>max</a:t>
              </a:r>
            </a:p>
          </p:txBody>
        </p:sp>
        <p:sp>
          <p:nvSpPr>
            <p:cNvPr id="75786" name="ZoneTexte 8"/>
            <p:cNvSpPr txBox="1">
              <a:spLocks noChangeArrowheads="1"/>
            </p:cNvSpPr>
            <p:nvPr/>
          </p:nvSpPr>
          <p:spPr bwMode="auto">
            <a:xfrm>
              <a:off x="6361137" y="3976695"/>
              <a:ext cx="511182"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l-GR" altLang="fr-FR" sz="1400" b="1">
                  <a:latin typeface="Calibri" panose="020F0502020204030204" pitchFamily="34" charset="0"/>
                </a:rPr>
                <a:t>ω</a:t>
              </a:r>
              <a:r>
                <a:rPr lang="fr-FR" altLang="fr-FR" sz="1400" b="1" baseline="-25000">
                  <a:latin typeface="Arial Narrow" panose="020B0606020202030204" pitchFamily="34" charset="0"/>
                </a:rPr>
                <a:t>m</a:t>
              </a:r>
            </a:p>
          </p:txBody>
        </p:sp>
        <p:sp>
          <p:nvSpPr>
            <p:cNvPr id="75787" name="ZoneTexte 9"/>
            <p:cNvSpPr txBox="1">
              <a:spLocks noChangeArrowheads="1"/>
            </p:cNvSpPr>
            <p:nvPr/>
          </p:nvSpPr>
          <p:spPr bwMode="auto">
            <a:xfrm>
              <a:off x="6945345" y="3575052"/>
              <a:ext cx="511182"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l-GR" altLang="fr-FR" sz="1400" b="1">
                  <a:latin typeface="Calibri" panose="020F0502020204030204" pitchFamily="34" charset="0"/>
                </a:rPr>
                <a:t>ω</a:t>
              </a:r>
              <a:r>
                <a:rPr lang="fr-FR" altLang="fr-FR" sz="1400" b="1" baseline="-25000">
                  <a:latin typeface="Arial Narrow" panose="020B0606020202030204" pitchFamily="34" charset="0"/>
                </a:rPr>
                <a:t>s</a:t>
              </a:r>
            </a:p>
          </p:txBody>
        </p:sp>
        <p:sp>
          <p:nvSpPr>
            <p:cNvPr id="75788" name="ZoneTexte 10"/>
            <p:cNvSpPr txBox="1">
              <a:spLocks noChangeArrowheads="1"/>
            </p:cNvSpPr>
            <p:nvPr/>
          </p:nvSpPr>
          <p:spPr bwMode="auto">
            <a:xfrm>
              <a:off x="8040735" y="3538539"/>
              <a:ext cx="511182"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l-GR" altLang="fr-FR" sz="1400" b="1">
                  <a:latin typeface="Calibri" panose="020F0502020204030204" pitchFamily="34" charset="0"/>
                </a:rPr>
                <a:t>ω</a:t>
              </a:r>
              <a:endParaRPr lang="fr-FR" altLang="fr-FR" sz="1400" b="1" baseline="-25000">
                <a:latin typeface="Arial Narrow" panose="020B0606020202030204" pitchFamily="34" charset="0"/>
              </a:endParaRPr>
            </a:p>
          </p:txBody>
        </p:sp>
      </p:grpSp>
      <p:sp>
        <p:nvSpPr>
          <p:cNvPr id="75782" name="Espace réservé du numéro de diapositive 1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9222B9E9-FD93-4E8D-828A-31A2F3A72900}" type="slidenum">
              <a:rPr lang="en-US" altLang="fr-FR" sz="1000">
                <a:solidFill>
                  <a:srgbClr val="292929"/>
                </a:solidFill>
                <a:latin typeface="Arial" panose="020B0604020202020204" pitchFamily="34" charset="0"/>
              </a:rPr>
              <a:pPr>
                <a:spcBef>
                  <a:spcPct val="0"/>
                </a:spcBef>
                <a:buClrTx/>
                <a:buSzTx/>
                <a:buFontTx/>
                <a:buNone/>
              </a:pPr>
              <a:t>33</a:t>
            </a:fld>
            <a:endParaRPr lang="en-US" altLang="fr-FR" sz="1000">
              <a:solidFill>
                <a:srgbClr val="292929"/>
              </a:solidFill>
              <a:latin typeface="Arial" panose="020B0604020202020204" pitchFamily="34" charset="0"/>
            </a:endParaRPr>
          </a:p>
        </p:txBody>
      </p:sp>
      <p:sp>
        <p:nvSpPr>
          <p:cNvPr id="14" name="Espace réservé du pied de page 13"/>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190623572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ChangeArrowheads="1"/>
          </p:cNvSpPr>
          <p:nvPr/>
        </p:nvSpPr>
        <p:spPr bwMode="auto">
          <a:xfrm>
            <a:off x="628650" y="544513"/>
            <a:ext cx="7959725" cy="153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Narrow" panose="020B0606020202030204" pitchFamily="34" charset="0"/>
              </a:rPr>
              <a:t>Freinage par inversion de phases</a:t>
            </a:r>
          </a:p>
          <a:p>
            <a:pPr eaLnBrk="1" hangingPunct="1">
              <a:spcBef>
                <a:spcPct val="0"/>
              </a:spcBef>
              <a:buClrTx/>
              <a:buSzTx/>
              <a:buFontTx/>
              <a:buNone/>
            </a:pPr>
            <a:endParaRPr lang="fr-FR" altLang="fr-FR" sz="2000">
              <a:latin typeface="Arial Narrow" panose="020B0606020202030204" pitchFamily="34" charset="0"/>
            </a:endParaRPr>
          </a:p>
          <a:p>
            <a:pPr algn="just" eaLnBrk="1" hangingPunct="1">
              <a:spcBef>
                <a:spcPct val="0"/>
              </a:spcBef>
              <a:buClrTx/>
              <a:buSzTx/>
              <a:buFontTx/>
              <a:buNone/>
            </a:pPr>
            <a:r>
              <a:rPr lang="fr-FR" altLang="fr-FR" sz="1800">
                <a:latin typeface="Arial Narrow" panose="020B0606020202030204" pitchFamily="34" charset="0"/>
              </a:rPr>
              <a:t>Le principe consiste à inverser 2 des 3 phases statoriques. Le sens du champ tournant est ainsi inversé. C’est pour cela que ce mode de freinage s’appelle aussi «</a:t>
            </a:r>
            <a:r>
              <a:rPr lang="fr-FR" altLang="fr-FR" sz="1800" i="1">
                <a:latin typeface="Arial Narrow" panose="020B0606020202030204" pitchFamily="34" charset="0"/>
              </a:rPr>
              <a:t>à contre-courant ». Le glissement devient alors :</a:t>
            </a:r>
            <a:endParaRPr lang="fr-FR" altLang="fr-FR" sz="1800">
              <a:latin typeface="Arial Narrow" panose="020B0606020202030204" pitchFamily="34" charset="0"/>
            </a:endParaRPr>
          </a:p>
        </p:txBody>
      </p:sp>
      <p:graphicFrame>
        <p:nvGraphicFramePr>
          <p:cNvPr id="77827" name="Object 1031"/>
          <p:cNvGraphicFramePr>
            <a:graphicFrameLocks noChangeAspect="1"/>
          </p:cNvGraphicFramePr>
          <p:nvPr/>
        </p:nvGraphicFramePr>
        <p:xfrm>
          <a:off x="3424238" y="2452688"/>
          <a:ext cx="1658937" cy="830262"/>
        </p:xfrm>
        <a:graphic>
          <a:graphicData uri="http://schemas.openxmlformats.org/presentationml/2006/ole">
            <mc:AlternateContent xmlns:mc="http://schemas.openxmlformats.org/markup-compatibility/2006">
              <mc:Choice xmlns:v="urn:schemas-microsoft-com:vml" Requires="v">
                <p:oleObj spid="_x0000_s292870" name="Équation" r:id="rId4" imgW="761669" imgH="380835" progId="Equation.3">
                  <p:embed/>
                </p:oleObj>
              </mc:Choice>
              <mc:Fallback>
                <p:oleObj name="Équation" r:id="rId4" imgW="761669" imgH="380835"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4238" y="2452688"/>
                        <a:ext cx="165893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7828" name="Rectangle 5"/>
          <p:cNvSpPr>
            <a:spLocks noChangeArrowheads="1"/>
          </p:cNvSpPr>
          <p:nvPr/>
        </p:nvSpPr>
        <p:spPr bwMode="auto">
          <a:xfrm>
            <a:off x="701675" y="3783013"/>
            <a:ext cx="56229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Narrow" panose="020B0606020202030204" pitchFamily="34" charset="0"/>
              </a:rPr>
              <a:t>En freinage on a g&gt;1. Si le moteur tourne à vide (T</a:t>
            </a:r>
            <a:r>
              <a:rPr lang="fr-FR" altLang="fr-FR" sz="1800" baseline="-25000">
                <a:latin typeface="Arial Narrow" panose="020B0606020202030204" pitchFamily="34" charset="0"/>
              </a:rPr>
              <a:t>res</a:t>
            </a:r>
            <a:r>
              <a:rPr lang="fr-FR" altLang="fr-FR" sz="1800" i="1">
                <a:latin typeface="Arial Narrow" panose="020B0606020202030204" pitchFamily="34" charset="0"/>
              </a:rPr>
              <a:t> = 0), dans le même sens </a:t>
            </a:r>
            <a:r>
              <a:rPr lang="fr-FR" altLang="fr-FR" sz="1800">
                <a:latin typeface="Arial Narrow" panose="020B0606020202030204" pitchFamily="34" charset="0"/>
              </a:rPr>
              <a:t>que le champ tournant direct, alors </a:t>
            </a:r>
            <a:r>
              <a:rPr lang="el-GR" altLang="fr-FR" sz="1800">
                <a:latin typeface="Calibri" panose="020F0502020204030204" pitchFamily="34" charset="0"/>
              </a:rPr>
              <a:t>ω</a:t>
            </a:r>
            <a:r>
              <a:rPr lang="fr-FR" altLang="fr-FR" sz="1800" baseline="-25000">
                <a:latin typeface="Arial Narrow" panose="020B0606020202030204" pitchFamily="34" charset="0"/>
              </a:rPr>
              <a:t>r</a:t>
            </a:r>
            <a:r>
              <a:rPr lang="fr-FR" altLang="fr-FR" sz="1800">
                <a:latin typeface="Calibri" panose="020F0502020204030204" pitchFamily="34" charset="0"/>
              </a:rPr>
              <a:t> = </a:t>
            </a:r>
            <a:r>
              <a:rPr lang="el-GR" altLang="fr-FR" sz="1800">
                <a:latin typeface="Calibri" panose="020F0502020204030204" pitchFamily="34" charset="0"/>
              </a:rPr>
              <a:t>ω</a:t>
            </a:r>
            <a:r>
              <a:rPr lang="fr-FR" altLang="fr-FR" sz="1800" baseline="-25000">
                <a:latin typeface="Arial Narrow" panose="020B0606020202030204" pitchFamily="34" charset="0"/>
              </a:rPr>
              <a:t>s</a:t>
            </a:r>
            <a:r>
              <a:rPr lang="fr-FR" altLang="fr-FR" sz="1800">
                <a:latin typeface="Arial Narrow" panose="020B0606020202030204" pitchFamily="34" charset="0"/>
              </a:rPr>
              <a:t> et :  g=2.</a:t>
            </a:r>
          </a:p>
        </p:txBody>
      </p:sp>
      <p:pic>
        <p:nvPicPr>
          <p:cNvPr id="77829" name="Picture 3"/>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434138" y="2443163"/>
            <a:ext cx="2035175" cy="284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0"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77831" name="Espace réservé du numéro de diapositive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A320771E-8EBC-43DF-B906-DF69AA1EE9F1}" type="slidenum">
              <a:rPr lang="en-US" altLang="fr-FR" sz="1000">
                <a:solidFill>
                  <a:srgbClr val="292929"/>
                </a:solidFill>
                <a:latin typeface="Arial" panose="020B0604020202020204" pitchFamily="34" charset="0"/>
              </a:rPr>
              <a:pPr>
                <a:spcBef>
                  <a:spcPct val="0"/>
                </a:spcBef>
                <a:buClrTx/>
                <a:buSzTx/>
                <a:buFontTx/>
                <a:buNone/>
              </a:pPr>
              <a:t>34</a:t>
            </a:fld>
            <a:endParaRPr lang="en-US" altLang="fr-FR" sz="1000">
              <a:solidFill>
                <a:srgbClr val="292929"/>
              </a:solidFill>
              <a:latin typeface="Arial" panose="020B0604020202020204" pitchFamily="34" charset="0"/>
            </a:endParaRPr>
          </a:p>
        </p:txBody>
      </p:sp>
      <p:sp>
        <p:nvSpPr>
          <p:cNvPr id="10" name="Espace réservé du pied de page 9"/>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48599803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p:cNvSpPr>
            <a:spLocks noChangeArrowheads="1"/>
          </p:cNvSpPr>
          <p:nvPr/>
        </p:nvSpPr>
        <p:spPr bwMode="auto">
          <a:xfrm>
            <a:off x="555625" y="581025"/>
            <a:ext cx="8142288"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endParaRPr lang="fr-FR" altLang="fr-FR" sz="2400" b="1">
              <a:latin typeface="Arial Narrow" panose="020B0606020202030204" pitchFamily="34" charset="0"/>
            </a:endParaRPr>
          </a:p>
          <a:p>
            <a:pPr algn="just" eaLnBrk="1" hangingPunct="1">
              <a:spcBef>
                <a:spcPct val="0"/>
              </a:spcBef>
              <a:buClrTx/>
              <a:buSzTx/>
              <a:buFontTx/>
              <a:buNone/>
            </a:pPr>
            <a:endParaRPr lang="fr-FR" altLang="fr-FR" sz="2400" b="1">
              <a:latin typeface="Arial Narrow" panose="020B0606020202030204" pitchFamily="34" charset="0"/>
            </a:endParaRPr>
          </a:p>
          <a:p>
            <a:pPr algn="just" eaLnBrk="1" hangingPunct="1">
              <a:spcBef>
                <a:spcPct val="0"/>
              </a:spcBef>
              <a:buClrTx/>
              <a:buSzTx/>
              <a:buFontTx/>
              <a:buNone/>
            </a:pPr>
            <a:r>
              <a:rPr lang="fr-FR" altLang="fr-FR" sz="1800">
                <a:latin typeface="Arial Narrow" panose="020B0606020202030204" pitchFamily="34" charset="0"/>
              </a:rPr>
              <a:t>A partir de la marche en charge, le processus est le suivant : on réduit à zéro la charge mécanique, puis on inverse 2 phases, lorsque la vitesse est nulle (g = 1) on coupe l’alimentation (sans cela le rotor tourne dans le sens inverse).</a:t>
            </a:r>
          </a:p>
          <a:p>
            <a:pPr algn="just" eaLnBrk="1" hangingPunct="1">
              <a:spcBef>
                <a:spcPct val="0"/>
              </a:spcBef>
              <a:buClrTx/>
              <a:buSzTx/>
              <a:buFontTx/>
              <a:buNone/>
            </a:pPr>
            <a:r>
              <a:rPr lang="fr-FR" altLang="fr-FR" sz="1800">
                <a:latin typeface="Arial Narrow" panose="020B0606020202030204" pitchFamily="34" charset="0"/>
              </a:rPr>
              <a:t>Si ce mode de freinage est appliqué sur un moteur à rotor bobiné, le couple de freinage peut être ajusté par l’insertion de résistances rotoriques.</a:t>
            </a:r>
          </a:p>
          <a:p>
            <a:pPr algn="just" eaLnBrk="1" hangingPunct="1">
              <a:spcBef>
                <a:spcPct val="0"/>
              </a:spcBef>
              <a:buClrTx/>
              <a:buSzTx/>
              <a:buFontTx/>
              <a:buNone/>
            </a:pPr>
            <a:endParaRPr lang="fr-FR" altLang="fr-FR" sz="1800">
              <a:latin typeface="Arial Narrow" panose="020B0606020202030204" pitchFamily="34" charset="0"/>
            </a:endParaRPr>
          </a:p>
          <a:p>
            <a:pPr eaLnBrk="1" hangingPunct="1">
              <a:spcBef>
                <a:spcPct val="0"/>
              </a:spcBef>
              <a:buClrTx/>
              <a:buSzTx/>
              <a:buFontTx/>
              <a:buNone/>
            </a:pPr>
            <a:r>
              <a:rPr lang="fr-FR" altLang="fr-FR" sz="1800">
                <a:latin typeface="Arial Narrow" panose="020B0606020202030204" pitchFamily="34" charset="0"/>
              </a:rPr>
              <a:t>L’énergie thermique dissipée dans l’enroulement rotorique, jusqu’à l’arrêt (de g</a:t>
            </a:r>
            <a:r>
              <a:rPr lang="fr-FR" altLang="fr-FR" sz="1800" baseline="-25000">
                <a:latin typeface="Arial Narrow" panose="020B0606020202030204" pitchFamily="34" charset="0"/>
              </a:rPr>
              <a:t>1</a:t>
            </a:r>
            <a:r>
              <a:rPr lang="fr-FR" altLang="fr-FR" sz="1800">
                <a:latin typeface="Arial Narrow" panose="020B0606020202030204" pitchFamily="34" charset="0"/>
              </a:rPr>
              <a:t> = 2 à g</a:t>
            </a:r>
            <a:r>
              <a:rPr lang="fr-FR" altLang="fr-FR" sz="1800" baseline="-25000">
                <a:latin typeface="Arial Narrow" panose="020B0606020202030204" pitchFamily="34" charset="0"/>
              </a:rPr>
              <a:t>2</a:t>
            </a:r>
            <a:r>
              <a:rPr lang="fr-FR" altLang="fr-FR" sz="1800">
                <a:latin typeface="Arial Narrow" panose="020B0606020202030204" pitchFamily="34" charset="0"/>
              </a:rPr>
              <a:t> = 1), est donnée par :</a:t>
            </a:r>
          </a:p>
        </p:txBody>
      </p:sp>
      <p:sp>
        <p:nvSpPr>
          <p:cNvPr id="79875" name="Rectangle 4"/>
          <p:cNvSpPr>
            <a:spLocks noChangeArrowheads="1"/>
          </p:cNvSpPr>
          <p:nvPr/>
        </p:nvSpPr>
        <p:spPr bwMode="auto">
          <a:xfrm>
            <a:off x="592138" y="581025"/>
            <a:ext cx="3200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Narrow" panose="020B0606020202030204" pitchFamily="34" charset="0"/>
              </a:rPr>
              <a:t>Freinage par inversion de phases</a:t>
            </a:r>
          </a:p>
        </p:txBody>
      </p:sp>
      <p:pic>
        <p:nvPicPr>
          <p:cNvPr id="79876" name="Picture 2"/>
          <p:cNvPicPr>
            <a:picLocks noChangeAspect="1" noChangeArrowheads="1"/>
          </p:cNvPicPr>
          <p:nvPr/>
        </p:nvPicPr>
        <p:blipFill>
          <a:blip r:embed="rId3">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2417763" y="3546475"/>
            <a:ext cx="479107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7" name="Rectangle 6"/>
          <p:cNvSpPr>
            <a:spLocks noChangeArrowheads="1"/>
          </p:cNvSpPr>
          <p:nvPr/>
        </p:nvSpPr>
        <p:spPr bwMode="auto">
          <a:xfrm>
            <a:off x="628650" y="4449763"/>
            <a:ext cx="81788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Narrow" panose="020B0606020202030204" pitchFamily="34" charset="0"/>
              </a:rPr>
              <a:t>Cette énergie est 3 fois plus élevée que celle dissipée lors d’un démarrage à vide.</a:t>
            </a:r>
          </a:p>
          <a:p>
            <a:pPr algn="just" eaLnBrk="1" hangingPunct="1">
              <a:spcBef>
                <a:spcPct val="0"/>
              </a:spcBef>
              <a:buClrTx/>
              <a:buSzTx/>
              <a:buFontTx/>
              <a:buNone/>
            </a:pPr>
            <a:endParaRPr lang="fr-FR" altLang="fr-FR" sz="1800">
              <a:latin typeface="Arial Narrow" panose="020B0606020202030204" pitchFamily="34" charset="0"/>
            </a:endParaRPr>
          </a:p>
          <a:p>
            <a:pPr algn="just" eaLnBrk="1" hangingPunct="1">
              <a:spcBef>
                <a:spcPct val="0"/>
              </a:spcBef>
              <a:buClrTx/>
              <a:buSzTx/>
              <a:buFontTx/>
              <a:buNone/>
            </a:pPr>
            <a:endParaRPr lang="fr-FR" altLang="fr-FR" sz="1800">
              <a:solidFill>
                <a:srgbClr val="FF0000"/>
              </a:solidFill>
              <a:latin typeface="Arial Narrow" panose="020B0606020202030204" pitchFamily="34" charset="0"/>
            </a:endParaRPr>
          </a:p>
          <a:p>
            <a:pPr algn="just" eaLnBrk="1" hangingPunct="1">
              <a:spcBef>
                <a:spcPct val="0"/>
              </a:spcBef>
              <a:buClrTx/>
              <a:buSzTx/>
              <a:buFontTx/>
              <a:buNone/>
            </a:pPr>
            <a:r>
              <a:rPr lang="fr-FR" altLang="fr-FR" sz="1800">
                <a:solidFill>
                  <a:srgbClr val="FF0000"/>
                </a:solidFill>
                <a:latin typeface="Arial Narrow" panose="020B0606020202030204" pitchFamily="34" charset="0"/>
              </a:rPr>
              <a:t>Ce mode de freinage n’est alors utilisé que pour les moteurs de faibles et moyennes puissances car il sollicite fortement le moteur et le réseau. Pour les entraînements de grandes puissances on lui préfère un freinage par injection de courant continu dans l’enroulement statorique.</a:t>
            </a:r>
          </a:p>
        </p:txBody>
      </p:sp>
      <p:sp>
        <p:nvSpPr>
          <p:cNvPr id="79878"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79879" name="ZoneTexte 8"/>
          <p:cNvSpPr txBox="1">
            <a:spLocks noChangeArrowheads="1"/>
          </p:cNvSpPr>
          <p:nvPr/>
        </p:nvSpPr>
        <p:spPr bwMode="auto">
          <a:xfrm>
            <a:off x="3990975" y="3721100"/>
            <a:ext cx="215900" cy="307975"/>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g</a:t>
            </a:r>
          </a:p>
        </p:txBody>
      </p:sp>
      <p:sp>
        <p:nvSpPr>
          <p:cNvPr id="79880" name="ZoneTexte 9"/>
          <p:cNvSpPr txBox="1">
            <a:spLocks noChangeArrowheads="1"/>
          </p:cNvSpPr>
          <p:nvPr/>
        </p:nvSpPr>
        <p:spPr bwMode="auto">
          <a:xfrm>
            <a:off x="4206875" y="3721100"/>
            <a:ext cx="361950" cy="307975"/>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dg</a:t>
            </a:r>
          </a:p>
        </p:txBody>
      </p:sp>
      <p:sp>
        <p:nvSpPr>
          <p:cNvPr id="79881" name="Espace réservé du numéro de diapositive 1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B1640F8B-38AB-46D8-9DED-1E2BC0F3725D}" type="slidenum">
              <a:rPr lang="en-US" altLang="fr-FR" sz="1000">
                <a:solidFill>
                  <a:srgbClr val="292929"/>
                </a:solidFill>
                <a:latin typeface="Arial" panose="020B0604020202020204" pitchFamily="34" charset="0"/>
              </a:rPr>
              <a:pPr>
                <a:spcBef>
                  <a:spcPct val="0"/>
                </a:spcBef>
                <a:buClrTx/>
                <a:buSzTx/>
                <a:buFontTx/>
                <a:buNone/>
              </a:pPr>
              <a:t>35</a:t>
            </a:fld>
            <a:endParaRPr lang="en-US" altLang="fr-FR" sz="1000">
              <a:solidFill>
                <a:srgbClr val="292929"/>
              </a:solidFill>
              <a:latin typeface="Arial" panose="020B0604020202020204" pitchFamily="34" charset="0"/>
            </a:endParaRPr>
          </a:p>
        </p:txBody>
      </p:sp>
      <p:sp>
        <p:nvSpPr>
          <p:cNvPr id="12" name="Espace réservé du pied de page 11"/>
          <p:cNvSpPr>
            <a:spLocks noGrp="1"/>
          </p:cNvSpPr>
          <p:nvPr>
            <p:ph type="ftr" sz="quarter" idx="11"/>
          </p:nvPr>
        </p:nvSpPr>
        <p:spPr/>
        <p:txBody>
          <a:bodyPr/>
          <a:lstStyle/>
          <a:p>
            <a:pPr>
              <a:defRPr/>
            </a:pPr>
            <a:r>
              <a:rPr lang="en-US"/>
              <a:t>Commande des machines Mach asyn   Ali NEJMI</a:t>
            </a:r>
          </a:p>
        </p:txBody>
      </p:sp>
      <p:sp>
        <p:nvSpPr>
          <p:cNvPr id="79883" name="ZoneTexte 12"/>
          <p:cNvSpPr txBox="1">
            <a:spLocks noChangeArrowheads="1"/>
          </p:cNvSpPr>
          <p:nvPr/>
        </p:nvSpPr>
        <p:spPr bwMode="auto">
          <a:xfrm>
            <a:off x="6069013" y="3721100"/>
            <a:ext cx="73025" cy="461963"/>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79884" name="ZoneTexte 13"/>
          <p:cNvSpPr txBox="1">
            <a:spLocks noChangeArrowheads="1"/>
          </p:cNvSpPr>
          <p:nvPr/>
        </p:nvSpPr>
        <p:spPr bwMode="auto">
          <a:xfrm>
            <a:off x="5703888" y="3684588"/>
            <a:ext cx="73025" cy="461962"/>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79885" name="ZoneTexte 14"/>
          <p:cNvSpPr txBox="1">
            <a:spLocks noChangeArrowheads="1"/>
          </p:cNvSpPr>
          <p:nvPr/>
        </p:nvSpPr>
        <p:spPr bwMode="auto">
          <a:xfrm>
            <a:off x="3805238" y="3648075"/>
            <a:ext cx="73025" cy="461963"/>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79886" name="ZoneTexte 15"/>
          <p:cNvSpPr txBox="1">
            <a:spLocks noChangeArrowheads="1"/>
          </p:cNvSpPr>
          <p:nvPr/>
        </p:nvSpPr>
        <p:spPr bwMode="auto">
          <a:xfrm>
            <a:off x="3732213" y="3575050"/>
            <a:ext cx="182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g</a:t>
            </a:r>
          </a:p>
        </p:txBody>
      </p:sp>
      <p:sp>
        <p:nvSpPr>
          <p:cNvPr id="79887" name="ZoneTexte 16"/>
          <p:cNvSpPr txBox="1">
            <a:spLocks noChangeArrowheads="1"/>
          </p:cNvSpPr>
          <p:nvPr/>
        </p:nvSpPr>
        <p:spPr bwMode="auto">
          <a:xfrm>
            <a:off x="3732213" y="3830638"/>
            <a:ext cx="182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g</a:t>
            </a:r>
          </a:p>
        </p:txBody>
      </p:sp>
      <p:sp>
        <p:nvSpPr>
          <p:cNvPr id="79888" name="ZoneTexte 17"/>
          <p:cNvSpPr txBox="1">
            <a:spLocks noChangeArrowheads="1"/>
          </p:cNvSpPr>
          <p:nvPr/>
        </p:nvSpPr>
        <p:spPr bwMode="auto">
          <a:xfrm>
            <a:off x="5594350" y="3705225"/>
            <a:ext cx="1825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g</a:t>
            </a:r>
          </a:p>
        </p:txBody>
      </p:sp>
      <p:sp>
        <p:nvSpPr>
          <p:cNvPr id="79889" name="ZoneTexte 18"/>
          <p:cNvSpPr txBox="1">
            <a:spLocks noChangeArrowheads="1"/>
          </p:cNvSpPr>
          <p:nvPr/>
        </p:nvSpPr>
        <p:spPr bwMode="auto">
          <a:xfrm>
            <a:off x="5995988" y="3705225"/>
            <a:ext cx="182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g</a:t>
            </a:r>
          </a:p>
        </p:txBody>
      </p:sp>
    </p:spTree>
    <p:extLst>
      <p:ext uri="{BB962C8B-B14F-4D97-AF65-F5344CB8AC3E}">
        <p14:creationId xmlns:p14="http://schemas.microsoft.com/office/powerpoint/2010/main" val="263144800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ChangeArrowheads="1"/>
          </p:cNvSpPr>
          <p:nvPr/>
        </p:nvSpPr>
        <p:spPr bwMode="auto">
          <a:xfrm>
            <a:off x="482600" y="581025"/>
            <a:ext cx="8251825"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Narrow" panose="020B0606020202030204" pitchFamily="34" charset="0"/>
              </a:rPr>
              <a:t>Freinage par injection de courant continu</a:t>
            </a:r>
          </a:p>
          <a:p>
            <a:pPr eaLnBrk="1" hangingPunct="1">
              <a:spcBef>
                <a:spcPct val="0"/>
              </a:spcBef>
              <a:buClrTx/>
              <a:buSzTx/>
              <a:buFontTx/>
              <a:buNone/>
            </a:pPr>
            <a:endParaRPr lang="fr-FR" altLang="fr-FR" sz="1800">
              <a:latin typeface="Arial Narrow" panose="020B0606020202030204" pitchFamily="34" charset="0"/>
            </a:endParaRPr>
          </a:p>
          <a:p>
            <a:pPr eaLnBrk="1" hangingPunct="1">
              <a:spcBef>
                <a:spcPct val="0"/>
              </a:spcBef>
              <a:buClrTx/>
              <a:buSzTx/>
              <a:buFontTx/>
              <a:buNone/>
            </a:pPr>
            <a:r>
              <a:rPr lang="fr-FR" altLang="fr-FR" sz="1800">
                <a:latin typeface="Arial Narrow" panose="020B0606020202030204" pitchFamily="34" charset="0"/>
              </a:rPr>
              <a:t>Ce procédé consiste, après avoir déconnecté le moteur du réseau d’alimentation, à brancher sur deux bornes du stator une source de courant continu très basse tension (20 à 24 V par exemple) au moyen d’une batterie d’accumulateurs ou d’un redresseur.</a:t>
            </a:r>
          </a:p>
        </p:txBody>
      </p:sp>
      <p:pic>
        <p:nvPicPr>
          <p:cNvPr id="81923"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62488" y="2589213"/>
            <a:ext cx="4181475" cy="306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4" name="Rectangle 5"/>
          <p:cNvSpPr>
            <a:spLocks noChangeArrowheads="1"/>
          </p:cNvSpPr>
          <p:nvPr/>
        </p:nvSpPr>
        <p:spPr bwMode="auto">
          <a:xfrm>
            <a:off x="519113" y="2443163"/>
            <a:ext cx="4089400"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174625">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Wingdings" panose="05000000000000000000" pitchFamily="2" charset="2"/>
              <a:buChar char="§"/>
            </a:pPr>
            <a:r>
              <a:rPr lang="fr-FR" altLang="fr-FR" sz="1800">
                <a:latin typeface="Arial Narrow" panose="020B0606020202030204" pitchFamily="34" charset="0"/>
              </a:rPr>
              <a:t>Le courant continu crée un champ magnétique, qui est fixe alors que le rotor est en mouvement. </a:t>
            </a:r>
          </a:p>
          <a:p>
            <a:pPr algn="just" eaLnBrk="1" hangingPunct="1">
              <a:spcBef>
                <a:spcPct val="0"/>
              </a:spcBef>
              <a:buClrTx/>
              <a:buSzTx/>
              <a:buFont typeface="Wingdings" panose="05000000000000000000" pitchFamily="2" charset="2"/>
              <a:buChar char="§"/>
            </a:pPr>
            <a:endParaRPr lang="fr-FR" altLang="fr-FR" sz="1800">
              <a:latin typeface="Arial Narrow" panose="020B0606020202030204" pitchFamily="34" charset="0"/>
            </a:endParaRPr>
          </a:p>
          <a:p>
            <a:pPr algn="just" eaLnBrk="1" hangingPunct="1">
              <a:spcBef>
                <a:spcPct val="0"/>
              </a:spcBef>
              <a:buClrTx/>
              <a:buSzTx/>
              <a:buFont typeface="Wingdings" panose="05000000000000000000" pitchFamily="2" charset="2"/>
              <a:buChar char="§"/>
            </a:pPr>
            <a:r>
              <a:rPr lang="fr-FR" altLang="fr-FR" sz="1800">
                <a:latin typeface="Arial Narrow" panose="020B0606020202030204" pitchFamily="34" charset="0"/>
              </a:rPr>
              <a:t>Les conducteurs du rotor sont alors le siège de courants induits qui interagissent avec le champ pour créer un couple de freinage. Ce dernier dépend de la valeur du courant continu injecté. </a:t>
            </a:r>
          </a:p>
          <a:p>
            <a:pPr algn="just" eaLnBrk="1" hangingPunct="1">
              <a:spcBef>
                <a:spcPct val="0"/>
              </a:spcBef>
              <a:buClrTx/>
              <a:buSzTx/>
              <a:buFont typeface="Wingdings" panose="05000000000000000000" pitchFamily="2" charset="2"/>
              <a:buChar char="§"/>
            </a:pPr>
            <a:endParaRPr lang="fr-FR" altLang="fr-FR" sz="1800">
              <a:latin typeface="Arial Narrow" panose="020B0606020202030204" pitchFamily="34" charset="0"/>
            </a:endParaRPr>
          </a:p>
          <a:p>
            <a:pPr algn="just" eaLnBrk="1" hangingPunct="1">
              <a:spcBef>
                <a:spcPct val="0"/>
              </a:spcBef>
              <a:buClrTx/>
              <a:buSzTx/>
              <a:buFont typeface="Wingdings" panose="05000000000000000000" pitchFamily="2" charset="2"/>
              <a:buChar char="§"/>
            </a:pPr>
            <a:r>
              <a:rPr lang="fr-FR" altLang="fr-FR" sz="1800">
                <a:latin typeface="Arial Narrow" panose="020B0606020202030204" pitchFamily="34" charset="0"/>
              </a:rPr>
              <a:t>Vers la fin de l’opération, à faible vitesse, le couple de freinage diminue fortement et devient nul à l’arrêt.</a:t>
            </a:r>
          </a:p>
        </p:txBody>
      </p:sp>
      <p:sp>
        <p:nvSpPr>
          <p:cNvPr id="81925"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81926" name="Espace réservé du numéro de diapositive 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830AD56E-724B-4FBF-AEBF-F4A8358FAB8E}" type="slidenum">
              <a:rPr lang="en-US" altLang="fr-FR" sz="1000">
                <a:solidFill>
                  <a:srgbClr val="292929"/>
                </a:solidFill>
                <a:latin typeface="Arial" panose="020B0604020202020204" pitchFamily="34" charset="0"/>
              </a:rPr>
              <a:pPr>
                <a:spcBef>
                  <a:spcPct val="0"/>
                </a:spcBef>
                <a:buClrTx/>
                <a:buSzTx/>
                <a:buFontTx/>
                <a:buNone/>
              </a:pPr>
              <a:t>36</a:t>
            </a:fld>
            <a:endParaRPr lang="en-US" altLang="fr-FR" sz="1000">
              <a:solidFill>
                <a:srgbClr val="292929"/>
              </a:solidFill>
              <a:latin typeface="Arial" panose="020B0604020202020204" pitchFamily="34" charset="0"/>
            </a:endParaRPr>
          </a:p>
        </p:txBody>
      </p:sp>
      <p:sp>
        <p:nvSpPr>
          <p:cNvPr id="9" name="Espace réservé du pied de page 8"/>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19429151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p:cNvSpPr txBox="1">
            <a:spLocks noChangeArrowheads="1"/>
          </p:cNvSpPr>
          <p:nvPr/>
        </p:nvSpPr>
        <p:spPr bwMode="auto">
          <a:xfrm>
            <a:off x="1676400" y="455613"/>
            <a:ext cx="4114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cs typeface="Times New Roman" panose="02020603050405020304" pitchFamily="18" charset="0"/>
              </a:rPr>
              <a:t>Performance en régime statique</a:t>
            </a:r>
          </a:p>
        </p:txBody>
      </p:sp>
      <p:sp>
        <p:nvSpPr>
          <p:cNvPr id="83971" name="Rectangle 26"/>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83972" name="Text Box 27"/>
          <p:cNvSpPr txBox="1">
            <a:spLocks noChangeArrowheads="1"/>
          </p:cNvSpPr>
          <p:nvPr/>
        </p:nvSpPr>
        <p:spPr bwMode="auto">
          <a:xfrm>
            <a:off x="914400" y="1143000"/>
            <a:ext cx="78200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Narrow" panose="020B0606020202030204" pitchFamily="34" charset="0"/>
              </a:rPr>
              <a:t>Les performances du régime statique peuvent être calculées à partir du schéma équivalent, par exemple, à l'aide de MATLAB</a:t>
            </a:r>
            <a:endParaRPr lang="en-US" altLang="fr-FR" sz="2000">
              <a:latin typeface="Arial Narrow" panose="020B0606020202030204" pitchFamily="34" charset="0"/>
            </a:endParaRPr>
          </a:p>
        </p:txBody>
      </p:sp>
      <p:grpSp>
        <p:nvGrpSpPr>
          <p:cNvPr id="83973" name="Group 28"/>
          <p:cNvGrpSpPr>
            <a:grpSpLocks/>
          </p:cNvGrpSpPr>
          <p:nvPr/>
        </p:nvGrpSpPr>
        <p:grpSpPr bwMode="auto">
          <a:xfrm>
            <a:off x="1219200" y="2514600"/>
            <a:ext cx="7600950" cy="2584450"/>
            <a:chOff x="768" y="768"/>
            <a:chExt cx="4788" cy="1628"/>
          </a:xfrm>
        </p:grpSpPr>
        <p:pic>
          <p:nvPicPr>
            <p:cNvPr id="83976" name="Picture 29"/>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864" y="1056"/>
              <a:ext cx="4008" cy="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7" name="Text Box 30"/>
            <p:cNvSpPr txBox="1">
              <a:spLocks noChangeAspect="1" noChangeArrowheads="1"/>
            </p:cNvSpPr>
            <p:nvPr/>
          </p:nvSpPr>
          <p:spPr bwMode="auto">
            <a:xfrm>
              <a:off x="4848" y="1440"/>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R</a:t>
              </a:r>
              <a:r>
                <a:rPr lang="en-US" altLang="fr-FR" sz="2400" baseline="-25000">
                  <a:latin typeface="Arial Narrow" panose="020B0606020202030204" pitchFamily="34" charset="0"/>
                </a:rPr>
                <a:t>r</a:t>
              </a:r>
              <a:r>
                <a:rPr lang="en-US" altLang="fr-FR" sz="2400">
                  <a:latin typeface="Arial Narrow" panose="020B0606020202030204" pitchFamily="34" charset="0"/>
                </a:rPr>
                <a:t>’/g</a:t>
              </a:r>
            </a:p>
          </p:txBody>
        </p:sp>
        <p:sp>
          <p:nvSpPr>
            <p:cNvPr id="83978" name="Text Box 31"/>
            <p:cNvSpPr txBox="1">
              <a:spLocks noChangeAspect="1" noChangeArrowheads="1"/>
            </p:cNvSpPr>
            <p:nvPr/>
          </p:nvSpPr>
          <p:spPr bwMode="auto">
            <a:xfrm>
              <a:off x="768" y="1248"/>
              <a:ext cx="560" cy="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V</a:t>
              </a:r>
              <a:r>
                <a:rPr lang="en-US" altLang="fr-FR" sz="2000" baseline="-25000">
                  <a:latin typeface="Arial Narrow" panose="020B0606020202030204" pitchFamily="34" charset="0"/>
                </a:rPr>
                <a:t>s</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83979" name="Text Box 32"/>
            <p:cNvSpPr txBox="1">
              <a:spLocks noChangeAspect="1" noChangeArrowheads="1"/>
            </p:cNvSpPr>
            <p:nvPr/>
          </p:nvSpPr>
          <p:spPr bwMode="auto">
            <a:xfrm>
              <a:off x="1296" y="864"/>
              <a:ext cx="398"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R</a:t>
              </a:r>
              <a:r>
                <a:rPr lang="en-US" altLang="fr-FR" sz="2000" baseline="-25000">
                  <a:latin typeface="Arial Narrow" panose="020B0606020202030204" pitchFamily="34" charset="0"/>
                </a:rPr>
                <a:t>s</a:t>
              </a:r>
              <a:endParaRPr lang="en-US" altLang="fr-FR" sz="2000">
                <a:latin typeface="Arial Narrow" panose="020B0606020202030204" pitchFamily="34" charset="0"/>
              </a:endParaRPr>
            </a:p>
          </p:txBody>
        </p:sp>
        <p:sp>
          <p:nvSpPr>
            <p:cNvPr id="83980" name="Text Box 33"/>
            <p:cNvSpPr txBox="1">
              <a:spLocks noChangeAspect="1" noChangeArrowheads="1"/>
            </p:cNvSpPr>
            <p:nvPr/>
          </p:nvSpPr>
          <p:spPr bwMode="auto">
            <a:xfrm>
              <a:off x="2268" y="794"/>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ls</a:t>
              </a:r>
            </a:p>
          </p:txBody>
        </p:sp>
        <p:sp>
          <p:nvSpPr>
            <p:cNvPr id="83981" name="Text Box 34"/>
            <p:cNvSpPr txBox="1">
              <a:spLocks noChangeAspect="1" noChangeArrowheads="1"/>
            </p:cNvSpPr>
            <p:nvPr/>
          </p:nvSpPr>
          <p:spPr bwMode="auto">
            <a:xfrm>
              <a:off x="3888" y="816"/>
              <a:ext cx="709"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lr</a:t>
              </a:r>
              <a:r>
                <a:rPr lang="en-US" altLang="fr-FR" sz="2400">
                  <a:latin typeface="Arial Narrow" panose="020B0606020202030204" pitchFamily="34" charset="0"/>
                </a:rPr>
                <a:t>’</a:t>
              </a:r>
              <a:endParaRPr lang="en-US" altLang="fr-FR" sz="2400" baseline="-25000">
                <a:latin typeface="Arial Narrow" panose="020B0606020202030204" pitchFamily="34" charset="0"/>
              </a:endParaRPr>
            </a:p>
          </p:txBody>
        </p:sp>
        <p:sp>
          <p:nvSpPr>
            <p:cNvPr id="83982" name="Text Box 35"/>
            <p:cNvSpPr txBox="1">
              <a:spLocks noChangeAspect="1" noChangeArrowheads="1"/>
            </p:cNvSpPr>
            <p:nvPr/>
          </p:nvSpPr>
          <p:spPr bwMode="auto">
            <a:xfrm>
              <a:off x="3195" y="1211"/>
              <a:ext cx="453" cy="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E</a:t>
              </a:r>
              <a:r>
                <a:rPr lang="en-US" altLang="fr-FR" sz="2000" baseline="-25000">
                  <a:latin typeface="Arial Narrow" panose="020B0606020202030204" pitchFamily="34" charset="0"/>
                </a:rPr>
                <a:t>s</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83983" name="Line 36"/>
            <p:cNvSpPr>
              <a:spLocks noChangeAspect="1" noChangeShapeType="1"/>
            </p:cNvSpPr>
            <p:nvPr/>
          </p:nvSpPr>
          <p:spPr bwMode="auto">
            <a:xfrm flipV="1">
              <a:off x="1740" y="1081"/>
              <a:ext cx="24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83984" name="Text Box 37"/>
            <p:cNvSpPr txBox="1">
              <a:spLocks noChangeAspect="1" noChangeArrowheads="1"/>
            </p:cNvSpPr>
            <p:nvPr/>
          </p:nvSpPr>
          <p:spPr bwMode="auto">
            <a:xfrm>
              <a:off x="1683" y="768"/>
              <a:ext cx="46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I</a:t>
              </a:r>
              <a:r>
                <a:rPr lang="en-US" altLang="fr-FR" sz="2400" baseline="-25000">
                  <a:latin typeface="Arial Narrow" panose="020B0606020202030204" pitchFamily="34" charset="0"/>
                </a:rPr>
                <a:t>s</a:t>
              </a:r>
            </a:p>
          </p:txBody>
        </p:sp>
        <p:sp>
          <p:nvSpPr>
            <p:cNvPr id="83985" name="Text Box 38"/>
            <p:cNvSpPr txBox="1">
              <a:spLocks noChangeAspect="1" noChangeArrowheads="1"/>
            </p:cNvSpPr>
            <p:nvPr/>
          </p:nvSpPr>
          <p:spPr bwMode="auto">
            <a:xfrm>
              <a:off x="4512" y="816"/>
              <a:ext cx="426"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I</a:t>
              </a:r>
              <a:r>
                <a:rPr lang="en-US" altLang="fr-FR" sz="2400" baseline="-25000">
                  <a:latin typeface="Arial Narrow" panose="020B0606020202030204" pitchFamily="34" charset="0"/>
                </a:rPr>
                <a:t>r</a:t>
              </a:r>
              <a:r>
                <a:rPr lang="en-US" altLang="fr-FR" sz="2400">
                  <a:latin typeface="Arial Narrow" panose="020B0606020202030204" pitchFamily="34" charset="0"/>
                </a:rPr>
                <a:t>’</a:t>
              </a:r>
            </a:p>
          </p:txBody>
        </p:sp>
        <p:sp>
          <p:nvSpPr>
            <p:cNvPr id="83986" name="Line 39"/>
            <p:cNvSpPr>
              <a:spLocks noChangeAspect="1" noChangeShapeType="1"/>
            </p:cNvSpPr>
            <p:nvPr/>
          </p:nvSpPr>
          <p:spPr bwMode="auto">
            <a:xfrm>
              <a:off x="4304" y="1099"/>
              <a:ext cx="24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83987" name="Line 40"/>
            <p:cNvSpPr>
              <a:spLocks noChangeAspect="1" noChangeShapeType="1"/>
            </p:cNvSpPr>
            <p:nvPr/>
          </p:nvSpPr>
          <p:spPr bwMode="auto">
            <a:xfrm>
              <a:off x="2976" y="1911"/>
              <a:ext cx="0" cy="24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83988" name="Text Box 41"/>
            <p:cNvSpPr txBox="1">
              <a:spLocks noChangeAspect="1" noChangeArrowheads="1"/>
            </p:cNvSpPr>
            <p:nvPr/>
          </p:nvSpPr>
          <p:spPr bwMode="auto">
            <a:xfrm>
              <a:off x="2748" y="1850"/>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I</a:t>
              </a:r>
              <a:r>
                <a:rPr lang="en-US" altLang="fr-FR" sz="2000" baseline="-25000">
                  <a:latin typeface="Arial Narrow" panose="020B0606020202030204" pitchFamily="34" charset="0"/>
                </a:rPr>
                <a:t>m</a:t>
              </a:r>
            </a:p>
          </p:txBody>
        </p:sp>
        <p:sp>
          <p:nvSpPr>
            <p:cNvPr id="83989" name="Text Box 42"/>
            <p:cNvSpPr txBox="1">
              <a:spLocks noChangeAspect="1" noChangeArrowheads="1"/>
            </p:cNvSpPr>
            <p:nvPr/>
          </p:nvSpPr>
          <p:spPr bwMode="auto">
            <a:xfrm>
              <a:off x="2832" y="1465"/>
              <a:ext cx="708"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L</a:t>
              </a:r>
              <a:r>
                <a:rPr lang="en-US" altLang="fr-FR" sz="2000" baseline="-25000">
                  <a:latin typeface="Arial Narrow" panose="020B0606020202030204" pitchFamily="34" charset="0"/>
                </a:rPr>
                <a:t>m</a:t>
              </a:r>
            </a:p>
          </p:txBody>
        </p:sp>
      </p:grpSp>
      <p:sp>
        <p:nvSpPr>
          <p:cNvPr id="83974" name="Espace réservé du numéro de diapositive 2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FFF0EB98-9076-4841-A77A-61777CD8BAA6}" type="slidenum">
              <a:rPr lang="en-US" altLang="fr-FR" sz="1000">
                <a:solidFill>
                  <a:srgbClr val="292929"/>
                </a:solidFill>
                <a:latin typeface="Arial" panose="020B0604020202020204" pitchFamily="34" charset="0"/>
              </a:rPr>
              <a:pPr>
                <a:spcBef>
                  <a:spcPct val="0"/>
                </a:spcBef>
                <a:buClrTx/>
                <a:buSzTx/>
                <a:buFontTx/>
                <a:buNone/>
              </a:pPr>
              <a:t>37</a:t>
            </a:fld>
            <a:endParaRPr lang="en-US" altLang="fr-FR" sz="1000">
              <a:solidFill>
                <a:srgbClr val="292929"/>
              </a:solidFill>
              <a:latin typeface="Arial" panose="020B0604020202020204" pitchFamily="34" charset="0"/>
            </a:endParaRPr>
          </a:p>
        </p:txBody>
      </p:sp>
      <p:sp>
        <p:nvSpPr>
          <p:cNvPr id="25" name="Espace réservé du pied de page 24"/>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1008727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2"/>
          <p:cNvSpPr txBox="1">
            <a:spLocks noChangeArrowheads="1"/>
          </p:cNvSpPr>
          <p:nvPr/>
        </p:nvSpPr>
        <p:spPr bwMode="auto">
          <a:xfrm>
            <a:off x="865188" y="352425"/>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cs typeface="Times New Roman" panose="02020603050405020304" pitchFamily="18" charset="0"/>
              </a:rPr>
              <a:t>Performance en régime statique</a:t>
            </a:r>
          </a:p>
        </p:txBody>
      </p:sp>
      <p:sp>
        <p:nvSpPr>
          <p:cNvPr id="86019" name="Rectangle 7"/>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nvGrpSpPr>
          <p:cNvPr id="86020" name="Group 9"/>
          <p:cNvGrpSpPr>
            <a:grpSpLocks/>
          </p:cNvGrpSpPr>
          <p:nvPr/>
        </p:nvGrpSpPr>
        <p:grpSpPr bwMode="auto">
          <a:xfrm>
            <a:off x="990600" y="914400"/>
            <a:ext cx="7600950" cy="2584450"/>
            <a:chOff x="768" y="768"/>
            <a:chExt cx="4788" cy="1628"/>
          </a:xfrm>
        </p:grpSpPr>
        <p:pic>
          <p:nvPicPr>
            <p:cNvPr id="86025" name="Picture 10"/>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864" y="1056"/>
              <a:ext cx="4008" cy="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6" name="Text Box 11"/>
            <p:cNvSpPr txBox="1">
              <a:spLocks noChangeAspect="1" noChangeArrowheads="1"/>
            </p:cNvSpPr>
            <p:nvPr/>
          </p:nvSpPr>
          <p:spPr bwMode="auto">
            <a:xfrm>
              <a:off x="4848" y="1440"/>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R</a:t>
              </a:r>
              <a:r>
                <a:rPr lang="en-US" altLang="fr-FR" sz="2400" baseline="-25000">
                  <a:latin typeface="Arial Narrow" panose="020B0606020202030204" pitchFamily="34" charset="0"/>
                </a:rPr>
                <a:t>r</a:t>
              </a:r>
              <a:r>
                <a:rPr lang="en-US" altLang="fr-FR" sz="2400">
                  <a:latin typeface="Arial Narrow" panose="020B0606020202030204" pitchFamily="34" charset="0"/>
                </a:rPr>
                <a:t>’/g</a:t>
              </a:r>
            </a:p>
          </p:txBody>
        </p:sp>
        <p:sp>
          <p:nvSpPr>
            <p:cNvPr id="86027" name="Text Box 12"/>
            <p:cNvSpPr txBox="1">
              <a:spLocks noChangeAspect="1" noChangeArrowheads="1"/>
            </p:cNvSpPr>
            <p:nvPr/>
          </p:nvSpPr>
          <p:spPr bwMode="auto">
            <a:xfrm>
              <a:off x="768" y="1248"/>
              <a:ext cx="560" cy="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V</a:t>
              </a:r>
              <a:r>
                <a:rPr lang="en-US" altLang="fr-FR" sz="2000" baseline="-25000">
                  <a:latin typeface="Arial Narrow" panose="020B0606020202030204" pitchFamily="34" charset="0"/>
                </a:rPr>
                <a:t>s</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86028" name="Text Box 13"/>
            <p:cNvSpPr txBox="1">
              <a:spLocks noChangeAspect="1" noChangeArrowheads="1"/>
            </p:cNvSpPr>
            <p:nvPr/>
          </p:nvSpPr>
          <p:spPr bwMode="auto">
            <a:xfrm>
              <a:off x="1296" y="864"/>
              <a:ext cx="398"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R</a:t>
              </a:r>
              <a:r>
                <a:rPr lang="en-US" altLang="fr-FR" sz="2000" baseline="-25000">
                  <a:latin typeface="Arial Narrow" panose="020B0606020202030204" pitchFamily="34" charset="0"/>
                </a:rPr>
                <a:t>s</a:t>
              </a:r>
              <a:endParaRPr lang="en-US" altLang="fr-FR" sz="2000">
                <a:latin typeface="Arial Narrow" panose="020B0606020202030204" pitchFamily="34" charset="0"/>
              </a:endParaRPr>
            </a:p>
          </p:txBody>
        </p:sp>
        <p:sp>
          <p:nvSpPr>
            <p:cNvPr id="86029" name="Text Box 14"/>
            <p:cNvSpPr txBox="1">
              <a:spLocks noChangeAspect="1" noChangeArrowheads="1"/>
            </p:cNvSpPr>
            <p:nvPr/>
          </p:nvSpPr>
          <p:spPr bwMode="auto">
            <a:xfrm>
              <a:off x="2268" y="794"/>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ls</a:t>
              </a:r>
            </a:p>
          </p:txBody>
        </p:sp>
        <p:sp>
          <p:nvSpPr>
            <p:cNvPr id="86030" name="Text Box 15"/>
            <p:cNvSpPr txBox="1">
              <a:spLocks noChangeAspect="1" noChangeArrowheads="1"/>
            </p:cNvSpPr>
            <p:nvPr/>
          </p:nvSpPr>
          <p:spPr bwMode="auto">
            <a:xfrm>
              <a:off x="3888" y="816"/>
              <a:ext cx="709"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lr</a:t>
              </a:r>
              <a:r>
                <a:rPr lang="en-US" altLang="fr-FR" sz="2400">
                  <a:latin typeface="Arial Narrow" panose="020B0606020202030204" pitchFamily="34" charset="0"/>
                </a:rPr>
                <a:t>’</a:t>
              </a:r>
              <a:endParaRPr lang="en-US" altLang="fr-FR" sz="2400" baseline="-25000">
                <a:latin typeface="Arial Narrow" panose="020B0606020202030204" pitchFamily="34" charset="0"/>
              </a:endParaRPr>
            </a:p>
          </p:txBody>
        </p:sp>
        <p:sp>
          <p:nvSpPr>
            <p:cNvPr id="86031" name="Text Box 16"/>
            <p:cNvSpPr txBox="1">
              <a:spLocks noChangeAspect="1" noChangeArrowheads="1"/>
            </p:cNvSpPr>
            <p:nvPr/>
          </p:nvSpPr>
          <p:spPr bwMode="auto">
            <a:xfrm>
              <a:off x="3195" y="1211"/>
              <a:ext cx="453" cy="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E</a:t>
              </a:r>
              <a:r>
                <a:rPr lang="en-US" altLang="fr-FR" sz="2000" baseline="-25000">
                  <a:latin typeface="Arial Narrow" panose="020B0606020202030204" pitchFamily="34" charset="0"/>
                </a:rPr>
                <a:t>s</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86032" name="Line 17"/>
            <p:cNvSpPr>
              <a:spLocks noChangeAspect="1" noChangeShapeType="1"/>
            </p:cNvSpPr>
            <p:nvPr/>
          </p:nvSpPr>
          <p:spPr bwMode="auto">
            <a:xfrm flipV="1">
              <a:off x="1740" y="1081"/>
              <a:ext cx="24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86033" name="Text Box 18"/>
            <p:cNvSpPr txBox="1">
              <a:spLocks noChangeAspect="1" noChangeArrowheads="1"/>
            </p:cNvSpPr>
            <p:nvPr/>
          </p:nvSpPr>
          <p:spPr bwMode="auto">
            <a:xfrm>
              <a:off x="1683" y="768"/>
              <a:ext cx="46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I</a:t>
              </a:r>
              <a:r>
                <a:rPr lang="en-US" altLang="fr-FR" sz="2400" baseline="-25000">
                  <a:latin typeface="Arial Narrow" panose="020B0606020202030204" pitchFamily="34" charset="0"/>
                </a:rPr>
                <a:t>s</a:t>
              </a:r>
            </a:p>
          </p:txBody>
        </p:sp>
        <p:sp>
          <p:nvSpPr>
            <p:cNvPr id="86034" name="Text Box 19"/>
            <p:cNvSpPr txBox="1">
              <a:spLocks noChangeAspect="1" noChangeArrowheads="1"/>
            </p:cNvSpPr>
            <p:nvPr/>
          </p:nvSpPr>
          <p:spPr bwMode="auto">
            <a:xfrm>
              <a:off x="4512" y="816"/>
              <a:ext cx="426"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I</a:t>
              </a:r>
              <a:r>
                <a:rPr lang="en-US" altLang="fr-FR" sz="2400" baseline="-25000">
                  <a:latin typeface="Arial Narrow" panose="020B0606020202030204" pitchFamily="34" charset="0"/>
                </a:rPr>
                <a:t>r</a:t>
              </a:r>
              <a:r>
                <a:rPr lang="en-US" altLang="fr-FR" sz="2400">
                  <a:latin typeface="Arial Narrow" panose="020B0606020202030204" pitchFamily="34" charset="0"/>
                </a:rPr>
                <a:t>’</a:t>
              </a:r>
            </a:p>
          </p:txBody>
        </p:sp>
        <p:sp>
          <p:nvSpPr>
            <p:cNvPr id="86035" name="Line 20"/>
            <p:cNvSpPr>
              <a:spLocks noChangeAspect="1" noChangeShapeType="1"/>
            </p:cNvSpPr>
            <p:nvPr/>
          </p:nvSpPr>
          <p:spPr bwMode="auto">
            <a:xfrm>
              <a:off x="4304" y="1099"/>
              <a:ext cx="24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86036" name="Line 21"/>
            <p:cNvSpPr>
              <a:spLocks noChangeAspect="1" noChangeShapeType="1"/>
            </p:cNvSpPr>
            <p:nvPr/>
          </p:nvSpPr>
          <p:spPr bwMode="auto">
            <a:xfrm>
              <a:off x="2976" y="1911"/>
              <a:ext cx="0" cy="24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86037" name="Text Box 22"/>
            <p:cNvSpPr txBox="1">
              <a:spLocks noChangeAspect="1" noChangeArrowheads="1"/>
            </p:cNvSpPr>
            <p:nvPr/>
          </p:nvSpPr>
          <p:spPr bwMode="auto">
            <a:xfrm>
              <a:off x="2748" y="1850"/>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I</a:t>
              </a:r>
              <a:r>
                <a:rPr lang="en-US" altLang="fr-FR" sz="2000" baseline="-25000">
                  <a:latin typeface="Arial Narrow" panose="020B0606020202030204" pitchFamily="34" charset="0"/>
                </a:rPr>
                <a:t>m</a:t>
              </a:r>
            </a:p>
          </p:txBody>
        </p:sp>
        <p:sp>
          <p:nvSpPr>
            <p:cNvPr id="86038" name="Text Box 23"/>
            <p:cNvSpPr txBox="1">
              <a:spLocks noChangeAspect="1" noChangeArrowheads="1"/>
            </p:cNvSpPr>
            <p:nvPr/>
          </p:nvSpPr>
          <p:spPr bwMode="auto">
            <a:xfrm>
              <a:off x="2832" y="1465"/>
              <a:ext cx="708"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L</a:t>
              </a:r>
              <a:r>
                <a:rPr lang="en-US" altLang="fr-FR" sz="2000" baseline="-25000">
                  <a:latin typeface="Arial Narrow" panose="020B0606020202030204" pitchFamily="34" charset="0"/>
                </a:rPr>
                <a:t>m</a:t>
              </a:r>
            </a:p>
          </p:txBody>
        </p:sp>
      </p:grpSp>
      <p:sp>
        <p:nvSpPr>
          <p:cNvPr id="86021" name="Text Box 24"/>
          <p:cNvSpPr txBox="1">
            <a:spLocks noChangeArrowheads="1"/>
          </p:cNvSpPr>
          <p:nvPr/>
        </p:nvSpPr>
        <p:spPr bwMode="auto">
          <a:xfrm>
            <a:off x="1676400" y="42672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86022" name="Rectangle 25"/>
          <p:cNvSpPr>
            <a:spLocks noChangeArrowheads="1"/>
          </p:cNvSpPr>
          <p:nvPr/>
        </p:nvSpPr>
        <p:spPr bwMode="auto">
          <a:xfrm>
            <a:off x="1447800" y="3886200"/>
            <a:ext cx="655320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50000"/>
              </a:spcBef>
              <a:buClrTx/>
              <a:buSzTx/>
              <a:buFontTx/>
              <a:buNone/>
            </a:pPr>
            <a:r>
              <a:rPr lang="en-US" altLang="fr-FR" sz="2400" b="1">
                <a:latin typeface="Arial Narrow" panose="020B0606020202030204" pitchFamily="34" charset="0"/>
              </a:rPr>
              <a:t>Exemple. Moteur 3–phasé à cage d’écureil</a:t>
            </a:r>
          </a:p>
          <a:p>
            <a:pPr eaLnBrk="1" hangingPunct="1">
              <a:spcBef>
                <a:spcPct val="50000"/>
              </a:spcBef>
              <a:buClrTx/>
              <a:buSzTx/>
              <a:buFontTx/>
              <a:buNone/>
            </a:pPr>
            <a:r>
              <a:rPr lang="en-US" altLang="fr-FR" sz="2400">
                <a:latin typeface="Arial Narrow" panose="020B0606020202030204" pitchFamily="34" charset="0"/>
              </a:rPr>
              <a:t>V = 460 V      R</a:t>
            </a:r>
            <a:r>
              <a:rPr lang="en-US" altLang="fr-FR" sz="2400" baseline="-25000">
                <a:latin typeface="Arial Narrow" panose="020B0606020202030204" pitchFamily="34" charset="0"/>
              </a:rPr>
              <a:t>s</a:t>
            </a:r>
            <a:r>
              <a:rPr lang="en-US" altLang="fr-FR" sz="2400">
                <a:latin typeface="Arial Narrow" panose="020B0606020202030204" pitchFamily="34" charset="0"/>
              </a:rPr>
              <a:t>= 0.25 </a:t>
            </a:r>
            <a:r>
              <a:rPr lang="en-US" altLang="fr-FR" sz="2400">
                <a:latin typeface="Arial Narrow" panose="020B0606020202030204" pitchFamily="34" charset="0"/>
                <a:sym typeface="Symbol" panose="05050102010706020507" pitchFamily="18" charset="2"/>
              </a:rPr>
              <a:t></a:t>
            </a:r>
            <a:r>
              <a:rPr lang="en-US" altLang="fr-FR" sz="2400">
                <a:latin typeface="Arial Narrow" panose="020B0606020202030204" pitchFamily="34" charset="0"/>
              </a:rPr>
              <a:t>       R’</a:t>
            </a:r>
            <a:r>
              <a:rPr lang="en-US" altLang="fr-FR" sz="2400" baseline="-25000">
                <a:latin typeface="Arial Narrow" panose="020B0606020202030204" pitchFamily="34" charset="0"/>
              </a:rPr>
              <a:t>r</a:t>
            </a:r>
            <a:r>
              <a:rPr lang="en-US" altLang="fr-FR" sz="2400">
                <a:latin typeface="Arial Narrow" panose="020B0606020202030204" pitchFamily="34" charset="0"/>
              </a:rPr>
              <a:t>=0.2 </a:t>
            </a:r>
            <a:r>
              <a:rPr lang="en-US" altLang="fr-FR" sz="2400">
                <a:latin typeface="Arial Narrow" panose="020B0606020202030204" pitchFamily="34" charset="0"/>
                <a:sym typeface="Symbol" panose="05050102010706020507" pitchFamily="18" charset="2"/>
              </a:rPr>
              <a:t></a:t>
            </a:r>
            <a:r>
              <a:rPr lang="en-US" altLang="fr-FR" sz="2400">
                <a:latin typeface="Arial Narrow" panose="020B0606020202030204" pitchFamily="34" charset="0"/>
                <a:cs typeface="Times New Roman" panose="02020603050405020304" pitchFamily="18" charset="0"/>
              </a:rPr>
              <a:t> </a:t>
            </a:r>
            <a:endParaRPr lang="en-US" altLang="fr-FR" sz="2400">
              <a:latin typeface="Arial Narrow" panose="020B0606020202030204" pitchFamily="34" charset="0"/>
            </a:endParaRPr>
          </a:p>
          <a:p>
            <a:pPr eaLnBrk="1" hangingPunct="1">
              <a:spcBef>
                <a:spcPct val="5000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r</a:t>
            </a:r>
            <a:r>
              <a:rPr lang="en-US" altLang="fr-FR" sz="2400">
                <a:latin typeface="Arial Narrow" panose="020B0606020202030204" pitchFamily="34" charset="0"/>
              </a:rPr>
              <a:t> = L</a:t>
            </a:r>
            <a:r>
              <a:rPr lang="en-US" altLang="fr-FR" sz="2400" baseline="-25000">
                <a:latin typeface="Arial Narrow" panose="020B0606020202030204" pitchFamily="34" charset="0"/>
              </a:rPr>
              <a:t>s</a:t>
            </a:r>
            <a:r>
              <a:rPr lang="en-US" altLang="fr-FR" sz="2400">
                <a:latin typeface="Arial Narrow" panose="020B0606020202030204" pitchFamily="34" charset="0"/>
              </a:rPr>
              <a:t> = 0.5/(2*pi*50)      L</a:t>
            </a:r>
            <a:r>
              <a:rPr lang="en-US" altLang="fr-FR" sz="2400" baseline="-25000">
                <a:latin typeface="Arial Narrow" panose="020B0606020202030204" pitchFamily="34" charset="0"/>
              </a:rPr>
              <a:t>m</a:t>
            </a:r>
            <a:r>
              <a:rPr lang="en-US" altLang="fr-FR" sz="2400">
                <a:latin typeface="Arial Narrow" panose="020B0606020202030204" pitchFamily="34" charset="0"/>
              </a:rPr>
              <a:t>=30/(2*pi*50)</a:t>
            </a:r>
          </a:p>
          <a:p>
            <a:pPr eaLnBrk="1" hangingPunct="1">
              <a:spcBef>
                <a:spcPct val="50000"/>
              </a:spcBef>
              <a:buClrTx/>
              <a:buSzTx/>
              <a:buFontTx/>
              <a:buNone/>
            </a:pPr>
            <a:r>
              <a:rPr lang="en-US" altLang="fr-FR" sz="2400">
                <a:latin typeface="Arial Narrow" panose="020B0606020202030204" pitchFamily="34" charset="0"/>
              </a:rPr>
              <a:t>f = 50Hz      p = 4</a:t>
            </a:r>
          </a:p>
        </p:txBody>
      </p:sp>
      <p:sp>
        <p:nvSpPr>
          <p:cNvPr id="86023" name="Espace réservé du numéro de diapositive 2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68F2D1B9-90BB-48AA-BB7D-6C3910A20EF2}" type="slidenum">
              <a:rPr lang="en-US" altLang="fr-FR" sz="1000">
                <a:solidFill>
                  <a:srgbClr val="292929"/>
                </a:solidFill>
                <a:latin typeface="Arial" panose="020B0604020202020204" pitchFamily="34" charset="0"/>
              </a:rPr>
              <a:pPr>
                <a:spcBef>
                  <a:spcPct val="0"/>
                </a:spcBef>
                <a:buClrTx/>
                <a:buSzTx/>
                <a:buFontTx/>
                <a:buNone/>
              </a:pPr>
              <a:t>38</a:t>
            </a:fld>
            <a:endParaRPr lang="en-US" altLang="fr-FR" sz="1000">
              <a:solidFill>
                <a:srgbClr val="292929"/>
              </a:solidFill>
              <a:latin typeface="Arial" panose="020B0604020202020204" pitchFamily="34" charset="0"/>
            </a:endParaRPr>
          </a:p>
        </p:txBody>
      </p:sp>
      <p:sp>
        <p:nvSpPr>
          <p:cNvPr id="26" name="Espace réservé du pied de page 25"/>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57783149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2"/>
          <p:cNvSpPr txBox="1">
            <a:spLocks noChangeArrowheads="1"/>
          </p:cNvSpPr>
          <p:nvPr/>
        </p:nvSpPr>
        <p:spPr bwMode="auto">
          <a:xfrm>
            <a:off x="3124200" y="381000"/>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cs typeface="Times New Roman" panose="02020603050405020304" pitchFamily="18" charset="0"/>
              </a:rPr>
              <a:t>Performance en régime statique</a:t>
            </a:r>
          </a:p>
        </p:txBody>
      </p:sp>
      <p:sp>
        <p:nvSpPr>
          <p:cNvPr id="88067" name="Rectangle 7"/>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88068" name="Text Box 23"/>
          <p:cNvSpPr txBox="1">
            <a:spLocks noChangeArrowheads="1"/>
          </p:cNvSpPr>
          <p:nvPr/>
        </p:nvSpPr>
        <p:spPr bwMode="auto">
          <a:xfrm>
            <a:off x="1676400" y="42672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pic>
        <p:nvPicPr>
          <p:cNvPr id="88069" name="Picture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990600"/>
            <a:ext cx="7710488" cy="505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0" name="Espace réservé du numéro de diapositive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0CAD4609-DA6C-480D-9F31-3E6112C4E585}" type="slidenum">
              <a:rPr lang="en-US" altLang="fr-FR" sz="1000">
                <a:solidFill>
                  <a:srgbClr val="292929"/>
                </a:solidFill>
                <a:latin typeface="Arial" panose="020B0604020202020204" pitchFamily="34" charset="0"/>
              </a:rPr>
              <a:pPr>
                <a:spcBef>
                  <a:spcPct val="0"/>
                </a:spcBef>
                <a:buClrTx/>
                <a:buSzTx/>
                <a:buFontTx/>
                <a:buNone/>
              </a:pPr>
              <a:t>39</a:t>
            </a:fld>
            <a:endParaRPr lang="en-US" altLang="fr-FR" sz="1000">
              <a:solidFill>
                <a:srgbClr val="292929"/>
              </a:solidFill>
              <a:latin typeface="Arial" panose="020B0604020202020204" pitchFamily="34" charset="0"/>
            </a:endParaRPr>
          </a:p>
        </p:txBody>
      </p:sp>
      <p:sp>
        <p:nvSpPr>
          <p:cNvPr id="11" name="Espace réservé du pied de page 10"/>
          <p:cNvSpPr>
            <a:spLocks noGrp="1"/>
          </p:cNvSpPr>
          <p:nvPr>
            <p:ph type="ftr" sz="quarter" idx="11"/>
          </p:nvPr>
        </p:nvSpPr>
        <p:spPr/>
        <p:txBody>
          <a:bodyPr/>
          <a:lstStyle/>
          <a:p>
            <a:pPr>
              <a:defRPr/>
            </a:pPr>
            <a:r>
              <a:rPr lang="en-US"/>
              <a:t>Commande des machines Mach asyn   Ali NEJMI</a:t>
            </a:r>
          </a:p>
        </p:txBody>
      </p:sp>
      <p:sp>
        <p:nvSpPr>
          <p:cNvPr id="88072" name="ZoneTexte 7"/>
          <p:cNvSpPr txBox="1">
            <a:spLocks noChangeArrowheads="1"/>
          </p:cNvSpPr>
          <p:nvPr/>
        </p:nvSpPr>
        <p:spPr bwMode="auto">
          <a:xfrm>
            <a:off x="7931150" y="2333625"/>
            <a:ext cx="2190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000">
                <a:latin typeface="Arial Narrow" panose="020B0606020202030204" pitchFamily="34" charset="0"/>
              </a:rPr>
              <a:t>g</a:t>
            </a:r>
          </a:p>
        </p:txBody>
      </p:sp>
      <p:sp>
        <p:nvSpPr>
          <p:cNvPr id="88073" name="ZoneTexte 8"/>
          <p:cNvSpPr txBox="1">
            <a:spLocks noChangeArrowheads="1"/>
          </p:cNvSpPr>
          <p:nvPr/>
        </p:nvSpPr>
        <p:spPr bwMode="auto">
          <a:xfrm>
            <a:off x="7931150" y="3794125"/>
            <a:ext cx="2190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000">
                <a:latin typeface="Arial Narrow" panose="020B0606020202030204" pitchFamily="34" charset="0"/>
              </a:rPr>
              <a:t>g</a:t>
            </a:r>
          </a:p>
        </p:txBody>
      </p:sp>
      <p:sp>
        <p:nvSpPr>
          <p:cNvPr id="88074" name="ZoneTexte 11"/>
          <p:cNvSpPr txBox="1">
            <a:spLocks noChangeArrowheads="1"/>
          </p:cNvSpPr>
          <p:nvPr/>
        </p:nvSpPr>
        <p:spPr bwMode="auto">
          <a:xfrm>
            <a:off x="7931150" y="5254625"/>
            <a:ext cx="2190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000">
                <a:latin typeface="Arial Narrow" panose="020B0606020202030204" pitchFamily="34" charset="0"/>
              </a:rPr>
              <a:t>g</a:t>
            </a:r>
          </a:p>
        </p:txBody>
      </p:sp>
    </p:spTree>
    <p:extLst>
      <p:ext uri="{BB962C8B-B14F-4D97-AF65-F5344CB8AC3E}">
        <p14:creationId xmlns:p14="http://schemas.microsoft.com/office/powerpoint/2010/main" val="97490857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2"/>
          <p:cNvSpPr txBox="1">
            <a:spLocks noChangeArrowheads="1"/>
          </p:cNvSpPr>
          <p:nvPr/>
        </p:nvSpPr>
        <p:spPr bwMode="auto">
          <a:xfrm>
            <a:off x="3124200" y="381000"/>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cs typeface="Times New Roman" panose="02020603050405020304" pitchFamily="18" charset="0"/>
              </a:rPr>
              <a:t>Performance en régime statique</a:t>
            </a:r>
          </a:p>
        </p:txBody>
      </p:sp>
      <p:sp>
        <p:nvSpPr>
          <p:cNvPr id="90115" name="Rectangle 7"/>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90116" name="Text Box 8"/>
          <p:cNvSpPr txBox="1">
            <a:spLocks noChangeArrowheads="1"/>
          </p:cNvSpPr>
          <p:nvPr/>
        </p:nvSpPr>
        <p:spPr bwMode="auto">
          <a:xfrm>
            <a:off x="1676400" y="42672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pic>
        <p:nvPicPr>
          <p:cNvPr id="90117"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0813" y="1019175"/>
            <a:ext cx="6300787"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8" name="ZoneTexte 9"/>
          <p:cNvSpPr txBox="1">
            <a:spLocks noChangeArrowheads="1"/>
          </p:cNvSpPr>
          <p:nvPr/>
        </p:nvSpPr>
        <p:spPr bwMode="auto">
          <a:xfrm>
            <a:off x="6981825" y="5421313"/>
            <a:ext cx="2921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g</a:t>
            </a:r>
          </a:p>
        </p:txBody>
      </p:sp>
      <p:sp>
        <p:nvSpPr>
          <p:cNvPr id="90119" name="Espace réservé du numéro de diapositive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08A65F32-736C-4AEA-A6B2-F652E96E124C}" type="slidenum">
              <a:rPr lang="en-US" altLang="fr-FR" sz="1000">
                <a:solidFill>
                  <a:srgbClr val="292929"/>
                </a:solidFill>
                <a:latin typeface="Arial" panose="020B0604020202020204" pitchFamily="34" charset="0"/>
              </a:rPr>
              <a:pPr>
                <a:spcBef>
                  <a:spcPct val="0"/>
                </a:spcBef>
                <a:buClrTx/>
                <a:buSzTx/>
                <a:buFontTx/>
                <a:buNone/>
              </a:pPr>
              <a:t>40</a:t>
            </a:fld>
            <a:endParaRPr lang="en-US" altLang="fr-FR" sz="1000">
              <a:solidFill>
                <a:srgbClr val="292929"/>
              </a:solidFill>
              <a:latin typeface="Arial" panose="020B0604020202020204" pitchFamily="34" charset="0"/>
            </a:endParaRPr>
          </a:p>
        </p:txBody>
      </p:sp>
      <p:sp>
        <p:nvSpPr>
          <p:cNvPr id="11" name="Espace réservé du pied de page 10"/>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12570163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2"/>
          <p:cNvSpPr txBox="1">
            <a:spLocks noChangeArrowheads="1"/>
          </p:cNvSpPr>
          <p:nvPr/>
        </p:nvSpPr>
        <p:spPr bwMode="auto">
          <a:xfrm>
            <a:off x="3124200" y="381000"/>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cs typeface="Times New Roman" panose="02020603050405020304" pitchFamily="18" charset="0"/>
              </a:rPr>
              <a:t>Performance en régime statique</a:t>
            </a:r>
          </a:p>
        </p:txBody>
      </p:sp>
      <p:sp>
        <p:nvSpPr>
          <p:cNvPr id="92163" name="Rectangle 7"/>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92164" name="Text Box 8"/>
          <p:cNvSpPr txBox="1">
            <a:spLocks noChangeArrowheads="1"/>
          </p:cNvSpPr>
          <p:nvPr/>
        </p:nvSpPr>
        <p:spPr bwMode="auto">
          <a:xfrm>
            <a:off x="1676400" y="42672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pic>
        <p:nvPicPr>
          <p:cNvPr id="92165"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3513" y="1066800"/>
            <a:ext cx="6276975"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6" name="ZoneTexte 9"/>
          <p:cNvSpPr txBox="1">
            <a:spLocks noChangeArrowheads="1"/>
          </p:cNvSpPr>
          <p:nvPr/>
        </p:nvSpPr>
        <p:spPr bwMode="auto">
          <a:xfrm>
            <a:off x="5083175" y="2698750"/>
            <a:ext cx="647700" cy="323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Narrow" panose="020B0606020202030204" pitchFamily="34" charset="0"/>
              </a:rPr>
              <a:t>(1-g)</a:t>
            </a:r>
          </a:p>
        </p:txBody>
      </p:sp>
      <p:sp>
        <p:nvSpPr>
          <p:cNvPr id="92167" name="ZoneTexte 10"/>
          <p:cNvSpPr txBox="1">
            <a:spLocks noChangeArrowheads="1"/>
          </p:cNvSpPr>
          <p:nvPr/>
        </p:nvSpPr>
        <p:spPr bwMode="auto">
          <a:xfrm>
            <a:off x="7164388" y="5035550"/>
            <a:ext cx="2921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g</a:t>
            </a:r>
          </a:p>
        </p:txBody>
      </p:sp>
      <p:sp>
        <p:nvSpPr>
          <p:cNvPr id="92168" name="ZoneTexte 9"/>
          <p:cNvSpPr txBox="1">
            <a:spLocks noChangeArrowheads="1"/>
          </p:cNvSpPr>
          <p:nvPr/>
        </p:nvSpPr>
        <p:spPr bwMode="auto">
          <a:xfrm>
            <a:off x="3951288" y="1019175"/>
            <a:ext cx="25193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Narrow" panose="020B0606020202030204" pitchFamily="34" charset="0"/>
              </a:rPr>
              <a:t>Rendement</a:t>
            </a:r>
          </a:p>
        </p:txBody>
      </p:sp>
      <p:sp>
        <p:nvSpPr>
          <p:cNvPr id="92169" name="Espace réservé du numéro de diapositive 1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7C8F250B-B259-407F-854C-667498EF583B}" type="slidenum">
              <a:rPr lang="en-US" altLang="fr-FR" sz="1000">
                <a:solidFill>
                  <a:srgbClr val="292929"/>
                </a:solidFill>
                <a:latin typeface="Arial" panose="020B0604020202020204" pitchFamily="34" charset="0"/>
              </a:rPr>
              <a:pPr>
                <a:spcBef>
                  <a:spcPct val="0"/>
                </a:spcBef>
                <a:buClrTx/>
                <a:buSzTx/>
                <a:buFontTx/>
                <a:buNone/>
              </a:pPr>
              <a:t>41</a:t>
            </a:fld>
            <a:endParaRPr lang="en-US" altLang="fr-FR" sz="1000">
              <a:solidFill>
                <a:srgbClr val="292929"/>
              </a:solidFill>
              <a:latin typeface="Arial" panose="020B0604020202020204" pitchFamily="34" charset="0"/>
            </a:endParaRPr>
          </a:p>
        </p:txBody>
      </p:sp>
      <p:sp>
        <p:nvSpPr>
          <p:cNvPr id="12" name="Espace réservé du pied de page 11"/>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484381522"/>
      </p:ext>
    </p:extLst>
  </p:cSld>
  <p:clrMapOvr>
    <a:masterClrMapping/>
  </p:clrMapOvr>
  <p:timing>
    <p:tnLst>
      <p:par>
        <p:cTn id="1" dur="indefinite" restart="never" nodeType="tmRoot"/>
      </p:par>
    </p:tnLst>
  </p:timing>
</p:sld>
</file>

<file path=ppt/theme/theme1.xml><?xml version="1.0" encoding="utf-8"?>
<a:theme xmlns:a="http://schemas.openxmlformats.org/drawingml/2006/main" name="Technique">
  <a:themeElements>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echnique">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5662</TotalTime>
  <Words>2702</Words>
  <Application>Microsoft Office PowerPoint</Application>
  <PresentationFormat>Affichage à l'écran (4:3)</PresentationFormat>
  <Paragraphs>530</Paragraphs>
  <Slides>41</Slides>
  <Notes>41</Notes>
  <HiddenSlides>0</HiddenSlides>
  <MMClips>0</MMClips>
  <ScaleCrop>false</ScaleCrop>
  <HeadingPairs>
    <vt:vector size="8" baseType="variant">
      <vt:variant>
        <vt:lpstr>Polices utilisées</vt:lpstr>
      </vt:variant>
      <vt:variant>
        <vt:i4>13</vt:i4>
      </vt:variant>
      <vt:variant>
        <vt:lpstr>Thème</vt:lpstr>
      </vt:variant>
      <vt:variant>
        <vt:i4>1</vt:i4>
      </vt:variant>
      <vt:variant>
        <vt:lpstr>Serveurs OLE incorporés</vt:lpstr>
      </vt:variant>
      <vt:variant>
        <vt:i4>3</vt:i4>
      </vt:variant>
      <vt:variant>
        <vt:lpstr>Titres des diapositives</vt:lpstr>
      </vt:variant>
      <vt:variant>
        <vt:i4>41</vt:i4>
      </vt:variant>
    </vt:vector>
  </HeadingPairs>
  <TitlesOfParts>
    <vt:vector size="58" baseType="lpstr">
      <vt:lpstr>Arial</vt:lpstr>
      <vt:lpstr>Arial Narrow</vt:lpstr>
      <vt:lpstr>Book Antiqua</vt:lpstr>
      <vt:lpstr>Bookman Old Style</vt:lpstr>
      <vt:lpstr>Bradley Hand ITC</vt:lpstr>
      <vt:lpstr>Calibri</vt:lpstr>
      <vt:lpstr>Courier New</vt:lpstr>
      <vt:lpstr>GreekC</vt:lpstr>
      <vt:lpstr>Lucida Sans</vt:lpstr>
      <vt:lpstr>Symbol</vt:lpstr>
      <vt:lpstr>Times New Roman</vt:lpstr>
      <vt:lpstr>Wingdings</vt:lpstr>
      <vt:lpstr>Wingdings 2</vt:lpstr>
      <vt:lpstr>Technique</vt:lpstr>
      <vt:lpstr>Équation</vt:lpstr>
      <vt:lpstr>Video Clip</vt:lpstr>
      <vt:lpstr>Equation</vt:lpstr>
      <vt:lpstr>MODULE Machine asynchrone 3.1. Modèle statique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UTM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INDUCTION MOTOR (squirrel cage)</dc:title>
  <dc:creator>Dr Nik Rumzi Nik Idris</dc:creator>
  <cp:lastModifiedBy>DELL</cp:lastModifiedBy>
  <cp:revision>235</cp:revision>
  <dcterms:created xsi:type="dcterms:W3CDTF">2005-09-05T13:15:16Z</dcterms:created>
  <dcterms:modified xsi:type="dcterms:W3CDTF">2023-10-11T21:40:36Z</dcterms:modified>
</cp:coreProperties>
</file>