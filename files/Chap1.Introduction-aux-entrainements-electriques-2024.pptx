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1"/>
  </p:notesMasterIdLst>
  <p:sldIdLst>
    <p:sldId id="318" r:id="rId2"/>
    <p:sldId id="313" r:id="rId3"/>
    <p:sldId id="314" r:id="rId4"/>
    <p:sldId id="316" r:id="rId5"/>
    <p:sldId id="317" r:id="rId6"/>
    <p:sldId id="256" r:id="rId7"/>
    <p:sldId id="257" r:id="rId8"/>
    <p:sldId id="346" r:id="rId9"/>
    <p:sldId id="306" r:id="rId10"/>
    <p:sldId id="303" r:id="rId11"/>
    <p:sldId id="394" r:id="rId12"/>
    <p:sldId id="395" r:id="rId13"/>
    <p:sldId id="258" r:id="rId14"/>
    <p:sldId id="259" r:id="rId15"/>
    <p:sldId id="347" r:id="rId16"/>
    <p:sldId id="275" r:id="rId17"/>
    <p:sldId id="312" r:id="rId18"/>
    <p:sldId id="261" r:id="rId19"/>
    <p:sldId id="329" r:id="rId20"/>
    <p:sldId id="266" r:id="rId21"/>
    <p:sldId id="284" r:id="rId22"/>
    <p:sldId id="330" r:id="rId23"/>
    <p:sldId id="331" r:id="rId24"/>
    <p:sldId id="270" r:id="rId25"/>
    <p:sldId id="332" r:id="rId26"/>
    <p:sldId id="333" r:id="rId27"/>
    <p:sldId id="285" r:id="rId28"/>
    <p:sldId id="279" r:id="rId29"/>
    <p:sldId id="350" r:id="rId30"/>
    <p:sldId id="352" r:id="rId31"/>
    <p:sldId id="286" r:id="rId32"/>
    <p:sldId id="334" r:id="rId33"/>
    <p:sldId id="349" r:id="rId34"/>
    <p:sldId id="393" r:id="rId35"/>
    <p:sldId id="277" r:id="rId36"/>
    <p:sldId id="335" r:id="rId37"/>
    <p:sldId id="336" r:id="rId38"/>
    <p:sldId id="281" r:id="rId39"/>
    <p:sldId id="283" r:id="rId40"/>
    <p:sldId id="398" r:id="rId41"/>
    <p:sldId id="288" r:id="rId42"/>
    <p:sldId id="353" r:id="rId43"/>
    <p:sldId id="354" r:id="rId44"/>
    <p:sldId id="355" r:id="rId45"/>
    <p:sldId id="280" r:id="rId46"/>
    <p:sldId id="397" r:id="rId47"/>
    <p:sldId id="320" r:id="rId48"/>
    <p:sldId id="321" r:id="rId49"/>
    <p:sldId id="267" r:id="rId50"/>
    <p:sldId id="268" r:id="rId51"/>
    <p:sldId id="269" r:id="rId52"/>
    <p:sldId id="290" r:id="rId53"/>
    <p:sldId id="337" r:id="rId54"/>
    <p:sldId id="271" r:id="rId55"/>
    <p:sldId id="291" r:id="rId56"/>
    <p:sldId id="338" r:id="rId57"/>
    <p:sldId id="292" r:id="rId58"/>
    <p:sldId id="339" r:id="rId59"/>
    <p:sldId id="293" r:id="rId60"/>
    <p:sldId id="340" r:id="rId61"/>
    <p:sldId id="341" r:id="rId62"/>
    <p:sldId id="294" r:id="rId63"/>
    <p:sldId id="342" r:id="rId64"/>
    <p:sldId id="296" r:id="rId65"/>
    <p:sldId id="297" r:id="rId66"/>
    <p:sldId id="298" r:id="rId67"/>
    <p:sldId id="301" r:id="rId68"/>
    <p:sldId id="299" r:id="rId69"/>
    <p:sldId id="302" r:id="rId70"/>
    <p:sldId id="282" r:id="rId71"/>
    <p:sldId id="344" r:id="rId72"/>
    <p:sldId id="343" r:id="rId73"/>
    <p:sldId id="345" r:id="rId74"/>
    <p:sldId id="356" r:id="rId75"/>
    <p:sldId id="357" r:id="rId76"/>
    <p:sldId id="272" r:id="rId77"/>
    <p:sldId id="389" r:id="rId78"/>
    <p:sldId id="390" r:id="rId79"/>
    <p:sldId id="391" r:id="rId8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B3A6"/>
    <a:srgbClr val="FFCCFF"/>
    <a:srgbClr val="FEB4B4"/>
    <a:srgbClr val="0099FF"/>
    <a:srgbClr val="FC4A4A"/>
    <a:srgbClr val="00CC00"/>
    <a:srgbClr val="000099"/>
    <a:srgbClr val="FF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888"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48" d="100"/>
          <a:sy n="48" d="100"/>
        </p:scale>
        <p:origin x="-2070" y="-11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5" Type="http://schemas.openxmlformats.org/officeDocument/2006/relationships/image" Target="../media/image55.wmf"/><Relationship Id="rId4" Type="http://schemas.openxmlformats.org/officeDocument/2006/relationships/image" Target="../media/image5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4" Type="http://schemas.openxmlformats.org/officeDocument/2006/relationships/image" Target="../media/image51.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8.wmf"/><Relationship Id="rId7" Type="http://schemas.openxmlformats.org/officeDocument/2006/relationships/image" Target="../media/image63.wmf"/><Relationship Id="rId2" Type="http://schemas.openxmlformats.org/officeDocument/2006/relationships/image" Target="../media/image60.wmf"/><Relationship Id="rId1" Type="http://schemas.openxmlformats.org/officeDocument/2006/relationships/image" Target="../media/image51.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59.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fr-FR"/>
          </a:p>
        </p:txBody>
      </p:sp>
      <p:sp>
        <p:nvSpPr>
          <p:cNvPr id="5325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fr-FR"/>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325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endParaRPr lang="fr-FR"/>
          </a:p>
        </p:txBody>
      </p:sp>
      <p:sp>
        <p:nvSpPr>
          <p:cNvPr id="5325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B8D1AD9-E638-4B6A-8B9F-1E542D9FE933}" type="slidenum">
              <a:rPr lang="en-US" altLang="fr-FR"/>
              <a:pPr>
                <a:defRPr/>
              </a:pPr>
              <a:t>‹N°›</a:t>
            </a:fld>
            <a:endParaRPr lang="en-US" altLang="fr-FR"/>
          </a:p>
        </p:txBody>
      </p:sp>
    </p:spTree>
    <p:extLst>
      <p:ext uri="{BB962C8B-B14F-4D97-AF65-F5344CB8AC3E}">
        <p14:creationId xmlns:p14="http://schemas.microsoft.com/office/powerpoint/2010/main" val="7464071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65" charset="0"/>
        <a:ea typeface="Arial" pitchFamily="-65" charset="0"/>
        <a:cs typeface="Arial" pitchFamily="-65" charset="0"/>
      </a:defRPr>
    </a:lvl1pPr>
    <a:lvl2pPr marL="457200" algn="l" rtl="0" eaLnBrk="0" fontAlgn="base" hangingPunct="0">
      <a:spcBef>
        <a:spcPct val="30000"/>
      </a:spcBef>
      <a:spcAft>
        <a:spcPct val="0"/>
      </a:spcAft>
      <a:defRPr sz="1200" kern="1200">
        <a:solidFill>
          <a:schemeClr val="tx1"/>
        </a:solidFill>
        <a:latin typeface="Arial" pitchFamily="-65" charset="0"/>
        <a:ea typeface="Arial" pitchFamily="-65" charset="0"/>
        <a:cs typeface="Arial" pitchFamily="-65" charset="0"/>
      </a:defRPr>
    </a:lvl2pPr>
    <a:lvl3pPr marL="914400" algn="l" rtl="0" eaLnBrk="0" fontAlgn="base" hangingPunct="0">
      <a:spcBef>
        <a:spcPct val="30000"/>
      </a:spcBef>
      <a:spcAft>
        <a:spcPct val="0"/>
      </a:spcAft>
      <a:defRPr sz="1200" kern="1200">
        <a:solidFill>
          <a:schemeClr val="tx1"/>
        </a:solidFill>
        <a:latin typeface="Arial" pitchFamily="-65" charset="0"/>
        <a:ea typeface="Arial" pitchFamily="-65" charset="0"/>
        <a:cs typeface="Arial" pitchFamily="-65" charset="0"/>
      </a:defRPr>
    </a:lvl3pPr>
    <a:lvl4pPr marL="1371600" algn="l" rtl="0" eaLnBrk="0" fontAlgn="base" hangingPunct="0">
      <a:spcBef>
        <a:spcPct val="30000"/>
      </a:spcBef>
      <a:spcAft>
        <a:spcPct val="0"/>
      </a:spcAft>
      <a:defRPr sz="1200" kern="1200">
        <a:solidFill>
          <a:schemeClr val="tx1"/>
        </a:solidFill>
        <a:latin typeface="Arial" pitchFamily="-65" charset="0"/>
        <a:ea typeface="Arial" pitchFamily="-65" charset="0"/>
        <a:cs typeface="Arial" pitchFamily="-65" charset="0"/>
      </a:defRPr>
    </a:lvl4pPr>
    <a:lvl5pPr marL="1828800" algn="l" rtl="0" eaLnBrk="0" fontAlgn="base" hangingPunct="0">
      <a:spcBef>
        <a:spcPct val="30000"/>
      </a:spcBef>
      <a:spcAft>
        <a:spcPct val="0"/>
      </a:spcAft>
      <a:defRPr sz="1200" kern="1200">
        <a:solidFill>
          <a:schemeClr val="tx1"/>
        </a:solidFill>
        <a:latin typeface="Arial" pitchFamily="-65" charset="0"/>
        <a:ea typeface="Arial" pitchFamily="-65" charset="0"/>
        <a:cs typeface="Arial" pitchFamily="-65"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Espace réservé de l'image des diapositives 1"/>
          <p:cNvSpPr>
            <a:spLocks noGrp="1" noRot="1" noChangeAspect="1" noTextEdit="1"/>
          </p:cNvSpPr>
          <p:nvPr>
            <p:ph type="sldImg"/>
          </p:nvPr>
        </p:nvSpPr>
        <p:spPr>
          <a:ln/>
        </p:spPr>
      </p:sp>
      <p:sp>
        <p:nvSpPr>
          <p:cNvPr id="717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717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3E2342D-3D35-4288-8E48-7A79BE33CDEA}" type="slidenum">
              <a:rPr lang="en-US" altLang="fr-FR" smtClean="0"/>
              <a:pPr>
                <a:spcBef>
                  <a:spcPct val="0"/>
                </a:spcBef>
              </a:pPr>
              <a:t>1</a:t>
            </a:fld>
            <a:endParaRPr lang="en-US" altLang="fr-FR" smtClean="0"/>
          </a:p>
        </p:txBody>
      </p:sp>
    </p:spTree>
    <p:extLst>
      <p:ext uri="{BB962C8B-B14F-4D97-AF65-F5344CB8AC3E}">
        <p14:creationId xmlns:p14="http://schemas.microsoft.com/office/powerpoint/2010/main" val="389239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Espace réservé de l'image des diapositives 1"/>
          <p:cNvSpPr>
            <a:spLocks noGrp="1" noRot="1" noChangeAspect="1" noTextEdit="1"/>
          </p:cNvSpPr>
          <p:nvPr>
            <p:ph type="sldImg"/>
          </p:nvPr>
        </p:nvSpPr>
        <p:spPr>
          <a:ln/>
        </p:spPr>
      </p:sp>
      <p:sp>
        <p:nvSpPr>
          <p:cNvPr id="921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922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06CF71A-176C-4596-A51D-E2293D0DEB1F}" type="slidenum">
              <a:rPr lang="fr-FR" altLang="fr-FR" smtClean="0"/>
              <a:pPr>
                <a:spcBef>
                  <a:spcPct val="0"/>
                </a:spcBef>
              </a:pPr>
              <a:t>2</a:t>
            </a:fld>
            <a:endParaRPr lang="fr-FR" altLang="fr-FR" smtClean="0"/>
          </a:p>
        </p:txBody>
      </p:sp>
    </p:spTree>
    <p:extLst>
      <p:ext uri="{BB962C8B-B14F-4D97-AF65-F5344CB8AC3E}">
        <p14:creationId xmlns:p14="http://schemas.microsoft.com/office/powerpoint/2010/main" val="833365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Espace réservé de l'image des diapositives 1"/>
          <p:cNvSpPr>
            <a:spLocks noGrp="1" noRot="1" noChangeAspect="1" noTextEdit="1"/>
          </p:cNvSpPr>
          <p:nvPr>
            <p:ph type="sldImg"/>
          </p:nvPr>
        </p:nvSpPr>
        <p:spPr>
          <a:ln/>
        </p:spPr>
      </p:sp>
      <p:sp>
        <p:nvSpPr>
          <p:cNvPr id="1126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126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A1C03B7-98E1-4587-B8A6-691EC0089E54}" type="slidenum">
              <a:rPr lang="fr-FR" altLang="fr-FR" smtClean="0"/>
              <a:pPr>
                <a:spcBef>
                  <a:spcPct val="0"/>
                </a:spcBef>
              </a:pPr>
              <a:t>3</a:t>
            </a:fld>
            <a:endParaRPr lang="fr-FR" altLang="fr-FR" smtClean="0"/>
          </a:p>
        </p:txBody>
      </p:sp>
    </p:spTree>
    <p:extLst>
      <p:ext uri="{BB962C8B-B14F-4D97-AF65-F5344CB8AC3E}">
        <p14:creationId xmlns:p14="http://schemas.microsoft.com/office/powerpoint/2010/main" val="2652683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Espace réservé de l'image des diapositives 1"/>
          <p:cNvSpPr>
            <a:spLocks noGrp="1" noRot="1" noChangeAspect="1" noTextEdit="1"/>
          </p:cNvSpPr>
          <p:nvPr>
            <p:ph type="sldImg"/>
          </p:nvPr>
        </p:nvSpPr>
        <p:spPr>
          <a:ln/>
        </p:spPr>
      </p:sp>
      <p:sp>
        <p:nvSpPr>
          <p:cNvPr id="1331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331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0AABCF7-C0A4-40BA-8F52-1FD7C03849BB}" type="slidenum">
              <a:rPr lang="fr-FR" altLang="fr-FR" smtClean="0"/>
              <a:pPr>
                <a:spcBef>
                  <a:spcPct val="0"/>
                </a:spcBef>
              </a:pPr>
              <a:t>4</a:t>
            </a:fld>
            <a:endParaRPr lang="fr-FR" altLang="fr-FR" smtClean="0"/>
          </a:p>
        </p:txBody>
      </p:sp>
    </p:spTree>
    <p:extLst>
      <p:ext uri="{BB962C8B-B14F-4D97-AF65-F5344CB8AC3E}">
        <p14:creationId xmlns:p14="http://schemas.microsoft.com/office/powerpoint/2010/main" val="3636744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Espace réservé de l'image des diapositives 1"/>
          <p:cNvSpPr>
            <a:spLocks noGrp="1" noRot="1" noChangeAspect="1" noTextEdit="1"/>
          </p:cNvSpPr>
          <p:nvPr>
            <p:ph type="sldImg"/>
          </p:nvPr>
        </p:nvSpPr>
        <p:spPr>
          <a:ln/>
        </p:spPr>
      </p:sp>
      <p:sp>
        <p:nvSpPr>
          <p:cNvPr id="1536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536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FF06BE1-FC4B-4ED3-9C5F-DC250E36F0CE}" type="slidenum">
              <a:rPr lang="fr-FR" altLang="fr-FR" smtClean="0"/>
              <a:pPr>
                <a:spcBef>
                  <a:spcPct val="0"/>
                </a:spcBef>
              </a:pPr>
              <a:t>5</a:t>
            </a:fld>
            <a:endParaRPr lang="fr-FR" altLang="fr-FR" smtClean="0"/>
          </a:p>
        </p:txBody>
      </p:sp>
    </p:spTree>
    <p:extLst>
      <p:ext uri="{BB962C8B-B14F-4D97-AF65-F5344CB8AC3E}">
        <p14:creationId xmlns:p14="http://schemas.microsoft.com/office/powerpoint/2010/main" val="688756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9C580D9-3D61-483F-A89E-BA0963607184}" type="slidenum">
              <a:rPr lang="en-US" altLang="fr-FR" smtClean="0"/>
              <a:pPr>
                <a:spcBef>
                  <a:spcPct val="0"/>
                </a:spcBef>
              </a:pPr>
              <a:t>6</a:t>
            </a:fld>
            <a:endParaRPr lang="en-US" altLang="fr-FR" smtClean="0"/>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6997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22ACBD3-8C2A-49C3-AB95-E28A515BA5A3}" type="slidenum">
              <a:rPr lang="en-US" altLang="fr-FR" smtClean="0"/>
              <a:pPr>
                <a:spcBef>
                  <a:spcPct val="0"/>
                </a:spcBef>
              </a:pPr>
              <a:t>7</a:t>
            </a:fld>
            <a:endParaRPr lang="en-US" altLang="fr-FR" smtClean="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8937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Espace réservé de l'image des diapositives 1"/>
          <p:cNvSpPr>
            <a:spLocks noGrp="1" noRot="1" noChangeAspect="1" noTextEdit="1"/>
          </p:cNvSpPr>
          <p:nvPr>
            <p:ph type="sldImg"/>
          </p:nvPr>
        </p:nvSpPr>
        <p:spPr>
          <a:ln/>
        </p:spPr>
      </p:sp>
      <p:sp>
        <p:nvSpPr>
          <p:cNvPr id="2150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2150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31E60-9EC2-4F08-947F-9197456AE02E}" type="slidenum">
              <a:rPr lang="en-US" altLang="fr-FR" smtClean="0"/>
              <a:pPr>
                <a:spcBef>
                  <a:spcPct val="0"/>
                </a:spcBef>
              </a:pPr>
              <a:t>8</a:t>
            </a:fld>
            <a:endParaRPr lang="en-US" altLang="fr-FR" smtClean="0"/>
          </a:p>
        </p:txBody>
      </p:sp>
    </p:spTree>
    <p:extLst>
      <p:ext uri="{BB962C8B-B14F-4D97-AF65-F5344CB8AC3E}">
        <p14:creationId xmlns:p14="http://schemas.microsoft.com/office/powerpoint/2010/main" val="2975191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Espace réservé de l'image des diapositives 1"/>
          <p:cNvSpPr>
            <a:spLocks noGrp="1" noRot="1" noChangeAspect="1" noTextEdit="1"/>
          </p:cNvSpPr>
          <p:nvPr>
            <p:ph type="sldImg"/>
          </p:nvPr>
        </p:nvSpPr>
        <p:spPr>
          <a:ln/>
        </p:spPr>
      </p:sp>
      <p:sp>
        <p:nvSpPr>
          <p:cNvPr id="2355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2355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A289ADF-AD0C-4EFC-B9A2-C4540A0C0F1D}" type="slidenum">
              <a:rPr lang="en-US" altLang="fr-FR" smtClean="0"/>
              <a:pPr>
                <a:spcBef>
                  <a:spcPct val="0"/>
                </a:spcBef>
              </a:pPr>
              <a:t>9</a:t>
            </a:fld>
            <a:endParaRPr lang="en-US" altLang="fr-FR" smtClean="0"/>
          </a:p>
        </p:txBody>
      </p:sp>
    </p:spTree>
    <p:extLst>
      <p:ext uri="{BB962C8B-B14F-4D97-AF65-F5344CB8AC3E}">
        <p14:creationId xmlns:p14="http://schemas.microsoft.com/office/powerpoint/2010/main" val="2920246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70F8F4B-4563-4D91-AFC2-86A214435652}" type="slidenum">
              <a:rPr lang="en-US" altLang="fr-FR" smtClean="0"/>
              <a:pPr>
                <a:spcBef>
                  <a:spcPct val="0"/>
                </a:spcBef>
              </a:pPr>
              <a:t>10</a:t>
            </a:fld>
            <a:endParaRPr lang="en-US" altLang="fr-FR" smtClean="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5086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Espace réservé de l'image des diapositives 1"/>
          <p:cNvSpPr>
            <a:spLocks noGrp="1" noRot="1" noChangeAspect="1" noTextEdit="1"/>
          </p:cNvSpPr>
          <p:nvPr>
            <p:ph type="sldImg"/>
          </p:nvPr>
        </p:nvSpPr>
        <p:spPr>
          <a:ln/>
        </p:spPr>
      </p:sp>
      <p:sp>
        <p:nvSpPr>
          <p:cNvPr id="2765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2765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046C49C-27EE-4A88-908B-9F4C312491CE}" type="slidenum">
              <a:rPr lang="en-US" altLang="fr-FR" smtClean="0"/>
              <a:pPr>
                <a:spcBef>
                  <a:spcPct val="0"/>
                </a:spcBef>
              </a:pPr>
              <a:t>11</a:t>
            </a:fld>
            <a:endParaRPr lang="en-US" altLang="fr-FR" smtClean="0"/>
          </a:p>
        </p:txBody>
      </p:sp>
    </p:spTree>
    <p:extLst>
      <p:ext uri="{BB962C8B-B14F-4D97-AF65-F5344CB8AC3E}">
        <p14:creationId xmlns:p14="http://schemas.microsoft.com/office/powerpoint/2010/main" val="2271597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Espace réservé de l'image des diapositives 1"/>
          <p:cNvSpPr>
            <a:spLocks noGrp="1" noRot="1" noChangeAspect="1" noTextEdit="1"/>
          </p:cNvSpPr>
          <p:nvPr>
            <p:ph type="sldImg"/>
          </p:nvPr>
        </p:nvSpPr>
        <p:spPr>
          <a:ln/>
        </p:spPr>
      </p:sp>
      <p:sp>
        <p:nvSpPr>
          <p:cNvPr id="2969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2970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8436128-5479-4B1D-8F86-4BAFC27FEFF8}" type="slidenum">
              <a:rPr lang="en-US" altLang="fr-FR" smtClean="0"/>
              <a:pPr>
                <a:spcBef>
                  <a:spcPct val="0"/>
                </a:spcBef>
              </a:pPr>
              <a:t>12</a:t>
            </a:fld>
            <a:endParaRPr lang="en-US" altLang="fr-FR" smtClean="0"/>
          </a:p>
        </p:txBody>
      </p:sp>
    </p:spTree>
    <p:extLst>
      <p:ext uri="{BB962C8B-B14F-4D97-AF65-F5344CB8AC3E}">
        <p14:creationId xmlns:p14="http://schemas.microsoft.com/office/powerpoint/2010/main" val="2386928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1778FBF-FB41-49BB-941E-135B560F3380}" type="slidenum">
              <a:rPr lang="en-US" altLang="fr-FR" smtClean="0"/>
              <a:pPr>
                <a:spcBef>
                  <a:spcPct val="0"/>
                </a:spcBef>
              </a:pPr>
              <a:t>13</a:t>
            </a:fld>
            <a:endParaRPr lang="en-US" altLang="fr-FR" smtClean="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4700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065200D-23F0-4980-8E8D-98631E5ABF51}" type="slidenum">
              <a:rPr lang="en-US" altLang="fr-FR" smtClean="0"/>
              <a:pPr>
                <a:spcBef>
                  <a:spcPct val="0"/>
                </a:spcBef>
              </a:pPr>
              <a:t>14</a:t>
            </a:fld>
            <a:endParaRPr lang="en-US" altLang="fr-FR"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12233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3584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E3F6D23-3EC3-436D-8ACB-A3F27EBA888B}" type="slidenum">
              <a:rPr lang="en-US" altLang="fr-FR" smtClean="0"/>
              <a:pPr>
                <a:spcBef>
                  <a:spcPct val="0"/>
                </a:spcBef>
              </a:pPr>
              <a:t>15</a:t>
            </a:fld>
            <a:endParaRPr lang="en-US" altLang="fr-FR" smtClean="0"/>
          </a:p>
        </p:txBody>
      </p:sp>
    </p:spTree>
    <p:extLst>
      <p:ext uri="{BB962C8B-B14F-4D97-AF65-F5344CB8AC3E}">
        <p14:creationId xmlns:p14="http://schemas.microsoft.com/office/powerpoint/2010/main" val="38377137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C34E776-2C1C-4463-833E-975B4E84617C}" type="slidenum">
              <a:rPr lang="en-US" altLang="fr-FR" smtClean="0"/>
              <a:pPr>
                <a:spcBef>
                  <a:spcPct val="0"/>
                </a:spcBef>
              </a:pPr>
              <a:t>16</a:t>
            </a:fld>
            <a:endParaRPr lang="en-US" altLang="fr-FR"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02064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Espace réservé de l'image des diapositives 1"/>
          <p:cNvSpPr>
            <a:spLocks noGrp="1" noRot="1" noChangeAspect="1" noTextEdit="1"/>
          </p:cNvSpPr>
          <p:nvPr>
            <p:ph type="sldImg"/>
          </p:nvPr>
        </p:nvSpPr>
        <p:spPr>
          <a:ln/>
        </p:spPr>
      </p:sp>
      <p:sp>
        <p:nvSpPr>
          <p:cNvPr id="3993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3994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187374D-1DDF-45EB-9662-F2E104DA87F5}" type="slidenum">
              <a:rPr lang="en-US" altLang="fr-FR" smtClean="0"/>
              <a:pPr>
                <a:spcBef>
                  <a:spcPct val="0"/>
                </a:spcBef>
              </a:pPr>
              <a:t>17</a:t>
            </a:fld>
            <a:endParaRPr lang="en-US" altLang="fr-FR" smtClean="0"/>
          </a:p>
        </p:txBody>
      </p:sp>
    </p:spTree>
    <p:extLst>
      <p:ext uri="{BB962C8B-B14F-4D97-AF65-F5344CB8AC3E}">
        <p14:creationId xmlns:p14="http://schemas.microsoft.com/office/powerpoint/2010/main" val="38941982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8214C96-1D31-4FCF-AB60-3E90DF961958}" type="slidenum">
              <a:rPr lang="en-US" altLang="fr-FR" smtClean="0"/>
              <a:pPr>
                <a:spcBef>
                  <a:spcPct val="0"/>
                </a:spcBef>
              </a:pPr>
              <a:t>18</a:t>
            </a:fld>
            <a:endParaRPr lang="en-US" altLang="fr-FR"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14450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Espace réservé de l'image des diapositives 1"/>
          <p:cNvSpPr>
            <a:spLocks noGrp="1" noRot="1" noChangeAspect="1" noTextEdit="1"/>
          </p:cNvSpPr>
          <p:nvPr>
            <p:ph type="sldImg"/>
          </p:nvPr>
        </p:nvSpPr>
        <p:spPr>
          <a:ln/>
        </p:spPr>
      </p:sp>
      <p:sp>
        <p:nvSpPr>
          <p:cNvPr id="4403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4403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40E19E3-3DE9-4C8F-BF26-15C3327AC6E8}" type="slidenum">
              <a:rPr lang="en-US" altLang="fr-FR" smtClean="0"/>
              <a:pPr>
                <a:spcBef>
                  <a:spcPct val="0"/>
                </a:spcBef>
              </a:pPr>
              <a:t>19</a:t>
            </a:fld>
            <a:endParaRPr lang="en-US" altLang="fr-FR" smtClean="0"/>
          </a:p>
        </p:txBody>
      </p:sp>
    </p:spTree>
    <p:extLst>
      <p:ext uri="{BB962C8B-B14F-4D97-AF65-F5344CB8AC3E}">
        <p14:creationId xmlns:p14="http://schemas.microsoft.com/office/powerpoint/2010/main" val="3739621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3D17A9D-1426-4857-BEDA-F0DB77664A20}" type="slidenum">
              <a:rPr lang="en-US" altLang="fr-FR" smtClean="0"/>
              <a:pPr>
                <a:spcBef>
                  <a:spcPct val="0"/>
                </a:spcBef>
              </a:pPr>
              <a:t>20</a:t>
            </a:fld>
            <a:endParaRPr lang="en-US" altLang="fr-FR"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43089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3C78A1C-3932-4849-A0FD-2E7EFCCFE06E}" type="slidenum">
              <a:rPr lang="en-US" altLang="fr-FR" smtClean="0"/>
              <a:pPr>
                <a:spcBef>
                  <a:spcPct val="0"/>
                </a:spcBef>
              </a:pPr>
              <a:t>21</a:t>
            </a:fld>
            <a:endParaRPr lang="en-US" altLang="fr-FR"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67380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a:ln/>
        </p:spPr>
      </p:sp>
      <p:sp>
        <p:nvSpPr>
          <p:cNvPr id="5017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5018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EAC94BE-2501-490E-B594-0710BDB29097}" type="slidenum">
              <a:rPr lang="en-US" altLang="fr-FR" smtClean="0"/>
              <a:pPr>
                <a:spcBef>
                  <a:spcPct val="0"/>
                </a:spcBef>
              </a:pPr>
              <a:t>22</a:t>
            </a:fld>
            <a:endParaRPr lang="en-US" altLang="fr-FR" smtClean="0"/>
          </a:p>
        </p:txBody>
      </p:sp>
    </p:spTree>
    <p:extLst>
      <p:ext uri="{BB962C8B-B14F-4D97-AF65-F5344CB8AC3E}">
        <p14:creationId xmlns:p14="http://schemas.microsoft.com/office/powerpoint/2010/main" val="41265430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Espace réservé de l'image des diapositives 1"/>
          <p:cNvSpPr>
            <a:spLocks noGrp="1" noRot="1" noChangeAspect="1" noTextEdit="1"/>
          </p:cNvSpPr>
          <p:nvPr>
            <p:ph type="sldImg"/>
          </p:nvPr>
        </p:nvSpPr>
        <p:spPr>
          <a:ln/>
        </p:spPr>
      </p:sp>
      <p:sp>
        <p:nvSpPr>
          <p:cNvPr id="5222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5222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7D525EE-4443-49DD-B9DE-549CDFDFB52E}" type="slidenum">
              <a:rPr lang="en-US" altLang="fr-FR" smtClean="0"/>
              <a:pPr>
                <a:spcBef>
                  <a:spcPct val="0"/>
                </a:spcBef>
              </a:pPr>
              <a:t>23</a:t>
            </a:fld>
            <a:endParaRPr lang="en-US" altLang="fr-FR" smtClean="0"/>
          </a:p>
        </p:txBody>
      </p:sp>
    </p:spTree>
    <p:extLst>
      <p:ext uri="{BB962C8B-B14F-4D97-AF65-F5344CB8AC3E}">
        <p14:creationId xmlns:p14="http://schemas.microsoft.com/office/powerpoint/2010/main" val="28355192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911AF1C-DD92-4A7E-AD52-9B17B187D7D4}" type="slidenum">
              <a:rPr lang="en-US" altLang="fr-FR" smtClean="0"/>
              <a:pPr>
                <a:spcBef>
                  <a:spcPct val="0"/>
                </a:spcBef>
              </a:pPr>
              <a:t>24</a:t>
            </a:fld>
            <a:endParaRPr lang="en-US" altLang="fr-FR"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7614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Espace réservé de l'image des diapositives 1"/>
          <p:cNvSpPr>
            <a:spLocks noGrp="1" noRot="1" noChangeAspect="1" noTextEdit="1"/>
          </p:cNvSpPr>
          <p:nvPr>
            <p:ph type="sldImg"/>
          </p:nvPr>
        </p:nvSpPr>
        <p:spPr>
          <a:ln/>
        </p:spPr>
      </p:sp>
      <p:sp>
        <p:nvSpPr>
          <p:cNvPr id="5632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5632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0D9486B-37CC-4A5C-B588-240A1E892C3F}" type="slidenum">
              <a:rPr lang="en-US" altLang="fr-FR" smtClean="0"/>
              <a:pPr>
                <a:spcBef>
                  <a:spcPct val="0"/>
                </a:spcBef>
              </a:pPr>
              <a:t>25</a:t>
            </a:fld>
            <a:endParaRPr lang="en-US" altLang="fr-FR" smtClean="0"/>
          </a:p>
        </p:txBody>
      </p:sp>
    </p:spTree>
    <p:extLst>
      <p:ext uri="{BB962C8B-B14F-4D97-AF65-F5344CB8AC3E}">
        <p14:creationId xmlns:p14="http://schemas.microsoft.com/office/powerpoint/2010/main" val="19142602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Espace réservé de l'image des diapositives 1"/>
          <p:cNvSpPr>
            <a:spLocks noGrp="1" noRot="1" noChangeAspect="1" noTextEdit="1"/>
          </p:cNvSpPr>
          <p:nvPr>
            <p:ph type="sldImg"/>
          </p:nvPr>
        </p:nvSpPr>
        <p:spPr>
          <a:ln/>
        </p:spPr>
      </p:sp>
      <p:sp>
        <p:nvSpPr>
          <p:cNvPr id="5837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5837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CF4D18C-6FC9-4D33-A7FD-2D275D730588}" type="slidenum">
              <a:rPr lang="en-US" altLang="fr-FR" smtClean="0"/>
              <a:pPr>
                <a:spcBef>
                  <a:spcPct val="0"/>
                </a:spcBef>
              </a:pPr>
              <a:t>26</a:t>
            </a:fld>
            <a:endParaRPr lang="en-US" altLang="fr-FR" smtClean="0"/>
          </a:p>
        </p:txBody>
      </p:sp>
    </p:spTree>
    <p:extLst>
      <p:ext uri="{BB962C8B-B14F-4D97-AF65-F5344CB8AC3E}">
        <p14:creationId xmlns:p14="http://schemas.microsoft.com/office/powerpoint/2010/main" val="14020941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4749731-6D7C-42FE-A7C0-14B15401E552}" type="slidenum">
              <a:rPr lang="en-US" altLang="fr-FR" smtClean="0"/>
              <a:pPr>
                <a:spcBef>
                  <a:spcPct val="0"/>
                </a:spcBef>
              </a:pPr>
              <a:t>27</a:t>
            </a:fld>
            <a:endParaRPr lang="en-US" altLang="fr-FR"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88394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54A4C45-90FF-4DD5-9035-FB7DE41D8FE1}" type="slidenum">
              <a:rPr lang="en-US" altLang="fr-FR" smtClean="0"/>
              <a:pPr>
                <a:spcBef>
                  <a:spcPct val="0"/>
                </a:spcBef>
              </a:pPr>
              <a:t>28</a:t>
            </a:fld>
            <a:endParaRPr lang="en-US" altLang="fr-FR"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73493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Espace réservé de l'image des diapositives 1"/>
          <p:cNvSpPr>
            <a:spLocks noGrp="1" noRot="1" noChangeAspect="1" noTextEdit="1"/>
          </p:cNvSpPr>
          <p:nvPr>
            <p:ph type="sldImg"/>
          </p:nvPr>
        </p:nvSpPr>
        <p:spPr>
          <a:ln/>
        </p:spPr>
      </p:sp>
      <p:sp>
        <p:nvSpPr>
          <p:cNvPr id="6451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6451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4E7466-4B81-4B99-B387-0699AA375E0C}" type="slidenum">
              <a:rPr lang="en-US" altLang="fr-FR" smtClean="0"/>
              <a:pPr>
                <a:spcBef>
                  <a:spcPct val="0"/>
                </a:spcBef>
              </a:pPr>
              <a:t>29</a:t>
            </a:fld>
            <a:endParaRPr lang="en-US" altLang="fr-FR" smtClean="0"/>
          </a:p>
        </p:txBody>
      </p:sp>
    </p:spTree>
    <p:extLst>
      <p:ext uri="{BB962C8B-B14F-4D97-AF65-F5344CB8AC3E}">
        <p14:creationId xmlns:p14="http://schemas.microsoft.com/office/powerpoint/2010/main" val="18040426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Espace réservé de l'image des diapositives 1"/>
          <p:cNvSpPr>
            <a:spLocks noGrp="1" noRot="1" noChangeAspect="1" noTextEdit="1"/>
          </p:cNvSpPr>
          <p:nvPr>
            <p:ph type="sldImg"/>
          </p:nvPr>
        </p:nvSpPr>
        <p:spPr>
          <a:ln/>
        </p:spPr>
      </p:sp>
      <p:sp>
        <p:nvSpPr>
          <p:cNvPr id="6656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6656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CDA9B87-9834-4488-B4DB-7A1704C6F94C}" type="slidenum">
              <a:rPr lang="en-US" altLang="fr-FR" smtClean="0"/>
              <a:pPr>
                <a:spcBef>
                  <a:spcPct val="0"/>
                </a:spcBef>
              </a:pPr>
              <a:t>30</a:t>
            </a:fld>
            <a:endParaRPr lang="en-US" altLang="fr-FR" smtClean="0"/>
          </a:p>
        </p:txBody>
      </p:sp>
    </p:spTree>
    <p:extLst>
      <p:ext uri="{BB962C8B-B14F-4D97-AF65-F5344CB8AC3E}">
        <p14:creationId xmlns:p14="http://schemas.microsoft.com/office/powerpoint/2010/main" val="18688190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84A8876-9FFA-4388-A7DF-E8A2ACCC305F}" type="slidenum">
              <a:rPr lang="en-US" altLang="fr-FR" smtClean="0"/>
              <a:pPr>
                <a:spcBef>
                  <a:spcPct val="0"/>
                </a:spcBef>
              </a:pPr>
              <a:t>31</a:t>
            </a:fld>
            <a:endParaRPr lang="en-US" altLang="fr-FR"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77827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Espace réservé de l'image des diapositives 1"/>
          <p:cNvSpPr>
            <a:spLocks noGrp="1" noRot="1" noChangeAspect="1" noTextEdit="1"/>
          </p:cNvSpPr>
          <p:nvPr>
            <p:ph type="sldImg"/>
          </p:nvPr>
        </p:nvSpPr>
        <p:spPr>
          <a:ln/>
        </p:spPr>
      </p:sp>
      <p:sp>
        <p:nvSpPr>
          <p:cNvPr id="7065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7066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FDAD314-42EB-4E81-A630-5B081FF2A7FC}" type="slidenum">
              <a:rPr lang="en-US" altLang="fr-FR" smtClean="0"/>
              <a:pPr>
                <a:spcBef>
                  <a:spcPct val="0"/>
                </a:spcBef>
              </a:pPr>
              <a:t>32</a:t>
            </a:fld>
            <a:endParaRPr lang="en-US" altLang="fr-FR" smtClean="0"/>
          </a:p>
        </p:txBody>
      </p:sp>
    </p:spTree>
    <p:extLst>
      <p:ext uri="{BB962C8B-B14F-4D97-AF65-F5344CB8AC3E}">
        <p14:creationId xmlns:p14="http://schemas.microsoft.com/office/powerpoint/2010/main" val="27443404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Espace réservé de l'image des diapositives 1"/>
          <p:cNvSpPr>
            <a:spLocks noGrp="1" noRot="1" noChangeAspect="1" noTextEdit="1"/>
          </p:cNvSpPr>
          <p:nvPr>
            <p:ph type="sldImg"/>
          </p:nvPr>
        </p:nvSpPr>
        <p:spPr>
          <a:ln/>
        </p:spPr>
      </p:sp>
      <p:sp>
        <p:nvSpPr>
          <p:cNvPr id="7270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7270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7283CEE-E4E8-454B-A155-7F1D78C553F6}" type="slidenum">
              <a:rPr lang="en-US" altLang="fr-FR" smtClean="0"/>
              <a:pPr>
                <a:spcBef>
                  <a:spcPct val="0"/>
                </a:spcBef>
              </a:pPr>
              <a:t>33</a:t>
            </a:fld>
            <a:endParaRPr lang="en-US" altLang="fr-FR" smtClean="0"/>
          </a:p>
        </p:txBody>
      </p:sp>
    </p:spTree>
    <p:extLst>
      <p:ext uri="{BB962C8B-B14F-4D97-AF65-F5344CB8AC3E}">
        <p14:creationId xmlns:p14="http://schemas.microsoft.com/office/powerpoint/2010/main" val="15987776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Espace réservé de l'image des diapositives 1"/>
          <p:cNvSpPr>
            <a:spLocks noGrp="1" noRot="1" noChangeAspect="1" noTextEdit="1"/>
          </p:cNvSpPr>
          <p:nvPr>
            <p:ph type="sldImg"/>
          </p:nvPr>
        </p:nvSpPr>
        <p:spPr>
          <a:ln/>
        </p:spPr>
      </p:sp>
      <p:sp>
        <p:nvSpPr>
          <p:cNvPr id="7475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7475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DB9EBF0-41E2-4629-B5A2-EB5A93D9EED2}" type="slidenum">
              <a:rPr lang="en-US" altLang="fr-FR" smtClean="0"/>
              <a:pPr>
                <a:spcBef>
                  <a:spcPct val="0"/>
                </a:spcBef>
              </a:pPr>
              <a:t>34</a:t>
            </a:fld>
            <a:endParaRPr lang="en-US" altLang="fr-FR" smtClean="0"/>
          </a:p>
        </p:txBody>
      </p:sp>
    </p:spTree>
    <p:extLst>
      <p:ext uri="{BB962C8B-B14F-4D97-AF65-F5344CB8AC3E}">
        <p14:creationId xmlns:p14="http://schemas.microsoft.com/office/powerpoint/2010/main" val="26372727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8198320-4771-4960-BC35-2F0997564E5E}" type="slidenum">
              <a:rPr lang="en-US" altLang="fr-FR" smtClean="0"/>
              <a:pPr>
                <a:spcBef>
                  <a:spcPct val="0"/>
                </a:spcBef>
              </a:pPr>
              <a:t>35</a:t>
            </a:fld>
            <a:endParaRPr lang="en-US" altLang="fr-FR"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17758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Espace réservé de l'image des diapositives 1"/>
          <p:cNvSpPr>
            <a:spLocks noGrp="1" noRot="1" noChangeAspect="1" noTextEdit="1"/>
          </p:cNvSpPr>
          <p:nvPr>
            <p:ph type="sldImg"/>
          </p:nvPr>
        </p:nvSpPr>
        <p:spPr>
          <a:ln/>
        </p:spPr>
      </p:sp>
      <p:sp>
        <p:nvSpPr>
          <p:cNvPr id="7885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7885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07E162E-B903-49F8-B454-1D0DC0995BC4}" type="slidenum">
              <a:rPr lang="en-US" altLang="fr-FR" smtClean="0"/>
              <a:pPr>
                <a:spcBef>
                  <a:spcPct val="0"/>
                </a:spcBef>
              </a:pPr>
              <a:t>36</a:t>
            </a:fld>
            <a:endParaRPr lang="en-US" altLang="fr-FR" smtClean="0"/>
          </a:p>
        </p:txBody>
      </p:sp>
    </p:spTree>
    <p:extLst>
      <p:ext uri="{BB962C8B-B14F-4D97-AF65-F5344CB8AC3E}">
        <p14:creationId xmlns:p14="http://schemas.microsoft.com/office/powerpoint/2010/main" val="32395132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Espace réservé de l'image des diapositives 1"/>
          <p:cNvSpPr>
            <a:spLocks noGrp="1" noRot="1" noChangeAspect="1" noTextEdit="1"/>
          </p:cNvSpPr>
          <p:nvPr>
            <p:ph type="sldImg"/>
          </p:nvPr>
        </p:nvSpPr>
        <p:spPr>
          <a:ln/>
        </p:spPr>
      </p:sp>
      <p:sp>
        <p:nvSpPr>
          <p:cNvPr id="8089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8090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AB64C81-8526-42F3-A0D9-ABCE6D50609C}" type="slidenum">
              <a:rPr lang="en-US" altLang="fr-FR" smtClean="0"/>
              <a:pPr>
                <a:spcBef>
                  <a:spcPct val="0"/>
                </a:spcBef>
              </a:pPr>
              <a:t>37</a:t>
            </a:fld>
            <a:endParaRPr lang="en-US" altLang="fr-FR" smtClean="0"/>
          </a:p>
        </p:txBody>
      </p:sp>
    </p:spTree>
    <p:extLst>
      <p:ext uri="{BB962C8B-B14F-4D97-AF65-F5344CB8AC3E}">
        <p14:creationId xmlns:p14="http://schemas.microsoft.com/office/powerpoint/2010/main" val="10471151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6F86886-D266-4CBE-87F6-9FCD8FFD5510}" type="slidenum">
              <a:rPr lang="en-US" altLang="fr-FR" smtClean="0"/>
              <a:pPr>
                <a:spcBef>
                  <a:spcPct val="0"/>
                </a:spcBef>
              </a:pPr>
              <a:t>38</a:t>
            </a:fld>
            <a:endParaRPr lang="en-US" altLang="fr-FR"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20067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66FCCA7-23C3-46FF-9A05-4CF6F5CE97D5}" type="slidenum">
              <a:rPr lang="en-US" altLang="fr-FR" smtClean="0"/>
              <a:pPr>
                <a:spcBef>
                  <a:spcPct val="0"/>
                </a:spcBef>
              </a:pPr>
              <a:t>39</a:t>
            </a:fld>
            <a:endParaRPr lang="en-US" altLang="fr-FR"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74895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66FCCA7-23C3-46FF-9A05-4CF6F5CE97D5}" type="slidenum">
              <a:rPr lang="en-US" altLang="fr-FR" smtClean="0"/>
              <a:pPr>
                <a:spcBef>
                  <a:spcPct val="0"/>
                </a:spcBef>
              </a:pPr>
              <a:t>40</a:t>
            </a:fld>
            <a:endParaRPr lang="en-US" altLang="fr-FR"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60119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8291ABD-2CCC-490E-9946-64631EBE76CC}" type="slidenum">
              <a:rPr lang="en-US" altLang="fr-FR" smtClean="0"/>
              <a:pPr>
                <a:spcBef>
                  <a:spcPct val="0"/>
                </a:spcBef>
              </a:pPr>
              <a:t>41</a:t>
            </a:fld>
            <a:endParaRPr lang="en-US" altLang="fr-FR"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45069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Espace réservé de l'image des diapositives 1"/>
          <p:cNvSpPr>
            <a:spLocks noGrp="1" noRot="1" noChangeAspect="1" noTextEdit="1"/>
          </p:cNvSpPr>
          <p:nvPr>
            <p:ph type="sldImg"/>
          </p:nvPr>
        </p:nvSpPr>
        <p:spPr>
          <a:ln/>
        </p:spPr>
      </p:sp>
      <p:sp>
        <p:nvSpPr>
          <p:cNvPr id="8909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8909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72B051E-2498-4C64-A4D1-1533E28F0F4E}" type="slidenum">
              <a:rPr lang="en-US" altLang="fr-FR" smtClean="0"/>
              <a:pPr>
                <a:spcBef>
                  <a:spcPct val="0"/>
                </a:spcBef>
              </a:pPr>
              <a:t>42</a:t>
            </a:fld>
            <a:endParaRPr lang="en-US" altLang="fr-FR" smtClean="0"/>
          </a:p>
        </p:txBody>
      </p:sp>
    </p:spTree>
    <p:extLst>
      <p:ext uri="{BB962C8B-B14F-4D97-AF65-F5344CB8AC3E}">
        <p14:creationId xmlns:p14="http://schemas.microsoft.com/office/powerpoint/2010/main" val="12924958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Espace réservé de l'image des diapositives 1"/>
          <p:cNvSpPr>
            <a:spLocks noGrp="1" noRot="1" noChangeAspect="1" noTextEdit="1"/>
          </p:cNvSpPr>
          <p:nvPr>
            <p:ph type="sldImg"/>
          </p:nvPr>
        </p:nvSpPr>
        <p:spPr>
          <a:ln/>
        </p:spPr>
      </p:sp>
      <p:sp>
        <p:nvSpPr>
          <p:cNvPr id="9113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9114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20C84F7-78F2-4F89-A706-0E1792F54142}" type="slidenum">
              <a:rPr lang="en-US" altLang="fr-FR" smtClean="0"/>
              <a:pPr>
                <a:spcBef>
                  <a:spcPct val="0"/>
                </a:spcBef>
              </a:pPr>
              <a:t>43</a:t>
            </a:fld>
            <a:endParaRPr lang="en-US" altLang="fr-FR" smtClean="0"/>
          </a:p>
        </p:txBody>
      </p:sp>
    </p:spTree>
    <p:extLst>
      <p:ext uri="{BB962C8B-B14F-4D97-AF65-F5344CB8AC3E}">
        <p14:creationId xmlns:p14="http://schemas.microsoft.com/office/powerpoint/2010/main" val="23557215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Espace réservé de l'image des diapositives 1"/>
          <p:cNvSpPr>
            <a:spLocks noGrp="1" noRot="1" noChangeAspect="1" noTextEdit="1"/>
          </p:cNvSpPr>
          <p:nvPr>
            <p:ph type="sldImg"/>
          </p:nvPr>
        </p:nvSpPr>
        <p:spPr>
          <a:ln/>
        </p:spPr>
      </p:sp>
      <p:sp>
        <p:nvSpPr>
          <p:cNvPr id="9318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9318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89139CA-8C01-47C5-AD46-F32F34BBFD29}" type="slidenum">
              <a:rPr lang="en-US" altLang="fr-FR" smtClean="0"/>
              <a:pPr>
                <a:spcBef>
                  <a:spcPct val="0"/>
                </a:spcBef>
              </a:pPr>
              <a:t>44</a:t>
            </a:fld>
            <a:endParaRPr lang="en-US" altLang="fr-FR" smtClean="0"/>
          </a:p>
        </p:txBody>
      </p:sp>
    </p:spTree>
    <p:extLst>
      <p:ext uri="{BB962C8B-B14F-4D97-AF65-F5344CB8AC3E}">
        <p14:creationId xmlns:p14="http://schemas.microsoft.com/office/powerpoint/2010/main" val="8224815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FAD08BC-176A-4ED2-8C71-EFD8B899A53D}" type="slidenum">
              <a:rPr lang="en-US" altLang="fr-FR" smtClean="0"/>
              <a:pPr>
                <a:spcBef>
                  <a:spcPct val="0"/>
                </a:spcBef>
              </a:pPr>
              <a:t>45</a:t>
            </a:fld>
            <a:endParaRPr lang="en-US" altLang="fr-FR" smtClean="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98938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Espace réservé de l'image des diapositives 1"/>
          <p:cNvSpPr>
            <a:spLocks noGrp="1" noRot="1" noChangeAspect="1" noTextEdit="1"/>
          </p:cNvSpPr>
          <p:nvPr>
            <p:ph type="sldImg"/>
          </p:nvPr>
        </p:nvSpPr>
        <p:spPr>
          <a:ln/>
        </p:spPr>
      </p:sp>
      <p:sp>
        <p:nvSpPr>
          <p:cNvPr id="9830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9830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3D55AFE-F795-496A-829F-495A11A7EC77}" type="slidenum">
              <a:rPr lang="fr-FR" altLang="fr-FR" smtClean="0"/>
              <a:pPr>
                <a:spcBef>
                  <a:spcPct val="0"/>
                </a:spcBef>
              </a:pPr>
              <a:t>47</a:t>
            </a:fld>
            <a:endParaRPr lang="fr-FR" altLang="fr-FR" smtClean="0"/>
          </a:p>
        </p:txBody>
      </p:sp>
    </p:spTree>
    <p:extLst>
      <p:ext uri="{BB962C8B-B14F-4D97-AF65-F5344CB8AC3E}">
        <p14:creationId xmlns:p14="http://schemas.microsoft.com/office/powerpoint/2010/main" val="16856351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Espace réservé de l'image des diapositives 1"/>
          <p:cNvSpPr>
            <a:spLocks noGrp="1" noRot="1" noChangeAspect="1" noTextEdit="1"/>
          </p:cNvSpPr>
          <p:nvPr>
            <p:ph type="sldImg"/>
          </p:nvPr>
        </p:nvSpPr>
        <p:spPr>
          <a:ln/>
        </p:spPr>
      </p:sp>
      <p:sp>
        <p:nvSpPr>
          <p:cNvPr id="10035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0035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6A881E9-B438-45E1-AD63-757735936B27}" type="slidenum">
              <a:rPr lang="fr-FR" altLang="fr-FR" smtClean="0"/>
              <a:pPr>
                <a:spcBef>
                  <a:spcPct val="0"/>
                </a:spcBef>
              </a:pPr>
              <a:t>48</a:t>
            </a:fld>
            <a:endParaRPr lang="fr-FR" altLang="fr-FR" smtClean="0"/>
          </a:p>
        </p:txBody>
      </p:sp>
    </p:spTree>
    <p:extLst>
      <p:ext uri="{BB962C8B-B14F-4D97-AF65-F5344CB8AC3E}">
        <p14:creationId xmlns:p14="http://schemas.microsoft.com/office/powerpoint/2010/main" val="33190259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A99BA59-664C-4464-B034-4AD3BA7BEE98}" type="slidenum">
              <a:rPr lang="en-US" altLang="fr-FR" smtClean="0"/>
              <a:pPr>
                <a:spcBef>
                  <a:spcPct val="0"/>
                </a:spcBef>
              </a:pPr>
              <a:t>49</a:t>
            </a:fld>
            <a:endParaRPr lang="en-US" altLang="fr-FR" smtClean="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85674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3BF38A0-B96A-46BE-986D-02DC3392B831}" type="slidenum">
              <a:rPr lang="en-US" altLang="fr-FR" smtClean="0"/>
              <a:pPr>
                <a:spcBef>
                  <a:spcPct val="0"/>
                </a:spcBef>
              </a:pPr>
              <a:t>50</a:t>
            </a:fld>
            <a:endParaRPr lang="en-US" altLang="fr-FR" smtClean="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48087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A671FE9-4561-46AE-9FB9-EB41EAC6C489}" type="slidenum">
              <a:rPr lang="en-US" altLang="fr-FR" smtClean="0"/>
              <a:pPr>
                <a:spcBef>
                  <a:spcPct val="0"/>
                </a:spcBef>
              </a:pPr>
              <a:t>51</a:t>
            </a:fld>
            <a:endParaRPr lang="en-US" altLang="fr-FR" smtClean="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94799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7DE93C2-49B0-4EF3-BF31-2E0DF7A00792}" type="slidenum">
              <a:rPr lang="en-US" altLang="fr-FR" smtClean="0"/>
              <a:pPr>
                <a:spcBef>
                  <a:spcPct val="0"/>
                </a:spcBef>
              </a:pPr>
              <a:t>52</a:t>
            </a:fld>
            <a:endParaRPr lang="en-US" altLang="fr-FR" smtClean="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251949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Espace réservé de l'image des diapositives 1"/>
          <p:cNvSpPr>
            <a:spLocks noGrp="1" noRot="1" noChangeAspect="1" noTextEdit="1"/>
          </p:cNvSpPr>
          <p:nvPr>
            <p:ph type="sldImg"/>
          </p:nvPr>
        </p:nvSpPr>
        <p:spPr>
          <a:ln/>
        </p:spPr>
      </p:sp>
      <p:sp>
        <p:nvSpPr>
          <p:cNvPr id="11059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1059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489F3DC-84AF-4BD8-BA36-F15F41FF2B49}" type="slidenum">
              <a:rPr lang="en-US" altLang="fr-FR" smtClean="0"/>
              <a:pPr>
                <a:spcBef>
                  <a:spcPct val="0"/>
                </a:spcBef>
              </a:pPr>
              <a:t>53</a:t>
            </a:fld>
            <a:endParaRPr lang="en-US" altLang="fr-FR" smtClean="0"/>
          </a:p>
        </p:txBody>
      </p:sp>
    </p:spTree>
    <p:extLst>
      <p:ext uri="{BB962C8B-B14F-4D97-AF65-F5344CB8AC3E}">
        <p14:creationId xmlns:p14="http://schemas.microsoft.com/office/powerpoint/2010/main" val="16967137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CF1EF22-D987-4D15-BE58-0E55E1A90EB3}" type="slidenum">
              <a:rPr lang="en-US" altLang="fr-FR" smtClean="0"/>
              <a:pPr>
                <a:spcBef>
                  <a:spcPct val="0"/>
                </a:spcBef>
              </a:pPr>
              <a:t>54</a:t>
            </a:fld>
            <a:endParaRPr lang="en-US" altLang="fr-FR"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90780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474A43C-3B88-4B86-B23E-1E686AA9DFF7}" type="slidenum">
              <a:rPr lang="en-US" altLang="fr-FR" smtClean="0"/>
              <a:pPr>
                <a:spcBef>
                  <a:spcPct val="0"/>
                </a:spcBef>
              </a:pPr>
              <a:t>55</a:t>
            </a:fld>
            <a:endParaRPr lang="en-US" altLang="fr-FR" smtClean="0"/>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284663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Espace réservé de l'image des diapositives 1"/>
          <p:cNvSpPr>
            <a:spLocks noGrp="1" noRot="1" noChangeAspect="1" noTextEdit="1"/>
          </p:cNvSpPr>
          <p:nvPr>
            <p:ph type="sldImg"/>
          </p:nvPr>
        </p:nvSpPr>
        <p:spPr>
          <a:ln/>
        </p:spPr>
      </p:sp>
      <p:sp>
        <p:nvSpPr>
          <p:cNvPr id="11673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1674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272518E-6FAE-482B-819A-5F493DC4F4DB}" type="slidenum">
              <a:rPr lang="en-US" altLang="fr-FR" smtClean="0"/>
              <a:pPr>
                <a:spcBef>
                  <a:spcPct val="0"/>
                </a:spcBef>
              </a:pPr>
              <a:t>56</a:t>
            </a:fld>
            <a:endParaRPr lang="en-US" altLang="fr-FR" smtClean="0"/>
          </a:p>
        </p:txBody>
      </p:sp>
    </p:spTree>
    <p:extLst>
      <p:ext uri="{BB962C8B-B14F-4D97-AF65-F5344CB8AC3E}">
        <p14:creationId xmlns:p14="http://schemas.microsoft.com/office/powerpoint/2010/main" val="1431731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6B73991-182B-48DB-8F61-2ECCDAEDEDA8}" type="slidenum">
              <a:rPr lang="en-US" altLang="fr-FR" smtClean="0"/>
              <a:pPr>
                <a:spcBef>
                  <a:spcPct val="0"/>
                </a:spcBef>
              </a:pPr>
              <a:t>57</a:t>
            </a:fld>
            <a:endParaRPr lang="en-US" altLang="fr-FR" smtClean="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79380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Espace réservé de l'image des diapositives 1"/>
          <p:cNvSpPr>
            <a:spLocks noGrp="1" noRot="1" noChangeAspect="1" noTextEdit="1"/>
          </p:cNvSpPr>
          <p:nvPr>
            <p:ph type="sldImg"/>
          </p:nvPr>
        </p:nvSpPr>
        <p:spPr>
          <a:ln/>
        </p:spPr>
      </p:sp>
      <p:sp>
        <p:nvSpPr>
          <p:cNvPr id="12083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2083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F50A5CF-C71F-41E3-B43A-F3403C6D9BAE}" type="slidenum">
              <a:rPr lang="en-US" altLang="fr-FR" smtClean="0"/>
              <a:pPr>
                <a:spcBef>
                  <a:spcPct val="0"/>
                </a:spcBef>
              </a:pPr>
              <a:t>58</a:t>
            </a:fld>
            <a:endParaRPr lang="en-US" altLang="fr-FR" smtClean="0"/>
          </a:p>
        </p:txBody>
      </p:sp>
    </p:spTree>
    <p:extLst>
      <p:ext uri="{BB962C8B-B14F-4D97-AF65-F5344CB8AC3E}">
        <p14:creationId xmlns:p14="http://schemas.microsoft.com/office/powerpoint/2010/main" val="15596876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8B2E7F3-C8A2-49C9-88C5-907DE53B1DB1}" type="slidenum">
              <a:rPr lang="en-US" altLang="fr-FR" smtClean="0"/>
              <a:pPr>
                <a:spcBef>
                  <a:spcPct val="0"/>
                </a:spcBef>
              </a:pPr>
              <a:t>59</a:t>
            </a:fld>
            <a:endParaRPr lang="en-US" altLang="fr-FR"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94291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Espace réservé de l'image des diapositives 1"/>
          <p:cNvSpPr>
            <a:spLocks noGrp="1" noRot="1" noChangeAspect="1" noTextEdit="1"/>
          </p:cNvSpPr>
          <p:nvPr>
            <p:ph type="sldImg"/>
          </p:nvPr>
        </p:nvSpPr>
        <p:spPr>
          <a:ln/>
        </p:spPr>
      </p:sp>
      <p:sp>
        <p:nvSpPr>
          <p:cNvPr id="12493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2493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D117898-B260-44D1-93D4-88B920E6B607}" type="slidenum">
              <a:rPr lang="en-US" altLang="fr-FR" smtClean="0"/>
              <a:pPr>
                <a:spcBef>
                  <a:spcPct val="0"/>
                </a:spcBef>
              </a:pPr>
              <a:t>60</a:t>
            </a:fld>
            <a:endParaRPr lang="en-US" altLang="fr-FR" smtClean="0"/>
          </a:p>
        </p:txBody>
      </p:sp>
    </p:spTree>
    <p:extLst>
      <p:ext uri="{BB962C8B-B14F-4D97-AF65-F5344CB8AC3E}">
        <p14:creationId xmlns:p14="http://schemas.microsoft.com/office/powerpoint/2010/main" val="26559039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Espace réservé de l'image des diapositives 1"/>
          <p:cNvSpPr>
            <a:spLocks noGrp="1" noRot="1" noChangeAspect="1" noTextEdit="1"/>
          </p:cNvSpPr>
          <p:nvPr>
            <p:ph type="sldImg"/>
          </p:nvPr>
        </p:nvSpPr>
        <p:spPr>
          <a:ln/>
        </p:spPr>
      </p:sp>
      <p:sp>
        <p:nvSpPr>
          <p:cNvPr id="12697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2698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9E5AE8C-281A-417D-AE65-68E8A6520CC2}" type="slidenum">
              <a:rPr lang="en-US" altLang="fr-FR" smtClean="0"/>
              <a:pPr>
                <a:spcBef>
                  <a:spcPct val="0"/>
                </a:spcBef>
              </a:pPr>
              <a:t>61</a:t>
            </a:fld>
            <a:endParaRPr lang="en-US" altLang="fr-FR" smtClean="0"/>
          </a:p>
        </p:txBody>
      </p:sp>
    </p:spTree>
    <p:extLst>
      <p:ext uri="{BB962C8B-B14F-4D97-AF65-F5344CB8AC3E}">
        <p14:creationId xmlns:p14="http://schemas.microsoft.com/office/powerpoint/2010/main" val="32876063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68E71A8-FC2A-437D-89E4-018B91C73785}" type="slidenum">
              <a:rPr lang="en-US" altLang="fr-FR" smtClean="0"/>
              <a:pPr>
                <a:spcBef>
                  <a:spcPct val="0"/>
                </a:spcBef>
              </a:pPr>
              <a:t>62</a:t>
            </a:fld>
            <a:endParaRPr lang="en-US" altLang="fr-FR" smtClean="0"/>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060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Espace réservé de l'image des diapositives 1"/>
          <p:cNvSpPr>
            <a:spLocks noGrp="1" noRot="1" noChangeAspect="1" noTextEdit="1"/>
          </p:cNvSpPr>
          <p:nvPr>
            <p:ph type="sldImg"/>
          </p:nvPr>
        </p:nvSpPr>
        <p:spPr>
          <a:ln/>
        </p:spPr>
      </p:sp>
      <p:sp>
        <p:nvSpPr>
          <p:cNvPr id="13107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3107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D56FBA0-B966-41DB-AAB5-3652CB9907AA}" type="slidenum">
              <a:rPr lang="en-US" altLang="fr-FR" smtClean="0"/>
              <a:pPr>
                <a:spcBef>
                  <a:spcPct val="0"/>
                </a:spcBef>
              </a:pPr>
              <a:t>63</a:t>
            </a:fld>
            <a:endParaRPr lang="en-US" altLang="fr-FR" smtClean="0"/>
          </a:p>
        </p:txBody>
      </p:sp>
    </p:spTree>
    <p:extLst>
      <p:ext uri="{BB962C8B-B14F-4D97-AF65-F5344CB8AC3E}">
        <p14:creationId xmlns:p14="http://schemas.microsoft.com/office/powerpoint/2010/main" val="3816656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128AFDC-82B9-4AD0-BCCA-01958F548D92}" type="slidenum">
              <a:rPr lang="en-US" altLang="fr-FR" smtClean="0"/>
              <a:pPr>
                <a:spcBef>
                  <a:spcPct val="0"/>
                </a:spcBef>
              </a:pPr>
              <a:t>64</a:t>
            </a:fld>
            <a:endParaRPr lang="en-US" altLang="fr-FR" smtClean="0"/>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614900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9E838DD-4BD2-4F8D-AE61-117AAE62AB4B}" type="slidenum">
              <a:rPr lang="en-US" altLang="fr-FR" smtClean="0"/>
              <a:pPr>
                <a:spcBef>
                  <a:spcPct val="0"/>
                </a:spcBef>
              </a:pPr>
              <a:t>65</a:t>
            </a:fld>
            <a:endParaRPr lang="en-US" altLang="fr-FR" smtClean="0"/>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239866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038DC93-4993-4300-8692-ECDD738428D4}" type="slidenum">
              <a:rPr lang="en-US" altLang="fr-FR" smtClean="0"/>
              <a:pPr>
                <a:spcBef>
                  <a:spcPct val="0"/>
                </a:spcBef>
              </a:pPr>
              <a:t>66</a:t>
            </a:fld>
            <a:endParaRPr lang="en-US" altLang="fr-FR" smtClean="0"/>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225934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D5492FA-4D66-46CD-A220-DB5A78E9CFC2}" type="slidenum">
              <a:rPr lang="en-US" altLang="fr-FR" smtClean="0"/>
              <a:pPr>
                <a:spcBef>
                  <a:spcPct val="0"/>
                </a:spcBef>
              </a:pPr>
              <a:t>67</a:t>
            </a:fld>
            <a:endParaRPr lang="en-US" altLang="fr-FR" smtClean="0"/>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893761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B409819-4295-48C8-8EB1-974934C761DE}" type="slidenum">
              <a:rPr lang="en-US" altLang="fr-FR" smtClean="0"/>
              <a:pPr>
                <a:spcBef>
                  <a:spcPct val="0"/>
                </a:spcBef>
              </a:pPr>
              <a:t>68</a:t>
            </a:fld>
            <a:endParaRPr lang="en-US" altLang="fr-FR" smtClean="0"/>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931652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84BE7E9-B927-400B-9543-146D43D6C527}" type="slidenum">
              <a:rPr lang="en-US" altLang="fr-FR" smtClean="0"/>
              <a:pPr>
                <a:spcBef>
                  <a:spcPct val="0"/>
                </a:spcBef>
              </a:pPr>
              <a:t>69</a:t>
            </a:fld>
            <a:endParaRPr lang="en-US" altLang="fr-FR" smtClean="0"/>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785468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6BE1A88-F68B-4D67-914B-53B180DCA63C}" type="slidenum">
              <a:rPr lang="en-US" altLang="fr-FR" smtClean="0"/>
              <a:pPr>
                <a:spcBef>
                  <a:spcPct val="0"/>
                </a:spcBef>
              </a:pPr>
              <a:t>70</a:t>
            </a:fld>
            <a:endParaRPr lang="en-US" altLang="fr-FR" smtClean="0"/>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065206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Espace réservé de l'image des diapositives 1"/>
          <p:cNvSpPr>
            <a:spLocks noGrp="1" noRot="1" noChangeAspect="1" noTextEdit="1"/>
          </p:cNvSpPr>
          <p:nvPr>
            <p:ph type="sldImg"/>
          </p:nvPr>
        </p:nvSpPr>
        <p:spPr>
          <a:ln/>
        </p:spPr>
      </p:sp>
      <p:sp>
        <p:nvSpPr>
          <p:cNvPr id="14745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4746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EBC92C8-524E-4B03-B6BB-1479EE985D67}" type="slidenum">
              <a:rPr lang="en-US" altLang="fr-FR" smtClean="0"/>
              <a:pPr>
                <a:spcBef>
                  <a:spcPct val="0"/>
                </a:spcBef>
              </a:pPr>
              <a:t>71</a:t>
            </a:fld>
            <a:endParaRPr lang="en-US" altLang="fr-FR" smtClean="0"/>
          </a:p>
        </p:txBody>
      </p:sp>
    </p:spTree>
    <p:extLst>
      <p:ext uri="{BB962C8B-B14F-4D97-AF65-F5344CB8AC3E}">
        <p14:creationId xmlns:p14="http://schemas.microsoft.com/office/powerpoint/2010/main" val="386082651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Espace réservé de l'image des diapositives 1"/>
          <p:cNvSpPr>
            <a:spLocks noGrp="1" noRot="1" noChangeAspect="1" noTextEdit="1"/>
          </p:cNvSpPr>
          <p:nvPr>
            <p:ph type="sldImg"/>
          </p:nvPr>
        </p:nvSpPr>
        <p:spPr>
          <a:ln/>
        </p:spPr>
      </p:sp>
      <p:sp>
        <p:nvSpPr>
          <p:cNvPr id="14950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4950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9C2F1E6-CA06-4680-812B-3DE44612CCCA}" type="slidenum">
              <a:rPr lang="en-US" altLang="fr-FR" smtClean="0"/>
              <a:pPr>
                <a:spcBef>
                  <a:spcPct val="0"/>
                </a:spcBef>
              </a:pPr>
              <a:t>72</a:t>
            </a:fld>
            <a:endParaRPr lang="en-US" altLang="fr-FR" smtClean="0"/>
          </a:p>
        </p:txBody>
      </p:sp>
    </p:spTree>
    <p:extLst>
      <p:ext uri="{BB962C8B-B14F-4D97-AF65-F5344CB8AC3E}">
        <p14:creationId xmlns:p14="http://schemas.microsoft.com/office/powerpoint/2010/main" val="315944908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Espace réservé de l'image des diapositives 1"/>
          <p:cNvSpPr>
            <a:spLocks noGrp="1" noRot="1" noChangeAspect="1" noTextEdit="1"/>
          </p:cNvSpPr>
          <p:nvPr>
            <p:ph type="sldImg"/>
          </p:nvPr>
        </p:nvSpPr>
        <p:spPr>
          <a:ln/>
        </p:spPr>
      </p:sp>
      <p:sp>
        <p:nvSpPr>
          <p:cNvPr id="15155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5155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A8F94F2-2368-4221-BFA9-4ACC4C7CCED2}" type="slidenum">
              <a:rPr lang="en-US" altLang="fr-FR" smtClean="0"/>
              <a:pPr>
                <a:spcBef>
                  <a:spcPct val="0"/>
                </a:spcBef>
              </a:pPr>
              <a:t>73</a:t>
            </a:fld>
            <a:endParaRPr lang="en-US" altLang="fr-FR" smtClean="0"/>
          </a:p>
        </p:txBody>
      </p:sp>
    </p:spTree>
    <p:extLst>
      <p:ext uri="{BB962C8B-B14F-4D97-AF65-F5344CB8AC3E}">
        <p14:creationId xmlns:p14="http://schemas.microsoft.com/office/powerpoint/2010/main" val="68886020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Espace réservé de l'image des diapositives 1"/>
          <p:cNvSpPr>
            <a:spLocks noGrp="1" noRot="1" noChangeAspect="1" noTextEdit="1"/>
          </p:cNvSpPr>
          <p:nvPr>
            <p:ph type="sldImg"/>
          </p:nvPr>
        </p:nvSpPr>
        <p:spPr>
          <a:ln/>
        </p:spPr>
      </p:sp>
      <p:sp>
        <p:nvSpPr>
          <p:cNvPr id="15360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5360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2FAB382-9C99-4CE5-BCA6-3B9C3F405BD7}" type="slidenum">
              <a:rPr lang="en-US" altLang="fr-FR" smtClean="0"/>
              <a:pPr>
                <a:spcBef>
                  <a:spcPct val="0"/>
                </a:spcBef>
              </a:pPr>
              <a:t>74</a:t>
            </a:fld>
            <a:endParaRPr lang="en-US" altLang="fr-FR" smtClean="0"/>
          </a:p>
        </p:txBody>
      </p:sp>
    </p:spTree>
    <p:extLst>
      <p:ext uri="{BB962C8B-B14F-4D97-AF65-F5344CB8AC3E}">
        <p14:creationId xmlns:p14="http://schemas.microsoft.com/office/powerpoint/2010/main" val="42730000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Espace réservé de l'image des diapositives 1"/>
          <p:cNvSpPr>
            <a:spLocks noGrp="1" noRot="1" noChangeAspect="1" noTextEdit="1"/>
          </p:cNvSpPr>
          <p:nvPr>
            <p:ph type="sldImg"/>
          </p:nvPr>
        </p:nvSpPr>
        <p:spPr>
          <a:ln/>
        </p:spPr>
      </p:sp>
      <p:sp>
        <p:nvSpPr>
          <p:cNvPr id="15565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5565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A62B73F-699E-4E44-913F-FD9F222E9FA8}" type="slidenum">
              <a:rPr lang="en-US" altLang="fr-FR" smtClean="0"/>
              <a:pPr>
                <a:spcBef>
                  <a:spcPct val="0"/>
                </a:spcBef>
              </a:pPr>
              <a:t>75</a:t>
            </a:fld>
            <a:endParaRPr lang="en-US" altLang="fr-FR" smtClean="0"/>
          </a:p>
        </p:txBody>
      </p:sp>
    </p:spTree>
    <p:extLst>
      <p:ext uri="{BB962C8B-B14F-4D97-AF65-F5344CB8AC3E}">
        <p14:creationId xmlns:p14="http://schemas.microsoft.com/office/powerpoint/2010/main" val="129629244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E22E83E-9E46-4E67-8442-A6294CFC5D73}" type="slidenum">
              <a:rPr lang="en-US" altLang="fr-FR" smtClean="0"/>
              <a:pPr>
                <a:spcBef>
                  <a:spcPct val="0"/>
                </a:spcBef>
              </a:pPr>
              <a:t>76</a:t>
            </a:fld>
            <a:endParaRPr lang="en-US" altLang="fr-FR" smtClean="0"/>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455793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Espace réservé de l'image des diapositives 1"/>
          <p:cNvSpPr>
            <a:spLocks noGrp="1" noRot="1" noChangeAspect="1" noTextEdit="1"/>
          </p:cNvSpPr>
          <p:nvPr>
            <p:ph type="sldImg"/>
          </p:nvPr>
        </p:nvSpPr>
        <p:spPr>
          <a:ln/>
        </p:spPr>
      </p:sp>
      <p:sp>
        <p:nvSpPr>
          <p:cNvPr id="15974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5974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DD28232-9A4B-43CC-A9E0-AB99B8D25905}" type="slidenum">
              <a:rPr lang="en-US" altLang="fr-FR" smtClean="0"/>
              <a:pPr>
                <a:spcBef>
                  <a:spcPct val="0"/>
                </a:spcBef>
              </a:pPr>
              <a:t>77</a:t>
            </a:fld>
            <a:endParaRPr lang="en-US" altLang="fr-FR" smtClean="0"/>
          </a:p>
        </p:txBody>
      </p:sp>
    </p:spTree>
    <p:extLst>
      <p:ext uri="{BB962C8B-B14F-4D97-AF65-F5344CB8AC3E}">
        <p14:creationId xmlns:p14="http://schemas.microsoft.com/office/powerpoint/2010/main" val="286433188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Espace réservé de l'image des diapositives 1"/>
          <p:cNvSpPr>
            <a:spLocks noGrp="1" noRot="1" noChangeAspect="1" noTextEdit="1"/>
          </p:cNvSpPr>
          <p:nvPr>
            <p:ph type="sldImg"/>
          </p:nvPr>
        </p:nvSpPr>
        <p:spPr>
          <a:ln/>
        </p:spPr>
      </p:sp>
      <p:sp>
        <p:nvSpPr>
          <p:cNvPr id="16179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6179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08D88B6-3823-4F38-AA92-6BD28C69DC15}" type="slidenum">
              <a:rPr lang="en-US" altLang="fr-FR" smtClean="0"/>
              <a:pPr>
                <a:spcBef>
                  <a:spcPct val="0"/>
                </a:spcBef>
              </a:pPr>
              <a:t>78</a:t>
            </a:fld>
            <a:endParaRPr lang="en-US" altLang="fr-FR" smtClean="0"/>
          </a:p>
        </p:txBody>
      </p:sp>
    </p:spTree>
    <p:extLst>
      <p:ext uri="{BB962C8B-B14F-4D97-AF65-F5344CB8AC3E}">
        <p14:creationId xmlns:p14="http://schemas.microsoft.com/office/powerpoint/2010/main" val="301750558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Espace réservé de l'image des diapositives 1"/>
          <p:cNvSpPr>
            <a:spLocks noGrp="1" noRot="1" noChangeAspect="1" noTextEdit="1"/>
          </p:cNvSpPr>
          <p:nvPr>
            <p:ph type="sldImg"/>
          </p:nvPr>
        </p:nvSpPr>
        <p:spPr>
          <a:ln/>
        </p:spPr>
      </p:sp>
      <p:sp>
        <p:nvSpPr>
          <p:cNvPr id="16384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latin typeface="Arial" panose="020B0604020202020204" pitchFamily="34" charset="0"/>
              <a:cs typeface="Arial" panose="020B0604020202020204" pitchFamily="34" charset="0"/>
            </a:endParaRPr>
          </a:p>
        </p:txBody>
      </p:sp>
      <p:sp>
        <p:nvSpPr>
          <p:cNvPr id="16384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20321C4-237F-4B19-AF7A-6A1BB83B9F63}" type="slidenum">
              <a:rPr lang="en-US" altLang="fr-FR" smtClean="0"/>
              <a:pPr>
                <a:spcBef>
                  <a:spcPct val="0"/>
                </a:spcBef>
              </a:pPr>
              <a:t>79</a:t>
            </a:fld>
            <a:endParaRPr lang="en-US" altLang="fr-FR" smtClean="0"/>
          </a:p>
        </p:txBody>
      </p:sp>
    </p:spTree>
    <p:extLst>
      <p:ext uri="{BB962C8B-B14F-4D97-AF65-F5344CB8AC3E}">
        <p14:creationId xmlns:p14="http://schemas.microsoft.com/office/powerpoint/2010/main" val="3985119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Forme libre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latin typeface="Arial" charset="0"/>
              <a:cs typeface="Arial" charset="0"/>
            </a:endParaRPr>
          </a:p>
        </p:txBody>
      </p:sp>
      <p:sp>
        <p:nvSpPr>
          <p:cNvPr id="5" name="Forme libre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latin typeface="Arial" charset="0"/>
              <a:cs typeface="Arial" charset="0"/>
            </a:endParaRPr>
          </a:p>
        </p:txBody>
      </p:sp>
      <p:sp>
        <p:nvSpPr>
          <p:cNvPr id="9" name="Titre 8"/>
          <p:cNvSpPr>
            <a:spLocks noGrp="1"/>
          </p:cNvSpPr>
          <p:nvPr>
            <p:ph type="ctrTitle"/>
          </p:nvPr>
        </p:nvSpPr>
        <p:spPr>
          <a:xfrm>
            <a:off x="429064" y="3337560"/>
            <a:ext cx="6480048" cy="2301240"/>
          </a:xfrm>
        </p:spPr>
        <p:txBody>
          <a:bodyPr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fr-FR" smtClean="0"/>
              <a:t>Cliquez pour modifier le style du titre</a:t>
            </a:r>
            <a:endParaRPr lang="en-US"/>
          </a:p>
        </p:txBody>
      </p:sp>
      <p:sp>
        <p:nvSpPr>
          <p:cNvPr id="17" name="Sous-titr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fr-FR" smtClean="0"/>
              <a:t>Cliquez pour modifier le style des sous-titres du masque</a:t>
            </a:r>
            <a:endParaRPr lang="en-US"/>
          </a:p>
        </p:txBody>
      </p:sp>
      <p:sp>
        <p:nvSpPr>
          <p:cNvPr id="6" name="Espace réservé de la date 29"/>
          <p:cNvSpPr>
            <a:spLocks noGrp="1"/>
          </p:cNvSpPr>
          <p:nvPr>
            <p:ph type="dt" sz="half" idx="10"/>
          </p:nvPr>
        </p:nvSpPr>
        <p:spPr/>
        <p:txBody>
          <a:bodyPr/>
          <a:lstStyle>
            <a:lvl1pPr>
              <a:defRPr/>
            </a:lvl1pPr>
          </a:lstStyle>
          <a:p>
            <a:pPr>
              <a:defRPr/>
            </a:pPr>
            <a:endParaRPr lang="fr-FR"/>
          </a:p>
        </p:txBody>
      </p:sp>
      <p:sp>
        <p:nvSpPr>
          <p:cNvPr id="7" name="Espace réservé du pied de page 18"/>
          <p:cNvSpPr>
            <a:spLocks noGrp="1"/>
          </p:cNvSpPr>
          <p:nvPr>
            <p:ph type="ftr" sz="quarter" idx="11"/>
          </p:nvPr>
        </p:nvSpPr>
        <p:spPr/>
        <p:txBody>
          <a:bodyPr/>
          <a:lstStyle>
            <a:lvl1pPr>
              <a:defRPr/>
            </a:lvl1pPr>
          </a:lstStyle>
          <a:p>
            <a:pPr>
              <a:defRPr/>
            </a:pPr>
            <a:r>
              <a:rPr lang="fr-FR"/>
              <a:t>Commande des machines  1. Intro         Ali NEJMI</a:t>
            </a:r>
          </a:p>
        </p:txBody>
      </p:sp>
      <p:sp>
        <p:nvSpPr>
          <p:cNvPr id="8" name="Espace réservé du numéro de diapositive 26"/>
          <p:cNvSpPr>
            <a:spLocks noGrp="1"/>
          </p:cNvSpPr>
          <p:nvPr>
            <p:ph type="sldNum" sz="quarter" idx="12"/>
          </p:nvPr>
        </p:nvSpPr>
        <p:spPr/>
        <p:txBody>
          <a:bodyPr/>
          <a:lstStyle>
            <a:lvl1pPr>
              <a:defRPr/>
            </a:lvl1pPr>
          </a:lstStyle>
          <a:p>
            <a:pPr>
              <a:defRPr/>
            </a:pPr>
            <a:fld id="{24C77C04-DD84-4CF1-BA70-EDE9EC0A3643}" type="slidenum">
              <a:rPr lang="en-US" altLang="fr-FR"/>
              <a:pPr>
                <a:defRPr/>
              </a:pPr>
              <a:t>‹N°›</a:t>
            </a:fld>
            <a:endParaRPr lang="en-US" altLang="fr-FR"/>
          </a:p>
        </p:txBody>
      </p:sp>
    </p:spTree>
    <p:extLst>
      <p:ext uri="{BB962C8B-B14F-4D97-AF65-F5344CB8AC3E}">
        <p14:creationId xmlns:p14="http://schemas.microsoft.com/office/powerpoint/2010/main" val="1762812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lgn="l">
              <a:defRPr/>
            </a:lvl1pPr>
          </a:lstStyle>
          <a:p>
            <a:r>
              <a:rPr lang="fr-FR" smtClean="0"/>
              <a:t>Cliquez pour modifier le style du titre</a:t>
            </a:r>
            <a:endParaRPr lang="en-US"/>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fr-FR"/>
          </a:p>
        </p:txBody>
      </p:sp>
      <p:sp>
        <p:nvSpPr>
          <p:cNvPr id="5" name="Espace réservé du pied de page 21"/>
          <p:cNvSpPr>
            <a:spLocks noGrp="1"/>
          </p:cNvSpPr>
          <p:nvPr>
            <p:ph type="ftr" sz="quarter" idx="11"/>
          </p:nvPr>
        </p:nvSpPr>
        <p:spPr/>
        <p:txBody>
          <a:bodyPr/>
          <a:lstStyle>
            <a:lvl1pPr>
              <a:defRPr/>
            </a:lvl1pPr>
          </a:lstStyle>
          <a:p>
            <a:pPr>
              <a:defRPr/>
            </a:pPr>
            <a:r>
              <a:rPr lang="fr-FR"/>
              <a:t>Commande des machines  1. Intro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D75305D9-BC34-4907-93FD-9791923845B7}" type="slidenum">
              <a:rPr lang="en-US" altLang="fr-FR"/>
              <a:pPr>
                <a:defRPr/>
              </a:pPr>
              <a:t>‹N°›</a:t>
            </a:fld>
            <a:endParaRPr lang="en-US" altLang="fr-FR"/>
          </a:p>
        </p:txBody>
      </p:sp>
    </p:spTree>
    <p:extLst>
      <p:ext uri="{BB962C8B-B14F-4D97-AF65-F5344CB8AC3E}">
        <p14:creationId xmlns:p14="http://schemas.microsoft.com/office/powerpoint/2010/main" val="2261489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4" name="Forme libre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latin typeface="Arial" charset="0"/>
              <a:cs typeface="Arial" charset="0"/>
            </a:endParaRPr>
          </a:p>
        </p:txBody>
      </p:sp>
      <p:sp>
        <p:nvSpPr>
          <p:cNvPr id="5" name="Forme libre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latin typeface="Arial" charset="0"/>
              <a:cs typeface="Arial" charset="0"/>
            </a:endParaRPr>
          </a:p>
        </p:txBody>
      </p:sp>
      <p:sp>
        <p:nvSpPr>
          <p:cNvPr id="2" name="Titr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fr-FR" smtClean="0"/>
              <a:t>Cliquez pour modifier le style du titre</a:t>
            </a:r>
            <a:endParaRPr lang="en-US"/>
          </a:p>
        </p:txBody>
      </p:sp>
      <p:sp>
        <p:nvSpPr>
          <p:cNvPr id="3" name="Espace réservé du texte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fr-FR" smtClean="0"/>
              <a:t>Cliquez pour modifier les styles du texte du masque</a:t>
            </a:r>
          </a:p>
        </p:txBody>
      </p:sp>
      <p:sp>
        <p:nvSpPr>
          <p:cNvPr id="6" name="Espace réservé de la date 3"/>
          <p:cNvSpPr>
            <a:spLocks noGrp="1"/>
          </p:cNvSpPr>
          <p:nvPr>
            <p:ph type="dt" sz="half" idx="10"/>
          </p:nvPr>
        </p:nvSpPr>
        <p:spPr/>
        <p:txBody>
          <a:bodyPr/>
          <a:lstStyle>
            <a:lvl1pPr>
              <a:defRPr/>
            </a:lvl1pPr>
          </a:lstStyle>
          <a:p>
            <a:pPr>
              <a:defRPr/>
            </a:pPr>
            <a:endParaRPr lang="fr-FR"/>
          </a:p>
        </p:txBody>
      </p:sp>
      <p:sp>
        <p:nvSpPr>
          <p:cNvPr id="7" name="Espace réservé du pied de page 4"/>
          <p:cNvSpPr>
            <a:spLocks noGrp="1"/>
          </p:cNvSpPr>
          <p:nvPr>
            <p:ph type="ftr" sz="quarter" idx="11"/>
          </p:nvPr>
        </p:nvSpPr>
        <p:spPr/>
        <p:txBody>
          <a:bodyPr/>
          <a:lstStyle>
            <a:lvl1pPr>
              <a:defRPr/>
            </a:lvl1pPr>
          </a:lstStyle>
          <a:p>
            <a:pPr>
              <a:defRPr/>
            </a:pPr>
            <a:r>
              <a:rPr lang="fr-FR"/>
              <a:t>Commande des machines  1. Intro         Ali NEJMI</a:t>
            </a:r>
          </a:p>
        </p:txBody>
      </p:sp>
      <p:sp>
        <p:nvSpPr>
          <p:cNvPr id="8" name="Espace réservé du numéro de diapositive 5"/>
          <p:cNvSpPr>
            <a:spLocks noGrp="1"/>
          </p:cNvSpPr>
          <p:nvPr>
            <p:ph type="sldNum" sz="quarter" idx="12"/>
          </p:nvPr>
        </p:nvSpPr>
        <p:spPr/>
        <p:txBody>
          <a:bodyPr/>
          <a:lstStyle>
            <a:lvl1pPr>
              <a:defRPr/>
            </a:lvl1pPr>
          </a:lstStyle>
          <a:p>
            <a:pPr>
              <a:defRPr/>
            </a:pPr>
            <a:fld id="{4E17284F-2FEE-4099-8CA1-E62DF509CA3F}" type="slidenum">
              <a:rPr lang="en-US" altLang="fr-FR"/>
              <a:pPr>
                <a:defRPr/>
              </a:pPr>
              <a:t>‹N°›</a:t>
            </a:fld>
            <a:endParaRPr lang="en-US" altLang="fr-FR"/>
          </a:p>
        </p:txBody>
      </p:sp>
    </p:spTree>
    <p:extLst>
      <p:ext uri="{BB962C8B-B14F-4D97-AF65-F5344CB8AC3E}">
        <p14:creationId xmlns:p14="http://schemas.microsoft.com/office/powerpoint/2010/main" val="3620451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1143000"/>
          </a:xfrm>
        </p:spPr>
        <p:txBody>
          <a:bodyPr/>
          <a:lstStyle/>
          <a:p>
            <a:r>
              <a:rPr lang="fr-FR" smtClean="0"/>
              <a:t>Cliquez pour modifier le style du titre</a:t>
            </a:r>
            <a:endParaRPr lang="en-US"/>
          </a:p>
        </p:txBody>
      </p:sp>
      <p:sp>
        <p:nvSpPr>
          <p:cNvPr id="3" name="Espace réservé du contenu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9"/>
          <p:cNvSpPr>
            <a:spLocks noGrp="1"/>
          </p:cNvSpPr>
          <p:nvPr>
            <p:ph type="dt" sz="half" idx="10"/>
          </p:nvPr>
        </p:nvSpPr>
        <p:spPr/>
        <p:txBody>
          <a:bodyPr/>
          <a:lstStyle>
            <a:lvl1pPr>
              <a:defRPr/>
            </a:lvl1pPr>
          </a:lstStyle>
          <a:p>
            <a:pPr>
              <a:defRPr/>
            </a:pPr>
            <a:endParaRPr lang="fr-FR"/>
          </a:p>
        </p:txBody>
      </p:sp>
      <p:sp>
        <p:nvSpPr>
          <p:cNvPr id="6" name="Espace réservé du pied de page 21"/>
          <p:cNvSpPr>
            <a:spLocks noGrp="1"/>
          </p:cNvSpPr>
          <p:nvPr>
            <p:ph type="ftr" sz="quarter" idx="11"/>
          </p:nvPr>
        </p:nvSpPr>
        <p:spPr/>
        <p:txBody>
          <a:bodyPr/>
          <a:lstStyle>
            <a:lvl1pPr>
              <a:defRPr/>
            </a:lvl1pPr>
          </a:lstStyle>
          <a:p>
            <a:pPr>
              <a:defRPr/>
            </a:pPr>
            <a:r>
              <a:rPr lang="fr-FR"/>
              <a:t>Commande des machines  1. Intro         Ali NEJMI</a:t>
            </a:r>
          </a:p>
        </p:txBody>
      </p:sp>
      <p:sp>
        <p:nvSpPr>
          <p:cNvPr id="7" name="Espace réservé du numéro de diapositive 17"/>
          <p:cNvSpPr>
            <a:spLocks noGrp="1"/>
          </p:cNvSpPr>
          <p:nvPr>
            <p:ph type="sldNum" sz="quarter" idx="12"/>
          </p:nvPr>
        </p:nvSpPr>
        <p:spPr/>
        <p:txBody>
          <a:bodyPr/>
          <a:lstStyle>
            <a:lvl1pPr>
              <a:defRPr/>
            </a:lvl1pPr>
          </a:lstStyle>
          <a:p>
            <a:pPr>
              <a:defRPr/>
            </a:pPr>
            <a:fld id="{5E1EC916-6A85-48A2-8547-752B2F6493FA}" type="slidenum">
              <a:rPr lang="en-US" altLang="fr-FR"/>
              <a:pPr>
                <a:defRPr/>
              </a:pPr>
              <a:t>‹N°›</a:t>
            </a:fld>
            <a:endParaRPr lang="en-US" altLang="fr-FR"/>
          </a:p>
        </p:txBody>
      </p:sp>
    </p:spTree>
    <p:extLst>
      <p:ext uri="{BB962C8B-B14F-4D97-AF65-F5344CB8AC3E}">
        <p14:creationId xmlns:p14="http://schemas.microsoft.com/office/powerpoint/2010/main" val="2917526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lstStyle>
            <a:lvl1pPr>
              <a:defRPr/>
            </a:lvl1pPr>
          </a:lstStyle>
          <a:p>
            <a:r>
              <a:rPr lang="fr-FR" smtClean="0"/>
              <a:t>Cliquez pour modifier le style du titre</a:t>
            </a:r>
            <a:endParaRPr lang="en-US"/>
          </a:p>
        </p:txBody>
      </p:sp>
      <p:sp>
        <p:nvSpPr>
          <p:cNvPr id="3" name="Espace réservé du texte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fr-FR" smtClean="0"/>
              <a:t>Cliquez pour modifier les styles du texte du masque</a:t>
            </a:r>
          </a:p>
        </p:txBody>
      </p:sp>
      <p:sp>
        <p:nvSpPr>
          <p:cNvPr id="4" name="Espace réservé du texte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fr-FR" smtClean="0"/>
              <a:t>Cliquez pour modifier les styles du texte du masque</a:t>
            </a:r>
          </a:p>
        </p:txBody>
      </p:sp>
      <p:sp>
        <p:nvSpPr>
          <p:cNvPr id="5" name="Espace réservé du contenu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contenu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Espace réservé de la date 9"/>
          <p:cNvSpPr>
            <a:spLocks noGrp="1"/>
          </p:cNvSpPr>
          <p:nvPr>
            <p:ph type="dt" sz="half" idx="10"/>
          </p:nvPr>
        </p:nvSpPr>
        <p:spPr/>
        <p:txBody>
          <a:bodyPr/>
          <a:lstStyle>
            <a:lvl1pPr>
              <a:defRPr/>
            </a:lvl1pPr>
          </a:lstStyle>
          <a:p>
            <a:pPr>
              <a:defRPr/>
            </a:pPr>
            <a:endParaRPr lang="fr-FR"/>
          </a:p>
        </p:txBody>
      </p:sp>
      <p:sp>
        <p:nvSpPr>
          <p:cNvPr id="8" name="Espace réservé du pied de page 21"/>
          <p:cNvSpPr>
            <a:spLocks noGrp="1"/>
          </p:cNvSpPr>
          <p:nvPr>
            <p:ph type="ftr" sz="quarter" idx="11"/>
          </p:nvPr>
        </p:nvSpPr>
        <p:spPr/>
        <p:txBody>
          <a:bodyPr/>
          <a:lstStyle>
            <a:lvl1pPr>
              <a:defRPr/>
            </a:lvl1pPr>
          </a:lstStyle>
          <a:p>
            <a:pPr>
              <a:defRPr/>
            </a:pPr>
            <a:r>
              <a:rPr lang="fr-FR"/>
              <a:t>Commande des machines  1. Intro         Ali NEJMI</a:t>
            </a:r>
          </a:p>
        </p:txBody>
      </p:sp>
      <p:sp>
        <p:nvSpPr>
          <p:cNvPr id="9" name="Espace réservé du numéro de diapositive 17"/>
          <p:cNvSpPr>
            <a:spLocks noGrp="1"/>
          </p:cNvSpPr>
          <p:nvPr>
            <p:ph type="sldNum" sz="quarter" idx="12"/>
          </p:nvPr>
        </p:nvSpPr>
        <p:spPr/>
        <p:txBody>
          <a:bodyPr/>
          <a:lstStyle>
            <a:lvl1pPr>
              <a:defRPr/>
            </a:lvl1pPr>
          </a:lstStyle>
          <a:p>
            <a:pPr>
              <a:defRPr/>
            </a:pPr>
            <a:fld id="{4CDCC3B0-D97D-48CA-8988-F5EE40AEB5AE}" type="slidenum">
              <a:rPr lang="en-US" altLang="fr-FR"/>
              <a:pPr>
                <a:defRPr/>
              </a:pPr>
              <a:t>‹N°›</a:t>
            </a:fld>
            <a:endParaRPr lang="en-US" altLang="fr-FR"/>
          </a:p>
        </p:txBody>
      </p:sp>
    </p:spTree>
    <p:extLst>
      <p:ext uri="{BB962C8B-B14F-4D97-AF65-F5344CB8AC3E}">
        <p14:creationId xmlns:p14="http://schemas.microsoft.com/office/powerpoint/2010/main" val="4039843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320"/>
            <a:ext cx="7470648" cy="1143000"/>
          </a:xfrm>
        </p:spPr>
        <p:txBody>
          <a:bodyPr/>
          <a:lstStyle>
            <a:lvl1pPr algn="l">
              <a:defRPr sz="4600"/>
            </a:lvl1pPr>
          </a:lstStyle>
          <a:p>
            <a:r>
              <a:rPr lang="fr-FR" smtClean="0"/>
              <a:t>Cliquez pour modifier le style du titre</a:t>
            </a:r>
            <a:endParaRPr lang="en-US"/>
          </a:p>
        </p:txBody>
      </p:sp>
      <p:sp>
        <p:nvSpPr>
          <p:cNvPr id="3" name="Espace réservé de la date 9"/>
          <p:cNvSpPr>
            <a:spLocks noGrp="1"/>
          </p:cNvSpPr>
          <p:nvPr>
            <p:ph type="dt" sz="half" idx="10"/>
          </p:nvPr>
        </p:nvSpPr>
        <p:spPr/>
        <p:txBody>
          <a:bodyPr/>
          <a:lstStyle>
            <a:lvl1pPr>
              <a:defRPr/>
            </a:lvl1pPr>
          </a:lstStyle>
          <a:p>
            <a:pPr>
              <a:defRPr/>
            </a:pPr>
            <a:endParaRPr lang="fr-FR"/>
          </a:p>
        </p:txBody>
      </p:sp>
      <p:sp>
        <p:nvSpPr>
          <p:cNvPr id="4" name="Espace réservé du pied de page 21"/>
          <p:cNvSpPr>
            <a:spLocks noGrp="1"/>
          </p:cNvSpPr>
          <p:nvPr>
            <p:ph type="ftr" sz="quarter" idx="11"/>
          </p:nvPr>
        </p:nvSpPr>
        <p:spPr/>
        <p:txBody>
          <a:bodyPr/>
          <a:lstStyle>
            <a:lvl1pPr>
              <a:defRPr/>
            </a:lvl1pPr>
          </a:lstStyle>
          <a:p>
            <a:pPr>
              <a:defRPr/>
            </a:pPr>
            <a:r>
              <a:rPr lang="fr-FR"/>
              <a:t>Commande des machines  1. Intro         Ali NEJMI</a:t>
            </a:r>
          </a:p>
        </p:txBody>
      </p:sp>
      <p:sp>
        <p:nvSpPr>
          <p:cNvPr id="5" name="Espace réservé du numéro de diapositive 17"/>
          <p:cNvSpPr>
            <a:spLocks noGrp="1"/>
          </p:cNvSpPr>
          <p:nvPr>
            <p:ph type="sldNum" sz="quarter" idx="12"/>
          </p:nvPr>
        </p:nvSpPr>
        <p:spPr/>
        <p:txBody>
          <a:bodyPr/>
          <a:lstStyle>
            <a:lvl1pPr>
              <a:defRPr/>
            </a:lvl1pPr>
          </a:lstStyle>
          <a:p>
            <a:pPr>
              <a:defRPr/>
            </a:pPr>
            <a:fld id="{1D386453-48A0-46B7-9AE3-05BFB8F50B83}" type="slidenum">
              <a:rPr lang="en-US" altLang="fr-FR"/>
              <a:pPr>
                <a:defRPr/>
              </a:pPr>
              <a:t>‹N°›</a:t>
            </a:fld>
            <a:endParaRPr lang="en-US" altLang="fr-FR"/>
          </a:p>
        </p:txBody>
      </p:sp>
    </p:spTree>
    <p:extLst>
      <p:ext uri="{BB962C8B-B14F-4D97-AF65-F5344CB8AC3E}">
        <p14:creationId xmlns:p14="http://schemas.microsoft.com/office/powerpoint/2010/main" val="263081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9"/>
          <p:cNvSpPr>
            <a:spLocks noGrp="1"/>
          </p:cNvSpPr>
          <p:nvPr>
            <p:ph type="dt" sz="half" idx="10"/>
          </p:nvPr>
        </p:nvSpPr>
        <p:spPr/>
        <p:txBody>
          <a:bodyPr/>
          <a:lstStyle>
            <a:lvl1pPr>
              <a:defRPr/>
            </a:lvl1pPr>
          </a:lstStyle>
          <a:p>
            <a:pPr>
              <a:defRPr/>
            </a:pPr>
            <a:endParaRPr lang="fr-FR"/>
          </a:p>
        </p:txBody>
      </p:sp>
      <p:sp>
        <p:nvSpPr>
          <p:cNvPr id="3" name="Espace réservé du pied de page 21"/>
          <p:cNvSpPr>
            <a:spLocks noGrp="1"/>
          </p:cNvSpPr>
          <p:nvPr>
            <p:ph type="ftr" sz="quarter" idx="11"/>
          </p:nvPr>
        </p:nvSpPr>
        <p:spPr/>
        <p:txBody>
          <a:bodyPr/>
          <a:lstStyle>
            <a:lvl1pPr>
              <a:defRPr/>
            </a:lvl1pPr>
          </a:lstStyle>
          <a:p>
            <a:pPr>
              <a:defRPr/>
            </a:pPr>
            <a:r>
              <a:rPr lang="fr-FR"/>
              <a:t>Commande des machines  1. Intro         Ali NEJMI</a:t>
            </a:r>
          </a:p>
        </p:txBody>
      </p:sp>
      <p:sp>
        <p:nvSpPr>
          <p:cNvPr id="4" name="Espace réservé du numéro de diapositive 17"/>
          <p:cNvSpPr>
            <a:spLocks noGrp="1"/>
          </p:cNvSpPr>
          <p:nvPr>
            <p:ph type="sldNum" sz="quarter" idx="12"/>
          </p:nvPr>
        </p:nvSpPr>
        <p:spPr/>
        <p:txBody>
          <a:bodyPr/>
          <a:lstStyle>
            <a:lvl1pPr>
              <a:defRPr/>
            </a:lvl1pPr>
          </a:lstStyle>
          <a:p>
            <a:pPr>
              <a:defRPr/>
            </a:pPr>
            <a:fld id="{C247BE8B-FED5-4239-8F73-F71E18275592}" type="slidenum">
              <a:rPr lang="en-US" altLang="fr-FR"/>
              <a:pPr>
                <a:defRPr/>
              </a:pPr>
              <a:t>‹N°›</a:t>
            </a:fld>
            <a:endParaRPr lang="en-US" altLang="fr-FR"/>
          </a:p>
        </p:txBody>
      </p:sp>
    </p:spTree>
    <p:extLst>
      <p:ext uri="{BB962C8B-B14F-4D97-AF65-F5344CB8AC3E}">
        <p14:creationId xmlns:p14="http://schemas.microsoft.com/office/powerpoint/2010/main" val="3159443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fr-FR" smtClean="0"/>
              <a:t>Cliquez pour modifier le style du titre</a:t>
            </a:r>
            <a:endParaRPr lang="en-US"/>
          </a:p>
        </p:txBody>
      </p:sp>
      <p:sp>
        <p:nvSpPr>
          <p:cNvPr id="3" name="Espace réservé du texte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a:r>
              <a:rPr lang="fr-FR" smtClean="0"/>
              <a:t>Cliquez pour modifier les styles du texte du masque</a:t>
            </a:r>
          </a:p>
        </p:txBody>
      </p:sp>
      <p:sp>
        <p:nvSpPr>
          <p:cNvPr id="4" name="Espace réservé du contenu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4"/>
          <p:cNvSpPr>
            <a:spLocks noGrp="1"/>
          </p:cNvSpPr>
          <p:nvPr>
            <p:ph type="dt" sz="half" idx="10"/>
          </p:nvPr>
        </p:nvSpPr>
        <p:spPr/>
        <p:txBody>
          <a:bodyPr/>
          <a:lstStyle>
            <a:lvl1pPr>
              <a:defRPr/>
            </a:lvl1pPr>
          </a:lstStyle>
          <a:p>
            <a:pPr>
              <a:defRPr/>
            </a:pPr>
            <a:endParaRPr lang="fr-FR"/>
          </a:p>
        </p:txBody>
      </p:sp>
      <p:sp>
        <p:nvSpPr>
          <p:cNvPr id="6" name="Espace réservé du pied de page 5"/>
          <p:cNvSpPr>
            <a:spLocks noGrp="1"/>
          </p:cNvSpPr>
          <p:nvPr>
            <p:ph type="ftr" sz="quarter" idx="11"/>
          </p:nvPr>
        </p:nvSpPr>
        <p:spPr/>
        <p:txBody>
          <a:bodyPr/>
          <a:lstStyle>
            <a:lvl1pPr>
              <a:defRPr/>
            </a:lvl1pPr>
          </a:lstStyle>
          <a:p>
            <a:pPr>
              <a:defRPr/>
            </a:pPr>
            <a:r>
              <a:rPr lang="fr-FR"/>
              <a:t>Commande des machines  1. Intro         Ali NEJMI</a:t>
            </a:r>
          </a:p>
        </p:txBody>
      </p:sp>
      <p:sp>
        <p:nvSpPr>
          <p:cNvPr id="7" name="Espace réservé du numéro de diapositive 6"/>
          <p:cNvSpPr>
            <a:spLocks noGrp="1"/>
          </p:cNvSpPr>
          <p:nvPr>
            <p:ph type="sldNum" sz="quarter" idx="12"/>
          </p:nvPr>
        </p:nvSpPr>
        <p:spPr>
          <a:xfrm>
            <a:off x="8156575" y="6421438"/>
            <a:ext cx="762000" cy="365125"/>
          </a:xfrm>
        </p:spPr>
        <p:txBody>
          <a:bodyPr/>
          <a:lstStyle>
            <a:lvl1pPr>
              <a:defRPr/>
            </a:lvl1pPr>
          </a:lstStyle>
          <a:p>
            <a:pPr>
              <a:defRPr/>
            </a:pPr>
            <a:fld id="{580939CB-7759-4A1A-9E3F-21DB87BFB1F6}" type="slidenum">
              <a:rPr lang="en-US" altLang="fr-FR"/>
              <a:pPr>
                <a:defRPr/>
              </a:pPr>
              <a:t>‹N°›</a:t>
            </a:fld>
            <a:endParaRPr lang="en-US" altLang="fr-FR"/>
          </a:p>
        </p:txBody>
      </p:sp>
    </p:spTree>
    <p:extLst>
      <p:ext uri="{BB962C8B-B14F-4D97-AF65-F5344CB8AC3E}">
        <p14:creationId xmlns:p14="http://schemas.microsoft.com/office/powerpoint/2010/main" val="2432487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lang="fr-FR" smtClean="0"/>
              <a:t>Cliquez pour modifier le style du titre</a:t>
            </a:r>
            <a:endParaRPr lang="en-US"/>
          </a:p>
        </p:txBody>
      </p:sp>
      <p:sp>
        <p:nvSpPr>
          <p:cNvPr id="3" name="Espace réservé pour une image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fr-FR" noProof="0" smtClean="0"/>
              <a:t>Cliquez sur l'icône pour ajouter une image</a:t>
            </a:r>
            <a:endParaRPr lang="en-US" noProof="0" dirty="0"/>
          </a:p>
        </p:txBody>
      </p:sp>
      <p:sp>
        <p:nvSpPr>
          <p:cNvPr id="4" name="Espace réservé du texte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a:r>
              <a:rPr lang="fr-FR" smtClean="0"/>
              <a:t>Cliquez pour modifier les styles du texte du masque</a:t>
            </a:r>
          </a:p>
        </p:txBody>
      </p:sp>
      <p:sp>
        <p:nvSpPr>
          <p:cNvPr id="5" name="Espace réservé de la date 9"/>
          <p:cNvSpPr>
            <a:spLocks noGrp="1"/>
          </p:cNvSpPr>
          <p:nvPr>
            <p:ph type="dt" sz="half" idx="10"/>
          </p:nvPr>
        </p:nvSpPr>
        <p:spPr/>
        <p:txBody>
          <a:bodyPr/>
          <a:lstStyle>
            <a:lvl1pPr>
              <a:defRPr/>
            </a:lvl1pPr>
          </a:lstStyle>
          <a:p>
            <a:pPr>
              <a:defRPr/>
            </a:pPr>
            <a:endParaRPr lang="fr-FR"/>
          </a:p>
        </p:txBody>
      </p:sp>
      <p:sp>
        <p:nvSpPr>
          <p:cNvPr id="6" name="Espace réservé du pied de page 21"/>
          <p:cNvSpPr>
            <a:spLocks noGrp="1"/>
          </p:cNvSpPr>
          <p:nvPr>
            <p:ph type="ftr" sz="quarter" idx="11"/>
          </p:nvPr>
        </p:nvSpPr>
        <p:spPr/>
        <p:txBody>
          <a:bodyPr/>
          <a:lstStyle>
            <a:lvl1pPr>
              <a:defRPr/>
            </a:lvl1pPr>
          </a:lstStyle>
          <a:p>
            <a:pPr>
              <a:defRPr/>
            </a:pPr>
            <a:r>
              <a:rPr lang="fr-FR"/>
              <a:t>Commande des machines  1. Intro         Ali NEJMI</a:t>
            </a:r>
          </a:p>
        </p:txBody>
      </p:sp>
      <p:sp>
        <p:nvSpPr>
          <p:cNvPr id="7" name="Espace réservé du numéro de diapositive 17"/>
          <p:cNvSpPr>
            <a:spLocks noGrp="1"/>
          </p:cNvSpPr>
          <p:nvPr>
            <p:ph type="sldNum" sz="quarter" idx="12"/>
          </p:nvPr>
        </p:nvSpPr>
        <p:spPr/>
        <p:txBody>
          <a:bodyPr/>
          <a:lstStyle>
            <a:lvl1pPr>
              <a:defRPr/>
            </a:lvl1pPr>
          </a:lstStyle>
          <a:p>
            <a:pPr>
              <a:defRPr/>
            </a:pPr>
            <a:fld id="{89526F1D-DCA8-4A9A-814D-459E198C66B7}" type="slidenum">
              <a:rPr lang="en-US" altLang="fr-FR"/>
              <a:pPr>
                <a:defRPr/>
              </a:pPr>
              <a:t>‹N°›</a:t>
            </a:fld>
            <a:endParaRPr lang="en-US" altLang="fr-FR"/>
          </a:p>
        </p:txBody>
      </p:sp>
    </p:spTree>
    <p:extLst>
      <p:ext uri="{BB962C8B-B14F-4D97-AF65-F5344CB8AC3E}">
        <p14:creationId xmlns:p14="http://schemas.microsoft.com/office/powerpoint/2010/main" val="4015560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fr-FR"/>
          </a:p>
        </p:txBody>
      </p:sp>
      <p:sp>
        <p:nvSpPr>
          <p:cNvPr id="5" name="Espace réservé du pied de page 21"/>
          <p:cNvSpPr>
            <a:spLocks noGrp="1"/>
          </p:cNvSpPr>
          <p:nvPr>
            <p:ph type="ftr" sz="quarter" idx="11"/>
          </p:nvPr>
        </p:nvSpPr>
        <p:spPr/>
        <p:txBody>
          <a:bodyPr/>
          <a:lstStyle>
            <a:lvl1pPr>
              <a:defRPr/>
            </a:lvl1pPr>
          </a:lstStyle>
          <a:p>
            <a:pPr>
              <a:defRPr/>
            </a:pPr>
            <a:r>
              <a:rPr lang="fr-FR"/>
              <a:t>Commande des machines  1. Intro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EA292A9E-5955-42F6-A34B-868F9A0E79B0}" type="slidenum">
              <a:rPr lang="en-US" altLang="fr-FR"/>
              <a:pPr>
                <a:defRPr/>
              </a:pPr>
              <a:t>‹N°›</a:t>
            </a:fld>
            <a:endParaRPr lang="en-US" altLang="fr-FR"/>
          </a:p>
        </p:txBody>
      </p:sp>
    </p:spTree>
    <p:extLst>
      <p:ext uri="{BB962C8B-B14F-4D97-AF65-F5344CB8AC3E}">
        <p14:creationId xmlns:p14="http://schemas.microsoft.com/office/powerpoint/2010/main" val="3690392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fr-FR"/>
          </a:p>
        </p:txBody>
      </p:sp>
      <p:sp>
        <p:nvSpPr>
          <p:cNvPr id="5" name="Espace réservé du pied de page 21"/>
          <p:cNvSpPr>
            <a:spLocks noGrp="1"/>
          </p:cNvSpPr>
          <p:nvPr>
            <p:ph type="ftr" sz="quarter" idx="11"/>
          </p:nvPr>
        </p:nvSpPr>
        <p:spPr/>
        <p:txBody>
          <a:bodyPr/>
          <a:lstStyle>
            <a:lvl1pPr>
              <a:defRPr/>
            </a:lvl1pPr>
          </a:lstStyle>
          <a:p>
            <a:pPr>
              <a:defRPr/>
            </a:pPr>
            <a:r>
              <a:rPr lang="fr-FR"/>
              <a:t>Commande des machines  1. Intro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1AC5CFAA-2C5E-48B4-A80D-80250FB01003}" type="slidenum">
              <a:rPr lang="en-US" altLang="fr-FR"/>
              <a:pPr>
                <a:defRPr/>
              </a:pPr>
              <a:t>‹N°›</a:t>
            </a:fld>
            <a:endParaRPr lang="en-US" altLang="fr-FR"/>
          </a:p>
        </p:txBody>
      </p:sp>
    </p:spTree>
    <p:extLst>
      <p:ext uri="{BB962C8B-B14F-4D97-AF65-F5344CB8AC3E}">
        <p14:creationId xmlns:p14="http://schemas.microsoft.com/office/powerpoint/2010/main" val="841984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12" name="Forme libre 11"/>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latin typeface="Arial" charset="0"/>
              <a:cs typeface="Arial" charset="0"/>
            </a:endParaRPr>
          </a:p>
        </p:txBody>
      </p:sp>
      <p:sp>
        <p:nvSpPr>
          <p:cNvPr id="16" name="Forme libre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latin typeface="Arial" charset="0"/>
              <a:cs typeface="Arial" charset="0"/>
            </a:endParaRPr>
          </a:p>
        </p:txBody>
      </p:sp>
      <p:sp>
        <p:nvSpPr>
          <p:cNvPr id="1028" name="Espace réservé du titre 8"/>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fr-FR" altLang="fr-FR" smtClean="0"/>
              <a:t>Cliquez pour modifier le style du titre</a:t>
            </a:r>
            <a:endParaRPr lang="en-US" altLang="fr-FR" smtClean="0"/>
          </a:p>
        </p:txBody>
      </p:sp>
      <p:sp>
        <p:nvSpPr>
          <p:cNvPr id="1029" name="Espace réservé du texte 29"/>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smtClean="0"/>
              <a:t>Cliquez pour modifier les styles du texte du masque</a:t>
            </a:r>
          </a:p>
          <a:p>
            <a:pPr lvl="1"/>
            <a:r>
              <a:rPr lang="fr-FR" altLang="fr-FR" smtClean="0"/>
              <a:t>Deuxième niveau</a:t>
            </a:r>
          </a:p>
          <a:p>
            <a:pPr lvl="2"/>
            <a:r>
              <a:rPr lang="fr-FR" altLang="fr-FR" smtClean="0"/>
              <a:t>Troisième niveau</a:t>
            </a:r>
          </a:p>
          <a:p>
            <a:pPr lvl="3"/>
            <a:r>
              <a:rPr lang="fr-FR" altLang="fr-FR" smtClean="0"/>
              <a:t>Quatrième niveau</a:t>
            </a:r>
          </a:p>
          <a:p>
            <a:pPr lvl="4"/>
            <a:r>
              <a:rPr lang="fr-FR" altLang="fr-FR" smtClean="0"/>
              <a:t>Cinquième niveau</a:t>
            </a:r>
            <a:endParaRPr lang="en-US" altLang="fr-FR" smtClean="0"/>
          </a:p>
        </p:txBody>
      </p:sp>
      <p:sp>
        <p:nvSpPr>
          <p:cNvPr id="10" name="Espace réservé de la date 9"/>
          <p:cNvSpPr>
            <a:spLocks noGrp="1"/>
          </p:cNvSpPr>
          <p:nvPr>
            <p:ph type="dt" sz="half" idx="2"/>
          </p:nvPr>
        </p:nvSpPr>
        <p:spPr>
          <a:xfrm>
            <a:off x="457200" y="6421438"/>
            <a:ext cx="2133600" cy="365125"/>
          </a:xfrm>
          <a:prstGeom prst="rect">
            <a:avLst/>
          </a:prstGeom>
        </p:spPr>
        <p:txBody>
          <a:bodyPr vert="horz" bIns="0" anchor="b"/>
          <a:lstStyle>
            <a:lvl1pPr algn="l" eaLnBrk="1" latinLnBrk="0" hangingPunct="1">
              <a:defRPr kumimoji="0" sz="1000">
                <a:solidFill>
                  <a:schemeClr val="tx2">
                    <a:shade val="50000"/>
                  </a:schemeClr>
                </a:solidFill>
                <a:latin typeface="Arial" charset="0"/>
                <a:cs typeface="Arial" charset="0"/>
              </a:defRPr>
            </a:lvl1pPr>
          </a:lstStyle>
          <a:p>
            <a:pPr>
              <a:defRPr/>
            </a:pPr>
            <a:endParaRPr lang="fr-FR"/>
          </a:p>
        </p:txBody>
      </p:sp>
      <p:sp>
        <p:nvSpPr>
          <p:cNvPr id="22" name="Espace réservé du pied de page 21"/>
          <p:cNvSpPr>
            <a:spLocks noGrp="1"/>
          </p:cNvSpPr>
          <p:nvPr>
            <p:ph type="ftr" sz="quarter" idx="3"/>
          </p:nvPr>
        </p:nvSpPr>
        <p:spPr>
          <a:xfrm>
            <a:off x="3124200" y="6421438"/>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Arial" charset="0"/>
                <a:cs typeface="Arial" charset="0"/>
              </a:defRPr>
            </a:lvl1pPr>
          </a:lstStyle>
          <a:p>
            <a:pPr>
              <a:defRPr/>
            </a:pPr>
            <a:r>
              <a:rPr lang="fr-FR"/>
              <a:t>Commande des machines  1. Intro         Ali NEJMI</a:t>
            </a:r>
          </a:p>
        </p:txBody>
      </p:sp>
      <p:sp>
        <p:nvSpPr>
          <p:cNvPr id="18" name="Espace réservé du numéro de diapositive 17"/>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a:solidFill>
                  <a:srgbClr val="292929"/>
                </a:solidFill>
              </a:defRPr>
            </a:lvl1pPr>
          </a:lstStyle>
          <a:p>
            <a:pPr>
              <a:defRPr/>
            </a:pPr>
            <a:fld id="{90B3AB37-3599-4935-8DDF-DFFBBAB23DE6}" type="slidenum">
              <a:rPr lang="en-US" altLang="fr-FR"/>
              <a:pPr>
                <a:defRPr/>
              </a:pPr>
              <a:t>‹N°›</a:t>
            </a:fld>
            <a:endParaRPr lang="en-US" altLang="fr-FR"/>
          </a:p>
        </p:txBody>
      </p:sp>
    </p:spTree>
  </p:cSld>
  <p:clrMap bg1="lt1" tx1="dk1" bg2="lt2" tx2="dk2" accent1="accent1" accent2="accent2" accent3="accent3" accent4="accent4" accent5="accent5" accent6="accent6" hlink="hlink" folHlink="folHlink"/>
  <p:sldLayoutIdLst>
    <p:sldLayoutId id="2147484145" r:id="rId1"/>
    <p:sldLayoutId id="2147484137" r:id="rId2"/>
    <p:sldLayoutId id="2147484146" r:id="rId3"/>
    <p:sldLayoutId id="2147484138" r:id="rId4"/>
    <p:sldLayoutId id="2147484139" r:id="rId5"/>
    <p:sldLayoutId id="2147484140" r:id="rId6"/>
    <p:sldLayoutId id="2147484141" r:id="rId7"/>
    <p:sldLayoutId id="2147484147" r:id="rId8"/>
    <p:sldLayoutId id="2147484142" r:id="rId9"/>
    <p:sldLayoutId id="2147484143" r:id="rId10"/>
    <p:sldLayoutId id="2147484144" r:id="rId11"/>
  </p:sldLayoutIdLst>
  <p:hf hdr="0" dt="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Lucida Sans" pitchFamily="34" charset="0"/>
        </a:defRPr>
      </a:lvl2pPr>
      <a:lvl3pPr algn="l" rtl="0" eaLnBrk="0" fontAlgn="base" hangingPunct="0">
        <a:spcBef>
          <a:spcPct val="0"/>
        </a:spcBef>
        <a:spcAft>
          <a:spcPct val="0"/>
        </a:spcAft>
        <a:defRPr sz="4600">
          <a:solidFill>
            <a:schemeClr val="tx1"/>
          </a:solidFill>
          <a:latin typeface="Lucida Sans" pitchFamily="34" charset="0"/>
        </a:defRPr>
      </a:lvl3pPr>
      <a:lvl4pPr algn="l" rtl="0" eaLnBrk="0" fontAlgn="base" hangingPunct="0">
        <a:spcBef>
          <a:spcPct val="0"/>
        </a:spcBef>
        <a:spcAft>
          <a:spcPct val="0"/>
        </a:spcAft>
        <a:defRPr sz="4600">
          <a:solidFill>
            <a:schemeClr val="tx1"/>
          </a:solidFill>
          <a:latin typeface="Lucida Sans" pitchFamily="34" charset="0"/>
        </a:defRPr>
      </a:lvl4pPr>
      <a:lvl5pPr algn="l" rtl="0" eaLnBrk="0" fontAlgn="base" hangingPunct="0">
        <a:spcBef>
          <a:spcPct val="0"/>
        </a:spcBef>
        <a:spcAft>
          <a:spcPct val="0"/>
        </a:spcAft>
        <a:defRPr sz="4600">
          <a:solidFill>
            <a:schemeClr val="tx1"/>
          </a:solidFill>
          <a:latin typeface="Lucida Sans" pitchFamily="34" charset="0"/>
        </a:defRPr>
      </a:lvl5pPr>
      <a:lvl6pPr marL="457200" algn="l" rtl="0" fontAlgn="base">
        <a:spcBef>
          <a:spcPct val="0"/>
        </a:spcBef>
        <a:spcAft>
          <a:spcPct val="0"/>
        </a:spcAft>
        <a:defRPr sz="4600">
          <a:solidFill>
            <a:schemeClr val="tx1"/>
          </a:solidFill>
          <a:latin typeface="Lucida Sans" pitchFamily="34" charset="0"/>
        </a:defRPr>
      </a:lvl6pPr>
      <a:lvl7pPr marL="914400" algn="l" rtl="0" fontAlgn="base">
        <a:spcBef>
          <a:spcPct val="0"/>
        </a:spcBef>
        <a:spcAft>
          <a:spcPct val="0"/>
        </a:spcAft>
        <a:defRPr sz="4600">
          <a:solidFill>
            <a:schemeClr val="tx1"/>
          </a:solidFill>
          <a:latin typeface="Lucida Sans" pitchFamily="34" charset="0"/>
        </a:defRPr>
      </a:lvl7pPr>
      <a:lvl8pPr marL="1371600" algn="l" rtl="0" fontAlgn="base">
        <a:spcBef>
          <a:spcPct val="0"/>
        </a:spcBef>
        <a:spcAft>
          <a:spcPct val="0"/>
        </a:spcAft>
        <a:defRPr sz="4600">
          <a:solidFill>
            <a:schemeClr val="tx1"/>
          </a:solidFill>
          <a:latin typeface="Lucida Sans" pitchFamily="34" charset="0"/>
        </a:defRPr>
      </a:lvl8pPr>
      <a:lvl9pPr marL="1828800" algn="l" rtl="0" fontAlgn="base">
        <a:spcBef>
          <a:spcPct val="0"/>
        </a:spcBef>
        <a:spcAft>
          <a:spcPct val="0"/>
        </a:spcAft>
        <a:defRPr sz="4600">
          <a:solidFill>
            <a:schemeClr val="tx1"/>
          </a:solidFill>
          <a:latin typeface="Lucida Sans"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anose="05020102010507070707"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anose="05020102010507070707"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anose="020B0604020202020204"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anose="05020102010507070707"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anose="020B0604020202020204"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mailto:alinejmi@yahoo.fr"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6.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1.jpeg"/><Relationship Id="rId5" Type="http://schemas.openxmlformats.org/officeDocument/2006/relationships/image" Target="../media/image7.wmf"/><Relationship Id="rId4" Type="http://schemas.openxmlformats.org/officeDocument/2006/relationships/oleObject" Target="../embeddings/oleObject3.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8.wmf"/><Relationship Id="rId4" Type="http://schemas.openxmlformats.org/officeDocument/2006/relationships/oleObject" Target="../embeddings/oleObject4.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24.xml"/><Relationship Id="rId7" Type="http://schemas.openxmlformats.org/officeDocument/2006/relationships/image" Target="../media/image10.wmf"/><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9.wmf"/><Relationship Id="rId4" Type="http://schemas.openxmlformats.org/officeDocument/2006/relationships/oleObject" Target="../embeddings/oleObject5.bin"/><Relationship Id="rId9" Type="http://schemas.openxmlformats.org/officeDocument/2006/relationships/image" Target="../media/image11.w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3.png"/><Relationship Id="rId5" Type="http://schemas.openxmlformats.org/officeDocument/2006/relationships/image" Target="../media/image12.wmf"/><Relationship Id="rId4" Type="http://schemas.openxmlformats.org/officeDocument/2006/relationships/oleObject" Target="../embeddings/oleObject8.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8.wmf"/><Relationship Id="rId3" Type="http://schemas.openxmlformats.org/officeDocument/2006/relationships/notesSlide" Target="../notesSlides/notesSlide26.xml"/><Relationship Id="rId7" Type="http://schemas.openxmlformats.org/officeDocument/2006/relationships/image" Target="../media/image15.wmf"/><Relationship Id="rId12"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0.bin"/><Relationship Id="rId11" Type="http://schemas.openxmlformats.org/officeDocument/2006/relationships/image" Target="../media/image17.wmf"/><Relationship Id="rId5" Type="http://schemas.openxmlformats.org/officeDocument/2006/relationships/image" Target="../media/image14.wmf"/><Relationship Id="rId15" Type="http://schemas.openxmlformats.org/officeDocument/2006/relationships/image" Target="../media/image19.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6.wmf"/><Relationship Id="rId14" Type="http://schemas.openxmlformats.org/officeDocument/2006/relationships/oleObject" Target="../embeddings/oleObject14.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21.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16.bin"/><Relationship Id="rId5" Type="http://schemas.openxmlformats.org/officeDocument/2006/relationships/image" Target="../media/image20.wmf"/><Relationship Id="rId4" Type="http://schemas.openxmlformats.org/officeDocument/2006/relationships/oleObject" Target="../embeddings/oleObject15.bin"/></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image" Target="../media/image26.wmf"/><Relationship Id="rId5" Type="http://schemas.openxmlformats.org/officeDocument/2006/relationships/oleObject" Target="../embeddings/oleObject17.bin"/><Relationship Id="rId4" Type="http://schemas.openxmlformats.org/officeDocument/2006/relationships/image" Target="../media/image1.jpe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4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image" Target="../media/image36.png"/><Relationship Id="rId10" Type="http://schemas.openxmlformats.org/officeDocument/2006/relationships/image" Target="../media/image40.png"/><Relationship Id="rId4" Type="http://schemas.openxmlformats.org/officeDocument/2006/relationships/image" Target="../media/image35.png"/><Relationship Id="rId9"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vmlDrawing" Target="../drawings/vmlDrawing9.vml"/><Relationship Id="rId5" Type="http://schemas.openxmlformats.org/officeDocument/2006/relationships/image" Target="../media/image44.emf"/><Relationship Id="rId4" Type="http://schemas.openxmlformats.org/officeDocument/2006/relationships/oleObject" Target="../embeddings/oleObject18.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notesSlide" Target="../notesSlides/notesSlide56.xml"/><Relationship Id="rId7" Type="http://schemas.openxmlformats.org/officeDocument/2006/relationships/image" Target="../media/image47.wmf"/><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oleObject" Target="../embeddings/oleObject20.bin"/><Relationship Id="rId5" Type="http://schemas.openxmlformats.org/officeDocument/2006/relationships/image" Target="../media/image46.wmf"/><Relationship Id="rId4" Type="http://schemas.openxmlformats.org/officeDocument/2006/relationships/oleObject" Target="../embeddings/oleObject19.bin"/><Relationship Id="rId9" Type="http://schemas.openxmlformats.org/officeDocument/2006/relationships/image" Target="../media/image48.wmf"/></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7" Type="http://schemas.openxmlformats.org/officeDocument/2006/relationships/image" Target="../media/image50.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23.bin"/><Relationship Id="rId5" Type="http://schemas.openxmlformats.org/officeDocument/2006/relationships/image" Target="../media/image49.wmf"/><Relationship Id="rId4" Type="http://schemas.openxmlformats.org/officeDocument/2006/relationships/oleObject" Target="../embeddings/oleObject22.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oleObject" Target="../embeddings/oleObject29.bin"/><Relationship Id="rId3" Type="http://schemas.openxmlformats.org/officeDocument/2006/relationships/notesSlide" Target="../notesSlides/notesSlide58.xml"/><Relationship Id="rId7" Type="http://schemas.openxmlformats.org/officeDocument/2006/relationships/image" Target="../media/image52.wmf"/><Relationship Id="rId12" Type="http://schemas.openxmlformats.org/officeDocument/2006/relationships/image" Target="../media/image54.wmf"/><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oleObject" Target="../embeddings/oleObject25.bin"/><Relationship Id="rId11" Type="http://schemas.openxmlformats.org/officeDocument/2006/relationships/oleObject" Target="../embeddings/oleObject28.bin"/><Relationship Id="rId5" Type="http://schemas.openxmlformats.org/officeDocument/2006/relationships/image" Target="../media/image51.wmf"/><Relationship Id="rId10" Type="http://schemas.openxmlformats.org/officeDocument/2006/relationships/image" Target="../media/image53.wmf"/><Relationship Id="rId4" Type="http://schemas.openxmlformats.org/officeDocument/2006/relationships/oleObject" Target="../embeddings/oleObject24.bin"/><Relationship Id="rId9" Type="http://schemas.openxmlformats.org/officeDocument/2006/relationships/oleObject" Target="../embeddings/oleObject27.bin"/><Relationship Id="rId14" Type="http://schemas.openxmlformats.org/officeDocument/2006/relationships/image" Target="../media/image55.w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7" Type="http://schemas.openxmlformats.org/officeDocument/2006/relationships/image" Target="../media/image56.wmf"/><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oleObject" Target="../embeddings/oleObject31.bin"/><Relationship Id="rId5" Type="http://schemas.openxmlformats.org/officeDocument/2006/relationships/image" Target="../media/image51.wmf"/><Relationship Id="rId4" Type="http://schemas.openxmlformats.org/officeDocument/2006/relationships/oleObject" Target="../embeddings/oleObject30.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notesSlide" Target="../notesSlides/notesSlide63.xml"/><Relationship Id="rId7" Type="http://schemas.openxmlformats.org/officeDocument/2006/relationships/image" Target="../media/image58.wmf"/><Relationship Id="rId2" Type="http://schemas.openxmlformats.org/officeDocument/2006/relationships/slideLayout" Target="../slideLayouts/slideLayout1.xml"/><Relationship Id="rId1" Type="http://schemas.openxmlformats.org/officeDocument/2006/relationships/vmlDrawing" Target="../drawings/vmlDrawing14.vml"/><Relationship Id="rId6" Type="http://schemas.openxmlformats.org/officeDocument/2006/relationships/oleObject" Target="../embeddings/oleObject33.bin"/><Relationship Id="rId11" Type="http://schemas.openxmlformats.org/officeDocument/2006/relationships/image" Target="../media/image51.wmf"/><Relationship Id="rId5" Type="http://schemas.openxmlformats.org/officeDocument/2006/relationships/image" Target="../media/image57.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59.wmf"/></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61.wmf"/><Relationship Id="rId3" Type="http://schemas.openxmlformats.org/officeDocument/2006/relationships/notesSlide" Target="../notesSlides/notesSlide64.xml"/><Relationship Id="rId7" Type="http://schemas.openxmlformats.org/officeDocument/2006/relationships/image" Target="../media/image60.wmf"/><Relationship Id="rId12" Type="http://schemas.openxmlformats.org/officeDocument/2006/relationships/oleObject" Target="../embeddings/oleObject40.bin"/><Relationship Id="rId17" Type="http://schemas.openxmlformats.org/officeDocument/2006/relationships/image" Target="../media/image63.wmf"/><Relationship Id="rId2" Type="http://schemas.openxmlformats.org/officeDocument/2006/relationships/slideLayout" Target="../slideLayouts/slideLayout1.xml"/><Relationship Id="rId16" Type="http://schemas.openxmlformats.org/officeDocument/2006/relationships/oleObject" Target="../embeddings/oleObject42.bin"/><Relationship Id="rId1" Type="http://schemas.openxmlformats.org/officeDocument/2006/relationships/vmlDrawing" Target="../drawings/vmlDrawing15.vml"/><Relationship Id="rId6" Type="http://schemas.openxmlformats.org/officeDocument/2006/relationships/oleObject" Target="../embeddings/oleObject37.bin"/><Relationship Id="rId11" Type="http://schemas.openxmlformats.org/officeDocument/2006/relationships/image" Target="../media/image59.wmf"/><Relationship Id="rId5" Type="http://schemas.openxmlformats.org/officeDocument/2006/relationships/image" Target="../media/image51.wmf"/><Relationship Id="rId15" Type="http://schemas.openxmlformats.org/officeDocument/2006/relationships/image" Target="../media/image62.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58.wmf"/><Relationship Id="rId14" Type="http://schemas.openxmlformats.org/officeDocument/2006/relationships/oleObject" Target="../embeddings/oleObject41.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7.xml"/><Relationship Id="rId7" Type="http://schemas.openxmlformats.org/officeDocument/2006/relationships/image" Target="../media/image65.wmf"/><Relationship Id="rId2" Type="http://schemas.openxmlformats.org/officeDocument/2006/relationships/slideLayout" Target="../slideLayouts/slideLayout1.xml"/><Relationship Id="rId1" Type="http://schemas.openxmlformats.org/officeDocument/2006/relationships/vmlDrawing" Target="../drawings/vmlDrawing16.vml"/><Relationship Id="rId6" Type="http://schemas.openxmlformats.org/officeDocument/2006/relationships/oleObject" Target="../embeddings/oleObject44.bin"/><Relationship Id="rId5" Type="http://schemas.openxmlformats.org/officeDocument/2006/relationships/image" Target="../media/image64.wmf"/><Relationship Id="rId4" Type="http://schemas.openxmlformats.org/officeDocument/2006/relationships/oleObject" Target="../embeddings/oleObject43.bin"/></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7.xml"/><Relationship Id="rId1" Type="http://schemas.openxmlformats.org/officeDocument/2006/relationships/vmlDrawing" Target="../drawings/vmlDrawing17.vml"/><Relationship Id="rId5" Type="http://schemas.openxmlformats.org/officeDocument/2006/relationships/image" Target="../media/image66.wmf"/><Relationship Id="rId4" Type="http://schemas.openxmlformats.org/officeDocument/2006/relationships/oleObject" Target="../embeddings/oleObject45.bin"/></Relationships>
</file>

<file path=ppt/slides/_rels/slide7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3.xml"/><Relationship Id="rId1" Type="http://schemas.openxmlformats.org/officeDocument/2006/relationships/slideLayout" Target="../slideLayouts/slideLayout7.xml"/><Relationship Id="rId5" Type="http://schemas.openxmlformats.org/officeDocument/2006/relationships/image" Target="../media/image69.png"/><Relationship Id="rId4" Type="http://schemas.openxmlformats.org/officeDocument/2006/relationships/image" Target="../media/image68.png"/></Relationships>
</file>

<file path=ppt/slides/_rels/slide75.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notesSlide" Target="../notesSlides/notesSlide74.xml"/><Relationship Id="rId7" Type="http://schemas.openxmlformats.org/officeDocument/2006/relationships/image" Target="../media/image73.png"/><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72.png"/><Relationship Id="rId5" Type="http://schemas.openxmlformats.org/officeDocument/2006/relationships/image" Target="../media/image1.jpeg"/><Relationship Id="rId10" Type="http://schemas.openxmlformats.org/officeDocument/2006/relationships/image" Target="../media/image70.wmf"/><Relationship Id="rId4" Type="http://schemas.openxmlformats.org/officeDocument/2006/relationships/image" Target="../media/image71.png"/><Relationship Id="rId9" Type="http://schemas.openxmlformats.org/officeDocument/2006/relationships/oleObject" Target="../embeddings/oleObject46.bin"/></Relationships>
</file>

<file path=ppt/slides/_rels/slide7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7.xml"/><Relationship Id="rId1"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77.png"/></Relationships>
</file>

<file path=ppt/slides/_rels/slide79.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78.xml"/><Relationship Id="rId1" Type="http://schemas.openxmlformats.org/officeDocument/2006/relationships/slideLayout" Target="../slideLayouts/slideLayout7.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9"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solidFill>
                  <a:schemeClr val="tx1"/>
                </a:solidFill>
                <a:latin typeface="Roboto" pitchFamily="2" charset="0"/>
                <a:ea typeface="Roboto" pitchFamily="2" charset="0"/>
              </a:rPr>
              <a:t>Commande des machines  1. Intro         Ali NEJMI</a:t>
            </a:r>
            <a:endParaRPr lang="fr-FR">
              <a:solidFill>
                <a:schemeClr val="tx1"/>
              </a:solidFill>
              <a:latin typeface="Roboto" pitchFamily="2" charset="0"/>
              <a:ea typeface="Roboto" pitchFamily="2" charset="0"/>
            </a:endParaRPr>
          </a:p>
        </p:txBody>
      </p:sp>
      <p:sp>
        <p:nvSpPr>
          <p:cNvPr id="614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3373C02-6644-43DC-AB52-19BCA6A2716E}" type="slidenum">
              <a:rPr lang="en-US" altLang="fr-FR" sz="1000" smtClean="0">
                <a:latin typeface="Roboto" pitchFamily="2" charset="0"/>
                <a:ea typeface="Roboto" pitchFamily="2" charset="0"/>
              </a:rPr>
              <a:pPr>
                <a:spcBef>
                  <a:spcPct val="0"/>
                </a:spcBef>
                <a:buClrTx/>
                <a:buSzTx/>
                <a:buFontTx/>
                <a:buNone/>
              </a:pPr>
              <a:t>1</a:t>
            </a:fld>
            <a:endParaRPr lang="en-US" altLang="fr-FR" sz="1000" smtClean="0">
              <a:latin typeface="Roboto" pitchFamily="2" charset="0"/>
              <a:ea typeface="Roboto" pitchFamily="2" charset="0"/>
            </a:endParaRPr>
          </a:p>
        </p:txBody>
      </p:sp>
      <p:sp>
        <p:nvSpPr>
          <p:cNvPr id="4" name="Rectangle 2"/>
          <p:cNvSpPr txBox="1">
            <a:spLocks noChangeArrowheads="1"/>
          </p:cNvSpPr>
          <p:nvPr/>
        </p:nvSpPr>
        <p:spPr>
          <a:xfrm>
            <a:off x="685800" y="1249840"/>
            <a:ext cx="7772400" cy="1470025"/>
          </a:xfrm>
          <a:prstGeom prst="rect">
            <a:avLst/>
          </a:prstGeom>
        </p:spPr>
        <p:txBody>
          <a:bodyPr>
            <a:normAutofit fontScale="97500"/>
          </a:bodyPr>
          <a:lstStyle/>
          <a:p>
            <a:pPr algn="ctr" eaLnBrk="1" fontAlgn="auto" hangingPunct="1">
              <a:spcAft>
                <a:spcPts val="0"/>
              </a:spcAft>
              <a:defRPr/>
            </a:pPr>
            <a:r>
              <a:rPr lang="fr-FR" sz="4100" b="1" cap="all" dirty="0" smtClean="0">
                <a:ln w="5000" cmpd="sng">
                  <a:solidFill>
                    <a:schemeClr val="accent1">
                      <a:tint val="80000"/>
                      <a:shade val="99000"/>
                      <a:satMod val="500000"/>
                    </a:schemeClr>
                  </a:solidFill>
                  <a:prstDash val="solid"/>
                </a:ln>
                <a:effectLst>
                  <a:outerShdw blurRad="50800" dist="38100" dir="5400000" algn="t" rotWithShape="0">
                    <a:prstClr val="black">
                      <a:alpha val="50000"/>
                    </a:prstClr>
                  </a:outerShdw>
                </a:effectLst>
                <a:latin typeface="Roboto" pitchFamily="2" charset="0"/>
                <a:ea typeface="Roboto" pitchFamily="2" charset="0"/>
                <a:cs typeface="+mj-cs"/>
              </a:rPr>
              <a:t>COMMANDE DES MACHINES </a:t>
            </a:r>
            <a:r>
              <a:rPr lang="fr-FR" sz="4100" b="1" cap="all" dirty="0" err="1" smtClean="0">
                <a:ln w="5000" cmpd="sng">
                  <a:solidFill>
                    <a:schemeClr val="accent1">
                      <a:tint val="80000"/>
                      <a:shade val="99000"/>
                      <a:satMod val="500000"/>
                    </a:schemeClr>
                  </a:solidFill>
                  <a:prstDash val="solid"/>
                </a:ln>
                <a:effectLst>
                  <a:outerShdw blurRad="50800" dist="38100" dir="5400000" algn="t" rotWithShape="0">
                    <a:prstClr val="black">
                      <a:alpha val="50000"/>
                    </a:prstClr>
                  </a:outerShdw>
                </a:effectLst>
                <a:latin typeface="Roboto" pitchFamily="2" charset="0"/>
                <a:ea typeface="Roboto" pitchFamily="2" charset="0"/>
                <a:cs typeface="+mj-cs"/>
              </a:rPr>
              <a:t>éLECTRIQUES</a:t>
            </a:r>
            <a:endParaRPr lang="fr-FR" sz="4100" b="1" cap="all" dirty="0">
              <a:ln w="5000" cmpd="sng">
                <a:solidFill>
                  <a:schemeClr val="accent1">
                    <a:tint val="80000"/>
                    <a:shade val="99000"/>
                    <a:satMod val="500000"/>
                  </a:schemeClr>
                </a:solidFill>
                <a:prstDash val="solid"/>
              </a:ln>
              <a:effectLst>
                <a:outerShdw blurRad="50800" dist="38100" dir="5400000" algn="t" rotWithShape="0">
                  <a:prstClr val="black">
                    <a:alpha val="50000"/>
                  </a:prstClr>
                </a:outerShdw>
              </a:effectLst>
              <a:latin typeface="Roboto" pitchFamily="2" charset="0"/>
              <a:ea typeface="Roboto" pitchFamily="2" charset="0"/>
              <a:cs typeface="+mj-cs"/>
            </a:endParaRPr>
          </a:p>
        </p:txBody>
      </p:sp>
      <p:sp>
        <p:nvSpPr>
          <p:cNvPr id="6149" name="Rectangle 3"/>
          <p:cNvSpPr txBox="1">
            <a:spLocks noChangeArrowheads="1"/>
          </p:cNvSpPr>
          <p:nvPr/>
        </p:nvSpPr>
        <p:spPr bwMode="auto">
          <a:xfrm>
            <a:off x="1204912" y="2910126"/>
            <a:ext cx="7010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19100" indent="-382588">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r" eaLnBrk="1" hangingPunct="1">
              <a:lnSpc>
                <a:spcPct val="80000"/>
              </a:lnSpc>
              <a:buFontTx/>
              <a:buNone/>
            </a:pPr>
            <a:endParaRPr lang="en-US" altLang="fr-FR" sz="2800" dirty="0">
              <a:latin typeface="Roboto" pitchFamily="2" charset="0"/>
              <a:ea typeface="Roboto" pitchFamily="2" charset="0"/>
            </a:endParaRPr>
          </a:p>
          <a:p>
            <a:pPr algn="ctr" eaLnBrk="1" hangingPunct="1">
              <a:lnSpc>
                <a:spcPct val="80000"/>
              </a:lnSpc>
              <a:buFontTx/>
              <a:buNone/>
            </a:pPr>
            <a:r>
              <a:rPr lang="en-US" altLang="fr-FR" sz="2400" dirty="0" smtClean="0">
                <a:latin typeface="Roboto" pitchFamily="2" charset="0"/>
                <a:ea typeface="Roboto" pitchFamily="2" charset="0"/>
              </a:rPr>
              <a:t>Prof. Ali NEJMI</a:t>
            </a:r>
          </a:p>
          <a:p>
            <a:pPr algn="ctr" eaLnBrk="1" hangingPunct="1">
              <a:lnSpc>
                <a:spcPct val="80000"/>
              </a:lnSpc>
              <a:buFontTx/>
              <a:buNone/>
            </a:pPr>
            <a:endParaRPr lang="en-US" altLang="fr-FR" sz="2400" dirty="0">
              <a:latin typeface="Roboto" pitchFamily="2" charset="0"/>
              <a:ea typeface="Roboto" pitchFamily="2" charset="0"/>
            </a:endParaRPr>
          </a:p>
          <a:p>
            <a:pPr algn="ctr" eaLnBrk="1" hangingPunct="1">
              <a:lnSpc>
                <a:spcPct val="80000"/>
              </a:lnSpc>
              <a:buFontTx/>
              <a:buNone/>
            </a:pPr>
            <a:r>
              <a:rPr lang="en-US" altLang="fr-FR" sz="1800" dirty="0" smtClean="0">
                <a:latin typeface="Roboto" pitchFamily="2" charset="0"/>
                <a:ea typeface="Roboto" pitchFamily="2" charset="0"/>
              </a:rPr>
              <a:t>Version.2025</a:t>
            </a:r>
            <a:endParaRPr lang="en-US" altLang="fr-FR" sz="1800" dirty="0">
              <a:latin typeface="Roboto" pitchFamily="2" charset="0"/>
              <a:ea typeface="Roboto" pitchFamily="2" charset="0"/>
            </a:endParaRPr>
          </a:p>
        </p:txBody>
      </p:sp>
      <p:sp>
        <p:nvSpPr>
          <p:cNvPr id="6150" name="Rectangle 5"/>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r" eaLnBrk="1" hangingPunct="1">
              <a:spcBef>
                <a:spcPct val="0"/>
              </a:spcBef>
              <a:buClrTx/>
              <a:buSzTx/>
              <a:buFontTx/>
              <a:buNone/>
            </a:pPr>
            <a:endParaRPr lang="fr-FR" altLang="fr-FR" sz="1800">
              <a:latin typeface="Roboto" pitchFamily="2" charset="0"/>
              <a:ea typeface="Roboto" pitchFamily="2" charset="0"/>
            </a:endParaRPr>
          </a:p>
        </p:txBody>
      </p:sp>
      <p:sp>
        <p:nvSpPr>
          <p:cNvPr id="6151" name="ZoneTexte 6"/>
          <p:cNvSpPr txBox="1">
            <a:spLocks noChangeArrowheads="1"/>
          </p:cNvSpPr>
          <p:nvPr/>
        </p:nvSpPr>
        <p:spPr bwMode="auto">
          <a:xfrm>
            <a:off x="671512" y="4972327"/>
            <a:ext cx="8077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a:buSzPct val="85000"/>
              <a:buFontTx/>
              <a:buNone/>
            </a:pPr>
            <a:r>
              <a:rPr lang="fr-FR" altLang="fr-FR" sz="1400" i="1" dirty="0">
                <a:latin typeface="Roboto" pitchFamily="2" charset="0"/>
                <a:ea typeface="Roboto" pitchFamily="2" charset="0"/>
              </a:rPr>
              <a:t>a</a:t>
            </a:r>
            <a:r>
              <a:rPr lang="fr-FR" altLang="fr-FR" sz="1400" i="1" dirty="0" smtClean="0">
                <a:latin typeface="Roboto" pitchFamily="2" charset="0"/>
                <a:ea typeface="Roboto" pitchFamily="2" charset="0"/>
              </a:rPr>
              <a:t>li.nejmi@gmail.com </a:t>
            </a:r>
            <a:endParaRPr lang="fr-FR" altLang="fr-FR" sz="1400" i="1" dirty="0">
              <a:latin typeface="Roboto" pitchFamily="2" charset="0"/>
              <a:ea typeface="Roboto" pitchFamily="2" charset="0"/>
            </a:endParaRPr>
          </a:p>
        </p:txBody>
      </p:sp>
      <p:sp>
        <p:nvSpPr>
          <p:cNvPr id="8" name="Sous-titre 2"/>
          <p:cNvSpPr txBox="1">
            <a:spLocks/>
          </p:cNvSpPr>
          <p:nvPr/>
        </p:nvSpPr>
        <p:spPr bwMode="auto">
          <a:xfrm>
            <a:off x="2424112" y="5538787"/>
            <a:ext cx="4572000" cy="990600"/>
          </a:xfrm>
          <a:prstGeom prst="rect">
            <a:avLst/>
          </a:prstGeom>
          <a:noFill/>
          <a:ln w="9525">
            <a:noFill/>
            <a:miter lim="800000"/>
            <a:headEnd/>
            <a:tailEnd/>
          </a:ln>
        </p:spPr>
        <p:txBody>
          <a:bodyPr/>
          <a:lstStyle/>
          <a:p>
            <a:pPr algn="ctr" eaLnBrk="1" hangingPunct="1">
              <a:spcBef>
                <a:spcPct val="20000"/>
              </a:spcBef>
              <a:buFont typeface="Arial" charset="0"/>
              <a:buNone/>
              <a:defRPr/>
            </a:pPr>
            <a:r>
              <a:rPr lang="fr-FR" sz="1100" dirty="0" err="1">
                <a:latin typeface="Roboto" pitchFamily="2" charset="0"/>
                <a:ea typeface="Roboto" pitchFamily="2" charset="0"/>
              </a:rPr>
              <a:t>Universté</a:t>
            </a:r>
            <a:r>
              <a:rPr lang="fr-FR" sz="1100" dirty="0">
                <a:latin typeface="Roboto" pitchFamily="2" charset="0"/>
                <a:ea typeface="Roboto" pitchFamily="2" charset="0"/>
              </a:rPr>
              <a:t>  Sultan  Moulay  Slimane</a:t>
            </a:r>
          </a:p>
          <a:p>
            <a:pPr algn="ctr" eaLnBrk="1" hangingPunct="1">
              <a:spcBef>
                <a:spcPct val="20000"/>
              </a:spcBef>
              <a:buFont typeface="Arial" charset="0"/>
              <a:buNone/>
              <a:defRPr/>
            </a:pPr>
            <a:r>
              <a:rPr lang="fr-FR" sz="1100" dirty="0">
                <a:latin typeface="Roboto" pitchFamily="2" charset="0"/>
                <a:ea typeface="Roboto" pitchFamily="2" charset="0"/>
              </a:rPr>
              <a:t>Faculté  des  Sciences  et  Techniques,  </a:t>
            </a:r>
            <a:r>
              <a:rPr lang="fr-FR" sz="1100" dirty="0" err="1">
                <a:latin typeface="Roboto" pitchFamily="2" charset="0"/>
                <a:ea typeface="Roboto" pitchFamily="2" charset="0"/>
              </a:rPr>
              <a:t>Beni</a:t>
            </a:r>
            <a:r>
              <a:rPr lang="fr-FR" sz="1100" dirty="0">
                <a:latin typeface="Roboto" pitchFamily="2" charset="0"/>
                <a:ea typeface="Roboto" pitchFamily="2" charset="0"/>
              </a:rPr>
              <a:t> Mellal</a:t>
            </a:r>
          </a:p>
          <a:p>
            <a:pPr algn="ctr" eaLnBrk="1" hangingPunct="1">
              <a:spcBef>
                <a:spcPct val="20000"/>
              </a:spcBef>
              <a:buFont typeface="Arial" charset="0"/>
              <a:buNone/>
              <a:defRPr/>
            </a:pPr>
            <a:r>
              <a:rPr lang="fr-FR" sz="1100" dirty="0">
                <a:latin typeface="Roboto" pitchFamily="2" charset="0"/>
                <a:ea typeface="Roboto" pitchFamily="2" charset="0"/>
              </a:rPr>
              <a:t>Filière  Ingénieur  en  Génie  Electrique </a:t>
            </a:r>
          </a:p>
          <a:p>
            <a:pPr algn="ctr" eaLnBrk="1" hangingPunct="1">
              <a:spcBef>
                <a:spcPct val="20000"/>
              </a:spcBef>
              <a:buFont typeface="Arial" charset="0"/>
              <a:buNone/>
              <a:defRPr/>
            </a:pPr>
            <a:endParaRPr lang="fr-FR" sz="1100" dirty="0">
              <a:latin typeface="Roboto" pitchFamily="2" charset="0"/>
              <a:ea typeface="Roboto" pitchFamily="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1"/>
          <p:cNvSpPr>
            <a:spLocks noChangeArrowheads="1"/>
          </p:cNvSpPr>
          <p:nvPr/>
        </p:nvSpPr>
        <p:spPr bwMode="auto">
          <a:xfrm>
            <a:off x="500063" y="155575"/>
            <a:ext cx="8215312" cy="6432550"/>
          </a:xfrm>
          <a:prstGeom prst="rect">
            <a:avLst/>
          </a:prstGeom>
          <a:noFill/>
          <a:ln w="9525">
            <a:noFill/>
            <a:miter lim="800000"/>
            <a:headEnd/>
            <a:tailEnd/>
          </a:ln>
          <a:effectLst/>
        </p:spPr>
        <p:txBody>
          <a:bodyPr anchor="ctr">
            <a:spAutoFit/>
          </a:bodyPr>
          <a:lstStyle/>
          <a:p>
            <a:pPr algn="ctr" eaLnBrk="1" hangingPunct="1">
              <a:defRPr/>
            </a:pPr>
            <a:r>
              <a:rPr lang="fr-FR" sz="2800" b="1" cap="small" dirty="0">
                <a:solidFill>
                  <a:srgbClr val="00B0F0"/>
                </a:solidFill>
                <a:ea typeface="Calibri" pitchFamily="34" charset="0"/>
              </a:rPr>
              <a:t>Objectifs du cours</a:t>
            </a:r>
            <a:endParaRPr lang="fr-FR" sz="2800" b="1" cap="small" dirty="0">
              <a:solidFill>
                <a:srgbClr val="00B0F0"/>
              </a:solidFill>
            </a:endParaRPr>
          </a:p>
          <a:p>
            <a:pPr algn="ctr">
              <a:defRPr/>
            </a:pPr>
            <a:r>
              <a:rPr lang="fr-FR" sz="2400" dirty="0">
                <a:ea typeface="Calibri" pitchFamily="34" charset="0"/>
              </a:rPr>
              <a:t> </a:t>
            </a:r>
          </a:p>
          <a:p>
            <a:pPr marL="273050" indent="-273050" algn="ctr">
              <a:buFontTx/>
              <a:buBlip>
                <a:blip r:embed="rId3"/>
              </a:buBlip>
              <a:tabLst>
                <a:tab pos="273050" algn="l"/>
              </a:tabLst>
              <a:defRPr/>
            </a:pPr>
            <a:r>
              <a:rPr lang="fr-FR" sz="2400" i="1" dirty="0">
                <a:ea typeface="Calibri" pitchFamily="34" charset="0"/>
              </a:rPr>
              <a:t>Être en mesure de comprendre le principe des entrainements électriques</a:t>
            </a:r>
          </a:p>
          <a:p>
            <a:pPr marL="273050" indent="-273050" algn="ctr">
              <a:buFontTx/>
              <a:buBlip>
                <a:blip r:embed="rId3"/>
              </a:buBlip>
              <a:tabLst>
                <a:tab pos="273050" algn="l"/>
              </a:tabLst>
              <a:defRPr/>
            </a:pPr>
            <a:endParaRPr lang="fr-FR" sz="2400" i="1" dirty="0"/>
          </a:p>
          <a:p>
            <a:pPr marL="273050" indent="-273050" algn="ctr">
              <a:buFontTx/>
              <a:buBlip>
                <a:blip r:embed="rId3"/>
              </a:buBlip>
              <a:tabLst>
                <a:tab pos="273050" algn="l"/>
              </a:tabLst>
              <a:defRPr/>
            </a:pPr>
            <a:r>
              <a:rPr lang="fr-FR" sz="2400" i="1" dirty="0">
                <a:ea typeface="Calibri" pitchFamily="34" charset="0"/>
              </a:rPr>
              <a:t>Être en mesure de comprendre la dynamique des systèmes à entrainements électriques </a:t>
            </a:r>
          </a:p>
          <a:p>
            <a:pPr marL="273050" indent="-273050" algn="ctr">
              <a:buFontTx/>
              <a:buBlip>
                <a:blip r:embed="rId3"/>
              </a:buBlip>
              <a:tabLst>
                <a:tab pos="273050" algn="l"/>
              </a:tabLst>
              <a:defRPr/>
            </a:pPr>
            <a:endParaRPr lang="fr-FR" sz="2400" i="1" dirty="0"/>
          </a:p>
          <a:p>
            <a:pPr marL="273050" indent="-273050" algn="ctr">
              <a:buFontTx/>
              <a:buBlip>
                <a:blip r:embed="rId3"/>
              </a:buBlip>
              <a:tabLst>
                <a:tab pos="273050" algn="l"/>
              </a:tabLst>
              <a:defRPr/>
            </a:pPr>
            <a:r>
              <a:rPr lang="fr-FR" sz="2400" i="1" dirty="0">
                <a:ea typeface="Calibri" pitchFamily="34" charset="0"/>
              </a:rPr>
              <a:t>Pouvoir sélectionner des convertisseurs appropriés avec leurs contrôles pour les applications des entrainements.</a:t>
            </a:r>
          </a:p>
          <a:p>
            <a:pPr marL="273050" indent="-273050" algn="ctr">
              <a:buFontTx/>
              <a:buBlip>
                <a:blip r:embed="rId3"/>
              </a:buBlip>
              <a:tabLst>
                <a:tab pos="273050" algn="l"/>
              </a:tabLst>
              <a:defRPr/>
            </a:pPr>
            <a:endParaRPr lang="fr-FR" sz="2400" i="1" dirty="0"/>
          </a:p>
          <a:p>
            <a:pPr marL="273050" indent="-273050" algn="ctr">
              <a:buFontTx/>
              <a:buBlip>
                <a:blip r:embed="rId3"/>
              </a:buBlip>
              <a:tabLst>
                <a:tab pos="273050" algn="l"/>
              </a:tabLst>
              <a:defRPr/>
            </a:pPr>
            <a:r>
              <a:rPr lang="fr-FR" sz="2400" i="1" dirty="0">
                <a:ea typeface="Calibri" pitchFamily="34" charset="0"/>
              </a:rPr>
              <a:t>Être en mesure d'expliquer les principes des entrainements à contrôle vectoriel. </a:t>
            </a:r>
          </a:p>
          <a:p>
            <a:pPr marL="273050" indent="-273050" algn="ctr">
              <a:buFontTx/>
              <a:buBlip>
                <a:blip r:embed="rId3"/>
              </a:buBlip>
              <a:tabLst>
                <a:tab pos="273050" algn="l"/>
              </a:tabLst>
              <a:defRPr/>
            </a:pPr>
            <a:endParaRPr lang="fr-FR" sz="2400" i="1" dirty="0">
              <a:ea typeface="Calibri" pitchFamily="34" charset="0"/>
            </a:endParaRPr>
          </a:p>
          <a:p>
            <a:pPr marL="273050" indent="-273050" algn="ctr">
              <a:buFontTx/>
              <a:buBlip>
                <a:blip r:embed="rId3"/>
              </a:buBlip>
              <a:tabLst>
                <a:tab pos="273050" algn="l"/>
              </a:tabLst>
              <a:defRPr/>
            </a:pPr>
            <a:r>
              <a:rPr lang="fr-FR" sz="2400" i="1" dirty="0">
                <a:ea typeface="Calibri" pitchFamily="34" charset="0"/>
              </a:rPr>
              <a:t>Etre capable d'utiliser MATLAB/SIMULINK dans la simulation et la conception de contrôleurs pour les systèmes à entrainements électriques.</a:t>
            </a:r>
            <a:endParaRPr lang="fr-FR" sz="2400" i="1" dirty="0"/>
          </a:p>
        </p:txBody>
      </p:sp>
      <p:sp>
        <p:nvSpPr>
          <p:cNvPr id="8195" name="Rectangle 4"/>
          <p:cNvSpPr>
            <a:spLocks noChangeArrowheads="1"/>
          </p:cNvSpPr>
          <p:nvPr/>
        </p:nvSpPr>
        <p:spPr bwMode="auto">
          <a:xfrm>
            <a:off x="182563" y="211138"/>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196"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8CAB9D8-BA3F-4A4A-B0FF-D72BBB7C418B}" type="slidenum">
              <a:rPr lang="fr-FR" altLang="fr-FR" sz="1000" smtClean="0">
                <a:solidFill>
                  <a:srgbClr val="292929"/>
                </a:solidFill>
                <a:latin typeface="Arial" panose="020B0604020202020204" pitchFamily="34" charset="0"/>
              </a:rPr>
              <a:pPr>
                <a:spcBef>
                  <a:spcPct val="0"/>
                </a:spcBef>
                <a:buClrTx/>
                <a:buSzTx/>
                <a:buFontTx/>
                <a:buNone/>
              </a:pPr>
              <a:t>2</a:t>
            </a:fld>
            <a:endParaRPr lang="fr-FR" altLang="fr-FR" sz="1000" smtClean="0">
              <a:solidFill>
                <a:srgbClr val="292929"/>
              </a:solidFill>
              <a:latin typeface="Arial" panose="020B0604020202020204" pitchFamily="34" charset="0"/>
            </a:endParaRPr>
          </a:p>
        </p:txBody>
      </p:sp>
      <p:sp>
        <p:nvSpPr>
          <p:cNvPr id="5" name="Espace réservé du pied de page 4"/>
          <p:cNvSpPr>
            <a:spLocks noGrp="1"/>
          </p:cNvSpPr>
          <p:nvPr>
            <p:ph type="ftr" sz="quarter" idx="11"/>
          </p:nvPr>
        </p:nvSpPr>
        <p:spPr/>
        <p:txBody>
          <a:bodyPr/>
          <a:lstStyle/>
          <a:p>
            <a:pPr>
              <a:defRPr/>
            </a:pPr>
            <a:r>
              <a:rPr lang="fr-FR" dirty="0" smtClean="0"/>
              <a:t>Commande des machines  1. Intro         Ali NEJMI</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73">
                                            <p:txEl>
                                              <p:pRg st="0" end="0"/>
                                            </p:txEl>
                                          </p:spTgt>
                                        </p:tgtEl>
                                        <p:attrNameLst>
                                          <p:attrName>style.visibility</p:attrName>
                                        </p:attrNameLst>
                                      </p:cBhvr>
                                      <p:to>
                                        <p:strVal val="visible"/>
                                      </p:to>
                                    </p:set>
                                    <p:animEffect transition="in" filter="checkerboard(across)">
                                      <p:cBhvr>
                                        <p:cTn id="7" dur="500"/>
                                        <p:tgtEl>
                                          <p:spTgt spid="307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073">
                                            <p:txEl>
                                              <p:pRg st="2" end="2"/>
                                            </p:txEl>
                                          </p:spTgt>
                                        </p:tgtEl>
                                        <p:attrNameLst>
                                          <p:attrName>style.visibility</p:attrName>
                                        </p:attrNameLst>
                                      </p:cBhvr>
                                      <p:to>
                                        <p:strVal val="visible"/>
                                      </p:to>
                                    </p:set>
                                    <p:animEffect transition="in" filter="checkerboard(across)">
                                      <p:cBhvr>
                                        <p:cTn id="12" dur="500"/>
                                        <p:tgtEl>
                                          <p:spTgt spid="307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073">
                                            <p:txEl>
                                              <p:pRg st="4" end="4"/>
                                            </p:txEl>
                                          </p:spTgt>
                                        </p:tgtEl>
                                        <p:attrNameLst>
                                          <p:attrName>style.visibility</p:attrName>
                                        </p:attrNameLst>
                                      </p:cBhvr>
                                      <p:to>
                                        <p:strVal val="visible"/>
                                      </p:to>
                                    </p:set>
                                    <p:animEffect transition="in" filter="checkerboard(across)">
                                      <p:cBhvr>
                                        <p:cTn id="17" dur="500"/>
                                        <p:tgtEl>
                                          <p:spTgt spid="307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073">
                                            <p:txEl>
                                              <p:pRg st="6" end="6"/>
                                            </p:txEl>
                                          </p:spTgt>
                                        </p:tgtEl>
                                        <p:attrNameLst>
                                          <p:attrName>style.visibility</p:attrName>
                                        </p:attrNameLst>
                                      </p:cBhvr>
                                      <p:to>
                                        <p:strVal val="visible"/>
                                      </p:to>
                                    </p:set>
                                    <p:animEffect transition="in" filter="checkerboard(across)">
                                      <p:cBhvr>
                                        <p:cTn id="22" dur="500"/>
                                        <p:tgtEl>
                                          <p:spTgt spid="3073">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073">
                                            <p:txEl>
                                              <p:pRg st="8" end="8"/>
                                            </p:txEl>
                                          </p:spTgt>
                                        </p:tgtEl>
                                        <p:attrNameLst>
                                          <p:attrName>style.visibility</p:attrName>
                                        </p:attrNameLst>
                                      </p:cBhvr>
                                      <p:to>
                                        <p:strVal val="visible"/>
                                      </p:to>
                                    </p:set>
                                    <p:animEffect transition="in" filter="checkerboard(across)">
                                      <p:cBhvr>
                                        <p:cTn id="27" dur="500"/>
                                        <p:tgtEl>
                                          <p:spTgt spid="3073">
                                            <p:txEl>
                                              <p:pRg st="8" end="8"/>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3073">
                                            <p:txEl>
                                              <p:pRg st="10" end="10"/>
                                            </p:txEl>
                                          </p:spTgt>
                                        </p:tgtEl>
                                        <p:attrNameLst>
                                          <p:attrName>style.visibility</p:attrName>
                                        </p:attrNameLst>
                                      </p:cBhvr>
                                      <p:to>
                                        <p:strVal val="visible"/>
                                      </p:to>
                                    </p:set>
                                    <p:animEffect transition="in" filter="checkerboard(across)">
                                      <p:cBhvr>
                                        <p:cTn id="32" dur="500"/>
                                        <p:tgtEl>
                                          <p:spTgt spid="307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 name="Rectangle 1"/>
          <p:cNvSpPr>
            <a:spLocks noChangeArrowheads="1"/>
          </p:cNvSpPr>
          <p:nvPr/>
        </p:nvSpPr>
        <p:spPr bwMode="auto">
          <a:xfrm>
            <a:off x="285750" y="541338"/>
            <a:ext cx="8643938" cy="526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898525" indent="-441325">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1628775" indent="-257175">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085975" indent="-257175"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543175" indent="-257175"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000375" indent="-257175"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457575" indent="-257175"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FR" altLang="fr-FR" sz="2400" b="1">
                <a:solidFill>
                  <a:srgbClr val="00B0F0"/>
                </a:solidFill>
                <a:latin typeface="Arial" panose="020B0604020202020204" pitchFamily="34" charset="0"/>
              </a:rPr>
              <a:t>CONTENU</a:t>
            </a:r>
          </a:p>
          <a:p>
            <a:pPr eaLnBrk="1" hangingPunct="1">
              <a:spcBef>
                <a:spcPct val="0"/>
              </a:spcBef>
              <a:buClrTx/>
              <a:buSzTx/>
              <a:buFontTx/>
              <a:buNone/>
            </a:pPr>
            <a:endParaRPr lang="fr-FR" altLang="fr-FR" sz="2400">
              <a:latin typeface="Arial" panose="020B0604020202020204" pitchFamily="34" charset="0"/>
            </a:endParaRPr>
          </a:p>
          <a:p>
            <a:pPr eaLnBrk="1" hangingPunct="1">
              <a:spcBef>
                <a:spcPct val="0"/>
              </a:spcBef>
              <a:buClrTx/>
              <a:buSzTx/>
              <a:buFontTx/>
              <a:buNone/>
            </a:pPr>
            <a:r>
              <a:rPr lang="fr-FR" altLang="fr-FR" sz="2400" i="1" u="sng">
                <a:latin typeface="Arial" panose="020B0604020202020204" pitchFamily="34" charset="0"/>
              </a:rPr>
              <a:t>Module 1: Introduction aux entrainements électriques</a:t>
            </a:r>
          </a:p>
          <a:p>
            <a:pPr eaLnBrk="1" hangingPunct="1">
              <a:spcBef>
                <a:spcPct val="0"/>
              </a:spcBef>
              <a:buClrTx/>
              <a:buSzTx/>
              <a:buFontTx/>
              <a:buNone/>
            </a:pPr>
            <a:endParaRPr lang="fr-FR" altLang="fr-FR" sz="2400" i="1" u="sng">
              <a:latin typeface="Arial" panose="020B0604020202020204" pitchFamily="34" charset="0"/>
            </a:endParaRPr>
          </a:p>
          <a:p>
            <a:pPr lvl="1" algn="just">
              <a:spcBef>
                <a:spcPct val="0"/>
              </a:spcBef>
              <a:buClrTx/>
              <a:buSzTx/>
              <a:buFontTx/>
              <a:buBlip>
                <a:blip r:embed="rId3"/>
              </a:buBlip>
            </a:pPr>
            <a:r>
              <a:rPr lang="fr-FR" altLang="fr-FR" sz="2400" i="1">
                <a:latin typeface="Arial" panose="020B0604020202020204" pitchFamily="34" charset="0"/>
              </a:rPr>
              <a:t>Eléments des entrainements modernes</a:t>
            </a:r>
          </a:p>
          <a:p>
            <a:pPr lvl="1" algn="just">
              <a:spcBef>
                <a:spcPct val="0"/>
              </a:spcBef>
              <a:buClrTx/>
              <a:buSzTx/>
              <a:buFontTx/>
              <a:buBlip>
                <a:blip r:embed="rId3"/>
              </a:buBlip>
            </a:pPr>
            <a:r>
              <a:rPr lang="fr-FR" altLang="fr-FR" sz="2400" i="1">
                <a:latin typeface="Arial" panose="020B0604020202020204" pitchFamily="34" charset="0"/>
              </a:rPr>
              <a:t>Dynamique d’un système moteur_charge</a:t>
            </a:r>
          </a:p>
          <a:p>
            <a:pPr lvl="4" algn="just">
              <a:spcBef>
                <a:spcPct val="0"/>
              </a:spcBef>
              <a:buClrTx/>
              <a:buSzTx/>
              <a:buFont typeface="Courier New" panose="02070309020205020404" pitchFamily="49" charset="0"/>
              <a:buChar char="o"/>
            </a:pPr>
            <a:r>
              <a:rPr lang="fr-FR" altLang="fr-FR" sz="2400" i="1">
                <a:latin typeface="Arial" panose="020B0604020202020204" pitchFamily="34" charset="0"/>
              </a:rPr>
              <a:t>Système rotatif équivalent et équations fondamentales du couple.</a:t>
            </a:r>
          </a:p>
          <a:p>
            <a:pPr lvl="1" algn="just">
              <a:spcBef>
                <a:spcPct val="0"/>
              </a:spcBef>
              <a:buClrTx/>
              <a:buSzTx/>
              <a:buFontTx/>
              <a:buBlip>
                <a:blip r:embed="rId3"/>
              </a:buBlip>
            </a:pPr>
            <a:r>
              <a:rPr lang="fr-FR" altLang="fr-FR" sz="2400" i="1">
                <a:latin typeface="Arial" panose="020B0604020202020204" pitchFamily="34" charset="0"/>
              </a:rPr>
              <a:t>Composantes du couple résistant</a:t>
            </a:r>
          </a:p>
          <a:p>
            <a:pPr lvl="1" algn="just">
              <a:spcBef>
                <a:spcPct val="0"/>
              </a:spcBef>
              <a:buClrTx/>
              <a:buSzTx/>
              <a:buFontTx/>
              <a:buBlip>
                <a:blip r:embed="rId3"/>
              </a:buBlip>
            </a:pPr>
            <a:r>
              <a:rPr lang="fr-FR" altLang="fr-FR" sz="2400" i="1">
                <a:latin typeface="Arial" panose="020B0604020202020204" pitchFamily="34" charset="0"/>
              </a:rPr>
              <a:t>Caractéristiques mécaniques (couple_vitesse) du moteur et la charge</a:t>
            </a:r>
          </a:p>
          <a:p>
            <a:pPr lvl="1" algn="just">
              <a:spcBef>
                <a:spcPct val="0"/>
              </a:spcBef>
              <a:buClrTx/>
              <a:buSzTx/>
              <a:buFontTx/>
              <a:buBlip>
                <a:blip r:embed="rId3"/>
              </a:buBlip>
            </a:pPr>
            <a:r>
              <a:rPr lang="fr-FR" altLang="fr-FR" sz="2400" i="1">
                <a:latin typeface="Arial" panose="020B0604020202020204" pitchFamily="34" charset="0"/>
              </a:rPr>
              <a:t>Considérations thermiques </a:t>
            </a:r>
          </a:p>
          <a:p>
            <a:pPr lvl="1" algn="just">
              <a:spcBef>
                <a:spcPct val="0"/>
              </a:spcBef>
              <a:buClrTx/>
              <a:buSzTx/>
              <a:buFontTx/>
              <a:buBlip>
                <a:blip r:embed="rId3"/>
              </a:buBlip>
            </a:pPr>
            <a:r>
              <a:rPr lang="fr-FR" altLang="fr-FR" sz="2400" i="1">
                <a:latin typeface="Arial" panose="020B0604020202020204" pitchFamily="34" charset="0"/>
              </a:rPr>
              <a:t>Les quadrants de fonctionnement</a:t>
            </a:r>
          </a:p>
          <a:p>
            <a:pPr lvl="1" algn="just">
              <a:spcBef>
                <a:spcPct val="0"/>
              </a:spcBef>
              <a:buClrTx/>
              <a:buSzTx/>
              <a:buFontTx/>
              <a:buBlip>
                <a:blip r:embed="rId3"/>
              </a:buBlip>
            </a:pPr>
            <a:r>
              <a:rPr lang="fr-FR" altLang="fr-FR" sz="2400" i="1">
                <a:latin typeface="Arial" panose="020B0604020202020204" pitchFamily="34" charset="0"/>
              </a:rPr>
              <a:t>Stabilité statique</a:t>
            </a:r>
          </a:p>
        </p:txBody>
      </p:sp>
      <p:sp>
        <p:nvSpPr>
          <p:cNvPr id="10243" name="Rectangle 4"/>
          <p:cNvSpPr>
            <a:spLocks noChangeArrowheads="1"/>
          </p:cNvSpPr>
          <p:nvPr/>
        </p:nvSpPr>
        <p:spPr bwMode="auto">
          <a:xfrm>
            <a:off x="182563" y="193675"/>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0244"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B07415C-8001-4E35-BF0A-83B3312E589E}" type="slidenum">
              <a:rPr lang="fr-FR" altLang="fr-FR" sz="1000" smtClean="0">
                <a:solidFill>
                  <a:srgbClr val="292929"/>
                </a:solidFill>
                <a:latin typeface="Arial" panose="020B0604020202020204" pitchFamily="34" charset="0"/>
              </a:rPr>
              <a:pPr>
                <a:spcBef>
                  <a:spcPct val="0"/>
                </a:spcBef>
                <a:buClrTx/>
                <a:buSzTx/>
                <a:buFontTx/>
                <a:buNone/>
              </a:pPr>
              <a:t>3</a:t>
            </a:fld>
            <a:endParaRPr lang="fr-FR" altLang="fr-FR" sz="1000" smtClean="0">
              <a:solidFill>
                <a:srgbClr val="292929"/>
              </a:solidFill>
              <a:latin typeface="Arial" panose="020B0604020202020204" pitchFamily="34" charset="0"/>
            </a:endParaRPr>
          </a:p>
        </p:txBody>
      </p:sp>
      <p:sp>
        <p:nvSpPr>
          <p:cNvPr id="5" name="Espace réservé du pied de page 4"/>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49">
                                            <p:txEl>
                                              <p:pRg st="0" end="0"/>
                                            </p:txEl>
                                          </p:spTgt>
                                        </p:tgtEl>
                                        <p:attrNameLst>
                                          <p:attrName>style.visibility</p:attrName>
                                        </p:attrNameLst>
                                      </p:cBhvr>
                                      <p:to>
                                        <p:strVal val="visible"/>
                                      </p:to>
                                    </p:set>
                                    <p:animEffect transition="in" filter="checkerboard(across)">
                                      <p:cBhvr>
                                        <p:cTn id="7" dur="500"/>
                                        <p:tgtEl>
                                          <p:spTgt spid="204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49">
                                            <p:txEl>
                                              <p:pRg st="2" end="2"/>
                                            </p:txEl>
                                          </p:spTgt>
                                        </p:tgtEl>
                                        <p:attrNameLst>
                                          <p:attrName>style.visibility</p:attrName>
                                        </p:attrNameLst>
                                      </p:cBhvr>
                                      <p:to>
                                        <p:strVal val="visible"/>
                                      </p:to>
                                    </p:set>
                                    <p:animEffect transition="in" filter="checkerboard(across)">
                                      <p:cBhvr>
                                        <p:cTn id="12" dur="500"/>
                                        <p:tgtEl>
                                          <p:spTgt spid="204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049">
                                            <p:txEl>
                                              <p:pRg st="4" end="4"/>
                                            </p:txEl>
                                          </p:spTgt>
                                        </p:tgtEl>
                                        <p:attrNameLst>
                                          <p:attrName>style.visibility</p:attrName>
                                        </p:attrNameLst>
                                      </p:cBhvr>
                                      <p:to>
                                        <p:strVal val="visible"/>
                                      </p:to>
                                    </p:set>
                                    <p:animEffect transition="in" filter="checkerboard(across)">
                                      <p:cBhvr>
                                        <p:cTn id="17" dur="500"/>
                                        <p:tgtEl>
                                          <p:spTgt spid="204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049">
                                            <p:txEl>
                                              <p:pRg st="5" end="5"/>
                                            </p:txEl>
                                          </p:spTgt>
                                        </p:tgtEl>
                                        <p:attrNameLst>
                                          <p:attrName>style.visibility</p:attrName>
                                        </p:attrNameLst>
                                      </p:cBhvr>
                                      <p:to>
                                        <p:strVal val="visible"/>
                                      </p:to>
                                    </p:set>
                                    <p:animEffect transition="in" filter="checkerboard(across)">
                                      <p:cBhvr>
                                        <p:cTn id="22" dur="500"/>
                                        <p:tgtEl>
                                          <p:spTgt spid="2049">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2049">
                                            <p:txEl>
                                              <p:pRg st="6" end="6"/>
                                            </p:txEl>
                                          </p:spTgt>
                                        </p:tgtEl>
                                        <p:attrNameLst>
                                          <p:attrName>style.visibility</p:attrName>
                                        </p:attrNameLst>
                                      </p:cBhvr>
                                      <p:to>
                                        <p:strVal val="visible"/>
                                      </p:to>
                                    </p:set>
                                    <p:animEffect transition="in" filter="checkerboard(across)">
                                      <p:cBhvr>
                                        <p:cTn id="27" dur="500"/>
                                        <p:tgtEl>
                                          <p:spTgt spid="2049">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2049">
                                            <p:txEl>
                                              <p:pRg st="7" end="7"/>
                                            </p:txEl>
                                          </p:spTgt>
                                        </p:tgtEl>
                                        <p:attrNameLst>
                                          <p:attrName>style.visibility</p:attrName>
                                        </p:attrNameLst>
                                      </p:cBhvr>
                                      <p:to>
                                        <p:strVal val="visible"/>
                                      </p:to>
                                    </p:set>
                                    <p:animEffect transition="in" filter="checkerboard(across)">
                                      <p:cBhvr>
                                        <p:cTn id="32" dur="500"/>
                                        <p:tgtEl>
                                          <p:spTgt spid="2049">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2049">
                                            <p:txEl>
                                              <p:pRg st="8" end="8"/>
                                            </p:txEl>
                                          </p:spTgt>
                                        </p:tgtEl>
                                        <p:attrNameLst>
                                          <p:attrName>style.visibility</p:attrName>
                                        </p:attrNameLst>
                                      </p:cBhvr>
                                      <p:to>
                                        <p:strVal val="visible"/>
                                      </p:to>
                                    </p:set>
                                    <p:animEffect transition="in" filter="checkerboard(across)">
                                      <p:cBhvr>
                                        <p:cTn id="37" dur="500"/>
                                        <p:tgtEl>
                                          <p:spTgt spid="2049">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2049">
                                            <p:txEl>
                                              <p:pRg st="9" end="9"/>
                                            </p:txEl>
                                          </p:spTgt>
                                        </p:tgtEl>
                                        <p:attrNameLst>
                                          <p:attrName>style.visibility</p:attrName>
                                        </p:attrNameLst>
                                      </p:cBhvr>
                                      <p:to>
                                        <p:strVal val="visible"/>
                                      </p:to>
                                    </p:set>
                                    <p:animEffect transition="in" filter="checkerboard(across)">
                                      <p:cBhvr>
                                        <p:cTn id="42" dur="500"/>
                                        <p:tgtEl>
                                          <p:spTgt spid="2049">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nodeType="clickEffect">
                                  <p:stCondLst>
                                    <p:cond delay="0"/>
                                  </p:stCondLst>
                                  <p:childTnLst>
                                    <p:set>
                                      <p:cBhvr>
                                        <p:cTn id="46" dur="1" fill="hold">
                                          <p:stCondLst>
                                            <p:cond delay="0"/>
                                          </p:stCondLst>
                                        </p:cTn>
                                        <p:tgtEl>
                                          <p:spTgt spid="2049">
                                            <p:txEl>
                                              <p:pRg st="10" end="10"/>
                                            </p:txEl>
                                          </p:spTgt>
                                        </p:tgtEl>
                                        <p:attrNameLst>
                                          <p:attrName>style.visibility</p:attrName>
                                        </p:attrNameLst>
                                      </p:cBhvr>
                                      <p:to>
                                        <p:strVal val="visible"/>
                                      </p:to>
                                    </p:set>
                                    <p:animEffect transition="in" filter="checkerboard(across)">
                                      <p:cBhvr>
                                        <p:cTn id="47" dur="500"/>
                                        <p:tgtEl>
                                          <p:spTgt spid="2049">
                                            <p:txEl>
                                              <p:pRg st="10" end="1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nodeType="clickEffect">
                                  <p:stCondLst>
                                    <p:cond delay="0"/>
                                  </p:stCondLst>
                                  <p:childTnLst>
                                    <p:set>
                                      <p:cBhvr>
                                        <p:cTn id="51" dur="1" fill="hold">
                                          <p:stCondLst>
                                            <p:cond delay="0"/>
                                          </p:stCondLst>
                                        </p:cTn>
                                        <p:tgtEl>
                                          <p:spTgt spid="2049">
                                            <p:txEl>
                                              <p:pRg st="11" end="11"/>
                                            </p:txEl>
                                          </p:spTgt>
                                        </p:tgtEl>
                                        <p:attrNameLst>
                                          <p:attrName>style.visibility</p:attrName>
                                        </p:attrNameLst>
                                      </p:cBhvr>
                                      <p:to>
                                        <p:strVal val="visible"/>
                                      </p:to>
                                    </p:set>
                                    <p:animEffect transition="in" filter="checkerboard(across)">
                                      <p:cBhvr>
                                        <p:cTn id="52" dur="500"/>
                                        <p:tgtEl>
                                          <p:spTgt spid="204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ChangeArrowheads="1"/>
          </p:cNvSpPr>
          <p:nvPr/>
        </p:nvSpPr>
        <p:spPr bwMode="auto">
          <a:xfrm>
            <a:off x="357188" y="1697038"/>
            <a:ext cx="8501062"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906463" indent="-45720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400" i="1" u="sng">
                <a:latin typeface="Arial" panose="020B0604020202020204" pitchFamily="34" charset="0"/>
              </a:rPr>
              <a:t>Module 2: entrainements à moteur DC</a:t>
            </a:r>
          </a:p>
          <a:p>
            <a:pPr>
              <a:spcBef>
                <a:spcPct val="0"/>
              </a:spcBef>
              <a:buClrTx/>
              <a:buSzTx/>
              <a:buFontTx/>
              <a:buNone/>
            </a:pPr>
            <a:endParaRPr lang="fr-FR" altLang="fr-FR" sz="2400" i="1">
              <a:latin typeface="Arial" panose="020B0604020202020204" pitchFamily="34" charset="0"/>
            </a:endParaRPr>
          </a:p>
          <a:p>
            <a:pPr lvl="1" algn="just">
              <a:spcBef>
                <a:spcPct val="0"/>
              </a:spcBef>
              <a:buClrTx/>
              <a:buSzTx/>
              <a:buFontTx/>
              <a:buBlip>
                <a:blip r:embed="rId3"/>
              </a:buBlip>
            </a:pPr>
            <a:r>
              <a:rPr lang="fr-FR" altLang="fr-FR" sz="2400" i="1">
                <a:latin typeface="Arial" panose="020B0604020202020204" pitchFamily="34" charset="0"/>
              </a:rPr>
              <a:t>Construction, modélisation d’une machine DC</a:t>
            </a:r>
          </a:p>
          <a:p>
            <a:pPr lvl="1" algn="just">
              <a:spcBef>
                <a:spcPct val="0"/>
              </a:spcBef>
              <a:buClrTx/>
              <a:buSzTx/>
              <a:buFontTx/>
              <a:buBlip>
                <a:blip r:embed="rId3"/>
              </a:buBlip>
            </a:pPr>
            <a:r>
              <a:rPr lang="fr-FR" altLang="fr-FR" sz="2400" i="1">
                <a:latin typeface="Arial" panose="020B0604020202020204" pitchFamily="34" charset="0"/>
              </a:rPr>
              <a:t>Convertisseurs pour entrainements DC et quadrants de fonctionnement</a:t>
            </a:r>
          </a:p>
          <a:p>
            <a:pPr lvl="1" algn="just">
              <a:spcBef>
                <a:spcPct val="0"/>
              </a:spcBef>
              <a:buClrTx/>
              <a:buSzTx/>
              <a:buFontTx/>
              <a:buBlip>
                <a:blip r:embed="rId3"/>
              </a:buBlip>
            </a:pPr>
            <a:r>
              <a:rPr lang="fr-FR" altLang="fr-FR" sz="2400" i="1">
                <a:latin typeface="Arial" panose="020B0604020202020204" pitchFamily="34" charset="0"/>
              </a:rPr>
              <a:t> Commande du couple, </a:t>
            </a:r>
          </a:p>
          <a:p>
            <a:pPr lvl="1" algn="just">
              <a:spcBef>
                <a:spcPct val="0"/>
              </a:spcBef>
              <a:buClrTx/>
              <a:buSzTx/>
              <a:buFontTx/>
              <a:buBlip>
                <a:blip r:embed="rId3"/>
              </a:buBlip>
            </a:pPr>
            <a:r>
              <a:rPr lang="fr-FR" altLang="fr-FR" sz="2400" i="1">
                <a:latin typeface="Arial" panose="020B0604020202020204" pitchFamily="34" charset="0"/>
              </a:rPr>
              <a:t>Commande de la vitesse,</a:t>
            </a:r>
          </a:p>
          <a:p>
            <a:pPr lvl="1" algn="just">
              <a:spcBef>
                <a:spcPct val="0"/>
              </a:spcBef>
              <a:buClrTx/>
              <a:buSzTx/>
              <a:buFontTx/>
              <a:buBlip>
                <a:blip r:embed="rId3"/>
              </a:buBlip>
            </a:pPr>
            <a:r>
              <a:rPr lang="fr-FR" altLang="fr-FR" sz="2400" i="1">
                <a:latin typeface="Arial" panose="020B0604020202020204" pitchFamily="34" charset="0"/>
              </a:rPr>
              <a:t>Régulation cascade. </a:t>
            </a:r>
          </a:p>
        </p:txBody>
      </p:sp>
      <p:sp>
        <p:nvSpPr>
          <p:cNvPr id="12291" name="Rectangle 4"/>
          <p:cNvSpPr>
            <a:spLocks noChangeArrowheads="1"/>
          </p:cNvSpPr>
          <p:nvPr/>
        </p:nvSpPr>
        <p:spPr bwMode="auto">
          <a:xfrm>
            <a:off x="182563" y="211138"/>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292"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C1ADDA3-FDE1-43EC-B791-FA94ACA697FD}" type="slidenum">
              <a:rPr lang="fr-FR" altLang="fr-FR" sz="1000" smtClean="0">
                <a:solidFill>
                  <a:srgbClr val="292929"/>
                </a:solidFill>
                <a:latin typeface="Arial" panose="020B0604020202020204" pitchFamily="34" charset="0"/>
              </a:rPr>
              <a:pPr>
                <a:spcBef>
                  <a:spcPct val="0"/>
                </a:spcBef>
                <a:buClrTx/>
                <a:buSzTx/>
                <a:buFontTx/>
                <a:buNone/>
              </a:pPr>
              <a:t>4</a:t>
            </a:fld>
            <a:endParaRPr lang="fr-FR" altLang="fr-FR" sz="1000" smtClean="0">
              <a:solidFill>
                <a:srgbClr val="292929"/>
              </a:solidFill>
              <a:latin typeface="Arial" panose="020B0604020202020204" pitchFamily="34" charset="0"/>
            </a:endParaRPr>
          </a:p>
        </p:txBody>
      </p:sp>
      <p:sp>
        <p:nvSpPr>
          <p:cNvPr id="5" name="Espace réservé du pied de page 4"/>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7409">
                                            <p:txEl>
                                              <p:pRg st="0" end="0"/>
                                            </p:txEl>
                                          </p:spTgt>
                                        </p:tgtEl>
                                        <p:attrNameLst>
                                          <p:attrName>style.visibility</p:attrName>
                                        </p:attrNameLst>
                                      </p:cBhvr>
                                      <p:to>
                                        <p:strVal val="visible"/>
                                      </p:to>
                                    </p:set>
                                    <p:animEffect transition="in" filter="checkerboard(across)">
                                      <p:cBhvr>
                                        <p:cTn id="7" dur="500"/>
                                        <p:tgtEl>
                                          <p:spTgt spid="1740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7409">
                                            <p:txEl>
                                              <p:pRg st="2" end="2"/>
                                            </p:txEl>
                                          </p:spTgt>
                                        </p:tgtEl>
                                        <p:attrNameLst>
                                          <p:attrName>style.visibility</p:attrName>
                                        </p:attrNameLst>
                                      </p:cBhvr>
                                      <p:to>
                                        <p:strVal val="visible"/>
                                      </p:to>
                                    </p:set>
                                    <p:animEffect transition="in" filter="checkerboard(across)">
                                      <p:cBhvr>
                                        <p:cTn id="12" dur="500"/>
                                        <p:tgtEl>
                                          <p:spTgt spid="1740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7409">
                                            <p:txEl>
                                              <p:pRg st="3" end="3"/>
                                            </p:txEl>
                                          </p:spTgt>
                                        </p:tgtEl>
                                        <p:attrNameLst>
                                          <p:attrName>style.visibility</p:attrName>
                                        </p:attrNameLst>
                                      </p:cBhvr>
                                      <p:to>
                                        <p:strVal val="visible"/>
                                      </p:to>
                                    </p:set>
                                    <p:animEffect transition="in" filter="checkerboard(across)">
                                      <p:cBhvr>
                                        <p:cTn id="17" dur="500"/>
                                        <p:tgtEl>
                                          <p:spTgt spid="1740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7409">
                                            <p:txEl>
                                              <p:pRg st="4" end="4"/>
                                            </p:txEl>
                                          </p:spTgt>
                                        </p:tgtEl>
                                        <p:attrNameLst>
                                          <p:attrName>style.visibility</p:attrName>
                                        </p:attrNameLst>
                                      </p:cBhvr>
                                      <p:to>
                                        <p:strVal val="visible"/>
                                      </p:to>
                                    </p:set>
                                    <p:animEffect transition="in" filter="checkerboard(across)">
                                      <p:cBhvr>
                                        <p:cTn id="22" dur="500"/>
                                        <p:tgtEl>
                                          <p:spTgt spid="1740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17409">
                                            <p:txEl>
                                              <p:pRg st="5" end="5"/>
                                            </p:txEl>
                                          </p:spTgt>
                                        </p:tgtEl>
                                        <p:attrNameLst>
                                          <p:attrName>style.visibility</p:attrName>
                                        </p:attrNameLst>
                                      </p:cBhvr>
                                      <p:to>
                                        <p:strVal val="visible"/>
                                      </p:to>
                                    </p:set>
                                    <p:animEffect transition="in" filter="checkerboard(across)">
                                      <p:cBhvr>
                                        <p:cTn id="27" dur="500"/>
                                        <p:tgtEl>
                                          <p:spTgt spid="1740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17409">
                                            <p:txEl>
                                              <p:pRg st="6" end="6"/>
                                            </p:txEl>
                                          </p:spTgt>
                                        </p:tgtEl>
                                        <p:attrNameLst>
                                          <p:attrName>style.visibility</p:attrName>
                                        </p:attrNameLst>
                                      </p:cBhvr>
                                      <p:to>
                                        <p:strVal val="visible"/>
                                      </p:to>
                                    </p:set>
                                    <p:animEffect transition="in" filter="checkerboard(across)">
                                      <p:cBhvr>
                                        <p:cTn id="32" dur="500"/>
                                        <p:tgtEl>
                                          <p:spTgt spid="1740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285750" y="892175"/>
            <a:ext cx="85725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898525" indent="-441325">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812925" indent="-441325">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400" i="1" u="sng">
                <a:latin typeface="Arial" panose="020B0604020202020204" pitchFamily="34" charset="0"/>
              </a:rPr>
              <a:t>Module 3:  Entrainements à moteur asynchrone</a:t>
            </a:r>
          </a:p>
          <a:p>
            <a:pPr>
              <a:spcBef>
                <a:spcPct val="0"/>
              </a:spcBef>
              <a:buClrTx/>
              <a:buSzTx/>
              <a:buFontTx/>
              <a:buNone/>
            </a:pPr>
            <a:endParaRPr lang="fr-FR" altLang="fr-FR" sz="2400" i="1">
              <a:latin typeface="Arial" panose="020B0604020202020204" pitchFamily="34" charset="0"/>
            </a:endParaRPr>
          </a:p>
          <a:p>
            <a:pPr lvl="1" algn="just">
              <a:spcBef>
                <a:spcPct val="0"/>
              </a:spcBef>
              <a:buClrTx/>
              <a:buSzTx/>
              <a:buFontTx/>
              <a:buBlip>
                <a:blip r:embed="rId3"/>
              </a:buBlip>
            </a:pPr>
            <a:r>
              <a:rPr lang="fr-FR" altLang="fr-FR" sz="2400" i="1">
                <a:latin typeface="Arial" panose="020B0604020202020204" pitchFamily="34" charset="0"/>
              </a:rPr>
              <a:t>Moteur asynchrone: schéma équivalent en régime statique.</a:t>
            </a:r>
          </a:p>
          <a:p>
            <a:pPr lvl="3">
              <a:spcBef>
                <a:spcPct val="0"/>
              </a:spcBef>
              <a:buClrTx/>
              <a:buSzTx/>
              <a:buFont typeface="Courier New" panose="02070309020205020404" pitchFamily="49" charset="0"/>
              <a:buChar char="o"/>
            </a:pPr>
            <a:r>
              <a:rPr lang="fr-FR" altLang="fr-FR" sz="2400" i="1">
                <a:latin typeface="Arial" panose="020B0604020202020204" pitchFamily="34" charset="0"/>
              </a:rPr>
              <a:t>Commande scalaire: commande V/f constant en boucle ouverte :</a:t>
            </a:r>
          </a:p>
          <a:p>
            <a:pPr lvl="3">
              <a:spcBef>
                <a:spcPct val="0"/>
              </a:spcBef>
              <a:buClrTx/>
              <a:buSzTx/>
              <a:buFont typeface="Courier New" panose="02070309020205020404" pitchFamily="49" charset="0"/>
              <a:buChar char="o"/>
            </a:pPr>
            <a:r>
              <a:rPr lang="fr-FR" altLang="fr-FR" sz="2400" i="1">
                <a:latin typeface="Arial" panose="020B0604020202020204" pitchFamily="34" charset="0"/>
              </a:rPr>
              <a:t>Commande en courant à V/f constant</a:t>
            </a:r>
          </a:p>
          <a:p>
            <a:pPr lvl="1">
              <a:spcBef>
                <a:spcPct val="0"/>
              </a:spcBef>
              <a:buClrTx/>
              <a:buSzTx/>
              <a:buFontTx/>
              <a:buBlip>
                <a:blip r:embed="rId3"/>
              </a:buBlip>
            </a:pPr>
            <a:r>
              <a:rPr lang="fr-FR" altLang="fr-FR" sz="2400" i="1">
                <a:latin typeface="Arial" panose="020B0604020202020204" pitchFamily="34" charset="0"/>
              </a:rPr>
              <a:t>Modèle dynamique de la machine asynchrone.</a:t>
            </a:r>
          </a:p>
          <a:p>
            <a:pPr lvl="1" algn="just">
              <a:spcBef>
                <a:spcPct val="0"/>
              </a:spcBef>
              <a:buClrTx/>
              <a:buSzTx/>
              <a:buFontTx/>
              <a:buBlip>
                <a:blip r:embed="rId3"/>
              </a:buBlip>
            </a:pPr>
            <a:r>
              <a:rPr lang="fr-FR" altLang="fr-FR" sz="2400" i="1">
                <a:latin typeface="Arial" panose="020B0604020202020204" pitchFamily="34" charset="0"/>
              </a:rPr>
              <a:t>Commande vectorielle:</a:t>
            </a:r>
          </a:p>
          <a:p>
            <a:pPr lvl="3" algn="just">
              <a:spcBef>
                <a:spcPct val="0"/>
              </a:spcBef>
              <a:buClrTx/>
              <a:buSzTx/>
              <a:buFont typeface="Courier New" panose="02070309020205020404" pitchFamily="49" charset="0"/>
              <a:buChar char="o"/>
            </a:pPr>
            <a:r>
              <a:rPr lang="fr-FR" altLang="fr-FR" sz="2400" i="1">
                <a:latin typeface="Arial" panose="020B0604020202020204" pitchFamily="34" charset="0"/>
              </a:rPr>
              <a:t>Commande du flux rotorique, </a:t>
            </a:r>
          </a:p>
          <a:p>
            <a:pPr lvl="3" algn="just">
              <a:spcBef>
                <a:spcPct val="0"/>
              </a:spcBef>
              <a:buClrTx/>
              <a:buSzTx/>
              <a:buFont typeface="Courier New" panose="02070309020205020404" pitchFamily="49" charset="0"/>
              <a:buChar char="o"/>
            </a:pPr>
            <a:r>
              <a:rPr lang="fr-FR" altLang="fr-FR" sz="2400" i="1">
                <a:latin typeface="Arial" panose="020B0604020202020204" pitchFamily="34" charset="0"/>
              </a:rPr>
              <a:t>Commande du flux statorique  </a:t>
            </a:r>
          </a:p>
          <a:p>
            <a:pPr lvl="3" algn="just">
              <a:spcBef>
                <a:spcPct val="0"/>
              </a:spcBef>
              <a:buClrTx/>
              <a:buSzTx/>
              <a:buFont typeface="Courier New" panose="02070309020205020404" pitchFamily="49" charset="0"/>
              <a:buChar char="o"/>
            </a:pPr>
            <a:r>
              <a:rPr lang="fr-FR" altLang="fr-FR" sz="2400" i="1">
                <a:latin typeface="Arial" panose="020B0604020202020204" pitchFamily="34" charset="0"/>
              </a:rPr>
              <a:t>Commande direct du couple (DTC)</a:t>
            </a:r>
          </a:p>
          <a:p>
            <a:pPr lvl="1" algn="just">
              <a:spcBef>
                <a:spcPct val="0"/>
              </a:spcBef>
              <a:buClrTx/>
              <a:buSzTx/>
              <a:buFontTx/>
              <a:buBlip>
                <a:blip r:embed="rId3"/>
              </a:buBlip>
            </a:pPr>
            <a:r>
              <a:rPr lang="fr-FR" altLang="fr-FR" sz="2400" i="1">
                <a:latin typeface="Arial" panose="020B0604020202020204" pitchFamily="34" charset="0"/>
              </a:rPr>
              <a:t>Simulation des entrainements à moteur AC </a:t>
            </a:r>
          </a:p>
        </p:txBody>
      </p:sp>
      <p:sp>
        <p:nvSpPr>
          <p:cNvPr id="14339" name="Rectangle 4"/>
          <p:cNvSpPr>
            <a:spLocks noChangeArrowheads="1"/>
          </p:cNvSpPr>
          <p:nvPr/>
        </p:nvSpPr>
        <p:spPr bwMode="auto">
          <a:xfrm>
            <a:off x="182563" y="211138"/>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340"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6D8F322-8907-41F0-8FB5-608939D4F114}" type="slidenum">
              <a:rPr lang="fr-FR" altLang="fr-FR" sz="1000" smtClean="0">
                <a:solidFill>
                  <a:srgbClr val="292929"/>
                </a:solidFill>
                <a:latin typeface="Arial" panose="020B0604020202020204" pitchFamily="34" charset="0"/>
              </a:rPr>
              <a:pPr>
                <a:spcBef>
                  <a:spcPct val="0"/>
                </a:spcBef>
                <a:buClrTx/>
                <a:buSzTx/>
                <a:buFontTx/>
                <a:buNone/>
              </a:pPr>
              <a:t>5</a:t>
            </a:fld>
            <a:endParaRPr lang="fr-FR" altLang="fr-FR" sz="1000" smtClean="0">
              <a:solidFill>
                <a:srgbClr val="292929"/>
              </a:solidFill>
              <a:latin typeface="Arial" panose="020B0604020202020204" pitchFamily="34" charset="0"/>
            </a:endParaRPr>
          </a:p>
        </p:txBody>
      </p:sp>
      <p:sp>
        <p:nvSpPr>
          <p:cNvPr id="5" name="Espace réservé du pied de page 4"/>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2529">
                                            <p:txEl>
                                              <p:pRg st="0" end="0"/>
                                            </p:txEl>
                                          </p:spTgt>
                                        </p:tgtEl>
                                        <p:attrNameLst>
                                          <p:attrName>style.visibility</p:attrName>
                                        </p:attrNameLst>
                                      </p:cBhvr>
                                      <p:to>
                                        <p:strVal val="visible"/>
                                      </p:to>
                                    </p:set>
                                    <p:animEffect transition="in" filter="checkerboard(across)">
                                      <p:cBhvr>
                                        <p:cTn id="7" dur="500"/>
                                        <p:tgtEl>
                                          <p:spTgt spid="2252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2529">
                                            <p:txEl>
                                              <p:pRg st="2" end="2"/>
                                            </p:txEl>
                                          </p:spTgt>
                                        </p:tgtEl>
                                        <p:attrNameLst>
                                          <p:attrName>style.visibility</p:attrName>
                                        </p:attrNameLst>
                                      </p:cBhvr>
                                      <p:to>
                                        <p:strVal val="visible"/>
                                      </p:to>
                                    </p:set>
                                    <p:animEffect transition="in" filter="checkerboard(across)">
                                      <p:cBhvr>
                                        <p:cTn id="12" dur="500"/>
                                        <p:tgtEl>
                                          <p:spTgt spid="2252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2529">
                                            <p:txEl>
                                              <p:pRg st="3" end="3"/>
                                            </p:txEl>
                                          </p:spTgt>
                                        </p:tgtEl>
                                        <p:attrNameLst>
                                          <p:attrName>style.visibility</p:attrName>
                                        </p:attrNameLst>
                                      </p:cBhvr>
                                      <p:to>
                                        <p:strVal val="visible"/>
                                      </p:to>
                                    </p:set>
                                    <p:animEffect transition="in" filter="checkerboard(across)">
                                      <p:cBhvr>
                                        <p:cTn id="17" dur="500"/>
                                        <p:tgtEl>
                                          <p:spTgt spid="22529">
                                            <p:txEl>
                                              <p:pRg st="3" end="3"/>
                                            </p:txEl>
                                          </p:spTgt>
                                        </p:tgtEl>
                                      </p:cBhvr>
                                    </p:animEffect>
                                  </p:childTnLst>
                                </p:cTn>
                              </p:par>
                              <p:par>
                                <p:cTn id="18" presetID="5" presetClass="entr" presetSubtype="10" fill="hold" nodeType="withEffect">
                                  <p:stCondLst>
                                    <p:cond delay="0"/>
                                  </p:stCondLst>
                                  <p:childTnLst>
                                    <p:set>
                                      <p:cBhvr>
                                        <p:cTn id="19" dur="1" fill="hold">
                                          <p:stCondLst>
                                            <p:cond delay="0"/>
                                          </p:stCondLst>
                                        </p:cTn>
                                        <p:tgtEl>
                                          <p:spTgt spid="22529">
                                            <p:txEl>
                                              <p:pRg st="4" end="4"/>
                                            </p:txEl>
                                          </p:spTgt>
                                        </p:tgtEl>
                                        <p:attrNameLst>
                                          <p:attrName>style.visibility</p:attrName>
                                        </p:attrNameLst>
                                      </p:cBhvr>
                                      <p:to>
                                        <p:strVal val="visible"/>
                                      </p:to>
                                    </p:set>
                                    <p:animEffect transition="in" filter="checkerboard(across)">
                                      <p:cBhvr>
                                        <p:cTn id="20" dur="500"/>
                                        <p:tgtEl>
                                          <p:spTgt spid="22529">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22529">
                                            <p:txEl>
                                              <p:pRg st="5" end="5"/>
                                            </p:txEl>
                                          </p:spTgt>
                                        </p:tgtEl>
                                        <p:attrNameLst>
                                          <p:attrName>style.visibility</p:attrName>
                                        </p:attrNameLst>
                                      </p:cBhvr>
                                      <p:to>
                                        <p:strVal val="visible"/>
                                      </p:to>
                                    </p:set>
                                    <p:animEffect transition="in" filter="checkerboard(across)">
                                      <p:cBhvr>
                                        <p:cTn id="25" dur="500"/>
                                        <p:tgtEl>
                                          <p:spTgt spid="22529">
                                            <p:txEl>
                                              <p:pRg st="5" end="5"/>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nodeType="clickEffect">
                                  <p:stCondLst>
                                    <p:cond delay="0"/>
                                  </p:stCondLst>
                                  <p:childTnLst>
                                    <p:set>
                                      <p:cBhvr>
                                        <p:cTn id="29" dur="1" fill="hold">
                                          <p:stCondLst>
                                            <p:cond delay="0"/>
                                          </p:stCondLst>
                                        </p:cTn>
                                        <p:tgtEl>
                                          <p:spTgt spid="22529">
                                            <p:txEl>
                                              <p:pRg st="6" end="6"/>
                                            </p:txEl>
                                          </p:spTgt>
                                        </p:tgtEl>
                                        <p:attrNameLst>
                                          <p:attrName>style.visibility</p:attrName>
                                        </p:attrNameLst>
                                      </p:cBhvr>
                                      <p:to>
                                        <p:strVal val="visible"/>
                                      </p:to>
                                    </p:set>
                                    <p:animEffect transition="in" filter="checkerboard(across)">
                                      <p:cBhvr>
                                        <p:cTn id="30" dur="500"/>
                                        <p:tgtEl>
                                          <p:spTgt spid="22529">
                                            <p:txEl>
                                              <p:pRg st="6" end="6"/>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nodeType="clickEffect">
                                  <p:stCondLst>
                                    <p:cond delay="0"/>
                                  </p:stCondLst>
                                  <p:childTnLst>
                                    <p:set>
                                      <p:cBhvr>
                                        <p:cTn id="34" dur="1" fill="hold">
                                          <p:stCondLst>
                                            <p:cond delay="0"/>
                                          </p:stCondLst>
                                        </p:cTn>
                                        <p:tgtEl>
                                          <p:spTgt spid="22529">
                                            <p:txEl>
                                              <p:pRg st="7" end="7"/>
                                            </p:txEl>
                                          </p:spTgt>
                                        </p:tgtEl>
                                        <p:attrNameLst>
                                          <p:attrName>style.visibility</p:attrName>
                                        </p:attrNameLst>
                                      </p:cBhvr>
                                      <p:to>
                                        <p:strVal val="visible"/>
                                      </p:to>
                                    </p:set>
                                    <p:animEffect transition="in" filter="checkerboard(across)">
                                      <p:cBhvr>
                                        <p:cTn id="35" dur="500"/>
                                        <p:tgtEl>
                                          <p:spTgt spid="22529">
                                            <p:txEl>
                                              <p:pRg st="7" end="7"/>
                                            </p:txEl>
                                          </p:spTgt>
                                        </p:tgtEl>
                                      </p:cBhvr>
                                    </p:animEffect>
                                  </p:childTnLst>
                                </p:cTn>
                              </p:par>
                              <p:par>
                                <p:cTn id="36" presetID="5" presetClass="entr" presetSubtype="10" fill="hold" nodeType="withEffect">
                                  <p:stCondLst>
                                    <p:cond delay="0"/>
                                  </p:stCondLst>
                                  <p:childTnLst>
                                    <p:set>
                                      <p:cBhvr>
                                        <p:cTn id="37" dur="1" fill="hold">
                                          <p:stCondLst>
                                            <p:cond delay="0"/>
                                          </p:stCondLst>
                                        </p:cTn>
                                        <p:tgtEl>
                                          <p:spTgt spid="22529">
                                            <p:txEl>
                                              <p:pRg st="8" end="8"/>
                                            </p:txEl>
                                          </p:spTgt>
                                        </p:tgtEl>
                                        <p:attrNameLst>
                                          <p:attrName>style.visibility</p:attrName>
                                        </p:attrNameLst>
                                      </p:cBhvr>
                                      <p:to>
                                        <p:strVal val="visible"/>
                                      </p:to>
                                    </p:set>
                                    <p:animEffect transition="in" filter="checkerboard(across)">
                                      <p:cBhvr>
                                        <p:cTn id="38" dur="500"/>
                                        <p:tgtEl>
                                          <p:spTgt spid="22529">
                                            <p:txEl>
                                              <p:pRg st="8" end="8"/>
                                            </p:txEl>
                                          </p:spTgt>
                                        </p:tgtEl>
                                      </p:cBhvr>
                                    </p:animEffect>
                                  </p:childTnLst>
                                </p:cTn>
                              </p:par>
                              <p:par>
                                <p:cTn id="39" presetID="5" presetClass="entr" presetSubtype="10" fill="hold" nodeType="withEffect">
                                  <p:stCondLst>
                                    <p:cond delay="0"/>
                                  </p:stCondLst>
                                  <p:childTnLst>
                                    <p:set>
                                      <p:cBhvr>
                                        <p:cTn id="40" dur="1" fill="hold">
                                          <p:stCondLst>
                                            <p:cond delay="0"/>
                                          </p:stCondLst>
                                        </p:cTn>
                                        <p:tgtEl>
                                          <p:spTgt spid="22529">
                                            <p:txEl>
                                              <p:pRg st="9" end="9"/>
                                            </p:txEl>
                                          </p:spTgt>
                                        </p:tgtEl>
                                        <p:attrNameLst>
                                          <p:attrName>style.visibility</p:attrName>
                                        </p:attrNameLst>
                                      </p:cBhvr>
                                      <p:to>
                                        <p:strVal val="visible"/>
                                      </p:to>
                                    </p:set>
                                    <p:animEffect transition="in" filter="checkerboard(across)">
                                      <p:cBhvr>
                                        <p:cTn id="41" dur="500"/>
                                        <p:tgtEl>
                                          <p:spTgt spid="22529">
                                            <p:txEl>
                                              <p:pRg st="9" end="9"/>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nodeType="clickEffect">
                                  <p:stCondLst>
                                    <p:cond delay="0"/>
                                  </p:stCondLst>
                                  <p:childTnLst>
                                    <p:set>
                                      <p:cBhvr>
                                        <p:cTn id="45" dur="1" fill="hold">
                                          <p:stCondLst>
                                            <p:cond delay="0"/>
                                          </p:stCondLst>
                                        </p:cTn>
                                        <p:tgtEl>
                                          <p:spTgt spid="22529">
                                            <p:txEl>
                                              <p:pRg st="10" end="10"/>
                                            </p:txEl>
                                          </p:spTgt>
                                        </p:tgtEl>
                                        <p:attrNameLst>
                                          <p:attrName>style.visibility</p:attrName>
                                        </p:attrNameLst>
                                      </p:cBhvr>
                                      <p:to>
                                        <p:strVal val="visible"/>
                                      </p:to>
                                    </p:set>
                                    <p:animEffect transition="in" filter="checkerboard(across)">
                                      <p:cBhvr>
                                        <p:cTn id="46" dur="500"/>
                                        <p:tgtEl>
                                          <p:spTgt spid="2252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685800" y="304800"/>
            <a:ext cx="7772400" cy="1470025"/>
          </a:xfrm>
          <a:ln>
            <a:miter lim="800000"/>
            <a:headEnd/>
            <a:tailEnd/>
          </a:ln>
          <a:extLst/>
        </p:spPr>
        <p:txBody>
          <a:bodyPr>
            <a:normAutofit fontScale="90000"/>
          </a:bodyPr>
          <a:lstStyle/>
          <a:p>
            <a:pPr eaLnBrk="1" fontAlgn="auto" hangingPunct="1">
              <a:spcAft>
                <a:spcPts val="0"/>
              </a:spcAft>
              <a:defRPr/>
            </a:pPr>
            <a:r>
              <a:rPr smtClean="0"/>
              <a:t>COMMANDE DES MACHINES ELECTRIQUES</a:t>
            </a:r>
          </a:p>
        </p:txBody>
      </p:sp>
      <p:sp>
        <p:nvSpPr>
          <p:cNvPr id="16387" name="Rectangle 3"/>
          <p:cNvSpPr>
            <a:spLocks noGrp="1" noChangeArrowheads="1"/>
          </p:cNvSpPr>
          <p:nvPr>
            <p:ph type="subTitle" idx="1"/>
          </p:nvPr>
        </p:nvSpPr>
        <p:spPr>
          <a:xfrm>
            <a:off x="1219200" y="2362200"/>
            <a:ext cx="7010400" cy="2438400"/>
          </a:xfrm>
        </p:spPr>
        <p:txBody>
          <a:bodyPr/>
          <a:lstStyle/>
          <a:p>
            <a:pPr eaLnBrk="1" hangingPunct="1">
              <a:lnSpc>
                <a:spcPct val="80000"/>
              </a:lnSpc>
            </a:pPr>
            <a:r>
              <a:rPr lang="en-US" altLang="fr-FR" sz="2800" smtClean="0"/>
              <a:t>MODULE 1</a:t>
            </a:r>
          </a:p>
          <a:p>
            <a:pPr eaLnBrk="1" hangingPunct="1">
              <a:lnSpc>
                <a:spcPct val="80000"/>
              </a:lnSpc>
            </a:pPr>
            <a:r>
              <a:rPr lang="en-US" altLang="fr-FR" sz="2800" smtClean="0"/>
              <a:t>INTRODUCTION A LA COMMANDE DES MACHINES</a:t>
            </a:r>
          </a:p>
          <a:p>
            <a:pPr eaLnBrk="1" hangingPunct="1">
              <a:lnSpc>
                <a:spcPct val="80000"/>
              </a:lnSpc>
            </a:pPr>
            <a:endParaRPr lang="en-US" altLang="fr-FR" sz="2800" smtClean="0"/>
          </a:p>
          <a:p>
            <a:pPr algn="ctr" eaLnBrk="1" hangingPunct="1">
              <a:lnSpc>
                <a:spcPct val="80000"/>
              </a:lnSpc>
            </a:pPr>
            <a:r>
              <a:rPr lang="en-US" altLang="fr-FR" sz="2400" smtClean="0"/>
              <a:t>Ali NEJMI</a:t>
            </a:r>
          </a:p>
        </p:txBody>
      </p:sp>
      <p:sp>
        <p:nvSpPr>
          <p:cNvPr id="16388"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DB74CEE-AB6F-4BC5-8B4A-6855F6DD498C}" type="slidenum">
              <a:rPr lang="en-US" altLang="fr-FR" sz="1000" smtClean="0">
                <a:solidFill>
                  <a:srgbClr val="292929"/>
                </a:solidFill>
                <a:latin typeface="Arial" panose="020B0604020202020204" pitchFamily="34" charset="0"/>
              </a:rPr>
              <a:pPr>
                <a:spcBef>
                  <a:spcPct val="0"/>
                </a:spcBef>
                <a:buClrTx/>
                <a:buSzTx/>
                <a:buFontTx/>
                <a:buNone/>
              </a:pPr>
              <a:t>6</a:t>
            </a:fld>
            <a:endParaRPr lang="en-US" altLang="fr-FR" sz="1000" smtClean="0">
              <a:solidFill>
                <a:srgbClr val="292929"/>
              </a:solidFill>
              <a:latin typeface="Arial" panose="020B0604020202020204" pitchFamily="34" charset="0"/>
            </a:endParaRPr>
          </a:p>
        </p:txBody>
      </p:sp>
      <p:sp>
        <p:nvSpPr>
          <p:cNvPr id="16389" name="Rectangle 5"/>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6390" name="ZoneTexte 6"/>
          <p:cNvSpPr txBox="1">
            <a:spLocks noChangeArrowheads="1"/>
          </p:cNvSpPr>
          <p:nvPr/>
        </p:nvSpPr>
        <p:spPr bwMode="auto">
          <a:xfrm>
            <a:off x="685800" y="4724400"/>
            <a:ext cx="8077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r">
              <a:buSzPct val="85000"/>
              <a:buFontTx/>
              <a:buNone/>
            </a:pPr>
            <a:r>
              <a:rPr lang="fr-FR" altLang="fr-FR" sz="1400" i="1">
                <a:solidFill>
                  <a:srgbClr val="FF0000"/>
                </a:solidFill>
                <a:latin typeface="Arial" panose="020B0604020202020204" pitchFamily="34" charset="0"/>
                <a:hlinkClick r:id="rId3"/>
              </a:rPr>
              <a:t>alinejmi@yahoo.fr</a:t>
            </a:r>
            <a:r>
              <a:rPr lang="fr-FR" altLang="fr-FR" sz="1400" i="1">
                <a:solidFill>
                  <a:srgbClr val="FF0000"/>
                </a:solidFill>
                <a:latin typeface="Arial" panose="020B0604020202020204" pitchFamily="34" charset="0"/>
              </a:rPr>
              <a:t>  (Email principal) ; </a:t>
            </a:r>
          </a:p>
        </p:txBody>
      </p:sp>
      <p:sp>
        <p:nvSpPr>
          <p:cNvPr id="16391" name="Sous-titre 2"/>
          <p:cNvSpPr txBox="1">
            <a:spLocks/>
          </p:cNvSpPr>
          <p:nvPr/>
        </p:nvSpPr>
        <p:spPr bwMode="auto">
          <a:xfrm>
            <a:off x="457200" y="5562600"/>
            <a:ext cx="4038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 typeface="Arial" panose="020B0604020202020204" pitchFamily="34" charset="0"/>
              <a:buNone/>
            </a:pPr>
            <a:r>
              <a:rPr lang="fr-FR" altLang="fr-FR" sz="1400" b="1">
                <a:solidFill>
                  <a:srgbClr val="0070C0"/>
                </a:solidFill>
                <a:latin typeface="Bradley Hand ITC" panose="03070402050302030203" pitchFamily="66" charset="0"/>
              </a:rPr>
              <a:t>Universté  Sultan  Moulay  Slimane</a:t>
            </a:r>
          </a:p>
          <a:p>
            <a:pPr eaLnBrk="1" hangingPunct="1">
              <a:buClrTx/>
              <a:buSzTx/>
              <a:buFont typeface="Arial" panose="020B0604020202020204" pitchFamily="34" charset="0"/>
              <a:buNone/>
            </a:pPr>
            <a:r>
              <a:rPr lang="fr-FR" altLang="fr-FR" sz="1400" b="1">
                <a:solidFill>
                  <a:srgbClr val="0070C0"/>
                </a:solidFill>
                <a:latin typeface="Bradley Hand ITC" panose="03070402050302030203" pitchFamily="66" charset="0"/>
              </a:rPr>
              <a:t>Faculté  des  Sciences  et  Techniques,  Beni Mellal</a:t>
            </a:r>
          </a:p>
          <a:p>
            <a:pPr eaLnBrk="1" hangingPunct="1">
              <a:buClrTx/>
              <a:buSzTx/>
              <a:buFont typeface="Arial" panose="020B0604020202020204" pitchFamily="34" charset="0"/>
              <a:buNone/>
            </a:pPr>
            <a:r>
              <a:rPr lang="fr-FR" altLang="fr-FR" sz="1400" b="1">
                <a:solidFill>
                  <a:srgbClr val="0070C0"/>
                </a:solidFill>
                <a:latin typeface="Bradley Hand ITC" panose="03070402050302030203" pitchFamily="66" charset="0"/>
              </a:rPr>
              <a:t>Filière  Ingénieur  en  Génie  Electrique</a:t>
            </a:r>
          </a:p>
          <a:p>
            <a:pPr eaLnBrk="1" hangingPunct="1">
              <a:buClrTx/>
              <a:buSzTx/>
              <a:buFont typeface="Arial" panose="020B0604020202020204" pitchFamily="34" charset="0"/>
              <a:buNone/>
            </a:pPr>
            <a:endParaRPr lang="fr-FR" altLang="fr-FR" sz="1400" b="1">
              <a:solidFill>
                <a:srgbClr val="FF0000"/>
              </a:solidFill>
              <a:latin typeface="Bradley Hand ITC" panose="03070402050302030203" pitchFamily="66" charset="0"/>
            </a:endParaRPr>
          </a:p>
        </p:txBody>
      </p:sp>
      <p:sp>
        <p:nvSpPr>
          <p:cNvPr id="9" name="Espace réservé du pied de page 8"/>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8435"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AA1FBA8-3F22-4FA8-A857-C2A547539C57}" type="slidenum">
              <a:rPr lang="en-US" altLang="fr-FR" sz="1000" smtClean="0">
                <a:solidFill>
                  <a:srgbClr val="292929"/>
                </a:solidFill>
                <a:latin typeface="Arial" panose="020B0604020202020204" pitchFamily="34" charset="0"/>
              </a:rPr>
              <a:pPr>
                <a:spcBef>
                  <a:spcPct val="0"/>
                </a:spcBef>
                <a:buClrTx/>
                <a:buSzTx/>
                <a:buFontTx/>
                <a:buNone/>
              </a:pPr>
              <a:t>7</a:t>
            </a:fld>
            <a:endParaRPr lang="en-US" altLang="fr-FR" sz="1000" smtClean="0">
              <a:solidFill>
                <a:srgbClr val="292929"/>
              </a:solidFill>
              <a:latin typeface="Arial" panose="020B0604020202020204" pitchFamily="34" charset="0"/>
            </a:endParaRPr>
          </a:p>
        </p:txBody>
      </p:sp>
      <p:sp>
        <p:nvSpPr>
          <p:cNvPr id="18436" name="Rectangle 4"/>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437" name="Text Box 7"/>
          <p:cNvSpPr txBox="1">
            <a:spLocks noChangeArrowheads="1"/>
          </p:cNvSpPr>
          <p:nvPr/>
        </p:nvSpPr>
        <p:spPr bwMode="auto">
          <a:xfrm>
            <a:off x="685800" y="990600"/>
            <a:ext cx="4967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b="1">
                <a:solidFill>
                  <a:srgbClr val="CC6600"/>
                </a:solidFill>
                <a:latin typeface="Arial" panose="020B0604020202020204" pitchFamily="34" charset="0"/>
              </a:rPr>
              <a:t>Entrainements Electriques- Généralités</a:t>
            </a:r>
          </a:p>
        </p:txBody>
      </p:sp>
      <p:sp>
        <p:nvSpPr>
          <p:cNvPr id="18438" name="Text Box 9"/>
          <p:cNvSpPr txBox="1">
            <a:spLocks noChangeArrowheads="1"/>
          </p:cNvSpPr>
          <p:nvPr/>
        </p:nvSpPr>
        <p:spPr bwMode="auto">
          <a:xfrm>
            <a:off x="565150" y="1752600"/>
            <a:ext cx="81978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en-US" altLang="fr-FR" sz="1800" b="1">
                <a:latin typeface="Arial" panose="020B0604020202020204" pitchFamily="34" charset="0"/>
              </a:rPr>
              <a:t>Les entrainements </a:t>
            </a:r>
            <a:r>
              <a:rPr lang="en-US" altLang="fr-FR" sz="1800">
                <a:latin typeface="Arial" panose="020B0604020202020204" pitchFamily="34" charset="0"/>
              </a:rPr>
              <a:t>sont</a:t>
            </a:r>
            <a:r>
              <a:rPr lang="en-US" altLang="fr-FR" sz="1800" b="1">
                <a:latin typeface="Arial" panose="020B0604020202020204" pitchFamily="34" charset="0"/>
              </a:rPr>
              <a:t> </a:t>
            </a:r>
            <a:r>
              <a:rPr lang="en-US" altLang="fr-FR" sz="1800">
                <a:latin typeface="Arial" panose="020B0604020202020204" pitchFamily="34" charset="0"/>
              </a:rPr>
              <a:t> les systems utilisés pour le contrôle du mouvement  (rotation, positionnement..)</a:t>
            </a:r>
          </a:p>
        </p:txBody>
      </p:sp>
      <p:sp>
        <p:nvSpPr>
          <p:cNvPr id="18439" name="Text Box 10"/>
          <p:cNvSpPr txBox="1">
            <a:spLocks noChangeArrowheads="1"/>
          </p:cNvSpPr>
          <p:nvPr/>
        </p:nvSpPr>
        <p:spPr bwMode="auto">
          <a:xfrm>
            <a:off x="2895600" y="3124200"/>
            <a:ext cx="4146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Exigent des machines d’entrainements</a:t>
            </a:r>
            <a:endParaRPr lang="en-US" altLang="fr-FR" sz="1800" b="1">
              <a:latin typeface="Arial" panose="020B0604020202020204" pitchFamily="34" charset="0"/>
            </a:endParaRPr>
          </a:p>
        </p:txBody>
      </p:sp>
      <p:sp>
        <p:nvSpPr>
          <p:cNvPr id="18440" name="Line 11"/>
          <p:cNvSpPr>
            <a:spLocks noChangeShapeType="1"/>
          </p:cNvSpPr>
          <p:nvPr/>
        </p:nvSpPr>
        <p:spPr bwMode="auto">
          <a:xfrm>
            <a:off x="4495800" y="23622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41" name="Text Box 12"/>
          <p:cNvSpPr txBox="1">
            <a:spLocks noChangeArrowheads="1"/>
          </p:cNvSpPr>
          <p:nvPr/>
        </p:nvSpPr>
        <p:spPr bwMode="auto">
          <a:xfrm>
            <a:off x="1295400" y="4343400"/>
            <a:ext cx="69818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Les entrainements qui utilisent les</a:t>
            </a:r>
            <a:r>
              <a:rPr lang="en-US" altLang="fr-FR" sz="1800" b="1">
                <a:latin typeface="Arial" panose="020B0604020202020204" pitchFamily="34" charset="0"/>
              </a:rPr>
              <a:t> moteurs électriques </a:t>
            </a:r>
            <a:r>
              <a:rPr lang="en-US" altLang="fr-FR" sz="1800">
                <a:latin typeface="Arial" panose="020B0604020202020204" pitchFamily="34" charset="0"/>
              </a:rPr>
              <a:t>comme</a:t>
            </a:r>
            <a:r>
              <a:rPr lang="en-US" altLang="fr-FR" sz="1800" b="1">
                <a:latin typeface="Arial" panose="020B0604020202020204" pitchFamily="34" charset="0"/>
              </a:rPr>
              <a:t> </a:t>
            </a:r>
          </a:p>
          <a:p>
            <a:pPr eaLnBrk="1" hangingPunct="1">
              <a:spcBef>
                <a:spcPct val="0"/>
              </a:spcBef>
              <a:buClrTx/>
              <a:buSzTx/>
              <a:buFontTx/>
              <a:buNone/>
            </a:pPr>
            <a:r>
              <a:rPr lang="en-US" altLang="fr-FR" sz="1800">
                <a:latin typeface="Arial" panose="020B0604020202020204" pitchFamily="34" charset="0"/>
              </a:rPr>
              <a:t>machines d’entrainements sont appelés </a:t>
            </a:r>
            <a:r>
              <a:rPr lang="en-US" altLang="fr-FR" sz="1800">
                <a:solidFill>
                  <a:srgbClr val="FF3300"/>
                </a:solidFill>
                <a:latin typeface="Arial" panose="020B0604020202020204" pitchFamily="34" charset="0"/>
              </a:rPr>
              <a:t>Entrainements électriques</a:t>
            </a:r>
          </a:p>
        </p:txBody>
      </p:sp>
      <p:sp>
        <p:nvSpPr>
          <p:cNvPr id="18442" name="Line 13"/>
          <p:cNvSpPr>
            <a:spLocks noChangeShapeType="1"/>
          </p:cNvSpPr>
          <p:nvPr/>
        </p:nvSpPr>
        <p:spPr bwMode="auto">
          <a:xfrm>
            <a:off x="4495800" y="35814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2" name="Espace réservé du pied de page 11"/>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2048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4FF0DD02-15E1-4707-A60B-A75CE2DCDBC7}" type="slidenum">
              <a:rPr lang="en-US" altLang="fr-FR" sz="1000" smtClean="0">
                <a:solidFill>
                  <a:srgbClr val="292929"/>
                </a:solidFill>
                <a:latin typeface="Arial" panose="020B0604020202020204" pitchFamily="34" charset="0"/>
              </a:rPr>
              <a:pPr>
                <a:spcBef>
                  <a:spcPct val="0"/>
                </a:spcBef>
                <a:buClrTx/>
                <a:buSzTx/>
                <a:buFontTx/>
                <a:buNone/>
              </a:pPr>
              <a:t>8</a:t>
            </a:fld>
            <a:endParaRPr lang="en-US" altLang="fr-FR" sz="1000" smtClean="0">
              <a:solidFill>
                <a:srgbClr val="292929"/>
              </a:solidFill>
              <a:latin typeface="Arial" panose="020B0604020202020204" pitchFamily="34" charset="0"/>
            </a:endParaRPr>
          </a:p>
        </p:txBody>
      </p:sp>
      <p:sp>
        <p:nvSpPr>
          <p:cNvPr id="20484" name="Rectangle 3"/>
          <p:cNvSpPr>
            <a:spLocks noChangeArrowheads="1"/>
          </p:cNvSpPr>
          <p:nvPr/>
        </p:nvSpPr>
        <p:spPr bwMode="auto">
          <a:xfrm>
            <a:off x="685800" y="2133600"/>
            <a:ext cx="79248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panose="020B0604020202020204" pitchFamily="34" charset="0"/>
              </a:rPr>
              <a:t>Un entraînement électrique est un système électro-mécanique destiné à réaliser un processus technologique grâce au mouvement d'un organe de travail. Il est généralement constitué d'un moteur électrique, alimenté </a:t>
            </a:r>
            <a:r>
              <a:rPr lang="fr-FR" altLang="fr-FR" sz="2000" b="1">
                <a:latin typeface="Arial" panose="020B0604020202020204" pitchFamily="34" charset="0"/>
              </a:rPr>
              <a:t>par un convertisseur statique ou une </a:t>
            </a:r>
            <a:r>
              <a:rPr lang="fr-FR" altLang="fr-FR" sz="2000">
                <a:latin typeface="Arial" panose="020B0604020202020204" pitchFamily="34" charset="0"/>
              </a:rPr>
              <a:t>génératrice, un convertisseur mécanique de mouvement, un organe de travail et un système de commande.</a:t>
            </a:r>
          </a:p>
        </p:txBody>
      </p:sp>
      <p:sp>
        <p:nvSpPr>
          <p:cNvPr id="20485" name="Rectangle 4"/>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 name="Rectangle 2"/>
          <p:cNvSpPr txBox="1">
            <a:spLocks noChangeArrowheads="1"/>
          </p:cNvSpPr>
          <p:nvPr/>
        </p:nvSpPr>
        <p:spPr>
          <a:xfrm>
            <a:off x="457200" y="4572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2253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4EF3B10-6ABC-450A-9FD1-64E0CD1C3DA6}" type="slidenum">
              <a:rPr lang="en-US" altLang="fr-FR" sz="1000" smtClean="0">
                <a:solidFill>
                  <a:srgbClr val="292929"/>
                </a:solidFill>
                <a:latin typeface="Arial" panose="020B0604020202020204" pitchFamily="34" charset="0"/>
              </a:rPr>
              <a:pPr>
                <a:spcBef>
                  <a:spcPct val="0"/>
                </a:spcBef>
                <a:buClrTx/>
                <a:buSzTx/>
                <a:buFontTx/>
                <a:buNone/>
              </a:pPr>
              <a:t>9</a:t>
            </a:fld>
            <a:endParaRPr lang="en-US" altLang="fr-FR" sz="1000" smtClean="0">
              <a:solidFill>
                <a:srgbClr val="292929"/>
              </a:solidFill>
              <a:latin typeface="Arial" panose="020B0604020202020204" pitchFamily="34" charset="0"/>
            </a:endParaRPr>
          </a:p>
        </p:txBody>
      </p:sp>
      <p:sp>
        <p:nvSpPr>
          <p:cNvPr id="4" name="Rectangle 3"/>
          <p:cNvSpPr/>
          <p:nvPr/>
        </p:nvSpPr>
        <p:spPr>
          <a:xfrm>
            <a:off x="1066800" y="457200"/>
            <a:ext cx="7239000" cy="5324475"/>
          </a:xfrm>
          <a:prstGeom prst="rect">
            <a:avLst/>
          </a:prstGeom>
        </p:spPr>
        <p:txBody>
          <a:bodyPr>
            <a:spAutoFit/>
          </a:bodyPr>
          <a:lstStyle/>
          <a:p>
            <a:pPr algn="just" eaLnBrk="1" hangingPunct="1">
              <a:defRPr/>
            </a:pPr>
            <a:r>
              <a:rPr lang="fr-FR" sz="2000" dirty="0">
                <a:latin typeface="Arial" charset="0"/>
                <a:cs typeface="Arial" charset="0"/>
              </a:rPr>
              <a:t> </a:t>
            </a:r>
          </a:p>
          <a:p>
            <a:pPr algn="just" eaLnBrk="1" hangingPunct="1">
              <a:buFontTx/>
              <a:buBlip>
                <a:blip r:embed="rId3"/>
              </a:buBlip>
              <a:defRPr/>
            </a:pPr>
            <a:endParaRPr lang="fr-FR" sz="2000" dirty="0">
              <a:latin typeface="Arial" charset="0"/>
              <a:cs typeface="Arial" charset="0"/>
            </a:endParaRPr>
          </a:p>
          <a:p>
            <a:pPr algn="just" eaLnBrk="1" hangingPunct="1">
              <a:buFontTx/>
              <a:buBlip>
                <a:blip r:embed="rId3"/>
              </a:buBlip>
              <a:defRPr/>
            </a:pPr>
            <a:endParaRPr lang="fr-FR" sz="2000" dirty="0">
              <a:latin typeface="Arial" charset="0"/>
              <a:cs typeface="Arial" charset="0"/>
            </a:endParaRPr>
          </a:p>
          <a:p>
            <a:pPr marL="273050" indent="-273050" algn="just" eaLnBrk="1" hangingPunct="1">
              <a:buFontTx/>
              <a:buBlip>
                <a:blip r:embed="rId3"/>
              </a:buBlip>
              <a:defRPr/>
            </a:pPr>
            <a:r>
              <a:rPr lang="fr-FR" sz="2000" dirty="0">
                <a:latin typeface="Arial" charset="0"/>
                <a:cs typeface="Arial" charset="0"/>
              </a:rPr>
              <a:t>Les </a:t>
            </a:r>
            <a:r>
              <a:rPr lang="fr-FR" sz="2000" i="1" dirty="0" err="1">
                <a:solidFill>
                  <a:srgbClr val="FF0000"/>
                </a:solidFill>
                <a:latin typeface="Arial" charset="0"/>
                <a:cs typeface="Arial" charset="0"/>
              </a:rPr>
              <a:t>entrainemets</a:t>
            </a:r>
            <a:r>
              <a:rPr lang="fr-FR" sz="2000" dirty="0">
                <a:latin typeface="Arial" charset="0"/>
                <a:cs typeface="Arial" charset="0"/>
              </a:rPr>
              <a:t> sont employés pour les systèmes nécessitant un </a:t>
            </a:r>
            <a:r>
              <a:rPr lang="fr-FR" sz="2000" i="1" dirty="0">
                <a:solidFill>
                  <a:srgbClr val="FF0000"/>
                </a:solidFill>
                <a:latin typeface="Arial" charset="0"/>
                <a:cs typeface="Arial" charset="0"/>
              </a:rPr>
              <a:t>contrôle de mouvement</a:t>
            </a:r>
            <a:r>
              <a:rPr lang="fr-FR" sz="2000" dirty="0">
                <a:latin typeface="Arial" charset="0"/>
                <a:cs typeface="Arial" charset="0"/>
              </a:rPr>
              <a:t> – par exemple, système de transport, ventilateurs, robots, pompes, machines-outils, etc.. </a:t>
            </a:r>
          </a:p>
          <a:p>
            <a:pPr marL="273050" indent="-273050" algn="just" eaLnBrk="1" hangingPunct="1">
              <a:defRPr/>
            </a:pPr>
            <a:endParaRPr lang="fr-FR" sz="2000" dirty="0">
              <a:latin typeface="Arial" charset="0"/>
              <a:cs typeface="Arial" charset="0"/>
            </a:endParaRPr>
          </a:p>
          <a:p>
            <a:pPr marL="273050" indent="-273050" algn="just" eaLnBrk="1" hangingPunct="1">
              <a:buFontTx/>
              <a:buBlip>
                <a:blip r:embed="rId3"/>
              </a:buBlip>
              <a:defRPr/>
            </a:pPr>
            <a:r>
              <a:rPr lang="fr-FR" sz="2000" dirty="0">
                <a:latin typeface="Arial" charset="0"/>
                <a:cs typeface="Arial" charset="0"/>
              </a:rPr>
              <a:t> Les machines d’entrainements sont tenues dans les systèmes d’entrainement de fournir le </a:t>
            </a:r>
            <a:r>
              <a:rPr lang="fr-FR" sz="2000" i="1" dirty="0">
                <a:solidFill>
                  <a:srgbClr val="FF0000"/>
                </a:solidFill>
                <a:latin typeface="Arial" charset="0"/>
                <a:cs typeface="Arial" charset="0"/>
              </a:rPr>
              <a:t>mouvement désirée</a:t>
            </a:r>
            <a:r>
              <a:rPr lang="fr-FR" sz="2000" dirty="0">
                <a:latin typeface="Arial" charset="0"/>
                <a:cs typeface="Arial" charset="0"/>
              </a:rPr>
              <a:t>.</a:t>
            </a:r>
          </a:p>
          <a:p>
            <a:pPr marL="273050" indent="-273050" algn="just" eaLnBrk="1" hangingPunct="1">
              <a:buFontTx/>
              <a:buBlip>
                <a:blip r:embed="rId3"/>
              </a:buBlip>
              <a:defRPr/>
            </a:pPr>
            <a:endParaRPr lang="fr-FR" sz="2000" dirty="0">
              <a:latin typeface="Arial" charset="0"/>
              <a:cs typeface="Arial" charset="0"/>
            </a:endParaRPr>
          </a:p>
          <a:p>
            <a:pPr marL="273050" indent="-273050" algn="just" eaLnBrk="1" hangingPunct="1">
              <a:buFontTx/>
              <a:buBlip>
                <a:blip r:embed="rId3"/>
              </a:buBlip>
              <a:defRPr/>
            </a:pPr>
            <a:r>
              <a:rPr lang="fr-FR" sz="2000" dirty="0">
                <a:latin typeface="Arial" charset="0"/>
                <a:cs typeface="Arial" charset="0"/>
              </a:rPr>
              <a:t> L'énergie qui est utilisé pour fournir le mouvement peut provenir de sources diverses : moteurs diesel, les moteurs à essence, les moteurs hydrauliques, les moteurs électriques </a:t>
            </a:r>
            <a:r>
              <a:rPr lang="fr-FR" sz="2000" dirty="0" err="1">
                <a:latin typeface="Arial" charset="0"/>
                <a:cs typeface="Arial" charset="0"/>
              </a:rPr>
              <a:t>etc</a:t>
            </a:r>
            <a:endParaRPr lang="fr-FR" sz="2000" dirty="0">
              <a:latin typeface="Arial" charset="0"/>
              <a:cs typeface="Arial" charset="0"/>
            </a:endParaRPr>
          </a:p>
          <a:p>
            <a:pPr algn="just" eaLnBrk="1" hangingPunct="1">
              <a:buFontTx/>
              <a:buBlip>
                <a:blip r:embed="rId3"/>
              </a:buBlip>
              <a:defRPr/>
            </a:pPr>
            <a:endParaRPr lang="fr-FR" sz="2000" dirty="0">
              <a:latin typeface="Arial" charset="0"/>
              <a:cs typeface="Arial" charset="0"/>
            </a:endParaRPr>
          </a:p>
          <a:p>
            <a:pPr algn="just" eaLnBrk="1" hangingPunct="1">
              <a:buFontTx/>
              <a:buBlip>
                <a:blip r:embed="rId3"/>
              </a:buBlip>
              <a:defRPr/>
            </a:pPr>
            <a:endParaRPr lang="fr-FR" sz="2000" dirty="0">
              <a:latin typeface="Arial" charset="0"/>
              <a:cs typeface="Arial" charset="0"/>
            </a:endParaRPr>
          </a:p>
        </p:txBody>
      </p:sp>
      <p:sp>
        <p:nvSpPr>
          <p:cNvPr id="22533" name="Rectangle 4"/>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 name="Rectangle 2"/>
          <p:cNvSpPr txBox="1">
            <a:spLocks noChangeArrowheads="1"/>
          </p:cNvSpPr>
          <p:nvPr/>
        </p:nvSpPr>
        <p:spPr>
          <a:xfrm>
            <a:off x="457200" y="4572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endParaRPr lang="en-US" sz="1200" dirty="0">
              <a:latin typeface="+mn-lt"/>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checkerboard(across)">
                                      <p:cBhvr>
                                        <p:cTn id="7" dur="500"/>
                                        <p:tgtEl>
                                          <p:spTgt spid="4">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checkerboard(across)">
                                      <p:cBhvr>
                                        <p:cTn id="12" dur="500"/>
                                        <p:tgtEl>
                                          <p:spTgt spid="4">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animEffect transition="in" filter="checkerboard(across)">
                                      <p:cBhvr>
                                        <p:cTn id="1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24579"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36DD53B0-DDF1-464C-BB39-EB95DF7FACB5}" type="slidenum">
              <a:rPr lang="en-US" altLang="fr-FR" sz="1000" smtClean="0">
                <a:solidFill>
                  <a:srgbClr val="292929"/>
                </a:solidFill>
                <a:latin typeface="Arial" panose="020B0604020202020204" pitchFamily="34" charset="0"/>
              </a:rPr>
              <a:pPr>
                <a:spcBef>
                  <a:spcPct val="0"/>
                </a:spcBef>
                <a:buClrTx/>
                <a:buSzTx/>
                <a:buFontTx/>
                <a:buNone/>
              </a:pPr>
              <a:t>10</a:t>
            </a:fld>
            <a:endParaRPr lang="en-US" altLang="fr-FR" sz="1000" smtClean="0">
              <a:solidFill>
                <a:srgbClr val="292929"/>
              </a:solidFill>
              <a:latin typeface="Arial" panose="020B0604020202020204" pitchFamily="34" charset="0"/>
            </a:endParaRPr>
          </a:p>
        </p:txBody>
      </p:sp>
      <p:sp>
        <p:nvSpPr>
          <p:cNvPr id="24580" name="Rectangle 4"/>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0" name="TextBox 9"/>
          <p:cNvSpPr txBox="1">
            <a:spLocks noChangeArrowheads="1"/>
          </p:cNvSpPr>
          <p:nvPr/>
        </p:nvSpPr>
        <p:spPr bwMode="auto">
          <a:xfrm>
            <a:off x="1143000" y="1676400"/>
            <a:ext cx="74882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6075" indent="-3460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Arial" panose="020B0604020202020204" pitchFamily="34" charset="0"/>
              <a:buChar char="•"/>
            </a:pPr>
            <a:r>
              <a:rPr lang="en-US" altLang="fr-FR" sz="2000">
                <a:latin typeface="Arial" panose="020B0604020202020204" pitchFamily="34" charset="0"/>
              </a:rPr>
              <a:t>Environ 50% de l’énergie électrique est utilisé pour les Entrainements </a:t>
            </a:r>
          </a:p>
        </p:txBody>
      </p:sp>
      <p:sp>
        <p:nvSpPr>
          <p:cNvPr id="11" name="TextBox 10"/>
          <p:cNvSpPr txBox="1">
            <a:spLocks noChangeArrowheads="1"/>
          </p:cNvSpPr>
          <p:nvPr/>
        </p:nvSpPr>
        <p:spPr bwMode="auto">
          <a:xfrm>
            <a:off x="1143000" y="2667000"/>
            <a:ext cx="71008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6075" indent="-3460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Arial" panose="020B0604020202020204" pitchFamily="34" charset="0"/>
              <a:buChar char="•"/>
            </a:pPr>
            <a:r>
              <a:rPr lang="en-US" altLang="fr-FR" sz="2000">
                <a:latin typeface="Arial" panose="020B0604020202020204" pitchFamily="34" charset="0"/>
              </a:rPr>
              <a:t>Les entrainements sont utilisés pour les vitesses fixe et  variable</a:t>
            </a:r>
          </a:p>
        </p:txBody>
      </p:sp>
      <p:sp>
        <p:nvSpPr>
          <p:cNvPr id="12" name="TextBox 11"/>
          <p:cNvSpPr txBox="1">
            <a:spLocks noChangeArrowheads="1"/>
          </p:cNvSpPr>
          <p:nvPr/>
        </p:nvSpPr>
        <p:spPr bwMode="auto">
          <a:xfrm>
            <a:off x="1600200" y="3406775"/>
            <a:ext cx="6553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6075" indent="-3460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Arial" panose="020B0604020202020204" pitchFamily="34" charset="0"/>
              <a:buChar char="•"/>
            </a:pPr>
            <a:r>
              <a:rPr lang="en-US" altLang="fr-FR" sz="2000">
                <a:latin typeface="Arial" panose="020B0604020202020204" pitchFamily="34" charset="0"/>
              </a:rPr>
              <a:t>60% -  vitesse constante, 40% vitesse variable (en expension)</a:t>
            </a:r>
          </a:p>
        </p:txBody>
      </p:sp>
      <p:sp>
        <p:nvSpPr>
          <p:cNvPr id="13" name="TextBox 12"/>
          <p:cNvSpPr txBox="1">
            <a:spLocks noChangeArrowheads="1"/>
          </p:cNvSpPr>
          <p:nvPr/>
        </p:nvSpPr>
        <p:spPr bwMode="auto">
          <a:xfrm>
            <a:off x="1143000" y="4337050"/>
            <a:ext cx="70167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6075" indent="-3460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Arial" panose="020B0604020202020204" pitchFamily="34" charset="0"/>
              <a:buChar char="•"/>
            </a:pPr>
            <a:r>
              <a:rPr lang="en-US" altLang="fr-FR" sz="2000">
                <a:latin typeface="Arial" panose="020B0604020202020204" pitchFamily="34" charset="0"/>
              </a:rPr>
              <a:t>Le présent  cours traite des Entrainements à vitesse variable </a:t>
            </a:r>
          </a:p>
        </p:txBody>
      </p:sp>
      <p:sp>
        <p:nvSpPr>
          <p:cNvPr id="15" name="Espace réservé du pied de page 14"/>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2662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B1A6E5C-BBBE-496A-8302-C6C4C45086AD}" type="slidenum">
              <a:rPr lang="en-US" altLang="fr-FR" sz="1000" smtClean="0">
                <a:solidFill>
                  <a:srgbClr val="292929"/>
                </a:solidFill>
                <a:latin typeface="Arial" panose="020B0604020202020204" pitchFamily="34" charset="0"/>
              </a:rPr>
              <a:pPr>
                <a:spcBef>
                  <a:spcPct val="0"/>
                </a:spcBef>
                <a:buClrTx/>
                <a:buSzTx/>
                <a:buFontTx/>
                <a:buNone/>
              </a:pPr>
              <a:t>11</a:t>
            </a:fld>
            <a:endParaRPr lang="en-US" altLang="fr-FR" sz="1000" smtClean="0">
              <a:solidFill>
                <a:srgbClr val="292929"/>
              </a:solidFill>
              <a:latin typeface="Arial" panose="020B0604020202020204" pitchFamily="34" charset="0"/>
            </a:endParaRPr>
          </a:p>
        </p:txBody>
      </p:sp>
      <p:sp>
        <p:nvSpPr>
          <p:cNvPr id="4" name="Rectangle 3"/>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26629" name="Text Box 7"/>
          <p:cNvSpPr txBox="1">
            <a:spLocks noChangeArrowheads="1"/>
          </p:cNvSpPr>
          <p:nvPr/>
        </p:nvSpPr>
        <p:spPr bwMode="auto">
          <a:xfrm>
            <a:off x="803275" y="685800"/>
            <a:ext cx="5064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b="1">
                <a:solidFill>
                  <a:srgbClr val="CC6600"/>
                </a:solidFill>
                <a:latin typeface="Arial" panose="020B0604020202020204" pitchFamily="34" charset="0"/>
              </a:rPr>
              <a:t>Entrainements Electriques  -  Avantages</a:t>
            </a:r>
          </a:p>
        </p:txBody>
      </p:sp>
      <p:sp>
        <p:nvSpPr>
          <p:cNvPr id="26630" name="Rectangle 4"/>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6631" name="Rectangle 6"/>
          <p:cNvSpPr>
            <a:spLocks noChangeArrowheads="1"/>
          </p:cNvSpPr>
          <p:nvPr/>
        </p:nvSpPr>
        <p:spPr bwMode="auto">
          <a:xfrm>
            <a:off x="685800" y="1258888"/>
            <a:ext cx="7848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Les entrainements électriques ont un très vaste champ d'applications grâce à quelques points forts :</a:t>
            </a:r>
          </a:p>
        </p:txBody>
      </p:sp>
      <p:sp>
        <p:nvSpPr>
          <p:cNvPr id="26632" name="Rectangle 7"/>
          <p:cNvSpPr>
            <a:spLocks noChangeArrowheads="1"/>
          </p:cNvSpPr>
          <p:nvPr/>
        </p:nvSpPr>
        <p:spPr bwMode="auto">
          <a:xfrm>
            <a:off x="990600" y="2057400"/>
            <a:ext cx="7620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Courier New" panose="02070309020205020404" pitchFamily="49" charset="0"/>
              <a:buChar char="o"/>
            </a:pPr>
            <a:r>
              <a:rPr lang="fr-FR" altLang="fr-FR" sz="1800">
                <a:latin typeface="Arial" panose="020B0604020202020204" pitchFamily="34" charset="0"/>
              </a:rPr>
              <a:t>Large gamme de puissance : de la montre aux machines multimegawatt (utilisées dans les mines de charbon et l'industrie sidérurgique.</a:t>
            </a:r>
          </a:p>
        </p:txBody>
      </p:sp>
      <p:sp>
        <p:nvSpPr>
          <p:cNvPr id="26633" name="Rectangle 8"/>
          <p:cNvSpPr>
            <a:spLocks noChangeArrowheads="1"/>
          </p:cNvSpPr>
          <p:nvPr/>
        </p:nvSpPr>
        <p:spPr bwMode="auto">
          <a:xfrm>
            <a:off x="990600" y="3163888"/>
            <a:ext cx="7620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Courier New" panose="02070309020205020404" pitchFamily="49" charset="0"/>
              <a:buChar char="o"/>
            </a:pPr>
            <a:r>
              <a:rPr lang="en-US" altLang="fr-FR" sz="1800">
                <a:latin typeface="Arial" panose="020B0604020202020204" pitchFamily="34" charset="0"/>
              </a:rPr>
              <a:t>Les entraînements électriques produisent le couple maximal en arrêt, aucun embrayage n’est requis.</a:t>
            </a:r>
            <a:endParaRPr lang="fr-FR" altLang="fr-FR" sz="1800">
              <a:latin typeface="Arial" panose="020B0604020202020204" pitchFamily="34" charset="0"/>
            </a:endParaRPr>
          </a:p>
        </p:txBody>
      </p:sp>
      <p:sp>
        <p:nvSpPr>
          <p:cNvPr id="26634" name="Rectangle 9"/>
          <p:cNvSpPr>
            <a:spLocks noChangeArrowheads="1"/>
          </p:cNvSpPr>
          <p:nvPr/>
        </p:nvSpPr>
        <p:spPr bwMode="auto">
          <a:xfrm>
            <a:off x="990600" y="4038600"/>
            <a:ext cx="7543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Courier New" panose="02070309020205020404" pitchFamily="49" charset="0"/>
              <a:buChar char="o"/>
            </a:pPr>
            <a:r>
              <a:rPr lang="en-US" altLang="fr-FR" sz="1800">
                <a:latin typeface="Arial" panose="020B0604020202020204" pitchFamily="34" charset="0"/>
              </a:rPr>
              <a:t>Les entraînements électriques </a:t>
            </a:r>
            <a:r>
              <a:rPr lang="fr-FR" altLang="fr-FR" sz="1800">
                <a:latin typeface="Arial" panose="020B0604020202020204" pitchFamily="34" charset="0"/>
              </a:rPr>
              <a:t>peuvent fournir une très large plage de vitesse, généralement les réducteurs peuvent être omis.</a:t>
            </a:r>
          </a:p>
        </p:txBody>
      </p:sp>
      <p:sp>
        <p:nvSpPr>
          <p:cNvPr id="26635" name="Rectangle 10"/>
          <p:cNvSpPr>
            <a:spLocks noChangeArrowheads="1"/>
          </p:cNvSpPr>
          <p:nvPr/>
        </p:nvSpPr>
        <p:spPr bwMode="auto">
          <a:xfrm>
            <a:off x="990600" y="4800600"/>
            <a:ext cx="7620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Courier New" panose="02070309020205020404" pitchFamily="49" charset="0"/>
              <a:buChar char="o"/>
            </a:pPr>
            <a:r>
              <a:rPr lang="fr-FR" altLang="fr-FR" sz="1800">
                <a:latin typeface="Arial" panose="020B0604020202020204" pitchFamily="34" charset="0"/>
              </a:rPr>
              <a:t>Opération propre, aucun déversements d'hydrocarbures à prévoir.</a:t>
            </a:r>
          </a:p>
        </p:txBody>
      </p:sp>
      <p:sp>
        <p:nvSpPr>
          <p:cNvPr id="26636" name="Rectangle 11"/>
          <p:cNvSpPr>
            <a:spLocks noChangeArrowheads="1"/>
          </p:cNvSpPr>
          <p:nvPr/>
        </p:nvSpPr>
        <p:spPr bwMode="auto">
          <a:xfrm>
            <a:off x="990600" y="5373688"/>
            <a:ext cx="7543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Courier New" panose="02070309020205020404" pitchFamily="49" charset="0"/>
              <a:buChar char="o"/>
            </a:pPr>
            <a:r>
              <a:rPr lang="fr-FR" altLang="fr-FR" sz="1800">
                <a:latin typeface="Arial" panose="020B0604020202020204" pitchFamily="34" charset="0"/>
              </a:rPr>
              <a:t>Sécurité de fonctionnement dans les environnements à grand risque d’explosion (pompes dans les raffineries de pétrole).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2867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804479B-A934-4B1B-BB7B-06BE99091C11}" type="slidenum">
              <a:rPr lang="en-US" altLang="fr-FR" sz="1000" smtClean="0">
                <a:solidFill>
                  <a:srgbClr val="292929"/>
                </a:solidFill>
                <a:latin typeface="Arial" panose="020B0604020202020204" pitchFamily="34" charset="0"/>
              </a:rPr>
              <a:pPr>
                <a:spcBef>
                  <a:spcPct val="0"/>
                </a:spcBef>
                <a:buClrTx/>
                <a:buSzTx/>
                <a:buFontTx/>
                <a:buNone/>
              </a:pPr>
              <a:t>12</a:t>
            </a:fld>
            <a:endParaRPr lang="en-US" altLang="fr-FR" sz="1000" smtClean="0">
              <a:solidFill>
                <a:srgbClr val="292929"/>
              </a:solidFill>
              <a:latin typeface="Arial" panose="020B0604020202020204" pitchFamily="34" charset="0"/>
            </a:endParaRPr>
          </a:p>
        </p:txBody>
      </p:sp>
      <p:sp>
        <p:nvSpPr>
          <p:cNvPr id="4" name="Rectangle 3"/>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28677" name="Rectangle 4"/>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8678" name="Rectangle 6"/>
          <p:cNvSpPr>
            <a:spLocks noChangeArrowheads="1"/>
          </p:cNvSpPr>
          <p:nvPr/>
        </p:nvSpPr>
        <p:spPr bwMode="auto">
          <a:xfrm>
            <a:off x="914400" y="1397000"/>
            <a:ext cx="76200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Courier New" panose="02070309020205020404" pitchFamily="49" charset="0"/>
              <a:buChar char="o"/>
            </a:pPr>
            <a:r>
              <a:rPr lang="fr-FR" altLang="fr-FR" sz="1800">
                <a:latin typeface="Arial" panose="020B0604020202020204" pitchFamily="34" charset="0"/>
              </a:rPr>
              <a:t>Une utilisation immédiate : peuvent être allumés immédiatement.</a:t>
            </a:r>
            <a:endParaRPr lang="en-US" altLang="fr-FR" sz="1800">
              <a:latin typeface="Arial" panose="020B0604020202020204" pitchFamily="34" charset="0"/>
            </a:endParaRPr>
          </a:p>
          <a:p>
            <a:pPr algn="just" eaLnBrk="1" hangingPunct="1">
              <a:spcBef>
                <a:spcPct val="0"/>
              </a:spcBef>
              <a:buClrTx/>
              <a:buSzTx/>
              <a:buFont typeface="Courier New" panose="02070309020205020404" pitchFamily="49" charset="0"/>
              <a:buChar char="o"/>
            </a:pPr>
            <a:endParaRPr lang="en-US" altLang="fr-FR" sz="1800">
              <a:latin typeface="Arial" panose="020B0604020202020204" pitchFamily="34" charset="0"/>
            </a:endParaRPr>
          </a:p>
          <a:p>
            <a:pPr algn="just" eaLnBrk="1" hangingPunct="1">
              <a:spcBef>
                <a:spcPct val="0"/>
              </a:spcBef>
              <a:buClrTx/>
              <a:buSzTx/>
              <a:buFont typeface="Courier New" panose="02070309020205020404" pitchFamily="49" charset="0"/>
              <a:buChar char="o"/>
            </a:pPr>
            <a:r>
              <a:rPr lang="fr-FR" altLang="fr-FR" sz="1800">
                <a:latin typeface="Arial" panose="020B0604020202020204" pitchFamily="34" charset="0"/>
              </a:rPr>
              <a:t>Faible exigence de service : ne nécessitent pas de service régulier, peu de composants soumis à l'usure, sauf les roulements. Cela signifie une longue durée de vie, généralement plus de vingt ans.</a:t>
            </a:r>
          </a:p>
        </p:txBody>
      </p:sp>
      <p:sp>
        <p:nvSpPr>
          <p:cNvPr id="28679" name="Rectangle 7"/>
          <p:cNvSpPr>
            <a:spLocks noChangeArrowheads="1"/>
          </p:cNvSpPr>
          <p:nvPr/>
        </p:nvSpPr>
        <p:spPr bwMode="auto">
          <a:xfrm>
            <a:off x="914400" y="3048000"/>
            <a:ext cx="769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Courier New" panose="02070309020205020404" pitchFamily="49" charset="0"/>
              <a:buChar char="o"/>
            </a:pPr>
            <a:r>
              <a:rPr lang="fr-FR" altLang="fr-FR" sz="1800">
                <a:latin typeface="Arial" panose="020B0604020202020204" pitchFamily="34" charset="0"/>
              </a:rPr>
              <a:t>Faible pertes à vide : à vide peu de puissance est dissipée puisque aucune huile ne doit être pompé pour maintenir la lubrification.</a:t>
            </a:r>
          </a:p>
        </p:txBody>
      </p:sp>
      <p:sp>
        <p:nvSpPr>
          <p:cNvPr id="28680" name="Rectangle 8"/>
          <p:cNvSpPr>
            <a:spLocks noChangeArrowheads="1"/>
          </p:cNvSpPr>
          <p:nvPr/>
        </p:nvSpPr>
        <p:spPr bwMode="auto">
          <a:xfrm>
            <a:off x="914400" y="4038600"/>
            <a:ext cx="7696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Courier New" panose="02070309020205020404" pitchFamily="49" charset="0"/>
              <a:buChar char="o"/>
            </a:pPr>
            <a:r>
              <a:rPr lang="fr-FR" altLang="fr-FR" sz="1800">
                <a:latin typeface="Arial" panose="020B0604020202020204" pitchFamily="34" charset="0"/>
              </a:rPr>
              <a:t>Très peu de bruit acoustique par rapport aux moteurs à combustion.</a:t>
            </a:r>
          </a:p>
        </p:txBody>
      </p:sp>
      <p:sp>
        <p:nvSpPr>
          <p:cNvPr id="28681" name="Rectangle 9"/>
          <p:cNvSpPr>
            <a:spLocks noChangeArrowheads="1"/>
          </p:cNvSpPr>
          <p:nvPr/>
        </p:nvSpPr>
        <p:spPr bwMode="auto">
          <a:xfrm>
            <a:off x="914400" y="4638675"/>
            <a:ext cx="7696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Courier New" panose="02070309020205020404" pitchFamily="49" charset="0"/>
              <a:buChar char="o"/>
            </a:pPr>
            <a:r>
              <a:rPr lang="en-US" altLang="fr-FR" sz="1800">
                <a:latin typeface="Arial" panose="020B0604020202020204" pitchFamily="34" charset="0"/>
              </a:rPr>
              <a:t>Possibilité de contrôle excellente: peuvent être dimensionnées conformément aux exigences de l’utilisateur.</a:t>
            </a:r>
          </a:p>
          <a:p>
            <a:pPr algn="just" eaLnBrk="1" hangingPunct="1">
              <a:spcBef>
                <a:spcPct val="0"/>
              </a:spcBef>
              <a:buClrTx/>
              <a:buSzTx/>
              <a:buFont typeface="Courier New" panose="02070309020205020404" pitchFamily="49" charset="0"/>
              <a:buChar char="o"/>
            </a:pPr>
            <a:endParaRPr lang="en-US" altLang="fr-FR" sz="1800">
              <a:latin typeface="Arial" panose="020B0604020202020204" pitchFamily="34" charset="0"/>
            </a:endParaRPr>
          </a:p>
          <a:p>
            <a:pPr algn="just" eaLnBrk="1" hangingPunct="1">
              <a:spcBef>
                <a:spcPct val="0"/>
              </a:spcBef>
              <a:buClrTx/>
              <a:buSzTx/>
              <a:buFont typeface="Courier New" panose="02070309020205020404" pitchFamily="49" charset="0"/>
              <a:buChar char="o"/>
            </a:pPr>
            <a:r>
              <a:rPr lang="en-US" altLang="fr-FR" sz="1800">
                <a:latin typeface="Arial" panose="020B0604020202020204" pitchFamily="34" charset="0"/>
              </a:rPr>
              <a:t>Possibilité de fonctionner en quatres quadrants. </a:t>
            </a:r>
            <a:endParaRPr lang="fr-FR" altLang="fr-FR" sz="1800">
              <a:latin typeface="Arial" panose="020B060402020202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30723" name="Espace réservé du numéro de diapositive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40401C9-848A-4E0E-B0EE-6B22C1ECABAA}" type="slidenum">
              <a:rPr lang="en-US" altLang="fr-FR" sz="1000" smtClean="0">
                <a:solidFill>
                  <a:srgbClr val="292929"/>
                </a:solidFill>
                <a:latin typeface="Arial" panose="020B0604020202020204" pitchFamily="34" charset="0"/>
              </a:rPr>
              <a:pPr>
                <a:spcBef>
                  <a:spcPct val="0"/>
                </a:spcBef>
                <a:buClrTx/>
                <a:buSzTx/>
                <a:buFontTx/>
                <a:buNone/>
              </a:pPr>
              <a:t>13</a:t>
            </a:fld>
            <a:endParaRPr lang="en-US" altLang="fr-FR" sz="1000" smtClean="0">
              <a:solidFill>
                <a:srgbClr val="292929"/>
              </a:solidFill>
              <a:latin typeface="Arial" panose="020B0604020202020204" pitchFamily="34" charset="0"/>
            </a:endParaRPr>
          </a:p>
        </p:txBody>
      </p:sp>
      <p:sp>
        <p:nvSpPr>
          <p:cNvPr id="30724"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30725" name="Text Box 5"/>
          <p:cNvSpPr txBox="1">
            <a:spLocks noChangeArrowheads="1"/>
          </p:cNvSpPr>
          <p:nvPr/>
        </p:nvSpPr>
        <p:spPr bwMode="auto">
          <a:xfrm>
            <a:off x="609600" y="838200"/>
            <a:ext cx="822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Entrainements électriques modernes  (Avec les convertisseurs statiques</a:t>
            </a:r>
          </a:p>
        </p:txBody>
      </p:sp>
      <p:sp>
        <p:nvSpPr>
          <p:cNvPr id="30726" name="Text Box 6"/>
          <p:cNvSpPr txBox="1">
            <a:spLocks noChangeArrowheads="1"/>
          </p:cNvSpPr>
          <p:nvPr/>
        </p:nvSpPr>
        <p:spPr bwMode="auto">
          <a:xfrm>
            <a:off x="1143000" y="4953000"/>
            <a:ext cx="34290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82625" indent="-45085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Char char="•"/>
            </a:pPr>
            <a:r>
              <a:rPr lang="en-US" altLang="fr-FR" sz="1800">
                <a:latin typeface="Arial" panose="020B0604020202020204" pitchFamily="34" charset="0"/>
              </a:rPr>
              <a:t>Taille réduite</a:t>
            </a:r>
          </a:p>
          <a:p>
            <a:pPr eaLnBrk="1" hangingPunct="1">
              <a:spcBef>
                <a:spcPct val="50000"/>
              </a:spcBef>
              <a:buClrTx/>
              <a:buSzTx/>
              <a:buFontTx/>
              <a:buChar char="•"/>
            </a:pPr>
            <a:r>
              <a:rPr lang="en-US" altLang="fr-FR" sz="1800">
                <a:latin typeface="Arial" panose="020B0604020202020204" pitchFamily="34" charset="0"/>
              </a:rPr>
              <a:t>Efficace</a:t>
            </a:r>
          </a:p>
          <a:p>
            <a:pPr eaLnBrk="1" hangingPunct="1">
              <a:spcBef>
                <a:spcPct val="50000"/>
              </a:spcBef>
              <a:buClrTx/>
              <a:buSzTx/>
              <a:buFontTx/>
              <a:buChar char="•"/>
            </a:pPr>
            <a:r>
              <a:rPr lang="en-US" altLang="fr-FR" sz="1800">
                <a:latin typeface="Arial" panose="020B0604020202020204" pitchFamily="34" charset="0"/>
              </a:rPr>
              <a:t>Flexible</a:t>
            </a:r>
          </a:p>
          <a:p>
            <a:pPr eaLnBrk="1" hangingPunct="1">
              <a:spcBef>
                <a:spcPct val="50000"/>
              </a:spcBef>
              <a:buClrTx/>
              <a:buSzTx/>
              <a:buFontTx/>
              <a:buChar char="•"/>
            </a:pPr>
            <a:r>
              <a:rPr lang="en-US" altLang="fr-FR" sz="1800">
                <a:latin typeface="Arial" panose="020B0604020202020204" pitchFamily="34" charset="0"/>
              </a:rPr>
              <a:t>Rendement élevé</a:t>
            </a:r>
          </a:p>
        </p:txBody>
      </p:sp>
      <p:sp>
        <p:nvSpPr>
          <p:cNvPr id="12" name="Espace réservé du pied de page 11"/>
          <p:cNvSpPr>
            <a:spLocks noGrp="1"/>
          </p:cNvSpPr>
          <p:nvPr>
            <p:ph type="ftr" sz="quarter" idx="11"/>
          </p:nvPr>
        </p:nvSpPr>
        <p:spPr/>
        <p:txBody>
          <a:bodyPr/>
          <a:lstStyle/>
          <a:p>
            <a:pPr>
              <a:defRPr/>
            </a:pPr>
            <a:r>
              <a:rPr lang="fr-FR" smtClean="0"/>
              <a:t>Commande des machines  1. Intro         Ali NEJMI</a:t>
            </a:r>
            <a:endParaRPr lang="fr-FR"/>
          </a:p>
        </p:txBody>
      </p:sp>
      <p:grpSp>
        <p:nvGrpSpPr>
          <p:cNvPr id="30728" name="Groupe 20"/>
          <p:cNvGrpSpPr>
            <a:grpSpLocks/>
          </p:cNvGrpSpPr>
          <p:nvPr/>
        </p:nvGrpSpPr>
        <p:grpSpPr bwMode="auto">
          <a:xfrm>
            <a:off x="533400" y="2286000"/>
            <a:ext cx="8207375" cy="2800350"/>
            <a:chOff x="533400" y="1600200"/>
            <a:chExt cx="8206800" cy="2800350"/>
          </a:xfrm>
        </p:grpSpPr>
        <p:pic>
          <p:nvPicPr>
            <p:cNvPr id="30731" name="Picture 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9600" y="1600200"/>
              <a:ext cx="811530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2" name="ZoneTexte 8"/>
            <p:cNvSpPr txBox="1">
              <a:spLocks noChangeArrowheads="1"/>
            </p:cNvSpPr>
            <p:nvPr/>
          </p:nvSpPr>
          <p:spPr bwMode="auto">
            <a:xfrm>
              <a:off x="2895600" y="1828800"/>
              <a:ext cx="1600200" cy="86400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FR" altLang="fr-FR" sz="1800">
                  <a:latin typeface="Arial" panose="020B0604020202020204" pitchFamily="34" charset="0"/>
                </a:rPr>
                <a:t>Convertisseur</a:t>
              </a:r>
            </a:p>
            <a:p>
              <a:pPr algn="ctr" eaLnBrk="1" hangingPunct="1">
                <a:spcBef>
                  <a:spcPct val="0"/>
                </a:spcBef>
                <a:buClrTx/>
                <a:buSzTx/>
                <a:buFontTx/>
                <a:buNone/>
              </a:pPr>
              <a:r>
                <a:rPr lang="fr-FR" altLang="fr-FR" sz="1800">
                  <a:latin typeface="Arial" panose="020B0604020202020204" pitchFamily="34" charset="0"/>
                </a:rPr>
                <a:t>statique</a:t>
              </a:r>
            </a:p>
          </p:txBody>
        </p:sp>
        <p:sp>
          <p:nvSpPr>
            <p:cNvPr id="30733" name="ZoneTexte 9"/>
            <p:cNvSpPr txBox="1">
              <a:spLocks noChangeArrowheads="1"/>
            </p:cNvSpPr>
            <p:nvPr/>
          </p:nvSpPr>
          <p:spPr bwMode="auto">
            <a:xfrm>
              <a:off x="609600" y="1981200"/>
              <a:ext cx="838200" cy="338554"/>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Source</a:t>
              </a:r>
            </a:p>
          </p:txBody>
        </p:sp>
        <p:sp>
          <p:nvSpPr>
            <p:cNvPr id="30734" name="ZoneTexte 12"/>
            <p:cNvSpPr txBox="1">
              <a:spLocks noChangeArrowheads="1"/>
            </p:cNvSpPr>
            <p:nvPr/>
          </p:nvSpPr>
          <p:spPr bwMode="auto">
            <a:xfrm>
              <a:off x="3048000" y="3352800"/>
              <a:ext cx="1368000" cy="61200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Unité de</a:t>
              </a:r>
            </a:p>
            <a:p>
              <a:pPr eaLnBrk="1" hangingPunct="1">
                <a:spcBef>
                  <a:spcPct val="0"/>
                </a:spcBef>
                <a:buClrTx/>
                <a:buSzTx/>
                <a:buFontTx/>
                <a:buNone/>
              </a:pPr>
              <a:r>
                <a:rPr lang="fr-FR" altLang="fr-FR" sz="1800">
                  <a:latin typeface="Arial" panose="020B0604020202020204" pitchFamily="34" charset="0"/>
                </a:rPr>
                <a:t>commande</a:t>
              </a:r>
            </a:p>
          </p:txBody>
        </p:sp>
        <p:sp>
          <p:nvSpPr>
            <p:cNvPr id="30735" name="ZoneTexte 14"/>
            <p:cNvSpPr txBox="1">
              <a:spLocks noChangeArrowheads="1"/>
            </p:cNvSpPr>
            <p:nvPr/>
          </p:nvSpPr>
          <p:spPr bwMode="auto">
            <a:xfrm>
              <a:off x="5181600" y="2895600"/>
              <a:ext cx="1752600" cy="92333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Contre</a:t>
              </a:r>
            </a:p>
            <a:p>
              <a:pPr eaLnBrk="1" hangingPunct="1">
                <a:spcBef>
                  <a:spcPct val="0"/>
                </a:spcBef>
                <a:buClrTx/>
                <a:buSzTx/>
                <a:buFontTx/>
                <a:buNone/>
              </a:pPr>
              <a:r>
                <a:rPr lang="fr-FR" altLang="fr-FR" sz="1800">
                  <a:latin typeface="Arial" panose="020B0604020202020204" pitchFamily="34" charset="0"/>
                </a:rPr>
                <a:t>Réaction</a:t>
              </a:r>
            </a:p>
            <a:p>
              <a:pPr eaLnBrk="1" hangingPunct="1">
                <a:spcBef>
                  <a:spcPct val="0"/>
                </a:spcBef>
                <a:buClrTx/>
                <a:buSzTx/>
                <a:buFontTx/>
                <a:buNone/>
              </a:pPr>
              <a:r>
                <a:rPr lang="fr-FR" altLang="fr-FR" sz="1800">
                  <a:latin typeface="Arial" panose="020B0604020202020204" pitchFamily="34" charset="0"/>
                </a:rPr>
                <a:t>(capteurs)</a:t>
              </a:r>
            </a:p>
          </p:txBody>
        </p:sp>
        <p:sp>
          <p:nvSpPr>
            <p:cNvPr id="30736" name="ZoneTexte 15"/>
            <p:cNvSpPr txBox="1">
              <a:spLocks noChangeArrowheads="1"/>
            </p:cNvSpPr>
            <p:nvPr/>
          </p:nvSpPr>
          <p:spPr bwMode="auto">
            <a:xfrm>
              <a:off x="533400" y="3429000"/>
              <a:ext cx="1524000" cy="369332"/>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Commande</a:t>
              </a:r>
            </a:p>
          </p:txBody>
        </p:sp>
        <p:sp>
          <p:nvSpPr>
            <p:cNvPr id="17" name="Ellipse 16"/>
            <p:cNvSpPr/>
            <p:nvPr/>
          </p:nvSpPr>
          <p:spPr>
            <a:xfrm>
              <a:off x="7695698" y="1676400"/>
              <a:ext cx="1044502" cy="1044575"/>
            </a:xfrm>
            <a:prstGeom prst="ellipse">
              <a:avLst/>
            </a:prstGeom>
            <a:blipFill>
              <a:blip r:embed="rId4"/>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30738" name="ZoneTexte 17"/>
            <p:cNvSpPr txBox="1">
              <a:spLocks noChangeArrowheads="1"/>
            </p:cNvSpPr>
            <p:nvPr/>
          </p:nvSpPr>
          <p:spPr bwMode="auto">
            <a:xfrm>
              <a:off x="7772400" y="1981200"/>
              <a:ext cx="864000" cy="4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Charge</a:t>
              </a:r>
            </a:p>
          </p:txBody>
        </p:sp>
        <p:sp>
          <p:nvSpPr>
            <p:cNvPr id="19" name="Ellipse 18"/>
            <p:cNvSpPr/>
            <p:nvPr/>
          </p:nvSpPr>
          <p:spPr>
            <a:xfrm>
              <a:off x="5867026" y="1752600"/>
              <a:ext cx="1044502" cy="1044575"/>
            </a:xfrm>
            <a:prstGeom prst="ellipse">
              <a:avLst/>
            </a:prstGeom>
            <a:blipFill>
              <a:blip r:embed="rId4"/>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30740" name="ZoneTexte 19"/>
            <p:cNvSpPr txBox="1">
              <a:spLocks noChangeArrowheads="1"/>
            </p:cNvSpPr>
            <p:nvPr/>
          </p:nvSpPr>
          <p:spPr bwMode="auto">
            <a:xfrm>
              <a:off x="5943600" y="2057400"/>
              <a:ext cx="864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Moteur</a:t>
              </a:r>
            </a:p>
          </p:txBody>
        </p:sp>
      </p:grpSp>
      <p:sp>
        <p:nvSpPr>
          <p:cNvPr id="30729" name="Text Box 6"/>
          <p:cNvSpPr txBox="1">
            <a:spLocks noChangeArrowheads="1"/>
          </p:cNvSpPr>
          <p:nvPr/>
        </p:nvSpPr>
        <p:spPr bwMode="auto">
          <a:xfrm>
            <a:off x="5105400" y="5045075"/>
            <a:ext cx="34290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82625" indent="-45085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Char char="•"/>
            </a:pPr>
            <a:r>
              <a:rPr lang="en-US" altLang="fr-FR" sz="1800">
                <a:latin typeface="Arial" panose="020B0604020202020204" pitchFamily="34" charset="0"/>
              </a:rPr>
              <a:t>Bruit réduit</a:t>
            </a:r>
          </a:p>
          <a:p>
            <a:pPr eaLnBrk="1" hangingPunct="1">
              <a:spcBef>
                <a:spcPct val="50000"/>
              </a:spcBef>
              <a:buClrTx/>
              <a:buSzTx/>
              <a:buFontTx/>
              <a:buChar char="•"/>
            </a:pPr>
            <a:r>
              <a:rPr lang="en-US" altLang="fr-FR" sz="1800">
                <a:latin typeface="Arial" panose="020B0604020202020204" pitchFamily="34" charset="0"/>
              </a:rPr>
              <a:t>Energie électrique facile à transporter</a:t>
            </a:r>
          </a:p>
          <a:p>
            <a:pPr eaLnBrk="1" hangingPunct="1">
              <a:spcBef>
                <a:spcPct val="50000"/>
              </a:spcBef>
              <a:buClrTx/>
              <a:buSzTx/>
              <a:buFontTx/>
              <a:buChar char="•"/>
            </a:pPr>
            <a:r>
              <a:rPr lang="en-US" altLang="fr-FR" sz="1800">
                <a:latin typeface="Arial" panose="020B0604020202020204" pitchFamily="34" charset="0"/>
              </a:rPr>
              <a:t>Opération propre</a:t>
            </a:r>
          </a:p>
        </p:txBody>
      </p:sp>
      <p:sp>
        <p:nvSpPr>
          <p:cNvPr id="30730" name="Rectangle 20"/>
          <p:cNvSpPr>
            <a:spLocks noChangeArrowheads="1"/>
          </p:cNvSpPr>
          <p:nvPr/>
        </p:nvSpPr>
        <p:spPr bwMode="auto">
          <a:xfrm>
            <a:off x="685800" y="1447800"/>
            <a:ext cx="8077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La tension et le le courant appliqués au moteur peuvent être changés en utilisant des convertisseurs électronique de puissance.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32771" name="Espace réservé du numéro de diapositive 1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053CB10-E643-4CA2-AD23-37F7C250A954}" type="slidenum">
              <a:rPr lang="en-US" altLang="fr-FR" sz="1000" smtClean="0">
                <a:solidFill>
                  <a:srgbClr val="292929"/>
                </a:solidFill>
                <a:latin typeface="Arial" panose="020B0604020202020204" pitchFamily="34" charset="0"/>
              </a:rPr>
              <a:pPr>
                <a:spcBef>
                  <a:spcPct val="0"/>
                </a:spcBef>
                <a:buClrTx/>
                <a:buSzTx/>
                <a:buFontTx/>
                <a:buNone/>
              </a:pPr>
              <a:t>14</a:t>
            </a:fld>
            <a:endParaRPr lang="en-US" altLang="fr-FR" sz="1000" smtClean="0">
              <a:solidFill>
                <a:srgbClr val="292929"/>
              </a:solidFill>
              <a:latin typeface="Arial" panose="020B0604020202020204" pitchFamily="34" charset="0"/>
            </a:endParaRPr>
          </a:p>
        </p:txBody>
      </p:sp>
      <p:sp>
        <p:nvSpPr>
          <p:cNvPr id="32772"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32773" name="Text Box 4"/>
          <p:cNvSpPr txBox="1">
            <a:spLocks noChangeArrowheads="1"/>
          </p:cNvSpPr>
          <p:nvPr/>
        </p:nvSpPr>
        <p:spPr bwMode="auto">
          <a:xfrm>
            <a:off x="690563" y="852488"/>
            <a:ext cx="43005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Entrainements électriques modernes </a:t>
            </a:r>
          </a:p>
        </p:txBody>
      </p:sp>
      <p:sp>
        <p:nvSpPr>
          <p:cNvPr id="32774" name="AutoShape 18"/>
          <p:cNvSpPr>
            <a:spLocks noChangeAspect="1" noChangeArrowheads="1"/>
          </p:cNvSpPr>
          <p:nvPr/>
        </p:nvSpPr>
        <p:spPr bwMode="auto">
          <a:xfrm>
            <a:off x="3352800" y="2743200"/>
            <a:ext cx="1879600" cy="2100263"/>
          </a:xfrm>
          <a:prstGeom prst="roundRect">
            <a:avLst>
              <a:gd name="adj" fmla="val 16667"/>
            </a:avLst>
          </a:pr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 name="Espace réservé du pied de page 17"/>
          <p:cNvSpPr>
            <a:spLocks noGrp="1"/>
          </p:cNvSpPr>
          <p:nvPr>
            <p:ph type="ftr" sz="quarter" idx="11"/>
          </p:nvPr>
        </p:nvSpPr>
        <p:spPr/>
        <p:txBody>
          <a:bodyPr/>
          <a:lstStyle/>
          <a:p>
            <a:pPr>
              <a:defRPr/>
            </a:pPr>
            <a:r>
              <a:rPr lang="fr-FR" smtClean="0"/>
              <a:t>Commande des machines  1. Intro         Ali NEJMI</a:t>
            </a:r>
            <a:endParaRPr lang="fr-FR"/>
          </a:p>
        </p:txBody>
      </p:sp>
      <p:sp>
        <p:nvSpPr>
          <p:cNvPr id="32" name="Text Box 25"/>
          <p:cNvSpPr txBox="1">
            <a:spLocks noChangeArrowheads="1"/>
          </p:cNvSpPr>
          <p:nvPr/>
        </p:nvSpPr>
        <p:spPr bwMode="auto">
          <a:xfrm>
            <a:off x="6172200" y="4419600"/>
            <a:ext cx="27733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solidFill>
                  <a:srgbClr val="FF3300"/>
                </a:solidFill>
                <a:latin typeface="Arial" panose="020B0604020202020204" pitchFamily="34" charset="0"/>
              </a:rPr>
              <a:t>Conception des Machines</a:t>
            </a:r>
          </a:p>
          <a:p>
            <a:pPr eaLnBrk="1" hangingPunct="1">
              <a:spcBef>
                <a:spcPct val="0"/>
              </a:spcBef>
              <a:buClrTx/>
              <a:buSzTx/>
              <a:buFontTx/>
              <a:buNone/>
            </a:pPr>
            <a:r>
              <a:rPr lang="en-US" altLang="fr-FR" sz="1200" b="1">
                <a:solidFill>
                  <a:srgbClr val="FF3300"/>
                </a:solidFill>
                <a:latin typeface="Arial" panose="020B0604020202020204" pitchFamily="34" charset="0"/>
              </a:rPr>
              <a:t>techniques sans capteur de vitesse</a:t>
            </a:r>
          </a:p>
          <a:p>
            <a:pPr eaLnBrk="1" hangingPunct="1">
              <a:spcBef>
                <a:spcPct val="0"/>
              </a:spcBef>
              <a:buClrTx/>
              <a:buSzTx/>
              <a:buFontTx/>
              <a:buNone/>
            </a:pPr>
            <a:r>
              <a:rPr lang="en-US" altLang="fr-FR" sz="1200" b="1">
                <a:solidFill>
                  <a:srgbClr val="FF3300"/>
                </a:solidFill>
                <a:latin typeface="Arial" panose="020B0604020202020204" pitchFamily="34" charset="0"/>
              </a:rPr>
              <a:t>Théorie des machines</a:t>
            </a:r>
          </a:p>
        </p:txBody>
      </p:sp>
      <p:grpSp>
        <p:nvGrpSpPr>
          <p:cNvPr id="2" name="Groupe 37"/>
          <p:cNvGrpSpPr>
            <a:grpSpLocks/>
          </p:cNvGrpSpPr>
          <p:nvPr/>
        </p:nvGrpSpPr>
        <p:grpSpPr bwMode="auto">
          <a:xfrm>
            <a:off x="1676400" y="2667000"/>
            <a:ext cx="6462713" cy="2239963"/>
            <a:chOff x="1676400" y="1219200"/>
            <a:chExt cx="6463200" cy="2240400"/>
          </a:xfrm>
        </p:grpSpPr>
        <p:sp>
          <p:nvSpPr>
            <p:cNvPr id="32781" name="AutoShape 20"/>
            <p:cNvSpPr>
              <a:spLocks noChangeAspect="1" noChangeArrowheads="1"/>
            </p:cNvSpPr>
            <p:nvPr/>
          </p:nvSpPr>
          <p:spPr bwMode="auto">
            <a:xfrm>
              <a:off x="1676400" y="1371600"/>
              <a:ext cx="1127125" cy="1008063"/>
            </a:xfrm>
            <a:prstGeom prst="roundRect">
              <a:avLst>
                <a:gd name="adj" fmla="val 16667"/>
              </a:avLst>
            </a:pr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nvGrpSpPr>
            <p:cNvPr id="32782" name="Groupe 36"/>
            <p:cNvGrpSpPr>
              <a:grpSpLocks/>
            </p:cNvGrpSpPr>
            <p:nvPr/>
          </p:nvGrpSpPr>
          <p:grpSpPr bwMode="auto">
            <a:xfrm>
              <a:off x="1752600" y="1219200"/>
              <a:ext cx="6387000" cy="2240400"/>
              <a:chOff x="1752600" y="1219200"/>
              <a:chExt cx="6387000" cy="2240400"/>
            </a:xfrm>
          </p:grpSpPr>
          <p:grpSp>
            <p:nvGrpSpPr>
              <p:cNvPr id="32783" name="Groupe 35"/>
              <p:cNvGrpSpPr>
                <a:grpSpLocks/>
              </p:cNvGrpSpPr>
              <p:nvPr/>
            </p:nvGrpSpPr>
            <p:grpSpPr bwMode="auto">
              <a:xfrm>
                <a:off x="1752600" y="1371600"/>
                <a:ext cx="6347760" cy="2088000"/>
                <a:chOff x="1752600" y="1371600"/>
                <a:chExt cx="6347760" cy="2088000"/>
              </a:xfrm>
            </p:grpSpPr>
            <p:pic>
              <p:nvPicPr>
                <p:cNvPr id="32785" name="Picture 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38016" y="1371600"/>
                  <a:ext cx="6050936" cy="20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ZoneTexte 20"/>
                <p:cNvSpPr txBox="1"/>
                <p:nvPr/>
              </p:nvSpPr>
              <p:spPr>
                <a:xfrm>
                  <a:off x="3741894" y="1541526"/>
                  <a:ext cx="1193890" cy="647826"/>
                </a:xfrm>
                <a:prstGeom prst="rect">
                  <a:avLst/>
                </a:prstGeom>
                <a:blipFill>
                  <a:blip r:embed="rId4"/>
                  <a:tile tx="0" ty="0" sx="100000" sy="100000" flip="none" algn="tl"/>
                </a:blipFill>
              </p:spPr>
              <p:txBody>
                <a:bodyPr>
                  <a:spAutoFit/>
                </a:bodyPr>
                <a:lstStyle/>
                <a:p>
                  <a:pPr algn="ctr" eaLnBrk="1" hangingPunct="1">
                    <a:defRPr/>
                  </a:pPr>
                  <a:r>
                    <a:rPr lang="fr-FR" sz="1050" dirty="0">
                      <a:latin typeface="Arial" charset="0"/>
                      <a:cs typeface="Arial" charset="0"/>
                    </a:rPr>
                    <a:t>Convertisseur</a:t>
                  </a:r>
                </a:p>
                <a:p>
                  <a:pPr algn="ctr" eaLnBrk="1" hangingPunct="1">
                    <a:defRPr/>
                  </a:pPr>
                  <a:r>
                    <a:rPr lang="fr-FR" sz="1050" dirty="0">
                      <a:latin typeface="Arial" charset="0"/>
                      <a:cs typeface="Arial" charset="0"/>
                    </a:rPr>
                    <a:t>statique</a:t>
                  </a:r>
                </a:p>
              </p:txBody>
            </p:sp>
            <p:sp>
              <p:nvSpPr>
                <p:cNvPr id="22" name="ZoneTexte 21"/>
                <p:cNvSpPr txBox="1"/>
                <p:nvPr/>
              </p:nvSpPr>
              <p:spPr>
                <a:xfrm>
                  <a:off x="1752606" y="1655848"/>
                  <a:ext cx="909707" cy="576374"/>
                </a:xfrm>
                <a:prstGeom prst="rect">
                  <a:avLst/>
                </a:prstGeom>
                <a:blipFill>
                  <a:blip r:embed="rId4"/>
                  <a:tile tx="0" ty="0" sx="100000" sy="100000" flip="none" algn="tl"/>
                </a:blipFill>
              </p:spPr>
              <p:txBody>
                <a:bodyPr>
                  <a:spAutoFit/>
                </a:bodyPr>
                <a:lstStyle/>
                <a:p>
                  <a:pPr algn="ctr" eaLnBrk="1" hangingPunct="1">
                    <a:defRPr/>
                  </a:pPr>
                  <a:r>
                    <a:rPr lang="fr-FR" sz="1050" dirty="0">
                      <a:latin typeface="Arial" charset="0"/>
                      <a:cs typeface="Arial" charset="0"/>
                    </a:rPr>
                    <a:t>Source</a:t>
                  </a:r>
                </a:p>
                <a:p>
                  <a:pPr algn="ctr" eaLnBrk="1" hangingPunct="1">
                    <a:defRPr/>
                  </a:pPr>
                  <a:r>
                    <a:rPr lang="fr-FR" sz="1050" dirty="0">
                      <a:latin typeface="Arial" charset="0"/>
                      <a:cs typeface="Arial" charset="0"/>
                    </a:rPr>
                    <a:t>de puissance</a:t>
                  </a:r>
                </a:p>
              </p:txBody>
            </p:sp>
            <p:sp>
              <p:nvSpPr>
                <p:cNvPr id="23" name="ZoneTexte 22"/>
                <p:cNvSpPr txBox="1"/>
                <p:nvPr/>
              </p:nvSpPr>
              <p:spPr>
                <a:xfrm>
                  <a:off x="3856202" y="2678398"/>
                  <a:ext cx="1019252" cy="416006"/>
                </a:xfrm>
                <a:prstGeom prst="rect">
                  <a:avLst/>
                </a:prstGeom>
                <a:blipFill>
                  <a:blip r:embed="rId4"/>
                  <a:tile tx="0" ty="0" sx="100000" sy="100000" flip="none" algn="tl"/>
                </a:blipFill>
              </p:spPr>
              <p:txBody>
                <a:bodyPr>
                  <a:spAutoFit/>
                </a:bodyPr>
                <a:lstStyle/>
                <a:p>
                  <a:pPr eaLnBrk="1" hangingPunct="1">
                    <a:defRPr/>
                  </a:pPr>
                  <a:r>
                    <a:rPr lang="fr-FR" sz="1050" dirty="0">
                      <a:latin typeface="Arial" charset="0"/>
                      <a:cs typeface="Arial" charset="0"/>
                    </a:rPr>
                    <a:t>Unité de</a:t>
                  </a:r>
                </a:p>
                <a:p>
                  <a:pPr eaLnBrk="1" hangingPunct="1">
                    <a:defRPr/>
                  </a:pPr>
                  <a:r>
                    <a:rPr lang="fr-FR" sz="1050" dirty="0">
                      <a:latin typeface="Arial" charset="0"/>
                      <a:cs typeface="Arial" charset="0"/>
                    </a:rPr>
                    <a:t>commande</a:t>
                  </a:r>
                </a:p>
              </p:txBody>
            </p:sp>
            <p:sp>
              <p:nvSpPr>
                <p:cNvPr id="24" name="ZoneTexte 23"/>
                <p:cNvSpPr txBox="1"/>
                <p:nvPr/>
              </p:nvSpPr>
              <p:spPr>
                <a:xfrm>
                  <a:off x="5105658" y="2286208"/>
                  <a:ext cx="838263" cy="416006"/>
                </a:xfrm>
                <a:prstGeom prst="rect">
                  <a:avLst/>
                </a:prstGeom>
                <a:blipFill>
                  <a:blip r:embed="rId4"/>
                  <a:tile tx="0" ty="0" sx="100000" sy="100000" flip="none" algn="tl"/>
                </a:blipFill>
              </p:spPr>
              <p:txBody>
                <a:bodyPr>
                  <a:spAutoFit/>
                </a:bodyPr>
                <a:lstStyle/>
                <a:p>
                  <a:pPr eaLnBrk="1" hangingPunct="1">
                    <a:defRPr/>
                  </a:pPr>
                  <a:r>
                    <a:rPr lang="fr-FR" sz="1050" dirty="0">
                      <a:latin typeface="Arial" charset="0"/>
                      <a:cs typeface="Arial" charset="0"/>
                    </a:rPr>
                    <a:t>Contre</a:t>
                  </a:r>
                </a:p>
                <a:p>
                  <a:pPr eaLnBrk="1" hangingPunct="1">
                    <a:defRPr/>
                  </a:pPr>
                  <a:r>
                    <a:rPr lang="fr-FR" sz="1050" dirty="0">
                      <a:latin typeface="Arial" charset="0"/>
                      <a:cs typeface="Arial" charset="0"/>
                    </a:rPr>
                    <a:t>réaction</a:t>
                  </a:r>
                </a:p>
              </p:txBody>
            </p:sp>
            <p:sp>
              <p:nvSpPr>
                <p:cNvPr id="25" name="ZoneTexte 24"/>
                <p:cNvSpPr txBox="1"/>
                <p:nvPr/>
              </p:nvSpPr>
              <p:spPr>
                <a:xfrm>
                  <a:off x="2667075" y="2591068"/>
                  <a:ext cx="1136736" cy="254050"/>
                </a:xfrm>
                <a:prstGeom prst="rect">
                  <a:avLst/>
                </a:prstGeom>
                <a:blipFill>
                  <a:blip r:embed="rId4"/>
                  <a:tile tx="0" ty="0" sx="100000" sy="100000" flip="none" algn="tl"/>
                </a:blipFill>
              </p:spPr>
              <p:txBody>
                <a:bodyPr>
                  <a:spAutoFit/>
                </a:bodyPr>
                <a:lstStyle/>
                <a:p>
                  <a:pPr eaLnBrk="1" hangingPunct="1">
                    <a:defRPr/>
                  </a:pPr>
                  <a:r>
                    <a:rPr lang="fr-FR" sz="1050" dirty="0">
                      <a:latin typeface="Arial" charset="0"/>
                      <a:cs typeface="Arial" charset="0"/>
                    </a:rPr>
                    <a:t>Commande</a:t>
                  </a:r>
                </a:p>
              </p:txBody>
            </p:sp>
            <p:sp>
              <p:nvSpPr>
                <p:cNvPr id="26" name="Ellipse 25"/>
                <p:cNvSpPr/>
                <p:nvPr/>
              </p:nvSpPr>
              <p:spPr>
                <a:xfrm>
                  <a:off x="7321975" y="1428791"/>
                  <a:ext cx="777934" cy="778027"/>
                </a:xfrm>
                <a:prstGeom prst="ellipse">
                  <a:avLst/>
                </a:prstGeom>
                <a:blipFill>
                  <a:blip r:embed="rId4"/>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1050"/>
                </a:p>
              </p:txBody>
            </p:sp>
            <p:sp>
              <p:nvSpPr>
                <p:cNvPr id="27" name="ZoneTexte 26"/>
                <p:cNvSpPr txBox="1"/>
                <p:nvPr/>
              </p:nvSpPr>
              <p:spPr>
                <a:xfrm>
                  <a:off x="7379130" y="1655848"/>
                  <a:ext cx="642986" cy="254050"/>
                </a:xfrm>
                <a:prstGeom prst="rect">
                  <a:avLst/>
                </a:prstGeom>
                <a:noFill/>
              </p:spPr>
              <p:txBody>
                <a:bodyPr>
                  <a:spAutoFit/>
                </a:bodyPr>
                <a:lstStyle/>
                <a:p>
                  <a:pPr eaLnBrk="1" hangingPunct="1">
                    <a:defRPr/>
                  </a:pPr>
                  <a:r>
                    <a:rPr lang="fr-FR" sz="1050" dirty="0">
                      <a:latin typeface="Arial" charset="0"/>
                      <a:cs typeface="Arial" charset="0"/>
                    </a:rPr>
                    <a:t>Charge</a:t>
                  </a:r>
                </a:p>
              </p:txBody>
            </p:sp>
            <p:sp>
              <p:nvSpPr>
                <p:cNvPr id="28" name="Ellipse 27"/>
                <p:cNvSpPr/>
                <p:nvPr/>
              </p:nvSpPr>
              <p:spPr>
                <a:xfrm>
                  <a:off x="5958211" y="1485952"/>
                  <a:ext cx="777934" cy="778027"/>
                </a:xfrm>
                <a:prstGeom prst="ellipse">
                  <a:avLst/>
                </a:prstGeom>
                <a:blipFill>
                  <a:blip r:embed="rId4"/>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1050"/>
                </a:p>
              </p:txBody>
            </p:sp>
            <p:sp>
              <p:nvSpPr>
                <p:cNvPr id="29" name="ZoneTexte 28"/>
                <p:cNvSpPr txBox="1"/>
                <p:nvPr/>
              </p:nvSpPr>
              <p:spPr>
                <a:xfrm>
                  <a:off x="6015365" y="1713010"/>
                  <a:ext cx="642985" cy="252461"/>
                </a:xfrm>
                <a:prstGeom prst="rect">
                  <a:avLst/>
                </a:prstGeom>
                <a:noFill/>
              </p:spPr>
              <p:txBody>
                <a:bodyPr>
                  <a:spAutoFit/>
                </a:bodyPr>
                <a:lstStyle/>
                <a:p>
                  <a:pPr eaLnBrk="1" hangingPunct="1">
                    <a:defRPr/>
                  </a:pPr>
                  <a:r>
                    <a:rPr lang="fr-FR" sz="1050" dirty="0">
                      <a:latin typeface="Arial" charset="0"/>
                      <a:cs typeface="Arial" charset="0"/>
                    </a:rPr>
                    <a:t>Moteur</a:t>
                  </a:r>
                </a:p>
              </p:txBody>
            </p:sp>
            <p:sp>
              <p:nvSpPr>
                <p:cNvPr id="32795" name="ZoneTexte 29"/>
                <p:cNvSpPr txBox="1">
                  <a:spLocks noChangeArrowheads="1"/>
                </p:cNvSpPr>
                <p:nvPr/>
              </p:nvSpPr>
              <p:spPr bwMode="auto">
                <a:xfrm>
                  <a:off x="2286000" y="2819400"/>
                  <a:ext cx="685800" cy="369332"/>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32784" name="AutoShape 18"/>
              <p:cNvSpPr>
                <a:spLocks noChangeArrowheads="1"/>
              </p:cNvSpPr>
              <p:nvPr/>
            </p:nvSpPr>
            <p:spPr bwMode="auto">
              <a:xfrm>
                <a:off x="5943600" y="1219200"/>
                <a:ext cx="2196000" cy="1692000"/>
              </a:xfrm>
              <a:prstGeom prst="roundRect">
                <a:avLst>
                  <a:gd name="adj" fmla="val 16667"/>
                </a:avLst>
              </a:pr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sp>
        <p:nvSpPr>
          <p:cNvPr id="39" name="Text Box 26"/>
          <p:cNvSpPr txBox="1">
            <a:spLocks noChangeArrowheads="1"/>
          </p:cNvSpPr>
          <p:nvPr/>
        </p:nvSpPr>
        <p:spPr bwMode="auto">
          <a:xfrm>
            <a:off x="3352800" y="4953000"/>
            <a:ext cx="27003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solidFill>
                  <a:srgbClr val="FF3300"/>
                </a:solidFill>
                <a:latin typeface="Arial" panose="020B0604020202020204" pitchFamily="34" charset="0"/>
              </a:rPr>
              <a:t>Commande linéaire et non-linéaire</a:t>
            </a:r>
          </a:p>
          <a:p>
            <a:pPr eaLnBrk="1" hangingPunct="1">
              <a:spcBef>
                <a:spcPct val="0"/>
              </a:spcBef>
              <a:buClrTx/>
              <a:buSzTx/>
              <a:buFontTx/>
              <a:buNone/>
            </a:pPr>
            <a:r>
              <a:rPr lang="en-US" altLang="fr-FR" sz="1200" b="1">
                <a:solidFill>
                  <a:srgbClr val="FF3300"/>
                </a:solidFill>
                <a:latin typeface="Arial" panose="020B0604020202020204" pitchFamily="34" charset="0"/>
              </a:rPr>
              <a:t>Contôle à temps réel</a:t>
            </a:r>
          </a:p>
          <a:p>
            <a:pPr eaLnBrk="1" hangingPunct="1">
              <a:spcBef>
                <a:spcPct val="0"/>
              </a:spcBef>
              <a:buClrTx/>
              <a:buSzTx/>
              <a:buFontTx/>
              <a:buNone/>
            </a:pPr>
            <a:r>
              <a:rPr lang="en-US" altLang="fr-FR" sz="1200" b="1">
                <a:solidFill>
                  <a:srgbClr val="FF3300"/>
                </a:solidFill>
                <a:latin typeface="Arial" panose="020B0604020202020204" pitchFamily="34" charset="0"/>
              </a:rPr>
              <a:t>DSP – contrôle numérique</a:t>
            </a:r>
          </a:p>
          <a:p>
            <a:pPr eaLnBrk="1" hangingPunct="1">
              <a:spcBef>
                <a:spcPct val="0"/>
              </a:spcBef>
              <a:buClrTx/>
              <a:buSzTx/>
              <a:buFontTx/>
              <a:buNone/>
            </a:pPr>
            <a:r>
              <a:rPr lang="en-US" altLang="fr-FR" sz="1200" b="1">
                <a:solidFill>
                  <a:srgbClr val="FF3300"/>
                </a:solidFill>
                <a:latin typeface="Arial" panose="020B0604020202020204" pitchFamily="34" charset="0"/>
              </a:rPr>
              <a:t>Capteurs</a:t>
            </a:r>
          </a:p>
          <a:p>
            <a:pPr eaLnBrk="1" hangingPunct="1">
              <a:spcBef>
                <a:spcPct val="0"/>
              </a:spcBef>
              <a:buClrTx/>
              <a:buSzTx/>
              <a:buFontTx/>
              <a:buNone/>
            </a:pPr>
            <a:r>
              <a:rPr lang="en-US" altLang="fr-FR" sz="1200" b="1">
                <a:solidFill>
                  <a:srgbClr val="FF3300"/>
                </a:solidFill>
                <a:latin typeface="Arial" panose="020B0604020202020204" pitchFamily="34" charset="0"/>
              </a:rPr>
              <a:t>Sans capteur de vitesse  </a:t>
            </a:r>
          </a:p>
          <a:p>
            <a:pPr eaLnBrk="1" hangingPunct="1">
              <a:spcBef>
                <a:spcPct val="0"/>
              </a:spcBef>
              <a:buClrTx/>
              <a:buSzTx/>
              <a:buFontTx/>
              <a:buNone/>
            </a:pPr>
            <a:r>
              <a:rPr lang="en-US" altLang="fr-FR" sz="1200" b="1">
                <a:solidFill>
                  <a:srgbClr val="FF3300"/>
                </a:solidFill>
                <a:latin typeface="Arial" panose="020B0604020202020204" pitchFamily="34" charset="0"/>
              </a:rPr>
              <a:t>Convertisseurs statiques </a:t>
            </a:r>
          </a:p>
        </p:txBody>
      </p:sp>
      <p:sp>
        <p:nvSpPr>
          <p:cNvPr id="40" name="Text Box 27"/>
          <p:cNvSpPr txBox="1">
            <a:spLocks noChangeArrowheads="1"/>
          </p:cNvSpPr>
          <p:nvPr/>
        </p:nvSpPr>
        <p:spPr bwMode="auto">
          <a:xfrm>
            <a:off x="533400" y="3962400"/>
            <a:ext cx="1911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solidFill>
                  <a:srgbClr val="FF3300"/>
                </a:solidFill>
                <a:latin typeface="Arial" panose="020B0604020202020204" pitchFamily="34" charset="0"/>
              </a:rPr>
              <a:t>Interface réseau</a:t>
            </a:r>
          </a:p>
          <a:p>
            <a:pPr eaLnBrk="1" hangingPunct="1">
              <a:spcBef>
                <a:spcPct val="0"/>
              </a:spcBef>
              <a:buClrTx/>
              <a:buSzTx/>
              <a:buFontTx/>
              <a:buNone/>
            </a:pPr>
            <a:r>
              <a:rPr lang="en-US" altLang="fr-FR" sz="1200" b="1">
                <a:solidFill>
                  <a:srgbClr val="FF3300"/>
                </a:solidFill>
                <a:latin typeface="Arial" panose="020B0604020202020204" pitchFamily="34" charset="0"/>
              </a:rPr>
              <a:t>Energies renouvelables</a:t>
            </a:r>
          </a:p>
        </p:txBody>
      </p:sp>
      <p:sp>
        <p:nvSpPr>
          <p:cNvPr id="32780" name="Rectangle 29"/>
          <p:cNvSpPr>
            <a:spLocks noChangeArrowheads="1"/>
          </p:cNvSpPr>
          <p:nvPr/>
        </p:nvSpPr>
        <p:spPr bwMode="auto">
          <a:xfrm>
            <a:off x="685800" y="1447800"/>
            <a:ext cx="7772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Les entrainements électriques est un champ multidisciplinaire: divers domaines de recherche comme indiqué dans la figure.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checkerboard(across)">
                                      <p:cBhvr>
                                        <p:cTn id="12" dur="500"/>
                                        <p:tgtEl>
                                          <p:spTgt spid="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checkerboard(across)">
                                      <p:cBhvr>
                                        <p:cTn id="17" dur="500"/>
                                        <p:tgtEl>
                                          <p:spTgt spid="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checkerboard(across)">
                                      <p:cBhvr>
                                        <p:cTn id="2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9" grpId="0"/>
      <p:bldP spid="4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34819"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EE37EA7-537F-4FD0-AC19-BFEAE5537D72}" type="slidenum">
              <a:rPr lang="en-US" altLang="fr-FR" sz="1000" smtClean="0">
                <a:solidFill>
                  <a:srgbClr val="292929"/>
                </a:solidFill>
                <a:latin typeface="Arial" panose="020B0604020202020204" pitchFamily="34" charset="0"/>
              </a:rPr>
              <a:pPr>
                <a:spcBef>
                  <a:spcPct val="0"/>
                </a:spcBef>
                <a:buClrTx/>
                <a:buSzTx/>
                <a:buFontTx/>
                <a:buNone/>
              </a:pPr>
              <a:t>15</a:t>
            </a:fld>
            <a:endParaRPr lang="en-US" altLang="fr-FR" sz="1000" smtClean="0">
              <a:solidFill>
                <a:srgbClr val="292929"/>
              </a:solidFill>
              <a:latin typeface="Arial" panose="020B0604020202020204" pitchFamily="34" charset="0"/>
            </a:endParaRPr>
          </a:p>
        </p:txBody>
      </p:sp>
      <p:sp>
        <p:nvSpPr>
          <p:cNvPr id="34820" name="Rectangle 3"/>
          <p:cNvSpPr>
            <a:spLocks noChangeArrowheads="1"/>
          </p:cNvSpPr>
          <p:nvPr/>
        </p:nvSpPr>
        <p:spPr bwMode="auto">
          <a:xfrm>
            <a:off x="609600" y="1828800"/>
            <a:ext cx="80010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La conception des systèmes d'entraînement électrique est une tâche assez</a:t>
            </a:r>
          </a:p>
          <a:p>
            <a:pPr algn="just" eaLnBrk="1" hangingPunct="1">
              <a:spcBef>
                <a:spcPct val="0"/>
              </a:spcBef>
              <a:buClrTx/>
              <a:buSzTx/>
              <a:buFontTx/>
              <a:buNone/>
            </a:pPr>
            <a:r>
              <a:rPr lang="fr-FR" altLang="fr-FR" sz="1800">
                <a:latin typeface="Arial" panose="020B0604020202020204" pitchFamily="34" charset="0"/>
              </a:rPr>
              <a:t>difficile. Ceci s'explique non seulement par la </a:t>
            </a:r>
            <a:r>
              <a:rPr lang="fr-FR" altLang="fr-FR" sz="1800" b="1">
                <a:latin typeface="Arial" panose="020B0604020202020204" pitchFamily="34" charset="0"/>
              </a:rPr>
              <a:t>grande diversité des procédés industriels, </a:t>
            </a:r>
            <a:r>
              <a:rPr lang="fr-FR" altLang="fr-FR" sz="1800">
                <a:latin typeface="Arial" panose="020B0604020202020204" pitchFamily="34" charset="0"/>
              </a:rPr>
              <a:t>mais aussi par la nature distincte et souvent non linéaire des éléments (convertisseurs électroniques de puissance, moteurs électriques, unités de commande, parties mécaniques) entrant dans leur structure.</a:t>
            </a:r>
          </a:p>
          <a:p>
            <a:pPr algn="just" eaLnBrk="1" hangingPunct="1">
              <a:spcBef>
                <a:spcPct val="0"/>
              </a:spcBef>
              <a:buClrTx/>
              <a:buSzTx/>
              <a:buFontTx/>
              <a:buNone/>
            </a:pPr>
            <a:r>
              <a:rPr lang="fr-FR" altLang="fr-FR" sz="1800">
                <a:latin typeface="Arial" panose="020B0604020202020204" pitchFamily="34" charset="0"/>
              </a:rPr>
              <a:t>La conception d'un entraînement fiable et performant exige une analyse globale du système. Aussi, les connaissances nécessaires sont issues de domaines assez distincts de l'ingénierie moderne. La conception des entraînements électriques nécessite souvent une analyse très poussée par le spécialiste du domaine.</a:t>
            </a:r>
          </a:p>
        </p:txBody>
      </p:sp>
      <p:sp>
        <p:nvSpPr>
          <p:cNvPr id="5"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34822"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34823" name="Text Box 4"/>
          <p:cNvSpPr txBox="1">
            <a:spLocks noChangeArrowheads="1"/>
          </p:cNvSpPr>
          <p:nvPr/>
        </p:nvSpPr>
        <p:spPr bwMode="auto">
          <a:xfrm>
            <a:off x="685800" y="838200"/>
            <a:ext cx="4300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Entrainements électriques modernes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36867"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2CE3822-9294-4ED7-814B-AA42D19A625C}" type="slidenum">
              <a:rPr lang="en-US" altLang="fr-FR" sz="1000" smtClean="0">
                <a:solidFill>
                  <a:srgbClr val="292929"/>
                </a:solidFill>
                <a:latin typeface="Arial" panose="020B0604020202020204" pitchFamily="34" charset="0"/>
              </a:rPr>
              <a:pPr>
                <a:spcBef>
                  <a:spcPct val="0"/>
                </a:spcBef>
                <a:buClrTx/>
                <a:buSzTx/>
                <a:buFontTx/>
                <a:buNone/>
              </a:pPr>
              <a:t>16</a:t>
            </a:fld>
            <a:endParaRPr lang="en-US" altLang="fr-FR" sz="1000" smtClean="0">
              <a:solidFill>
                <a:srgbClr val="292929"/>
              </a:solidFill>
              <a:latin typeface="Arial" panose="020B0604020202020204" pitchFamily="34" charset="0"/>
            </a:endParaRPr>
          </a:p>
        </p:txBody>
      </p:sp>
      <p:sp>
        <p:nvSpPr>
          <p:cNvPr id="36868"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36869" name="Text Box 4"/>
          <p:cNvSpPr txBox="1">
            <a:spLocks noChangeArrowheads="1"/>
          </p:cNvSpPr>
          <p:nvPr/>
        </p:nvSpPr>
        <p:spPr bwMode="auto">
          <a:xfrm>
            <a:off x="685800" y="762000"/>
            <a:ext cx="609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Composantes des Entrainements électriques </a:t>
            </a:r>
          </a:p>
        </p:txBody>
      </p:sp>
      <p:sp>
        <p:nvSpPr>
          <p:cNvPr id="36870" name="Text Box 5"/>
          <p:cNvSpPr txBox="1">
            <a:spLocks noChangeArrowheads="1"/>
          </p:cNvSpPr>
          <p:nvPr/>
        </p:nvSpPr>
        <p:spPr bwMode="auto">
          <a:xfrm>
            <a:off x="1143000" y="1219200"/>
            <a:ext cx="70866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1775" indent="-2317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u="sng">
                <a:latin typeface="Arial" panose="020B0604020202020204" pitchFamily="34" charset="0"/>
              </a:rPr>
              <a:t>Moteurs</a:t>
            </a:r>
          </a:p>
          <a:p>
            <a:pPr eaLnBrk="1" hangingPunct="1">
              <a:spcBef>
                <a:spcPct val="0"/>
              </a:spcBef>
              <a:buClrTx/>
              <a:buSzTx/>
              <a:buFontTx/>
              <a:buChar char="•"/>
            </a:pPr>
            <a:r>
              <a:rPr lang="en-US" altLang="fr-FR" sz="1800">
                <a:latin typeface="Arial" panose="020B0604020202020204" pitchFamily="34" charset="0"/>
              </a:rPr>
              <a:t>Moteurs DC : à aimant permanent– à inducteur bobiné</a:t>
            </a:r>
          </a:p>
          <a:p>
            <a:pPr eaLnBrk="1" hangingPunct="1">
              <a:spcBef>
                <a:spcPct val="0"/>
              </a:spcBef>
              <a:buClrTx/>
              <a:buSzTx/>
              <a:buFontTx/>
              <a:buChar char="•"/>
            </a:pPr>
            <a:r>
              <a:rPr lang="en-US" altLang="fr-FR" sz="1800">
                <a:latin typeface="Arial" panose="020B0604020202020204" pitchFamily="34" charset="0"/>
              </a:rPr>
              <a:t>Moteurs AC : asynchrone (à cage, rotor bobiné), synchrone (aimant, rotor saillant ou lisse), </a:t>
            </a:r>
          </a:p>
          <a:p>
            <a:pPr eaLnBrk="1" hangingPunct="1">
              <a:spcBef>
                <a:spcPct val="0"/>
              </a:spcBef>
              <a:buClrTx/>
              <a:buSzTx/>
              <a:buFontTx/>
              <a:buChar char="•"/>
            </a:pPr>
            <a:r>
              <a:rPr lang="en-US" altLang="fr-FR" sz="1800">
                <a:latin typeface="Arial" panose="020B0604020202020204" pitchFamily="34" charset="0"/>
              </a:rPr>
              <a:t>Moteurs DC sans balais</a:t>
            </a:r>
          </a:p>
          <a:p>
            <a:pPr eaLnBrk="1" hangingPunct="1">
              <a:spcBef>
                <a:spcPct val="0"/>
              </a:spcBef>
              <a:buClrTx/>
              <a:buSzTx/>
              <a:buFontTx/>
              <a:buChar char="•"/>
            </a:pPr>
            <a:r>
              <a:rPr lang="en-US" altLang="fr-FR" sz="1800">
                <a:latin typeface="Arial" panose="020B0604020202020204" pitchFamily="34" charset="0"/>
              </a:rPr>
              <a:t>Moteurs pas à pas</a:t>
            </a:r>
          </a:p>
          <a:p>
            <a:pPr eaLnBrk="1" hangingPunct="1">
              <a:spcBef>
                <a:spcPct val="0"/>
              </a:spcBef>
              <a:buClrTx/>
              <a:buSzTx/>
              <a:buFontTx/>
              <a:buChar char="•"/>
            </a:pPr>
            <a:r>
              <a:rPr lang="en-US" altLang="fr-FR" sz="1800">
                <a:latin typeface="Arial" panose="020B0604020202020204" pitchFamily="34" charset="0"/>
              </a:rPr>
              <a:t>Moteur synchrone réluctant</a:t>
            </a:r>
          </a:p>
        </p:txBody>
      </p:sp>
      <p:sp>
        <p:nvSpPr>
          <p:cNvPr id="36871" name="Text Box 6"/>
          <p:cNvSpPr txBox="1">
            <a:spLocks noChangeArrowheads="1"/>
          </p:cNvSpPr>
          <p:nvPr/>
        </p:nvSpPr>
        <p:spPr bwMode="auto">
          <a:xfrm>
            <a:off x="1143000" y="3371850"/>
            <a:ext cx="7467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1775" indent="-2317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u="sng">
                <a:latin typeface="Arial" panose="020B0604020202020204" pitchFamily="34" charset="0"/>
              </a:rPr>
              <a:t>Sources de puissances</a:t>
            </a:r>
          </a:p>
          <a:p>
            <a:pPr eaLnBrk="1" hangingPunct="1">
              <a:spcBef>
                <a:spcPct val="0"/>
              </a:spcBef>
              <a:buClrTx/>
              <a:buSzTx/>
              <a:buFont typeface="Arial" panose="020B0604020202020204" pitchFamily="34" charset="0"/>
              <a:buChar char="•"/>
            </a:pPr>
            <a:r>
              <a:rPr lang="en-US" altLang="fr-FR" sz="1800">
                <a:latin typeface="Arial" panose="020B0604020202020204" pitchFamily="34" charset="0"/>
              </a:rPr>
              <a:t>A fréquence et amplitude fixes</a:t>
            </a:r>
          </a:p>
          <a:p>
            <a:pPr eaLnBrk="1" hangingPunct="1">
              <a:spcBef>
                <a:spcPct val="0"/>
              </a:spcBef>
              <a:buClrTx/>
              <a:buSzTx/>
              <a:buFontTx/>
              <a:buChar char="•"/>
            </a:pPr>
            <a:r>
              <a:rPr lang="en-US" altLang="fr-FR" sz="1800">
                <a:latin typeface="Arial" panose="020B0604020202020204" pitchFamily="34" charset="0"/>
              </a:rPr>
              <a:t>DC : batteries, pille à combustible, photovoltaique </a:t>
            </a:r>
          </a:p>
          <a:p>
            <a:pPr eaLnBrk="1" hangingPunct="1">
              <a:spcBef>
                <a:spcPct val="0"/>
              </a:spcBef>
              <a:buClrTx/>
              <a:buSzTx/>
              <a:buFontTx/>
              <a:buChar char="•"/>
            </a:pPr>
            <a:r>
              <a:rPr lang="en-US" altLang="fr-FR" sz="1800">
                <a:latin typeface="Arial" panose="020B0604020202020204" pitchFamily="34" charset="0"/>
              </a:rPr>
              <a:t>AC  : Réseau monophasé ou thriphasé, aérogénérateur </a:t>
            </a:r>
          </a:p>
        </p:txBody>
      </p:sp>
      <p:sp>
        <p:nvSpPr>
          <p:cNvPr id="36872" name="Text Box 7"/>
          <p:cNvSpPr txBox="1">
            <a:spLocks noChangeArrowheads="1"/>
          </p:cNvSpPr>
          <p:nvPr/>
        </p:nvSpPr>
        <p:spPr bwMode="auto">
          <a:xfrm>
            <a:off x="1143000" y="4722813"/>
            <a:ext cx="708660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1775" indent="-2317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u="sng">
                <a:latin typeface="Arial" panose="020B0604020202020204" pitchFamily="34" charset="0"/>
              </a:rPr>
              <a:t>Convertisseur de puissance</a:t>
            </a:r>
          </a:p>
          <a:p>
            <a:pPr eaLnBrk="1" hangingPunct="1">
              <a:spcBef>
                <a:spcPct val="0"/>
              </a:spcBef>
              <a:buClrTx/>
              <a:buSzTx/>
              <a:buFontTx/>
              <a:buChar char="•"/>
            </a:pPr>
            <a:r>
              <a:rPr lang="en-US" altLang="fr-FR" sz="1800">
                <a:latin typeface="Arial" panose="020B0604020202020204" pitchFamily="34" charset="0"/>
              </a:rPr>
              <a:t>Assurer une alimentation en puissance réglée</a:t>
            </a:r>
          </a:p>
          <a:p>
            <a:pPr eaLnBrk="1" hangingPunct="1">
              <a:spcBef>
                <a:spcPct val="0"/>
              </a:spcBef>
              <a:buClrTx/>
              <a:buSzTx/>
              <a:buFontTx/>
              <a:buChar char="•"/>
            </a:pPr>
            <a:r>
              <a:rPr lang="en-US" altLang="fr-FR" sz="1800">
                <a:latin typeface="Arial" panose="020B0604020202020204" pitchFamily="34" charset="0"/>
              </a:rPr>
              <a:t>Combinaison de convertisseurs statiques</a:t>
            </a:r>
          </a:p>
        </p:txBody>
      </p:sp>
      <p:sp>
        <p:nvSpPr>
          <p:cNvPr id="11" name="Espace réservé du pied de page 10"/>
          <p:cNvSpPr>
            <a:spLocks noGrp="1"/>
          </p:cNvSpPr>
          <p:nvPr>
            <p:ph type="ftr" sz="quarter" idx="11"/>
          </p:nvPr>
        </p:nvSpPr>
        <p:spPr/>
        <p:txBody>
          <a:bodyPr/>
          <a:lstStyle/>
          <a:p>
            <a:pPr>
              <a:defRPr/>
            </a:pPr>
            <a:r>
              <a:rPr lang="fr-FR" smtClean="0"/>
              <a:t>Commande des machines  1. Intro         Ali NEJMI</a:t>
            </a:r>
            <a:endParaRPr lang="fr-FR"/>
          </a:p>
        </p:txBody>
      </p:sp>
      <p:sp>
        <p:nvSpPr>
          <p:cNvPr id="36874" name="Rectangle 11"/>
          <p:cNvSpPr>
            <a:spLocks noChangeArrowheads="1"/>
          </p:cNvSpPr>
          <p:nvPr/>
        </p:nvSpPr>
        <p:spPr bwMode="auto">
          <a:xfrm>
            <a:off x="838200" y="5649913"/>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7338" indent="176213">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Char char="•"/>
            </a:pPr>
            <a:r>
              <a:rPr lang="en-US" altLang="fr-FR" sz="1800">
                <a:latin typeface="Arial" panose="020B0604020202020204" pitchFamily="34" charset="0"/>
              </a:rPr>
              <a:t>AC-DC    DC-DC   DC-AC    AC-AC</a:t>
            </a:r>
            <a:endParaRPr lang="fr-FR" altLang="fr-FR" sz="1800">
              <a:latin typeface="Arial" panose="020B060402020202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3891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590A0BE-8FEB-455F-8182-1AF03B662460}" type="slidenum">
              <a:rPr lang="en-US" altLang="fr-FR" sz="1000" smtClean="0">
                <a:solidFill>
                  <a:srgbClr val="292929"/>
                </a:solidFill>
                <a:latin typeface="Arial" panose="020B0604020202020204" pitchFamily="34" charset="0"/>
              </a:rPr>
              <a:pPr>
                <a:spcBef>
                  <a:spcPct val="0"/>
                </a:spcBef>
                <a:buClrTx/>
                <a:buSzTx/>
                <a:buFontTx/>
                <a:buNone/>
              </a:pPr>
              <a:t>17</a:t>
            </a:fld>
            <a:endParaRPr lang="en-US" altLang="fr-FR" sz="1000" smtClean="0">
              <a:solidFill>
                <a:srgbClr val="292929"/>
              </a:solidFill>
              <a:latin typeface="Arial" panose="020B0604020202020204" pitchFamily="34" charset="0"/>
            </a:endParaRPr>
          </a:p>
        </p:txBody>
      </p:sp>
      <p:sp>
        <p:nvSpPr>
          <p:cNvPr id="4" name="Rectangle 3"/>
          <p:cNvSpPr/>
          <p:nvPr/>
        </p:nvSpPr>
        <p:spPr>
          <a:xfrm>
            <a:off x="685800" y="1433513"/>
            <a:ext cx="7239000" cy="4524375"/>
          </a:xfrm>
          <a:prstGeom prst="rect">
            <a:avLst/>
          </a:prstGeom>
        </p:spPr>
        <p:txBody>
          <a:bodyPr>
            <a:spAutoFit/>
          </a:bodyPr>
          <a:lstStyle/>
          <a:p>
            <a:pPr indent="180975">
              <a:tabLst>
                <a:tab pos="360363" algn="l"/>
              </a:tabLst>
              <a:defRPr/>
            </a:pPr>
            <a:r>
              <a:rPr lang="fr-FR" b="1" dirty="0">
                <a:solidFill>
                  <a:srgbClr val="CC6600"/>
                </a:solidFill>
              </a:rPr>
              <a:t>Avantages des convertisseurs électroniques </a:t>
            </a:r>
            <a:r>
              <a:rPr lang="fr-FR" dirty="0"/>
              <a:t>:</a:t>
            </a:r>
          </a:p>
          <a:p>
            <a:pPr indent="180975">
              <a:buFontTx/>
              <a:buChar char="•"/>
              <a:tabLst>
                <a:tab pos="360363" algn="l"/>
              </a:tabLst>
              <a:defRPr/>
            </a:pPr>
            <a:endParaRPr lang="fr-FR" dirty="0">
              <a:ea typeface="Times New Roman" pitchFamily="18" charset="0"/>
            </a:endParaRPr>
          </a:p>
          <a:p>
            <a:pPr marL="722313" indent="-176213" algn="just">
              <a:buFont typeface="Arial" pitchFamily="34" charset="0"/>
              <a:buChar char="•"/>
              <a:tabLst>
                <a:tab pos="360363" algn="l"/>
              </a:tabLst>
              <a:defRPr/>
            </a:pPr>
            <a:r>
              <a:rPr lang="fr-FR" dirty="0">
                <a:ea typeface="Times New Roman" pitchFamily="18" charset="0"/>
              </a:rPr>
              <a:t>diminution des pertes mécaniques présentes dans les variateurs mécaniques (poulies et courroies, engrenages),</a:t>
            </a:r>
          </a:p>
          <a:p>
            <a:pPr marL="722313" indent="-176213" algn="just">
              <a:buFont typeface="Arial" pitchFamily="34" charset="0"/>
              <a:buChar char="•"/>
              <a:tabLst>
                <a:tab pos="360363" algn="l"/>
              </a:tabLst>
              <a:defRPr/>
            </a:pPr>
            <a:endParaRPr lang="fr-FR" dirty="0"/>
          </a:p>
          <a:p>
            <a:pPr marL="722313" indent="-176213" algn="just">
              <a:buFont typeface="Arial" pitchFamily="34" charset="0"/>
              <a:buChar char="•"/>
              <a:tabLst>
                <a:tab pos="360363" algn="l"/>
              </a:tabLst>
              <a:defRPr/>
            </a:pPr>
            <a:r>
              <a:rPr lang="fr-FR" dirty="0">
                <a:ea typeface="Times New Roman" pitchFamily="18" charset="0"/>
              </a:rPr>
              <a:t> limitation voire suppression des surintensités lors du démarrage,</a:t>
            </a:r>
          </a:p>
          <a:p>
            <a:pPr marL="722313" indent="-176213" algn="just">
              <a:buFont typeface="Arial" pitchFamily="34" charset="0"/>
              <a:buChar char="•"/>
              <a:tabLst>
                <a:tab pos="360363" algn="l"/>
              </a:tabLst>
              <a:defRPr/>
            </a:pPr>
            <a:endParaRPr lang="fr-FR" dirty="0"/>
          </a:p>
          <a:p>
            <a:pPr marL="722313" indent="-176213" algn="just">
              <a:buFont typeface="Arial" pitchFamily="34" charset="0"/>
              <a:buChar char="•"/>
              <a:tabLst>
                <a:tab pos="360363" algn="l"/>
              </a:tabLst>
              <a:defRPr/>
            </a:pPr>
            <a:r>
              <a:rPr lang="fr-FR" dirty="0">
                <a:ea typeface="Times New Roman" pitchFamily="18" charset="0"/>
              </a:rPr>
              <a:t> adaptation précise de la vitesse,</a:t>
            </a:r>
          </a:p>
          <a:p>
            <a:pPr marL="722313" indent="-176213" algn="just">
              <a:buFont typeface="Arial" pitchFamily="34" charset="0"/>
              <a:buChar char="•"/>
              <a:tabLst>
                <a:tab pos="360363" algn="l"/>
              </a:tabLst>
              <a:defRPr/>
            </a:pPr>
            <a:endParaRPr lang="fr-FR" dirty="0"/>
          </a:p>
          <a:p>
            <a:pPr marL="722313" indent="-176213" algn="just">
              <a:buFont typeface="Arial" pitchFamily="34" charset="0"/>
              <a:buChar char="•"/>
              <a:tabLst>
                <a:tab pos="360363" algn="l"/>
              </a:tabLst>
              <a:defRPr/>
            </a:pPr>
            <a:r>
              <a:rPr lang="fr-FR" dirty="0">
                <a:ea typeface="Times New Roman" pitchFamily="18" charset="0"/>
              </a:rPr>
              <a:t> allongement de la durée de vie des constituants mécaniques des systèmes (moins d'à-coups),</a:t>
            </a:r>
          </a:p>
          <a:p>
            <a:pPr marL="722313" indent="-176213" algn="just">
              <a:buFont typeface="Arial" pitchFamily="34" charset="0"/>
              <a:buChar char="•"/>
              <a:tabLst>
                <a:tab pos="360363" algn="l"/>
              </a:tabLst>
              <a:defRPr/>
            </a:pPr>
            <a:endParaRPr lang="fr-FR" dirty="0"/>
          </a:p>
          <a:p>
            <a:pPr marL="722313" indent="-176213" algn="just">
              <a:buFont typeface="Arial" pitchFamily="34" charset="0"/>
              <a:buChar char="•"/>
              <a:tabLst>
                <a:tab pos="360363" algn="l"/>
              </a:tabLst>
              <a:defRPr/>
            </a:pPr>
            <a:r>
              <a:rPr lang="fr-FR" dirty="0">
                <a:ea typeface="Times New Roman" pitchFamily="18" charset="0"/>
              </a:rPr>
              <a:t> limitation du bruit,</a:t>
            </a:r>
          </a:p>
          <a:p>
            <a:pPr marL="722313" indent="-176213" algn="just">
              <a:buFont typeface="Arial" pitchFamily="34" charset="0"/>
              <a:buChar char="•"/>
              <a:tabLst>
                <a:tab pos="360363" algn="l"/>
              </a:tabLst>
              <a:defRPr/>
            </a:pPr>
            <a:endParaRPr lang="fr-FR" dirty="0"/>
          </a:p>
          <a:p>
            <a:pPr marL="722313" indent="-176213" algn="just">
              <a:buFont typeface="Arial" pitchFamily="34" charset="0"/>
              <a:buChar char="•"/>
              <a:tabLst>
                <a:tab pos="360363" algn="l"/>
              </a:tabLst>
              <a:defRPr/>
            </a:pPr>
            <a:r>
              <a:rPr lang="fr-FR" dirty="0">
                <a:ea typeface="Times New Roman" pitchFamily="18" charset="0"/>
              </a:rPr>
              <a:t> économies d'énergie</a:t>
            </a:r>
            <a:endParaRPr lang="fr-FR" dirty="0"/>
          </a:p>
        </p:txBody>
      </p:sp>
      <p:sp>
        <p:nvSpPr>
          <p:cNvPr id="38917"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7" name="Rectangle 2"/>
          <p:cNvSpPr txBox="1">
            <a:spLocks noChangeArrowheads="1"/>
          </p:cNvSpPr>
          <p:nvPr/>
        </p:nvSpPr>
        <p:spPr>
          <a:xfrm>
            <a:off x="1371600" y="4572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40963"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0A5709F-54EB-4842-82C6-5395A53D9A7F}" type="slidenum">
              <a:rPr lang="en-US" altLang="fr-FR" sz="1000" smtClean="0">
                <a:solidFill>
                  <a:srgbClr val="292929"/>
                </a:solidFill>
                <a:latin typeface="Arial" panose="020B0604020202020204" pitchFamily="34" charset="0"/>
              </a:rPr>
              <a:pPr>
                <a:spcBef>
                  <a:spcPct val="0"/>
                </a:spcBef>
                <a:buClrTx/>
                <a:buSzTx/>
                <a:buFontTx/>
                <a:buNone/>
              </a:pPr>
              <a:t>18</a:t>
            </a:fld>
            <a:endParaRPr lang="en-US" altLang="fr-FR" sz="1000" smtClean="0">
              <a:solidFill>
                <a:srgbClr val="292929"/>
              </a:solidFill>
              <a:latin typeface="Arial" panose="020B0604020202020204" pitchFamily="34" charset="0"/>
            </a:endParaRPr>
          </a:p>
        </p:txBody>
      </p:sp>
      <p:sp>
        <p:nvSpPr>
          <p:cNvPr id="40964"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0965" name="Text Box 4"/>
          <p:cNvSpPr txBox="1">
            <a:spLocks noChangeArrowheads="1"/>
          </p:cNvSpPr>
          <p:nvPr/>
        </p:nvSpPr>
        <p:spPr bwMode="auto">
          <a:xfrm>
            <a:off x="762000" y="995363"/>
            <a:ext cx="62484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Composantes des Entrainements électriques </a:t>
            </a:r>
          </a:p>
        </p:txBody>
      </p:sp>
      <p:sp>
        <p:nvSpPr>
          <p:cNvPr id="40966" name="Text Box 9"/>
          <p:cNvSpPr txBox="1">
            <a:spLocks noChangeArrowheads="1"/>
          </p:cNvSpPr>
          <p:nvPr/>
        </p:nvSpPr>
        <p:spPr bwMode="auto">
          <a:xfrm>
            <a:off x="838200" y="1676400"/>
            <a:ext cx="80010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7338" indent="-287338">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u="sng">
                <a:latin typeface="Arial" panose="020B0604020202020204" pitchFamily="34" charset="0"/>
              </a:rPr>
              <a:t>Unité de commande</a:t>
            </a:r>
          </a:p>
          <a:p>
            <a:pPr eaLnBrk="1" hangingPunct="1">
              <a:spcBef>
                <a:spcPct val="0"/>
              </a:spcBef>
              <a:buClrTx/>
              <a:buSzTx/>
              <a:buFontTx/>
              <a:buNone/>
            </a:pPr>
            <a:endParaRPr lang="en-US" altLang="fr-FR" sz="1800" u="sng">
              <a:latin typeface="Arial" panose="020B0604020202020204" pitchFamily="34" charset="0"/>
            </a:endParaRPr>
          </a:p>
          <a:p>
            <a:pPr algn="just" eaLnBrk="1" hangingPunct="1">
              <a:spcBef>
                <a:spcPct val="0"/>
              </a:spcBef>
              <a:buClrTx/>
              <a:buSzTx/>
              <a:buFontTx/>
              <a:buChar char="•"/>
            </a:pPr>
            <a:r>
              <a:rPr lang="en-US" altLang="fr-FR" sz="1800">
                <a:latin typeface="Arial" panose="020B0604020202020204" pitchFamily="34" charset="0"/>
              </a:rPr>
              <a:t>Sa Complexité dépend du moteur utilisé et des exigences en performances : rapidité, précision, complexité des tâches</a:t>
            </a:r>
          </a:p>
          <a:p>
            <a:pPr eaLnBrk="1" hangingPunct="1">
              <a:spcBef>
                <a:spcPct val="0"/>
              </a:spcBef>
              <a:buClrTx/>
              <a:buSzTx/>
              <a:buFontTx/>
              <a:buChar char="•"/>
            </a:pPr>
            <a:endParaRPr lang="en-US" altLang="fr-FR" sz="1800">
              <a:latin typeface="Arial" panose="020B0604020202020204" pitchFamily="34" charset="0"/>
            </a:endParaRPr>
          </a:p>
          <a:p>
            <a:pPr eaLnBrk="1" hangingPunct="1">
              <a:spcBef>
                <a:spcPct val="0"/>
              </a:spcBef>
              <a:buClrTx/>
              <a:buSzTx/>
              <a:buFontTx/>
              <a:buChar char="•"/>
            </a:pPr>
            <a:r>
              <a:rPr lang="en-US" altLang="fr-FR" sz="1800">
                <a:latin typeface="Arial" panose="020B0604020202020204" pitchFamily="34" charset="0"/>
              </a:rPr>
              <a:t>Analogique : bruit, inflexible, une bande passante infinie (théoriquement).</a:t>
            </a:r>
          </a:p>
          <a:p>
            <a:pPr eaLnBrk="1" hangingPunct="1">
              <a:spcBef>
                <a:spcPct val="0"/>
              </a:spcBef>
              <a:buClrTx/>
              <a:buSzTx/>
              <a:buFontTx/>
              <a:buChar char="•"/>
            </a:pPr>
            <a:endParaRPr lang="en-US" altLang="fr-FR" sz="1800">
              <a:latin typeface="Arial" panose="020B0604020202020204" pitchFamily="34" charset="0"/>
            </a:endParaRPr>
          </a:p>
          <a:p>
            <a:pPr algn="just" eaLnBrk="1" hangingPunct="1">
              <a:spcBef>
                <a:spcPct val="0"/>
              </a:spcBef>
              <a:buClrTx/>
              <a:buSzTx/>
              <a:buFontTx/>
              <a:buChar char="•"/>
            </a:pPr>
            <a:r>
              <a:rPr lang="en-US" altLang="fr-FR" sz="1800">
                <a:latin typeface="Arial" panose="020B0604020202020204" pitchFamily="34" charset="0"/>
              </a:rPr>
              <a:t>Digitale :  immunité contre bruit, configurable, bande passante limitée (en fonction du pas d’échantillonnage) </a:t>
            </a:r>
          </a:p>
          <a:p>
            <a:pPr eaLnBrk="1" hangingPunct="1">
              <a:spcBef>
                <a:spcPct val="0"/>
              </a:spcBef>
              <a:buClrTx/>
              <a:buSzTx/>
              <a:buFontTx/>
              <a:buChar char="•"/>
            </a:pPr>
            <a:endParaRPr lang="en-US" altLang="fr-FR" sz="1800">
              <a:latin typeface="Arial" panose="020B0604020202020204" pitchFamily="34" charset="0"/>
            </a:endParaRPr>
          </a:p>
          <a:p>
            <a:pPr algn="just" eaLnBrk="1" hangingPunct="1">
              <a:spcBef>
                <a:spcPct val="0"/>
              </a:spcBef>
              <a:buClrTx/>
              <a:buSzTx/>
              <a:buFontTx/>
              <a:buChar char="•"/>
            </a:pPr>
            <a:r>
              <a:rPr lang="en-US" altLang="fr-FR" sz="1800">
                <a:latin typeface="Arial" panose="020B0604020202020204" pitchFamily="34" charset="0"/>
              </a:rPr>
              <a:t>DSP/microprocesseurr : flexible, bande passante étroite. </a:t>
            </a:r>
          </a:p>
          <a:p>
            <a:pPr eaLnBrk="1" hangingPunct="1">
              <a:spcBef>
                <a:spcPct val="0"/>
              </a:spcBef>
              <a:buClrTx/>
              <a:buSzTx/>
              <a:buFontTx/>
              <a:buNone/>
            </a:pPr>
            <a:r>
              <a:rPr lang="en-US" altLang="fr-FR" sz="1800">
                <a:latin typeface="Arial" panose="020B0604020202020204" pitchFamily="34" charset="0"/>
              </a:rPr>
              <a:t>    DSP exécute les operations plus rapidement que les microprocesseurs, peut accomplir des estimations complexes (les observateurs peuvent être implémentés)</a:t>
            </a:r>
          </a:p>
        </p:txBody>
      </p:sp>
      <p:sp>
        <p:nvSpPr>
          <p:cNvPr id="8" name="Espace réservé du pied de page 7"/>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4301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03AB593-F678-4D9C-BB4B-96BA5224C4CE}" type="slidenum">
              <a:rPr lang="en-US" altLang="fr-FR" sz="1000" smtClean="0">
                <a:solidFill>
                  <a:srgbClr val="292929"/>
                </a:solidFill>
                <a:latin typeface="Arial" panose="020B0604020202020204" pitchFamily="34" charset="0"/>
              </a:rPr>
              <a:pPr>
                <a:spcBef>
                  <a:spcPct val="0"/>
                </a:spcBef>
                <a:buClrTx/>
                <a:buSzTx/>
                <a:buFontTx/>
                <a:buNone/>
              </a:pPr>
              <a:t>19</a:t>
            </a:fld>
            <a:endParaRPr lang="en-US" altLang="fr-FR" sz="1000" smtClean="0">
              <a:solidFill>
                <a:srgbClr val="292929"/>
              </a:solidFill>
              <a:latin typeface="Arial" panose="020B0604020202020204" pitchFamily="34" charset="0"/>
            </a:endParaRPr>
          </a:p>
        </p:txBody>
      </p:sp>
      <p:sp>
        <p:nvSpPr>
          <p:cNvPr id="4" name="Rectangle 3"/>
          <p:cNvSpPr/>
          <p:nvPr/>
        </p:nvSpPr>
        <p:spPr>
          <a:xfrm>
            <a:off x="685800" y="1524000"/>
            <a:ext cx="7696200" cy="3694113"/>
          </a:xfrm>
          <a:prstGeom prst="rect">
            <a:avLst/>
          </a:prstGeom>
        </p:spPr>
        <p:txBody>
          <a:bodyPr>
            <a:spAutoFit/>
          </a:bodyPr>
          <a:lstStyle/>
          <a:p>
            <a:pPr algn="just" eaLnBrk="1" hangingPunct="1">
              <a:defRPr/>
            </a:pPr>
            <a:r>
              <a:rPr lang="fr-FR" dirty="0">
                <a:latin typeface="Arial" charset="0"/>
                <a:cs typeface="Arial" charset="0"/>
              </a:rPr>
              <a:t>Il y a plusieurs facteurs qui influent sur le choix de différentes configurations d’entrainements électriques tels que :</a:t>
            </a:r>
          </a:p>
          <a:p>
            <a:pPr algn="just" eaLnBrk="1" hangingPunct="1">
              <a:defRPr/>
            </a:pPr>
            <a:endParaRPr lang="fr-FR" dirty="0">
              <a:latin typeface="Arial" charset="0"/>
              <a:cs typeface="Arial" charset="0"/>
            </a:endParaRPr>
          </a:p>
          <a:p>
            <a:pPr marL="342900" indent="-342900" algn="just" eaLnBrk="1" hangingPunct="1">
              <a:buFontTx/>
              <a:buAutoNum type="alphaLcParenR"/>
              <a:defRPr/>
            </a:pPr>
            <a:r>
              <a:rPr lang="fr-FR" dirty="0">
                <a:latin typeface="Arial" charset="0"/>
                <a:cs typeface="Arial" charset="0"/>
              </a:rPr>
              <a:t>profil du couple et de la vitesse : détermine le dimensionnement des convertisseurs et les quadrant de fonctionnement requis.</a:t>
            </a:r>
          </a:p>
          <a:p>
            <a:pPr marL="342900" indent="-342900" algn="just" eaLnBrk="1" hangingPunct="1">
              <a:buFontTx/>
              <a:buAutoNum type="alphaLcParenR"/>
              <a:defRPr/>
            </a:pPr>
            <a:endParaRPr lang="fr-FR" dirty="0">
              <a:latin typeface="Arial" charset="0"/>
              <a:cs typeface="Arial" charset="0"/>
            </a:endParaRPr>
          </a:p>
          <a:p>
            <a:pPr algn="just" eaLnBrk="1" hangingPunct="1">
              <a:defRPr/>
            </a:pPr>
            <a:r>
              <a:rPr lang="fr-FR" dirty="0">
                <a:latin typeface="Arial" charset="0"/>
                <a:cs typeface="Arial" charset="0"/>
              </a:rPr>
              <a:t>b) Coût d’investissement et frais d’exploitation : systèmes d’entrainement varient en fonction de frais de démarrage et de marche (frais de maintenance).</a:t>
            </a:r>
          </a:p>
          <a:p>
            <a:pPr algn="just" eaLnBrk="1" hangingPunct="1">
              <a:defRPr/>
            </a:pPr>
            <a:endParaRPr lang="fr-FR" dirty="0">
              <a:latin typeface="Arial" charset="0"/>
              <a:cs typeface="Arial" charset="0"/>
            </a:endParaRPr>
          </a:p>
          <a:p>
            <a:pPr algn="just" eaLnBrk="1" hangingPunct="1">
              <a:defRPr/>
            </a:pPr>
            <a:r>
              <a:rPr lang="fr-FR" dirty="0">
                <a:latin typeface="Arial" charset="0"/>
                <a:cs typeface="Arial" charset="0"/>
              </a:rPr>
              <a:t>c)  Les restrictions de l’espace et de taille</a:t>
            </a:r>
          </a:p>
          <a:p>
            <a:pPr algn="just" eaLnBrk="1" hangingPunct="1">
              <a:defRPr/>
            </a:pPr>
            <a:endParaRPr lang="fr-FR" dirty="0">
              <a:latin typeface="Arial" charset="0"/>
              <a:cs typeface="Arial" charset="0"/>
            </a:endParaRPr>
          </a:p>
          <a:p>
            <a:pPr algn="just" eaLnBrk="1" hangingPunct="1">
              <a:defRPr/>
            </a:pPr>
            <a:r>
              <a:rPr lang="fr-FR" dirty="0">
                <a:latin typeface="Arial" charset="0"/>
                <a:cs typeface="Arial" charset="0"/>
              </a:rPr>
              <a:t>d)  L’environnement et l’emplacement</a:t>
            </a:r>
          </a:p>
        </p:txBody>
      </p:sp>
      <p:sp>
        <p:nvSpPr>
          <p:cNvPr id="5"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endParaRPr lang="en-US" sz="1200" dirty="0">
              <a:latin typeface="+mn-lt"/>
              <a:cs typeface="+mn-cs"/>
            </a:endParaRPr>
          </a:p>
        </p:txBody>
      </p:sp>
      <p:sp>
        <p:nvSpPr>
          <p:cNvPr id="43014"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3015" name="Text Box 4"/>
          <p:cNvSpPr txBox="1">
            <a:spLocks noChangeArrowheads="1"/>
          </p:cNvSpPr>
          <p:nvPr/>
        </p:nvSpPr>
        <p:spPr bwMode="auto">
          <a:xfrm>
            <a:off x="685800" y="925513"/>
            <a:ext cx="6248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Composantes des Entrainements électriques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3"/>
          <p:cNvSpPr>
            <a:spLocks noGrp="1" noChangeArrowheads="1"/>
          </p:cNvSpPr>
          <p:nvPr>
            <p:ph type="subTitle" idx="1"/>
          </p:nvPr>
        </p:nvSpPr>
        <p:spPr>
          <a:xfrm>
            <a:off x="457200" y="228600"/>
            <a:ext cx="6858000" cy="381000"/>
          </a:xfrm>
          <a:noFill/>
        </p:spPr>
        <p:txBody>
          <a:bodyPr/>
          <a:lstStyle/>
          <a:p>
            <a:pPr algn="l" eaLnBrk="1" hangingPunct="1"/>
            <a:r>
              <a:rPr lang="en-US" altLang="fr-FR" sz="1200" smtClean="0"/>
              <a:t>                                                                                                  MODULE 1 - INTRODUCTION</a:t>
            </a:r>
          </a:p>
        </p:txBody>
      </p:sp>
      <p:sp>
        <p:nvSpPr>
          <p:cNvPr id="45059" name="Espace réservé du numéro de diapositive 2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397E4E7-5E71-42F7-A40C-9F4D20ED0ED2}" type="slidenum">
              <a:rPr lang="en-US" altLang="fr-FR" sz="1000" smtClean="0">
                <a:solidFill>
                  <a:srgbClr val="292929"/>
                </a:solidFill>
                <a:latin typeface="Arial" panose="020B0604020202020204" pitchFamily="34" charset="0"/>
              </a:rPr>
              <a:pPr>
                <a:spcBef>
                  <a:spcPct val="0"/>
                </a:spcBef>
                <a:buClrTx/>
                <a:buSzTx/>
                <a:buFontTx/>
                <a:buNone/>
              </a:pPr>
              <a:t>20</a:t>
            </a:fld>
            <a:endParaRPr lang="en-US" altLang="fr-FR" sz="1000" smtClean="0">
              <a:solidFill>
                <a:srgbClr val="292929"/>
              </a:solidFill>
              <a:latin typeface="Arial" panose="020B0604020202020204" pitchFamily="34" charset="0"/>
            </a:endParaRPr>
          </a:p>
        </p:txBody>
      </p:sp>
      <p:sp>
        <p:nvSpPr>
          <p:cNvPr id="45060" name="Rectangle 24"/>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5061" name="Text Box 25"/>
          <p:cNvSpPr txBox="1">
            <a:spLocks noChangeArrowheads="1"/>
          </p:cNvSpPr>
          <p:nvPr/>
        </p:nvSpPr>
        <p:spPr bwMode="auto">
          <a:xfrm>
            <a:off x="685800" y="762000"/>
            <a:ext cx="525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Principes de base de la mécanique</a:t>
            </a:r>
          </a:p>
        </p:txBody>
      </p:sp>
      <p:sp>
        <p:nvSpPr>
          <p:cNvPr id="45062" name="Rectangle 26"/>
          <p:cNvSpPr>
            <a:spLocks noChangeArrowheads="1"/>
          </p:cNvSpPr>
          <p:nvPr/>
        </p:nvSpPr>
        <p:spPr bwMode="auto">
          <a:xfrm>
            <a:off x="2505075" y="2209800"/>
            <a:ext cx="1524000" cy="609600"/>
          </a:xfrm>
          <a:prstGeom prst="rect">
            <a:avLst/>
          </a:prstGeom>
          <a:solidFill>
            <a:schemeClr val="accent1"/>
          </a:solidFill>
          <a:ln w="9525">
            <a:miter lim="800000"/>
            <a:headEnd/>
            <a:tailEnd/>
          </a:ln>
          <a:scene3d>
            <a:camera prst="legacyObliqueTopRight"/>
            <a:lightRig rig="legacyFlat3" dir="b"/>
          </a:scene3d>
          <a:sp3d extrusionH="887400" prstMaterial="legacyMatte">
            <a:bevelT w="13500" h="13500" prst="angle"/>
            <a:bevelB w="13500" h="13500" prst="angle"/>
            <a:extrusionClr>
              <a:schemeClr val="bg2"/>
            </a:extrusionClr>
            <a:contourClr>
              <a:schemeClr val="accent1"/>
            </a:contourClr>
          </a:sp3d>
        </p:spPr>
        <p:txBody>
          <a:bodyPr wrap="none" anchor="ctr">
            <a:flatTx/>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en-US" altLang="fr-FR" sz="1800" b="1">
                <a:latin typeface="Arial" panose="020B0604020202020204" pitchFamily="34" charset="0"/>
              </a:rPr>
              <a:t>M</a:t>
            </a:r>
          </a:p>
        </p:txBody>
      </p:sp>
      <p:sp>
        <p:nvSpPr>
          <p:cNvPr id="45063" name="Line 27"/>
          <p:cNvSpPr>
            <a:spLocks noChangeShapeType="1"/>
          </p:cNvSpPr>
          <p:nvPr/>
        </p:nvSpPr>
        <p:spPr bwMode="auto">
          <a:xfrm>
            <a:off x="1666875" y="2438400"/>
            <a:ext cx="7620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a:p>
        </p:txBody>
      </p:sp>
      <p:sp>
        <p:nvSpPr>
          <p:cNvPr id="45064" name="Line 28"/>
          <p:cNvSpPr>
            <a:spLocks noChangeShapeType="1"/>
          </p:cNvSpPr>
          <p:nvPr/>
        </p:nvSpPr>
        <p:spPr bwMode="auto">
          <a:xfrm flipH="1">
            <a:off x="4105275" y="2438400"/>
            <a:ext cx="685800"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45065" name="Line 29"/>
          <p:cNvSpPr>
            <a:spLocks noChangeShapeType="1"/>
          </p:cNvSpPr>
          <p:nvPr/>
        </p:nvSpPr>
        <p:spPr bwMode="auto">
          <a:xfrm>
            <a:off x="2819400" y="1371600"/>
            <a:ext cx="609600" cy="0"/>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fr-FR"/>
          </a:p>
        </p:txBody>
      </p:sp>
      <p:sp>
        <p:nvSpPr>
          <p:cNvPr id="45066" name="Text Box 30"/>
          <p:cNvSpPr txBox="1">
            <a:spLocks noChangeArrowheads="1"/>
          </p:cNvSpPr>
          <p:nvPr/>
        </p:nvSpPr>
        <p:spPr bwMode="auto">
          <a:xfrm>
            <a:off x="3429000" y="1066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v</a:t>
            </a:r>
          </a:p>
        </p:txBody>
      </p:sp>
      <p:sp>
        <p:nvSpPr>
          <p:cNvPr id="45067" name="Text Box 31"/>
          <p:cNvSpPr txBox="1">
            <a:spLocks noChangeArrowheads="1"/>
          </p:cNvSpPr>
          <p:nvPr/>
        </p:nvSpPr>
        <p:spPr bwMode="auto">
          <a:xfrm>
            <a:off x="1666875" y="1981200"/>
            <a:ext cx="450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F</a:t>
            </a:r>
            <a:r>
              <a:rPr lang="en-US" altLang="fr-FR" sz="1800" baseline="-25000">
                <a:latin typeface="Arial" panose="020B0604020202020204" pitchFamily="34" charset="0"/>
              </a:rPr>
              <a:t>m</a:t>
            </a:r>
            <a:endParaRPr lang="en-US" altLang="fr-FR" sz="1800">
              <a:latin typeface="Arial" panose="020B0604020202020204" pitchFamily="34" charset="0"/>
            </a:endParaRPr>
          </a:p>
        </p:txBody>
      </p:sp>
      <p:sp>
        <p:nvSpPr>
          <p:cNvPr id="45068" name="Text Box 32"/>
          <p:cNvSpPr txBox="1">
            <a:spLocks noChangeArrowheads="1"/>
          </p:cNvSpPr>
          <p:nvPr/>
        </p:nvSpPr>
        <p:spPr bwMode="auto">
          <a:xfrm>
            <a:off x="4267200" y="24384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F</a:t>
            </a:r>
            <a:r>
              <a:rPr lang="en-US" altLang="fr-FR" sz="1800" baseline="-25000">
                <a:latin typeface="Arial" panose="020B0604020202020204" pitchFamily="34" charset="0"/>
              </a:rPr>
              <a:t>f</a:t>
            </a:r>
            <a:endParaRPr lang="en-US" altLang="fr-FR" sz="1800">
              <a:latin typeface="Arial" panose="020B0604020202020204" pitchFamily="34" charset="0"/>
            </a:endParaRPr>
          </a:p>
        </p:txBody>
      </p:sp>
      <p:grpSp>
        <p:nvGrpSpPr>
          <p:cNvPr id="2" name="Group 33"/>
          <p:cNvGrpSpPr>
            <a:grpSpLocks/>
          </p:cNvGrpSpPr>
          <p:nvPr/>
        </p:nvGrpSpPr>
        <p:grpSpPr bwMode="auto">
          <a:xfrm>
            <a:off x="6080125" y="1484313"/>
            <a:ext cx="1711325" cy="1270000"/>
            <a:chOff x="3830" y="935"/>
            <a:chExt cx="1078" cy="800"/>
          </a:xfrm>
        </p:grpSpPr>
        <p:graphicFrame>
          <p:nvGraphicFramePr>
            <p:cNvPr id="45079" name="Object 3"/>
            <p:cNvGraphicFramePr>
              <a:graphicFrameLocks noChangeAspect="1"/>
            </p:cNvGraphicFramePr>
            <p:nvPr/>
          </p:nvGraphicFramePr>
          <p:xfrm>
            <a:off x="3840" y="1344"/>
            <a:ext cx="927" cy="391"/>
          </p:xfrm>
          <a:graphic>
            <a:graphicData uri="http://schemas.openxmlformats.org/presentationml/2006/ole">
              <mc:AlternateContent xmlns:mc="http://schemas.openxmlformats.org/markup-compatibility/2006">
                <mc:Choice xmlns:v="urn:schemas-microsoft-com:vml" Requires="v">
                  <p:oleObj spid="_x0000_s45113" name="Equation" r:id="rId4" imgW="914400" imgH="393700" progId="Equation.3">
                    <p:embed/>
                  </p:oleObj>
                </mc:Choice>
                <mc:Fallback>
                  <p:oleObj name="Equation" r:id="rId4" imgW="914400" imgH="3937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0" y="1344"/>
                          <a:ext cx="927"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80" name="Text Box 35"/>
            <p:cNvSpPr txBox="1">
              <a:spLocks noChangeArrowheads="1"/>
            </p:cNvSpPr>
            <p:nvPr/>
          </p:nvSpPr>
          <p:spPr bwMode="auto">
            <a:xfrm>
              <a:off x="3830" y="935"/>
              <a:ext cx="1078" cy="233"/>
            </a:xfrm>
            <a:prstGeom prst="rect">
              <a:avLst/>
            </a:prstGeom>
            <a:solidFill>
              <a:srgbClr val="FFCCFF"/>
            </a:solidFill>
            <a:ln w="9525">
              <a:solidFill>
                <a:schemeClr val="tx1"/>
              </a:solidFill>
              <a:miter lim="800000"/>
              <a:headEnd/>
              <a:tailEnd/>
            </a:ln>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Loi de Newton</a:t>
              </a:r>
            </a:p>
          </p:txBody>
        </p:sp>
      </p:grpSp>
      <p:grpSp>
        <p:nvGrpSpPr>
          <p:cNvPr id="3" name="Group 36"/>
          <p:cNvGrpSpPr>
            <a:grpSpLocks/>
          </p:cNvGrpSpPr>
          <p:nvPr/>
        </p:nvGrpSpPr>
        <p:grpSpPr bwMode="auto">
          <a:xfrm>
            <a:off x="1066800" y="4191000"/>
            <a:ext cx="6326188" cy="2017713"/>
            <a:chOff x="672" y="2304"/>
            <a:chExt cx="3985" cy="1271"/>
          </a:xfrm>
        </p:grpSpPr>
        <p:sp>
          <p:nvSpPr>
            <p:cNvPr id="45076" name="Text Box 37"/>
            <p:cNvSpPr txBox="1">
              <a:spLocks noChangeArrowheads="1"/>
            </p:cNvSpPr>
            <p:nvPr/>
          </p:nvSpPr>
          <p:spPr bwMode="auto">
            <a:xfrm>
              <a:off x="672" y="2304"/>
              <a:ext cx="25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Mouvement réctiligne, M constante:</a:t>
              </a:r>
            </a:p>
          </p:txBody>
        </p:sp>
        <p:sp>
          <p:nvSpPr>
            <p:cNvPr id="45077" name="Text Box 38"/>
            <p:cNvSpPr txBox="1">
              <a:spLocks noChangeArrowheads="1"/>
            </p:cNvSpPr>
            <p:nvPr/>
          </p:nvSpPr>
          <p:spPr bwMode="auto">
            <a:xfrm>
              <a:off x="1152" y="3168"/>
              <a:ext cx="350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63550" indent="-46355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Char char="•"/>
              </a:pPr>
              <a:r>
                <a:rPr lang="en-US" altLang="fr-FR" sz="1800">
                  <a:latin typeface="Arial" panose="020B0604020202020204" pitchFamily="34" charset="0"/>
                </a:rPr>
                <a:t>Equation de 1er ordre pour la vitesse</a:t>
              </a:r>
            </a:p>
            <a:p>
              <a:pPr eaLnBrk="1" hangingPunct="1">
                <a:spcBef>
                  <a:spcPct val="0"/>
                </a:spcBef>
                <a:buClrTx/>
                <a:buSzTx/>
                <a:buFontTx/>
                <a:buChar char="•"/>
              </a:pPr>
              <a:r>
                <a:rPr lang="en-US" altLang="fr-FR" sz="1800">
                  <a:latin typeface="Arial" panose="020B0604020202020204" pitchFamily="34" charset="0"/>
                </a:rPr>
                <a:t>Equation de second ordre pour le déplacement</a:t>
              </a:r>
            </a:p>
          </p:txBody>
        </p:sp>
        <p:graphicFrame>
          <p:nvGraphicFramePr>
            <p:cNvPr id="45078" name="Object 2"/>
            <p:cNvGraphicFramePr>
              <a:graphicFrameLocks noChangeAspect="1"/>
            </p:cNvGraphicFramePr>
            <p:nvPr/>
          </p:nvGraphicFramePr>
          <p:xfrm>
            <a:off x="1327" y="2627"/>
            <a:ext cx="1750" cy="417"/>
          </p:xfrm>
          <a:graphic>
            <a:graphicData uri="http://schemas.openxmlformats.org/presentationml/2006/ole">
              <mc:AlternateContent xmlns:mc="http://schemas.openxmlformats.org/markup-compatibility/2006">
                <mc:Choice xmlns:v="urn:schemas-microsoft-com:vml" Requires="v">
                  <p:oleObj spid="_x0000_s45114" name="Equation" r:id="rId6" imgW="1727200" imgH="419100" progId="Equation.3">
                    <p:embed/>
                  </p:oleObj>
                </mc:Choice>
                <mc:Fallback>
                  <p:oleObj name="Equation" r:id="rId6" imgW="1727200" imgH="4191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27" y="2627"/>
                          <a:ext cx="1750"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5071" name="Line 40"/>
          <p:cNvSpPr>
            <a:spLocks noChangeShapeType="1"/>
          </p:cNvSpPr>
          <p:nvPr/>
        </p:nvSpPr>
        <p:spPr bwMode="auto">
          <a:xfrm>
            <a:off x="2514600" y="1676400"/>
            <a:ext cx="609600" cy="0"/>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fr-FR"/>
          </a:p>
        </p:txBody>
      </p:sp>
      <p:sp>
        <p:nvSpPr>
          <p:cNvPr id="45072" name="Text Box 41"/>
          <p:cNvSpPr txBox="1">
            <a:spLocks noChangeArrowheads="1"/>
          </p:cNvSpPr>
          <p:nvPr/>
        </p:nvSpPr>
        <p:spPr bwMode="auto">
          <a:xfrm>
            <a:off x="3124200" y="1524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x</a:t>
            </a:r>
          </a:p>
        </p:txBody>
      </p:sp>
      <p:sp>
        <p:nvSpPr>
          <p:cNvPr id="45073" name="Line 42"/>
          <p:cNvSpPr>
            <a:spLocks noChangeShapeType="1"/>
          </p:cNvSpPr>
          <p:nvPr/>
        </p:nvSpPr>
        <p:spPr bwMode="auto">
          <a:xfrm>
            <a:off x="2514600" y="1447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 name="Espace réservé du pied de page 23"/>
          <p:cNvSpPr>
            <a:spLocks noGrp="1"/>
          </p:cNvSpPr>
          <p:nvPr>
            <p:ph type="ftr" sz="quarter" idx="11"/>
          </p:nvPr>
        </p:nvSpPr>
        <p:spPr/>
        <p:txBody>
          <a:bodyPr/>
          <a:lstStyle/>
          <a:p>
            <a:pPr>
              <a:defRPr/>
            </a:pPr>
            <a:r>
              <a:rPr lang="fr-FR" smtClean="0"/>
              <a:t>Commande des machines  1. Intro         Ali NEJMI</a:t>
            </a:r>
            <a:endParaRPr lang="fr-FR"/>
          </a:p>
        </p:txBody>
      </p:sp>
      <p:sp>
        <p:nvSpPr>
          <p:cNvPr id="45075" name="ZoneTexte 24"/>
          <p:cNvSpPr txBox="1">
            <a:spLocks noChangeArrowheads="1"/>
          </p:cNvSpPr>
          <p:nvPr/>
        </p:nvSpPr>
        <p:spPr bwMode="auto">
          <a:xfrm>
            <a:off x="838200" y="3048000"/>
            <a:ext cx="7772400" cy="92392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b="1" i="1">
                <a:latin typeface="Arial" panose="020B0604020202020204" pitchFamily="34" charset="0"/>
              </a:rPr>
              <a:t>La force nette exercée sur le corps (masse M) est égale à la dérivée de sa quantité de mouvement. Le mouvement est dans la direction de la force nette.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8"/>
          <p:cNvSpPr>
            <a:spLocks noGrp="1" noChangeArrowheads="1"/>
          </p:cNvSpPr>
          <p:nvPr>
            <p:ph type="subTitle" idx="1"/>
          </p:nvPr>
        </p:nvSpPr>
        <p:spPr>
          <a:xfrm>
            <a:off x="457200" y="304800"/>
            <a:ext cx="6858000" cy="381000"/>
          </a:xfrm>
          <a:noFill/>
        </p:spPr>
        <p:txBody>
          <a:bodyPr/>
          <a:lstStyle/>
          <a:p>
            <a:pPr algn="l" eaLnBrk="1" hangingPunct="1"/>
            <a:r>
              <a:rPr lang="en-US" altLang="fr-FR" sz="1200" smtClean="0"/>
              <a:t>                                                                                                  MODULE 1 - INTRODUCTION</a:t>
            </a:r>
          </a:p>
        </p:txBody>
      </p:sp>
      <p:sp>
        <p:nvSpPr>
          <p:cNvPr id="47107" name="Espace réservé du numéro de diapositive 3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5EFC7AC-4B13-433D-9C7D-CD52207BD59F}" type="slidenum">
              <a:rPr lang="en-US" altLang="fr-FR" sz="1000" smtClean="0">
                <a:solidFill>
                  <a:srgbClr val="292929"/>
                </a:solidFill>
                <a:latin typeface="Arial" panose="020B0604020202020204" pitchFamily="34" charset="0"/>
              </a:rPr>
              <a:pPr>
                <a:spcBef>
                  <a:spcPct val="0"/>
                </a:spcBef>
                <a:buClrTx/>
                <a:buSzTx/>
                <a:buFontTx/>
                <a:buNone/>
              </a:pPr>
              <a:t>21</a:t>
            </a:fld>
            <a:endParaRPr lang="en-US" altLang="fr-FR" sz="1000" smtClean="0">
              <a:solidFill>
                <a:srgbClr val="292929"/>
              </a:solidFill>
              <a:latin typeface="Arial" panose="020B0604020202020204" pitchFamily="34" charset="0"/>
            </a:endParaRPr>
          </a:p>
        </p:txBody>
      </p:sp>
      <p:sp>
        <p:nvSpPr>
          <p:cNvPr id="47108" name="Rectangle 19"/>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7109" name="Text Box 20"/>
          <p:cNvSpPr txBox="1">
            <a:spLocks noChangeArrowheads="1"/>
          </p:cNvSpPr>
          <p:nvPr/>
        </p:nvSpPr>
        <p:spPr bwMode="auto">
          <a:xfrm>
            <a:off x="685800" y="7620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endParaRPr lang="en-US" altLang="fr-FR" sz="1800" b="1">
              <a:solidFill>
                <a:srgbClr val="CC6600"/>
              </a:solidFill>
              <a:latin typeface="Arial" panose="020B0604020202020204" pitchFamily="34" charset="0"/>
            </a:endParaRPr>
          </a:p>
        </p:txBody>
      </p:sp>
      <p:sp>
        <p:nvSpPr>
          <p:cNvPr id="47110" name="Text Box 25"/>
          <p:cNvSpPr txBox="1">
            <a:spLocks noChangeArrowheads="1"/>
          </p:cNvSpPr>
          <p:nvPr/>
        </p:nvSpPr>
        <p:spPr bwMode="auto">
          <a:xfrm>
            <a:off x="3783013" y="2667000"/>
            <a:ext cx="272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Mouvement de rotation</a:t>
            </a:r>
          </a:p>
        </p:txBody>
      </p:sp>
      <p:sp>
        <p:nvSpPr>
          <p:cNvPr id="47111" name="Text Box 26"/>
          <p:cNvSpPr txBox="1">
            <a:spLocks noChangeArrowheads="1"/>
          </p:cNvSpPr>
          <p:nvPr/>
        </p:nvSpPr>
        <p:spPr bwMode="auto">
          <a:xfrm>
            <a:off x="4011613" y="3124200"/>
            <a:ext cx="4749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 C’est le cas des  Entrainements électriques</a:t>
            </a:r>
          </a:p>
        </p:txBody>
      </p:sp>
      <p:graphicFrame>
        <p:nvGraphicFramePr>
          <p:cNvPr id="2" name="Object 2"/>
          <p:cNvGraphicFramePr>
            <a:graphicFrameLocks noChangeAspect="1"/>
          </p:cNvGraphicFramePr>
          <p:nvPr/>
        </p:nvGraphicFramePr>
        <p:xfrm>
          <a:off x="4800600" y="3789363"/>
          <a:ext cx="2065338" cy="703262"/>
        </p:xfrm>
        <a:graphic>
          <a:graphicData uri="http://schemas.openxmlformats.org/presentationml/2006/ole">
            <mc:AlternateContent xmlns:mc="http://schemas.openxmlformats.org/markup-compatibility/2006">
              <mc:Choice xmlns:v="urn:schemas-microsoft-com:vml" Requires="v">
                <p:oleObj spid="_x0000_s47153" name="Équation" r:id="rId4" imgW="1282700" imgH="444500" progId="Equation.3">
                  <p:embed/>
                </p:oleObj>
              </mc:Choice>
              <mc:Fallback>
                <p:oleObj name="Équation" r:id="rId4" imgW="1282700" imgH="4445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3789363"/>
                        <a:ext cx="2065338"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 name="Espace réservé du pied de page 36"/>
          <p:cNvSpPr>
            <a:spLocks noGrp="1"/>
          </p:cNvSpPr>
          <p:nvPr>
            <p:ph type="ftr" sz="quarter" idx="11"/>
          </p:nvPr>
        </p:nvSpPr>
        <p:spPr/>
        <p:txBody>
          <a:bodyPr/>
          <a:lstStyle/>
          <a:p>
            <a:pPr>
              <a:defRPr/>
            </a:pPr>
            <a:r>
              <a:rPr lang="fr-FR" smtClean="0"/>
              <a:t>Commande des machines  1. Intro         Ali NEJMI</a:t>
            </a:r>
            <a:endParaRPr lang="fr-FR"/>
          </a:p>
        </p:txBody>
      </p:sp>
      <p:grpSp>
        <p:nvGrpSpPr>
          <p:cNvPr id="47114" name="Groupe 48"/>
          <p:cNvGrpSpPr>
            <a:grpSpLocks/>
          </p:cNvGrpSpPr>
          <p:nvPr/>
        </p:nvGrpSpPr>
        <p:grpSpPr bwMode="auto">
          <a:xfrm>
            <a:off x="838200" y="2720975"/>
            <a:ext cx="2352675" cy="2155825"/>
            <a:chOff x="838200" y="1371600"/>
            <a:chExt cx="2352675" cy="2155825"/>
          </a:xfrm>
        </p:grpSpPr>
        <p:grpSp>
          <p:nvGrpSpPr>
            <p:cNvPr id="47118" name="Group 28"/>
            <p:cNvGrpSpPr>
              <a:grpSpLocks/>
            </p:cNvGrpSpPr>
            <p:nvPr/>
          </p:nvGrpSpPr>
          <p:grpSpPr bwMode="auto">
            <a:xfrm>
              <a:off x="838200" y="1371600"/>
              <a:ext cx="2301875" cy="1905000"/>
              <a:chOff x="886" y="1056"/>
              <a:chExt cx="1450" cy="1200"/>
            </a:xfrm>
          </p:grpSpPr>
          <p:sp>
            <p:nvSpPr>
              <p:cNvPr id="47123" name="Text Box 29"/>
              <p:cNvSpPr txBox="1">
                <a:spLocks noChangeArrowheads="1"/>
              </p:cNvSpPr>
              <p:nvPr/>
            </p:nvSpPr>
            <p:spPr bwMode="auto">
              <a:xfrm>
                <a:off x="2016" y="1056"/>
                <a:ext cx="25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p>
            </p:txBody>
          </p:sp>
          <p:grpSp>
            <p:nvGrpSpPr>
              <p:cNvPr id="47124" name="Group 30"/>
              <p:cNvGrpSpPr>
                <a:grpSpLocks/>
              </p:cNvGrpSpPr>
              <p:nvPr/>
            </p:nvGrpSpPr>
            <p:grpSpPr bwMode="auto">
              <a:xfrm>
                <a:off x="1392" y="1440"/>
                <a:ext cx="944" cy="816"/>
                <a:chOff x="1392" y="1440"/>
                <a:chExt cx="944" cy="816"/>
              </a:xfrm>
            </p:grpSpPr>
            <p:sp>
              <p:nvSpPr>
                <p:cNvPr id="47135" name="Oval 31"/>
                <p:cNvSpPr>
                  <a:spLocks noChangeArrowheads="1"/>
                </p:cNvSpPr>
                <p:nvPr/>
              </p:nvSpPr>
              <p:spPr bwMode="auto">
                <a:xfrm>
                  <a:off x="1472" y="1440"/>
                  <a:ext cx="864" cy="816"/>
                </a:xfrm>
                <a:prstGeom prst="ellipse">
                  <a:avLst/>
                </a:prstGeom>
                <a:solidFill>
                  <a:schemeClr val="accent1"/>
                </a:solidFill>
                <a:ln w="9525">
                  <a:round/>
                  <a:headEnd/>
                  <a:tailEnd/>
                </a:ln>
                <a:scene3d>
                  <a:camera prst="legacyPerspectiveFront">
                    <a:rot lat="899994" lon="2400000" rev="0"/>
                  </a:camera>
                  <a:lightRig rig="legacyFlat2" dir="b"/>
                </a:scene3d>
                <a:sp3d extrusionH="887400" prstMaterial="legacyMatte">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7136" name="Oval 32"/>
                <p:cNvSpPr>
                  <a:spLocks noChangeArrowheads="1"/>
                </p:cNvSpPr>
                <p:nvPr/>
              </p:nvSpPr>
              <p:spPr bwMode="auto">
                <a:xfrm>
                  <a:off x="1392" y="1920"/>
                  <a:ext cx="96" cy="96"/>
                </a:xfrm>
                <a:prstGeom prst="ellipse">
                  <a:avLst/>
                </a:prstGeom>
                <a:solidFill>
                  <a:schemeClr val="accent1"/>
                </a:solidFill>
                <a:ln w="9525">
                  <a:round/>
                  <a:headEnd/>
                  <a:tailEnd/>
                </a:ln>
                <a:scene3d>
                  <a:camera prst="legacyPerspectiveFront">
                    <a:rot lat="899994" lon="2400000" rev="0"/>
                  </a:camera>
                  <a:lightRig rig="legacyFlat2" dir="b"/>
                </a:scene3d>
                <a:sp3d extrusionH="1116000" prstMaterial="legacyMatte">
                  <a:bevelT w="13500" h="13500" prst="angle"/>
                  <a:bevelB w="13500" h="13500" prst="angle"/>
                  <a:extrusionClr>
                    <a:schemeClr val="bg1"/>
                  </a:extrusionClr>
                  <a:contourClr>
                    <a:schemeClr val="accent1"/>
                  </a:contourClr>
                </a:sp3d>
              </p:spPr>
              <p:txBody>
                <a:bodyPr wrap="none" anchor="ctr">
                  <a:flatTx/>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nvGrpSpPr>
              <p:cNvPr id="47125" name="Group 33"/>
              <p:cNvGrpSpPr>
                <a:grpSpLocks/>
              </p:cNvGrpSpPr>
              <p:nvPr/>
            </p:nvGrpSpPr>
            <p:grpSpPr bwMode="auto">
              <a:xfrm>
                <a:off x="1248" y="1728"/>
                <a:ext cx="240" cy="480"/>
                <a:chOff x="1248" y="1728"/>
                <a:chExt cx="240" cy="480"/>
              </a:xfrm>
            </p:grpSpPr>
            <p:sp>
              <p:nvSpPr>
                <p:cNvPr id="47133" name="Rectangle 35"/>
                <p:cNvSpPr>
                  <a:spLocks noChangeArrowheads="1"/>
                </p:cNvSpPr>
                <p:nvPr/>
              </p:nvSpPr>
              <p:spPr bwMode="auto">
                <a:xfrm>
                  <a:off x="1248" y="1728"/>
                  <a:ext cx="240" cy="144"/>
                </a:xfrm>
                <a:prstGeom prst="rect">
                  <a:avLst/>
                </a:prstGeom>
                <a:blipFill dpi="0" rotWithShape="1">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7134" name="Rectangle 37"/>
                <p:cNvSpPr>
                  <a:spLocks noChangeArrowheads="1"/>
                </p:cNvSpPr>
                <p:nvPr/>
              </p:nvSpPr>
              <p:spPr bwMode="auto">
                <a:xfrm>
                  <a:off x="1248" y="2064"/>
                  <a:ext cx="240" cy="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nvGrpSpPr>
              <p:cNvPr id="47126" name="Group 38"/>
              <p:cNvGrpSpPr>
                <a:grpSpLocks/>
              </p:cNvGrpSpPr>
              <p:nvPr/>
            </p:nvGrpSpPr>
            <p:grpSpPr bwMode="auto">
              <a:xfrm>
                <a:off x="912" y="1776"/>
                <a:ext cx="336" cy="432"/>
                <a:chOff x="1152" y="1728"/>
                <a:chExt cx="336" cy="432"/>
              </a:xfrm>
            </p:grpSpPr>
            <p:sp>
              <p:nvSpPr>
                <p:cNvPr id="47131" name="Rectangle 40"/>
                <p:cNvSpPr>
                  <a:spLocks noChangeArrowheads="1"/>
                </p:cNvSpPr>
                <p:nvPr/>
              </p:nvSpPr>
              <p:spPr bwMode="auto">
                <a:xfrm>
                  <a:off x="1248" y="1728"/>
                  <a:ext cx="240" cy="144"/>
                </a:xfrm>
                <a:prstGeom prst="rect">
                  <a:avLst/>
                </a:prstGeom>
                <a:blipFill dpi="0" rotWithShape="1">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7132" name="Rectangle 41"/>
                <p:cNvSpPr>
                  <a:spLocks noChangeArrowheads="1"/>
                </p:cNvSpPr>
                <p:nvPr/>
              </p:nvSpPr>
              <p:spPr bwMode="auto">
                <a:xfrm>
                  <a:off x="1152" y="1872"/>
                  <a:ext cx="240" cy="288"/>
                </a:xfrm>
                <a:prstGeom prst="rect">
                  <a:avLst/>
                </a:prstGeom>
                <a:blipFill dpi="0" rotWithShape="1">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47127" name="Line 43"/>
              <p:cNvSpPr>
                <a:spLocks noChangeShapeType="1"/>
              </p:cNvSpPr>
              <p:nvPr/>
            </p:nvSpPr>
            <p:spPr bwMode="auto">
              <a:xfrm flipV="1">
                <a:off x="1867" y="1274"/>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47128" name="Line 44"/>
              <p:cNvSpPr>
                <a:spLocks noChangeShapeType="1"/>
              </p:cNvSpPr>
              <p:nvPr/>
            </p:nvSpPr>
            <p:spPr bwMode="auto">
              <a:xfrm flipV="1">
                <a:off x="1872" y="1183"/>
                <a:ext cx="384" cy="67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47129" name="Text Box 45"/>
              <p:cNvSpPr txBox="1">
                <a:spLocks noChangeArrowheads="1"/>
              </p:cNvSpPr>
              <p:nvPr/>
            </p:nvSpPr>
            <p:spPr bwMode="auto">
              <a:xfrm>
                <a:off x="886" y="1990"/>
                <a:ext cx="624" cy="231"/>
              </a:xfrm>
              <a:prstGeom prst="rect">
                <a:avLst/>
              </a:prstGeom>
              <a:blipFill dpi="0" rotWithShape="1">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a:t>
                </a:r>
                <a:r>
                  <a:rPr lang="en-US" altLang="fr-FR" sz="1800" baseline="-25000">
                    <a:latin typeface="Arial" panose="020B0604020202020204" pitchFamily="34" charset="0"/>
                  </a:rPr>
                  <a:t>e</a:t>
                </a:r>
                <a:r>
                  <a:rPr lang="en-US" altLang="fr-FR" sz="1800">
                    <a:latin typeface="Arial" panose="020B0604020202020204" pitchFamily="34" charset="0"/>
                  </a:rPr>
                  <a:t> , </a:t>
                </a: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m</a:t>
                </a:r>
              </a:p>
            </p:txBody>
          </p:sp>
          <p:sp>
            <p:nvSpPr>
              <p:cNvPr id="47130" name="Freeform 49"/>
              <p:cNvSpPr>
                <a:spLocks/>
              </p:cNvSpPr>
              <p:nvPr/>
            </p:nvSpPr>
            <p:spPr bwMode="auto">
              <a:xfrm>
                <a:off x="1872" y="1200"/>
                <a:ext cx="288" cy="96"/>
              </a:xfrm>
              <a:custGeom>
                <a:avLst/>
                <a:gdLst>
                  <a:gd name="T0" fmla="*/ 0 w 288"/>
                  <a:gd name="T1" fmla="*/ 0 h 96"/>
                  <a:gd name="T2" fmla="*/ 192 w 288"/>
                  <a:gd name="T3" fmla="*/ 48 h 96"/>
                  <a:gd name="T4" fmla="*/ 288 w 288"/>
                  <a:gd name="T5" fmla="*/ 96 h 96"/>
                  <a:gd name="T6" fmla="*/ 0 60000 65536"/>
                  <a:gd name="T7" fmla="*/ 0 60000 65536"/>
                  <a:gd name="T8" fmla="*/ 0 60000 65536"/>
                  <a:gd name="T9" fmla="*/ 0 w 288"/>
                  <a:gd name="T10" fmla="*/ 0 h 96"/>
                  <a:gd name="T11" fmla="*/ 288 w 288"/>
                  <a:gd name="T12" fmla="*/ 96 h 96"/>
                </a:gdLst>
                <a:ahLst/>
                <a:cxnLst>
                  <a:cxn ang="T6">
                    <a:pos x="T0" y="T1"/>
                  </a:cxn>
                  <a:cxn ang="T7">
                    <a:pos x="T2" y="T3"/>
                  </a:cxn>
                  <a:cxn ang="T8">
                    <a:pos x="T4" y="T5"/>
                  </a:cxn>
                </a:cxnLst>
                <a:rect l="T9" t="T10" r="T11" b="T12"/>
                <a:pathLst>
                  <a:path w="288" h="96">
                    <a:moveTo>
                      <a:pt x="0" y="0"/>
                    </a:moveTo>
                    <a:lnTo>
                      <a:pt x="192" y="48"/>
                    </a:lnTo>
                    <a:lnTo>
                      <a:pt x="288" y="96"/>
                    </a:ln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grpSp>
        <p:sp>
          <p:nvSpPr>
            <p:cNvPr id="47119" name="Text Box 50"/>
            <p:cNvSpPr txBox="1">
              <a:spLocks noChangeArrowheads="1"/>
            </p:cNvSpPr>
            <p:nvPr/>
          </p:nvSpPr>
          <p:spPr bwMode="auto">
            <a:xfrm>
              <a:off x="2879725" y="31607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J</a:t>
              </a:r>
            </a:p>
          </p:txBody>
        </p:sp>
        <p:sp>
          <p:nvSpPr>
            <p:cNvPr id="47120" name="Text Box 48"/>
            <p:cNvSpPr txBox="1">
              <a:spLocks noChangeArrowheads="1"/>
            </p:cNvSpPr>
            <p:nvPr/>
          </p:nvSpPr>
          <p:spPr bwMode="auto">
            <a:xfrm>
              <a:off x="1371601" y="2154238"/>
              <a:ext cx="5222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a:t>
              </a:r>
              <a:r>
                <a:rPr lang="en-US" altLang="fr-FR" sz="1800" baseline="-25000">
                  <a:latin typeface="Arial" panose="020B0604020202020204" pitchFamily="34" charset="0"/>
                </a:rPr>
                <a:t>L</a:t>
              </a:r>
              <a:endParaRPr lang="en-US" altLang="fr-FR" sz="1800">
                <a:latin typeface="Arial" panose="020B0604020202020204" pitchFamily="34" charset="0"/>
              </a:endParaRPr>
            </a:p>
          </p:txBody>
        </p:sp>
        <p:sp>
          <p:nvSpPr>
            <p:cNvPr id="47121" name="Arc 25"/>
            <p:cNvSpPr>
              <a:spLocks/>
            </p:cNvSpPr>
            <p:nvPr/>
          </p:nvSpPr>
          <p:spPr bwMode="auto">
            <a:xfrm rot="-47872">
              <a:off x="1299065" y="2669634"/>
              <a:ext cx="382025" cy="529102"/>
            </a:xfrm>
            <a:custGeom>
              <a:avLst/>
              <a:gdLst>
                <a:gd name="T0" fmla="*/ 0 w 25217"/>
                <a:gd name="T1" fmla="*/ 0 h 21600"/>
                <a:gd name="T2" fmla="*/ 0 w 25217"/>
                <a:gd name="T3" fmla="*/ 0 h 21600"/>
                <a:gd name="T4" fmla="*/ 0 w 25217"/>
                <a:gd name="T5" fmla="*/ 0 h 21600"/>
                <a:gd name="T6" fmla="*/ 0 60000 65536"/>
                <a:gd name="T7" fmla="*/ 0 60000 65536"/>
                <a:gd name="T8" fmla="*/ 0 60000 65536"/>
                <a:gd name="T9" fmla="*/ 0 w 25217"/>
                <a:gd name="T10" fmla="*/ 0 h 21600"/>
                <a:gd name="T11" fmla="*/ 25217 w 25217"/>
                <a:gd name="T12" fmla="*/ 21600 h 21600"/>
              </a:gdLst>
              <a:ahLst/>
              <a:cxnLst>
                <a:cxn ang="T6">
                  <a:pos x="T0" y="T1"/>
                </a:cxn>
                <a:cxn ang="T7">
                  <a:pos x="T2" y="T3"/>
                </a:cxn>
                <a:cxn ang="T8">
                  <a:pos x="T4" y="T5"/>
                </a:cxn>
              </a:cxnLst>
              <a:rect l="T9" t="T10" r="T11" b="T12"/>
              <a:pathLst>
                <a:path w="25217" h="21600" fill="none" extrusionOk="0">
                  <a:moveTo>
                    <a:pt x="-1" y="304"/>
                  </a:moveTo>
                  <a:cubicBezTo>
                    <a:pt x="1194" y="102"/>
                    <a:pt x="2404" y="-1"/>
                    <a:pt x="3617" y="-1"/>
                  </a:cubicBezTo>
                  <a:cubicBezTo>
                    <a:pt x="15546" y="-1"/>
                    <a:pt x="25217" y="9670"/>
                    <a:pt x="25217" y="21600"/>
                  </a:cubicBezTo>
                </a:path>
                <a:path w="25217" h="21600" stroke="0" extrusionOk="0">
                  <a:moveTo>
                    <a:pt x="-1" y="304"/>
                  </a:moveTo>
                  <a:cubicBezTo>
                    <a:pt x="1194" y="102"/>
                    <a:pt x="2404" y="-1"/>
                    <a:pt x="3617" y="-1"/>
                  </a:cubicBezTo>
                  <a:cubicBezTo>
                    <a:pt x="15546" y="-1"/>
                    <a:pt x="25217" y="9670"/>
                    <a:pt x="25217" y="21600"/>
                  </a:cubicBezTo>
                  <a:lnTo>
                    <a:pt x="3617" y="21600"/>
                  </a:lnTo>
                  <a:lnTo>
                    <a:pt x="-1" y="304"/>
                  </a:lnTo>
                  <a:close/>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47122" name="Arc 25"/>
            <p:cNvSpPr>
              <a:spLocks/>
            </p:cNvSpPr>
            <p:nvPr/>
          </p:nvSpPr>
          <p:spPr bwMode="auto">
            <a:xfrm rot="16247872" flipV="1">
              <a:off x="1526686" y="2586042"/>
              <a:ext cx="680428" cy="390513"/>
            </a:xfrm>
            <a:custGeom>
              <a:avLst/>
              <a:gdLst>
                <a:gd name="T0" fmla="*/ 0 w 25217"/>
                <a:gd name="T1" fmla="*/ 0 h 21600"/>
                <a:gd name="T2" fmla="*/ 0 w 25217"/>
                <a:gd name="T3" fmla="*/ 0 h 21600"/>
                <a:gd name="T4" fmla="*/ 0 w 25217"/>
                <a:gd name="T5" fmla="*/ 0 h 21600"/>
                <a:gd name="T6" fmla="*/ 0 60000 65536"/>
                <a:gd name="T7" fmla="*/ 0 60000 65536"/>
                <a:gd name="T8" fmla="*/ 0 60000 65536"/>
                <a:gd name="T9" fmla="*/ 0 w 25217"/>
                <a:gd name="T10" fmla="*/ 0 h 21600"/>
                <a:gd name="T11" fmla="*/ 25217 w 25217"/>
                <a:gd name="T12" fmla="*/ 21600 h 21600"/>
              </a:gdLst>
              <a:ahLst/>
              <a:cxnLst>
                <a:cxn ang="T6">
                  <a:pos x="T0" y="T1"/>
                </a:cxn>
                <a:cxn ang="T7">
                  <a:pos x="T2" y="T3"/>
                </a:cxn>
                <a:cxn ang="T8">
                  <a:pos x="T4" y="T5"/>
                </a:cxn>
              </a:cxnLst>
              <a:rect l="T9" t="T10" r="T11" b="T12"/>
              <a:pathLst>
                <a:path w="25217" h="21600" fill="none" extrusionOk="0">
                  <a:moveTo>
                    <a:pt x="-1" y="304"/>
                  </a:moveTo>
                  <a:cubicBezTo>
                    <a:pt x="1194" y="102"/>
                    <a:pt x="2404" y="-1"/>
                    <a:pt x="3617" y="-1"/>
                  </a:cubicBezTo>
                  <a:cubicBezTo>
                    <a:pt x="15546" y="-1"/>
                    <a:pt x="25217" y="9670"/>
                    <a:pt x="25217" y="21600"/>
                  </a:cubicBezTo>
                </a:path>
                <a:path w="25217" h="21600" stroke="0" extrusionOk="0">
                  <a:moveTo>
                    <a:pt x="-1" y="304"/>
                  </a:moveTo>
                  <a:cubicBezTo>
                    <a:pt x="1194" y="102"/>
                    <a:pt x="2404" y="-1"/>
                    <a:pt x="3617" y="-1"/>
                  </a:cubicBezTo>
                  <a:cubicBezTo>
                    <a:pt x="15546" y="-1"/>
                    <a:pt x="25217" y="9670"/>
                    <a:pt x="25217" y="21600"/>
                  </a:cubicBezTo>
                  <a:lnTo>
                    <a:pt x="3617" y="21600"/>
                  </a:lnTo>
                  <a:lnTo>
                    <a:pt x="-1" y="304"/>
                  </a:lnTo>
                  <a:close/>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grpSp>
      <p:sp>
        <p:nvSpPr>
          <p:cNvPr id="47115" name="Rectangle 33"/>
          <p:cNvSpPr>
            <a:spLocks noChangeArrowheads="1"/>
          </p:cNvSpPr>
          <p:nvPr/>
        </p:nvSpPr>
        <p:spPr bwMode="auto">
          <a:xfrm>
            <a:off x="685800" y="1514475"/>
            <a:ext cx="7772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Pour le mouvement de rotation, la force, la masse et la vitesse réctiligne sont les équivalents de couple, du moment d'inertie et de la vitesse angulaire (respectivement).</a:t>
            </a:r>
          </a:p>
        </p:txBody>
      </p:sp>
      <p:sp>
        <p:nvSpPr>
          <p:cNvPr id="47116" name="ZoneTexte 35"/>
          <p:cNvSpPr txBox="1">
            <a:spLocks noChangeArrowheads="1"/>
          </p:cNvSpPr>
          <p:nvPr/>
        </p:nvSpPr>
        <p:spPr bwMode="auto">
          <a:xfrm>
            <a:off x="990600" y="5105400"/>
            <a:ext cx="7620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a:t>
            </a:r>
            <a:r>
              <a:rPr lang="fr-FR" altLang="fr-FR" sz="1800" baseline="-25000">
                <a:latin typeface="Arial" panose="020B0604020202020204" pitchFamily="34" charset="0"/>
              </a:rPr>
              <a:t>e </a:t>
            </a:r>
            <a:r>
              <a:rPr lang="fr-FR" altLang="fr-FR" sz="1800">
                <a:latin typeface="Arial" panose="020B0604020202020204" pitchFamily="34" charset="0"/>
              </a:rPr>
              <a:t>: couple électromagnétique interne développé par le moteur</a:t>
            </a:r>
            <a:endParaRPr lang="fr-FR" altLang="fr-FR" sz="1800" baseline="-25000">
              <a:latin typeface="Arial" panose="020B0604020202020204" pitchFamily="34" charset="0"/>
            </a:endParaRPr>
          </a:p>
        </p:txBody>
      </p:sp>
      <p:sp>
        <p:nvSpPr>
          <p:cNvPr id="47117" name="ZoneTexte 37"/>
          <p:cNvSpPr txBox="1">
            <a:spLocks noChangeArrowheads="1"/>
          </p:cNvSpPr>
          <p:nvPr/>
        </p:nvSpPr>
        <p:spPr bwMode="auto">
          <a:xfrm>
            <a:off x="990600" y="5638800"/>
            <a:ext cx="7620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a:t>
            </a:r>
            <a:r>
              <a:rPr lang="fr-FR" altLang="fr-FR" sz="1800" baseline="-25000">
                <a:latin typeface="Arial" panose="020B0604020202020204" pitchFamily="34" charset="0"/>
              </a:rPr>
              <a:t>L </a:t>
            </a:r>
            <a:r>
              <a:rPr lang="fr-FR" altLang="fr-FR" sz="1800">
                <a:latin typeface="Arial" panose="020B0604020202020204" pitchFamily="34" charset="0"/>
              </a:rPr>
              <a:t>: couple résistant de la charge + le couple de frottements</a:t>
            </a:r>
            <a:endParaRPr lang="fr-FR" altLang="fr-FR" sz="1800" baseline="-250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4915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2B9984F-5E69-4417-A051-543D4CE1228C}" type="slidenum">
              <a:rPr lang="en-US" altLang="fr-FR" sz="1000" smtClean="0">
                <a:solidFill>
                  <a:srgbClr val="292929"/>
                </a:solidFill>
                <a:latin typeface="Arial" panose="020B0604020202020204" pitchFamily="34" charset="0"/>
              </a:rPr>
              <a:pPr>
                <a:spcBef>
                  <a:spcPct val="0"/>
                </a:spcBef>
                <a:buClrTx/>
                <a:buSzTx/>
                <a:buFontTx/>
                <a:buNone/>
              </a:pPr>
              <a:t>22</a:t>
            </a:fld>
            <a:endParaRPr lang="en-US" altLang="fr-FR" sz="1000" smtClean="0">
              <a:solidFill>
                <a:srgbClr val="292929"/>
              </a:solidFill>
              <a:latin typeface="Arial" panose="020B0604020202020204" pitchFamily="34" charset="0"/>
            </a:endParaRPr>
          </a:p>
        </p:txBody>
      </p:sp>
      <p:grpSp>
        <p:nvGrpSpPr>
          <p:cNvPr id="4" name="Group 21"/>
          <p:cNvGrpSpPr>
            <a:grpSpLocks/>
          </p:cNvGrpSpPr>
          <p:nvPr/>
        </p:nvGrpSpPr>
        <p:grpSpPr bwMode="auto">
          <a:xfrm>
            <a:off x="609600" y="1066800"/>
            <a:ext cx="11125200" cy="1657350"/>
            <a:chOff x="624" y="2544"/>
            <a:chExt cx="7008" cy="1044"/>
          </a:xfrm>
        </p:grpSpPr>
        <p:sp>
          <p:nvSpPr>
            <p:cNvPr id="49161" name="Text Box 22"/>
            <p:cNvSpPr txBox="1">
              <a:spLocks noChangeArrowheads="1"/>
            </p:cNvSpPr>
            <p:nvPr/>
          </p:nvSpPr>
          <p:spPr bwMode="auto">
            <a:xfrm>
              <a:off x="2928" y="2832"/>
              <a:ext cx="4704"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63550" indent="-46355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Char char="•"/>
              </a:pPr>
              <a:r>
                <a:rPr lang="en-US" altLang="fr-FR" sz="1800">
                  <a:latin typeface="Arial" panose="020B0604020202020204" pitchFamily="34" charset="0"/>
                </a:rPr>
                <a:t>Equation du 1er ordre pour</a:t>
              </a:r>
            </a:p>
            <a:p>
              <a:pPr algn="just" eaLnBrk="1" hangingPunct="1">
                <a:spcBef>
                  <a:spcPct val="0"/>
                </a:spcBef>
                <a:buClrTx/>
                <a:buSzTx/>
                <a:buFontTx/>
                <a:buNone/>
              </a:pPr>
              <a:r>
                <a:rPr lang="en-US" altLang="fr-FR" sz="1800">
                  <a:latin typeface="Arial" panose="020B0604020202020204" pitchFamily="34" charset="0"/>
                </a:rPr>
                <a:t>       la vitesse angulaire</a:t>
              </a:r>
            </a:p>
            <a:p>
              <a:pPr algn="just" eaLnBrk="1" hangingPunct="1">
                <a:spcBef>
                  <a:spcPct val="0"/>
                </a:spcBef>
                <a:buClrTx/>
                <a:buSzTx/>
                <a:buFontTx/>
                <a:buChar char="•"/>
              </a:pPr>
              <a:r>
                <a:rPr lang="en-US" altLang="fr-FR" sz="1800">
                  <a:latin typeface="Arial" panose="020B0604020202020204" pitchFamily="34" charset="0"/>
                </a:rPr>
                <a:t>Equation du 2ème ordre pour</a:t>
              </a:r>
            </a:p>
            <a:p>
              <a:pPr algn="just" eaLnBrk="1" hangingPunct="1">
                <a:spcBef>
                  <a:spcPct val="0"/>
                </a:spcBef>
                <a:buClrTx/>
                <a:buSzTx/>
                <a:buFontTx/>
                <a:buNone/>
              </a:pPr>
              <a:r>
                <a:rPr lang="en-US" altLang="fr-FR" sz="1800">
                  <a:latin typeface="Arial" panose="020B0604020202020204" pitchFamily="34" charset="0"/>
                </a:rPr>
                <a:t>       l’angle (ou la position)</a:t>
              </a:r>
            </a:p>
          </p:txBody>
        </p:sp>
        <p:graphicFrame>
          <p:nvGraphicFramePr>
            <p:cNvPr id="49162" name="Object 3"/>
            <p:cNvGraphicFramePr>
              <a:graphicFrameLocks noChangeAspect="1"/>
            </p:cNvGraphicFramePr>
            <p:nvPr/>
          </p:nvGraphicFramePr>
          <p:xfrm>
            <a:off x="720" y="2784"/>
            <a:ext cx="1943" cy="467"/>
          </p:xfrm>
          <a:graphic>
            <a:graphicData uri="http://schemas.openxmlformats.org/presentationml/2006/ole">
              <mc:AlternateContent xmlns:mc="http://schemas.openxmlformats.org/markup-compatibility/2006">
                <mc:Choice xmlns:v="urn:schemas-microsoft-com:vml" Requires="v">
                  <p:oleObj spid="_x0000_s49180" name="Équation" r:id="rId4" imgW="1917700" imgH="469900" progId="Equation.3">
                    <p:embed/>
                  </p:oleObj>
                </mc:Choice>
                <mc:Fallback>
                  <p:oleObj name="Équation" r:id="rId4" imgW="1917700" imgH="4699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 y="2784"/>
                          <a:ext cx="1943"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63" name="Text Box 24"/>
            <p:cNvSpPr txBox="1">
              <a:spLocks noChangeArrowheads="1"/>
            </p:cNvSpPr>
            <p:nvPr/>
          </p:nvSpPr>
          <p:spPr bwMode="auto">
            <a:xfrm>
              <a:off x="624" y="2544"/>
              <a:ext cx="126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Avec J constante,</a:t>
              </a:r>
            </a:p>
          </p:txBody>
        </p:sp>
      </p:grpSp>
      <p:sp>
        <p:nvSpPr>
          <p:cNvPr id="10" name="Rectangle 18"/>
          <p:cNvSpPr txBox="1">
            <a:spLocks noChangeArrowheads="1"/>
          </p:cNvSpPr>
          <p:nvPr/>
        </p:nvSpPr>
        <p:spPr>
          <a:xfrm>
            <a:off x="457200" y="304800"/>
            <a:ext cx="6858000" cy="381000"/>
          </a:xfrm>
          <a:prstGeom prst="rect">
            <a:avLst/>
          </a:prstGeom>
          <a:noFill/>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p>
        </p:txBody>
      </p:sp>
      <p:sp>
        <p:nvSpPr>
          <p:cNvPr id="49158" name="Rectangle 19"/>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9159" name="Rectangle 11"/>
          <p:cNvSpPr>
            <a:spLocks noChangeArrowheads="1"/>
          </p:cNvSpPr>
          <p:nvPr/>
        </p:nvSpPr>
        <p:spPr bwMode="auto">
          <a:xfrm>
            <a:off x="685800" y="3233738"/>
            <a:ext cx="78486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Arial" panose="020B0604020202020204" pitchFamily="34" charset="0"/>
              <a:buChar char="•"/>
            </a:pPr>
            <a:r>
              <a:rPr lang="fr-FR" altLang="fr-FR" sz="1800">
                <a:latin typeface="Arial" panose="020B0604020202020204" pitchFamily="34" charset="0"/>
              </a:rPr>
              <a:t> T = T</a:t>
            </a:r>
            <a:r>
              <a:rPr lang="fr-FR" altLang="fr-FR" sz="1800" baseline="-25000">
                <a:latin typeface="Arial" panose="020B0604020202020204" pitchFamily="34" charset="0"/>
              </a:rPr>
              <a:t>e</a:t>
            </a:r>
            <a:r>
              <a:rPr lang="fr-FR" altLang="fr-FR" sz="1800">
                <a:latin typeface="Arial" panose="020B0604020202020204" pitchFamily="34" charset="0"/>
              </a:rPr>
              <a:t>-T</a:t>
            </a:r>
            <a:r>
              <a:rPr lang="fr-FR" altLang="fr-FR" sz="1800" baseline="-25000">
                <a:latin typeface="Arial" panose="020B0604020202020204" pitchFamily="34" charset="0"/>
              </a:rPr>
              <a:t>L  </a:t>
            </a:r>
            <a:r>
              <a:rPr lang="fr-FR" altLang="fr-FR" sz="1800">
                <a:latin typeface="Arial" panose="020B0604020202020204" pitchFamily="34" charset="0"/>
              </a:rPr>
              <a:t>: le couple disponible sur l'arbre et responsable de l'accélération de l'inertie du moteur. </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 typeface="Arial" panose="020B0604020202020204" pitchFamily="34" charset="0"/>
              <a:buChar char="•"/>
            </a:pPr>
            <a:r>
              <a:rPr lang="fr-FR" altLang="fr-FR" sz="1800">
                <a:latin typeface="Arial" panose="020B0604020202020204" pitchFamily="34" charset="0"/>
              </a:rPr>
              <a:t> T est également connu sous </a:t>
            </a:r>
            <a:r>
              <a:rPr lang="fr-FR" altLang="fr-FR" sz="1800" i="1">
                <a:latin typeface="Arial" panose="020B0604020202020204" pitchFamily="34" charset="0"/>
              </a:rPr>
              <a:t>le couple dynamique </a:t>
            </a:r>
            <a:r>
              <a:rPr lang="fr-FR" altLang="fr-FR" sz="1800">
                <a:latin typeface="Arial" panose="020B0604020202020204" pitchFamily="34" charset="0"/>
              </a:rPr>
              <a:t>et il n'existe que pendant les transitoires (accélération et décélération-freinage). </a:t>
            </a:r>
          </a:p>
          <a:p>
            <a:pPr algn="just" eaLnBrk="1" hangingPunct="1">
              <a:spcBef>
                <a:spcPct val="0"/>
              </a:spcBef>
              <a:buClrTx/>
              <a:buSzTx/>
              <a:buFont typeface="Arial" panose="020B0604020202020204" pitchFamily="34" charset="0"/>
              <a:buChar char="•"/>
            </a:pPr>
            <a:endParaRPr lang="fr-FR" altLang="fr-FR" sz="1800">
              <a:latin typeface="Arial" panose="020B0604020202020204" pitchFamily="34" charset="0"/>
            </a:endParaRPr>
          </a:p>
          <a:p>
            <a:pPr algn="just" eaLnBrk="1" hangingPunct="1">
              <a:spcBef>
                <a:spcPct val="0"/>
              </a:spcBef>
              <a:buClrTx/>
              <a:buSzTx/>
              <a:buFont typeface="Arial" panose="020B0604020202020204" pitchFamily="34" charset="0"/>
              <a:buChar char="•"/>
            </a:pPr>
            <a:r>
              <a:rPr lang="fr-FR" altLang="fr-FR" sz="1800">
                <a:latin typeface="Arial" panose="020B0604020202020204" pitchFamily="34" charset="0"/>
              </a:rPr>
              <a:t>  Afin d'accélérer dans le sens de la marche, T doit être positif ; ce qui signifie que le couple électrique appliqué doit être supérieur au couple de la charge.</a:t>
            </a:r>
          </a:p>
          <a:p>
            <a:pPr algn="just" eaLnBrk="1" hangingPunct="1">
              <a:spcBef>
                <a:spcPct val="0"/>
              </a:spcBef>
              <a:buClrTx/>
              <a:buSzTx/>
              <a:buFontTx/>
              <a:buNone/>
            </a:pPr>
            <a:r>
              <a:rPr lang="fr-FR" altLang="fr-FR" sz="1800">
                <a:latin typeface="Arial" panose="020B0604020202020204" pitchFamily="34" charset="0"/>
              </a:rPr>
              <a:t> </a:t>
            </a:r>
          </a:p>
        </p:txBody>
      </p:sp>
      <p:sp>
        <p:nvSpPr>
          <p:cNvPr id="49160" name="Text Box 20"/>
          <p:cNvSpPr txBox="1">
            <a:spLocks noChangeArrowheads="1"/>
          </p:cNvSpPr>
          <p:nvPr/>
        </p:nvSpPr>
        <p:spPr bwMode="auto">
          <a:xfrm>
            <a:off x="685800" y="6096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endParaRPr lang="en-US" altLang="fr-FR" sz="1800" b="1">
              <a:solidFill>
                <a:srgbClr val="CC66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5120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AFE613E-1668-41BC-A831-1177F405805F}" type="slidenum">
              <a:rPr lang="en-US" altLang="fr-FR" sz="1000" smtClean="0">
                <a:solidFill>
                  <a:srgbClr val="292929"/>
                </a:solidFill>
                <a:latin typeface="Arial" panose="020B0604020202020204" pitchFamily="34" charset="0"/>
              </a:rPr>
              <a:pPr>
                <a:spcBef>
                  <a:spcPct val="0"/>
                </a:spcBef>
                <a:buClrTx/>
                <a:buSzTx/>
                <a:buFontTx/>
                <a:buNone/>
              </a:pPr>
              <a:t>23</a:t>
            </a:fld>
            <a:endParaRPr lang="en-US" altLang="fr-FR" sz="1000" smtClean="0">
              <a:solidFill>
                <a:srgbClr val="292929"/>
              </a:solidFill>
              <a:latin typeface="Arial" panose="020B0604020202020204" pitchFamily="34" charset="0"/>
            </a:endParaRPr>
          </a:p>
        </p:txBody>
      </p:sp>
      <p:sp>
        <p:nvSpPr>
          <p:cNvPr id="51204" name="Rectangle 3"/>
          <p:cNvSpPr>
            <a:spLocks noChangeArrowheads="1"/>
          </p:cNvSpPr>
          <p:nvPr/>
        </p:nvSpPr>
        <p:spPr bwMode="auto">
          <a:xfrm>
            <a:off x="685800" y="1676400"/>
            <a:ext cx="77724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Arial" panose="020B0604020202020204" pitchFamily="34" charset="0"/>
              <a:buChar char="•"/>
            </a:pPr>
            <a:r>
              <a:rPr lang="fr-FR" altLang="fr-FR" sz="1800">
                <a:latin typeface="Arial" panose="020B0604020202020204" pitchFamily="34" charset="0"/>
              </a:rPr>
              <a:t>  Afin de ralentir, le couple net doit être négatif ; le couple électrique doit être plus petit que le couple de charge et le moteur fonctionne en mode freinage (génératrice).</a:t>
            </a:r>
          </a:p>
          <a:p>
            <a:pPr algn="just" eaLnBrk="1" hangingPunct="1">
              <a:spcBef>
                <a:spcPct val="0"/>
              </a:spcBef>
              <a:buClrTx/>
              <a:buSzTx/>
              <a:buFont typeface="Arial" panose="020B0604020202020204" pitchFamily="34" charset="0"/>
              <a:buChar char="•"/>
            </a:pPr>
            <a:endParaRPr lang="fr-FR" altLang="fr-FR" sz="1800">
              <a:latin typeface="Arial" panose="020B0604020202020204" pitchFamily="34" charset="0"/>
            </a:endParaRPr>
          </a:p>
          <a:p>
            <a:pPr algn="just" eaLnBrk="1" hangingPunct="1">
              <a:spcBef>
                <a:spcPct val="0"/>
              </a:spcBef>
              <a:buClrTx/>
              <a:buSzTx/>
              <a:buFont typeface="Arial" panose="020B0604020202020204" pitchFamily="34" charset="0"/>
              <a:buChar char="•"/>
            </a:pPr>
            <a:endParaRPr lang="fr-FR" altLang="fr-FR" sz="1800">
              <a:latin typeface="Arial" panose="020B0604020202020204" pitchFamily="34" charset="0"/>
            </a:endParaRPr>
          </a:p>
          <a:p>
            <a:pPr algn="just" eaLnBrk="1" hangingPunct="1">
              <a:spcBef>
                <a:spcPct val="0"/>
              </a:spcBef>
              <a:buClrTx/>
              <a:buSzTx/>
              <a:buFont typeface="Arial" panose="020B0604020202020204" pitchFamily="34" charset="0"/>
              <a:buChar char="•"/>
            </a:pPr>
            <a:endParaRPr lang="fr-FR" altLang="fr-FR" sz="1800">
              <a:latin typeface="Arial" panose="020B0604020202020204" pitchFamily="34" charset="0"/>
            </a:endParaRPr>
          </a:p>
          <a:p>
            <a:pPr algn="just" eaLnBrk="1" hangingPunct="1">
              <a:spcBef>
                <a:spcPct val="0"/>
              </a:spcBef>
              <a:buClrTx/>
              <a:buSzTx/>
              <a:buFont typeface="Arial" panose="020B0604020202020204" pitchFamily="34" charset="0"/>
              <a:buChar char="•"/>
            </a:pPr>
            <a:r>
              <a:rPr lang="fr-FR" altLang="fr-FR" sz="1800">
                <a:latin typeface="Arial" panose="020B0604020202020204" pitchFamily="34" charset="0"/>
              </a:rPr>
              <a:t>  A Noter que la vitesse est toujours continue. Une discontinuité de vitesse nécessitera, théoriquement un couple infinie. C'est analogue à la tension et le courant sur un condensateur dans lequel la discontinuité de la tension n'est pas autorisée car elle correspond à un condensateur à courant infini.</a:t>
            </a:r>
          </a:p>
        </p:txBody>
      </p:sp>
      <p:sp>
        <p:nvSpPr>
          <p:cNvPr id="5" name="Rectangle 18"/>
          <p:cNvSpPr txBox="1">
            <a:spLocks noChangeArrowheads="1"/>
          </p:cNvSpPr>
          <p:nvPr/>
        </p:nvSpPr>
        <p:spPr>
          <a:xfrm>
            <a:off x="457200" y="304800"/>
            <a:ext cx="6858000" cy="381000"/>
          </a:xfrm>
          <a:prstGeom prst="rect">
            <a:avLst/>
          </a:prstGeom>
          <a:noFill/>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p>
        </p:txBody>
      </p:sp>
      <p:sp>
        <p:nvSpPr>
          <p:cNvPr id="51206" name="Rectangle 19"/>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1207" name="Text Box 20"/>
          <p:cNvSpPr txBox="1">
            <a:spLocks noChangeArrowheads="1"/>
          </p:cNvSpPr>
          <p:nvPr/>
        </p:nvSpPr>
        <p:spPr bwMode="auto">
          <a:xfrm>
            <a:off x="685800" y="99695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endParaRPr lang="en-US" altLang="fr-FR" sz="1800" b="1">
              <a:solidFill>
                <a:srgbClr val="CC66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subTitle" idx="1"/>
          </p:nvPr>
        </p:nvSpPr>
        <p:spPr>
          <a:xfrm>
            <a:off x="457200" y="304800"/>
            <a:ext cx="6858000" cy="381000"/>
          </a:xfrm>
        </p:spPr>
        <p:txBody>
          <a:bodyPr/>
          <a:lstStyle/>
          <a:p>
            <a:pPr algn="l" eaLnBrk="1" hangingPunct="1"/>
            <a:r>
              <a:rPr lang="fr-FR" altLang="fr-FR" sz="1200" smtClean="0"/>
              <a:t>                                                                                                  MODULE 1 - INTRODUCTION</a:t>
            </a:r>
          </a:p>
        </p:txBody>
      </p:sp>
      <p:sp>
        <p:nvSpPr>
          <p:cNvPr id="53251" name="Espace réservé du numéro de diapositive 1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301D7B56-E4D0-462E-85A2-A3DA3667BDAB}" type="slidenum">
              <a:rPr lang="en-US" altLang="fr-FR" sz="1000" smtClean="0">
                <a:solidFill>
                  <a:srgbClr val="292929"/>
                </a:solidFill>
                <a:latin typeface="Arial" panose="020B0604020202020204" pitchFamily="34" charset="0"/>
              </a:rPr>
              <a:pPr>
                <a:spcBef>
                  <a:spcPct val="0"/>
                </a:spcBef>
                <a:buClrTx/>
                <a:buSzTx/>
                <a:buFontTx/>
                <a:buNone/>
              </a:pPr>
              <a:t>24</a:t>
            </a:fld>
            <a:endParaRPr lang="en-US" altLang="fr-FR" sz="1000" smtClean="0">
              <a:solidFill>
                <a:srgbClr val="292929"/>
              </a:solidFill>
              <a:latin typeface="Arial" panose="020B0604020202020204" pitchFamily="34" charset="0"/>
            </a:endParaRPr>
          </a:p>
        </p:txBody>
      </p:sp>
      <p:sp>
        <p:nvSpPr>
          <p:cNvPr id="53252"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aphicFrame>
        <p:nvGraphicFramePr>
          <p:cNvPr id="53253" name="Object 2"/>
          <p:cNvGraphicFramePr>
            <a:graphicFrameLocks noChangeAspect="1"/>
          </p:cNvGraphicFramePr>
          <p:nvPr/>
        </p:nvGraphicFramePr>
        <p:xfrm>
          <a:off x="3810000" y="1524000"/>
          <a:ext cx="1922463" cy="701675"/>
        </p:xfrm>
        <a:graphic>
          <a:graphicData uri="http://schemas.openxmlformats.org/presentationml/2006/ole">
            <mc:AlternateContent xmlns:mc="http://schemas.openxmlformats.org/markup-compatibility/2006">
              <mc:Choice xmlns:v="urn:schemas-microsoft-com:vml" Requires="v">
                <p:oleObj spid="_x0000_s53310" name="Équation" r:id="rId4" imgW="1193800" imgH="444500" progId="Equation.3">
                  <p:embed/>
                </p:oleObj>
              </mc:Choice>
              <mc:Fallback>
                <p:oleObj name="Équation" r:id="rId4" imgW="1193800" imgH="4445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1524000"/>
                        <a:ext cx="19224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4" name="Text Box 20"/>
          <p:cNvSpPr txBox="1">
            <a:spLocks noChangeArrowheads="1"/>
          </p:cNvSpPr>
          <p:nvPr/>
        </p:nvSpPr>
        <p:spPr bwMode="auto">
          <a:xfrm>
            <a:off x="1143000" y="1600200"/>
            <a:ext cx="2352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Pour  la constante J, </a:t>
            </a:r>
          </a:p>
        </p:txBody>
      </p:sp>
      <p:graphicFrame>
        <p:nvGraphicFramePr>
          <p:cNvPr id="49155" name="Object 3"/>
          <p:cNvGraphicFramePr>
            <a:graphicFrameLocks noChangeAspect="1"/>
          </p:cNvGraphicFramePr>
          <p:nvPr/>
        </p:nvGraphicFramePr>
        <p:xfrm>
          <a:off x="990600" y="2514600"/>
          <a:ext cx="1042988" cy="671513"/>
        </p:xfrm>
        <a:graphic>
          <a:graphicData uri="http://schemas.openxmlformats.org/presentationml/2006/ole">
            <mc:AlternateContent xmlns:mc="http://schemas.openxmlformats.org/markup-compatibility/2006">
              <mc:Choice xmlns:v="urn:schemas-microsoft-com:vml" Requires="v">
                <p:oleObj spid="_x0000_s53311" name="Équation" r:id="rId6" imgW="647419" imgH="444307" progId="Equation.3">
                  <p:embed/>
                </p:oleObj>
              </mc:Choice>
              <mc:Fallback>
                <p:oleObj name="Équation" r:id="rId6" imgW="647419" imgH="444307"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2514600"/>
                        <a:ext cx="104298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60" name="Text Box 22"/>
          <p:cNvSpPr txBox="1">
            <a:spLocks noChangeArrowheads="1"/>
          </p:cNvSpPr>
          <p:nvPr/>
        </p:nvSpPr>
        <p:spPr bwMode="auto">
          <a:xfrm>
            <a:off x="2278063" y="2590800"/>
            <a:ext cx="64087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en-US" altLang="fr-FR" sz="1800">
                <a:latin typeface="Arial" panose="020B0604020202020204" pitchFamily="34" charset="0"/>
              </a:rPr>
              <a:t>Couple dynamique : présent durant les transitions de la vitesse. Pendant l’accélération, il s’oppose au mouvement, pendant la décélération, il maintient le mouvement.</a:t>
            </a:r>
          </a:p>
        </p:txBody>
      </p:sp>
      <p:graphicFrame>
        <p:nvGraphicFramePr>
          <p:cNvPr id="49156" name="Object 4"/>
          <p:cNvGraphicFramePr>
            <a:graphicFrameLocks noChangeAspect="1"/>
          </p:cNvGraphicFramePr>
          <p:nvPr/>
        </p:nvGraphicFramePr>
        <p:xfrm>
          <a:off x="1066800" y="4038600"/>
          <a:ext cx="817563" cy="673100"/>
        </p:xfrm>
        <a:graphic>
          <a:graphicData uri="http://schemas.openxmlformats.org/presentationml/2006/ole">
            <mc:AlternateContent xmlns:mc="http://schemas.openxmlformats.org/markup-compatibility/2006">
              <mc:Choice xmlns:v="urn:schemas-microsoft-com:vml" Requires="v">
                <p:oleObj spid="_x0000_s53312" name="Équation" r:id="rId8" imgW="507780" imgH="444307" progId="Equation.3">
                  <p:embed/>
                </p:oleObj>
              </mc:Choice>
              <mc:Fallback>
                <p:oleObj name="Équation" r:id="rId8" imgW="507780" imgH="444307"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0" y="4038600"/>
                        <a:ext cx="817563"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61" name="Text Box 24"/>
          <p:cNvSpPr txBox="1">
            <a:spLocks noChangeArrowheads="1"/>
          </p:cNvSpPr>
          <p:nvPr/>
        </p:nvSpPr>
        <p:spPr bwMode="auto">
          <a:xfrm>
            <a:off x="2286000" y="4191000"/>
            <a:ext cx="4814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Accélération angulaire (vitesse de la vitesse) </a:t>
            </a:r>
          </a:p>
        </p:txBody>
      </p:sp>
      <p:sp>
        <p:nvSpPr>
          <p:cNvPr id="49162" name="Text Box 25"/>
          <p:cNvSpPr txBox="1">
            <a:spLocks noChangeArrowheads="1"/>
          </p:cNvSpPr>
          <p:nvPr/>
        </p:nvSpPr>
        <p:spPr bwMode="auto">
          <a:xfrm>
            <a:off x="1295400" y="5345113"/>
            <a:ext cx="7391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Arial" panose="020B0604020202020204" pitchFamily="34" charset="0"/>
              <a:buChar char="•"/>
            </a:pPr>
            <a:r>
              <a:rPr lang="fr-FR" altLang="fr-FR" sz="1800">
                <a:latin typeface="Arial" panose="020B0604020202020204" pitchFamily="34" charset="0"/>
              </a:rPr>
              <a:t>  Plus le couple net (T</a:t>
            </a:r>
            <a:r>
              <a:rPr lang="fr-FR" altLang="fr-FR" sz="1800" baseline="-25000">
                <a:latin typeface="Arial" panose="020B0604020202020204" pitchFamily="34" charset="0"/>
              </a:rPr>
              <a:t>e</a:t>
            </a:r>
            <a:r>
              <a:rPr lang="fr-FR" altLang="fr-FR" sz="1800">
                <a:latin typeface="Arial" panose="020B0604020202020204" pitchFamily="34" charset="0"/>
              </a:rPr>
              <a:t> – T</a:t>
            </a:r>
            <a:r>
              <a:rPr lang="fr-FR" altLang="fr-FR" sz="1800" baseline="-25000">
                <a:latin typeface="Arial" panose="020B0604020202020204" pitchFamily="34" charset="0"/>
              </a:rPr>
              <a:t>L</a:t>
            </a:r>
            <a:r>
              <a:rPr lang="fr-FR" altLang="fr-FR" sz="1800">
                <a:latin typeface="Arial" panose="020B0604020202020204" pitchFamily="34" charset="0"/>
              </a:rPr>
              <a:t>) est elevé, plus rapide est  l'accélération.</a:t>
            </a:r>
          </a:p>
        </p:txBody>
      </p:sp>
      <p:sp>
        <p:nvSpPr>
          <p:cNvPr id="53260" name="Text Box 27"/>
          <p:cNvSpPr txBox="1">
            <a:spLocks noChangeArrowheads="1"/>
          </p:cNvSpPr>
          <p:nvPr/>
        </p:nvSpPr>
        <p:spPr bwMode="auto">
          <a:xfrm>
            <a:off x="685800" y="7620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p>
        </p:txBody>
      </p:sp>
      <p:sp>
        <p:nvSpPr>
          <p:cNvPr id="15" name="Espace réservé du pied de page 14"/>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9155"/>
                                        </p:tgtEl>
                                        <p:attrNameLst>
                                          <p:attrName>style.visibility</p:attrName>
                                        </p:attrNameLst>
                                      </p:cBhvr>
                                      <p:to>
                                        <p:strVal val="visible"/>
                                      </p:to>
                                    </p:set>
                                    <p:animEffect transition="in" filter="fade">
                                      <p:cBhvr>
                                        <p:cTn id="7" dur="500"/>
                                        <p:tgtEl>
                                          <p:spTgt spid="49155"/>
                                        </p:tgtEl>
                                      </p:cBhvr>
                                    </p:animEffect>
                                  </p:childTnLst>
                                </p:cTn>
                              </p:par>
                            </p:childTnLst>
                          </p:cTn>
                        </p:par>
                        <p:par>
                          <p:cTn id="8" fill="hold" nodeType="afterGroup">
                            <p:stCondLst>
                              <p:cond delay="500"/>
                            </p:stCondLst>
                            <p:childTnLst>
                              <p:par>
                                <p:cTn id="9" presetID="2" presetClass="entr" presetSubtype="8" accel="50000" decel="50000" fill="hold" grpId="0" nodeType="afterEffect">
                                  <p:stCondLst>
                                    <p:cond delay="0"/>
                                  </p:stCondLst>
                                  <p:childTnLst>
                                    <p:set>
                                      <p:cBhvr>
                                        <p:cTn id="10" dur="1" fill="hold">
                                          <p:stCondLst>
                                            <p:cond delay="0"/>
                                          </p:stCondLst>
                                        </p:cTn>
                                        <p:tgtEl>
                                          <p:spTgt spid="49160"/>
                                        </p:tgtEl>
                                        <p:attrNameLst>
                                          <p:attrName>style.visibility</p:attrName>
                                        </p:attrNameLst>
                                      </p:cBhvr>
                                      <p:to>
                                        <p:strVal val="visible"/>
                                      </p:to>
                                    </p:set>
                                    <p:anim calcmode="lin" valueType="num">
                                      <p:cBhvr additive="base">
                                        <p:cTn id="11" dur="500" fill="hold"/>
                                        <p:tgtEl>
                                          <p:spTgt spid="49160"/>
                                        </p:tgtEl>
                                        <p:attrNameLst>
                                          <p:attrName>ppt_x</p:attrName>
                                        </p:attrNameLst>
                                      </p:cBhvr>
                                      <p:tavLst>
                                        <p:tav tm="0">
                                          <p:val>
                                            <p:strVal val="0-#ppt_w/2"/>
                                          </p:val>
                                        </p:tav>
                                        <p:tav tm="100000">
                                          <p:val>
                                            <p:strVal val="#ppt_x"/>
                                          </p:val>
                                        </p:tav>
                                      </p:tavLst>
                                    </p:anim>
                                    <p:anim calcmode="lin" valueType="num">
                                      <p:cBhvr additive="base">
                                        <p:cTn id="12" dur="500" fill="hold"/>
                                        <p:tgtEl>
                                          <p:spTgt spid="49160"/>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49156"/>
                                        </p:tgtEl>
                                        <p:attrNameLst>
                                          <p:attrName>style.visibility</p:attrName>
                                        </p:attrNameLst>
                                      </p:cBhvr>
                                      <p:to>
                                        <p:strVal val="visible"/>
                                      </p:to>
                                    </p:set>
                                    <p:animEffect transition="in" filter="fade">
                                      <p:cBhvr>
                                        <p:cTn id="17" dur="500"/>
                                        <p:tgtEl>
                                          <p:spTgt spid="49156"/>
                                        </p:tgtEl>
                                      </p:cBhvr>
                                    </p:animEffect>
                                  </p:childTnLst>
                                </p:cTn>
                              </p:par>
                            </p:childTnLst>
                          </p:cTn>
                        </p:par>
                        <p:par>
                          <p:cTn id="18" fill="hold" nodeType="afterGroup">
                            <p:stCondLst>
                              <p:cond delay="500"/>
                            </p:stCondLst>
                            <p:childTnLst>
                              <p:par>
                                <p:cTn id="19" presetID="2" presetClass="entr" presetSubtype="8" accel="50000" decel="50000" fill="hold" grpId="0" nodeType="afterEffect">
                                  <p:stCondLst>
                                    <p:cond delay="0"/>
                                  </p:stCondLst>
                                  <p:childTnLst>
                                    <p:set>
                                      <p:cBhvr>
                                        <p:cTn id="20" dur="1" fill="hold">
                                          <p:stCondLst>
                                            <p:cond delay="0"/>
                                          </p:stCondLst>
                                        </p:cTn>
                                        <p:tgtEl>
                                          <p:spTgt spid="49161"/>
                                        </p:tgtEl>
                                        <p:attrNameLst>
                                          <p:attrName>style.visibility</p:attrName>
                                        </p:attrNameLst>
                                      </p:cBhvr>
                                      <p:to>
                                        <p:strVal val="visible"/>
                                      </p:to>
                                    </p:set>
                                    <p:anim calcmode="lin" valueType="num">
                                      <p:cBhvr additive="base">
                                        <p:cTn id="21" dur="500" fill="hold"/>
                                        <p:tgtEl>
                                          <p:spTgt spid="49161"/>
                                        </p:tgtEl>
                                        <p:attrNameLst>
                                          <p:attrName>ppt_x</p:attrName>
                                        </p:attrNameLst>
                                      </p:cBhvr>
                                      <p:tavLst>
                                        <p:tav tm="0">
                                          <p:val>
                                            <p:strVal val="0-#ppt_w/2"/>
                                          </p:val>
                                        </p:tav>
                                        <p:tav tm="100000">
                                          <p:val>
                                            <p:strVal val="#ppt_x"/>
                                          </p:val>
                                        </p:tav>
                                      </p:tavLst>
                                    </p:anim>
                                    <p:anim calcmode="lin" valueType="num">
                                      <p:cBhvr additive="base">
                                        <p:cTn id="22" dur="500" fill="hold"/>
                                        <p:tgtEl>
                                          <p:spTgt spid="49161"/>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9162"/>
                                        </p:tgtEl>
                                        <p:attrNameLst>
                                          <p:attrName>style.visibility</p:attrName>
                                        </p:attrNameLst>
                                      </p:cBhvr>
                                      <p:to>
                                        <p:strVal val="visible"/>
                                      </p:to>
                                    </p:set>
                                    <p:animEffect transition="in" filter="fade">
                                      <p:cBhvr>
                                        <p:cTn id="27" dur="500"/>
                                        <p:tgtEl>
                                          <p:spTgt spid="49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0" grpId="0"/>
      <p:bldP spid="49161" grpId="0"/>
      <p:bldP spid="4916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55299"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9C0864C-11F0-49E4-AD76-C3A20A113840}" type="slidenum">
              <a:rPr lang="en-US" altLang="fr-FR" sz="1000" smtClean="0">
                <a:solidFill>
                  <a:srgbClr val="292929"/>
                </a:solidFill>
                <a:latin typeface="Arial" panose="020B0604020202020204" pitchFamily="34" charset="0"/>
              </a:rPr>
              <a:pPr>
                <a:spcBef>
                  <a:spcPct val="0"/>
                </a:spcBef>
                <a:buClrTx/>
                <a:buSzTx/>
                <a:buFontTx/>
                <a:buNone/>
              </a:pPr>
              <a:t>25</a:t>
            </a:fld>
            <a:endParaRPr lang="en-US" altLang="fr-FR" sz="1000" smtClean="0">
              <a:solidFill>
                <a:srgbClr val="292929"/>
              </a:solidFill>
              <a:latin typeface="Arial" panose="020B0604020202020204" pitchFamily="34" charset="0"/>
            </a:endParaRPr>
          </a:p>
        </p:txBody>
      </p:sp>
      <p:sp>
        <p:nvSpPr>
          <p:cNvPr id="4"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fr-FR" sz="1200" dirty="0">
                <a:latin typeface="+mn-lt"/>
                <a:cs typeface="+mn-cs"/>
              </a:rPr>
              <a:t>                                                                                                  MODULE 1 - INTRODUCTION</a:t>
            </a:r>
          </a:p>
        </p:txBody>
      </p:sp>
      <p:sp>
        <p:nvSpPr>
          <p:cNvPr id="55301"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5302" name="Text Box 27"/>
          <p:cNvSpPr txBox="1">
            <a:spLocks noChangeArrowheads="1"/>
          </p:cNvSpPr>
          <p:nvPr/>
        </p:nvSpPr>
        <p:spPr bwMode="auto">
          <a:xfrm>
            <a:off x="685800" y="7620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p>
        </p:txBody>
      </p:sp>
      <p:sp>
        <p:nvSpPr>
          <p:cNvPr id="55303" name="ZoneTexte 6"/>
          <p:cNvSpPr txBox="1">
            <a:spLocks noChangeArrowheads="1"/>
          </p:cNvSpPr>
          <p:nvPr/>
        </p:nvSpPr>
        <p:spPr bwMode="auto">
          <a:xfrm>
            <a:off x="762000" y="1447800"/>
            <a:ext cx="5181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Si le couple de charge est limité aux frottement : </a:t>
            </a:r>
          </a:p>
        </p:txBody>
      </p:sp>
      <p:graphicFrame>
        <p:nvGraphicFramePr>
          <p:cNvPr id="55304" name="Object 2"/>
          <p:cNvGraphicFramePr>
            <a:graphicFrameLocks noChangeAspect="1"/>
          </p:cNvGraphicFramePr>
          <p:nvPr/>
        </p:nvGraphicFramePr>
        <p:xfrm>
          <a:off x="5943600" y="1219200"/>
          <a:ext cx="2005013" cy="741363"/>
        </p:xfrm>
        <a:graphic>
          <a:graphicData uri="http://schemas.openxmlformats.org/presentationml/2006/ole">
            <mc:AlternateContent xmlns:mc="http://schemas.openxmlformats.org/markup-compatibility/2006">
              <mc:Choice xmlns:v="urn:schemas-microsoft-com:vml" Requires="v">
                <p:oleObj spid="_x0000_s55324" name="Équation" r:id="rId4" imgW="1244600" imgH="469900" progId="Equation.3">
                  <p:embed/>
                </p:oleObj>
              </mc:Choice>
              <mc:Fallback>
                <p:oleObj name="Équation" r:id="rId4" imgW="1244600" imgH="4699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3600" y="1219200"/>
                        <a:ext cx="2005013"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5305" name="Picture 4"/>
          <p:cNvPicPr>
            <a:picLocks noChangeAspect="1" noChangeArrowheads="1"/>
          </p:cNvPicPr>
          <p:nvPr/>
        </p:nvPicPr>
        <p:blipFill>
          <a:blip r:embed="rId6">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4021138" y="2895600"/>
            <a:ext cx="4741862"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6" name="ZoneTexte 10"/>
          <p:cNvSpPr txBox="1">
            <a:spLocks noChangeArrowheads="1"/>
          </p:cNvSpPr>
          <p:nvPr/>
        </p:nvSpPr>
        <p:spPr bwMode="auto">
          <a:xfrm>
            <a:off x="838200" y="2057400"/>
            <a:ext cx="7543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L’équation ci-dessus simulé sous Simulink donne les courbes de couple, de vitesse et d’angle. </a:t>
            </a:r>
          </a:p>
        </p:txBody>
      </p:sp>
      <p:sp>
        <p:nvSpPr>
          <p:cNvPr id="55307" name="ZoneTexte 11"/>
          <p:cNvSpPr txBox="1">
            <a:spLocks noChangeArrowheads="1"/>
          </p:cNvSpPr>
          <p:nvPr/>
        </p:nvSpPr>
        <p:spPr bwMode="auto">
          <a:xfrm>
            <a:off x="914400" y="3352800"/>
            <a:ext cx="3124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Dans cette exemple, le profil du couple est imposé, le profil de la vitesse est déterminé par la charge.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5734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B58CA95-C20F-45F3-9971-5ABCF8BDF359}" type="slidenum">
              <a:rPr lang="en-US" altLang="fr-FR" sz="1000" smtClean="0">
                <a:solidFill>
                  <a:srgbClr val="292929"/>
                </a:solidFill>
                <a:latin typeface="Arial" panose="020B0604020202020204" pitchFamily="34" charset="0"/>
              </a:rPr>
              <a:pPr>
                <a:spcBef>
                  <a:spcPct val="0"/>
                </a:spcBef>
                <a:buClrTx/>
                <a:buSzTx/>
                <a:buFontTx/>
                <a:buNone/>
              </a:pPr>
              <a:t>26</a:t>
            </a:fld>
            <a:endParaRPr lang="en-US" altLang="fr-FR" sz="1000" smtClean="0">
              <a:solidFill>
                <a:srgbClr val="292929"/>
              </a:solidFill>
              <a:latin typeface="Arial" panose="020B0604020202020204" pitchFamily="34" charset="0"/>
            </a:endParaRPr>
          </a:p>
        </p:txBody>
      </p:sp>
      <p:graphicFrame>
        <p:nvGraphicFramePr>
          <p:cNvPr id="57348" name="Object 2"/>
          <p:cNvGraphicFramePr>
            <a:graphicFrameLocks noChangeAspect="1"/>
          </p:cNvGraphicFramePr>
          <p:nvPr/>
        </p:nvGraphicFramePr>
        <p:xfrm>
          <a:off x="1524000" y="1371600"/>
          <a:ext cx="2516188" cy="741363"/>
        </p:xfrm>
        <a:graphic>
          <a:graphicData uri="http://schemas.openxmlformats.org/presentationml/2006/ole">
            <mc:AlternateContent xmlns:mc="http://schemas.openxmlformats.org/markup-compatibility/2006">
              <mc:Choice xmlns:v="urn:schemas-microsoft-com:vml" Requires="v">
                <p:oleObj spid="_x0000_s57457" name="Équation" r:id="rId4" imgW="1562100" imgH="469900" progId="Equation.3">
                  <p:embed/>
                </p:oleObj>
              </mc:Choice>
              <mc:Fallback>
                <p:oleObj name="Équation" r:id="rId4" imgW="1562100" imgH="4699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1371600"/>
                        <a:ext cx="2516188"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49" name="Object 3"/>
          <p:cNvGraphicFramePr>
            <a:graphicFrameLocks noChangeAspect="1"/>
          </p:cNvGraphicFramePr>
          <p:nvPr/>
        </p:nvGraphicFramePr>
        <p:xfrm>
          <a:off x="5472113" y="1371600"/>
          <a:ext cx="2147887" cy="741363"/>
        </p:xfrm>
        <a:graphic>
          <a:graphicData uri="http://schemas.openxmlformats.org/presentationml/2006/ole">
            <mc:AlternateContent xmlns:mc="http://schemas.openxmlformats.org/markup-compatibility/2006">
              <mc:Choice xmlns:v="urn:schemas-microsoft-com:vml" Requires="v">
                <p:oleObj spid="_x0000_s57458" name="Équation" r:id="rId6" imgW="1333500" imgH="469900" progId="Equation.3">
                  <p:embed/>
                </p:oleObj>
              </mc:Choice>
              <mc:Fallback>
                <p:oleObj name="Équation" r:id="rId6" imgW="1333500" imgH="4699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72113" y="1371600"/>
                        <a:ext cx="2147887"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50" name="ZoneTexte 5"/>
          <p:cNvSpPr txBox="1">
            <a:spLocks noChangeArrowheads="1"/>
          </p:cNvSpPr>
          <p:nvPr/>
        </p:nvSpPr>
        <p:spPr bwMode="auto">
          <a:xfrm>
            <a:off x="1447800" y="2286000"/>
            <a:ext cx="64008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P</a:t>
            </a:r>
            <a:r>
              <a:rPr lang="fr-FR" altLang="fr-FR" sz="1800" baseline="-25000">
                <a:latin typeface="Arial" panose="020B0604020202020204" pitchFamily="34" charset="0"/>
              </a:rPr>
              <a:t>e</a:t>
            </a:r>
            <a:r>
              <a:rPr lang="fr-FR" altLang="fr-FR" sz="1800">
                <a:latin typeface="Arial" panose="020B0604020202020204" pitchFamily="34" charset="0"/>
              </a:rPr>
              <a:t> : puissance entrainante  ,     P</a:t>
            </a:r>
            <a:r>
              <a:rPr lang="fr-FR" altLang="fr-FR" sz="1800" baseline="-25000">
                <a:latin typeface="Arial" panose="020B0604020202020204" pitchFamily="34" charset="0"/>
              </a:rPr>
              <a:t>L</a:t>
            </a:r>
            <a:r>
              <a:rPr lang="fr-FR" altLang="fr-FR" sz="1800">
                <a:latin typeface="Arial" panose="020B0604020202020204" pitchFamily="34" charset="0"/>
              </a:rPr>
              <a:t> : puissance de charge</a:t>
            </a:r>
          </a:p>
          <a:p>
            <a:pPr eaLnBrk="1" hangingPunct="1">
              <a:spcBef>
                <a:spcPct val="0"/>
              </a:spcBef>
              <a:buClrTx/>
              <a:buSzTx/>
              <a:buFontTx/>
              <a:buNone/>
            </a:pPr>
            <a:endParaRPr lang="fr-FR" altLang="fr-FR" sz="1800">
              <a:latin typeface="Arial" panose="020B0604020202020204" pitchFamily="34" charset="0"/>
            </a:endParaRPr>
          </a:p>
          <a:p>
            <a:pPr eaLnBrk="1" hangingPunct="1">
              <a:spcBef>
                <a:spcPct val="0"/>
              </a:spcBef>
              <a:buClrTx/>
              <a:buSzTx/>
              <a:buFontTx/>
              <a:buNone/>
            </a:pPr>
            <a:r>
              <a:rPr lang="fr-FR" altLang="fr-FR" sz="1800">
                <a:latin typeface="Arial" panose="020B0604020202020204" pitchFamily="34" charset="0"/>
              </a:rPr>
              <a:t>          </a:t>
            </a:r>
          </a:p>
          <a:p>
            <a:pPr eaLnBrk="1" hangingPunct="1">
              <a:spcBef>
                <a:spcPct val="0"/>
              </a:spcBef>
              <a:buClrTx/>
              <a:buSzTx/>
              <a:buFontTx/>
              <a:buNone/>
            </a:pPr>
            <a:r>
              <a:rPr lang="fr-FR" altLang="fr-FR" sz="1800">
                <a:latin typeface="Arial" panose="020B0604020202020204" pitchFamily="34" charset="0"/>
              </a:rPr>
              <a:t>              : variation de l’énergie cinétique. </a:t>
            </a:r>
          </a:p>
          <a:p>
            <a:pPr eaLnBrk="1" hangingPunct="1">
              <a:spcBef>
                <a:spcPct val="0"/>
              </a:spcBef>
              <a:buClrTx/>
              <a:buSzTx/>
              <a:buFontTx/>
              <a:buNone/>
            </a:pPr>
            <a:endParaRPr lang="fr-FR" altLang="fr-FR" sz="1800">
              <a:latin typeface="Arial" panose="020B0604020202020204" pitchFamily="34" charset="0"/>
            </a:endParaRPr>
          </a:p>
          <a:p>
            <a:pPr eaLnBrk="1" hangingPunct="1">
              <a:spcBef>
                <a:spcPct val="0"/>
              </a:spcBef>
              <a:buClrTx/>
              <a:buSzTx/>
              <a:buFontTx/>
              <a:buNone/>
            </a:pPr>
            <a:endParaRPr lang="fr-FR" altLang="fr-FR" sz="1800">
              <a:latin typeface="Arial" panose="020B0604020202020204" pitchFamily="34" charset="0"/>
            </a:endParaRPr>
          </a:p>
        </p:txBody>
      </p:sp>
      <p:graphicFrame>
        <p:nvGraphicFramePr>
          <p:cNvPr id="57351" name="Object 4"/>
          <p:cNvGraphicFramePr>
            <a:graphicFrameLocks noChangeAspect="1"/>
          </p:cNvGraphicFramePr>
          <p:nvPr/>
        </p:nvGraphicFramePr>
        <p:xfrm>
          <a:off x="1574800" y="2998788"/>
          <a:ext cx="787400" cy="582612"/>
        </p:xfrm>
        <a:graphic>
          <a:graphicData uri="http://schemas.openxmlformats.org/presentationml/2006/ole">
            <mc:AlternateContent xmlns:mc="http://schemas.openxmlformats.org/markup-compatibility/2006">
              <mc:Choice xmlns:v="urn:schemas-microsoft-com:vml" Requires="v">
                <p:oleObj spid="_x0000_s57459" name="Équation" r:id="rId8" imgW="634725" imgH="469696" progId="Equation.3">
                  <p:embed/>
                </p:oleObj>
              </mc:Choice>
              <mc:Fallback>
                <p:oleObj name="Équation" r:id="rId8" imgW="634725" imgH="469696"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74800" y="2998788"/>
                        <a:ext cx="787400"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52" name="ZoneTexte 7"/>
          <p:cNvSpPr txBox="1">
            <a:spLocks noChangeArrowheads="1"/>
          </p:cNvSpPr>
          <p:nvPr/>
        </p:nvSpPr>
        <p:spPr bwMode="auto">
          <a:xfrm>
            <a:off x="4495800" y="1600200"/>
            <a:ext cx="838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Donc</a:t>
            </a:r>
          </a:p>
        </p:txBody>
      </p:sp>
      <p:sp>
        <p:nvSpPr>
          <p:cNvPr id="57353" name="ZoneTexte 8"/>
          <p:cNvSpPr txBox="1">
            <a:spLocks noChangeArrowheads="1"/>
          </p:cNvSpPr>
          <p:nvPr/>
        </p:nvSpPr>
        <p:spPr bwMode="auto">
          <a:xfrm>
            <a:off x="990600" y="3657600"/>
            <a:ext cx="7696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En intégrant l’équation des puissances avec </a:t>
            </a:r>
            <a:r>
              <a:rPr lang="el-GR" altLang="fr-FR" sz="1800">
                <a:latin typeface="Calibri" panose="020F0502020204030204" pitchFamily="34" charset="0"/>
              </a:rPr>
              <a:t>ω</a:t>
            </a:r>
            <a:r>
              <a:rPr lang="fr-FR" altLang="fr-FR" sz="1800">
                <a:latin typeface="Calibri" panose="020F0502020204030204" pitchFamily="34" charset="0"/>
              </a:rPr>
              <a:t>(t=0)=0</a:t>
            </a:r>
            <a:endParaRPr lang="fr-FR" altLang="fr-FR" sz="1800">
              <a:latin typeface="Arial" panose="020B0604020202020204" pitchFamily="34" charset="0"/>
            </a:endParaRPr>
          </a:p>
        </p:txBody>
      </p:sp>
      <p:graphicFrame>
        <p:nvGraphicFramePr>
          <p:cNvPr id="57354" name="Object 5"/>
          <p:cNvGraphicFramePr>
            <a:graphicFrameLocks noChangeAspect="1"/>
          </p:cNvGraphicFramePr>
          <p:nvPr/>
        </p:nvGraphicFramePr>
        <p:xfrm>
          <a:off x="1579563" y="4038600"/>
          <a:ext cx="3906837" cy="741363"/>
        </p:xfrm>
        <a:graphic>
          <a:graphicData uri="http://schemas.openxmlformats.org/presentationml/2006/ole">
            <mc:AlternateContent xmlns:mc="http://schemas.openxmlformats.org/markup-compatibility/2006">
              <mc:Choice xmlns:v="urn:schemas-microsoft-com:vml" Requires="v">
                <p:oleObj spid="_x0000_s57460" name="Équation" r:id="rId10" imgW="2425700" imgH="469900" progId="Equation.3">
                  <p:embed/>
                </p:oleObj>
              </mc:Choice>
              <mc:Fallback>
                <p:oleObj name="Équation" r:id="rId10" imgW="2425700" imgH="4699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79563" y="4038600"/>
                        <a:ext cx="3906837"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55" name="Object 6"/>
          <p:cNvGraphicFramePr>
            <a:graphicFrameLocks noChangeAspect="1"/>
          </p:cNvGraphicFramePr>
          <p:nvPr/>
        </p:nvGraphicFramePr>
        <p:xfrm>
          <a:off x="1563688" y="4724400"/>
          <a:ext cx="5626100" cy="741363"/>
        </p:xfrm>
        <a:graphic>
          <a:graphicData uri="http://schemas.openxmlformats.org/presentationml/2006/ole">
            <mc:AlternateContent xmlns:mc="http://schemas.openxmlformats.org/markup-compatibility/2006">
              <mc:Choice xmlns:v="urn:schemas-microsoft-com:vml" Requires="v">
                <p:oleObj spid="_x0000_s57461" name="Équation" r:id="rId12" imgW="3492500" imgH="469900" progId="Equation.3">
                  <p:embed/>
                </p:oleObj>
              </mc:Choice>
              <mc:Fallback>
                <p:oleObj name="Équation" r:id="rId12" imgW="3492500" imgH="469900"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63688" y="4724400"/>
                        <a:ext cx="56261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56" name="Object 7"/>
          <p:cNvGraphicFramePr>
            <a:graphicFrameLocks noChangeAspect="1"/>
          </p:cNvGraphicFramePr>
          <p:nvPr/>
        </p:nvGraphicFramePr>
        <p:xfrm>
          <a:off x="1565275" y="5562600"/>
          <a:ext cx="644525" cy="609600"/>
        </p:xfrm>
        <a:graphic>
          <a:graphicData uri="http://schemas.openxmlformats.org/presentationml/2006/ole">
            <mc:AlternateContent xmlns:mc="http://schemas.openxmlformats.org/markup-compatibility/2006">
              <mc:Choice xmlns:v="urn:schemas-microsoft-com:vml" Requires="v">
                <p:oleObj spid="_x0000_s57462" name="Équation" r:id="rId14" imgW="469696" imgH="444307" progId="Equation.3">
                  <p:embed/>
                </p:oleObj>
              </mc:Choice>
              <mc:Fallback>
                <p:oleObj name="Équation" r:id="rId14" imgW="469696" imgH="444307"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65275" y="5562600"/>
                        <a:ext cx="64452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57" name="ZoneTexte 12"/>
          <p:cNvSpPr txBox="1">
            <a:spLocks noChangeArrowheads="1"/>
          </p:cNvSpPr>
          <p:nvPr/>
        </p:nvSpPr>
        <p:spPr bwMode="auto">
          <a:xfrm>
            <a:off x="2209800" y="5678488"/>
            <a:ext cx="6400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 Energie cinétique stockée dans les masses tournantes (analogie avec C et L) </a:t>
            </a:r>
          </a:p>
        </p:txBody>
      </p:sp>
      <p:sp>
        <p:nvSpPr>
          <p:cNvPr id="57358" name="Rectangle 4"/>
          <p:cNvSpPr>
            <a:spLocks noChangeArrowheads="1"/>
          </p:cNvSpPr>
          <p:nvPr/>
        </p:nvSpPr>
        <p:spPr bwMode="auto">
          <a:xfrm>
            <a:off x="533400" y="457200"/>
            <a:ext cx="6858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Tx/>
              <a:buNone/>
            </a:pPr>
            <a:r>
              <a:rPr lang="en-US" altLang="fr-FR" sz="1200">
                <a:latin typeface="Arial" panose="020B0604020202020204" pitchFamily="34" charset="0"/>
              </a:rPr>
              <a:t>                                                                                                  MODULE 1 - INTRODUCTION</a:t>
            </a:r>
          </a:p>
        </p:txBody>
      </p:sp>
      <p:sp>
        <p:nvSpPr>
          <p:cNvPr id="57359" name="Rectangle 5"/>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7360" name="Text Box 6"/>
          <p:cNvSpPr txBox="1">
            <a:spLocks noChangeArrowheads="1"/>
          </p:cNvSpPr>
          <p:nvPr/>
        </p:nvSpPr>
        <p:spPr bwMode="auto">
          <a:xfrm>
            <a:off x="685800" y="7620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endParaRPr lang="en-US" altLang="fr-FR" sz="1800" b="1">
              <a:solidFill>
                <a:srgbClr val="CC66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p:cNvSpPr>
            <a:spLocks noChangeArrowheads="1"/>
          </p:cNvSpPr>
          <p:nvPr/>
        </p:nvSpPr>
        <p:spPr bwMode="auto">
          <a:xfrm>
            <a:off x="533400" y="457200"/>
            <a:ext cx="6858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Tx/>
              <a:buNone/>
            </a:pPr>
            <a:r>
              <a:rPr lang="en-US" altLang="fr-FR" sz="1200">
                <a:latin typeface="Arial" panose="020B0604020202020204" pitchFamily="34" charset="0"/>
              </a:rPr>
              <a:t>                                                                                                  MODULE 1 - INTRODUCTION</a:t>
            </a:r>
          </a:p>
        </p:txBody>
      </p:sp>
      <p:sp>
        <p:nvSpPr>
          <p:cNvPr id="59395" name="Rectangle 5"/>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9396" name="Text Box 6"/>
          <p:cNvSpPr txBox="1">
            <a:spLocks noChangeArrowheads="1"/>
          </p:cNvSpPr>
          <p:nvPr/>
        </p:nvSpPr>
        <p:spPr bwMode="auto">
          <a:xfrm>
            <a:off x="685800" y="7620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endParaRPr lang="en-US" altLang="fr-FR" sz="1800" b="1">
              <a:solidFill>
                <a:srgbClr val="CC6600"/>
              </a:solidFill>
              <a:latin typeface="Arial" panose="020B0604020202020204" pitchFamily="34" charset="0"/>
            </a:endParaRPr>
          </a:p>
        </p:txBody>
      </p:sp>
      <p:graphicFrame>
        <p:nvGraphicFramePr>
          <p:cNvPr id="51202" name="Object 2"/>
          <p:cNvGraphicFramePr>
            <a:graphicFrameLocks noChangeAspect="1"/>
          </p:cNvGraphicFramePr>
          <p:nvPr/>
        </p:nvGraphicFramePr>
        <p:xfrm>
          <a:off x="1806575" y="3922713"/>
          <a:ext cx="2105025" cy="701675"/>
        </p:xfrm>
        <a:graphic>
          <a:graphicData uri="http://schemas.openxmlformats.org/presentationml/2006/ole">
            <mc:AlternateContent xmlns:mc="http://schemas.openxmlformats.org/markup-compatibility/2006">
              <mc:Choice xmlns:v="urn:schemas-microsoft-com:vml" Requires="v">
                <p:oleObj spid="_x0000_s59460" name="Équation" r:id="rId4" imgW="1307532" imgH="444307" progId="Equation.3">
                  <p:embed/>
                </p:oleObj>
              </mc:Choice>
              <mc:Fallback>
                <p:oleObj name="Équation" r:id="rId4" imgW="1307532" imgH="44430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6575" y="3922713"/>
                        <a:ext cx="2105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7" name="Text Box 8"/>
          <p:cNvSpPr txBox="1">
            <a:spLocks noChangeArrowheads="1"/>
          </p:cNvSpPr>
          <p:nvPr/>
        </p:nvSpPr>
        <p:spPr bwMode="auto">
          <a:xfrm>
            <a:off x="1371600" y="1447800"/>
            <a:ext cx="5802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Combinaison des mouvements rotatif et rectiligne</a:t>
            </a:r>
          </a:p>
        </p:txBody>
      </p:sp>
      <p:grpSp>
        <p:nvGrpSpPr>
          <p:cNvPr id="2" name="Group 32"/>
          <p:cNvGrpSpPr>
            <a:grpSpLocks/>
          </p:cNvGrpSpPr>
          <p:nvPr/>
        </p:nvGrpSpPr>
        <p:grpSpPr bwMode="auto">
          <a:xfrm>
            <a:off x="1143000" y="2133600"/>
            <a:ext cx="6746875" cy="1585913"/>
            <a:chOff x="1143000" y="2133600"/>
            <a:chExt cx="6746875" cy="1585913"/>
          </a:xfrm>
        </p:grpSpPr>
        <p:grpSp>
          <p:nvGrpSpPr>
            <p:cNvPr id="59405" name="Group 9"/>
            <p:cNvGrpSpPr>
              <a:grpSpLocks/>
            </p:cNvGrpSpPr>
            <p:nvPr/>
          </p:nvGrpSpPr>
          <p:grpSpPr bwMode="auto">
            <a:xfrm>
              <a:off x="1143000" y="2133600"/>
              <a:ext cx="6746875" cy="1585913"/>
              <a:chOff x="720" y="1344"/>
              <a:chExt cx="4250" cy="999"/>
            </a:xfrm>
          </p:grpSpPr>
          <p:sp>
            <p:nvSpPr>
              <p:cNvPr id="59407" name="Text Box 10"/>
              <p:cNvSpPr txBox="1">
                <a:spLocks noChangeArrowheads="1"/>
              </p:cNvSpPr>
              <p:nvPr/>
            </p:nvSpPr>
            <p:spPr bwMode="auto">
              <a:xfrm>
                <a:off x="1200" y="1776"/>
                <a:ext cx="1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r</a:t>
                </a:r>
              </a:p>
            </p:txBody>
          </p:sp>
          <p:sp>
            <p:nvSpPr>
              <p:cNvPr id="59408" name="Rectangle 11"/>
              <p:cNvSpPr>
                <a:spLocks noChangeArrowheads="1"/>
              </p:cNvSpPr>
              <p:nvPr/>
            </p:nvSpPr>
            <p:spPr bwMode="auto">
              <a:xfrm>
                <a:off x="2160" y="1632"/>
                <a:ext cx="720" cy="384"/>
              </a:xfrm>
              <a:prstGeom prst="rect">
                <a:avLst/>
              </a:prstGeom>
              <a:solidFill>
                <a:schemeClr val="accent1"/>
              </a:solidFill>
              <a:ln w="9525">
                <a:miter lim="800000"/>
                <a:headEnd/>
                <a:tailEnd/>
              </a:ln>
              <a:scene3d>
                <a:camera prst="legacyObliqueTopRight"/>
                <a:lightRig rig="legacyFlat3" dir="b"/>
              </a:scene3d>
              <a:sp3d extrusionH="1116000" prstMaterial="legacyMatte">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9409" name="Line 12"/>
              <p:cNvSpPr>
                <a:spLocks noChangeShapeType="1"/>
              </p:cNvSpPr>
              <p:nvPr/>
            </p:nvSpPr>
            <p:spPr bwMode="auto">
              <a:xfrm>
                <a:off x="2976" y="1680"/>
                <a:ext cx="13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9410" name="Oval 13"/>
              <p:cNvSpPr>
                <a:spLocks noChangeArrowheads="1"/>
              </p:cNvSpPr>
              <p:nvPr/>
            </p:nvSpPr>
            <p:spPr bwMode="auto">
              <a:xfrm>
                <a:off x="4128" y="1680"/>
                <a:ext cx="432" cy="43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9411" name="Line 14"/>
              <p:cNvSpPr>
                <a:spLocks noChangeShapeType="1"/>
              </p:cNvSpPr>
              <p:nvPr/>
            </p:nvSpPr>
            <p:spPr bwMode="auto">
              <a:xfrm>
                <a:off x="1200" y="1680"/>
                <a:ext cx="9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9412" name="Oval 15"/>
              <p:cNvSpPr>
                <a:spLocks noChangeArrowheads="1"/>
              </p:cNvSpPr>
              <p:nvPr/>
            </p:nvSpPr>
            <p:spPr bwMode="auto">
              <a:xfrm>
                <a:off x="960" y="1680"/>
                <a:ext cx="432" cy="43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9413" name="Line 16"/>
              <p:cNvSpPr>
                <a:spLocks noChangeShapeType="1"/>
              </p:cNvSpPr>
              <p:nvPr/>
            </p:nvSpPr>
            <p:spPr bwMode="auto">
              <a:xfrm>
                <a:off x="4351" y="1886"/>
                <a:ext cx="113" cy="17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59414" name="Line 17"/>
              <p:cNvSpPr>
                <a:spLocks noChangeShapeType="1"/>
              </p:cNvSpPr>
              <p:nvPr/>
            </p:nvSpPr>
            <p:spPr bwMode="auto">
              <a:xfrm>
                <a:off x="1161" y="1890"/>
                <a:ext cx="113" cy="17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59415" name="Text Box 18"/>
              <p:cNvSpPr txBox="1">
                <a:spLocks noChangeArrowheads="1"/>
              </p:cNvSpPr>
              <p:nvPr/>
            </p:nvSpPr>
            <p:spPr bwMode="auto">
              <a:xfrm>
                <a:off x="4368" y="1776"/>
                <a:ext cx="1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r</a:t>
                </a:r>
              </a:p>
            </p:txBody>
          </p:sp>
          <p:sp>
            <p:nvSpPr>
              <p:cNvPr id="59416" name="Line 19"/>
              <p:cNvSpPr>
                <a:spLocks noChangeShapeType="1"/>
              </p:cNvSpPr>
              <p:nvPr/>
            </p:nvSpPr>
            <p:spPr bwMode="auto">
              <a:xfrm flipH="1">
                <a:off x="1488" y="1584"/>
                <a:ext cx="432"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fr-FR"/>
              </a:p>
            </p:txBody>
          </p:sp>
          <p:sp>
            <p:nvSpPr>
              <p:cNvPr id="59417" name="Line 20"/>
              <p:cNvSpPr>
                <a:spLocks noChangeShapeType="1"/>
              </p:cNvSpPr>
              <p:nvPr/>
            </p:nvSpPr>
            <p:spPr bwMode="auto">
              <a:xfrm flipH="1">
                <a:off x="3552" y="1584"/>
                <a:ext cx="432" cy="0"/>
              </a:xfrm>
              <a:prstGeom prst="line">
                <a:avLst/>
              </a:prstGeom>
              <a:noFill/>
              <a:ln w="952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fr-FR"/>
              </a:p>
            </p:txBody>
          </p:sp>
          <p:sp>
            <p:nvSpPr>
              <p:cNvPr id="59418" name="Line 21"/>
              <p:cNvSpPr>
                <a:spLocks noChangeShapeType="1"/>
              </p:cNvSpPr>
              <p:nvPr/>
            </p:nvSpPr>
            <p:spPr bwMode="auto">
              <a:xfrm flipH="1">
                <a:off x="2688" y="2112"/>
                <a:ext cx="432" cy="0"/>
              </a:xfrm>
              <a:prstGeom prst="line">
                <a:avLst/>
              </a:prstGeom>
              <a:noFill/>
              <a:ln w="952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fr-FR"/>
              </a:p>
            </p:txBody>
          </p:sp>
          <p:sp>
            <p:nvSpPr>
              <p:cNvPr id="59419" name="Text Box 22"/>
              <p:cNvSpPr txBox="1">
                <a:spLocks noChangeArrowheads="1"/>
              </p:cNvSpPr>
              <p:nvPr/>
            </p:nvSpPr>
            <p:spPr bwMode="auto">
              <a:xfrm>
                <a:off x="720" y="1536"/>
                <a:ext cx="2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p>
            </p:txBody>
          </p:sp>
          <p:sp>
            <p:nvSpPr>
              <p:cNvPr id="59420" name="Text Box 23"/>
              <p:cNvSpPr txBox="1">
                <a:spLocks noChangeArrowheads="1"/>
              </p:cNvSpPr>
              <p:nvPr/>
            </p:nvSpPr>
            <p:spPr bwMode="auto">
              <a:xfrm>
                <a:off x="4560" y="1440"/>
                <a:ext cx="4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T</a:t>
                </a:r>
                <a:r>
                  <a:rPr lang="en-US" altLang="fr-FR" sz="1800" baseline="-25000">
                    <a:latin typeface="Arial" panose="020B0604020202020204" pitchFamily="34" charset="0"/>
                    <a:sym typeface="Symbol" panose="05050102010706020507" pitchFamily="18" charset="2"/>
                  </a:rPr>
                  <a:t>e, </a:t>
                </a:r>
                <a:r>
                  <a:rPr lang="en-US" altLang="fr-FR" sz="1800">
                    <a:latin typeface="Arial" panose="020B0604020202020204" pitchFamily="34" charset="0"/>
                    <a:sym typeface="Symbol" panose="05050102010706020507" pitchFamily="18" charset="2"/>
                  </a:rPr>
                  <a:t></a:t>
                </a:r>
              </a:p>
            </p:txBody>
          </p:sp>
          <p:sp>
            <p:nvSpPr>
              <p:cNvPr id="59421" name="Arc 24"/>
              <p:cNvSpPr>
                <a:spLocks/>
              </p:cNvSpPr>
              <p:nvPr/>
            </p:nvSpPr>
            <p:spPr bwMode="auto">
              <a:xfrm rot="3615307" flipH="1" flipV="1">
                <a:off x="834" y="1714"/>
                <a:ext cx="168" cy="192"/>
              </a:xfrm>
              <a:custGeom>
                <a:avLst/>
                <a:gdLst>
                  <a:gd name="T0" fmla="*/ 0 w 25217"/>
                  <a:gd name="T1" fmla="*/ 0 h 21600"/>
                  <a:gd name="T2" fmla="*/ 0 w 25217"/>
                  <a:gd name="T3" fmla="*/ 0 h 21600"/>
                  <a:gd name="T4" fmla="*/ 0 w 25217"/>
                  <a:gd name="T5" fmla="*/ 0 h 21600"/>
                  <a:gd name="T6" fmla="*/ 0 60000 65536"/>
                  <a:gd name="T7" fmla="*/ 0 60000 65536"/>
                  <a:gd name="T8" fmla="*/ 0 60000 65536"/>
                  <a:gd name="T9" fmla="*/ 0 w 25217"/>
                  <a:gd name="T10" fmla="*/ 0 h 21600"/>
                  <a:gd name="T11" fmla="*/ 25217 w 25217"/>
                  <a:gd name="T12" fmla="*/ 21600 h 21600"/>
                </a:gdLst>
                <a:ahLst/>
                <a:cxnLst>
                  <a:cxn ang="T6">
                    <a:pos x="T0" y="T1"/>
                  </a:cxn>
                  <a:cxn ang="T7">
                    <a:pos x="T2" y="T3"/>
                  </a:cxn>
                  <a:cxn ang="T8">
                    <a:pos x="T4" y="T5"/>
                  </a:cxn>
                </a:cxnLst>
                <a:rect l="T9" t="T10" r="T11" b="T12"/>
                <a:pathLst>
                  <a:path w="25217" h="21600" fill="none" extrusionOk="0">
                    <a:moveTo>
                      <a:pt x="-1" y="304"/>
                    </a:moveTo>
                    <a:cubicBezTo>
                      <a:pt x="1194" y="102"/>
                      <a:pt x="2404" y="-1"/>
                      <a:pt x="3617" y="-1"/>
                    </a:cubicBezTo>
                    <a:cubicBezTo>
                      <a:pt x="15546" y="-1"/>
                      <a:pt x="25217" y="9670"/>
                      <a:pt x="25217" y="21600"/>
                    </a:cubicBezTo>
                  </a:path>
                  <a:path w="25217" h="21600" stroke="0" extrusionOk="0">
                    <a:moveTo>
                      <a:pt x="-1" y="304"/>
                    </a:moveTo>
                    <a:cubicBezTo>
                      <a:pt x="1194" y="102"/>
                      <a:pt x="2404" y="-1"/>
                      <a:pt x="3617" y="-1"/>
                    </a:cubicBezTo>
                    <a:cubicBezTo>
                      <a:pt x="15546" y="-1"/>
                      <a:pt x="25217" y="9670"/>
                      <a:pt x="25217" y="21600"/>
                    </a:cubicBezTo>
                    <a:lnTo>
                      <a:pt x="3617" y="21600"/>
                    </a:lnTo>
                    <a:lnTo>
                      <a:pt x="-1" y="304"/>
                    </a:lnTo>
                    <a:close/>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59422" name="Arc 25"/>
              <p:cNvSpPr>
                <a:spLocks/>
              </p:cNvSpPr>
              <p:nvPr/>
            </p:nvSpPr>
            <p:spPr bwMode="auto">
              <a:xfrm rot="47872" flipV="1">
                <a:off x="1296" y="1968"/>
                <a:ext cx="168" cy="192"/>
              </a:xfrm>
              <a:custGeom>
                <a:avLst/>
                <a:gdLst>
                  <a:gd name="T0" fmla="*/ 0 w 25217"/>
                  <a:gd name="T1" fmla="*/ 0 h 21600"/>
                  <a:gd name="T2" fmla="*/ 0 w 25217"/>
                  <a:gd name="T3" fmla="*/ 0 h 21600"/>
                  <a:gd name="T4" fmla="*/ 0 w 25217"/>
                  <a:gd name="T5" fmla="*/ 0 h 21600"/>
                  <a:gd name="T6" fmla="*/ 0 60000 65536"/>
                  <a:gd name="T7" fmla="*/ 0 60000 65536"/>
                  <a:gd name="T8" fmla="*/ 0 60000 65536"/>
                  <a:gd name="T9" fmla="*/ 0 w 25217"/>
                  <a:gd name="T10" fmla="*/ 0 h 21600"/>
                  <a:gd name="T11" fmla="*/ 25217 w 25217"/>
                  <a:gd name="T12" fmla="*/ 21600 h 21600"/>
                </a:gdLst>
                <a:ahLst/>
                <a:cxnLst>
                  <a:cxn ang="T6">
                    <a:pos x="T0" y="T1"/>
                  </a:cxn>
                  <a:cxn ang="T7">
                    <a:pos x="T2" y="T3"/>
                  </a:cxn>
                  <a:cxn ang="T8">
                    <a:pos x="T4" y="T5"/>
                  </a:cxn>
                </a:cxnLst>
                <a:rect l="T9" t="T10" r="T11" b="T12"/>
                <a:pathLst>
                  <a:path w="25217" h="21600" fill="none" extrusionOk="0">
                    <a:moveTo>
                      <a:pt x="-1" y="304"/>
                    </a:moveTo>
                    <a:cubicBezTo>
                      <a:pt x="1194" y="102"/>
                      <a:pt x="2404" y="-1"/>
                      <a:pt x="3617" y="-1"/>
                    </a:cubicBezTo>
                    <a:cubicBezTo>
                      <a:pt x="15546" y="-1"/>
                      <a:pt x="25217" y="9670"/>
                      <a:pt x="25217" y="21600"/>
                    </a:cubicBezTo>
                  </a:path>
                  <a:path w="25217" h="21600" stroke="0" extrusionOk="0">
                    <a:moveTo>
                      <a:pt x="-1" y="304"/>
                    </a:moveTo>
                    <a:cubicBezTo>
                      <a:pt x="1194" y="102"/>
                      <a:pt x="2404" y="-1"/>
                      <a:pt x="3617" y="-1"/>
                    </a:cubicBezTo>
                    <a:cubicBezTo>
                      <a:pt x="15546" y="-1"/>
                      <a:pt x="25217" y="9670"/>
                      <a:pt x="25217" y="21600"/>
                    </a:cubicBezTo>
                    <a:lnTo>
                      <a:pt x="3617" y="21600"/>
                    </a:lnTo>
                    <a:lnTo>
                      <a:pt x="-1" y="304"/>
                    </a:lnTo>
                    <a:close/>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59423" name="Text Box 26"/>
              <p:cNvSpPr txBox="1">
                <a:spLocks noChangeArrowheads="1"/>
              </p:cNvSpPr>
              <p:nvPr/>
            </p:nvSpPr>
            <p:spPr bwMode="auto">
              <a:xfrm>
                <a:off x="1488" y="1922"/>
                <a:ext cx="3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T</a:t>
                </a:r>
                <a:r>
                  <a:rPr lang="en-US" altLang="fr-FR" sz="1800" baseline="-25000">
                    <a:latin typeface="Arial" panose="020B0604020202020204" pitchFamily="34" charset="0"/>
                    <a:sym typeface="Symbol" panose="05050102010706020507" pitchFamily="18" charset="2"/>
                  </a:rPr>
                  <a:t>L</a:t>
                </a:r>
                <a:endParaRPr lang="en-US" altLang="fr-FR" sz="1800">
                  <a:latin typeface="Arial" panose="020B0604020202020204" pitchFamily="34" charset="0"/>
                  <a:sym typeface="Symbol" panose="05050102010706020507" pitchFamily="18" charset="2"/>
                </a:endParaRPr>
              </a:p>
            </p:txBody>
          </p:sp>
          <p:sp>
            <p:nvSpPr>
              <p:cNvPr id="59424" name="Arc 27"/>
              <p:cNvSpPr>
                <a:spLocks/>
              </p:cNvSpPr>
              <p:nvPr/>
            </p:nvSpPr>
            <p:spPr bwMode="auto">
              <a:xfrm rot="-10170363" flipH="1" flipV="1">
                <a:off x="4512" y="1632"/>
                <a:ext cx="168" cy="192"/>
              </a:xfrm>
              <a:custGeom>
                <a:avLst/>
                <a:gdLst>
                  <a:gd name="T0" fmla="*/ 0 w 25217"/>
                  <a:gd name="T1" fmla="*/ 0 h 21600"/>
                  <a:gd name="T2" fmla="*/ 0 w 25217"/>
                  <a:gd name="T3" fmla="*/ 0 h 21600"/>
                  <a:gd name="T4" fmla="*/ 0 w 25217"/>
                  <a:gd name="T5" fmla="*/ 0 h 21600"/>
                  <a:gd name="T6" fmla="*/ 0 60000 65536"/>
                  <a:gd name="T7" fmla="*/ 0 60000 65536"/>
                  <a:gd name="T8" fmla="*/ 0 60000 65536"/>
                  <a:gd name="T9" fmla="*/ 0 w 25217"/>
                  <a:gd name="T10" fmla="*/ 0 h 21600"/>
                  <a:gd name="T11" fmla="*/ 25217 w 25217"/>
                  <a:gd name="T12" fmla="*/ 21600 h 21600"/>
                </a:gdLst>
                <a:ahLst/>
                <a:cxnLst>
                  <a:cxn ang="T6">
                    <a:pos x="T0" y="T1"/>
                  </a:cxn>
                  <a:cxn ang="T7">
                    <a:pos x="T2" y="T3"/>
                  </a:cxn>
                  <a:cxn ang="T8">
                    <a:pos x="T4" y="T5"/>
                  </a:cxn>
                </a:cxnLst>
                <a:rect l="T9" t="T10" r="T11" b="T12"/>
                <a:pathLst>
                  <a:path w="25217" h="21600" fill="none" extrusionOk="0">
                    <a:moveTo>
                      <a:pt x="-1" y="304"/>
                    </a:moveTo>
                    <a:cubicBezTo>
                      <a:pt x="1194" y="102"/>
                      <a:pt x="2404" y="-1"/>
                      <a:pt x="3617" y="-1"/>
                    </a:cubicBezTo>
                    <a:cubicBezTo>
                      <a:pt x="15546" y="-1"/>
                      <a:pt x="25217" y="9670"/>
                      <a:pt x="25217" y="21600"/>
                    </a:cubicBezTo>
                  </a:path>
                  <a:path w="25217" h="21600" stroke="0" extrusionOk="0">
                    <a:moveTo>
                      <a:pt x="-1" y="304"/>
                    </a:moveTo>
                    <a:cubicBezTo>
                      <a:pt x="1194" y="102"/>
                      <a:pt x="2404" y="-1"/>
                      <a:pt x="3617" y="-1"/>
                    </a:cubicBezTo>
                    <a:cubicBezTo>
                      <a:pt x="15546" y="-1"/>
                      <a:pt x="25217" y="9670"/>
                      <a:pt x="25217" y="21600"/>
                    </a:cubicBezTo>
                    <a:lnTo>
                      <a:pt x="3617" y="21600"/>
                    </a:lnTo>
                    <a:lnTo>
                      <a:pt x="-1" y="304"/>
                    </a:lnTo>
                    <a:close/>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59425" name="Text Box 28"/>
              <p:cNvSpPr txBox="1">
                <a:spLocks noChangeArrowheads="1"/>
              </p:cNvSpPr>
              <p:nvPr/>
            </p:nvSpPr>
            <p:spPr bwMode="auto">
              <a:xfrm>
                <a:off x="1584" y="1346"/>
                <a:ext cx="25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F</a:t>
                </a:r>
                <a:r>
                  <a:rPr lang="en-US" altLang="fr-FR" sz="1800" baseline="-25000">
                    <a:latin typeface="Arial" panose="020B0604020202020204" pitchFamily="34" charset="0"/>
                    <a:sym typeface="Symbol" panose="05050102010706020507" pitchFamily="18" charset="2"/>
                  </a:rPr>
                  <a:t>L</a:t>
                </a:r>
              </a:p>
            </p:txBody>
          </p:sp>
          <p:sp>
            <p:nvSpPr>
              <p:cNvPr id="59426" name="Text Box 29"/>
              <p:cNvSpPr txBox="1">
                <a:spLocks noChangeArrowheads="1"/>
              </p:cNvSpPr>
              <p:nvPr/>
            </p:nvSpPr>
            <p:spPr bwMode="auto">
              <a:xfrm>
                <a:off x="3600" y="1344"/>
                <a:ext cx="2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F</a:t>
                </a:r>
                <a:r>
                  <a:rPr lang="en-US" altLang="fr-FR" sz="1800" baseline="-25000">
                    <a:latin typeface="Arial" panose="020B0604020202020204" pitchFamily="34" charset="0"/>
                    <a:sym typeface="Symbol" panose="05050102010706020507" pitchFamily="18" charset="2"/>
                  </a:rPr>
                  <a:t>e</a:t>
                </a:r>
              </a:p>
            </p:txBody>
          </p:sp>
          <p:sp>
            <p:nvSpPr>
              <p:cNvPr id="59427" name="Text Box 30"/>
              <p:cNvSpPr txBox="1">
                <a:spLocks noChangeArrowheads="1"/>
              </p:cNvSpPr>
              <p:nvPr/>
            </p:nvSpPr>
            <p:spPr bwMode="auto">
              <a:xfrm>
                <a:off x="2880" y="211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v</a:t>
                </a:r>
              </a:p>
            </p:txBody>
          </p:sp>
        </p:grpSp>
        <p:sp>
          <p:nvSpPr>
            <p:cNvPr id="59406" name="Text Box 31"/>
            <p:cNvSpPr txBox="1">
              <a:spLocks noChangeArrowheads="1"/>
            </p:cNvSpPr>
            <p:nvPr/>
          </p:nvSpPr>
          <p:spPr bwMode="auto">
            <a:xfrm>
              <a:off x="3733800" y="274320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M</a:t>
              </a:r>
            </a:p>
          </p:txBody>
        </p:sp>
      </p:grpSp>
      <p:sp>
        <p:nvSpPr>
          <p:cNvPr id="51210" name="Text Box 32"/>
          <p:cNvSpPr txBox="1">
            <a:spLocks noChangeArrowheads="1"/>
          </p:cNvSpPr>
          <p:nvPr/>
        </p:nvSpPr>
        <p:spPr bwMode="auto">
          <a:xfrm>
            <a:off x="5089525" y="4071938"/>
            <a:ext cx="3487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a:t>
            </a:r>
            <a:r>
              <a:rPr lang="en-US" altLang="fr-FR" sz="1800" baseline="-25000">
                <a:latin typeface="Arial" panose="020B0604020202020204" pitchFamily="34" charset="0"/>
              </a:rPr>
              <a:t>e</a:t>
            </a:r>
            <a:r>
              <a:rPr lang="en-US" altLang="fr-FR" sz="1800">
                <a:latin typeface="Arial" panose="020B0604020202020204" pitchFamily="34" charset="0"/>
              </a:rPr>
              <a:t> = r(F</a:t>
            </a:r>
            <a:r>
              <a:rPr lang="en-US" altLang="fr-FR" sz="1800" baseline="-25000">
                <a:latin typeface="Arial" panose="020B0604020202020204" pitchFamily="34" charset="0"/>
              </a:rPr>
              <a:t>e</a:t>
            </a:r>
            <a:r>
              <a:rPr lang="en-US" altLang="fr-FR" sz="1800">
                <a:latin typeface="Arial" panose="020B0604020202020204" pitchFamily="34" charset="0"/>
              </a:rPr>
              <a:t>),      T</a:t>
            </a:r>
            <a:r>
              <a:rPr lang="en-US" altLang="fr-FR" sz="1800" baseline="-25000">
                <a:latin typeface="Arial" panose="020B0604020202020204" pitchFamily="34" charset="0"/>
              </a:rPr>
              <a:t>L</a:t>
            </a:r>
            <a:r>
              <a:rPr lang="en-US" altLang="fr-FR" sz="1800">
                <a:latin typeface="Arial" panose="020B0604020202020204" pitchFamily="34" charset="0"/>
              </a:rPr>
              <a:t> = r(F</a:t>
            </a:r>
            <a:r>
              <a:rPr lang="en-US" altLang="fr-FR" sz="1800" baseline="-25000">
                <a:latin typeface="Arial" panose="020B0604020202020204" pitchFamily="34" charset="0"/>
              </a:rPr>
              <a:t>L</a:t>
            </a:r>
            <a:r>
              <a:rPr lang="en-US" altLang="fr-FR" sz="1800">
                <a:latin typeface="Arial" panose="020B0604020202020204" pitchFamily="34" charset="0"/>
              </a:rPr>
              <a:t>),     v =r</a:t>
            </a:r>
            <a:r>
              <a:rPr lang="en-US" altLang="fr-FR" sz="1800">
                <a:latin typeface="Arial" panose="020B0604020202020204" pitchFamily="34" charset="0"/>
                <a:sym typeface="Symbol" panose="05050102010706020507" pitchFamily="18" charset="2"/>
              </a:rPr>
              <a:t></a:t>
            </a:r>
            <a:r>
              <a:rPr lang="en-US" altLang="fr-FR" sz="1800">
                <a:latin typeface="Arial" panose="020B0604020202020204" pitchFamily="34" charset="0"/>
              </a:rPr>
              <a:t> </a:t>
            </a:r>
          </a:p>
        </p:txBody>
      </p:sp>
      <p:graphicFrame>
        <p:nvGraphicFramePr>
          <p:cNvPr id="51203" name="Object 3"/>
          <p:cNvGraphicFramePr>
            <a:graphicFrameLocks noChangeAspect="1"/>
          </p:cNvGraphicFramePr>
          <p:nvPr/>
        </p:nvGraphicFramePr>
        <p:xfrm>
          <a:off x="1838325" y="4760913"/>
          <a:ext cx="2125663" cy="701675"/>
        </p:xfrm>
        <a:graphic>
          <a:graphicData uri="http://schemas.openxmlformats.org/presentationml/2006/ole">
            <mc:AlternateContent xmlns:mc="http://schemas.openxmlformats.org/markup-compatibility/2006">
              <mc:Choice xmlns:v="urn:schemas-microsoft-com:vml" Requires="v">
                <p:oleObj spid="_x0000_s59461" name="Équation" r:id="rId6" imgW="1320227" imgH="444307" progId="Equation.3">
                  <p:embed/>
                </p:oleObj>
              </mc:Choice>
              <mc:Fallback>
                <p:oleObj name="Équation" r:id="rId6" imgW="1320227" imgH="444307"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8325" y="4760913"/>
                        <a:ext cx="21256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11" name="Text Box 34"/>
          <p:cNvSpPr txBox="1">
            <a:spLocks noChangeArrowheads="1"/>
          </p:cNvSpPr>
          <p:nvPr/>
        </p:nvSpPr>
        <p:spPr bwMode="auto">
          <a:xfrm>
            <a:off x="1066800" y="5486400"/>
            <a:ext cx="75660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r</a:t>
            </a:r>
            <a:r>
              <a:rPr lang="en-US" altLang="fr-FR" sz="1800" baseline="30000">
                <a:latin typeface="Arial" panose="020B0604020202020204" pitchFamily="34" charset="0"/>
              </a:rPr>
              <a:t>2</a:t>
            </a:r>
            <a:r>
              <a:rPr lang="en-US" altLang="fr-FR" sz="1800">
                <a:latin typeface="Arial" panose="020B0604020202020204" pitchFamily="34" charset="0"/>
              </a:rPr>
              <a:t>M : moment d’inertie équivalent de la masse en mouvement rectiligne, </a:t>
            </a:r>
          </a:p>
          <a:p>
            <a:pPr eaLnBrk="1" hangingPunct="1">
              <a:spcBef>
                <a:spcPct val="0"/>
              </a:spcBef>
              <a:buClrTx/>
              <a:buSzTx/>
              <a:buFontTx/>
              <a:buNone/>
            </a:pPr>
            <a:r>
              <a:rPr lang="en-US" altLang="fr-FR" sz="1800">
                <a:latin typeface="Arial" panose="020B0604020202020204" pitchFamily="34" charset="0"/>
              </a:rPr>
              <a:t>dans l’axe des poulies.  </a:t>
            </a:r>
          </a:p>
          <a:p>
            <a:pPr eaLnBrk="1" hangingPunct="1">
              <a:spcBef>
                <a:spcPct val="0"/>
              </a:spcBef>
              <a:buClrTx/>
              <a:buSzTx/>
              <a:buFontTx/>
              <a:buNone/>
            </a:pPr>
            <a:endParaRPr lang="en-US" altLang="fr-FR" sz="1800">
              <a:latin typeface="Arial" panose="020B0604020202020204" pitchFamily="34" charset="0"/>
            </a:endParaRPr>
          </a:p>
        </p:txBody>
      </p:sp>
      <p:sp>
        <p:nvSpPr>
          <p:cNvPr id="59403" name="Espace réservé du numéro de diapositive 3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4051439-0848-42F1-8103-7FB6C533085F}" type="slidenum">
              <a:rPr lang="en-US" altLang="fr-FR" sz="1000" smtClean="0">
                <a:solidFill>
                  <a:srgbClr val="292929"/>
                </a:solidFill>
                <a:latin typeface="Arial" panose="020B0604020202020204" pitchFamily="34" charset="0"/>
              </a:rPr>
              <a:pPr>
                <a:spcBef>
                  <a:spcPct val="0"/>
                </a:spcBef>
                <a:buClrTx/>
                <a:buSzTx/>
                <a:buFontTx/>
                <a:buNone/>
              </a:pPr>
              <a:t>27</a:t>
            </a:fld>
            <a:endParaRPr lang="en-US" altLang="fr-FR" sz="1000" smtClean="0">
              <a:solidFill>
                <a:srgbClr val="292929"/>
              </a:solidFill>
              <a:latin typeface="Arial" panose="020B0604020202020204" pitchFamily="34" charset="0"/>
            </a:endParaRPr>
          </a:p>
        </p:txBody>
      </p:sp>
      <p:sp>
        <p:nvSpPr>
          <p:cNvPr id="36" name="Espace réservé du pied de page 35"/>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7"/>
                                        </p:tgtEl>
                                        <p:attrNameLst>
                                          <p:attrName>style.visibility</p:attrName>
                                        </p:attrNameLst>
                                      </p:cBhvr>
                                      <p:to>
                                        <p:strVal val="visible"/>
                                      </p:to>
                                    </p:set>
                                    <p:animEffect transition="in" filter="wipe(left)">
                                      <p:cBhvr>
                                        <p:cTn id="7" dur="500"/>
                                        <p:tgtEl>
                                          <p:spTgt spid="51207"/>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51202"/>
                                        </p:tgtEl>
                                        <p:attrNameLst>
                                          <p:attrName>style.visibility</p:attrName>
                                        </p:attrNameLst>
                                      </p:cBhvr>
                                      <p:to>
                                        <p:strVal val="visible"/>
                                      </p:to>
                                    </p:set>
                                    <p:animEffect transition="in" filter="wipe(left)">
                                      <p:cBhvr>
                                        <p:cTn id="16" dur="500"/>
                                        <p:tgtEl>
                                          <p:spTgt spid="5120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1210"/>
                                        </p:tgtEl>
                                        <p:attrNameLst>
                                          <p:attrName>style.visibility</p:attrName>
                                        </p:attrNameLst>
                                      </p:cBhvr>
                                      <p:to>
                                        <p:strVal val="visible"/>
                                      </p:to>
                                    </p:set>
                                    <p:animEffect transition="in" filter="wipe(left)">
                                      <p:cBhvr>
                                        <p:cTn id="21" dur="500"/>
                                        <p:tgtEl>
                                          <p:spTgt spid="5121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16" fill="hold" nodeType="clickEffect">
                                  <p:stCondLst>
                                    <p:cond delay="0"/>
                                  </p:stCondLst>
                                  <p:childTnLst>
                                    <p:set>
                                      <p:cBhvr>
                                        <p:cTn id="25" dur="1" fill="hold">
                                          <p:stCondLst>
                                            <p:cond delay="0"/>
                                          </p:stCondLst>
                                        </p:cTn>
                                        <p:tgtEl>
                                          <p:spTgt spid="51203"/>
                                        </p:tgtEl>
                                        <p:attrNameLst>
                                          <p:attrName>style.visibility</p:attrName>
                                        </p:attrNameLst>
                                      </p:cBhvr>
                                      <p:to>
                                        <p:strVal val="visible"/>
                                      </p:to>
                                    </p:set>
                                    <p:anim calcmode="lin" valueType="num">
                                      <p:cBhvr>
                                        <p:cTn id="26" dur="500" fill="hold"/>
                                        <p:tgtEl>
                                          <p:spTgt spid="51203"/>
                                        </p:tgtEl>
                                        <p:attrNameLst>
                                          <p:attrName>ppt_w</p:attrName>
                                        </p:attrNameLst>
                                      </p:cBhvr>
                                      <p:tavLst>
                                        <p:tav tm="0">
                                          <p:val>
                                            <p:fltVal val="0"/>
                                          </p:val>
                                        </p:tav>
                                        <p:tav tm="100000">
                                          <p:val>
                                            <p:strVal val="#ppt_w"/>
                                          </p:val>
                                        </p:tav>
                                      </p:tavLst>
                                    </p:anim>
                                    <p:anim calcmode="lin" valueType="num">
                                      <p:cBhvr>
                                        <p:cTn id="27" dur="500" fill="hold"/>
                                        <p:tgtEl>
                                          <p:spTgt spid="51203"/>
                                        </p:tgtEl>
                                        <p:attrNameLst>
                                          <p:attrName>ppt_h</p:attrName>
                                        </p:attrNameLst>
                                      </p:cBhvr>
                                      <p:tavLst>
                                        <p:tav tm="0">
                                          <p:val>
                                            <p:fltVal val="0"/>
                                          </p:val>
                                        </p:tav>
                                        <p:tav tm="100000">
                                          <p:val>
                                            <p:strVal val="#ppt_h"/>
                                          </p:val>
                                        </p:tav>
                                      </p:tavLst>
                                    </p:anim>
                                  </p:childTnLst>
                                </p:cTn>
                              </p:par>
                            </p:childTnLst>
                          </p:cTn>
                        </p:par>
                        <p:par>
                          <p:cTn id="28" fill="hold" nodeType="afterGroup">
                            <p:stCondLst>
                              <p:cond delay="500"/>
                            </p:stCondLst>
                            <p:childTnLst>
                              <p:par>
                                <p:cTn id="29" presetID="23" presetClass="entr" presetSubtype="16" fill="hold" grpId="0" nodeType="afterEffect">
                                  <p:stCondLst>
                                    <p:cond delay="0"/>
                                  </p:stCondLst>
                                  <p:childTnLst>
                                    <p:set>
                                      <p:cBhvr>
                                        <p:cTn id="30" dur="1" fill="hold">
                                          <p:stCondLst>
                                            <p:cond delay="0"/>
                                          </p:stCondLst>
                                        </p:cTn>
                                        <p:tgtEl>
                                          <p:spTgt spid="51211"/>
                                        </p:tgtEl>
                                        <p:attrNameLst>
                                          <p:attrName>style.visibility</p:attrName>
                                        </p:attrNameLst>
                                      </p:cBhvr>
                                      <p:to>
                                        <p:strVal val="visible"/>
                                      </p:to>
                                    </p:set>
                                    <p:anim calcmode="lin" valueType="num">
                                      <p:cBhvr>
                                        <p:cTn id="31" dur="500" fill="hold"/>
                                        <p:tgtEl>
                                          <p:spTgt spid="51211"/>
                                        </p:tgtEl>
                                        <p:attrNameLst>
                                          <p:attrName>ppt_w</p:attrName>
                                        </p:attrNameLst>
                                      </p:cBhvr>
                                      <p:tavLst>
                                        <p:tav tm="0">
                                          <p:val>
                                            <p:fltVal val="0"/>
                                          </p:val>
                                        </p:tav>
                                        <p:tav tm="100000">
                                          <p:val>
                                            <p:strVal val="#ppt_w"/>
                                          </p:val>
                                        </p:tav>
                                      </p:tavLst>
                                    </p:anim>
                                    <p:anim calcmode="lin" valueType="num">
                                      <p:cBhvr>
                                        <p:cTn id="32" dur="500" fill="hold"/>
                                        <p:tgtEl>
                                          <p:spTgt spid="512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7" grpId="0"/>
      <p:bldP spid="51210" grpId="0"/>
      <p:bldP spid="512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4"/>
          <p:cNvSpPr>
            <a:spLocks noGrp="1" noChangeArrowheads="1"/>
          </p:cNvSpPr>
          <p:nvPr>
            <p:ph type="subTitle" idx="1"/>
          </p:nvPr>
        </p:nvSpPr>
        <p:spPr>
          <a:xfrm>
            <a:off x="457200" y="304800"/>
            <a:ext cx="6858000" cy="381000"/>
          </a:xfrm>
          <a:noFill/>
        </p:spPr>
        <p:txBody>
          <a:bodyPr/>
          <a:lstStyle/>
          <a:p>
            <a:pPr algn="l" eaLnBrk="1" hangingPunct="1"/>
            <a:r>
              <a:rPr lang="en-US" altLang="fr-FR" sz="1200" smtClean="0"/>
              <a:t>                                                                                                  MODULE 1 - INTRODUCTION</a:t>
            </a:r>
          </a:p>
        </p:txBody>
      </p:sp>
      <p:sp>
        <p:nvSpPr>
          <p:cNvPr id="61443" name="Espace réservé du numéro de diapositive 3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3C911C75-C1E0-45F6-BF59-C6D29EBCFD2F}" type="slidenum">
              <a:rPr lang="en-US" altLang="fr-FR" sz="1000" smtClean="0">
                <a:solidFill>
                  <a:srgbClr val="292929"/>
                </a:solidFill>
                <a:latin typeface="Arial" panose="020B0604020202020204" pitchFamily="34" charset="0"/>
              </a:rPr>
              <a:pPr>
                <a:spcBef>
                  <a:spcPct val="0"/>
                </a:spcBef>
                <a:buClrTx/>
                <a:buSzTx/>
                <a:buFontTx/>
                <a:buNone/>
              </a:pPr>
              <a:t>28</a:t>
            </a:fld>
            <a:endParaRPr lang="en-US" altLang="fr-FR" sz="1000" smtClean="0">
              <a:solidFill>
                <a:srgbClr val="292929"/>
              </a:solidFill>
              <a:latin typeface="Arial" panose="020B0604020202020204" pitchFamily="34" charset="0"/>
            </a:endParaRPr>
          </a:p>
        </p:txBody>
      </p:sp>
      <p:sp>
        <p:nvSpPr>
          <p:cNvPr id="61444" name="Rectangle 15"/>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45" name="Rectangle 49"/>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46" name="Text Box 55"/>
          <p:cNvSpPr txBox="1">
            <a:spLocks noChangeArrowheads="1"/>
          </p:cNvSpPr>
          <p:nvPr/>
        </p:nvSpPr>
        <p:spPr bwMode="auto">
          <a:xfrm>
            <a:off x="685800" y="914400"/>
            <a:ext cx="662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r>
              <a:rPr lang="en-US" altLang="fr-FR" sz="1800" b="1">
                <a:solidFill>
                  <a:srgbClr val="CC6600"/>
                </a:solidFill>
                <a:latin typeface="Arial" panose="020B0604020202020204" pitchFamily="34" charset="0"/>
              </a:rPr>
              <a:t> : E</a:t>
            </a:r>
            <a:r>
              <a:rPr lang="fr-FR" altLang="fr-FR" sz="1800" b="1">
                <a:solidFill>
                  <a:srgbClr val="CC6600"/>
                </a:solidFill>
                <a:latin typeface="Arial" panose="020B0604020202020204" pitchFamily="34" charset="0"/>
              </a:rPr>
              <a:t>ffet d'engrenage</a:t>
            </a:r>
            <a:endParaRPr lang="en-US" altLang="fr-FR" sz="1800" b="1">
              <a:solidFill>
                <a:srgbClr val="CC6600"/>
              </a:solidFill>
              <a:latin typeface="Arial" panose="020B0604020202020204" pitchFamily="34" charset="0"/>
            </a:endParaRPr>
          </a:p>
        </p:txBody>
      </p:sp>
      <p:sp>
        <p:nvSpPr>
          <p:cNvPr id="53254" name="Text Box 56"/>
          <p:cNvSpPr txBox="1">
            <a:spLocks noChangeArrowheads="1"/>
          </p:cNvSpPr>
          <p:nvPr/>
        </p:nvSpPr>
        <p:spPr bwMode="auto">
          <a:xfrm>
            <a:off x="914400" y="1524000"/>
            <a:ext cx="7772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Arial" panose="020B0604020202020204" pitchFamily="34" charset="0"/>
              <a:buChar char="•"/>
            </a:pPr>
            <a:r>
              <a:rPr lang="fr-FR" altLang="fr-FR" sz="1800">
                <a:latin typeface="Arial" panose="020B0604020202020204" pitchFamily="34" charset="0"/>
              </a:rPr>
              <a:t>  Les moteurs destinés à haute vitesse sont plus petits de taille et poids.</a:t>
            </a:r>
          </a:p>
          <a:p>
            <a:pPr eaLnBrk="1" hangingPunct="1">
              <a:spcBef>
                <a:spcPct val="0"/>
              </a:spcBef>
              <a:buClrTx/>
              <a:buSzTx/>
              <a:buFont typeface="Arial" panose="020B0604020202020204" pitchFamily="34" charset="0"/>
              <a:buChar char="•"/>
            </a:pPr>
            <a:r>
              <a:rPr lang="fr-FR" altLang="fr-FR" sz="1800">
                <a:latin typeface="Arial" panose="020B0604020202020204" pitchFamily="34" charset="0"/>
              </a:rPr>
              <a:t>  Les moteurs destinés à faible vitesse sont grand de taille</a:t>
            </a:r>
            <a:endParaRPr lang="en-US" altLang="fr-FR" sz="1800">
              <a:latin typeface="Arial" panose="020B0604020202020204" pitchFamily="34" charset="0"/>
            </a:endParaRPr>
          </a:p>
        </p:txBody>
      </p:sp>
      <p:sp>
        <p:nvSpPr>
          <p:cNvPr id="53255" name="Text Box 57"/>
          <p:cNvSpPr txBox="1">
            <a:spLocks noChangeArrowheads="1"/>
          </p:cNvSpPr>
          <p:nvPr/>
        </p:nvSpPr>
        <p:spPr bwMode="auto">
          <a:xfrm>
            <a:off x="914400" y="2362200"/>
            <a:ext cx="7772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Arial" panose="020B0604020202020204" pitchFamily="34" charset="0"/>
              <a:buChar char="•"/>
            </a:pPr>
            <a:r>
              <a:rPr lang="fr-FR" altLang="fr-FR" sz="1800">
                <a:latin typeface="Arial" panose="020B0604020202020204" pitchFamily="34" charset="0"/>
              </a:rPr>
              <a:t>  Afin d’éviter les grosses machines, les applications de faible vitesse utilisent des coupleurs avec les petits moteurs à haute vitesse</a:t>
            </a:r>
            <a:endParaRPr lang="en-US" altLang="fr-FR" sz="1800">
              <a:latin typeface="Arial" panose="020B0604020202020204" pitchFamily="34" charset="0"/>
            </a:endParaRPr>
          </a:p>
        </p:txBody>
      </p:sp>
      <p:grpSp>
        <p:nvGrpSpPr>
          <p:cNvPr id="2" name="Group 81"/>
          <p:cNvGrpSpPr>
            <a:grpSpLocks/>
          </p:cNvGrpSpPr>
          <p:nvPr/>
        </p:nvGrpSpPr>
        <p:grpSpPr bwMode="auto">
          <a:xfrm>
            <a:off x="1905000" y="3276600"/>
            <a:ext cx="5638800" cy="2695575"/>
            <a:chOff x="1056" y="1950"/>
            <a:chExt cx="3552" cy="1698"/>
          </a:xfrm>
        </p:grpSpPr>
        <p:sp>
          <p:nvSpPr>
            <p:cNvPr id="61451" name="Rectangle 59"/>
            <p:cNvSpPr>
              <a:spLocks noChangeAspect="1" noChangeArrowheads="1"/>
            </p:cNvSpPr>
            <p:nvPr/>
          </p:nvSpPr>
          <p:spPr bwMode="auto">
            <a:xfrm>
              <a:off x="1056" y="2163"/>
              <a:ext cx="782" cy="451"/>
            </a:xfrm>
            <a:prstGeom prst="rect">
              <a:avLst/>
            </a:prstGeom>
            <a:blipFill dpi="0" rotWithShape="1">
              <a:blip r:embed="rId3">
                <a:lum bright="-10000"/>
              </a:blip>
              <a:srcRect/>
              <a:tile tx="0" ty="0" sx="100000" sy="100000" flip="none" algn="tl"/>
            </a:blip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52" name="Rectangle 60"/>
            <p:cNvSpPr>
              <a:spLocks noChangeAspect="1" noChangeArrowheads="1"/>
            </p:cNvSpPr>
            <p:nvPr/>
          </p:nvSpPr>
          <p:spPr bwMode="auto">
            <a:xfrm>
              <a:off x="1838" y="2323"/>
              <a:ext cx="395" cy="109"/>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53" name="Rectangle 61"/>
            <p:cNvSpPr>
              <a:spLocks noChangeAspect="1" noChangeArrowheads="1"/>
            </p:cNvSpPr>
            <p:nvPr/>
          </p:nvSpPr>
          <p:spPr bwMode="auto">
            <a:xfrm>
              <a:off x="2208" y="2142"/>
              <a:ext cx="734" cy="483"/>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54" name="Rectangle 62"/>
            <p:cNvSpPr>
              <a:spLocks noChangeAspect="1" noChangeArrowheads="1"/>
            </p:cNvSpPr>
            <p:nvPr/>
          </p:nvSpPr>
          <p:spPr bwMode="auto">
            <a:xfrm>
              <a:off x="2940" y="2313"/>
              <a:ext cx="395" cy="109"/>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55" name="Rectangle 63"/>
            <p:cNvSpPr>
              <a:spLocks noChangeAspect="1" noChangeArrowheads="1"/>
            </p:cNvSpPr>
            <p:nvPr/>
          </p:nvSpPr>
          <p:spPr bwMode="auto">
            <a:xfrm>
              <a:off x="3343" y="2032"/>
              <a:ext cx="48" cy="674"/>
            </a:xfrm>
            <a:prstGeom prst="rect">
              <a:avLst/>
            </a:prstGeom>
            <a:solidFill>
              <a:srgbClr val="808080"/>
            </a:solid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56" name="Rectangle 64"/>
            <p:cNvSpPr>
              <a:spLocks noChangeAspect="1" noChangeArrowheads="1"/>
            </p:cNvSpPr>
            <p:nvPr/>
          </p:nvSpPr>
          <p:spPr bwMode="auto">
            <a:xfrm>
              <a:off x="3343" y="2713"/>
              <a:ext cx="48" cy="926"/>
            </a:xfrm>
            <a:prstGeom prst="rect">
              <a:avLst/>
            </a:prstGeom>
            <a:solidFill>
              <a:srgbClr val="C0C0C0"/>
            </a:solid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57" name="Rectangle 65"/>
            <p:cNvSpPr>
              <a:spLocks noChangeAspect="1" noChangeArrowheads="1"/>
            </p:cNvSpPr>
            <p:nvPr/>
          </p:nvSpPr>
          <p:spPr bwMode="auto">
            <a:xfrm>
              <a:off x="3388" y="3135"/>
              <a:ext cx="396" cy="111"/>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58" name="Rectangle 66"/>
            <p:cNvSpPr>
              <a:spLocks noChangeAspect="1" noChangeArrowheads="1"/>
            </p:cNvSpPr>
            <p:nvPr/>
          </p:nvSpPr>
          <p:spPr bwMode="auto">
            <a:xfrm>
              <a:off x="3783" y="2843"/>
              <a:ext cx="705" cy="704"/>
            </a:xfrm>
            <a:prstGeom prst="rect">
              <a:avLst/>
            </a:prstGeom>
            <a:blipFill dpi="0" rotWithShape="1">
              <a:blip r:embed="rId3">
                <a:lum bright="-10000"/>
              </a:blip>
              <a:srcRect/>
              <a:tile tx="0" ty="0" sx="100000" sy="100000" flip="none" algn="tl"/>
            </a:blip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59" name="Freeform 67"/>
            <p:cNvSpPr>
              <a:spLocks noChangeAspect="1"/>
            </p:cNvSpPr>
            <p:nvPr/>
          </p:nvSpPr>
          <p:spPr bwMode="auto">
            <a:xfrm>
              <a:off x="2009" y="2210"/>
              <a:ext cx="117" cy="292"/>
            </a:xfrm>
            <a:custGeom>
              <a:avLst/>
              <a:gdLst>
                <a:gd name="T0" fmla="*/ 0 w 340"/>
                <a:gd name="T1" fmla="*/ 0 h 642"/>
                <a:gd name="T2" fmla="*/ 0 w 340"/>
                <a:gd name="T3" fmla="*/ 0 h 642"/>
                <a:gd name="T4" fmla="*/ 0 w 340"/>
                <a:gd name="T5" fmla="*/ 0 h 642"/>
                <a:gd name="T6" fmla="*/ 0 w 340"/>
                <a:gd name="T7" fmla="*/ 0 h 642"/>
                <a:gd name="T8" fmla="*/ 0 60000 65536"/>
                <a:gd name="T9" fmla="*/ 0 60000 65536"/>
                <a:gd name="T10" fmla="*/ 0 60000 65536"/>
                <a:gd name="T11" fmla="*/ 0 60000 65536"/>
                <a:gd name="T12" fmla="*/ 0 w 340"/>
                <a:gd name="T13" fmla="*/ 0 h 642"/>
                <a:gd name="T14" fmla="*/ 340 w 340"/>
                <a:gd name="T15" fmla="*/ 642 h 642"/>
              </a:gdLst>
              <a:ahLst/>
              <a:cxnLst>
                <a:cxn ang="T8">
                  <a:pos x="T0" y="T1"/>
                </a:cxn>
                <a:cxn ang="T9">
                  <a:pos x="T2" y="T3"/>
                </a:cxn>
                <a:cxn ang="T10">
                  <a:pos x="T4" y="T5"/>
                </a:cxn>
                <a:cxn ang="T11">
                  <a:pos x="T6" y="T7"/>
                </a:cxn>
              </a:cxnLst>
              <a:rect l="T12" t="T13" r="T14" b="T15"/>
              <a:pathLst>
                <a:path w="340" h="642">
                  <a:moveTo>
                    <a:pt x="45" y="0"/>
                  </a:moveTo>
                  <a:cubicBezTo>
                    <a:pt x="163" y="73"/>
                    <a:pt x="282" y="147"/>
                    <a:pt x="311" y="243"/>
                  </a:cubicBezTo>
                  <a:cubicBezTo>
                    <a:pt x="340" y="339"/>
                    <a:pt x="274" y="510"/>
                    <a:pt x="222" y="576"/>
                  </a:cubicBezTo>
                  <a:cubicBezTo>
                    <a:pt x="170" y="642"/>
                    <a:pt x="37" y="631"/>
                    <a:pt x="0" y="642"/>
                  </a:cubicBezTo>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61460" name="Freeform 68"/>
            <p:cNvSpPr>
              <a:spLocks noChangeAspect="1"/>
            </p:cNvSpPr>
            <p:nvPr/>
          </p:nvSpPr>
          <p:spPr bwMode="auto">
            <a:xfrm>
              <a:off x="3061" y="2212"/>
              <a:ext cx="117" cy="291"/>
            </a:xfrm>
            <a:custGeom>
              <a:avLst/>
              <a:gdLst>
                <a:gd name="T0" fmla="*/ 0 w 340"/>
                <a:gd name="T1" fmla="*/ 0 h 642"/>
                <a:gd name="T2" fmla="*/ 0 w 340"/>
                <a:gd name="T3" fmla="*/ 0 h 642"/>
                <a:gd name="T4" fmla="*/ 0 w 340"/>
                <a:gd name="T5" fmla="*/ 0 h 642"/>
                <a:gd name="T6" fmla="*/ 0 w 340"/>
                <a:gd name="T7" fmla="*/ 0 h 642"/>
                <a:gd name="T8" fmla="*/ 0 60000 65536"/>
                <a:gd name="T9" fmla="*/ 0 60000 65536"/>
                <a:gd name="T10" fmla="*/ 0 60000 65536"/>
                <a:gd name="T11" fmla="*/ 0 60000 65536"/>
                <a:gd name="T12" fmla="*/ 0 w 340"/>
                <a:gd name="T13" fmla="*/ 0 h 642"/>
                <a:gd name="T14" fmla="*/ 340 w 340"/>
                <a:gd name="T15" fmla="*/ 642 h 642"/>
              </a:gdLst>
              <a:ahLst/>
              <a:cxnLst>
                <a:cxn ang="T8">
                  <a:pos x="T0" y="T1"/>
                </a:cxn>
                <a:cxn ang="T9">
                  <a:pos x="T2" y="T3"/>
                </a:cxn>
                <a:cxn ang="T10">
                  <a:pos x="T4" y="T5"/>
                </a:cxn>
                <a:cxn ang="T11">
                  <a:pos x="T6" y="T7"/>
                </a:cxn>
              </a:cxnLst>
              <a:rect l="T12" t="T13" r="T14" b="T15"/>
              <a:pathLst>
                <a:path w="340" h="642">
                  <a:moveTo>
                    <a:pt x="45" y="0"/>
                  </a:moveTo>
                  <a:cubicBezTo>
                    <a:pt x="163" y="73"/>
                    <a:pt x="282" y="147"/>
                    <a:pt x="311" y="243"/>
                  </a:cubicBezTo>
                  <a:cubicBezTo>
                    <a:pt x="340" y="339"/>
                    <a:pt x="274" y="510"/>
                    <a:pt x="222" y="576"/>
                  </a:cubicBezTo>
                  <a:cubicBezTo>
                    <a:pt x="170" y="642"/>
                    <a:pt x="37" y="631"/>
                    <a:pt x="0" y="642"/>
                  </a:cubicBezTo>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61461" name="Freeform 69"/>
            <p:cNvSpPr>
              <a:spLocks noChangeAspect="1"/>
            </p:cNvSpPr>
            <p:nvPr/>
          </p:nvSpPr>
          <p:spPr bwMode="auto">
            <a:xfrm rot="10800000">
              <a:off x="3501" y="3044"/>
              <a:ext cx="117" cy="292"/>
            </a:xfrm>
            <a:custGeom>
              <a:avLst/>
              <a:gdLst>
                <a:gd name="T0" fmla="*/ 0 w 340"/>
                <a:gd name="T1" fmla="*/ 0 h 642"/>
                <a:gd name="T2" fmla="*/ 0 w 340"/>
                <a:gd name="T3" fmla="*/ 0 h 642"/>
                <a:gd name="T4" fmla="*/ 0 w 340"/>
                <a:gd name="T5" fmla="*/ 0 h 642"/>
                <a:gd name="T6" fmla="*/ 0 w 340"/>
                <a:gd name="T7" fmla="*/ 0 h 642"/>
                <a:gd name="T8" fmla="*/ 0 60000 65536"/>
                <a:gd name="T9" fmla="*/ 0 60000 65536"/>
                <a:gd name="T10" fmla="*/ 0 60000 65536"/>
                <a:gd name="T11" fmla="*/ 0 60000 65536"/>
                <a:gd name="T12" fmla="*/ 0 w 340"/>
                <a:gd name="T13" fmla="*/ 0 h 642"/>
                <a:gd name="T14" fmla="*/ 340 w 340"/>
                <a:gd name="T15" fmla="*/ 642 h 642"/>
              </a:gdLst>
              <a:ahLst/>
              <a:cxnLst>
                <a:cxn ang="T8">
                  <a:pos x="T0" y="T1"/>
                </a:cxn>
                <a:cxn ang="T9">
                  <a:pos x="T2" y="T3"/>
                </a:cxn>
                <a:cxn ang="T10">
                  <a:pos x="T4" y="T5"/>
                </a:cxn>
                <a:cxn ang="T11">
                  <a:pos x="T6" y="T7"/>
                </a:cxn>
              </a:cxnLst>
              <a:rect l="T12" t="T13" r="T14" b="T15"/>
              <a:pathLst>
                <a:path w="340" h="642">
                  <a:moveTo>
                    <a:pt x="45" y="0"/>
                  </a:moveTo>
                  <a:cubicBezTo>
                    <a:pt x="163" y="73"/>
                    <a:pt x="282" y="147"/>
                    <a:pt x="311" y="243"/>
                  </a:cubicBezTo>
                  <a:cubicBezTo>
                    <a:pt x="340" y="339"/>
                    <a:pt x="274" y="510"/>
                    <a:pt x="222" y="576"/>
                  </a:cubicBezTo>
                  <a:cubicBezTo>
                    <a:pt x="170" y="642"/>
                    <a:pt x="37" y="631"/>
                    <a:pt x="0" y="642"/>
                  </a:cubicBezTo>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61462" name="Text Box 70"/>
            <p:cNvSpPr txBox="1">
              <a:spLocks noChangeAspect="1" noChangeArrowheads="1"/>
            </p:cNvSpPr>
            <p:nvPr/>
          </p:nvSpPr>
          <p:spPr bwMode="auto">
            <a:xfrm>
              <a:off x="1094" y="2122"/>
              <a:ext cx="722"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rPr>
                <a:t>moteur</a:t>
              </a:r>
            </a:p>
            <a:p>
              <a:pPr eaLnBrk="1" hangingPunct="1">
                <a:spcBef>
                  <a:spcPct val="0"/>
                </a:spcBef>
                <a:buClrTx/>
                <a:buSzTx/>
                <a:buFontTx/>
                <a:buNone/>
              </a:pPr>
              <a:r>
                <a:rPr lang="en-US" altLang="fr-FR" sz="1600">
                  <a:latin typeface="Courier New" panose="02070309020205020404" pitchFamily="49" charset="0"/>
                </a:rPr>
                <a:t>T</a:t>
              </a:r>
              <a:r>
                <a:rPr lang="en-US" altLang="fr-FR" sz="1600" baseline="-25000">
                  <a:latin typeface="Courier New" panose="02070309020205020404" pitchFamily="49" charset="0"/>
                </a:rPr>
                <a:t>e</a:t>
              </a:r>
              <a:endParaRPr lang="en-US" altLang="fr-FR" sz="1600">
                <a:latin typeface="Arial" panose="020B0604020202020204" pitchFamily="34" charset="0"/>
              </a:endParaRPr>
            </a:p>
          </p:txBody>
        </p:sp>
        <p:sp>
          <p:nvSpPr>
            <p:cNvPr id="61463" name="Text Box 71"/>
            <p:cNvSpPr txBox="1">
              <a:spLocks noChangeAspect="1" noChangeArrowheads="1"/>
            </p:cNvSpPr>
            <p:nvPr/>
          </p:nvSpPr>
          <p:spPr bwMode="auto">
            <a:xfrm>
              <a:off x="2171" y="2170"/>
              <a:ext cx="873" cy="422"/>
            </a:xfrm>
            <a:prstGeom prst="rect">
              <a:avLst/>
            </a:prstGeom>
            <a:blipFill dpi="0" rotWithShape="1">
              <a:blip r:embed="rId3">
                <a:lum bright="-10000"/>
              </a:blip>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i="1" dirty="0">
                  <a:latin typeface="Courier New" panose="02070309020205020404" pitchFamily="49" charset="0"/>
                </a:rPr>
                <a:t>Charge 1, T</a:t>
              </a:r>
              <a:r>
                <a:rPr lang="en-US" altLang="fr-FR" sz="1600" i="1" baseline="-25000" dirty="0">
                  <a:latin typeface="Courier New" panose="02070309020205020404" pitchFamily="49" charset="0"/>
                </a:rPr>
                <a:t>L1</a:t>
              </a:r>
              <a:endParaRPr lang="en-US" altLang="fr-FR" sz="1600" dirty="0">
                <a:latin typeface="Arial" panose="020B0604020202020204" pitchFamily="34" charset="0"/>
              </a:endParaRPr>
            </a:p>
          </p:txBody>
        </p:sp>
        <p:sp>
          <p:nvSpPr>
            <p:cNvPr id="61464" name="Text Box 72"/>
            <p:cNvSpPr txBox="1">
              <a:spLocks noChangeAspect="1" noChangeArrowheads="1"/>
            </p:cNvSpPr>
            <p:nvPr/>
          </p:nvSpPr>
          <p:spPr bwMode="auto">
            <a:xfrm>
              <a:off x="3790" y="2944"/>
              <a:ext cx="818"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i="1">
                  <a:latin typeface="Courier New" panose="02070309020205020404" pitchFamily="49" charset="0"/>
                </a:rPr>
                <a:t>Charge 2, T</a:t>
              </a:r>
              <a:r>
                <a:rPr lang="en-US" altLang="fr-FR" sz="1600" i="1" baseline="-25000">
                  <a:latin typeface="Courier New" panose="02070309020205020404" pitchFamily="49" charset="0"/>
                </a:rPr>
                <a:t>L2</a:t>
              </a:r>
              <a:endParaRPr lang="en-US" altLang="fr-FR" sz="1600">
                <a:latin typeface="Arial" panose="020B0604020202020204" pitchFamily="34" charset="0"/>
              </a:endParaRPr>
            </a:p>
          </p:txBody>
        </p:sp>
        <p:sp>
          <p:nvSpPr>
            <p:cNvPr id="61465" name="AutoShape 73"/>
            <p:cNvSpPr>
              <a:spLocks noChangeAspect="1"/>
            </p:cNvSpPr>
            <p:nvPr/>
          </p:nvSpPr>
          <p:spPr bwMode="auto">
            <a:xfrm rot="5391417">
              <a:off x="1884" y="2280"/>
              <a:ext cx="373" cy="1169"/>
            </a:xfrm>
            <a:prstGeom prst="rightBrace">
              <a:avLst>
                <a:gd name="adj1" fmla="val 26117"/>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66" name="Text Box 74"/>
            <p:cNvSpPr txBox="1">
              <a:spLocks noChangeAspect="1" noChangeArrowheads="1"/>
            </p:cNvSpPr>
            <p:nvPr/>
          </p:nvSpPr>
          <p:spPr bwMode="auto">
            <a:xfrm>
              <a:off x="1974" y="3046"/>
              <a:ext cx="365"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rPr>
                <a:t>J</a:t>
              </a:r>
              <a:r>
                <a:rPr lang="en-US" altLang="fr-FR" sz="1600" baseline="-25000">
                  <a:latin typeface="Courier New" panose="02070309020205020404" pitchFamily="49" charset="0"/>
                </a:rPr>
                <a:t>1</a:t>
              </a:r>
              <a:endParaRPr lang="en-US" altLang="fr-FR" sz="1600">
                <a:latin typeface="Arial" panose="020B0604020202020204" pitchFamily="34" charset="0"/>
              </a:endParaRPr>
            </a:p>
          </p:txBody>
        </p:sp>
        <p:sp>
          <p:nvSpPr>
            <p:cNvPr id="61467" name="Text Box 75"/>
            <p:cNvSpPr txBox="1">
              <a:spLocks noChangeAspect="1" noChangeArrowheads="1"/>
            </p:cNvSpPr>
            <p:nvPr/>
          </p:nvSpPr>
          <p:spPr bwMode="auto">
            <a:xfrm>
              <a:off x="3957" y="2503"/>
              <a:ext cx="36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rPr>
                <a:t>J</a:t>
              </a:r>
              <a:r>
                <a:rPr lang="en-US" altLang="fr-FR" sz="1600" baseline="-25000">
                  <a:latin typeface="Courier New" panose="02070309020205020404" pitchFamily="49" charset="0"/>
                </a:rPr>
                <a:t>2</a:t>
              </a:r>
              <a:endParaRPr lang="en-US" altLang="fr-FR" sz="1600">
                <a:latin typeface="Arial" panose="020B0604020202020204" pitchFamily="34" charset="0"/>
              </a:endParaRPr>
            </a:p>
          </p:txBody>
        </p:sp>
        <p:sp>
          <p:nvSpPr>
            <p:cNvPr id="61468" name="Text Box 76"/>
            <p:cNvSpPr txBox="1">
              <a:spLocks noChangeAspect="1" noChangeArrowheads="1"/>
            </p:cNvSpPr>
            <p:nvPr/>
          </p:nvSpPr>
          <p:spPr bwMode="auto">
            <a:xfrm>
              <a:off x="1973" y="1998"/>
              <a:ext cx="364"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baseline="-25000">
                  <a:latin typeface="Courier New" panose="02070309020205020404" pitchFamily="49" charset="0"/>
                </a:rPr>
                <a:t>m</a:t>
              </a:r>
              <a:endParaRPr lang="en-US" altLang="fr-FR" sz="1600">
                <a:latin typeface="Arial" panose="020B0604020202020204" pitchFamily="34" charset="0"/>
              </a:endParaRPr>
            </a:p>
          </p:txBody>
        </p:sp>
        <p:sp>
          <p:nvSpPr>
            <p:cNvPr id="61469" name="Text Box 77"/>
            <p:cNvSpPr txBox="1">
              <a:spLocks noChangeAspect="1" noChangeArrowheads="1"/>
            </p:cNvSpPr>
            <p:nvPr/>
          </p:nvSpPr>
          <p:spPr bwMode="auto">
            <a:xfrm>
              <a:off x="2893" y="1950"/>
              <a:ext cx="364"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baseline="-25000">
                  <a:latin typeface="Courier New" panose="02070309020205020404" pitchFamily="49" charset="0"/>
                </a:rPr>
                <a:t>m1</a:t>
              </a:r>
              <a:endParaRPr lang="en-US" altLang="fr-FR" sz="1600">
                <a:latin typeface="Arial" panose="020B0604020202020204" pitchFamily="34" charset="0"/>
              </a:endParaRPr>
            </a:p>
          </p:txBody>
        </p:sp>
        <p:sp>
          <p:nvSpPr>
            <p:cNvPr id="61470" name="Text Box 78"/>
            <p:cNvSpPr txBox="1">
              <a:spLocks noChangeAspect="1" noChangeArrowheads="1"/>
            </p:cNvSpPr>
            <p:nvPr/>
          </p:nvSpPr>
          <p:spPr bwMode="auto">
            <a:xfrm>
              <a:off x="3433" y="2765"/>
              <a:ext cx="36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baseline="-25000">
                  <a:latin typeface="Courier New" panose="02070309020205020404" pitchFamily="49" charset="0"/>
                </a:rPr>
                <a:t>m2</a:t>
              </a:r>
              <a:endParaRPr lang="en-US" altLang="fr-FR" sz="1600">
                <a:latin typeface="Arial" panose="020B0604020202020204" pitchFamily="34" charset="0"/>
              </a:endParaRPr>
            </a:p>
          </p:txBody>
        </p:sp>
        <p:sp>
          <p:nvSpPr>
            <p:cNvPr id="61471" name="Text Box 79"/>
            <p:cNvSpPr txBox="1">
              <a:spLocks noChangeAspect="1" noChangeArrowheads="1"/>
            </p:cNvSpPr>
            <p:nvPr/>
          </p:nvSpPr>
          <p:spPr bwMode="auto">
            <a:xfrm>
              <a:off x="3403" y="2163"/>
              <a:ext cx="36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Courier New" panose="02070309020205020404" pitchFamily="49" charset="0"/>
                </a:rPr>
                <a:t>n</a:t>
              </a:r>
              <a:r>
                <a:rPr lang="en-US" altLang="fr-FR" sz="1600" b="1" baseline="-25000">
                  <a:latin typeface="Courier New" panose="02070309020205020404" pitchFamily="49" charset="0"/>
                </a:rPr>
                <a:t>1</a:t>
              </a:r>
              <a:endParaRPr lang="en-US" altLang="fr-FR" sz="1600">
                <a:latin typeface="Arial" panose="020B0604020202020204" pitchFamily="34" charset="0"/>
              </a:endParaRPr>
            </a:p>
          </p:txBody>
        </p:sp>
        <p:sp>
          <p:nvSpPr>
            <p:cNvPr id="61472" name="Text Box 80"/>
            <p:cNvSpPr txBox="1">
              <a:spLocks noChangeAspect="1" noChangeArrowheads="1"/>
            </p:cNvSpPr>
            <p:nvPr/>
          </p:nvSpPr>
          <p:spPr bwMode="auto">
            <a:xfrm>
              <a:off x="3113" y="2985"/>
              <a:ext cx="36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Courier New" panose="02070309020205020404" pitchFamily="49" charset="0"/>
                </a:rPr>
                <a:t>n</a:t>
              </a:r>
              <a:r>
                <a:rPr lang="en-US" altLang="fr-FR" sz="1600" b="1" baseline="-25000">
                  <a:latin typeface="Courier New" panose="02070309020205020404" pitchFamily="49" charset="0"/>
                </a:rPr>
                <a:t>2</a:t>
              </a:r>
              <a:endParaRPr lang="en-US" altLang="fr-FR" sz="1600">
                <a:latin typeface="Arial" panose="020B0604020202020204" pitchFamily="34" charset="0"/>
              </a:endParaRPr>
            </a:p>
          </p:txBody>
        </p:sp>
      </p:grpSp>
      <p:sp>
        <p:nvSpPr>
          <p:cNvPr id="33" name="Espace réservé du pied de page 32"/>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4"/>
                                        </p:tgtEl>
                                        <p:attrNameLst>
                                          <p:attrName>style.visibility</p:attrName>
                                        </p:attrNameLst>
                                      </p:cBhvr>
                                      <p:to>
                                        <p:strVal val="visible"/>
                                      </p:to>
                                    </p:set>
                                    <p:animEffect transition="in" filter="wipe(left)">
                                      <p:cBhvr>
                                        <p:cTn id="7" dur="500"/>
                                        <p:tgtEl>
                                          <p:spTgt spid="532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5"/>
                                        </p:tgtEl>
                                        <p:attrNameLst>
                                          <p:attrName>style.visibility</p:attrName>
                                        </p:attrNameLst>
                                      </p:cBhvr>
                                      <p:to>
                                        <p:strVal val="visible"/>
                                      </p:to>
                                    </p:set>
                                    <p:animEffect transition="in" filter="wipe(left)">
                                      <p:cBhvr>
                                        <p:cTn id="12" dur="500"/>
                                        <p:tgtEl>
                                          <p:spTgt spid="532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4" grpId="0"/>
      <p:bldP spid="5325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6349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CB4F7E0-CDF3-462A-8F58-CCDC9D869C8A}" type="slidenum">
              <a:rPr lang="en-US" altLang="fr-FR" sz="1000" smtClean="0">
                <a:solidFill>
                  <a:srgbClr val="292929"/>
                </a:solidFill>
                <a:latin typeface="Arial" panose="020B0604020202020204" pitchFamily="34" charset="0"/>
              </a:rPr>
              <a:pPr>
                <a:spcBef>
                  <a:spcPct val="0"/>
                </a:spcBef>
                <a:buClrTx/>
                <a:buSzTx/>
                <a:buFontTx/>
                <a:buNone/>
              </a:pPr>
              <a:t>29</a:t>
            </a:fld>
            <a:endParaRPr lang="en-US" altLang="fr-FR" sz="1000" smtClean="0">
              <a:solidFill>
                <a:srgbClr val="292929"/>
              </a:solidFill>
              <a:latin typeface="Arial" panose="020B0604020202020204" pitchFamily="34" charset="0"/>
            </a:endParaRPr>
          </a:p>
        </p:txBody>
      </p:sp>
      <p:sp>
        <p:nvSpPr>
          <p:cNvPr id="63492" name="Rectangle 4"/>
          <p:cNvSpPr>
            <a:spLocks noChangeArrowheads="1"/>
          </p:cNvSpPr>
          <p:nvPr/>
        </p:nvSpPr>
        <p:spPr bwMode="auto">
          <a:xfrm>
            <a:off x="228600" y="1473200"/>
            <a:ext cx="845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FR" altLang="fr-FR" sz="1600">
                <a:latin typeface="Arial" panose="020B0604020202020204" pitchFamily="34" charset="0"/>
              </a:rPr>
              <a:t>Représentation schématique d'un système multi-axes à coordination</a:t>
            </a:r>
          </a:p>
          <a:p>
            <a:pPr algn="ctr" eaLnBrk="1" hangingPunct="1">
              <a:spcBef>
                <a:spcPct val="0"/>
              </a:spcBef>
              <a:buClrTx/>
              <a:buSzTx/>
              <a:buFontTx/>
              <a:buNone/>
            </a:pPr>
            <a:r>
              <a:rPr lang="fr-FR" altLang="fr-FR" sz="1600">
                <a:latin typeface="Arial" panose="020B0604020202020204" pitchFamily="34" charset="0"/>
              </a:rPr>
              <a:t>mécanique</a:t>
            </a:r>
          </a:p>
        </p:txBody>
      </p:sp>
      <p:grpSp>
        <p:nvGrpSpPr>
          <p:cNvPr id="63493" name="Groupe 6"/>
          <p:cNvGrpSpPr>
            <a:grpSpLocks/>
          </p:cNvGrpSpPr>
          <p:nvPr/>
        </p:nvGrpSpPr>
        <p:grpSpPr bwMode="auto">
          <a:xfrm>
            <a:off x="846138" y="2220913"/>
            <a:ext cx="7154862" cy="4027487"/>
            <a:chOff x="846751" y="1676400"/>
            <a:chExt cx="7154249" cy="4026932"/>
          </a:xfrm>
        </p:grpSpPr>
        <p:pic>
          <p:nvPicPr>
            <p:cNvPr id="63497" name="Picture 2"/>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46751" y="1676400"/>
              <a:ext cx="7154249" cy="39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8" name="ZoneTexte 5"/>
            <p:cNvSpPr txBox="1">
              <a:spLocks noChangeArrowheads="1"/>
            </p:cNvSpPr>
            <p:nvPr/>
          </p:nvSpPr>
          <p:spPr bwMode="auto">
            <a:xfrm>
              <a:off x="6629400" y="5334000"/>
              <a:ext cx="1371600" cy="369332"/>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63494" name="Rectangle 15"/>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 name="Rectangle 14"/>
          <p:cNvSpPr txBox="1">
            <a:spLocks noChangeArrowheads="1"/>
          </p:cNvSpPr>
          <p:nvPr/>
        </p:nvSpPr>
        <p:spPr>
          <a:xfrm>
            <a:off x="457200" y="304800"/>
            <a:ext cx="6858000" cy="381000"/>
          </a:xfrm>
          <a:prstGeom prst="rect">
            <a:avLst/>
          </a:prstGeom>
          <a:noFill/>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63496" name="Text Box 55"/>
          <p:cNvSpPr txBox="1">
            <a:spLocks noChangeArrowheads="1"/>
          </p:cNvSpPr>
          <p:nvPr/>
        </p:nvSpPr>
        <p:spPr bwMode="auto">
          <a:xfrm>
            <a:off x="685800" y="762000"/>
            <a:ext cx="662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r>
              <a:rPr lang="en-US" altLang="fr-FR" sz="1800" b="1">
                <a:solidFill>
                  <a:srgbClr val="CC6600"/>
                </a:solidFill>
                <a:latin typeface="Arial" panose="020B0604020202020204" pitchFamily="34" charset="0"/>
              </a:rPr>
              <a:t> : E</a:t>
            </a:r>
            <a:r>
              <a:rPr lang="fr-FR" altLang="fr-FR" sz="1800" b="1">
                <a:solidFill>
                  <a:srgbClr val="CC6600"/>
                </a:solidFill>
                <a:latin typeface="Arial" panose="020B0604020202020204" pitchFamily="34" charset="0"/>
              </a:rPr>
              <a:t>ffet d'engrenage</a:t>
            </a:r>
            <a:endParaRPr lang="en-US" altLang="fr-FR" sz="1800" b="1">
              <a:solidFill>
                <a:srgbClr val="CC66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65539"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8B69846-5B5B-4FAD-B38F-080F31B3E321}" type="slidenum">
              <a:rPr lang="en-US" altLang="fr-FR" sz="1000" smtClean="0">
                <a:solidFill>
                  <a:srgbClr val="292929"/>
                </a:solidFill>
                <a:latin typeface="Arial" panose="020B0604020202020204" pitchFamily="34" charset="0"/>
              </a:rPr>
              <a:pPr>
                <a:spcBef>
                  <a:spcPct val="0"/>
                </a:spcBef>
                <a:buClrTx/>
                <a:buSzTx/>
                <a:buFontTx/>
                <a:buNone/>
              </a:pPr>
              <a:t>30</a:t>
            </a:fld>
            <a:endParaRPr lang="en-US" altLang="fr-FR" sz="1000" smtClean="0">
              <a:solidFill>
                <a:srgbClr val="292929"/>
              </a:solidFill>
              <a:latin typeface="Arial" panose="020B0604020202020204" pitchFamily="34" charset="0"/>
            </a:endParaRPr>
          </a:p>
        </p:txBody>
      </p:sp>
      <p:sp>
        <p:nvSpPr>
          <p:cNvPr id="4" name="Text Box 55"/>
          <p:cNvSpPr txBox="1">
            <a:spLocks noChangeArrowheads="1"/>
          </p:cNvSpPr>
          <p:nvPr/>
        </p:nvSpPr>
        <p:spPr bwMode="auto">
          <a:xfrm>
            <a:off x="685800" y="849313"/>
            <a:ext cx="6629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r>
              <a:rPr lang="en-US" altLang="fr-FR" sz="1800" b="1">
                <a:solidFill>
                  <a:srgbClr val="CC6600"/>
                </a:solidFill>
                <a:latin typeface="Arial" panose="020B0604020202020204" pitchFamily="34" charset="0"/>
              </a:rPr>
              <a:t> : E</a:t>
            </a:r>
            <a:r>
              <a:rPr lang="fr-FR" altLang="fr-FR" sz="1800" b="1">
                <a:solidFill>
                  <a:srgbClr val="CC6600"/>
                </a:solidFill>
                <a:latin typeface="Arial" panose="020B0604020202020204" pitchFamily="34" charset="0"/>
              </a:rPr>
              <a:t>ffet d'engrenage</a:t>
            </a:r>
            <a:endParaRPr lang="en-US" altLang="fr-FR" sz="1800" b="1">
              <a:solidFill>
                <a:srgbClr val="CC6600"/>
              </a:solidFill>
              <a:latin typeface="Arial" panose="020B0604020202020204" pitchFamily="34" charset="0"/>
            </a:endParaRPr>
          </a:p>
        </p:txBody>
      </p:sp>
      <p:sp>
        <p:nvSpPr>
          <p:cNvPr id="52229" name="ZoneTexte 4"/>
          <p:cNvSpPr txBox="1">
            <a:spLocks noChangeArrowheads="1"/>
          </p:cNvSpPr>
          <p:nvPr/>
        </p:nvSpPr>
        <p:spPr bwMode="auto">
          <a:xfrm>
            <a:off x="762000" y="1447800"/>
            <a:ext cx="7086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i="1">
                <a:latin typeface="Arial" panose="020B0604020202020204" pitchFamily="34" charset="0"/>
              </a:rPr>
              <a:t>Détermination du moment d’inertie total ramené à l’arbre du moteur</a:t>
            </a:r>
          </a:p>
        </p:txBody>
      </p:sp>
      <p:sp>
        <p:nvSpPr>
          <p:cNvPr id="52230" name="ZoneTexte 5"/>
          <p:cNvSpPr txBox="1">
            <a:spLocks noChangeArrowheads="1"/>
          </p:cNvSpPr>
          <p:nvPr/>
        </p:nvSpPr>
        <p:spPr bwMode="auto">
          <a:xfrm>
            <a:off x="762000" y="2209800"/>
            <a:ext cx="7924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Afin de déterminer le moment d’inertie total d’un ensemble de charge J</a:t>
            </a:r>
            <a:r>
              <a:rPr lang="fr-FR" altLang="fr-FR" sz="1800" baseline="-25000">
                <a:latin typeface="Arial" panose="020B0604020202020204" pitchFamily="34" charset="0"/>
              </a:rPr>
              <a:t>i </a:t>
            </a:r>
            <a:r>
              <a:rPr lang="fr-FR" altLang="fr-FR" sz="1800">
                <a:latin typeface="Arial" panose="020B0604020202020204" pitchFamily="34" charset="0"/>
              </a:rPr>
              <a:t>tournant à </a:t>
            </a:r>
            <a:r>
              <a:rPr lang="el-GR" altLang="fr-FR" sz="1800">
                <a:latin typeface="Arial" panose="020B0604020202020204" pitchFamily="34" charset="0"/>
              </a:rPr>
              <a:t>ω</a:t>
            </a:r>
            <a:r>
              <a:rPr lang="fr-FR" altLang="fr-FR" sz="1800" baseline="-25000">
                <a:latin typeface="Arial" panose="020B0604020202020204" pitchFamily="34" charset="0"/>
              </a:rPr>
              <a:t>i</a:t>
            </a:r>
            <a:r>
              <a:rPr lang="fr-FR" altLang="fr-FR" sz="1800">
                <a:latin typeface="Arial" panose="020B0604020202020204" pitchFamily="34" charset="0"/>
              </a:rPr>
              <a:t>, ramené à l’arbre du moteur tournant à </a:t>
            </a:r>
            <a:r>
              <a:rPr lang="el-GR" altLang="fr-FR" sz="1800">
                <a:latin typeface="Arial" panose="020B0604020202020204" pitchFamily="34" charset="0"/>
              </a:rPr>
              <a:t>ω</a:t>
            </a:r>
            <a:r>
              <a:rPr lang="fr-FR" altLang="fr-FR" sz="1800" baseline="-25000">
                <a:latin typeface="Arial" panose="020B0604020202020204" pitchFamily="34" charset="0"/>
              </a:rPr>
              <a:t>m</a:t>
            </a:r>
            <a:r>
              <a:rPr lang="fr-FR" altLang="fr-FR" sz="1800">
                <a:latin typeface="Arial" panose="020B0604020202020204" pitchFamily="34" charset="0"/>
              </a:rPr>
              <a:t>, on utilise la conservation de l’énergie cinétique: </a:t>
            </a:r>
          </a:p>
        </p:txBody>
      </p:sp>
      <p:pic>
        <p:nvPicPr>
          <p:cNvPr id="52231" name="Picture 2"/>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085975" y="3497263"/>
            <a:ext cx="49720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232" name="Groupe 9"/>
          <p:cNvGrpSpPr>
            <a:grpSpLocks/>
          </p:cNvGrpSpPr>
          <p:nvPr/>
        </p:nvGrpSpPr>
        <p:grpSpPr bwMode="auto">
          <a:xfrm>
            <a:off x="1828800" y="4278313"/>
            <a:ext cx="5410200" cy="600075"/>
            <a:chOff x="1828800" y="3886200"/>
            <a:chExt cx="5410200" cy="600075"/>
          </a:xfrm>
        </p:grpSpPr>
        <p:pic>
          <p:nvPicPr>
            <p:cNvPr id="65548" name="Picture 3"/>
            <p:cNvPicPr>
              <a:picLocks noChangeAspect="1" noChangeArrowheads="1"/>
            </p:cNvPicPr>
            <p:nvPr/>
          </p:nvPicPr>
          <p:blipFill>
            <a:blip r:embed="rId4">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1828800" y="3962399"/>
              <a:ext cx="273951"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9" name="Picture 4"/>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133600" y="3886200"/>
              <a:ext cx="51054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233" name="ZoneTexte 10"/>
          <p:cNvSpPr txBox="1">
            <a:spLocks noChangeArrowheads="1"/>
          </p:cNvSpPr>
          <p:nvPr/>
        </p:nvSpPr>
        <p:spPr bwMode="auto">
          <a:xfrm>
            <a:off x="1219200" y="5345113"/>
            <a:ext cx="6858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i="1">
                <a:latin typeface="Arial" panose="020B0604020202020204" pitchFamily="34" charset="0"/>
              </a:rPr>
              <a:t>J’ : moment d’inertie total du système ramené à l’arbre du moteur</a:t>
            </a:r>
          </a:p>
        </p:txBody>
      </p:sp>
      <p:sp>
        <p:nvSpPr>
          <p:cNvPr id="65546" name="Rectangle 15"/>
          <p:cNvSpPr>
            <a:spLocks noChangeArrowheads="1"/>
          </p:cNvSpPr>
          <p:nvPr/>
        </p:nvSpPr>
        <p:spPr bwMode="auto">
          <a:xfrm>
            <a:off x="381000" y="2286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 name="Rectangle 2"/>
          <p:cNvSpPr txBox="1">
            <a:spLocks noChangeArrowheads="1"/>
          </p:cNvSpPr>
          <p:nvPr/>
        </p:nvSpPr>
        <p:spPr>
          <a:xfrm>
            <a:off x="457200" y="2286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3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223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223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2229" grpId="0"/>
      <p:bldP spid="52230" grpId="0"/>
      <p:bldP spid="5223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subTitle" idx="1"/>
          </p:nvPr>
        </p:nvSpPr>
        <p:spPr>
          <a:xfrm>
            <a:off x="457200" y="304800"/>
            <a:ext cx="6858000" cy="381000"/>
          </a:xfrm>
          <a:noFill/>
        </p:spPr>
        <p:txBody>
          <a:bodyPr/>
          <a:lstStyle/>
          <a:p>
            <a:pPr algn="l" eaLnBrk="1" hangingPunct="1"/>
            <a:r>
              <a:rPr lang="en-US" altLang="fr-FR" sz="1200" smtClean="0"/>
              <a:t>                                                                                                  MODULE 1 - INTRODUCTION</a:t>
            </a:r>
          </a:p>
        </p:txBody>
      </p:sp>
      <p:sp>
        <p:nvSpPr>
          <p:cNvPr id="67587" name="Espace réservé du numéro de diapositive 4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EBAD30D-63A8-406C-A365-9C6B35687729}" type="slidenum">
              <a:rPr lang="en-US" altLang="fr-FR" sz="1000" smtClean="0">
                <a:solidFill>
                  <a:srgbClr val="292929"/>
                </a:solidFill>
                <a:latin typeface="Arial" panose="020B0604020202020204" pitchFamily="34" charset="0"/>
              </a:rPr>
              <a:pPr>
                <a:spcBef>
                  <a:spcPct val="0"/>
                </a:spcBef>
                <a:buClrTx/>
                <a:buSzTx/>
                <a:buFontTx/>
                <a:buNone/>
              </a:pPr>
              <a:t>31</a:t>
            </a:fld>
            <a:endParaRPr lang="en-US" altLang="fr-FR" sz="1000" smtClean="0">
              <a:solidFill>
                <a:srgbClr val="292929"/>
              </a:solidFill>
              <a:latin typeface="Arial" panose="020B0604020202020204" pitchFamily="34" charset="0"/>
            </a:endParaRPr>
          </a:p>
        </p:txBody>
      </p:sp>
      <p:sp>
        <p:nvSpPr>
          <p:cNvPr id="67588"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nvGrpSpPr>
          <p:cNvPr id="67589" name="Group 41"/>
          <p:cNvGrpSpPr>
            <a:grpSpLocks noChangeAspect="1"/>
          </p:cNvGrpSpPr>
          <p:nvPr/>
        </p:nvGrpSpPr>
        <p:grpSpPr bwMode="auto">
          <a:xfrm>
            <a:off x="1981200" y="1752600"/>
            <a:ext cx="5195888" cy="2016125"/>
            <a:chOff x="1248" y="1104"/>
            <a:chExt cx="2639" cy="1024"/>
          </a:xfrm>
        </p:grpSpPr>
        <p:sp>
          <p:nvSpPr>
            <p:cNvPr id="67607" name="Rectangle 4"/>
            <p:cNvSpPr>
              <a:spLocks noChangeAspect="1" noChangeArrowheads="1"/>
            </p:cNvSpPr>
            <p:nvPr/>
          </p:nvSpPr>
          <p:spPr bwMode="auto">
            <a:xfrm>
              <a:off x="1248" y="1272"/>
              <a:ext cx="597" cy="260"/>
            </a:xfrm>
            <a:prstGeom prst="rect">
              <a:avLst/>
            </a:prstGeom>
            <a:blipFill dpi="0" rotWithShape="1">
              <a:blip r:embed="rId4"/>
              <a:srcRect/>
              <a:tile tx="0" ty="0" sx="100000" sy="100000" flip="none" algn="tl"/>
            </a:blip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7608" name="Rectangle 5"/>
            <p:cNvSpPr>
              <a:spLocks noChangeAspect="1" noChangeArrowheads="1"/>
            </p:cNvSpPr>
            <p:nvPr/>
          </p:nvSpPr>
          <p:spPr bwMode="auto">
            <a:xfrm>
              <a:off x="1845" y="1364"/>
              <a:ext cx="302" cy="63"/>
            </a:xfrm>
            <a:prstGeom prst="rect">
              <a:avLst/>
            </a:prstGeom>
            <a:blipFill dpi="0" rotWithShape="1">
              <a:blip r:embed="rId4"/>
              <a:srcRect/>
              <a:tile tx="0" ty="0" sx="100000" sy="100000" flip="none" algn="tl"/>
            </a:blip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7609" name="Rectangle 6"/>
            <p:cNvSpPr>
              <a:spLocks noChangeAspect="1" noChangeArrowheads="1"/>
            </p:cNvSpPr>
            <p:nvPr/>
          </p:nvSpPr>
          <p:spPr bwMode="auto">
            <a:xfrm>
              <a:off x="2148" y="1283"/>
              <a:ext cx="540" cy="255"/>
            </a:xfrm>
            <a:prstGeom prst="rect">
              <a:avLst/>
            </a:prstGeom>
            <a:blipFill dpi="0" rotWithShape="1">
              <a:blip r:embed="rId4"/>
              <a:srcRect/>
              <a:tile tx="0" ty="0" sx="100000" sy="100000" flip="none" algn="tl"/>
            </a:blip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7610" name="Rectangle 7"/>
            <p:cNvSpPr>
              <a:spLocks noChangeAspect="1" noChangeArrowheads="1"/>
            </p:cNvSpPr>
            <p:nvPr/>
          </p:nvSpPr>
          <p:spPr bwMode="auto">
            <a:xfrm>
              <a:off x="2687" y="1358"/>
              <a:ext cx="301" cy="63"/>
            </a:xfrm>
            <a:prstGeom prst="rect">
              <a:avLst/>
            </a:prstGeom>
            <a:blipFill dpi="0" rotWithShape="1">
              <a:blip r:embed="rId4"/>
              <a:srcRect/>
              <a:tile tx="0" ty="0" sx="100000" sy="100000" flip="none" algn="tl"/>
            </a:blip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7611" name="Rectangle 8"/>
            <p:cNvSpPr>
              <a:spLocks noChangeAspect="1" noChangeArrowheads="1"/>
            </p:cNvSpPr>
            <p:nvPr/>
          </p:nvSpPr>
          <p:spPr bwMode="auto">
            <a:xfrm>
              <a:off x="2994" y="1196"/>
              <a:ext cx="37" cy="389"/>
            </a:xfrm>
            <a:prstGeom prst="rect">
              <a:avLst/>
            </a:prstGeom>
            <a:solidFill>
              <a:srgbClr val="808080"/>
            </a:solid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7612" name="Rectangle 9"/>
            <p:cNvSpPr>
              <a:spLocks noChangeAspect="1" noChangeArrowheads="1"/>
            </p:cNvSpPr>
            <p:nvPr/>
          </p:nvSpPr>
          <p:spPr bwMode="auto">
            <a:xfrm>
              <a:off x="2994" y="1589"/>
              <a:ext cx="37" cy="534"/>
            </a:xfrm>
            <a:prstGeom prst="rect">
              <a:avLst/>
            </a:prstGeom>
            <a:solidFill>
              <a:srgbClr val="C0C0C0"/>
            </a:solid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7613" name="Rectangle 10"/>
            <p:cNvSpPr>
              <a:spLocks noChangeAspect="1" noChangeArrowheads="1"/>
            </p:cNvSpPr>
            <p:nvPr/>
          </p:nvSpPr>
          <p:spPr bwMode="auto">
            <a:xfrm>
              <a:off x="3029" y="1832"/>
              <a:ext cx="302" cy="64"/>
            </a:xfrm>
            <a:prstGeom prst="rect">
              <a:avLst/>
            </a:prstGeom>
            <a:blipFill dpi="0" rotWithShape="1">
              <a:blip r:embed="rId4"/>
              <a:srcRect/>
              <a:tile tx="0" ty="0" sx="100000" sy="100000" flip="none" algn="tl"/>
            </a:blip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7614" name="Rectangle 11"/>
            <p:cNvSpPr>
              <a:spLocks noChangeAspect="1" noChangeArrowheads="1"/>
            </p:cNvSpPr>
            <p:nvPr/>
          </p:nvSpPr>
          <p:spPr bwMode="auto">
            <a:xfrm>
              <a:off x="3330" y="1664"/>
              <a:ext cx="539" cy="406"/>
            </a:xfrm>
            <a:prstGeom prst="rect">
              <a:avLst/>
            </a:prstGeom>
            <a:blipFill dpi="0" rotWithShape="1">
              <a:blip r:embed="rId4"/>
              <a:srcRect/>
              <a:tile tx="0" ty="0" sx="100000" sy="100000" flip="none" algn="tl"/>
            </a:blip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7615" name="Freeform 12"/>
            <p:cNvSpPr>
              <a:spLocks noChangeAspect="1"/>
            </p:cNvSpPr>
            <p:nvPr/>
          </p:nvSpPr>
          <p:spPr bwMode="auto">
            <a:xfrm>
              <a:off x="1976" y="1299"/>
              <a:ext cx="89" cy="168"/>
            </a:xfrm>
            <a:custGeom>
              <a:avLst/>
              <a:gdLst>
                <a:gd name="T0" fmla="*/ 0 w 340"/>
                <a:gd name="T1" fmla="*/ 0 h 642"/>
                <a:gd name="T2" fmla="*/ 0 w 340"/>
                <a:gd name="T3" fmla="*/ 0 h 642"/>
                <a:gd name="T4" fmla="*/ 0 w 340"/>
                <a:gd name="T5" fmla="*/ 0 h 642"/>
                <a:gd name="T6" fmla="*/ 0 w 340"/>
                <a:gd name="T7" fmla="*/ 0 h 642"/>
                <a:gd name="T8" fmla="*/ 0 60000 65536"/>
                <a:gd name="T9" fmla="*/ 0 60000 65536"/>
                <a:gd name="T10" fmla="*/ 0 60000 65536"/>
                <a:gd name="T11" fmla="*/ 0 60000 65536"/>
                <a:gd name="T12" fmla="*/ 0 w 340"/>
                <a:gd name="T13" fmla="*/ 0 h 642"/>
                <a:gd name="T14" fmla="*/ 340 w 340"/>
                <a:gd name="T15" fmla="*/ 642 h 642"/>
              </a:gdLst>
              <a:ahLst/>
              <a:cxnLst>
                <a:cxn ang="T8">
                  <a:pos x="T0" y="T1"/>
                </a:cxn>
                <a:cxn ang="T9">
                  <a:pos x="T2" y="T3"/>
                </a:cxn>
                <a:cxn ang="T10">
                  <a:pos x="T4" y="T5"/>
                </a:cxn>
                <a:cxn ang="T11">
                  <a:pos x="T6" y="T7"/>
                </a:cxn>
              </a:cxnLst>
              <a:rect l="T12" t="T13" r="T14" b="T15"/>
              <a:pathLst>
                <a:path w="340" h="642">
                  <a:moveTo>
                    <a:pt x="45" y="0"/>
                  </a:moveTo>
                  <a:cubicBezTo>
                    <a:pt x="163" y="73"/>
                    <a:pt x="282" y="147"/>
                    <a:pt x="311" y="243"/>
                  </a:cubicBezTo>
                  <a:cubicBezTo>
                    <a:pt x="340" y="339"/>
                    <a:pt x="274" y="510"/>
                    <a:pt x="222" y="576"/>
                  </a:cubicBezTo>
                  <a:cubicBezTo>
                    <a:pt x="170" y="642"/>
                    <a:pt x="37" y="631"/>
                    <a:pt x="0" y="642"/>
                  </a:cubicBezTo>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67616" name="Freeform 13"/>
            <p:cNvSpPr>
              <a:spLocks noChangeAspect="1"/>
            </p:cNvSpPr>
            <p:nvPr/>
          </p:nvSpPr>
          <p:spPr bwMode="auto">
            <a:xfrm>
              <a:off x="2779" y="1300"/>
              <a:ext cx="89" cy="168"/>
            </a:xfrm>
            <a:custGeom>
              <a:avLst/>
              <a:gdLst>
                <a:gd name="T0" fmla="*/ 0 w 340"/>
                <a:gd name="T1" fmla="*/ 0 h 642"/>
                <a:gd name="T2" fmla="*/ 0 w 340"/>
                <a:gd name="T3" fmla="*/ 0 h 642"/>
                <a:gd name="T4" fmla="*/ 0 w 340"/>
                <a:gd name="T5" fmla="*/ 0 h 642"/>
                <a:gd name="T6" fmla="*/ 0 w 340"/>
                <a:gd name="T7" fmla="*/ 0 h 642"/>
                <a:gd name="T8" fmla="*/ 0 60000 65536"/>
                <a:gd name="T9" fmla="*/ 0 60000 65536"/>
                <a:gd name="T10" fmla="*/ 0 60000 65536"/>
                <a:gd name="T11" fmla="*/ 0 60000 65536"/>
                <a:gd name="T12" fmla="*/ 0 w 340"/>
                <a:gd name="T13" fmla="*/ 0 h 642"/>
                <a:gd name="T14" fmla="*/ 340 w 340"/>
                <a:gd name="T15" fmla="*/ 642 h 642"/>
              </a:gdLst>
              <a:ahLst/>
              <a:cxnLst>
                <a:cxn ang="T8">
                  <a:pos x="T0" y="T1"/>
                </a:cxn>
                <a:cxn ang="T9">
                  <a:pos x="T2" y="T3"/>
                </a:cxn>
                <a:cxn ang="T10">
                  <a:pos x="T4" y="T5"/>
                </a:cxn>
                <a:cxn ang="T11">
                  <a:pos x="T6" y="T7"/>
                </a:cxn>
              </a:cxnLst>
              <a:rect l="T12" t="T13" r="T14" b="T15"/>
              <a:pathLst>
                <a:path w="340" h="642">
                  <a:moveTo>
                    <a:pt x="45" y="0"/>
                  </a:moveTo>
                  <a:cubicBezTo>
                    <a:pt x="163" y="73"/>
                    <a:pt x="282" y="147"/>
                    <a:pt x="311" y="243"/>
                  </a:cubicBezTo>
                  <a:cubicBezTo>
                    <a:pt x="340" y="339"/>
                    <a:pt x="274" y="510"/>
                    <a:pt x="222" y="576"/>
                  </a:cubicBezTo>
                  <a:cubicBezTo>
                    <a:pt x="170" y="642"/>
                    <a:pt x="37" y="631"/>
                    <a:pt x="0" y="642"/>
                  </a:cubicBezTo>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67617" name="Freeform 14"/>
            <p:cNvSpPr>
              <a:spLocks noChangeAspect="1"/>
            </p:cNvSpPr>
            <p:nvPr/>
          </p:nvSpPr>
          <p:spPr bwMode="auto">
            <a:xfrm rot="10800000">
              <a:off x="3115" y="1780"/>
              <a:ext cx="89" cy="168"/>
            </a:xfrm>
            <a:custGeom>
              <a:avLst/>
              <a:gdLst>
                <a:gd name="T0" fmla="*/ 0 w 340"/>
                <a:gd name="T1" fmla="*/ 0 h 642"/>
                <a:gd name="T2" fmla="*/ 0 w 340"/>
                <a:gd name="T3" fmla="*/ 0 h 642"/>
                <a:gd name="T4" fmla="*/ 0 w 340"/>
                <a:gd name="T5" fmla="*/ 0 h 642"/>
                <a:gd name="T6" fmla="*/ 0 w 340"/>
                <a:gd name="T7" fmla="*/ 0 h 642"/>
                <a:gd name="T8" fmla="*/ 0 60000 65536"/>
                <a:gd name="T9" fmla="*/ 0 60000 65536"/>
                <a:gd name="T10" fmla="*/ 0 60000 65536"/>
                <a:gd name="T11" fmla="*/ 0 60000 65536"/>
                <a:gd name="T12" fmla="*/ 0 w 340"/>
                <a:gd name="T13" fmla="*/ 0 h 642"/>
                <a:gd name="T14" fmla="*/ 340 w 340"/>
                <a:gd name="T15" fmla="*/ 642 h 642"/>
              </a:gdLst>
              <a:ahLst/>
              <a:cxnLst>
                <a:cxn ang="T8">
                  <a:pos x="T0" y="T1"/>
                </a:cxn>
                <a:cxn ang="T9">
                  <a:pos x="T2" y="T3"/>
                </a:cxn>
                <a:cxn ang="T10">
                  <a:pos x="T4" y="T5"/>
                </a:cxn>
                <a:cxn ang="T11">
                  <a:pos x="T6" y="T7"/>
                </a:cxn>
              </a:cxnLst>
              <a:rect l="T12" t="T13" r="T14" b="T15"/>
              <a:pathLst>
                <a:path w="340" h="642">
                  <a:moveTo>
                    <a:pt x="45" y="0"/>
                  </a:moveTo>
                  <a:cubicBezTo>
                    <a:pt x="163" y="73"/>
                    <a:pt x="282" y="147"/>
                    <a:pt x="311" y="243"/>
                  </a:cubicBezTo>
                  <a:cubicBezTo>
                    <a:pt x="340" y="339"/>
                    <a:pt x="274" y="510"/>
                    <a:pt x="222" y="576"/>
                  </a:cubicBezTo>
                  <a:cubicBezTo>
                    <a:pt x="170" y="642"/>
                    <a:pt x="37" y="631"/>
                    <a:pt x="0" y="642"/>
                  </a:cubicBezTo>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67618" name="Text Box 15"/>
            <p:cNvSpPr txBox="1">
              <a:spLocks noChangeAspect="1" noChangeArrowheads="1"/>
            </p:cNvSpPr>
            <p:nvPr/>
          </p:nvSpPr>
          <p:spPr bwMode="auto">
            <a:xfrm>
              <a:off x="1277" y="1248"/>
              <a:ext cx="55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rPr>
                <a:t>moteur</a:t>
              </a:r>
            </a:p>
            <a:p>
              <a:pPr eaLnBrk="1" hangingPunct="1">
                <a:spcBef>
                  <a:spcPct val="0"/>
                </a:spcBef>
                <a:buClrTx/>
                <a:buSzTx/>
                <a:buFontTx/>
                <a:buNone/>
              </a:pPr>
              <a:r>
                <a:rPr lang="en-US" altLang="fr-FR" sz="1600">
                  <a:latin typeface="Courier New" panose="02070309020205020404" pitchFamily="49" charset="0"/>
                </a:rPr>
                <a:t>T</a:t>
              </a:r>
              <a:r>
                <a:rPr lang="en-US" altLang="fr-FR" sz="1600" baseline="-25000">
                  <a:latin typeface="Courier New" panose="02070309020205020404" pitchFamily="49" charset="0"/>
                </a:rPr>
                <a:t>e</a:t>
              </a:r>
              <a:endParaRPr lang="en-US" altLang="fr-FR" sz="1600">
                <a:latin typeface="Arial" panose="020B0604020202020204" pitchFamily="34" charset="0"/>
              </a:endParaRPr>
            </a:p>
          </p:txBody>
        </p:sp>
        <p:sp>
          <p:nvSpPr>
            <p:cNvPr id="67619" name="Text Box 16"/>
            <p:cNvSpPr txBox="1">
              <a:spLocks noChangeAspect="1" noChangeArrowheads="1"/>
            </p:cNvSpPr>
            <p:nvPr/>
          </p:nvSpPr>
          <p:spPr bwMode="auto">
            <a:xfrm>
              <a:off x="2136" y="1248"/>
              <a:ext cx="551"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i="1">
                  <a:latin typeface="Courier New" panose="02070309020205020404" pitchFamily="49" charset="0"/>
                </a:rPr>
                <a:t>Charge1     T</a:t>
              </a:r>
              <a:r>
                <a:rPr lang="en-US" altLang="fr-FR" sz="1600" i="1" baseline="-25000">
                  <a:latin typeface="Courier New" panose="02070309020205020404" pitchFamily="49" charset="0"/>
                </a:rPr>
                <a:t>L1</a:t>
              </a:r>
              <a:endParaRPr lang="en-US" altLang="fr-FR" sz="1600">
                <a:latin typeface="Arial" panose="020B0604020202020204" pitchFamily="34" charset="0"/>
              </a:endParaRPr>
            </a:p>
          </p:txBody>
        </p:sp>
        <p:sp>
          <p:nvSpPr>
            <p:cNvPr id="67620" name="Text Box 17"/>
            <p:cNvSpPr txBox="1">
              <a:spLocks noChangeAspect="1" noChangeArrowheads="1"/>
            </p:cNvSpPr>
            <p:nvPr/>
          </p:nvSpPr>
          <p:spPr bwMode="auto">
            <a:xfrm>
              <a:off x="3336" y="1722"/>
              <a:ext cx="551"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i="1">
                  <a:latin typeface="Courier New" panose="02070309020205020404" pitchFamily="49" charset="0"/>
                </a:rPr>
                <a:t>Charge2T</a:t>
              </a:r>
              <a:r>
                <a:rPr lang="en-US" altLang="fr-FR" sz="1600" i="1" baseline="-25000">
                  <a:latin typeface="Courier New" panose="02070309020205020404" pitchFamily="49" charset="0"/>
                </a:rPr>
                <a:t>L2</a:t>
              </a:r>
              <a:endParaRPr lang="en-US" altLang="fr-FR" sz="1600">
                <a:latin typeface="Arial" panose="020B0604020202020204" pitchFamily="34" charset="0"/>
              </a:endParaRPr>
            </a:p>
          </p:txBody>
        </p:sp>
        <p:sp>
          <p:nvSpPr>
            <p:cNvPr id="67621" name="AutoShape 18"/>
            <p:cNvSpPr>
              <a:spLocks noChangeAspect="1"/>
            </p:cNvSpPr>
            <p:nvPr/>
          </p:nvSpPr>
          <p:spPr bwMode="auto">
            <a:xfrm rot="5391417">
              <a:off x="1915" y="1230"/>
              <a:ext cx="215" cy="893"/>
            </a:xfrm>
            <a:prstGeom prst="rightBrace">
              <a:avLst>
                <a:gd name="adj1" fmla="val 34612"/>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7622" name="Text Box 19"/>
            <p:cNvSpPr txBox="1">
              <a:spLocks noChangeAspect="1" noChangeArrowheads="1"/>
            </p:cNvSpPr>
            <p:nvPr/>
          </p:nvSpPr>
          <p:spPr bwMode="auto">
            <a:xfrm>
              <a:off x="1949" y="1781"/>
              <a:ext cx="2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rPr>
                <a:t>J</a:t>
              </a:r>
              <a:r>
                <a:rPr lang="en-US" altLang="fr-FR" sz="1600" baseline="-25000">
                  <a:latin typeface="Courier New" panose="02070309020205020404" pitchFamily="49" charset="0"/>
                </a:rPr>
                <a:t>1</a:t>
              </a:r>
              <a:endParaRPr lang="en-US" altLang="fr-FR" sz="1600">
                <a:latin typeface="Arial" panose="020B0604020202020204" pitchFamily="34" charset="0"/>
              </a:endParaRPr>
            </a:p>
          </p:txBody>
        </p:sp>
        <p:sp>
          <p:nvSpPr>
            <p:cNvPr id="67623" name="Text Box 20"/>
            <p:cNvSpPr txBox="1">
              <a:spLocks noChangeAspect="1" noChangeArrowheads="1"/>
            </p:cNvSpPr>
            <p:nvPr/>
          </p:nvSpPr>
          <p:spPr bwMode="auto">
            <a:xfrm>
              <a:off x="3463" y="1468"/>
              <a:ext cx="27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rPr>
                <a:t>J</a:t>
              </a:r>
              <a:r>
                <a:rPr lang="en-US" altLang="fr-FR" sz="1600" baseline="-25000">
                  <a:latin typeface="Courier New" panose="02070309020205020404" pitchFamily="49" charset="0"/>
                </a:rPr>
                <a:t>2</a:t>
              </a:r>
              <a:endParaRPr lang="en-US" altLang="fr-FR" sz="1600">
                <a:latin typeface="Arial" panose="020B0604020202020204" pitchFamily="34" charset="0"/>
              </a:endParaRPr>
            </a:p>
          </p:txBody>
        </p:sp>
        <p:sp>
          <p:nvSpPr>
            <p:cNvPr id="67624" name="Text Box 21"/>
            <p:cNvSpPr txBox="1">
              <a:spLocks noChangeAspect="1" noChangeArrowheads="1"/>
            </p:cNvSpPr>
            <p:nvPr/>
          </p:nvSpPr>
          <p:spPr bwMode="auto">
            <a:xfrm>
              <a:off x="1948" y="1136"/>
              <a:ext cx="27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baseline="-25000">
                  <a:latin typeface="Courier New" panose="02070309020205020404" pitchFamily="49" charset="0"/>
                </a:rPr>
                <a:t>m</a:t>
              </a:r>
              <a:endParaRPr lang="en-US" altLang="fr-FR" sz="1600">
                <a:latin typeface="Arial" panose="020B0604020202020204" pitchFamily="34" charset="0"/>
              </a:endParaRPr>
            </a:p>
          </p:txBody>
        </p:sp>
        <p:sp>
          <p:nvSpPr>
            <p:cNvPr id="67625" name="Text Box 22"/>
            <p:cNvSpPr txBox="1">
              <a:spLocks noChangeAspect="1" noChangeArrowheads="1"/>
            </p:cNvSpPr>
            <p:nvPr/>
          </p:nvSpPr>
          <p:spPr bwMode="auto">
            <a:xfrm>
              <a:off x="2651" y="1104"/>
              <a:ext cx="27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baseline="-25000">
                  <a:latin typeface="Courier New" panose="02070309020205020404" pitchFamily="49" charset="0"/>
                </a:rPr>
                <a:t>m1</a:t>
              </a:r>
              <a:endParaRPr lang="en-US" altLang="fr-FR" sz="1600">
                <a:latin typeface="Arial" panose="020B0604020202020204" pitchFamily="34" charset="0"/>
              </a:endParaRPr>
            </a:p>
          </p:txBody>
        </p:sp>
        <p:sp>
          <p:nvSpPr>
            <p:cNvPr id="67626" name="Text Box 23"/>
            <p:cNvSpPr txBox="1">
              <a:spLocks noChangeAspect="1" noChangeArrowheads="1"/>
            </p:cNvSpPr>
            <p:nvPr/>
          </p:nvSpPr>
          <p:spPr bwMode="auto">
            <a:xfrm>
              <a:off x="3063" y="1555"/>
              <a:ext cx="27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baseline="-25000">
                  <a:latin typeface="Courier New" panose="02070309020205020404" pitchFamily="49" charset="0"/>
                </a:rPr>
                <a:t>m2</a:t>
              </a:r>
              <a:endParaRPr lang="en-US" altLang="fr-FR" sz="1600">
                <a:latin typeface="Arial" panose="020B0604020202020204" pitchFamily="34" charset="0"/>
              </a:endParaRPr>
            </a:p>
          </p:txBody>
        </p:sp>
      </p:grpSp>
      <p:grpSp>
        <p:nvGrpSpPr>
          <p:cNvPr id="3" name="Group 41"/>
          <p:cNvGrpSpPr>
            <a:grpSpLocks/>
          </p:cNvGrpSpPr>
          <p:nvPr/>
        </p:nvGrpSpPr>
        <p:grpSpPr bwMode="auto">
          <a:xfrm>
            <a:off x="1143000" y="4648200"/>
            <a:ext cx="3849688" cy="1800225"/>
            <a:chOff x="1143000" y="4648200"/>
            <a:chExt cx="3470040" cy="1509713"/>
          </a:xfrm>
        </p:grpSpPr>
        <p:sp>
          <p:nvSpPr>
            <p:cNvPr id="67598" name="Rectangle 26"/>
            <p:cNvSpPr>
              <a:spLocks noChangeArrowheads="1"/>
            </p:cNvSpPr>
            <p:nvPr/>
          </p:nvSpPr>
          <p:spPr bwMode="auto">
            <a:xfrm>
              <a:off x="1143000" y="4800600"/>
              <a:ext cx="1066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67599" name="Rectangle 27"/>
            <p:cNvSpPr>
              <a:spLocks noChangeArrowheads="1"/>
            </p:cNvSpPr>
            <p:nvPr/>
          </p:nvSpPr>
          <p:spPr bwMode="auto">
            <a:xfrm>
              <a:off x="2209800" y="4953000"/>
              <a:ext cx="685800" cy="952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67600" name="Rectangle 28"/>
            <p:cNvSpPr>
              <a:spLocks noChangeArrowheads="1"/>
            </p:cNvSpPr>
            <p:nvPr/>
          </p:nvSpPr>
          <p:spPr bwMode="auto">
            <a:xfrm>
              <a:off x="2860440" y="4648201"/>
              <a:ext cx="1442650" cy="69446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67601" name="Text Box 29"/>
            <p:cNvSpPr txBox="1">
              <a:spLocks noChangeAspect="1" noChangeArrowheads="1"/>
            </p:cNvSpPr>
            <p:nvPr/>
          </p:nvSpPr>
          <p:spPr bwMode="auto">
            <a:xfrm>
              <a:off x="1295400" y="4800600"/>
              <a:ext cx="87471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rPr>
                <a:t>moteur</a:t>
              </a:r>
            </a:p>
            <a:p>
              <a:pPr eaLnBrk="1" hangingPunct="1">
                <a:spcBef>
                  <a:spcPct val="0"/>
                </a:spcBef>
                <a:buClrTx/>
                <a:buSzTx/>
                <a:buFontTx/>
                <a:buNone/>
              </a:pPr>
              <a:r>
                <a:rPr lang="en-US" altLang="fr-FR" sz="1600">
                  <a:latin typeface="Courier New" panose="02070309020205020404" pitchFamily="49" charset="0"/>
                </a:rPr>
                <a:t>T</a:t>
              </a:r>
              <a:r>
                <a:rPr lang="en-US" altLang="fr-FR" sz="1600" baseline="-25000">
                  <a:latin typeface="Courier New" panose="02070309020205020404" pitchFamily="49" charset="0"/>
                </a:rPr>
                <a:t>e</a:t>
              </a:r>
              <a:endParaRPr lang="en-US" altLang="fr-FR" sz="1600">
                <a:latin typeface="Arial" panose="020B0604020202020204" pitchFamily="34" charset="0"/>
              </a:endParaRPr>
            </a:p>
          </p:txBody>
        </p:sp>
        <p:sp>
          <p:nvSpPr>
            <p:cNvPr id="67602" name="AutoShape 30"/>
            <p:cNvSpPr>
              <a:spLocks noChangeAspect="1"/>
            </p:cNvSpPr>
            <p:nvPr/>
          </p:nvSpPr>
          <p:spPr bwMode="auto">
            <a:xfrm rot="5391417">
              <a:off x="2460625" y="4916488"/>
              <a:ext cx="341313" cy="1417637"/>
            </a:xfrm>
            <a:prstGeom prst="rightBrace">
              <a:avLst>
                <a:gd name="adj1" fmla="val 34612"/>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67603" name="Text Box 31"/>
            <p:cNvSpPr txBox="1">
              <a:spLocks noChangeAspect="1" noChangeArrowheads="1"/>
            </p:cNvSpPr>
            <p:nvPr/>
          </p:nvSpPr>
          <p:spPr bwMode="auto">
            <a:xfrm>
              <a:off x="2514600" y="57912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rPr>
                <a:t>J</a:t>
              </a:r>
              <a:r>
                <a:rPr lang="en-US" altLang="fr-FR" sz="1600" baseline="-25000">
                  <a:latin typeface="Courier New" panose="02070309020205020404" pitchFamily="49" charset="0"/>
                </a:rPr>
                <a:t>equ</a:t>
              </a:r>
              <a:endParaRPr lang="en-US" altLang="fr-FR" sz="1600">
                <a:latin typeface="Arial" panose="020B0604020202020204" pitchFamily="34" charset="0"/>
              </a:endParaRPr>
            </a:p>
          </p:txBody>
        </p:sp>
        <p:sp>
          <p:nvSpPr>
            <p:cNvPr id="67604" name="Text Box 32"/>
            <p:cNvSpPr txBox="1">
              <a:spLocks noChangeAspect="1" noChangeArrowheads="1"/>
            </p:cNvSpPr>
            <p:nvPr/>
          </p:nvSpPr>
          <p:spPr bwMode="auto">
            <a:xfrm>
              <a:off x="2860440" y="4648201"/>
              <a:ext cx="1752600" cy="65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i="1">
                  <a:latin typeface="Courier New" panose="02070309020205020404" pitchFamily="49" charset="0"/>
                </a:rPr>
                <a:t>Charge Equivalente, T</a:t>
              </a:r>
              <a:r>
                <a:rPr lang="en-US" altLang="fr-FR" sz="1600" i="1" baseline="-25000">
                  <a:latin typeface="Courier New" panose="02070309020205020404" pitchFamily="49" charset="0"/>
                </a:rPr>
                <a:t>Lequ</a:t>
              </a:r>
              <a:endParaRPr lang="en-US" altLang="fr-FR" sz="1600">
                <a:latin typeface="Arial" panose="020B0604020202020204" pitchFamily="34" charset="0"/>
              </a:endParaRPr>
            </a:p>
          </p:txBody>
        </p:sp>
        <p:sp>
          <p:nvSpPr>
            <p:cNvPr id="67605" name="Freeform 33"/>
            <p:cNvSpPr>
              <a:spLocks noChangeAspect="1"/>
            </p:cNvSpPr>
            <p:nvPr/>
          </p:nvSpPr>
          <p:spPr bwMode="auto">
            <a:xfrm>
              <a:off x="2406650" y="4876800"/>
              <a:ext cx="141288" cy="266700"/>
            </a:xfrm>
            <a:custGeom>
              <a:avLst/>
              <a:gdLst>
                <a:gd name="T0" fmla="*/ 2147483646 w 340"/>
                <a:gd name="T1" fmla="*/ 0 h 642"/>
                <a:gd name="T2" fmla="*/ 2147483646 w 340"/>
                <a:gd name="T3" fmla="*/ 2147483646 h 642"/>
                <a:gd name="T4" fmla="*/ 2147483646 w 340"/>
                <a:gd name="T5" fmla="*/ 2147483646 h 642"/>
                <a:gd name="T6" fmla="*/ 0 w 340"/>
                <a:gd name="T7" fmla="*/ 2147483646 h 642"/>
                <a:gd name="T8" fmla="*/ 0 60000 65536"/>
                <a:gd name="T9" fmla="*/ 0 60000 65536"/>
                <a:gd name="T10" fmla="*/ 0 60000 65536"/>
                <a:gd name="T11" fmla="*/ 0 60000 65536"/>
                <a:gd name="T12" fmla="*/ 0 w 340"/>
                <a:gd name="T13" fmla="*/ 0 h 642"/>
                <a:gd name="T14" fmla="*/ 340 w 340"/>
                <a:gd name="T15" fmla="*/ 642 h 642"/>
              </a:gdLst>
              <a:ahLst/>
              <a:cxnLst>
                <a:cxn ang="T8">
                  <a:pos x="T0" y="T1"/>
                </a:cxn>
                <a:cxn ang="T9">
                  <a:pos x="T2" y="T3"/>
                </a:cxn>
                <a:cxn ang="T10">
                  <a:pos x="T4" y="T5"/>
                </a:cxn>
                <a:cxn ang="T11">
                  <a:pos x="T6" y="T7"/>
                </a:cxn>
              </a:cxnLst>
              <a:rect l="T12" t="T13" r="T14" b="T15"/>
              <a:pathLst>
                <a:path w="340" h="642">
                  <a:moveTo>
                    <a:pt x="45" y="0"/>
                  </a:moveTo>
                  <a:cubicBezTo>
                    <a:pt x="163" y="73"/>
                    <a:pt x="282" y="147"/>
                    <a:pt x="311" y="243"/>
                  </a:cubicBezTo>
                  <a:cubicBezTo>
                    <a:pt x="340" y="339"/>
                    <a:pt x="274" y="510"/>
                    <a:pt x="222" y="576"/>
                  </a:cubicBezTo>
                  <a:cubicBezTo>
                    <a:pt x="170" y="642"/>
                    <a:pt x="37" y="631"/>
                    <a:pt x="0" y="642"/>
                  </a:cubicBezTo>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67606" name="Text Box 34"/>
            <p:cNvSpPr txBox="1">
              <a:spLocks noChangeAspect="1" noChangeArrowheads="1"/>
            </p:cNvSpPr>
            <p:nvPr/>
          </p:nvSpPr>
          <p:spPr bwMode="auto">
            <a:xfrm>
              <a:off x="2362200" y="4648200"/>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Courier New" panose="02070309020205020404" pitchFamily="49" charset="0"/>
                  <a:sym typeface="Symbol" panose="05050102010706020507" pitchFamily="18" charset="2"/>
                </a:rPr>
                <a:t></a:t>
              </a:r>
              <a:r>
                <a:rPr lang="en-US" altLang="fr-FR" sz="1600" baseline="-25000">
                  <a:latin typeface="Courier New" panose="02070309020205020404" pitchFamily="49" charset="0"/>
                </a:rPr>
                <a:t>m</a:t>
              </a:r>
              <a:endParaRPr lang="en-US" altLang="fr-FR" sz="1600">
                <a:latin typeface="Arial" panose="020B0604020202020204" pitchFamily="34" charset="0"/>
              </a:endParaRPr>
            </a:p>
          </p:txBody>
        </p:sp>
      </p:grpSp>
      <p:sp>
        <p:nvSpPr>
          <p:cNvPr id="55311" name="AutoShape 35"/>
          <p:cNvSpPr>
            <a:spLocks noChangeArrowheads="1"/>
          </p:cNvSpPr>
          <p:nvPr/>
        </p:nvSpPr>
        <p:spPr bwMode="auto">
          <a:xfrm>
            <a:off x="3733800" y="3657600"/>
            <a:ext cx="304800" cy="609600"/>
          </a:xfrm>
          <a:prstGeom prst="downArrow">
            <a:avLst>
              <a:gd name="adj1" fmla="val 5000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7592" name="Rectangle 36"/>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aphicFrame>
        <p:nvGraphicFramePr>
          <p:cNvPr id="55298" name="Object 2"/>
          <p:cNvGraphicFramePr>
            <a:graphicFrameLocks noChangeAspect="1"/>
          </p:cNvGraphicFramePr>
          <p:nvPr/>
        </p:nvGraphicFramePr>
        <p:xfrm>
          <a:off x="5362575" y="4591050"/>
          <a:ext cx="1330325" cy="346075"/>
        </p:xfrm>
        <a:graphic>
          <a:graphicData uri="http://schemas.openxmlformats.org/presentationml/2006/ole">
            <mc:AlternateContent xmlns:mc="http://schemas.openxmlformats.org/markup-compatibility/2006">
              <mc:Choice xmlns:v="urn:schemas-microsoft-com:vml" Requires="v">
                <p:oleObj spid="_x0000_s67643" name="Équation" r:id="rId5" imgW="876300" imgH="228600" progId="Equation.3">
                  <p:embed/>
                </p:oleObj>
              </mc:Choice>
              <mc:Fallback>
                <p:oleObj name="Équation" r:id="rId5" imgW="876300" imgH="2286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2575" y="4591050"/>
                        <a:ext cx="133032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13" name="Rectangle 38"/>
          <p:cNvSpPr>
            <a:spLocks noChangeArrowheads="1"/>
          </p:cNvSpPr>
          <p:nvPr/>
        </p:nvSpPr>
        <p:spPr bwMode="auto">
          <a:xfrm>
            <a:off x="5257800" y="5180013"/>
            <a:ext cx="2743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pt-BR" altLang="zh-CN" sz="1800">
                <a:latin typeface="Arial" panose="020B0604020202020204" pitchFamily="34" charset="0"/>
              </a:rPr>
              <a:t>T</a:t>
            </a:r>
            <a:r>
              <a:rPr lang="pt-BR" altLang="zh-CN" sz="1800" baseline="-25000">
                <a:latin typeface="Arial" panose="020B0604020202020204" pitchFamily="34" charset="0"/>
              </a:rPr>
              <a:t>Lequ</a:t>
            </a:r>
            <a:r>
              <a:rPr lang="pt-BR" altLang="zh-CN" sz="1800">
                <a:latin typeface="Arial" panose="020B0604020202020204" pitchFamily="34" charset="0"/>
              </a:rPr>
              <a:t>  = T</a:t>
            </a:r>
            <a:r>
              <a:rPr lang="pt-BR" altLang="zh-CN" sz="1800" baseline="-25000">
                <a:latin typeface="Arial" panose="020B0604020202020204" pitchFamily="34" charset="0"/>
              </a:rPr>
              <a:t>L1</a:t>
            </a:r>
            <a:r>
              <a:rPr lang="pt-BR" altLang="zh-CN" sz="1800">
                <a:latin typeface="Arial" panose="020B0604020202020204" pitchFamily="34" charset="0"/>
              </a:rPr>
              <a:t> + a</a:t>
            </a:r>
            <a:r>
              <a:rPr lang="pt-BR" altLang="zh-CN" sz="1800" baseline="-25000">
                <a:latin typeface="Arial" panose="020B0604020202020204" pitchFamily="34" charset="0"/>
              </a:rPr>
              <a:t>2</a:t>
            </a:r>
            <a:r>
              <a:rPr lang="pt-BR" altLang="zh-CN" sz="1800">
                <a:latin typeface="Arial" panose="020B0604020202020204" pitchFamily="34" charset="0"/>
              </a:rPr>
              <a:t>T</a:t>
            </a:r>
            <a:r>
              <a:rPr lang="pt-BR" altLang="zh-CN" sz="1800" baseline="-25000">
                <a:latin typeface="Arial" panose="020B0604020202020204" pitchFamily="34" charset="0"/>
              </a:rPr>
              <a:t>L2</a:t>
            </a:r>
            <a:r>
              <a:rPr lang="en-US" altLang="zh-CN" sz="1800">
                <a:latin typeface="Arial" panose="020B0604020202020204" pitchFamily="34" charset="0"/>
              </a:rPr>
              <a:t> </a:t>
            </a:r>
          </a:p>
        </p:txBody>
      </p:sp>
      <p:sp>
        <p:nvSpPr>
          <p:cNvPr id="55314" name="Rectangle 39"/>
          <p:cNvSpPr>
            <a:spLocks noChangeArrowheads="1"/>
          </p:cNvSpPr>
          <p:nvPr/>
        </p:nvSpPr>
        <p:spPr bwMode="auto">
          <a:xfrm>
            <a:off x="5334000" y="5851525"/>
            <a:ext cx="2298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pt-BR" altLang="zh-CN" sz="1800">
                <a:latin typeface="Arial" panose="020B0604020202020204" pitchFamily="34" charset="0"/>
              </a:rPr>
              <a:t>Avec    a</a:t>
            </a:r>
            <a:r>
              <a:rPr lang="pt-BR" altLang="zh-CN" sz="1800" baseline="-25000">
                <a:latin typeface="Arial" panose="020B0604020202020204" pitchFamily="34" charset="0"/>
              </a:rPr>
              <a:t>2</a:t>
            </a:r>
            <a:r>
              <a:rPr lang="pt-BR" altLang="zh-CN" sz="1800">
                <a:latin typeface="Arial" panose="020B0604020202020204" pitchFamily="34" charset="0"/>
              </a:rPr>
              <a:t> = </a:t>
            </a:r>
            <a:r>
              <a:rPr lang="en-US" altLang="fr-FR" sz="1800">
                <a:latin typeface="Courier New" panose="02070309020205020404" pitchFamily="49" charset="0"/>
                <a:ea typeface="SimSun" panose="02010600030101010101" pitchFamily="2" charset="-122"/>
                <a:sym typeface="Symbol" panose="05050102010706020507" pitchFamily="18" charset="2"/>
              </a:rPr>
              <a:t></a:t>
            </a:r>
            <a:r>
              <a:rPr lang="pt-BR" altLang="zh-CN" sz="1800" baseline="-25000">
                <a:latin typeface="Arial" panose="020B0604020202020204" pitchFamily="34" charset="0"/>
              </a:rPr>
              <a:t>m2</a:t>
            </a:r>
            <a:r>
              <a:rPr lang="pt-BR" altLang="zh-CN" sz="1800">
                <a:latin typeface="Arial" panose="020B0604020202020204" pitchFamily="34" charset="0"/>
              </a:rPr>
              <a:t>/</a:t>
            </a:r>
            <a:r>
              <a:rPr lang="en-US" altLang="fr-FR" sz="1800">
                <a:latin typeface="Courier New" panose="02070309020205020404" pitchFamily="49" charset="0"/>
                <a:ea typeface="SimSun" panose="02010600030101010101" pitchFamily="2" charset="-122"/>
                <a:sym typeface="Symbol" panose="05050102010706020507" pitchFamily="18" charset="2"/>
              </a:rPr>
              <a:t></a:t>
            </a:r>
            <a:r>
              <a:rPr lang="pt-BR" altLang="zh-CN" sz="1800" baseline="-25000">
                <a:latin typeface="Arial" panose="020B0604020202020204" pitchFamily="34" charset="0"/>
              </a:rPr>
              <a:t>m1</a:t>
            </a:r>
            <a:r>
              <a:rPr lang="pt-BR" altLang="zh-CN" sz="1800">
                <a:latin typeface="Arial" panose="020B0604020202020204" pitchFamily="34" charset="0"/>
              </a:rPr>
              <a:t> </a:t>
            </a:r>
          </a:p>
        </p:txBody>
      </p:sp>
      <p:sp>
        <p:nvSpPr>
          <p:cNvPr id="67596" name="Text Box 40"/>
          <p:cNvSpPr txBox="1">
            <a:spLocks noChangeArrowheads="1"/>
          </p:cNvSpPr>
          <p:nvPr/>
        </p:nvSpPr>
        <p:spPr bwMode="auto">
          <a:xfrm>
            <a:off x="685800" y="762000"/>
            <a:ext cx="6629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r>
              <a:rPr lang="en-US" altLang="fr-FR" sz="1800" b="1">
                <a:solidFill>
                  <a:srgbClr val="CC6600"/>
                </a:solidFill>
                <a:latin typeface="Arial" panose="020B0604020202020204" pitchFamily="34" charset="0"/>
              </a:rPr>
              <a:t> – effet d’engrenage</a:t>
            </a:r>
          </a:p>
        </p:txBody>
      </p:sp>
      <p:sp>
        <p:nvSpPr>
          <p:cNvPr id="45" name="Espace réservé du pied de page 44"/>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311"/>
                                        </p:tgtEl>
                                        <p:attrNameLst>
                                          <p:attrName>style.visibility</p:attrName>
                                        </p:attrNameLst>
                                      </p:cBhvr>
                                      <p:to>
                                        <p:strVal val="visible"/>
                                      </p:to>
                                    </p:set>
                                    <p:animEffect transition="in" filter="wipe(up)">
                                      <p:cBhvr>
                                        <p:cTn id="7" dur="500"/>
                                        <p:tgtEl>
                                          <p:spTgt spid="55311"/>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2" accel="50000" decel="50000" fill="hold" nodeType="clickEffect">
                                  <p:stCondLst>
                                    <p:cond delay="0"/>
                                  </p:stCondLst>
                                  <p:childTnLst>
                                    <p:set>
                                      <p:cBhvr>
                                        <p:cTn id="15" dur="1" fill="hold">
                                          <p:stCondLst>
                                            <p:cond delay="0"/>
                                          </p:stCondLst>
                                        </p:cTn>
                                        <p:tgtEl>
                                          <p:spTgt spid="55298"/>
                                        </p:tgtEl>
                                        <p:attrNameLst>
                                          <p:attrName>style.visibility</p:attrName>
                                        </p:attrNameLst>
                                      </p:cBhvr>
                                      <p:to>
                                        <p:strVal val="visible"/>
                                      </p:to>
                                    </p:set>
                                    <p:anim calcmode="lin" valueType="num">
                                      <p:cBhvr additive="base">
                                        <p:cTn id="16" dur="500" fill="hold"/>
                                        <p:tgtEl>
                                          <p:spTgt spid="55298"/>
                                        </p:tgtEl>
                                        <p:attrNameLst>
                                          <p:attrName>ppt_x</p:attrName>
                                        </p:attrNameLst>
                                      </p:cBhvr>
                                      <p:tavLst>
                                        <p:tav tm="0">
                                          <p:val>
                                            <p:strVal val="1+#ppt_w/2"/>
                                          </p:val>
                                        </p:tav>
                                        <p:tav tm="100000">
                                          <p:val>
                                            <p:strVal val="#ppt_x"/>
                                          </p:val>
                                        </p:tav>
                                      </p:tavLst>
                                    </p:anim>
                                    <p:anim calcmode="lin" valueType="num">
                                      <p:cBhvr additive="base">
                                        <p:cTn id="17" dur="500" fill="hold"/>
                                        <p:tgtEl>
                                          <p:spTgt spid="55298"/>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500"/>
                            </p:stCondLst>
                            <p:childTnLst>
                              <p:par>
                                <p:cTn id="19" presetID="2" presetClass="entr" presetSubtype="2" accel="50000" decel="50000" fill="hold" grpId="0" nodeType="afterEffect">
                                  <p:stCondLst>
                                    <p:cond delay="0"/>
                                  </p:stCondLst>
                                  <p:childTnLst>
                                    <p:set>
                                      <p:cBhvr>
                                        <p:cTn id="20" dur="1" fill="hold">
                                          <p:stCondLst>
                                            <p:cond delay="0"/>
                                          </p:stCondLst>
                                        </p:cTn>
                                        <p:tgtEl>
                                          <p:spTgt spid="55313"/>
                                        </p:tgtEl>
                                        <p:attrNameLst>
                                          <p:attrName>style.visibility</p:attrName>
                                        </p:attrNameLst>
                                      </p:cBhvr>
                                      <p:to>
                                        <p:strVal val="visible"/>
                                      </p:to>
                                    </p:set>
                                    <p:anim calcmode="lin" valueType="num">
                                      <p:cBhvr additive="base">
                                        <p:cTn id="21" dur="500" fill="hold"/>
                                        <p:tgtEl>
                                          <p:spTgt spid="55313"/>
                                        </p:tgtEl>
                                        <p:attrNameLst>
                                          <p:attrName>ppt_x</p:attrName>
                                        </p:attrNameLst>
                                      </p:cBhvr>
                                      <p:tavLst>
                                        <p:tav tm="0">
                                          <p:val>
                                            <p:strVal val="1+#ppt_w/2"/>
                                          </p:val>
                                        </p:tav>
                                        <p:tav tm="100000">
                                          <p:val>
                                            <p:strVal val="#ppt_x"/>
                                          </p:val>
                                        </p:tav>
                                      </p:tavLst>
                                    </p:anim>
                                    <p:anim calcmode="lin" valueType="num">
                                      <p:cBhvr additive="base">
                                        <p:cTn id="22" dur="500" fill="hold"/>
                                        <p:tgtEl>
                                          <p:spTgt spid="55313"/>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55314"/>
                                        </p:tgtEl>
                                        <p:attrNameLst>
                                          <p:attrName>style.visibility</p:attrName>
                                        </p:attrNameLst>
                                      </p:cBhvr>
                                      <p:to>
                                        <p:strVal val="visible"/>
                                      </p:to>
                                    </p:set>
                                    <p:animEffect transition="in" filter="fade">
                                      <p:cBhvr>
                                        <p:cTn id="26" dur="500"/>
                                        <p:tgtEl>
                                          <p:spTgt spid="55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11" grpId="0" animBg="1"/>
      <p:bldP spid="55313" grpId="0"/>
      <p:bldP spid="553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6963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F1F19EE-B217-48CC-BE69-2581BB9BDFBB}" type="slidenum">
              <a:rPr lang="en-US" altLang="fr-FR" sz="1000" smtClean="0">
                <a:solidFill>
                  <a:srgbClr val="292929"/>
                </a:solidFill>
                <a:latin typeface="Arial" panose="020B0604020202020204" pitchFamily="34" charset="0"/>
              </a:rPr>
              <a:pPr>
                <a:spcBef>
                  <a:spcPct val="0"/>
                </a:spcBef>
                <a:buClrTx/>
                <a:buSzTx/>
                <a:buFontTx/>
                <a:buNone/>
              </a:pPr>
              <a:t>32</a:t>
            </a:fld>
            <a:endParaRPr lang="en-US" altLang="fr-FR" sz="1000" smtClean="0">
              <a:solidFill>
                <a:srgbClr val="292929"/>
              </a:solidFill>
              <a:latin typeface="Arial" panose="020B0604020202020204" pitchFamily="34" charset="0"/>
            </a:endParaRPr>
          </a:p>
        </p:txBody>
      </p:sp>
      <p:sp>
        <p:nvSpPr>
          <p:cNvPr id="4" name="Rectangle 14"/>
          <p:cNvSpPr txBox="1">
            <a:spLocks noChangeArrowheads="1"/>
          </p:cNvSpPr>
          <p:nvPr/>
        </p:nvSpPr>
        <p:spPr>
          <a:xfrm>
            <a:off x="457200" y="304800"/>
            <a:ext cx="6858000" cy="381000"/>
          </a:xfrm>
          <a:prstGeom prst="rect">
            <a:avLst/>
          </a:prstGeom>
          <a:noFill/>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69637" name="Rectangle 15"/>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 name="Text Box 55"/>
          <p:cNvSpPr txBox="1">
            <a:spLocks noChangeArrowheads="1"/>
          </p:cNvSpPr>
          <p:nvPr/>
        </p:nvSpPr>
        <p:spPr bwMode="auto">
          <a:xfrm>
            <a:off x="685800" y="849313"/>
            <a:ext cx="6629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r>
              <a:rPr lang="en-US" altLang="fr-FR" sz="1800" b="1">
                <a:solidFill>
                  <a:srgbClr val="CC6600"/>
                </a:solidFill>
                <a:latin typeface="Arial" panose="020B0604020202020204" pitchFamily="34" charset="0"/>
              </a:rPr>
              <a:t> : E</a:t>
            </a:r>
            <a:r>
              <a:rPr lang="fr-FR" altLang="fr-FR" sz="1800" b="1">
                <a:solidFill>
                  <a:srgbClr val="CC6600"/>
                </a:solidFill>
                <a:latin typeface="Arial" panose="020B0604020202020204" pitchFamily="34" charset="0"/>
              </a:rPr>
              <a:t>ffet d'engrenage</a:t>
            </a:r>
            <a:endParaRPr lang="en-US" altLang="fr-FR" sz="1800" b="1">
              <a:solidFill>
                <a:srgbClr val="CC6600"/>
              </a:solidFill>
              <a:latin typeface="Arial" panose="020B0604020202020204" pitchFamily="34" charset="0"/>
            </a:endParaRPr>
          </a:p>
        </p:txBody>
      </p:sp>
      <p:sp>
        <p:nvSpPr>
          <p:cNvPr id="11" name="ZoneTexte 10"/>
          <p:cNvSpPr txBox="1">
            <a:spLocks noChangeArrowheads="1"/>
          </p:cNvSpPr>
          <p:nvPr/>
        </p:nvSpPr>
        <p:spPr bwMode="auto">
          <a:xfrm>
            <a:off x="762000" y="3014663"/>
            <a:ext cx="7467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Mettre le système suivant en équation. (Négliger le couple des frottements).</a:t>
            </a:r>
          </a:p>
        </p:txBody>
      </p:sp>
      <p:grpSp>
        <p:nvGrpSpPr>
          <p:cNvPr id="69640" name="Groupe 12"/>
          <p:cNvGrpSpPr>
            <a:grpSpLocks/>
          </p:cNvGrpSpPr>
          <p:nvPr/>
        </p:nvGrpSpPr>
        <p:grpSpPr bwMode="auto">
          <a:xfrm>
            <a:off x="2057400" y="3581400"/>
            <a:ext cx="5219700" cy="2268538"/>
            <a:chOff x="1981200" y="1887538"/>
            <a:chExt cx="5219700" cy="2268538"/>
          </a:xfrm>
        </p:grpSpPr>
        <p:pic>
          <p:nvPicPr>
            <p:cNvPr id="69643" name="Picture 2"/>
            <p:cNvPicPr>
              <a:picLocks noChangeAspect="1" noChangeArrowheads="1"/>
            </p:cNvPicPr>
            <p:nvPr/>
          </p:nvPicPr>
          <p:blipFill>
            <a:blip r:embed="rId3">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1981200" y="1887538"/>
              <a:ext cx="5219700" cy="226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ZoneTexte 11"/>
            <p:cNvSpPr txBox="1"/>
            <p:nvPr/>
          </p:nvSpPr>
          <p:spPr>
            <a:xfrm>
              <a:off x="3429000" y="2321400"/>
              <a:ext cx="677108" cy="1260000"/>
            </a:xfrm>
            <a:prstGeom prst="rect">
              <a:avLst/>
            </a:prstGeom>
            <a:blipFill>
              <a:blip r:embed="rId4"/>
              <a:tile tx="0" ty="0" sx="100000" sy="100000" flip="none" algn="tl"/>
            </a:blipFill>
          </p:spPr>
          <p:txBody>
            <a:bodyPr vert="vert270">
              <a:spAutoFit/>
            </a:bodyPr>
            <a:lstStyle/>
            <a:p>
              <a:pPr eaLnBrk="1" hangingPunct="1">
                <a:defRPr/>
              </a:pPr>
              <a:r>
                <a:rPr lang="fr-FR" sz="1600" dirty="0">
                  <a:latin typeface="Arial" charset="0"/>
                  <a:cs typeface="Arial" charset="0"/>
                </a:rPr>
                <a:t>Engrenage sans pertes</a:t>
              </a:r>
            </a:p>
          </p:txBody>
        </p:sp>
      </p:grpSp>
      <p:sp>
        <p:nvSpPr>
          <p:cNvPr id="69641" name="Rectangle 14"/>
          <p:cNvSpPr>
            <a:spLocks noChangeArrowheads="1"/>
          </p:cNvSpPr>
          <p:nvPr/>
        </p:nvSpPr>
        <p:spPr bwMode="auto">
          <a:xfrm>
            <a:off x="762000" y="1893888"/>
            <a:ext cx="7848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600">
                <a:latin typeface="Arial" panose="020B0604020202020204" pitchFamily="34" charset="0"/>
              </a:rPr>
              <a:t>Par exemple sur la figure nous avons un entraînement avec sortie multiple. </a:t>
            </a:r>
            <a:r>
              <a:rPr lang="fr-FR" altLang="fr-FR" sz="1600" i="1">
                <a:latin typeface="Arial" panose="020B0604020202020204" pitchFamily="34" charset="0"/>
              </a:rPr>
              <a:t>J</a:t>
            </a:r>
            <a:r>
              <a:rPr lang="fr-FR" altLang="fr-FR" sz="1600" i="1" baseline="-25000">
                <a:latin typeface="Arial" panose="020B0604020202020204" pitchFamily="34" charset="0"/>
              </a:rPr>
              <a:t>1</a:t>
            </a:r>
            <a:r>
              <a:rPr lang="fr-FR" altLang="fr-FR" sz="1600" i="1">
                <a:latin typeface="Arial" panose="020B0604020202020204" pitchFamily="34" charset="0"/>
              </a:rPr>
              <a:t>, J</a:t>
            </a:r>
            <a:r>
              <a:rPr lang="fr-FR" altLang="fr-FR" sz="1600" i="1" baseline="-25000">
                <a:latin typeface="Arial" panose="020B0604020202020204" pitchFamily="34" charset="0"/>
              </a:rPr>
              <a:t>2</a:t>
            </a:r>
            <a:r>
              <a:rPr lang="fr-FR" altLang="fr-FR" sz="1600" i="1">
                <a:latin typeface="Arial" panose="020B0604020202020204" pitchFamily="34" charset="0"/>
              </a:rPr>
              <a:t>, J</a:t>
            </a:r>
            <a:r>
              <a:rPr lang="fr-FR" altLang="fr-FR" sz="1600" i="1" baseline="-25000">
                <a:latin typeface="Arial" panose="020B0604020202020204" pitchFamily="34" charset="0"/>
              </a:rPr>
              <a:t>3</a:t>
            </a:r>
            <a:r>
              <a:rPr lang="fr-FR" altLang="fr-FR" sz="1600" i="1">
                <a:latin typeface="Arial" panose="020B0604020202020204" pitchFamily="34" charset="0"/>
              </a:rPr>
              <a:t> sont les moments d'inertie </a:t>
            </a:r>
            <a:r>
              <a:rPr lang="fr-FR" altLang="fr-FR" sz="1600">
                <a:latin typeface="Arial" panose="020B0604020202020204" pitchFamily="34" charset="0"/>
              </a:rPr>
              <a:t>des trois lignes d'arbre qui tournent aux vitesses angulaires </a:t>
            </a:r>
            <a:r>
              <a:rPr lang="el-GR" altLang="fr-FR" sz="2000">
                <a:latin typeface="Calibri" panose="020F0502020204030204" pitchFamily="34" charset="0"/>
              </a:rPr>
              <a:t>ω</a:t>
            </a:r>
            <a:r>
              <a:rPr lang="fr-FR" altLang="fr-FR" sz="2000" i="1" baseline="-25000">
                <a:latin typeface="Arial" panose="020B0604020202020204" pitchFamily="34" charset="0"/>
              </a:rPr>
              <a:t>1</a:t>
            </a:r>
            <a:r>
              <a:rPr lang="fr-FR" altLang="fr-FR" sz="2000" i="1">
                <a:latin typeface="Arial" panose="020B0604020202020204" pitchFamily="34" charset="0"/>
              </a:rPr>
              <a:t>,</a:t>
            </a:r>
            <a:r>
              <a:rPr lang="el-GR" altLang="fr-FR" sz="2000">
                <a:latin typeface="Calibri" panose="020F0502020204030204" pitchFamily="34" charset="0"/>
              </a:rPr>
              <a:t> ω</a:t>
            </a:r>
            <a:r>
              <a:rPr lang="fr-FR" altLang="fr-FR" sz="2000" i="1" baseline="-25000">
                <a:latin typeface="Arial" panose="020B0604020202020204" pitchFamily="34" charset="0"/>
              </a:rPr>
              <a:t>2</a:t>
            </a:r>
            <a:r>
              <a:rPr lang="fr-FR" altLang="fr-FR" sz="2000" i="1">
                <a:latin typeface="Arial" panose="020B0604020202020204" pitchFamily="34" charset="0"/>
              </a:rPr>
              <a:t>,</a:t>
            </a:r>
            <a:r>
              <a:rPr lang="el-GR" altLang="fr-FR" sz="2000">
                <a:latin typeface="Calibri" panose="020F0502020204030204" pitchFamily="34" charset="0"/>
              </a:rPr>
              <a:t> ω</a:t>
            </a:r>
            <a:r>
              <a:rPr lang="fr-FR" altLang="fr-FR" sz="2000" i="1" baseline="-25000">
                <a:latin typeface="Arial" panose="020B0604020202020204" pitchFamily="34" charset="0"/>
              </a:rPr>
              <a:t>3</a:t>
            </a:r>
            <a:r>
              <a:rPr lang="fr-FR" altLang="fr-FR" sz="1600" i="1">
                <a:latin typeface="Arial" panose="020B0604020202020204" pitchFamily="34" charset="0"/>
              </a:rPr>
              <a:t>. Sur la troisi</a:t>
            </a:r>
            <a:r>
              <a:rPr lang="fr-FR" altLang="fr-FR" sz="1600">
                <a:latin typeface="Arial" panose="020B0604020202020204" pitchFamily="34" charset="0"/>
              </a:rPr>
              <a:t>ème ligne d'arbre, un câble soulevant une masse </a:t>
            </a:r>
            <a:r>
              <a:rPr lang="fr-FR" altLang="fr-FR" sz="1600" i="1">
                <a:latin typeface="Arial" panose="020B0604020202020204" pitchFamily="34" charset="0"/>
              </a:rPr>
              <a:t>M</a:t>
            </a:r>
            <a:r>
              <a:rPr lang="fr-FR" altLang="fr-FR" sz="1600" i="1" baseline="-25000">
                <a:latin typeface="Arial" panose="020B0604020202020204" pitchFamily="34" charset="0"/>
              </a:rPr>
              <a:t>3</a:t>
            </a:r>
            <a:r>
              <a:rPr lang="fr-FR" altLang="fr-FR" sz="1600" i="1">
                <a:latin typeface="Arial" panose="020B0604020202020204" pitchFamily="34" charset="0"/>
              </a:rPr>
              <a:t> s'enroule sur un tambour </a:t>
            </a:r>
            <a:r>
              <a:rPr lang="fr-FR" altLang="fr-FR" sz="1600">
                <a:latin typeface="Arial" panose="020B0604020202020204" pitchFamily="34" charset="0"/>
              </a:rPr>
              <a:t>de diamètre 2</a:t>
            </a:r>
            <a:r>
              <a:rPr lang="fr-FR" altLang="fr-FR" sz="1600" i="1">
                <a:latin typeface="Arial" panose="020B0604020202020204" pitchFamily="34" charset="0"/>
              </a:rPr>
              <a:t>r</a:t>
            </a:r>
            <a:r>
              <a:rPr lang="fr-FR" altLang="fr-FR" sz="1600" i="1" baseline="-25000">
                <a:latin typeface="Arial" panose="020B0604020202020204" pitchFamily="34" charset="0"/>
              </a:rPr>
              <a:t>3</a:t>
            </a:r>
            <a:r>
              <a:rPr lang="fr-FR" altLang="fr-FR" sz="1600" i="1">
                <a:latin typeface="Arial" panose="020B0604020202020204" pitchFamily="34" charset="0"/>
              </a:rPr>
              <a:t>.</a:t>
            </a:r>
            <a:endParaRPr lang="fr-FR" altLang="fr-FR" sz="1600">
              <a:latin typeface="Arial" panose="020B0604020202020204" pitchFamily="34" charset="0"/>
            </a:endParaRPr>
          </a:p>
        </p:txBody>
      </p:sp>
      <p:sp>
        <p:nvSpPr>
          <p:cNvPr id="69642" name="ZoneTexte 12"/>
          <p:cNvSpPr txBox="1">
            <a:spLocks noChangeArrowheads="1"/>
          </p:cNvSpPr>
          <p:nvPr/>
        </p:nvSpPr>
        <p:spPr bwMode="auto">
          <a:xfrm>
            <a:off x="762000" y="1447800"/>
            <a:ext cx="1828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latin typeface="Arial" panose="020B0604020202020204" pitchFamily="34" charset="0"/>
              </a:rPr>
              <a:t>Exercice</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7168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66108B5-5802-4449-A329-5B1A980A2D77}" type="slidenum">
              <a:rPr lang="en-US" altLang="fr-FR" sz="1000" smtClean="0">
                <a:solidFill>
                  <a:srgbClr val="292929"/>
                </a:solidFill>
                <a:latin typeface="Arial" panose="020B0604020202020204" pitchFamily="34" charset="0"/>
              </a:rPr>
              <a:pPr>
                <a:spcBef>
                  <a:spcPct val="0"/>
                </a:spcBef>
                <a:buClrTx/>
                <a:buSzTx/>
                <a:buFontTx/>
                <a:buNone/>
              </a:pPr>
              <a:t>33</a:t>
            </a:fld>
            <a:endParaRPr lang="en-US" altLang="fr-FR" sz="1000" smtClean="0">
              <a:solidFill>
                <a:srgbClr val="292929"/>
              </a:solidFill>
              <a:latin typeface="Arial" panose="020B0604020202020204" pitchFamily="34" charset="0"/>
            </a:endParaRPr>
          </a:p>
        </p:txBody>
      </p:sp>
      <p:sp>
        <p:nvSpPr>
          <p:cNvPr id="71684" name="Rectangle 3"/>
          <p:cNvSpPr>
            <a:spLocks noChangeArrowheads="1"/>
          </p:cNvSpPr>
          <p:nvPr/>
        </p:nvSpPr>
        <p:spPr bwMode="auto">
          <a:xfrm>
            <a:off x="762000" y="1612900"/>
            <a:ext cx="7696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dirty="0">
                <a:latin typeface="Arial" panose="020B0604020202020204" pitchFamily="34" charset="0"/>
              </a:rPr>
              <a:t>La masse soulevée développe un couple résistant </a:t>
            </a:r>
            <a:r>
              <a:rPr lang="fr-FR" altLang="fr-FR" sz="1800" i="1" dirty="0">
                <a:latin typeface="Arial" panose="020B0604020202020204" pitchFamily="34" charset="0"/>
              </a:rPr>
              <a:t>M</a:t>
            </a:r>
            <a:r>
              <a:rPr lang="fr-FR" altLang="fr-FR" sz="1800" i="1" baseline="-25000" dirty="0">
                <a:latin typeface="Arial" panose="020B0604020202020204" pitchFamily="34" charset="0"/>
              </a:rPr>
              <a:t>3</a:t>
            </a:r>
            <a:r>
              <a:rPr lang="fr-FR" altLang="fr-FR" sz="1800" i="1" dirty="0">
                <a:latin typeface="Arial" panose="020B0604020202020204" pitchFamily="34" charset="0"/>
              </a:rPr>
              <a:t>.g.r</a:t>
            </a:r>
            <a:r>
              <a:rPr lang="fr-FR" altLang="fr-FR" sz="1800" i="1" baseline="-25000" dirty="0">
                <a:latin typeface="Arial" panose="020B0604020202020204" pitchFamily="34" charset="0"/>
              </a:rPr>
              <a:t>3</a:t>
            </a:r>
            <a:r>
              <a:rPr lang="fr-FR" altLang="fr-FR" sz="1800" i="1" dirty="0">
                <a:latin typeface="Arial" panose="020B0604020202020204" pitchFamily="34" charset="0"/>
              </a:rPr>
              <a:t>.</a:t>
            </a:r>
            <a:endParaRPr lang="fr-FR" altLang="fr-FR" sz="1800" dirty="0">
              <a:latin typeface="Arial" panose="020B0604020202020204" pitchFamily="34" charset="0"/>
            </a:endParaRPr>
          </a:p>
        </p:txBody>
      </p:sp>
      <p:sp>
        <p:nvSpPr>
          <p:cNvPr id="71685" name="Rectangle 4"/>
          <p:cNvSpPr>
            <a:spLocks noChangeArrowheads="1"/>
          </p:cNvSpPr>
          <p:nvPr/>
        </p:nvSpPr>
        <p:spPr bwMode="auto">
          <a:xfrm>
            <a:off x="762000" y="2058988"/>
            <a:ext cx="7848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dirty="0">
                <a:latin typeface="Arial" panose="020B0604020202020204" pitchFamily="34" charset="0"/>
              </a:rPr>
              <a:t>Son moment d'inertie ramené sur l'arbre 3 est </a:t>
            </a:r>
            <a:r>
              <a:rPr lang="fr-FR" altLang="fr-FR" sz="1800" i="1" dirty="0">
                <a:latin typeface="Arial" panose="020B0604020202020204" pitchFamily="34" charset="0"/>
              </a:rPr>
              <a:t>M</a:t>
            </a:r>
            <a:r>
              <a:rPr lang="fr-FR" altLang="fr-FR" sz="1800" i="1" baseline="-25000" dirty="0">
                <a:latin typeface="Arial" panose="020B0604020202020204" pitchFamily="34" charset="0"/>
              </a:rPr>
              <a:t>3</a:t>
            </a:r>
            <a:r>
              <a:rPr lang="fr-FR" altLang="fr-FR" sz="1800" i="1" dirty="0">
                <a:latin typeface="Arial" panose="020B0604020202020204" pitchFamily="34" charset="0"/>
              </a:rPr>
              <a:t>.g.r</a:t>
            </a:r>
            <a:r>
              <a:rPr lang="fr-FR" altLang="fr-FR" sz="1800" i="1" baseline="-25000" dirty="0">
                <a:latin typeface="Arial" panose="020B0604020202020204" pitchFamily="34" charset="0"/>
              </a:rPr>
              <a:t>3</a:t>
            </a:r>
            <a:r>
              <a:rPr lang="fr-FR" altLang="fr-FR" sz="1800" i="1" dirty="0">
                <a:latin typeface="Arial" panose="020B0604020202020204" pitchFamily="34" charset="0"/>
              </a:rPr>
              <a:t>² .</a:t>
            </a:r>
          </a:p>
          <a:p>
            <a:pPr eaLnBrk="1" hangingPunct="1">
              <a:spcBef>
                <a:spcPct val="0"/>
              </a:spcBef>
              <a:buClrTx/>
              <a:buSzTx/>
              <a:buFontTx/>
              <a:buNone/>
            </a:pPr>
            <a:r>
              <a:rPr lang="fr-FR" altLang="fr-FR" sz="1800" dirty="0">
                <a:latin typeface="Arial" panose="020B0604020202020204" pitchFamily="34" charset="0"/>
              </a:rPr>
              <a:t>Nous en déduisons le moment d'inertie total ramené sur l'arbre du moteur.</a:t>
            </a:r>
          </a:p>
        </p:txBody>
      </p:sp>
      <p:pic>
        <p:nvPicPr>
          <p:cNvPr id="6" name="Picture 3"/>
          <p:cNvPicPr>
            <a:picLocks noChangeAspect="1" noChangeArrowheads="1"/>
          </p:cNvPicPr>
          <p:nvPr/>
        </p:nvPicPr>
        <p:blipFill>
          <a:blip r:embed="rId3">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2817813" y="4686300"/>
            <a:ext cx="26685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4">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2362200" y="3048000"/>
            <a:ext cx="39846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ZoneTexte 7"/>
          <p:cNvSpPr txBox="1">
            <a:spLocks noChangeArrowheads="1"/>
          </p:cNvSpPr>
          <p:nvPr/>
        </p:nvSpPr>
        <p:spPr bwMode="auto">
          <a:xfrm>
            <a:off x="1447800" y="4152900"/>
            <a:ext cx="144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dirty="0">
                <a:latin typeface="Arial" panose="020B0604020202020204" pitchFamily="34" charset="0"/>
              </a:rPr>
              <a:t>Donc :</a:t>
            </a:r>
          </a:p>
        </p:txBody>
      </p:sp>
      <p:sp>
        <p:nvSpPr>
          <p:cNvPr id="71689" name="Rectangle 15"/>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 name="Text Box 55"/>
          <p:cNvSpPr txBox="1">
            <a:spLocks noChangeArrowheads="1"/>
          </p:cNvSpPr>
          <p:nvPr/>
        </p:nvSpPr>
        <p:spPr bwMode="auto">
          <a:xfrm>
            <a:off x="762000" y="838200"/>
            <a:ext cx="662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dirty="0">
                <a:solidFill>
                  <a:srgbClr val="CC6600"/>
                </a:solidFill>
                <a:latin typeface="Arial" panose="020B0604020202020204" pitchFamily="34" charset="0"/>
              </a:rPr>
              <a:t>Principes de base de la mécanique</a:t>
            </a:r>
            <a:r>
              <a:rPr lang="en-US" altLang="fr-FR" sz="1800" b="1" dirty="0">
                <a:solidFill>
                  <a:srgbClr val="CC6600"/>
                </a:solidFill>
                <a:latin typeface="Arial" panose="020B0604020202020204" pitchFamily="34" charset="0"/>
              </a:rPr>
              <a:t> : E</a:t>
            </a:r>
            <a:r>
              <a:rPr lang="fr-FR" altLang="fr-FR" sz="1800" b="1" dirty="0" err="1">
                <a:solidFill>
                  <a:srgbClr val="CC6600"/>
                </a:solidFill>
                <a:latin typeface="Arial" panose="020B0604020202020204" pitchFamily="34" charset="0"/>
              </a:rPr>
              <a:t>ffet</a:t>
            </a:r>
            <a:r>
              <a:rPr lang="fr-FR" altLang="fr-FR" sz="1800" b="1" dirty="0">
                <a:solidFill>
                  <a:srgbClr val="CC6600"/>
                </a:solidFill>
                <a:latin typeface="Arial" panose="020B0604020202020204" pitchFamily="34" charset="0"/>
              </a:rPr>
              <a:t> d'engrenage</a:t>
            </a:r>
            <a:endParaRPr lang="en-US" altLang="fr-FR" sz="1800" b="1" dirty="0">
              <a:solidFill>
                <a:srgbClr val="CC6600"/>
              </a:solidFill>
              <a:latin typeface="Arial" panose="020B0604020202020204" pitchFamily="34" charset="0"/>
            </a:endParaRPr>
          </a:p>
        </p:txBody>
      </p:sp>
      <p:sp>
        <p:nvSpPr>
          <p:cNvPr id="11" name="Rectangle 14"/>
          <p:cNvSpPr txBox="1">
            <a:spLocks noChangeArrowheads="1"/>
          </p:cNvSpPr>
          <p:nvPr/>
        </p:nvSpPr>
        <p:spPr>
          <a:xfrm>
            <a:off x="457200" y="304800"/>
            <a:ext cx="6858000" cy="381000"/>
          </a:xfrm>
          <a:prstGeom prst="rect">
            <a:avLst/>
          </a:prstGeom>
          <a:noFill/>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7373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E12DB7A-B916-48D5-ADEE-EB17238D8272}" type="slidenum">
              <a:rPr lang="en-US" altLang="fr-FR" sz="1000" smtClean="0">
                <a:solidFill>
                  <a:srgbClr val="292929"/>
                </a:solidFill>
                <a:latin typeface="Arial" panose="020B0604020202020204" pitchFamily="34" charset="0"/>
              </a:rPr>
              <a:pPr>
                <a:spcBef>
                  <a:spcPct val="0"/>
                </a:spcBef>
                <a:buClrTx/>
                <a:buSzTx/>
                <a:buFontTx/>
                <a:buNone/>
              </a:pPr>
              <a:t>34</a:t>
            </a:fld>
            <a:endParaRPr lang="en-US" altLang="fr-FR" sz="1000" smtClean="0">
              <a:solidFill>
                <a:srgbClr val="292929"/>
              </a:solidFill>
              <a:latin typeface="Arial" panose="020B0604020202020204" pitchFamily="34" charset="0"/>
            </a:endParaRPr>
          </a:p>
        </p:txBody>
      </p:sp>
      <p:sp>
        <p:nvSpPr>
          <p:cNvPr id="56324" name="ZoneTexte 4"/>
          <p:cNvSpPr txBox="1">
            <a:spLocks noChangeArrowheads="1"/>
          </p:cNvSpPr>
          <p:nvPr/>
        </p:nvSpPr>
        <p:spPr bwMode="auto">
          <a:xfrm>
            <a:off x="838200" y="1512888"/>
            <a:ext cx="76962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600" i="1">
                <a:latin typeface="Arial" panose="020B0604020202020204" pitchFamily="34" charset="0"/>
              </a:rPr>
              <a:t>Une masse de 1000 kg est entraînée à une vitesse de 1m/s par un moteur tournant à 960 tr/mn et un treuil de diamètre 0,30 m.</a:t>
            </a:r>
          </a:p>
          <a:p>
            <a:pPr algn="just" eaLnBrk="1" hangingPunct="1">
              <a:spcBef>
                <a:spcPct val="0"/>
              </a:spcBef>
              <a:buClrTx/>
              <a:buSzTx/>
              <a:buFontTx/>
              <a:buNone/>
            </a:pPr>
            <a:r>
              <a:rPr lang="fr-FR" altLang="fr-FR" sz="1600" i="1">
                <a:latin typeface="Arial" panose="020B0604020202020204" pitchFamily="34" charset="0"/>
              </a:rPr>
              <a:t>Les moment d’inertie du moteur et du treuil sont (resp) 1.6 kgm² et 3.2 kgm² .</a:t>
            </a:r>
          </a:p>
          <a:p>
            <a:pPr algn="just" eaLnBrk="1" hangingPunct="1">
              <a:spcBef>
                <a:spcPct val="0"/>
              </a:spcBef>
              <a:buClrTx/>
              <a:buSzTx/>
              <a:buFontTx/>
              <a:buNone/>
            </a:pPr>
            <a:r>
              <a:rPr lang="fr-FR" altLang="fr-FR" sz="1600" i="1">
                <a:latin typeface="Arial" panose="020B0604020202020204" pitchFamily="34" charset="0"/>
              </a:rPr>
              <a:t>Calculer le couple total de la charge ramené à l’arbre du moteur.   </a:t>
            </a:r>
          </a:p>
        </p:txBody>
      </p:sp>
      <p:sp>
        <p:nvSpPr>
          <p:cNvPr id="56325" name="ZoneTexte 5"/>
          <p:cNvSpPr txBox="1">
            <a:spLocks noChangeArrowheads="1"/>
          </p:cNvSpPr>
          <p:nvPr/>
        </p:nvSpPr>
        <p:spPr bwMode="auto">
          <a:xfrm>
            <a:off x="685800" y="1109663"/>
            <a:ext cx="1828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latin typeface="Arial" panose="020B0604020202020204" pitchFamily="34" charset="0"/>
              </a:rPr>
              <a:t>Exercice</a:t>
            </a:r>
          </a:p>
        </p:txBody>
      </p:sp>
      <p:sp>
        <p:nvSpPr>
          <p:cNvPr id="73734" name="Rectangle 15"/>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 name="Rectangle 14"/>
          <p:cNvSpPr txBox="1">
            <a:spLocks noChangeArrowheads="1"/>
          </p:cNvSpPr>
          <p:nvPr/>
        </p:nvSpPr>
        <p:spPr>
          <a:xfrm>
            <a:off x="457200" y="304800"/>
            <a:ext cx="6858000" cy="381000"/>
          </a:xfrm>
          <a:prstGeom prst="rect">
            <a:avLst/>
          </a:prstGeom>
          <a:noFill/>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9" name="Text Box 55"/>
          <p:cNvSpPr txBox="1">
            <a:spLocks noChangeArrowheads="1"/>
          </p:cNvSpPr>
          <p:nvPr/>
        </p:nvSpPr>
        <p:spPr bwMode="auto">
          <a:xfrm>
            <a:off x="685800" y="620713"/>
            <a:ext cx="6629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Principes de base de la mécanique</a:t>
            </a:r>
            <a:r>
              <a:rPr lang="en-US" altLang="fr-FR" sz="1800" b="1">
                <a:solidFill>
                  <a:srgbClr val="CC6600"/>
                </a:solidFill>
                <a:latin typeface="Arial" panose="020B0604020202020204" pitchFamily="34" charset="0"/>
              </a:rPr>
              <a:t> : E</a:t>
            </a:r>
            <a:r>
              <a:rPr lang="fr-FR" altLang="fr-FR" sz="1800" b="1">
                <a:solidFill>
                  <a:srgbClr val="CC6600"/>
                </a:solidFill>
                <a:latin typeface="Arial" panose="020B0604020202020204" pitchFamily="34" charset="0"/>
              </a:rPr>
              <a:t>ffet d'engrenage</a:t>
            </a:r>
            <a:endParaRPr lang="en-US" altLang="fr-FR" sz="1800" b="1">
              <a:solidFill>
                <a:srgbClr val="CC6600"/>
              </a:solidFill>
              <a:latin typeface="Arial" panose="020B0604020202020204" pitchFamily="34" charset="0"/>
            </a:endParaRPr>
          </a:p>
        </p:txBody>
      </p:sp>
      <p:grpSp>
        <p:nvGrpSpPr>
          <p:cNvPr id="56329" name="Groupe 13"/>
          <p:cNvGrpSpPr>
            <a:grpSpLocks/>
          </p:cNvGrpSpPr>
          <p:nvPr/>
        </p:nvGrpSpPr>
        <p:grpSpPr bwMode="auto">
          <a:xfrm>
            <a:off x="1981200" y="3219450"/>
            <a:ext cx="5257800" cy="2266950"/>
            <a:chOff x="1981200" y="3219450"/>
            <a:chExt cx="5257800" cy="2266950"/>
          </a:xfrm>
        </p:grpSpPr>
        <p:pic>
          <p:nvPicPr>
            <p:cNvPr id="73738" name="Picture 2"/>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1981200" y="3219450"/>
              <a:ext cx="4810125"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9" name="ZoneTexte 10"/>
            <p:cNvSpPr txBox="1">
              <a:spLocks noChangeArrowheads="1"/>
            </p:cNvSpPr>
            <p:nvPr/>
          </p:nvSpPr>
          <p:spPr bwMode="auto">
            <a:xfrm>
              <a:off x="3048000" y="3730823"/>
              <a:ext cx="762000"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Moteur</a:t>
              </a:r>
            </a:p>
          </p:txBody>
        </p:sp>
        <p:sp>
          <p:nvSpPr>
            <p:cNvPr id="73740" name="ZoneTexte 11"/>
            <p:cNvSpPr txBox="1">
              <a:spLocks noChangeArrowheads="1"/>
            </p:cNvSpPr>
            <p:nvPr/>
          </p:nvSpPr>
          <p:spPr bwMode="auto">
            <a:xfrm>
              <a:off x="6172200" y="3654623"/>
              <a:ext cx="914400"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Treuil</a:t>
              </a:r>
            </a:p>
          </p:txBody>
        </p:sp>
        <p:sp>
          <p:nvSpPr>
            <p:cNvPr id="73741" name="ZoneTexte 12"/>
            <p:cNvSpPr txBox="1">
              <a:spLocks noChangeArrowheads="1"/>
            </p:cNvSpPr>
            <p:nvPr/>
          </p:nvSpPr>
          <p:spPr bwMode="auto">
            <a:xfrm>
              <a:off x="6324600" y="5105400"/>
              <a:ext cx="914400"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Masse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6325"/>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632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563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p:bldP spid="56325"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75779" name="Espace réservé du numéro de diapositive 2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B00D6A5-BCE9-436B-BC83-6AC46B856351}" type="slidenum">
              <a:rPr lang="en-US" altLang="fr-FR" sz="1000" smtClean="0">
                <a:solidFill>
                  <a:srgbClr val="292929"/>
                </a:solidFill>
                <a:latin typeface="Arial" panose="020B0604020202020204" pitchFamily="34" charset="0"/>
              </a:rPr>
              <a:pPr>
                <a:spcBef>
                  <a:spcPct val="0"/>
                </a:spcBef>
                <a:buClrTx/>
                <a:buSzTx/>
                <a:buFontTx/>
                <a:buNone/>
              </a:pPr>
              <a:t>35</a:t>
            </a:fld>
            <a:endParaRPr lang="en-US" altLang="fr-FR" sz="1000" smtClean="0">
              <a:solidFill>
                <a:srgbClr val="292929"/>
              </a:solidFill>
              <a:latin typeface="Arial" panose="020B0604020202020204" pitchFamily="34" charset="0"/>
            </a:endParaRPr>
          </a:p>
        </p:txBody>
      </p:sp>
      <p:sp>
        <p:nvSpPr>
          <p:cNvPr id="75780"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75781" name="Text Box 4"/>
          <p:cNvSpPr txBox="1">
            <a:spLocks noChangeArrowheads="1"/>
          </p:cNvSpPr>
          <p:nvPr/>
        </p:nvSpPr>
        <p:spPr bwMode="auto">
          <a:xfrm>
            <a:off x="685800" y="762000"/>
            <a:ext cx="7772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Caractéristique  couple-vitesse du moteur en régime statique</a:t>
            </a:r>
            <a:endParaRPr lang="en-US" altLang="fr-FR" sz="1800" b="1">
              <a:solidFill>
                <a:srgbClr val="CC6600"/>
              </a:solidFill>
              <a:latin typeface="Arial" panose="020B0604020202020204" pitchFamily="34" charset="0"/>
            </a:endParaRPr>
          </a:p>
        </p:txBody>
      </p:sp>
      <p:sp>
        <p:nvSpPr>
          <p:cNvPr id="57350" name="Text Box 27"/>
          <p:cNvSpPr txBox="1">
            <a:spLocks noChangeArrowheads="1"/>
          </p:cNvSpPr>
          <p:nvPr/>
        </p:nvSpPr>
        <p:spPr bwMode="auto">
          <a:xfrm>
            <a:off x="838200" y="5791200"/>
            <a:ext cx="7772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latin typeface="Arial" panose="020B0604020202020204" pitchFamily="34" charset="0"/>
              </a:rPr>
              <a:t>À l'aide de convertisseurs statiques, la caractéristique du moteur peut être modifiése à volonté</a:t>
            </a:r>
            <a:endParaRPr lang="en-US" altLang="fr-FR" sz="1600" b="1">
              <a:latin typeface="Arial" panose="020B0604020202020204" pitchFamily="34" charset="0"/>
            </a:endParaRPr>
          </a:p>
        </p:txBody>
      </p:sp>
      <p:sp>
        <p:nvSpPr>
          <p:cNvPr id="24" name="Espace réservé du pied de page 23"/>
          <p:cNvSpPr>
            <a:spLocks noGrp="1"/>
          </p:cNvSpPr>
          <p:nvPr>
            <p:ph type="ftr" sz="quarter" idx="11"/>
          </p:nvPr>
        </p:nvSpPr>
        <p:spPr/>
        <p:txBody>
          <a:bodyPr/>
          <a:lstStyle/>
          <a:p>
            <a:pPr>
              <a:defRPr/>
            </a:pPr>
            <a:r>
              <a:rPr lang="fr-FR" smtClean="0"/>
              <a:t>Commande des machines  1. Intro         Ali NEJMI</a:t>
            </a:r>
            <a:endParaRPr lang="fr-FR"/>
          </a:p>
        </p:txBody>
      </p:sp>
      <p:sp>
        <p:nvSpPr>
          <p:cNvPr id="25" name="Text Box 20"/>
          <p:cNvSpPr txBox="1">
            <a:spLocks noChangeArrowheads="1"/>
          </p:cNvSpPr>
          <p:nvPr/>
        </p:nvSpPr>
        <p:spPr bwMode="auto">
          <a:xfrm>
            <a:off x="2743200" y="2438400"/>
            <a:ext cx="9604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Synchrone </a:t>
            </a:r>
          </a:p>
        </p:txBody>
      </p:sp>
      <p:sp>
        <p:nvSpPr>
          <p:cNvPr id="26" name="Text Box 21"/>
          <p:cNvSpPr txBox="1">
            <a:spLocks noChangeArrowheads="1"/>
          </p:cNvSpPr>
          <p:nvPr/>
        </p:nvSpPr>
        <p:spPr bwMode="auto">
          <a:xfrm>
            <a:off x="2590800" y="4648200"/>
            <a:ext cx="9763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asynchrone</a:t>
            </a:r>
          </a:p>
        </p:txBody>
      </p:sp>
      <p:sp>
        <p:nvSpPr>
          <p:cNvPr id="27" name="Text Box 22"/>
          <p:cNvSpPr txBox="1">
            <a:spLocks noChangeArrowheads="1"/>
          </p:cNvSpPr>
          <p:nvPr/>
        </p:nvSpPr>
        <p:spPr bwMode="auto">
          <a:xfrm>
            <a:off x="5562600" y="2667000"/>
            <a:ext cx="14906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DC Séparé / shunt </a:t>
            </a:r>
          </a:p>
        </p:txBody>
      </p:sp>
      <p:sp>
        <p:nvSpPr>
          <p:cNvPr id="28" name="Text Box 23"/>
          <p:cNvSpPr txBox="1">
            <a:spLocks noChangeArrowheads="1"/>
          </p:cNvSpPr>
          <p:nvPr/>
        </p:nvSpPr>
        <p:spPr bwMode="auto">
          <a:xfrm>
            <a:off x="5715000" y="4495800"/>
            <a:ext cx="7810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DC série</a:t>
            </a:r>
          </a:p>
        </p:txBody>
      </p:sp>
      <p:pic>
        <p:nvPicPr>
          <p:cNvPr id="53272" name="Picture 24"/>
          <p:cNvPicPr>
            <a:picLocks noChangeAspect="1" noChangeArrowheads="1"/>
          </p:cNvPicPr>
          <p:nvPr/>
        </p:nvPicPr>
        <p:blipFill>
          <a:blip r:embed="rId3">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2057400" y="1676400"/>
            <a:ext cx="53657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73" name="Picture 25"/>
          <p:cNvPicPr>
            <a:picLocks noChangeAspect="1" noChangeArrowheads="1"/>
          </p:cNvPicPr>
          <p:nvPr/>
        </p:nvPicPr>
        <p:blipFill>
          <a:blip r:embed="rId4">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2057400" y="3810000"/>
            <a:ext cx="544671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ZoneTexte 29"/>
          <p:cNvSpPr txBox="1">
            <a:spLocks noChangeArrowheads="1"/>
          </p:cNvSpPr>
          <p:nvPr/>
        </p:nvSpPr>
        <p:spPr bwMode="auto">
          <a:xfrm>
            <a:off x="6934200" y="33528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couple</a:t>
            </a:r>
          </a:p>
        </p:txBody>
      </p:sp>
      <p:sp>
        <p:nvSpPr>
          <p:cNvPr id="31" name="ZoneTexte 30"/>
          <p:cNvSpPr txBox="1">
            <a:spLocks noChangeArrowheads="1"/>
          </p:cNvSpPr>
          <p:nvPr/>
        </p:nvSpPr>
        <p:spPr bwMode="auto">
          <a:xfrm>
            <a:off x="1371600" y="1752600"/>
            <a:ext cx="129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Vitesse</a:t>
            </a:r>
          </a:p>
        </p:txBody>
      </p:sp>
      <p:sp>
        <p:nvSpPr>
          <p:cNvPr id="75792" name="ZoneTexte 31"/>
          <p:cNvSpPr txBox="1">
            <a:spLocks noChangeArrowheads="1"/>
          </p:cNvSpPr>
          <p:nvPr/>
        </p:nvSpPr>
        <p:spPr bwMode="auto">
          <a:xfrm>
            <a:off x="1066800" y="1143000"/>
            <a:ext cx="800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La tension, le courant, fréquence sont gardés constants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7350"/>
                                        </p:tgtEl>
                                        <p:attrNameLst>
                                          <p:attrName>style.visibility</p:attrName>
                                        </p:attrNameLst>
                                      </p:cBhvr>
                                      <p:to>
                                        <p:strVal val="visible"/>
                                      </p:to>
                                    </p:set>
                                    <p:animEffect transition="in" filter="checkerboard(across)">
                                      <p:cBhvr>
                                        <p:cTn id="7" dur="500"/>
                                        <p:tgtEl>
                                          <p:spTgt spid="5735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checkerboard(across)">
                                      <p:cBhvr>
                                        <p:cTn id="10" dur="500"/>
                                        <p:tgtEl>
                                          <p:spTgt spid="2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checkerboard(across)">
                                      <p:cBhvr>
                                        <p:cTn id="13" dur="500"/>
                                        <p:tgtEl>
                                          <p:spTgt spid="26"/>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checkerboard(across)">
                                      <p:cBhvr>
                                        <p:cTn id="16" dur="500"/>
                                        <p:tgtEl>
                                          <p:spTgt spid="27"/>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checkerboard(across)">
                                      <p:cBhvr>
                                        <p:cTn id="19" dur="500"/>
                                        <p:tgtEl>
                                          <p:spTgt spid="28"/>
                                        </p:tgtEl>
                                      </p:cBhvr>
                                    </p:animEffect>
                                  </p:childTnLst>
                                </p:cTn>
                              </p:par>
                              <p:par>
                                <p:cTn id="20" presetID="5" presetClass="entr" presetSubtype="10" fill="hold" nodeType="withEffect">
                                  <p:stCondLst>
                                    <p:cond delay="0"/>
                                  </p:stCondLst>
                                  <p:childTnLst>
                                    <p:set>
                                      <p:cBhvr>
                                        <p:cTn id="21" dur="1" fill="hold">
                                          <p:stCondLst>
                                            <p:cond delay="0"/>
                                          </p:stCondLst>
                                        </p:cTn>
                                        <p:tgtEl>
                                          <p:spTgt spid="53272"/>
                                        </p:tgtEl>
                                        <p:attrNameLst>
                                          <p:attrName>style.visibility</p:attrName>
                                        </p:attrNameLst>
                                      </p:cBhvr>
                                      <p:to>
                                        <p:strVal val="visible"/>
                                      </p:to>
                                    </p:set>
                                    <p:animEffect transition="in" filter="checkerboard(across)">
                                      <p:cBhvr>
                                        <p:cTn id="22" dur="500"/>
                                        <p:tgtEl>
                                          <p:spTgt spid="53272"/>
                                        </p:tgtEl>
                                      </p:cBhvr>
                                    </p:animEffect>
                                  </p:childTnLst>
                                </p:cTn>
                              </p:par>
                              <p:par>
                                <p:cTn id="23" presetID="5" presetClass="entr" presetSubtype="10" fill="hold" nodeType="withEffect">
                                  <p:stCondLst>
                                    <p:cond delay="0"/>
                                  </p:stCondLst>
                                  <p:childTnLst>
                                    <p:set>
                                      <p:cBhvr>
                                        <p:cTn id="24" dur="1" fill="hold">
                                          <p:stCondLst>
                                            <p:cond delay="0"/>
                                          </p:stCondLst>
                                        </p:cTn>
                                        <p:tgtEl>
                                          <p:spTgt spid="53273"/>
                                        </p:tgtEl>
                                        <p:attrNameLst>
                                          <p:attrName>style.visibility</p:attrName>
                                        </p:attrNameLst>
                                      </p:cBhvr>
                                      <p:to>
                                        <p:strVal val="visible"/>
                                      </p:to>
                                    </p:set>
                                    <p:animEffect transition="in" filter="checkerboard(across)">
                                      <p:cBhvr>
                                        <p:cTn id="25" dur="500"/>
                                        <p:tgtEl>
                                          <p:spTgt spid="53273"/>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checkerboard(across)">
                                      <p:cBhvr>
                                        <p:cTn id="28" dur="500"/>
                                        <p:tgtEl>
                                          <p:spTgt spid="30"/>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checkerboard(across)">
                                      <p:cBhvr>
                                        <p:cTn id="3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0" grpId="0"/>
      <p:bldP spid="25" grpId="0"/>
      <p:bldP spid="26" grpId="0"/>
      <p:bldP spid="27" grpId="0"/>
      <p:bldP spid="28" grpId="0"/>
      <p:bldP spid="30" grpId="0"/>
      <p:bldP spid="3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7782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E3BBFB4-6418-424E-B79E-5536864768E5}" type="slidenum">
              <a:rPr lang="en-US" altLang="fr-FR" sz="1000" smtClean="0">
                <a:solidFill>
                  <a:srgbClr val="292929"/>
                </a:solidFill>
                <a:latin typeface="Arial" panose="020B0604020202020204" pitchFamily="34" charset="0"/>
              </a:rPr>
              <a:pPr>
                <a:spcBef>
                  <a:spcPct val="0"/>
                </a:spcBef>
                <a:buClrTx/>
                <a:buSzTx/>
                <a:buFontTx/>
                <a:buNone/>
              </a:pPr>
              <a:t>36</a:t>
            </a:fld>
            <a:endParaRPr lang="en-US" altLang="fr-FR" sz="1000" smtClean="0">
              <a:solidFill>
                <a:srgbClr val="292929"/>
              </a:solidFill>
              <a:latin typeface="Arial" panose="020B0604020202020204" pitchFamily="34" charset="0"/>
            </a:endParaRPr>
          </a:p>
        </p:txBody>
      </p:sp>
      <p:sp>
        <p:nvSpPr>
          <p:cNvPr id="4"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p>
        </p:txBody>
      </p:sp>
      <p:sp>
        <p:nvSpPr>
          <p:cNvPr id="77829"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8374" name="Text Box 4"/>
          <p:cNvSpPr txBox="1">
            <a:spLocks noChangeArrowheads="1"/>
          </p:cNvSpPr>
          <p:nvPr/>
        </p:nvSpPr>
        <p:spPr bwMode="auto">
          <a:xfrm>
            <a:off x="685800" y="762000"/>
            <a:ext cx="6934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Caractéristique couple-vitesse de la charge</a:t>
            </a:r>
            <a:endParaRPr lang="en-US" altLang="fr-FR" sz="1800" b="1">
              <a:solidFill>
                <a:srgbClr val="CC6600"/>
              </a:solidFill>
              <a:latin typeface="Arial" panose="020B0604020202020204" pitchFamily="34" charset="0"/>
            </a:endParaRPr>
          </a:p>
        </p:txBody>
      </p:sp>
      <p:sp>
        <p:nvSpPr>
          <p:cNvPr id="7" name="Rectangle 6"/>
          <p:cNvSpPr/>
          <p:nvPr/>
        </p:nvSpPr>
        <p:spPr>
          <a:xfrm>
            <a:off x="762000" y="1341438"/>
            <a:ext cx="7772400" cy="1477962"/>
          </a:xfrm>
          <a:prstGeom prst="rect">
            <a:avLst/>
          </a:prstGeom>
        </p:spPr>
        <p:txBody>
          <a:bodyPr>
            <a:spAutoFit/>
          </a:bodyPr>
          <a:lstStyle/>
          <a:p>
            <a:pPr algn="just" eaLnBrk="1" hangingPunct="1">
              <a:defRPr/>
            </a:pPr>
            <a:r>
              <a:rPr lang="fr-FR" dirty="0">
                <a:latin typeface="Arial" charset="0"/>
                <a:cs typeface="Arial" charset="0"/>
              </a:rPr>
              <a:t>En règle générale, le couple de charge T</a:t>
            </a:r>
            <a:r>
              <a:rPr lang="fr-FR" baseline="-25000" dirty="0">
                <a:latin typeface="Arial" charset="0"/>
                <a:cs typeface="Arial" charset="0"/>
              </a:rPr>
              <a:t>L</a:t>
            </a:r>
            <a:r>
              <a:rPr lang="fr-FR" dirty="0">
                <a:latin typeface="Arial" charset="0"/>
                <a:cs typeface="Arial" charset="0"/>
              </a:rPr>
              <a:t> peut être classé en deux types : </a:t>
            </a:r>
          </a:p>
          <a:p>
            <a:pPr marL="342900" indent="-342900" algn="just" eaLnBrk="1" hangingPunct="1">
              <a:defRPr/>
            </a:pPr>
            <a:r>
              <a:rPr lang="fr-FR" dirty="0">
                <a:latin typeface="Arial" charset="0"/>
                <a:cs typeface="Arial" charset="0"/>
              </a:rPr>
              <a:t>1)Le couple de charge passif (couple de frottement), et </a:t>
            </a:r>
          </a:p>
          <a:p>
            <a:pPr marL="342900" indent="-342900" algn="just" eaLnBrk="1" hangingPunct="1">
              <a:defRPr/>
            </a:pPr>
            <a:r>
              <a:rPr lang="fr-FR" dirty="0">
                <a:latin typeface="Arial" charset="0"/>
                <a:cs typeface="Arial" charset="0"/>
              </a:rPr>
              <a:t>2) Le couple de charge actif.</a:t>
            </a:r>
          </a:p>
          <a:p>
            <a:pPr marL="342900" indent="-342900" algn="just" eaLnBrk="1" hangingPunct="1">
              <a:defRPr/>
            </a:pPr>
            <a:r>
              <a:rPr lang="fr-FR" dirty="0">
                <a:latin typeface="Arial" charset="0"/>
                <a:cs typeface="Arial" charset="0"/>
              </a:rPr>
              <a:t> </a:t>
            </a:r>
          </a:p>
          <a:p>
            <a:pPr algn="just" eaLnBrk="1" hangingPunct="1">
              <a:defRPr/>
            </a:pPr>
            <a:endParaRPr lang="fr-FR" dirty="0">
              <a:latin typeface="Arial" charset="0"/>
              <a:cs typeface="Arial" charset="0"/>
            </a:endParaRPr>
          </a:p>
        </p:txBody>
      </p:sp>
      <p:sp>
        <p:nvSpPr>
          <p:cNvPr id="8" name="Rectangle 7"/>
          <p:cNvSpPr>
            <a:spLocks noChangeArrowheads="1"/>
          </p:cNvSpPr>
          <p:nvPr/>
        </p:nvSpPr>
        <p:spPr bwMode="auto">
          <a:xfrm>
            <a:off x="762000" y="4876800"/>
            <a:ext cx="7696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Arial" panose="020B0604020202020204" pitchFamily="34" charset="0"/>
              <a:buChar char="•"/>
            </a:pPr>
            <a:r>
              <a:rPr lang="fr-FR" altLang="fr-FR" sz="1800">
                <a:latin typeface="Arial" panose="020B0604020202020204" pitchFamily="34" charset="0"/>
              </a:rPr>
              <a:t>  Le couple de frottement existe uniquement quand il y a mouvement et il s'oppose toujours au couple moteur. </a:t>
            </a:r>
          </a:p>
          <a:p>
            <a:pPr algn="just" eaLnBrk="1" hangingPunct="1">
              <a:spcBef>
                <a:spcPct val="0"/>
              </a:spcBef>
              <a:buClrTx/>
              <a:buSzTx/>
              <a:buFont typeface="Arial" panose="020B0604020202020204" pitchFamily="34" charset="0"/>
              <a:buChar char="•"/>
            </a:pPr>
            <a:r>
              <a:rPr lang="fr-FR" altLang="fr-FR" sz="1800">
                <a:latin typeface="Arial" panose="020B0604020202020204" pitchFamily="34" charset="0"/>
              </a:rPr>
              <a:t>  Les pièces mobiles du moteur et de la charge constituent le couple de frottement. Il existe plusieurs types de frottement:</a:t>
            </a:r>
          </a:p>
        </p:txBody>
      </p:sp>
      <p:sp>
        <p:nvSpPr>
          <p:cNvPr id="10" name="Rectangle 9"/>
          <p:cNvSpPr>
            <a:spLocks noChangeArrowheads="1"/>
          </p:cNvSpPr>
          <p:nvPr/>
        </p:nvSpPr>
        <p:spPr bwMode="auto">
          <a:xfrm>
            <a:off x="731838" y="2971800"/>
            <a:ext cx="77724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Arial" panose="020B0604020202020204" pitchFamily="34" charset="0"/>
              <a:buChar char="•"/>
            </a:pPr>
            <a:r>
              <a:rPr lang="fr-FR" altLang="fr-FR" sz="1800">
                <a:latin typeface="Arial" panose="020B0604020202020204" pitchFamily="34" charset="0"/>
              </a:rPr>
              <a:t>  Le couple de charge actif est indépendant de la direction du mouvement.</a:t>
            </a:r>
          </a:p>
          <a:p>
            <a:pPr eaLnBrk="1" hangingPunct="1">
              <a:spcBef>
                <a:spcPct val="0"/>
              </a:spcBef>
              <a:buClrTx/>
              <a:buSzTx/>
              <a:buFont typeface="Arial" panose="020B0604020202020204" pitchFamily="34" charset="0"/>
              <a:buChar char="•"/>
            </a:pPr>
            <a:r>
              <a:rPr lang="fr-FR" altLang="fr-FR" sz="1800">
                <a:latin typeface="Arial" panose="020B0604020202020204" pitchFamily="34" charset="0"/>
              </a:rPr>
              <a:t> La direction du couple active est indépendante de la vitesse, il conserve le même sens même lorsque le sens de rotation s’inverse ou change, par exemple, gravité, de tension ou de compression subie par corps élastique. Ce type de couple est capable d’entrainer le moteur en équilibre.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4" grpId="0"/>
      <p:bldP spid="7" grpId="0"/>
      <p:bldP spid="8" grpId="0"/>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7987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3C82A02-A589-45EA-A618-6FB8BCD37169}" type="slidenum">
              <a:rPr lang="en-US" altLang="fr-FR" sz="1000" smtClean="0">
                <a:solidFill>
                  <a:srgbClr val="292929"/>
                </a:solidFill>
                <a:latin typeface="Arial" panose="020B0604020202020204" pitchFamily="34" charset="0"/>
              </a:rPr>
              <a:pPr>
                <a:spcBef>
                  <a:spcPct val="0"/>
                </a:spcBef>
                <a:buClrTx/>
                <a:buSzTx/>
                <a:buFontTx/>
                <a:buNone/>
              </a:pPr>
              <a:t>37</a:t>
            </a:fld>
            <a:endParaRPr lang="en-US" altLang="fr-FR" sz="1000" smtClean="0">
              <a:solidFill>
                <a:srgbClr val="292929"/>
              </a:solidFill>
              <a:latin typeface="Arial" panose="020B0604020202020204" pitchFamily="34" charset="0"/>
            </a:endParaRPr>
          </a:p>
        </p:txBody>
      </p:sp>
      <p:sp>
        <p:nvSpPr>
          <p:cNvPr id="4" name="Rectangle 3"/>
          <p:cNvSpPr>
            <a:spLocks noChangeArrowheads="1"/>
          </p:cNvSpPr>
          <p:nvPr/>
        </p:nvSpPr>
        <p:spPr bwMode="auto">
          <a:xfrm>
            <a:off x="914400" y="1778000"/>
            <a:ext cx="76962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 </a:t>
            </a:r>
            <a:r>
              <a:rPr lang="fr-FR" altLang="fr-FR" sz="1800" i="1" u="sng">
                <a:latin typeface="Arial" panose="020B0604020202020204" pitchFamily="34" charset="0"/>
              </a:rPr>
              <a:t>Frottement de Coulomb (frottements secs) </a:t>
            </a:r>
            <a:r>
              <a:rPr lang="fr-FR" altLang="fr-FR" sz="1800">
                <a:latin typeface="Arial" panose="020B0604020202020204" pitchFamily="34" charset="0"/>
              </a:rPr>
              <a:t>: existe dans les roulements, engrenages et freins. C'est presque indépendant de la vitesse.</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 </a:t>
            </a:r>
            <a:r>
              <a:rPr lang="fr-FR" altLang="fr-FR" sz="1800" i="1" u="sng">
                <a:latin typeface="Arial" panose="020B0604020202020204" pitchFamily="34" charset="0"/>
              </a:rPr>
              <a:t>Frottement visqueux </a:t>
            </a:r>
            <a:r>
              <a:rPr lang="fr-FR" altLang="fr-FR" sz="1800">
                <a:latin typeface="Arial" panose="020B0604020202020204" pitchFamily="34" charset="0"/>
              </a:rPr>
              <a:t>: existe dans les roulements lubrifiés en raison du flux laminaire du lubrifiant. Il est directement proportionnel à la vitesse.</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  </a:t>
            </a:r>
            <a:r>
              <a:rPr lang="fr-FR" altLang="fr-FR" sz="1800" i="1" u="sng">
                <a:latin typeface="Arial" panose="020B0604020202020204" pitchFamily="34" charset="0"/>
              </a:rPr>
              <a:t>Frottement de turbulence </a:t>
            </a:r>
            <a:r>
              <a:rPr lang="fr-FR" altLang="fr-FR" sz="1800">
                <a:latin typeface="Arial" panose="020B0604020202020204" pitchFamily="34" charset="0"/>
              </a:rPr>
              <a:t>: se produit en raison du flux de turbulence de l'air ou liquide. Il est directement proportionnel au carré de vitesse</a:t>
            </a:r>
          </a:p>
        </p:txBody>
      </p:sp>
      <p:sp>
        <p:nvSpPr>
          <p:cNvPr id="5"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p>
        </p:txBody>
      </p:sp>
      <p:sp>
        <p:nvSpPr>
          <p:cNvPr id="79878"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79879" name="Text Box 4"/>
          <p:cNvSpPr txBox="1">
            <a:spLocks noChangeArrowheads="1"/>
          </p:cNvSpPr>
          <p:nvPr/>
        </p:nvSpPr>
        <p:spPr bwMode="auto">
          <a:xfrm>
            <a:off x="685800" y="762000"/>
            <a:ext cx="6934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Caractéristique couple-vitesse de la charge</a:t>
            </a:r>
            <a:endParaRPr lang="en-US" altLang="fr-FR" sz="1800" b="1">
              <a:solidFill>
                <a:srgbClr val="CC6600"/>
              </a:solidFill>
              <a:latin typeface="Arial" panose="020B0604020202020204" pitchFamily="34" charset="0"/>
            </a:endParaRPr>
          </a:p>
        </p:txBody>
      </p:sp>
      <p:sp>
        <p:nvSpPr>
          <p:cNvPr id="8" name="Rectangle 7"/>
          <p:cNvSpPr>
            <a:spLocks noChangeArrowheads="1"/>
          </p:cNvSpPr>
          <p:nvPr/>
        </p:nvSpPr>
        <p:spPr bwMode="auto">
          <a:xfrm>
            <a:off x="762000" y="4343400"/>
            <a:ext cx="7696200" cy="20320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Dans les systèmes d'entraînement pratiques (moteur+charge), toutes les composantes de frottement décrits ci-dessus existent simultanément. Toutefois, dans la plupart des cas, seulement un ou deux composants sont dominant. Par exemple, un ventilateur ou une hélice ont généralement le frottement de turbulence dominant, tandis que dans les usines de papier et machines outils, celui prépondérant pourrait être le frottement visqueux.</a:t>
            </a:r>
          </a:p>
        </p:txBody>
      </p:sp>
      <p:sp>
        <p:nvSpPr>
          <p:cNvPr id="79881" name="Text Box 77"/>
          <p:cNvSpPr txBox="1">
            <a:spLocks noChangeArrowheads="1"/>
          </p:cNvSpPr>
          <p:nvPr/>
        </p:nvSpPr>
        <p:spPr bwMode="auto">
          <a:xfrm>
            <a:off x="685800" y="1219200"/>
            <a:ext cx="525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 1) Couple de frottement (charge passive)</a:t>
            </a:r>
            <a:endParaRPr lang="en-US" altLang="fr-FR" sz="1800" b="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heckerboard(across)">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81923" name="Espace réservé du numéro de diapositive 3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E83BACC-D1E3-4126-A932-EF7ECD677B6A}" type="slidenum">
              <a:rPr lang="en-US" altLang="fr-FR" sz="1000" smtClean="0">
                <a:solidFill>
                  <a:srgbClr val="292929"/>
                </a:solidFill>
                <a:latin typeface="Arial" panose="020B0604020202020204" pitchFamily="34" charset="0"/>
              </a:rPr>
              <a:pPr>
                <a:spcBef>
                  <a:spcPct val="0"/>
                </a:spcBef>
                <a:buClrTx/>
                <a:buSzTx/>
                <a:buFontTx/>
                <a:buNone/>
              </a:pPr>
              <a:t>38</a:t>
            </a:fld>
            <a:endParaRPr lang="en-US" altLang="fr-FR" sz="1000" smtClean="0">
              <a:solidFill>
                <a:srgbClr val="292929"/>
              </a:solidFill>
              <a:latin typeface="Arial" panose="020B0604020202020204" pitchFamily="34" charset="0"/>
            </a:endParaRPr>
          </a:p>
        </p:txBody>
      </p:sp>
      <p:sp>
        <p:nvSpPr>
          <p:cNvPr id="81924"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1925" name="Text Box 4"/>
          <p:cNvSpPr txBox="1">
            <a:spLocks noChangeArrowheads="1"/>
          </p:cNvSpPr>
          <p:nvPr/>
        </p:nvSpPr>
        <p:spPr bwMode="auto">
          <a:xfrm>
            <a:off x="685800" y="762000"/>
            <a:ext cx="6934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Caractéristique couple-vitesse de la charge</a:t>
            </a:r>
            <a:endParaRPr lang="en-US" altLang="fr-FR" sz="1800" b="1">
              <a:solidFill>
                <a:srgbClr val="CC6600"/>
              </a:solidFill>
              <a:latin typeface="Arial" panose="020B0604020202020204" pitchFamily="34" charset="0"/>
            </a:endParaRPr>
          </a:p>
        </p:txBody>
      </p:sp>
      <p:sp>
        <p:nvSpPr>
          <p:cNvPr id="81926" name="Text Box 18"/>
          <p:cNvSpPr txBox="1">
            <a:spLocks noChangeArrowheads="1"/>
          </p:cNvSpPr>
          <p:nvPr/>
        </p:nvSpPr>
        <p:spPr bwMode="auto">
          <a:xfrm>
            <a:off x="1600200" y="2133600"/>
            <a:ext cx="9032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vitesse</a:t>
            </a:r>
          </a:p>
        </p:txBody>
      </p:sp>
      <p:sp>
        <p:nvSpPr>
          <p:cNvPr id="81927" name="Text Box 19"/>
          <p:cNvSpPr txBox="1">
            <a:spLocks noChangeArrowheads="1"/>
          </p:cNvSpPr>
          <p:nvPr/>
        </p:nvSpPr>
        <p:spPr bwMode="auto">
          <a:xfrm>
            <a:off x="4800600" y="4114800"/>
            <a:ext cx="863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couple</a:t>
            </a:r>
          </a:p>
        </p:txBody>
      </p:sp>
      <p:sp>
        <p:nvSpPr>
          <p:cNvPr id="81928" name="Line 60"/>
          <p:cNvSpPr>
            <a:spLocks noChangeShapeType="1"/>
          </p:cNvSpPr>
          <p:nvPr/>
        </p:nvSpPr>
        <p:spPr bwMode="auto">
          <a:xfrm flipV="1">
            <a:off x="2560638" y="2349500"/>
            <a:ext cx="0" cy="3759200"/>
          </a:xfrm>
          <a:prstGeom prst="line">
            <a:avLst/>
          </a:prstGeom>
          <a:noFill/>
          <a:ln w="381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fr-FR"/>
          </a:p>
        </p:txBody>
      </p:sp>
      <p:sp>
        <p:nvSpPr>
          <p:cNvPr id="81929" name="Line 61"/>
          <p:cNvSpPr>
            <a:spLocks noChangeShapeType="1"/>
          </p:cNvSpPr>
          <p:nvPr/>
        </p:nvSpPr>
        <p:spPr bwMode="auto">
          <a:xfrm>
            <a:off x="381000" y="4192588"/>
            <a:ext cx="4419600" cy="0"/>
          </a:xfrm>
          <a:prstGeom prst="line">
            <a:avLst/>
          </a:prstGeom>
          <a:noFill/>
          <a:ln w="381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fr-FR"/>
          </a:p>
        </p:txBody>
      </p:sp>
      <p:sp>
        <p:nvSpPr>
          <p:cNvPr id="81930" name="Text Box 77"/>
          <p:cNvSpPr txBox="1">
            <a:spLocks noChangeArrowheads="1"/>
          </p:cNvSpPr>
          <p:nvPr/>
        </p:nvSpPr>
        <p:spPr bwMode="auto">
          <a:xfrm>
            <a:off x="685800" y="1295400"/>
            <a:ext cx="525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 1) Couple de frottement (charge passive)</a:t>
            </a:r>
            <a:endParaRPr lang="en-US" altLang="fr-FR" sz="1800" b="1">
              <a:latin typeface="Arial" panose="020B0604020202020204" pitchFamily="34" charset="0"/>
            </a:endParaRPr>
          </a:p>
        </p:txBody>
      </p:sp>
      <p:grpSp>
        <p:nvGrpSpPr>
          <p:cNvPr id="81931" name="Group 97"/>
          <p:cNvGrpSpPr>
            <a:grpSpLocks/>
          </p:cNvGrpSpPr>
          <p:nvPr/>
        </p:nvGrpSpPr>
        <p:grpSpPr bwMode="auto">
          <a:xfrm>
            <a:off x="1593850" y="2209800"/>
            <a:ext cx="5738813" cy="3962400"/>
            <a:chOff x="1004" y="1056"/>
            <a:chExt cx="3615" cy="2496"/>
          </a:xfrm>
        </p:grpSpPr>
        <p:sp>
          <p:nvSpPr>
            <p:cNvPr id="81949" name="Text Box 25"/>
            <p:cNvSpPr txBox="1">
              <a:spLocks noChangeArrowheads="1"/>
            </p:cNvSpPr>
            <p:nvPr/>
          </p:nvSpPr>
          <p:spPr bwMode="auto">
            <a:xfrm>
              <a:off x="2160" y="1056"/>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 C</a:t>
              </a:r>
              <a:r>
                <a:rPr lang="en-US" altLang="fr-FR" sz="1800" baseline="30000">
                  <a:latin typeface="Arial" panose="020B0604020202020204" pitchFamily="34" charset="0"/>
                </a:rPr>
                <a:t>ste</a:t>
              </a:r>
              <a:endParaRPr lang="en-US" altLang="fr-FR" sz="1800" baseline="30000">
                <a:latin typeface="Arial" panose="020B0604020202020204" pitchFamily="34" charset="0"/>
                <a:sym typeface="Symbol" panose="05050102010706020507" pitchFamily="18" charset="2"/>
              </a:endParaRPr>
            </a:p>
          </p:txBody>
        </p:sp>
        <p:grpSp>
          <p:nvGrpSpPr>
            <p:cNvPr id="81950" name="Group 93"/>
            <p:cNvGrpSpPr>
              <a:grpSpLocks/>
            </p:cNvGrpSpPr>
            <p:nvPr/>
          </p:nvGrpSpPr>
          <p:grpSpPr bwMode="auto">
            <a:xfrm>
              <a:off x="1004" y="1056"/>
              <a:ext cx="3615" cy="2496"/>
              <a:chOff x="1004" y="1056"/>
              <a:chExt cx="3615" cy="2496"/>
            </a:xfrm>
          </p:grpSpPr>
          <p:grpSp>
            <p:nvGrpSpPr>
              <p:cNvPr id="81951" name="Group 69"/>
              <p:cNvGrpSpPr>
                <a:grpSpLocks/>
              </p:cNvGrpSpPr>
              <p:nvPr/>
            </p:nvGrpSpPr>
            <p:grpSpPr bwMode="auto">
              <a:xfrm>
                <a:off x="2198" y="1056"/>
                <a:ext cx="54" cy="1247"/>
                <a:chOff x="7200" y="10639"/>
                <a:chExt cx="90" cy="1736"/>
              </a:xfrm>
            </p:grpSpPr>
            <p:sp>
              <p:nvSpPr>
                <p:cNvPr id="81956" name="Line 70"/>
                <p:cNvSpPr>
                  <a:spLocks noChangeShapeType="1"/>
                </p:cNvSpPr>
                <p:nvPr/>
              </p:nvSpPr>
              <p:spPr bwMode="auto">
                <a:xfrm>
                  <a:off x="7200" y="10639"/>
                  <a:ext cx="0" cy="1638"/>
                </a:xfrm>
                <a:prstGeom prst="line">
                  <a:avLst/>
                </a:prstGeom>
                <a:noFill/>
                <a:ln w="28575">
                  <a:solidFill>
                    <a:srgbClr val="00CC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1957" name="Freeform 71"/>
                <p:cNvSpPr>
                  <a:spLocks/>
                </p:cNvSpPr>
                <p:nvPr/>
              </p:nvSpPr>
              <p:spPr bwMode="auto">
                <a:xfrm>
                  <a:off x="7200" y="12270"/>
                  <a:ext cx="90" cy="105"/>
                </a:xfrm>
                <a:custGeom>
                  <a:avLst/>
                  <a:gdLst>
                    <a:gd name="T0" fmla="*/ 0 w 90"/>
                    <a:gd name="T1" fmla="*/ 0 h 105"/>
                    <a:gd name="T2" fmla="*/ 15 w 90"/>
                    <a:gd name="T3" fmla="*/ 83 h 105"/>
                    <a:gd name="T4" fmla="*/ 90 w 90"/>
                    <a:gd name="T5" fmla="*/ 105 h 105"/>
                    <a:gd name="T6" fmla="*/ 0 60000 65536"/>
                    <a:gd name="T7" fmla="*/ 0 60000 65536"/>
                    <a:gd name="T8" fmla="*/ 0 60000 65536"/>
                    <a:gd name="T9" fmla="*/ 0 w 90"/>
                    <a:gd name="T10" fmla="*/ 0 h 105"/>
                    <a:gd name="T11" fmla="*/ 90 w 90"/>
                    <a:gd name="T12" fmla="*/ 105 h 105"/>
                  </a:gdLst>
                  <a:ahLst/>
                  <a:cxnLst>
                    <a:cxn ang="T6">
                      <a:pos x="T0" y="T1"/>
                    </a:cxn>
                    <a:cxn ang="T7">
                      <a:pos x="T2" y="T3"/>
                    </a:cxn>
                    <a:cxn ang="T8">
                      <a:pos x="T4" y="T5"/>
                    </a:cxn>
                  </a:cxnLst>
                  <a:rect l="T9" t="T10" r="T11" b="T12"/>
                  <a:pathLst>
                    <a:path w="90" h="105">
                      <a:moveTo>
                        <a:pt x="0" y="0"/>
                      </a:moveTo>
                      <a:cubicBezTo>
                        <a:pt x="0" y="33"/>
                        <a:pt x="0" y="66"/>
                        <a:pt x="15" y="83"/>
                      </a:cubicBezTo>
                      <a:cubicBezTo>
                        <a:pt x="30" y="100"/>
                        <a:pt x="60" y="102"/>
                        <a:pt x="90" y="105"/>
                      </a:cubicBezTo>
                    </a:path>
                  </a:pathLst>
                </a:custGeom>
                <a:noFill/>
                <a:ln w="28575">
                  <a:solidFill>
                    <a:srgbClr val="00CC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81952" name="Group 72"/>
              <p:cNvGrpSpPr>
                <a:grpSpLocks/>
              </p:cNvGrpSpPr>
              <p:nvPr/>
            </p:nvGrpSpPr>
            <p:grpSpPr bwMode="auto">
              <a:xfrm flipH="1" flipV="1">
                <a:off x="1004" y="2305"/>
                <a:ext cx="55" cy="1247"/>
                <a:chOff x="7200" y="10639"/>
                <a:chExt cx="90" cy="1736"/>
              </a:xfrm>
            </p:grpSpPr>
            <p:sp>
              <p:nvSpPr>
                <p:cNvPr id="81954" name="Line 73"/>
                <p:cNvSpPr>
                  <a:spLocks noChangeShapeType="1"/>
                </p:cNvSpPr>
                <p:nvPr/>
              </p:nvSpPr>
              <p:spPr bwMode="auto">
                <a:xfrm>
                  <a:off x="7200" y="10639"/>
                  <a:ext cx="0" cy="1638"/>
                </a:xfrm>
                <a:prstGeom prst="line">
                  <a:avLst/>
                </a:prstGeom>
                <a:noFill/>
                <a:ln w="28575">
                  <a:solidFill>
                    <a:srgbClr val="00CC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1955" name="Freeform 74"/>
                <p:cNvSpPr>
                  <a:spLocks/>
                </p:cNvSpPr>
                <p:nvPr/>
              </p:nvSpPr>
              <p:spPr bwMode="auto">
                <a:xfrm>
                  <a:off x="7200" y="12270"/>
                  <a:ext cx="90" cy="105"/>
                </a:xfrm>
                <a:custGeom>
                  <a:avLst/>
                  <a:gdLst>
                    <a:gd name="T0" fmla="*/ 0 w 90"/>
                    <a:gd name="T1" fmla="*/ 0 h 105"/>
                    <a:gd name="T2" fmla="*/ 15 w 90"/>
                    <a:gd name="T3" fmla="*/ 83 h 105"/>
                    <a:gd name="T4" fmla="*/ 90 w 90"/>
                    <a:gd name="T5" fmla="*/ 105 h 105"/>
                    <a:gd name="T6" fmla="*/ 0 60000 65536"/>
                    <a:gd name="T7" fmla="*/ 0 60000 65536"/>
                    <a:gd name="T8" fmla="*/ 0 60000 65536"/>
                    <a:gd name="T9" fmla="*/ 0 w 90"/>
                    <a:gd name="T10" fmla="*/ 0 h 105"/>
                    <a:gd name="T11" fmla="*/ 90 w 90"/>
                    <a:gd name="T12" fmla="*/ 105 h 105"/>
                  </a:gdLst>
                  <a:ahLst/>
                  <a:cxnLst>
                    <a:cxn ang="T6">
                      <a:pos x="T0" y="T1"/>
                    </a:cxn>
                    <a:cxn ang="T7">
                      <a:pos x="T2" y="T3"/>
                    </a:cxn>
                    <a:cxn ang="T8">
                      <a:pos x="T4" y="T5"/>
                    </a:cxn>
                  </a:cxnLst>
                  <a:rect l="T9" t="T10" r="T11" b="T12"/>
                  <a:pathLst>
                    <a:path w="90" h="105">
                      <a:moveTo>
                        <a:pt x="0" y="0"/>
                      </a:moveTo>
                      <a:cubicBezTo>
                        <a:pt x="0" y="33"/>
                        <a:pt x="0" y="66"/>
                        <a:pt x="15" y="83"/>
                      </a:cubicBezTo>
                      <a:cubicBezTo>
                        <a:pt x="30" y="100"/>
                        <a:pt x="60" y="102"/>
                        <a:pt x="90" y="105"/>
                      </a:cubicBezTo>
                    </a:path>
                  </a:pathLst>
                </a:custGeom>
                <a:noFill/>
                <a:ln w="28575">
                  <a:solidFill>
                    <a:srgbClr val="00CC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sp>
            <p:nvSpPr>
              <p:cNvPr id="81953" name="Text Box 92"/>
              <p:cNvSpPr txBox="1">
                <a:spLocks noChangeArrowheads="1"/>
              </p:cNvSpPr>
              <p:nvPr/>
            </p:nvSpPr>
            <p:spPr bwMode="auto">
              <a:xfrm>
                <a:off x="2976" y="2736"/>
                <a:ext cx="16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rgbClr val="00CC00"/>
                    </a:solidFill>
                    <a:latin typeface="Arial" panose="020B0604020202020204" pitchFamily="34" charset="0"/>
                  </a:rPr>
                  <a:t>Frottement de Coulomb</a:t>
                </a:r>
              </a:p>
            </p:txBody>
          </p:sp>
        </p:grpSp>
      </p:grpSp>
      <p:grpSp>
        <p:nvGrpSpPr>
          <p:cNvPr id="6" name="Group 98"/>
          <p:cNvGrpSpPr>
            <a:grpSpLocks/>
          </p:cNvGrpSpPr>
          <p:nvPr/>
        </p:nvGrpSpPr>
        <p:grpSpPr bwMode="auto">
          <a:xfrm>
            <a:off x="798513" y="2490788"/>
            <a:ext cx="6264275" cy="3392487"/>
            <a:chOff x="503" y="1233"/>
            <a:chExt cx="3946" cy="2137"/>
          </a:xfrm>
        </p:grpSpPr>
        <p:sp>
          <p:nvSpPr>
            <p:cNvPr id="81940" name="Text Box 26"/>
            <p:cNvSpPr txBox="1">
              <a:spLocks noChangeArrowheads="1"/>
            </p:cNvSpPr>
            <p:nvPr/>
          </p:nvSpPr>
          <p:spPr bwMode="auto">
            <a:xfrm>
              <a:off x="2400" y="1488"/>
              <a:ext cx="57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 </a:t>
              </a:r>
              <a:r>
                <a:rPr lang="en-US" altLang="fr-FR" sz="1800">
                  <a:latin typeface="Arial" panose="020B0604020202020204" pitchFamily="34" charset="0"/>
                  <a:sym typeface="Symbol" panose="05050102010706020507" pitchFamily="18" charset="2"/>
                </a:rPr>
                <a:t></a:t>
              </a:r>
            </a:p>
          </p:txBody>
        </p:sp>
        <p:grpSp>
          <p:nvGrpSpPr>
            <p:cNvPr id="81941" name="Group 95"/>
            <p:cNvGrpSpPr>
              <a:grpSpLocks/>
            </p:cNvGrpSpPr>
            <p:nvPr/>
          </p:nvGrpSpPr>
          <p:grpSpPr bwMode="auto">
            <a:xfrm>
              <a:off x="503" y="1233"/>
              <a:ext cx="3946" cy="2137"/>
              <a:chOff x="503" y="1233"/>
              <a:chExt cx="3946" cy="2137"/>
            </a:xfrm>
          </p:grpSpPr>
          <p:grpSp>
            <p:nvGrpSpPr>
              <p:cNvPr id="81942" name="Group 76"/>
              <p:cNvGrpSpPr>
                <a:grpSpLocks/>
              </p:cNvGrpSpPr>
              <p:nvPr/>
            </p:nvGrpSpPr>
            <p:grpSpPr bwMode="auto">
              <a:xfrm>
                <a:off x="503" y="1233"/>
                <a:ext cx="2222" cy="2137"/>
                <a:chOff x="1223" y="1233"/>
                <a:chExt cx="2222" cy="2137"/>
              </a:xfrm>
            </p:grpSpPr>
            <p:sp>
              <p:nvSpPr>
                <p:cNvPr id="81944" name="Line 62"/>
                <p:cNvSpPr>
                  <a:spLocks noChangeShapeType="1"/>
                </p:cNvSpPr>
                <p:nvPr/>
              </p:nvSpPr>
              <p:spPr bwMode="auto">
                <a:xfrm flipH="1">
                  <a:off x="2416" y="1233"/>
                  <a:ext cx="1029" cy="976"/>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1945" name="Freeform 65"/>
                <p:cNvSpPr>
                  <a:spLocks/>
                </p:cNvSpPr>
                <p:nvPr/>
              </p:nvSpPr>
              <p:spPr bwMode="auto">
                <a:xfrm>
                  <a:off x="2402" y="2206"/>
                  <a:ext cx="40" cy="92"/>
                </a:xfrm>
                <a:custGeom>
                  <a:avLst/>
                  <a:gdLst>
                    <a:gd name="T0" fmla="*/ 1 w 67"/>
                    <a:gd name="T1" fmla="*/ 0 h 127"/>
                    <a:gd name="T2" fmla="*/ 1 w 67"/>
                    <a:gd name="T3" fmla="*/ 1 h 127"/>
                    <a:gd name="T4" fmla="*/ 1 w 67"/>
                    <a:gd name="T5" fmla="*/ 1 h 127"/>
                    <a:gd name="T6" fmla="*/ 0 60000 65536"/>
                    <a:gd name="T7" fmla="*/ 0 60000 65536"/>
                    <a:gd name="T8" fmla="*/ 0 60000 65536"/>
                    <a:gd name="T9" fmla="*/ 0 w 67"/>
                    <a:gd name="T10" fmla="*/ 0 h 127"/>
                    <a:gd name="T11" fmla="*/ 67 w 67"/>
                    <a:gd name="T12" fmla="*/ 127 h 127"/>
                  </a:gdLst>
                  <a:ahLst/>
                  <a:cxnLst>
                    <a:cxn ang="T6">
                      <a:pos x="T0" y="T1"/>
                    </a:cxn>
                    <a:cxn ang="T7">
                      <a:pos x="T2" y="T3"/>
                    </a:cxn>
                    <a:cxn ang="T8">
                      <a:pos x="T4" y="T5"/>
                    </a:cxn>
                  </a:cxnLst>
                  <a:rect l="T9" t="T10" r="T11" b="T12"/>
                  <a:pathLst>
                    <a:path w="67" h="127">
                      <a:moveTo>
                        <a:pt x="22" y="0"/>
                      </a:moveTo>
                      <a:cubicBezTo>
                        <a:pt x="11" y="34"/>
                        <a:pt x="0" y="69"/>
                        <a:pt x="7" y="90"/>
                      </a:cubicBezTo>
                      <a:cubicBezTo>
                        <a:pt x="14" y="111"/>
                        <a:pt x="40" y="119"/>
                        <a:pt x="67" y="127"/>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nvGrpSpPr>
                <p:cNvPr id="81946" name="Group 66"/>
                <p:cNvGrpSpPr>
                  <a:grpSpLocks/>
                </p:cNvGrpSpPr>
                <p:nvPr/>
              </p:nvGrpSpPr>
              <p:grpSpPr bwMode="auto">
                <a:xfrm flipH="1" flipV="1">
                  <a:off x="1223" y="2306"/>
                  <a:ext cx="1043" cy="1064"/>
                  <a:chOff x="6938" y="12664"/>
                  <a:chExt cx="1713" cy="1481"/>
                </a:xfrm>
              </p:grpSpPr>
              <p:sp>
                <p:nvSpPr>
                  <p:cNvPr id="81947" name="Line 67"/>
                  <p:cNvSpPr>
                    <a:spLocks noChangeShapeType="1"/>
                  </p:cNvSpPr>
                  <p:nvPr/>
                </p:nvSpPr>
                <p:spPr bwMode="auto">
                  <a:xfrm flipH="1">
                    <a:off x="6962" y="12664"/>
                    <a:ext cx="1689" cy="1358"/>
                  </a:xfrm>
                  <a:prstGeom prst="line">
                    <a:avLst/>
                  </a:prstGeom>
                  <a:noFill/>
                  <a:ln w="28575">
                    <a:solidFill>
                      <a:srgbClr val="00008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1948" name="Freeform 68"/>
                  <p:cNvSpPr>
                    <a:spLocks/>
                  </p:cNvSpPr>
                  <p:nvPr/>
                </p:nvSpPr>
                <p:spPr bwMode="auto">
                  <a:xfrm>
                    <a:off x="6938" y="14018"/>
                    <a:ext cx="67" cy="127"/>
                  </a:xfrm>
                  <a:custGeom>
                    <a:avLst/>
                    <a:gdLst>
                      <a:gd name="T0" fmla="*/ 22 w 67"/>
                      <a:gd name="T1" fmla="*/ 0 h 127"/>
                      <a:gd name="T2" fmla="*/ 7 w 67"/>
                      <a:gd name="T3" fmla="*/ 90 h 127"/>
                      <a:gd name="T4" fmla="*/ 67 w 67"/>
                      <a:gd name="T5" fmla="*/ 127 h 127"/>
                      <a:gd name="T6" fmla="*/ 0 60000 65536"/>
                      <a:gd name="T7" fmla="*/ 0 60000 65536"/>
                      <a:gd name="T8" fmla="*/ 0 60000 65536"/>
                      <a:gd name="T9" fmla="*/ 0 w 67"/>
                      <a:gd name="T10" fmla="*/ 0 h 127"/>
                      <a:gd name="T11" fmla="*/ 67 w 67"/>
                      <a:gd name="T12" fmla="*/ 127 h 127"/>
                    </a:gdLst>
                    <a:ahLst/>
                    <a:cxnLst>
                      <a:cxn ang="T6">
                        <a:pos x="T0" y="T1"/>
                      </a:cxn>
                      <a:cxn ang="T7">
                        <a:pos x="T2" y="T3"/>
                      </a:cxn>
                      <a:cxn ang="T8">
                        <a:pos x="T4" y="T5"/>
                      </a:cxn>
                    </a:cxnLst>
                    <a:rect l="T9" t="T10" r="T11" b="T12"/>
                    <a:pathLst>
                      <a:path w="67" h="127">
                        <a:moveTo>
                          <a:pt x="22" y="0"/>
                        </a:moveTo>
                        <a:cubicBezTo>
                          <a:pt x="11" y="34"/>
                          <a:pt x="0" y="69"/>
                          <a:pt x="7" y="90"/>
                        </a:cubicBezTo>
                        <a:cubicBezTo>
                          <a:pt x="14" y="111"/>
                          <a:pt x="40" y="119"/>
                          <a:pt x="67" y="127"/>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sp>
            <p:nvSpPr>
              <p:cNvPr id="81943" name="Text Box 94"/>
              <p:cNvSpPr txBox="1">
                <a:spLocks noChangeArrowheads="1"/>
              </p:cNvSpPr>
              <p:nvPr/>
            </p:nvSpPr>
            <p:spPr bwMode="auto">
              <a:xfrm>
                <a:off x="2976" y="3031"/>
                <a:ext cx="14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rgbClr val="000099"/>
                    </a:solidFill>
                    <a:latin typeface="Arial" panose="020B0604020202020204" pitchFamily="34" charset="0"/>
                  </a:rPr>
                  <a:t>Frottement visqueux </a:t>
                </a:r>
              </a:p>
            </p:txBody>
          </p:sp>
        </p:grpSp>
      </p:grpSp>
      <p:grpSp>
        <p:nvGrpSpPr>
          <p:cNvPr id="10" name="Group 99"/>
          <p:cNvGrpSpPr>
            <a:grpSpLocks/>
          </p:cNvGrpSpPr>
          <p:nvPr/>
        </p:nvGrpSpPr>
        <p:grpSpPr bwMode="auto">
          <a:xfrm>
            <a:off x="722313" y="2514600"/>
            <a:ext cx="7623175" cy="3646488"/>
            <a:chOff x="455" y="1248"/>
            <a:chExt cx="4802" cy="2297"/>
          </a:xfrm>
        </p:grpSpPr>
        <p:sp>
          <p:nvSpPr>
            <p:cNvPr id="81935" name="Text Box 27"/>
            <p:cNvSpPr txBox="1">
              <a:spLocks noChangeArrowheads="1"/>
            </p:cNvSpPr>
            <p:nvPr/>
          </p:nvSpPr>
          <p:spPr bwMode="auto">
            <a:xfrm>
              <a:off x="1728" y="1248"/>
              <a:ext cx="62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 </a:t>
              </a:r>
              <a:r>
                <a:rPr lang="en-US" altLang="fr-FR" sz="1800">
                  <a:latin typeface="Arial" panose="020B0604020202020204" pitchFamily="34" charset="0"/>
                  <a:sym typeface="Symbol" panose="05050102010706020507" pitchFamily="18" charset="2"/>
                </a:rPr>
                <a:t></a:t>
              </a:r>
              <a:r>
                <a:rPr lang="en-US" altLang="fr-FR" sz="1800" baseline="30000">
                  <a:latin typeface="Arial" panose="020B0604020202020204" pitchFamily="34" charset="0"/>
                  <a:sym typeface="Symbol" panose="05050102010706020507" pitchFamily="18" charset="2"/>
                </a:rPr>
                <a:t>2</a:t>
              </a:r>
              <a:endParaRPr lang="en-US" altLang="fr-FR" sz="1800">
                <a:latin typeface="Arial" panose="020B0604020202020204" pitchFamily="34" charset="0"/>
                <a:sym typeface="Symbol" panose="05050102010706020507" pitchFamily="18" charset="2"/>
              </a:endParaRPr>
            </a:p>
          </p:txBody>
        </p:sp>
        <p:grpSp>
          <p:nvGrpSpPr>
            <p:cNvPr id="81936" name="Group 75"/>
            <p:cNvGrpSpPr>
              <a:grpSpLocks/>
            </p:cNvGrpSpPr>
            <p:nvPr/>
          </p:nvGrpSpPr>
          <p:grpSpPr bwMode="auto">
            <a:xfrm>
              <a:off x="455" y="1308"/>
              <a:ext cx="2314" cy="1996"/>
              <a:chOff x="1175" y="1308"/>
              <a:chExt cx="2314" cy="1996"/>
            </a:xfrm>
          </p:grpSpPr>
          <p:sp>
            <p:nvSpPr>
              <p:cNvPr id="81938" name="Freeform 63"/>
              <p:cNvSpPr>
                <a:spLocks/>
              </p:cNvSpPr>
              <p:nvPr/>
            </p:nvSpPr>
            <p:spPr bwMode="auto">
              <a:xfrm>
                <a:off x="2333" y="1308"/>
                <a:ext cx="1156" cy="990"/>
              </a:xfrm>
              <a:custGeom>
                <a:avLst/>
                <a:gdLst>
                  <a:gd name="T0" fmla="*/ 0 w 1899"/>
                  <a:gd name="T1" fmla="*/ 1 h 1378"/>
                  <a:gd name="T2" fmla="*/ 1 w 1899"/>
                  <a:gd name="T3" fmla="*/ 1 h 1378"/>
                  <a:gd name="T4" fmla="*/ 1 w 1899"/>
                  <a:gd name="T5" fmla="*/ 1 h 1378"/>
                  <a:gd name="T6" fmla="*/ 1 w 1899"/>
                  <a:gd name="T7" fmla="*/ 1 h 1378"/>
                  <a:gd name="T8" fmla="*/ 1 w 1899"/>
                  <a:gd name="T9" fmla="*/ 0 h 1378"/>
                  <a:gd name="T10" fmla="*/ 0 60000 65536"/>
                  <a:gd name="T11" fmla="*/ 0 60000 65536"/>
                  <a:gd name="T12" fmla="*/ 0 60000 65536"/>
                  <a:gd name="T13" fmla="*/ 0 60000 65536"/>
                  <a:gd name="T14" fmla="*/ 0 60000 65536"/>
                  <a:gd name="T15" fmla="*/ 0 w 1899"/>
                  <a:gd name="T16" fmla="*/ 0 h 1378"/>
                  <a:gd name="T17" fmla="*/ 1899 w 1899"/>
                  <a:gd name="T18" fmla="*/ 1378 h 1378"/>
                </a:gdLst>
                <a:ahLst/>
                <a:cxnLst>
                  <a:cxn ang="T10">
                    <a:pos x="T0" y="T1"/>
                  </a:cxn>
                  <a:cxn ang="T11">
                    <a:pos x="T2" y="T3"/>
                  </a:cxn>
                  <a:cxn ang="T12">
                    <a:pos x="T4" y="T5"/>
                  </a:cxn>
                  <a:cxn ang="T13">
                    <a:pos x="T6" y="T7"/>
                  </a:cxn>
                  <a:cxn ang="T14">
                    <a:pos x="T8" y="T9"/>
                  </a:cxn>
                </a:cxnLst>
                <a:rect l="T15" t="T16" r="T17" b="T18"/>
                <a:pathLst>
                  <a:path w="1899" h="1378">
                    <a:moveTo>
                      <a:pt x="0" y="1378"/>
                    </a:moveTo>
                    <a:cubicBezTo>
                      <a:pt x="52" y="1131"/>
                      <a:pt x="105" y="885"/>
                      <a:pt x="209" y="699"/>
                    </a:cubicBezTo>
                    <a:cubicBezTo>
                      <a:pt x="313" y="513"/>
                      <a:pt x="457" y="367"/>
                      <a:pt x="626" y="261"/>
                    </a:cubicBezTo>
                    <a:cubicBezTo>
                      <a:pt x="795" y="155"/>
                      <a:pt x="1009" y="106"/>
                      <a:pt x="1221" y="63"/>
                    </a:cubicBezTo>
                    <a:cubicBezTo>
                      <a:pt x="1433" y="20"/>
                      <a:pt x="1666" y="10"/>
                      <a:pt x="1899"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81939" name="Freeform 64"/>
              <p:cNvSpPr>
                <a:spLocks/>
              </p:cNvSpPr>
              <p:nvPr/>
            </p:nvSpPr>
            <p:spPr bwMode="auto">
              <a:xfrm flipH="1" flipV="1">
                <a:off x="1175" y="2314"/>
                <a:ext cx="1157" cy="990"/>
              </a:xfrm>
              <a:custGeom>
                <a:avLst/>
                <a:gdLst>
                  <a:gd name="T0" fmla="*/ 0 w 1899"/>
                  <a:gd name="T1" fmla="*/ 1 h 1378"/>
                  <a:gd name="T2" fmla="*/ 1 w 1899"/>
                  <a:gd name="T3" fmla="*/ 1 h 1378"/>
                  <a:gd name="T4" fmla="*/ 1 w 1899"/>
                  <a:gd name="T5" fmla="*/ 1 h 1378"/>
                  <a:gd name="T6" fmla="*/ 1 w 1899"/>
                  <a:gd name="T7" fmla="*/ 1 h 1378"/>
                  <a:gd name="T8" fmla="*/ 1 w 1899"/>
                  <a:gd name="T9" fmla="*/ 0 h 1378"/>
                  <a:gd name="T10" fmla="*/ 0 60000 65536"/>
                  <a:gd name="T11" fmla="*/ 0 60000 65536"/>
                  <a:gd name="T12" fmla="*/ 0 60000 65536"/>
                  <a:gd name="T13" fmla="*/ 0 60000 65536"/>
                  <a:gd name="T14" fmla="*/ 0 60000 65536"/>
                  <a:gd name="T15" fmla="*/ 0 w 1899"/>
                  <a:gd name="T16" fmla="*/ 0 h 1378"/>
                  <a:gd name="T17" fmla="*/ 1899 w 1899"/>
                  <a:gd name="T18" fmla="*/ 1378 h 1378"/>
                </a:gdLst>
                <a:ahLst/>
                <a:cxnLst>
                  <a:cxn ang="T10">
                    <a:pos x="T0" y="T1"/>
                  </a:cxn>
                  <a:cxn ang="T11">
                    <a:pos x="T2" y="T3"/>
                  </a:cxn>
                  <a:cxn ang="T12">
                    <a:pos x="T4" y="T5"/>
                  </a:cxn>
                  <a:cxn ang="T13">
                    <a:pos x="T6" y="T7"/>
                  </a:cxn>
                  <a:cxn ang="T14">
                    <a:pos x="T8" y="T9"/>
                  </a:cxn>
                </a:cxnLst>
                <a:rect l="T15" t="T16" r="T17" b="T18"/>
                <a:pathLst>
                  <a:path w="1899" h="1378">
                    <a:moveTo>
                      <a:pt x="0" y="1378"/>
                    </a:moveTo>
                    <a:cubicBezTo>
                      <a:pt x="52" y="1131"/>
                      <a:pt x="105" y="885"/>
                      <a:pt x="209" y="699"/>
                    </a:cubicBezTo>
                    <a:cubicBezTo>
                      <a:pt x="313" y="513"/>
                      <a:pt x="457" y="367"/>
                      <a:pt x="626" y="261"/>
                    </a:cubicBezTo>
                    <a:cubicBezTo>
                      <a:pt x="795" y="155"/>
                      <a:pt x="1009" y="106"/>
                      <a:pt x="1221" y="63"/>
                    </a:cubicBezTo>
                    <a:cubicBezTo>
                      <a:pt x="1433" y="20"/>
                      <a:pt x="1666" y="10"/>
                      <a:pt x="1899"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sp>
          <p:nvSpPr>
            <p:cNvPr id="81937" name="Text Box 96"/>
            <p:cNvSpPr txBox="1">
              <a:spLocks noChangeArrowheads="1"/>
            </p:cNvSpPr>
            <p:nvPr/>
          </p:nvSpPr>
          <p:spPr bwMode="auto">
            <a:xfrm>
              <a:off x="2976" y="3312"/>
              <a:ext cx="22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solidFill>
                    <a:srgbClr val="FF0000"/>
                  </a:solidFill>
                  <a:latin typeface="Arial" panose="020B0604020202020204" pitchFamily="34" charset="0"/>
                </a:rPr>
                <a:t>Frottement du flux de turbulences</a:t>
              </a:r>
              <a:endParaRPr lang="en-US" altLang="fr-FR" sz="1800">
                <a:solidFill>
                  <a:srgbClr val="FF0000"/>
                </a:solidFill>
                <a:latin typeface="Arial" panose="020B0604020202020204" pitchFamily="34" charset="0"/>
              </a:endParaRPr>
            </a:p>
          </p:txBody>
        </p:sp>
      </p:grpSp>
      <p:sp>
        <p:nvSpPr>
          <p:cNvPr id="39" name="Espace réservé du pied de page 38"/>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Group 58"/>
          <p:cNvGrpSpPr>
            <a:grpSpLocks/>
          </p:cNvGrpSpPr>
          <p:nvPr/>
        </p:nvGrpSpPr>
        <p:grpSpPr bwMode="auto">
          <a:xfrm>
            <a:off x="3276600" y="3222625"/>
            <a:ext cx="2895600" cy="2679700"/>
            <a:chOff x="3408" y="1480"/>
            <a:chExt cx="1824" cy="1688"/>
          </a:xfrm>
        </p:grpSpPr>
        <p:grpSp>
          <p:nvGrpSpPr>
            <p:cNvPr id="83994" name="Group 55"/>
            <p:cNvGrpSpPr>
              <a:grpSpLocks/>
            </p:cNvGrpSpPr>
            <p:nvPr/>
          </p:nvGrpSpPr>
          <p:grpSpPr bwMode="auto">
            <a:xfrm>
              <a:off x="3408" y="1968"/>
              <a:ext cx="1824" cy="1200"/>
              <a:chOff x="3408" y="1968"/>
              <a:chExt cx="1824" cy="1200"/>
            </a:xfrm>
          </p:grpSpPr>
          <p:sp>
            <p:nvSpPr>
              <p:cNvPr id="83996" name="Line 33"/>
              <p:cNvSpPr>
                <a:spLocks noChangeShapeType="1"/>
              </p:cNvSpPr>
              <p:nvPr/>
            </p:nvSpPr>
            <p:spPr bwMode="auto">
              <a:xfrm flipV="1">
                <a:off x="3408" y="1968"/>
                <a:ext cx="1824" cy="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3997" name="Line 34"/>
              <p:cNvSpPr>
                <a:spLocks noChangeShapeType="1"/>
              </p:cNvSpPr>
              <p:nvPr/>
            </p:nvSpPr>
            <p:spPr bwMode="auto">
              <a:xfrm>
                <a:off x="3408" y="3168"/>
                <a:ext cx="17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3998" name="Rectangle 35"/>
              <p:cNvSpPr>
                <a:spLocks noChangeArrowheads="1"/>
              </p:cNvSpPr>
              <p:nvPr/>
            </p:nvSpPr>
            <p:spPr bwMode="auto">
              <a:xfrm rot="-1977429">
                <a:off x="3600" y="2016"/>
                <a:ext cx="960" cy="38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83999" name="Oval 36"/>
              <p:cNvSpPr>
                <a:spLocks noChangeArrowheads="1"/>
              </p:cNvSpPr>
              <p:nvPr/>
            </p:nvSpPr>
            <p:spPr bwMode="auto">
              <a:xfrm>
                <a:off x="3948" y="2460"/>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84000" name="Oval 37"/>
              <p:cNvSpPr>
                <a:spLocks noChangeArrowheads="1"/>
              </p:cNvSpPr>
              <p:nvPr/>
            </p:nvSpPr>
            <p:spPr bwMode="auto">
              <a:xfrm>
                <a:off x="4332" y="2220"/>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84001" name="Arc 41"/>
              <p:cNvSpPr>
                <a:spLocks/>
              </p:cNvSpPr>
              <p:nvPr/>
            </p:nvSpPr>
            <p:spPr bwMode="auto">
              <a:xfrm>
                <a:off x="4440" y="2250"/>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84002" name="Arc 42"/>
              <p:cNvSpPr>
                <a:spLocks/>
              </p:cNvSpPr>
              <p:nvPr/>
            </p:nvSpPr>
            <p:spPr bwMode="auto">
              <a:xfrm>
                <a:off x="3696" y="2976"/>
                <a:ext cx="96"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84003" name="Arc 43"/>
              <p:cNvSpPr>
                <a:spLocks/>
              </p:cNvSpPr>
              <p:nvPr/>
            </p:nvSpPr>
            <p:spPr bwMode="auto">
              <a:xfrm flipH="1" flipV="1">
                <a:off x="3984" y="2544"/>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84004" name="Text Box 45"/>
              <p:cNvSpPr txBox="1">
                <a:spLocks noChangeArrowheads="1"/>
              </p:cNvSpPr>
              <p:nvPr/>
            </p:nvSpPr>
            <p:spPr bwMode="auto">
              <a:xfrm>
                <a:off x="3744" y="2928"/>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panose="020B0604020202020204" pitchFamily="34" charset="0"/>
                    <a:sym typeface="Symbol" panose="05050102010706020507" pitchFamily="18" charset="2"/>
                  </a:rPr>
                  <a:t></a:t>
                </a:r>
              </a:p>
            </p:txBody>
          </p:sp>
          <p:sp>
            <p:nvSpPr>
              <p:cNvPr id="84005" name="Text Box 46"/>
              <p:cNvSpPr txBox="1">
                <a:spLocks noChangeArrowheads="1"/>
              </p:cNvSpPr>
              <p:nvPr/>
            </p:nvSpPr>
            <p:spPr bwMode="auto">
              <a:xfrm>
                <a:off x="3792" y="2544"/>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panose="020B0604020202020204" pitchFamily="34" charset="0"/>
                    <a:sym typeface="Symbol" panose="05050102010706020507" pitchFamily="18" charset="2"/>
                  </a:rPr>
                  <a:t>T</a:t>
                </a:r>
                <a:r>
                  <a:rPr lang="en-US" altLang="fr-FR" sz="1600" b="1" baseline="-25000">
                    <a:latin typeface="Arial" panose="020B0604020202020204" pitchFamily="34" charset="0"/>
                    <a:sym typeface="Symbol" panose="05050102010706020507" pitchFamily="18" charset="2"/>
                  </a:rPr>
                  <a:t>L</a:t>
                </a:r>
                <a:endParaRPr lang="en-US" altLang="fr-FR" sz="1600" b="1">
                  <a:latin typeface="Arial" panose="020B0604020202020204" pitchFamily="34" charset="0"/>
                  <a:sym typeface="Symbol" panose="05050102010706020507" pitchFamily="18" charset="2"/>
                </a:endParaRPr>
              </a:p>
            </p:txBody>
          </p:sp>
          <p:sp>
            <p:nvSpPr>
              <p:cNvPr id="84006" name="Text Box 49"/>
              <p:cNvSpPr txBox="1">
                <a:spLocks noChangeArrowheads="1"/>
              </p:cNvSpPr>
              <p:nvPr/>
            </p:nvSpPr>
            <p:spPr bwMode="auto">
              <a:xfrm>
                <a:off x="4512" y="2160"/>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panose="020B0604020202020204" pitchFamily="34" charset="0"/>
                    <a:sym typeface="Symbol" panose="05050102010706020507" pitchFamily="18" charset="2"/>
                  </a:rPr>
                  <a:t>T</a:t>
                </a:r>
                <a:r>
                  <a:rPr lang="en-US" altLang="fr-FR" sz="1600" b="1" baseline="-25000">
                    <a:latin typeface="Arial" panose="020B0604020202020204" pitchFamily="34" charset="0"/>
                    <a:sym typeface="Symbol" panose="05050102010706020507" pitchFamily="18" charset="2"/>
                  </a:rPr>
                  <a:t>e</a:t>
                </a:r>
                <a:endParaRPr lang="en-US" altLang="fr-FR" sz="1600" b="1">
                  <a:latin typeface="Arial" panose="020B0604020202020204" pitchFamily="34" charset="0"/>
                  <a:sym typeface="Symbol" panose="05050102010706020507" pitchFamily="18" charset="2"/>
                </a:endParaRPr>
              </a:p>
            </p:txBody>
          </p:sp>
        </p:grpSp>
        <p:sp>
          <p:nvSpPr>
            <p:cNvPr id="83995" name="Text Box 51"/>
            <p:cNvSpPr txBox="1">
              <a:spLocks noChangeArrowheads="1"/>
            </p:cNvSpPr>
            <p:nvPr/>
          </p:nvSpPr>
          <p:spPr bwMode="auto">
            <a:xfrm>
              <a:off x="3600" y="1480"/>
              <a:ext cx="155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Entrainements de voiture</a:t>
              </a:r>
            </a:p>
          </p:txBody>
        </p:sp>
      </p:grpSp>
      <p:sp>
        <p:nvSpPr>
          <p:cNvPr id="83971"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83972" name="Espace réservé du numéro de diapositive 3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450AC9F7-C257-457A-8251-2857F1514087}" type="slidenum">
              <a:rPr lang="en-US" altLang="fr-FR" sz="1000" smtClean="0">
                <a:solidFill>
                  <a:srgbClr val="292929"/>
                </a:solidFill>
                <a:latin typeface="Arial" panose="020B0604020202020204" pitchFamily="34" charset="0"/>
              </a:rPr>
              <a:pPr>
                <a:spcBef>
                  <a:spcPct val="0"/>
                </a:spcBef>
                <a:buClrTx/>
                <a:buSzTx/>
                <a:buFontTx/>
                <a:buNone/>
              </a:pPr>
              <a:t>39</a:t>
            </a:fld>
            <a:endParaRPr lang="en-US" altLang="fr-FR" sz="1000" smtClean="0">
              <a:solidFill>
                <a:srgbClr val="292929"/>
              </a:solidFill>
              <a:latin typeface="Arial" panose="020B0604020202020204" pitchFamily="34" charset="0"/>
            </a:endParaRPr>
          </a:p>
        </p:txBody>
      </p:sp>
      <p:sp>
        <p:nvSpPr>
          <p:cNvPr id="83973"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46" name="Text Box 4"/>
          <p:cNvSpPr txBox="1">
            <a:spLocks noChangeArrowheads="1"/>
          </p:cNvSpPr>
          <p:nvPr/>
        </p:nvSpPr>
        <p:spPr bwMode="auto">
          <a:xfrm>
            <a:off x="685800" y="762000"/>
            <a:ext cx="525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Caractéristique couple-vitesse de la charge</a:t>
            </a:r>
            <a:endParaRPr lang="en-US" altLang="fr-FR" sz="1800" b="1">
              <a:solidFill>
                <a:srgbClr val="CC6600"/>
              </a:solidFill>
              <a:latin typeface="Arial" panose="020B0604020202020204" pitchFamily="34" charset="0"/>
            </a:endParaRPr>
          </a:p>
        </p:txBody>
      </p:sp>
      <p:sp>
        <p:nvSpPr>
          <p:cNvPr id="61447" name="Text Box 27"/>
          <p:cNvSpPr txBox="1">
            <a:spLocks noChangeArrowheads="1"/>
          </p:cNvSpPr>
          <p:nvPr/>
        </p:nvSpPr>
        <p:spPr bwMode="auto">
          <a:xfrm>
            <a:off x="685800" y="1143000"/>
            <a:ext cx="7848600"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en-US" altLang="fr-FR" sz="1600" b="1">
                <a:latin typeface="Arial" panose="020B0604020202020204" pitchFamily="34" charset="0"/>
              </a:rPr>
              <a:t>2) </a:t>
            </a:r>
            <a:r>
              <a:rPr lang="en-US" altLang="fr-FR" sz="1800" b="1">
                <a:latin typeface="Arial" panose="020B0604020202020204" pitchFamily="34" charset="0"/>
              </a:rPr>
              <a:t>Couple constant </a:t>
            </a:r>
            <a:r>
              <a:rPr lang="en-US" altLang="fr-FR" sz="1800">
                <a:latin typeface="Arial" panose="020B0604020202020204" pitchFamily="34" charset="0"/>
              </a:rPr>
              <a:t>: </a:t>
            </a:r>
            <a:r>
              <a:rPr lang="fr-FR" altLang="fr-FR" sz="1800">
                <a:latin typeface="Arial" panose="020B0604020202020204" pitchFamily="34" charset="0"/>
              </a:rPr>
              <a:t>La direction du couple de charge constant est indépendante de la vitesse, il conserve le même sens même lorsque le sens de rotation varie ou s’inverse, par exemple, gravité, tension ou de compression subie par corps élastique. Ce type de couple est capable d’entrainer le moteur en équilibre.</a:t>
            </a:r>
            <a:r>
              <a:rPr lang="en-US" altLang="fr-FR" sz="1800">
                <a:latin typeface="Arial" panose="020B0604020202020204" pitchFamily="34" charset="0"/>
              </a:rPr>
              <a:t> </a:t>
            </a:r>
          </a:p>
          <a:p>
            <a:pPr eaLnBrk="1" hangingPunct="1">
              <a:spcBef>
                <a:spcPct val="0"/>
              </a:spcBef>
              <a:buClrTx/>
              <a:buSzTx/>
              <a:buFontTx/>
              <a:buNone/>
            </a:pPr>
            <a:endParaRPr lang="en-US" altLang="fr-FR" sz="1600" b="1">
              <a:latin typeface="Arial" panose="020B0604020202020204" pitchFamily="34" charset="0"/>
            </a:endParaRPr>
          </a:p>
          <a:p>
            <a:pPr eaLnBrk="1" hangingPunct="1">
              <a:spcBef>
                <a:spcPct val="0"/>
              </a:spcBef>
              <a:buClrTx/>
              <a:buSzTx/>
              <a:buFontTx/>
              <a:buNone/>
            </a:pPr>
            <a:r>
              <a:rPr lang="en-US" altLang="fr-FR" sz="1600" b="1">
                <a:latin typeface="Arial" panose="020B0604020202020204" pitchFamily="34" charset="0"/>
              </a:rPr>
              <a:t>Exemple: couple gravitationnel </a:t>
            </a:r>
            <a:r>
              <a:rPr lang="en-US" altLang="fr-FR" sz="1600" i="1">
                <a:latin typeface="Arial" panose="020B0604020202020204" pitchFamily="34" charset="0"/>
              </a:rPr>
              <a:t> </a:t>
            </a:r>
            <a:r>
              <a:rPr lang="en-US" altLang="fr-FR" sz="1600" b="1">
                <a:latin typeface="Arial" panose="020B0604020202020204" pitchFamily="34" charset="0"/>
              </a:rPr>
              <a:t>(Charge active)</a:t>
            </a:r>
          </a:p>
        </p:txBody>
      </p:sp>
      <p:sp>
        <p:nvSpPr>
          <p:cNvPr id="38" name="Espace réservé du pied de page 37"/>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4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14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6" grpId="0"/>
      <p:bldP spid="6144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Group 58"/>
          <p:cNvGrpSpPr>
            <a:grpSpLocks/>
          </p:cNvGrpSpPr>
          <p:nvPr/>
        </p:nvGrpSpPr>
        <p:grpSpPr bwMode="auto">
          <a:xfrm>
            <a:off x="5410200" y="836613"/>
            <a:ext cx="2895600" cy="2679700"/>
            <a:chOff x="3408" y="1480"/>
            <a:chExt cx="1824" cy="1688"/>
          </a:xfrm>
        </p:grpSpPr>
        <p:grpSp>
          <p:nvGrpSpPr>
            <p:cNvPr id="83994" name="Group 55"/>
            <p:cNvGrpSpPr>
              <a:grpSpLocks/>
            </p:cNvGrpSpPr>
            <p:nvPr/>
          </p:nvGrpSpPr>
          <p:grpSpPr bwMode="auto">
            <a:xfrm>
              <a:off x="3408" y="1968"/>
              <a:ext cx="1824" cy="1200"/>
              <a:chOff x="3408" y="1968"/>
              <a:chExt cx="1824" cy="1200"/>
            </a:xfrm>
          </p:grpSpPr>
          <p:sp>
            <p:nvSpPr>
              <p:cNvPr id="83996" name="Line 33"/>
              <p:cNvSpPr>
                <a:spLocks noChangeShapeType="1"/>
              </p:cNvSpPr>
              <p:nvPr/>
            </p:nvSpPr>
            <p:spPr bwMode="auto">
              <a:xfrm flipV="1">
                <a:off x="3408" y="1968"/>
                <a:ext cx="1824" cy="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3997" name="Line 34"/>
              <p:cNvSpPr>
                <a:spLocks noChangeShapeType="1"/>
              </p:cNvSpPr>
              <p:nvPr/>
            </p:nvSpPr>
            <p:spPr bwMode="auto">
              <a:xfrm>
                <a:off x="3408" y="3168"/>
                <a:ext cx="17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3998" name="Rectangle 35"/>
              <p:cNvSpPr>
                <a:spLocks noChangeArrowheads="1"/>
              </p:cNvSpPr>
              <p:nvPr/>
            </p:nvSpPr>
            <p:spPr bwMode="auto">
              <a:xfrm rot="-1977429">
                <a:off x="3600" y="2016"/>
                <a:ext cx="960" cy="38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83999" name="Oval 36"/>
              <p:cNvSpPr>
                <a:spLocks noChangeArrowheads="1"/>
              </p:cNvSpPr>
              <p:nvPr/>
            </p:nvSpPr>
            <p:spPr bwMode="auto">
              <a:xfrm>
                <a:off x="3948" y="2460"/>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84000" name="Oval 37"/>
              <p:cNvSpPr>
                <a:spLocks noChangeArrowheads="1"/>
              </p:cNvSpPr>
              <p:nvPr/>
            </p:nvSpPr>
            <p:spPr bwMode="auto">
              <a:xfrm>
                <a:off x="4332" y="2220"/>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84001" name="Arc 41"/>
              <p:cNvSpPr>
                <a:spLocks/>
              </p:cNvSpPr>
              <p:nvPr/>
            </p:nvSpPr>
            <p:spPr bwMode="auto">
              <a:xfrm>
                <a:off x="4440" y="2250"/>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84002" name="Arc 42"/>
              <p:cNvSpPr>
                <a:spLocks/>
              </p:cNvSpPr>
              <p:nvPr/>
            </p:nvSpPr>
            <p:spPr bwMode="auto">
              <a:xfrm>
                <a:off x="3696" y="2976"/>
                <a:ext cx="96"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84003" name="Arc 43"/>
              <p:cNvSpPr>
                <a:spLocks/>
              </p:cNvSpPr>
              <p:nvPr/>
            </p:nvSpPr>
            <p:spPr bwMode="auto">
              <a:xfrm flipH="1" flipV="1">
                <a:off x="3984" y="2544"/>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84004" name="Text Box 45"/>
              <p:cNvSpPr txBox="1">
                <a:spLocks noChangeArrowheads="1"/>
              </p:cNvSpPr>
              <p:nvPr/>
            </p:nvSpPr>
            <p:spPr bwMode="auto">
              <a:xfrm>
                <a:off x="3744" y="2928"/>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panose="020B0604020202020204" pitchFamily="34" charset="0"/>
                    <a:sym typeface="Symbol" panose="05050102010706020507" pitchFamily="18" charset="2"/>
                  </a:rPr>
                  <a:t></a:t>
                </a:r>
              </a:p>
            </p:txBody>
          </p:sp>
          <p:sp>
            <p:nvSpPr>
              <p:cNvPr id="84005" name="Text Box 46"/>
              <p:cNvSpPr txBox="1">
                <a:spLocks noChangeArrowheads="1"/>
              </p:cNvSpPr>
              <p:nvPr/>
            </p:nvSpPr>
            <p:spPr bwMode="auto">
              <a:xfrm>
                <a:off x="3792" y="2544"/>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panose="020B0604020202020204" pitchFamily="34" charset="0"/>
                    <a:sym typeface="Symbol" panose="05050102010706020507" pitchFamily="18" charset="2"/>
                  </a:rPr>
                  <a:t>T</a:t>
                </a:r>
                <a:r>
                  <a:rPr lang="en-US" altLang="fr-FR" sz="1600" b="1" baseline="-25000">
                    <a:latin typeface="Arial" panose="020B0604020202020204" pitchFamily="34" charset="0"/>
                    <a:sym typeface="Symbol" panose="05050102010706020507" pitchFamily="18" charset="2"/>
                  </a:rPr>
                  <a:t>L</a:t>
                </a:r>
                <a:endParaRPr lang="en-US" altLang="fr-FR" sz="1600" b="1">
                  <a:latin typeface="Arial" panose="020B0604020202020204" pitchFamily="34" charset="0"/>
                  <a:sym typeface="Symbol" panose="05050102010706020507" pitchFamily="18" charset="2"/>
                </a:endParaRPr>
              </a:p>
            </p:txBody>
          </p:sp>
          <p:sp>
            <p:nvSpPr>
              <p:cNvPr id="84006" name="Text Box 49"/>
              <p:cNvSpPr txBox="1">
                <a:spLocks noChangeArrowheads="1"/>
              </p:cNvSpPr>
              <p:nvPr/>
            </p:nvSpPr>
            <p:spPr bwMode="auto">
              <a:xfrm>
                <a:off x="4512" y="2160"/>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panose="020B0604020202020204" pitchFamily="34" charset="0"/>
                    <a:sym typeface="Symbol" panose="05050102010706020507" pitchFamily="18" charset="2"/>
                  </a:rPr>
                  <a:t>T</a:t>
                </a:r>
                <a:r>
                  <a:rPr lang="en-US" altLang="fr-FR" sz="1600" b="1" baseline="-25000">
                    <a:latin typeface="Arial" panose="020B0604020202020204" pitchFamily="34" charset="0"/>
                    <a:sym typeface="Symbol" panose="05050102010706020507" pitchFamily="18" charset="2"/>
                  </a:rPr>
                  <a:t>e</a:t>
                </a:r>
                <a:endParaRPr lang="en-US" altLang="fr-FR" sz="1600" b="1">
                  <a:latin typeface="Arial" panose="020B0604020202020204" pitchFamily="34" charset="0"/>
                  <a:sym typeface="Symbol" panose="05050102010706020507" pitchFamily="18" charset="2"/>
                </a:endParaRPr>
              </a:p>
            </p:txBody>
          </p:sp>
        </p:grpSp>
        <p:sp>
          <p:nvSpPr>
            <p:cNvPr id="83995" name="Text Box 51"/>
            <p:cNvSpPr txBox="1">
              <a:spLocks noChangeArrowheads="1"/>
            </p:cNvSpPr>
            <p:nvPr/>
          </p:nvSpPr>
          <p:spPr bwMode="auto">
            <a:xfrm>
              <a:off x="3600" y="1480"/>
              <a:ext cx="155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Entrainements de voiture</a:t>
              </a:r>
            </a:p>
          </p:txBody>
        </p:sp>
      </p:grpSp>
      <p:sp>
        <p:nvSpPr>
          <p:cNvPr id="83971"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83972" name="Espace réservé du numéro de diapositive 3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450AC9F7-C257-457A-8251-2857F1514087}" type="slidenum">
              <a:rPr lang="en-US" altLang="fr-FR" sz="1000" smtClean="0">
                <a:solidFill>
                  <a:srgbClr val="292929"/>
                </a:solidFill>
                <a:latin typeface="Arial" panose="020B0604020202020204" pitchFamily="34" charset="0"/>
              </a:rPr>
              <a:pPr>
                <a:spcBef>
                  <a:spcPct val="0"/>
                </a:spcBef>
                <a:buClrTx/>
                <a:buSzTx/>
                <a:buFontTx/>
                <a:buNone/>
              </a:pPr>
              <a:t>40</a:t>
            </a:fld>
            <a:endParaRPr lang="en-US" altLang="fr-FR" sz="1000" smtClean="0">
              <a:solidFill>
                <a:srgbClr val="292929"/>
              </a:solidFill>
              <a:latin typeface="Arial" panose="020B0604020202020204" pitchFamily="34" charset="0"/>
            </a:endParaRPr>
          </a:p>
        </p:txBody>
      </p:sp>
      <p:sp>
        <p:nvSpPr>
          <p:cNvPr id="83973"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nvGrpSpPr>
          <p:cNvPr id="61448" name="Group 53"/>
          <p:cNvGrpSpPr>
            <a:grpSpLocks/>
          </p:cNvGrpSpPr>
          <p:nvPr/>
        </p:nvGrpSpPr>
        <p:grpSpPr bwMode="auto">
          <a:xfrm>
            <a:off x="609600" y="3124200"/>
            <a:ext cx="3825875" cy="3289300"/>
            <a:chOff x="576" y="1192"/>
            <a:chExt cx="2410" cy="2072"/>
          </a:xfrm>
        </p:grpSpPr>
        <p:sp>
          <p:nvSpPr>
            <p:cNvPr id="83988" name="Text Box 5"/>
            <p:cNvSpPr txBox="1">
              <a:spLocks noChangeArrowheads="1"/>
            </p:cNvSpPr>
            <p:nvPr/>
          </p:nvSpPr>
          <p:spPr bwMode="auto">
            <a:xfrm>
              <a:off x="1098" y="1192"/>
              <a:ext cx="51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vitesse</a:t>
              </a:r>
            </a:p>
          </p:txBody>
        </p:sp>
        <p:sp>
          <p:nvSpPr>
            <p:cNvPr id="83989" name="Text Box 6"/>
            <p:cNvSpPr txBox="1">
              <a:spLocks noChangeArrowheads="1"/>
            </p:cNvSpPr>
            <p:nvPr/>
          </p:nvSpPr>
          <p:spPr bwMode="auto">
            <a:xfrm>
              <a:off x="2490" y="2296"/>
              <a:ext cx="49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couple</a:t>
              </a:r>
            </a:p>
          </p:txBody>
        </p:sp>
        <p:sp>
          <p:nvSpPr>
            <p:cNvPr id="83990" name="Line 10"/>
            <p:cNvSpPr>
              <a:spLocks noChangeShapeType="1"/>
            </p:cNvSpPr>
            <p:nvPr/>
          </p:nvSpPr>
          <p:spPr bwMode="auto">
            <a:xfrm flipV="1">
              <a:off x="1489" y="1336"/>
              <a:ext cx="0" cy="1928"/>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fr-FR"/>
            </a:p>
          </p:txBody>
        </p:sp>
        <p:sp>
          <p:nvSpPr>
            <p:cNvPr id="83991" name="Line 11"/>
            <p:cNvSpPr>
              <a:spLocks noChangeShapeType="1"/>
            </p:cNvSpPr>
            <p:nvPr/>
          </p:nvSpPr>
          <p:spPr bwMode="auto">
            <a:xfrm flipV="1">
              <a:off x="576" y="2281"/>
              <a:ext cx="2202" cy="3"/>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fr-FR"/>
            </a:p>
          </p:txBody>
        </p:sp>
        <p:sp>
          <p:nvSpPr>
            <p:cNvPr id="83992" name="Line 28"/>
            <p:cNvSpPr>
              <a:spLocks noChangeShapeType="1"/>
            </p:cNvSpPr>
            <p:nvPr/>
          </p:nvSpPr>
          <p:spPr bwMode="auto">
            <a:xfrm>
              <a:off x="2076" y="1382"/>
              <a:ext cx="0" cy="179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3993" name="Freeform 29"/>
            <p:cNvSpPr>
              <a:spLocks/>
            </p:cNvSpPr>
            <p:nvPr/>
          </p:nvSpPr>
          <p:spPr bwMode="auto">
            <a:xfrm>
              <a:off x="2164" y="1432"/>
              <a:ext cx="284" cy="340"/>
            </a:xfrm>
            <a:custGeom>
              <a:avLst/>
              <a:gdLst>
                <a:gd name="T0" fmla="*/ 1 w 528"/>
                <a:gd name="T1" fmla="*/ 0 h 336"/>
                <a:gd name="T2" fmla="*/ 1 w 528"/>
                <a:gd name="T3" fmla="*/ 139 h 336"/>
                <a:gd name="T4" fmla="*/ 1 w 528"/>
                <a:gd name="T5" fmla="*/ 370 h 336"/>
                <a:gd name="T6" fmla="*/ 0 w 528"/>
                <a:gd name="T7" fmla="*/ 519 h 336"/>
                <a:gd name="T8" fmla="*/ 0 60000 65536"/>
                <a:gd name="T9" fmla="*/ 0 60000 65536"/>
                <a:gd name="T10" fmla="*/ 0 60000 65536"/>
                <a:gd name="T11" fmla="*/ 0 60000 65536"/>
                <a:gd name="T12" fmla="*/ 0 w 528"/>
                <a:gd name="T13" fmla="*/ 0 h 336"/>
                <a:gd name="T14" fmla="*/ 528 w 528"/>
                <a:gd name="T15" fmla="*/ 336 h 336"/>
              </a:gdLst>
              <a:ahLst/>
              <a:cxnLst>
                <a:cxn ang="T8">
                  <a:pos x="T0" y="T1"/>
                </a:cxn>
                <a:cxn ang="T9">
                  <a:pos x="T2" y="T3"/>
                </a:cxn>
                <a:cxn ang="T10">
                  <a:pos x="T4" y="T5"/>
                </a:cxn>
                <a:cxn ang="T11">
                  <a:pos x="T6" y="T7"/>
                </a:cxn>
              </a:cxnLst>
              <a:rect l="T12" t="T13" r="T14" b="T15"/>
              <a:pathLst>
                <a:path w="528" h="336">
                  <a:moveTo>
                    <a:pt x="528" y="0"/>
                  </a:moveTo>
                  <a:cubicBezTo>
                    <a:pt x="356" y="28"/>
                    <a:pt x="184" y="56"/>
                    <a:pt x="144" y="96"/>
                  </a:cubicBezTo>
                  <a:cubicBezTo>
                    <a:pt x="104" y="136"/>
                    <a:pt x="312" y="200"/>
                    <a:pt x="288" y="240"/>
                  </a:cubicBezTo>
                  <a:cubicBezTo>
                    <a:pt x="264" y="280"/>
                    <a:pt x="132" y="308"/>
                    <a:pt x="0" y="336"/>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2" name="Groupe 1"/>
          <p:cNvGrpSpPr>
            <a:grpSpLocks/>
          </p:cNvGrpSpPr>
          <p:nvPr/>
        </p:nvGrpSpPr>
        <p:grpSpPr bwMode="auto">
          <a:xfrm>
            <a:off x="6581775" y="2000250"/>
            <a:ext cx="933450" cy="2014538"/>
            <a:chOff x="8106082" y="4058061"/>
            <a:chExt cx="933450" cy="2014537"/>
          </a:xfrm>
        </p:grpSpPr>
        <p:grpSp>
          <p:nvGrpSpPr>
            <p:cNvPr id="83981" name="Group 56"/>
            <p:cNvGrpSpPr>
              <a:grpSpLocks/>
            </p:cNvGrpSpPr>
            <p:nvPr/>
          </p:nvGrpSpPr>
          <p:grpSpPr bwMode="auto">
            <a:xfrm>
              <a:off x="8106082" y="4059137"/>
              <a:ext cx="685800" cy="1981200"/>
              <a:chOff x="4128" y="2160"/>
              <a:chExt cx="432" cy="1248"/>
            </a:xfrm>
          </p:grpSpPr>
          <p:sp>
            <p:nvSpPr>
              <p:cNvPr id="83986" name="Text Box 47"/>
              <p:cNvSpPr txBox="1">
                <a:spLocks noChangeArrowheads="1"/>
              </p:cNvSpPr>
              <p:nvPr/>
            </p:nvSpPr>
            <p:spPr bwMode="auto">
              <a:xfrm>
                <a:off x="4128" y="2880"/>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panose="020B0604020202020204" pitchFamily="34" charset="0"/>
                  </a:rPr>
                  <a:t>gM</a:t>
                </a:r>
              </a:p>
            </p:txBody>
          </p:sp>
          <p:sp>
            <p:nvSpPr>
              <p:cNvPr id="83987" name="Line 38"/>
              <p:cNvSpPr>
                <a:spLocks noChangeShapeType="1"/>
              </p:cNvSpPr>
              <p:nvPr/>
            </p:nvSpPr>
            <p:spPr bwMode="auto">
              <a:xfrm>
                <a:off x="4128" y="2160"/>
                <a:ext cx="0" cy="124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grpSp>
          <p:nvGrpSpPr>
            <p:cNvPr id="83982" name="Group 57"/>
            <p:cNvGrpSpPr>
              <a:grpSpLocks/>
            </p:cNvGrpSpPr>
            <p:nvPr/>
          </p:nvGrpSpPr>
          <p:grpSpPr bwMode="auto">
            <a:xfrm>
              <a:off x="8106082" y="4058061"/>
              <a:ext cx="933450" cy="2014537"/>
              <a:chOff x="4122" y="2160"/>
              <a:chExt cx="588" cy="1269"/>
            </a:xfrm>
          </p:grpSpPr>
          <p:sp>
            <p:nvSpPr>
              <p:cNvPr id="83983" name="Line 39"/>
              <p:cNvSpPr>
                <a:spLocks noChangeShapeType="1"/>
              </p:cNvSpPr>
              <p:nvPr/>
            </p:nvSpPr>
            <p:spPr bwMode="auto">
              <a:xfrm>
                <a:off x="4128" y="2160"/>
                <a:ext cx="582" cy="8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3984" name="Line 40"/>
              <p:cNvSpPr>
                <a:spLocks noChangeAspect="1" noChangeShapeType="1"/>
              </p:cNvSpPr>
              <p:nvPr/>
            </p:nvSpPr>
            <p:spPr bwMode="auto">
              <a:xfrm flipH="1">
                <a:off x="4122" y="3001"/>
                <a:ext cx="588" cy="389"/>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3985" name="Text Box 44"/>
              <p:cNvSpPr txBox="1">
                <a:spLocks noChangeArrowheads="1"/>
              </p:cNvSpPr>
              <p:nvPr/>
            </p:nvSpPr>
            <p:spPr bwMode="auto">
              <a:xfrm>
                <a:off x="4368" y="3216"/>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panose="020B0604020202020204" pitchFamily="34" charset="0"/>
                  </a:rPr>
                  <a:t>F</a:t>
                </a:r>
                <a:r>
                  <a:rPr lang="en-US" altLang="fr-FR" sz="1600" b="1" baseline="-25000">
                    <a:latin typeface="Arial" panose="020B0604020202020204" pitchFamily="34" charset="0"/>
                  </a:rPr>
                  <a:t>L</a:t>
                </a:r>
                <a:endParaRPr lang="en-US" altLang="fr-FR" sz="1600" b="1">
                  <a:latin typeface="Arial" panose="020B0604020202020204" pitchFamily="34" charset="0"/>
                </a:endParaRPr>
              </a:p>
            </p:txBody>
          </p:sp>
        </p:grpSp>
      </p:grpSp>
      <p:sp>
        <p:nvSpPr>
          <p:cNvPr id="30768" name="Text Box 48"/>
          <p:cNvSpPr txBox="1">
            <a:spLocks noChangeArrowheads="1"/>
          </p:cNvSpPr>
          <p:nvPr/>
        </p:nvSpPr>
        <p:spPr bwMode="auto">
          <a:xfrm>
            <a:off x="5638800" y="4125913"/>
            <a:ext cx="2667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T</a:t>
            </a:r>
            <a:r>
              <a:rPr lang="en-US" altLang="fr-FR" sz="1800" b="1" baseline="-25000">
                <a:latin typeface="Arial" panose="020B0604020202020204" pitchFamily="34" charset="0"/>
              </a:rPr>
              <a:t>L </a:t>
            </a:r>
            <a:r>
              <a:rPr lang="en-US" altLang="fr-FR" sz="1800" b="1">
                <a:latin typeface="Arial" panose="020B0604020202020204" pitchFamily="34" charset="0"/>
              </a:rPr>
              <a:t>= rF</a:t>
            </a:r>
            <a:r>
              <a:rPr lang="en-US" altLang="fr-FR" sz="1800" b="1" baseline="-25000">
                <a:latin typeface="Arial" panose="020B0604020202020204" pitchFamily="34" charset="0"/>
              </a:rPr>
              <a:t>L </a:t>
            </a:r>
            <a:r>
              <a:rPr lang="en-US" altLang="fr-FR" sz="1800" b="1">
                <a:latin typeface="Arial" panose="020B0604020202020204" pitchFamily="34" charset="0"/>
              </a:rPr>
              <a:t> = r g M sin </a:t>
            </a:r>
            <a:r>
              <a:rPr lang="en-US" altLang="fr-FR" sz="1800" b="1">
                <a:latin typeface="Arial" panose="020B0604020202020204" pitchFamily="34" charset="0"/>
                <a:sym typeface="Symbol" panose="05050102010706020507" pitchFamily="18" charset="2"/>
              </a:rPr>
              <a:t></a:t>
            </a:r>
          </a:p>
        </p:txBody>
      </p:sp>
      <p:sp>
        <p:nvSpPr>
          <p:cNvPr id="61452" name="Rectangle 37"/>
          <p:cNvSpPr>
            <a:spLocks noChangeArrowheads="1"/>
          </p:cNvSpPr>
          <p:nvPr/>
        </p:nvSpPr>
        <p:spPr bwMode="auto">
          <a:xfrm>
            <a:off x="3048000" y="3124200"/>
            <a:ext cx="2120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i="1">
                <a:latin typeface="Arial" panose="020B0604020202020204" pitchFamily="34" charset="0"/>
              </a:rPr>
              <a:t>couple gravitationnel </a:t>
            </a:r>
          </a:p>
        </p:txBody>
      </p:sp>
      <p:sp>
        <p:nvSpPr>
          <p:cNvPr id="38" name="Espace réservé du pied de page 37"/>
          <p:cNvSpPr>
            <a:spLocks noGrp="1"/>
          </p:cNvSpPr>
          <p:nvPr>
            <p:ph type="ftr" sz="quarter" idx="11"/>
          </p:nvPr>
        </p:nvSpPr>
        <p:spPr/>
        <p:txBody>
          <a:bodyPr/>
          <a:lstStyle/>
          <a:p>
            <a:pPr>
              <a:defRPr/>
            </a:pPr>
            <a:r>
              <a:rPr lang="fr-FR" smtClean="0"/>
              <a:t>Commande des machines  1. Intro         Ali NEJMI</a:t>
            </a:r>
            <a:endParaRPr lang="fr-FR"/>
          </a:p>
        </p:txBody>
      </p:sp>
    </p:spTree>
    <p:extLst>
      <p:ext uri="{BB962C8B-B14F-4D97-AF65-F5344CB8AC3E}">
        <p14:creationId xmlns:p14="http://schemas.microsoft.com/office/powerpoint/2010/main" val="33668597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6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144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8" grpId="0"/>
      <p:bldP spid="6145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1"/>
          <p:cNvSpPr>
            <a:spLocks noGrp="1" noChangeArrowheads="1"/>
          </p:cNvSpPr>
          <p:nvPr>
            <p:ph type="subTitle" idx="1"/>
          </p:nvPr>
        </p:nvSpPr>
        <p:spPr>
          <a:xfrm>
            <a:off x="457200" y="304800"/>
            <a:ext cx="6858000" cy="381000"/>
          </a:xfrm>
          <a:noFill/>
        </p:spPr>
        <p:txBody>
          <a:bodyPr/>
          <a:lstStyle/>
          <a:p>
            <a:pPr algn="l" eaLnBrk="1" hangingPunct="1"/>
            <a:r>
              <a:rPr lang="en-US" altLang="fr-FR" sz="1200" smtClean="0"/>
              <a:t>                                                                                                  MODULE 1 - INTRODUCTION</a:t>
            </a:r>
          </a:p>
        </p:txBody>
      </p:sp>
      <p:sp>
        <p:nvSpPr>
          <p:cNvPr id="86019" name="Espace réservé du numéro de diapositive 1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C1CF51E-88AB-4C93-9473-A6E27125DB42}" type="slidenum">
              <a:rPr lang="en-US" altLang="fr-FR" sz="1000" smtClean="0">
                <a:solidFill>
                  <a:srgbClr val="292929"/>
                </a:solidFill>
                <a:latin typeface="Arial" panose="020B0604020202020204" pitchFamily="34" charset="0"/>
              </a:rPr>
              <a:pPr>
                <a:spcBef>
                  <a:spcPct val="0"/>
                </a:spcBef>
                <a:buClrTx/>
                <a:buSzTx/>
                <a:buFontTx/>
                <a:buNone/>
              </a:pPr>
              <a:t>41</a:t>
            </a:fld>
            <a:endParaRPr lang="en-US" altLang="fr-FR" sz="1000" smtClean="0">
              <a:solidFill>
                <a:srgbClr val="292929"/>
              </a:solidFill>
              <a:latin typeface="Arial" panose="020B0604020202020204" pitchFamily="34" charset="0"/>
            </a:endParaRPr>
          </a:p>
        </p:txBody>
      </p:sp>
      <p:sp>
        <p:nvSpPr>
          <p:cNvPr id="86020" name="Rectangle 32"/>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6021" name="Text Box 33"/>
          <p:cNvSpPr txBox="1">
            <a:spLocks noChangeArrowheads="1"/>
          </p:cNvSpPr>
          <p:nvPr/>
        </p:nvSpPr>
        <p:spPr bwMode="auto">
          <a:xfrm>
            <a:off x="685800" y="762000"/>
            <a:ext cx="525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Caractéristique couple-vitesse de la charge</a:t>
            </a:r>
            <a:endParaRPr lang="en-US" altLang="fr-FR" sz="1800" b="1">
              <a:solidFill>
                <a:srgbClr val="CC6600"/>
              </a:solidFill>
              <a:latin typeface="Arial" panose="020B0604020202020204" pitchFamily="34" charset="0"/>
            </a:endParaRPr>
          </a:p>
        </p:txBody>
      </p:sp>
      <p:sp>
        <p:nvSpPr>
          <p:cNvPr id="86022" name="Text Box 34"/>
          <p:cNvSpPr txBox="1">
            <a:spLocks noChangeArrowheads="1"/>
          </p:cNvSpPr>
          <p:nvPr/>
        </p:nvSpPr>
        <p:spPr bwMode="auto">
          <a:xfrm>
            <a:off x="685800" y="1219200"/>
            <a:ext cx="472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panose="020B0604020202020204" pitchFamily="34" charset="0"/>
              </a:rPr>
              <a:t>Entrainements de levage (monte-charge)</a:t>
            </a:r>
          </a:p>
        </p:txBody>
      </p:sp>
      <p:grpSp>
        <p:nvGrpSpPr>
          <p:cNvPr id="86023" name="Group 52"/>
          <p:cNvGrpSpPr>
            <a:grpSpLocks/>
          </p:cNvGrpSpPr>
          <p:nvPr/>
        </p:nvGrpSpPr>
        <p:grpSpPr bwMode="auto">
          <a:xfrm>
            <a:off x="1447800" y="1690688"/>
            <a:ext cx="5746750" cy="3948112"/>
            <a:chOff x="912" y="1065"/>
            <a:chExt cx="3620" cy="2487"/>
          </a:xfrm>
        </p:grpSpPr>
        <p:sp>
          <p:nvSpPr>
            <p:cNvPr id="86032" name="Line 35"/>
            <p:cNvSpPr>
              <a:spLocks noChangeShapeType="1"/>
            </p:cNvSpPr>
            <p:nvPr/>
          </p:nvSpPr>
          <p:spPr bwMode="auto">
            <a:xfrm>
              <a:off x="1896" y="1194"/>
              <a:ext cx="0" cy="2358"/>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fr-FR"/>
            </a:p>
          </p:txBody>
        </p:sp>
        <p:sp>
          <p:nvSpPr>
            <p:cNvPr id="86033" name="Text Box 43"/>
            <p:cNvSpPr txBox="1">
              <a:spLocks noChangeArrowheads="1"/>
            </p:cNvSpPr>
            <p:nvPr/>
          </p:nvSpPr>
          <p:spPr bwMode="auto">
            <a:xfrm>
              <a:off x="1868" y="1065"/>
              <a:ext cx="56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vitesse</a:t>
              </a:r>
            </a:p>
          </p:txBody>
        </p:sp>
        <p:sp>
          <p:nvSpPr>
            <p:cNvPr id="86034" name="Text Box 44"/>
            <p:cNvSpPr txBox="1">
              <a:spLocks noChangeArrowheads="1"/>
            </p:cNvSpPr>
            <p:nvPr/>
          </p:nvSpPr>
          <p:spPr bwMode="auto">
            <a:xfrm>
              <a:off x="3988" y="2355"/>
              <a:ext cx="5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couple</a:t>
              </a:r>
            </a:p>
          </p:txBody>
        </p:sp>
        <p:sp>
          <p:nvSpPr>
            <p:cNvPr id="86035" name="Line 45"/>
            <p:cNvSpPr>
              <a:spLocks noChangeAspect="1" noChangeShapeType="1"/>
            </p:cNvSpPr>
            <p:nvPr/>
          </p:nvSpPr>
          <p:spPr bwMode="auto">
            <a:xfrm>
              <a:off x="912" y="2328"/>
              <a:ext cx="340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grpSp>
        <p:nvGrpSpPr>
          <p:cNvPr id="3" name="Group 54"/>
          <p:cNvGrpSpPr>
            <a:grpSpLocks/>
          </p:cNvGrpSpPr>
          <p:nvPr/>
        </p:nvGrpSpPr>
        <p:grpSpPr bwMode="auto">
          <a:xfrm>
            <a:off x="1676400" y="1981200"/>
            <a:ext cx="2628900" cy="3657600"/>
            <a:chOff x="1896" y="1248"/>
            <a:chExt cx="1656" cy="2304"/>
          </a:xfrm>
        </p:grpSpPr>
        <p:sp>
          <p:nvSpPr>
            <p:cNvPr id="86029" name="Line 46"/>
            <p:cNvSpPr>
              <a:spLocks noChangeShapeType="1"/>
            </p:cNvSpPr>
            <p:nvPr/>
          </p:nvSpPr>
          <p:spPr bwMode="auto">
            <a:xfrm>
              <a:off x="2736" y="1248"/>
              <a:ext cx="0" cy="2304"/>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86030" name="Freeform 47"/>
            <p:cNvSpPr>
              <a:spLocks/>
            </p:cNvSpPr>
            <p:nvPr/>
          </p:nvSpPr>
          <p:spPr bwMode="auto">
            <a:xfrm>
              <a:off x="2976" y="1248"/>
              <a:ext cx="576" cy="1056"/>
            </a:xfrm>
            <a:custGeom>
              <a:avLst/>
              <a:gdLst>
                <a:gd name="T0" fmla="*/ 144 w 576"/>
                <a:gd name="T1" fmla="*/ 1056 h 1056"/>
                <a:gd name="T2" fmla="*/ 48 w 576"/>
                <a:gd name="T3" fmla="*/ 960 h 1056"/>
                <a:gd name="T4" fmla="*/ 0 w 576"/>
                <a:gd name="T5" fmla="*/ 816 h 1056"/>
                <a:gd name="T6" fmla="*/ 48 w 576"/>
                <a:gd name="T7" fmla="*/ 672 h 1056"/>
                <a:gd name="T8" fmla="*/ 144 w 576"/>
                <a:gd name="T9" fmla="*/ 528 h 1056"/>
                <a:gd name="T10" fmla="*/ 288 w 576"/>
                <a:gd name="T11" fmla="*/ 336 h 1056"/>
                <a:gd name="T12" fmla="*/ 576 w 576"/>
                <a:gd name="T13" fmla="*/ 0 h 1056"/>
                <a:gd name="T14" fmla="*/ 0 60000 65536"/>
                <a:gd name="T15" fmla="*/ 0 60000 65536"/>
                <a:gd name="T16" fmla="*/ 0 60000 65536"/>
                <a:gd name="T17" fmla="*/ 0 60000 65536"/>
                <a:gd name="T18" fmla="*/ 0 60000 65536"/>
                <a:gd name="T19" fmla="*/ 0 60000 65536"/>
                <a:gd name="T20" fmla="*/ 0 60000 65536"/>
                <a:gd name="T21" fmla="*/ 0 w 576"/>
                <a:gd name="T22" fmla="*/ 0 h 1056"/>
                <a:gd name="T23" fmla="*/ 576 w 576"/>
                <a:gd name="T24" fmla="*/ 1056 h 10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056">
                  <a:moveTo>
                    <a:pt x="144" y="1056"/>
                  </a:moveTo>
                  <a:lnTo>
                    <a:pt x="48" y="960"/>
                  </a:lnTo>
                  <a:lnTo>
                    <a:pt x="0" y="816"/>
                  </a:lnTo>
                  <a:lnTo>
                    <a:pt x="48" y="672"/>
                  </a:lnTo>
                  <a:lnTo>
                    <a:pt x="144" y="528"/>
                  </a:lnTo>
                  <a:lnTo>
                    <a:pt x="288" y="336"/>
                  </a:lnTo>
                  <a:lnTo>
                    <a:pt x="576"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86031" name="Freeform 48"/>
            <p:cNvSpPr>
              <a:spLocks/>
            </p:cNvSpPr>
            <p:nvPr/>
          </p:nvSpPr>
          <p:spPr bwMode="auto">
            <a:xfrm flipH="1" flipV="1">
              <a:off x="1896" y="2336"/>
              <a:ext cx="576" cy="1056"/>
            </a:xfrm>
            <a:custGeom>
              <a:avLst/>
              <a:gdLst>
                <a:gd name="T0" fmla="*/ 144 w 576"/>
                <a:gd name="T1" fmla="*/ 1056 h 1056"/>
                <a:gd name="T2" fmla="*/ 48 w 576"/>
                <a:gd name="T3" fmla="*/ 960 h 1056"/>
                <a:gd name="T4" fmla="*/ 0 w 576"/>
                <a:gd name="T5" fmla="*/ 816 h 1056"/>
                <a:gd name="T6" fmla="*/ 48 w 576"/>
                <a:gd name="T7" fmla="*/ 672 h 1056"/>
                <a:gd name="T8" fmla="*/ 144 w 576"/>
                <a:gd name="T9" fmla="*/ 528 h 1056"/>
                <a:gd name="T10" fmla="*/ 288 w 576"/>
                <a:gd name="T11" fmla="*/ 336 h 1056"/>
                <a:gd name="T12" fmla="*/ 576 w 576"/>
                <a:gd name="T13" fmla="*/ 0 h 1056"/>
                <a:gd name="T14" fmla="*/ 0 60000 65536"/>
                <a:gd name="T15" fmla="*/ 0 60000 65536"/>
                <a:gd name="T16" fmla="*/ 0 60000 65536"/>
                <a:gd name="T17" fmla="*/ 0 60000 65536"/>
                <a:gd name="T18" fmla="*/ 0 60000 65536"/>
                <a:gd name="T19" fmla="*/ 0 60000 65536"/>
                <a:gd name="T20" fmla="*/ 0 60000 65536"/>
                <a:gd name="T21" fmla="*/ 0 w 576"/>
                <a:gd name="T22" fmla="*/ 0 h 1056"/>
                <a:gd name="T23" fmla="*/ 576 w 576"/>
                <a:gd name="T24" fmla="*/ 1056 h 10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056">
                  <a:moveTo>
                    <a:pt x="144" y="1056"/>
                  </a:moveTo>
                  <a:lnTo>
                    <a:pt x="48" y="960"/>
                  </a:lnTo>
                  <a:lnTo>
                    <a:pt x="0" y="816"/>
                  </a:lnTo>
                  <a:lnTo>
                    <a:pt x="48" y="672"/>
                  </a:lnTo>
                  <a:lnTo>
                    <a:pt x="144" y="528"/>
                  </a:lnTo>
                  <a:lnTo>
                    <a:pt x="288" y="336"/>
                  </a:lnTo>
                  <a:lnTo>
                    <a:pt x="576"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4" name="Group 53"/>
          <p:cNvGrpSpPr>
            <a:grpSpLocks/>
          </p:cNvGrpSpPr>
          <p:nvPr/>
        </p:nvGrpSpPr>
        <p:grpSpPr bwMode="auto">
          <a:xfrm>
            <a:off x="4495800" y="4367213"/>
            <a:ext cx="2882900" cy="890587"/>
            <a:chOff x="2832" y="2751"/>
            <a:chExt cx="1816" cy="561"/>
          </a:xfrm>
        </p:grpSpPr>
        <p:sp>
          <p:nvSpPr>
            <p:cNvPr id="86027" name="Freeform 49"/>
            <p:cNvSpPr>
              <a:spLocks/>
            </p:cNvSpPr>
            <p:nvPr/>
          </p:nvSpPr>
          <p:spPr bwMode="auto">
            <a:xfrm>
              <a:off x="2832" y="2880"/>
              <a:ext cx="432" cy="432"/>
            </a:xfrm>
            <a:custGeom>
              <a:avLst/>
              <a:gdLst>
                <a:gd name="T0" fmla="*/ 432 w 432"/>
                <a:gd name="T1" fmla="*/ 0 h 432"/>
                <a:gd name="T2" fmla="*/ 240 w 432"/>
                <a:gd name="T3" fmla="*/ 48 h 432"/>
                <a:gd name="T4" fmla="*/ 336 w 432"/>
                <a:gd name="T5" fmla="*/ 240 h 432"/>
                <a:gd name="T6" fmla="*/ 0 w 432"/>
                <a:gd name="T7" fmla="*/ 432 h 432"/>
                <a:gd name="T8" fmla="*/ 0 60000 65536"/>
                <a:gd name="T9" fmla="*/ 0 60000 65536"/>
                <a:gd name="T10" fmla="*/ 0 60000 65536"/>
                <a:gd name="T11" fmla="*/ 0 60000 65536"/>
                <a:gd name="T12" fmla="*/ 0 w 432"/>
                <a:gd name="T13" fmla="*/ 0 h 432"/>
                <a:gd name="T14" fmla="*/ 432 w 432"/>
                <a:gd name="T15" fmla="*/ 432 h 432"/>
              </a:gdLst>
              <a:ahLst/>
              <a:cxnLst>
                <a:cxn ang="T8">
                  <a:pos x="T0" y="T1"/>
                </a:cxn>
                <a:cxn ang="T9">
                  <a:pos x="T2" y="T3"/>
                </a:cxn>
                <a:cxn ang="T10">
                  <a:pos x="T4" y="T5"/>
                </a:cxn>
                <a:cxn ang="T11">
                  <a:pos x="T6" y="T7"/>
                </a:cxn>
              </a:cxnLst>
              <a:rect l="T12" t="T13" r="T14" b="T15"/>
              <a:pathLst>
                <a:path w="432" h="432">
                  <a:moveTo>
                    <a:pt x="432" y="0"/>
                  </a:moveTo>
                  <a:cubicBezTo>
                    <a:pt x="344" y="4"/>
                    <a:pt x="256" y="8"/>
                    <a:pt x="240" y="48"/>
                  </a:cubicBezTo>
                  <a:cubicBezTo>
                    <a:pt x="224" y="88"/>
                    <a:pt x="376" y="176"/>
                    <a:pt x="336" y="240"/>
                  </a:cubicBezTo>
                  <a:cubicBezTo>
                    <a:pt x="296" y="304"/>
                    <a:pt x="148" y="368"/>
                    <a:pt x="0" y="43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86028" name="Text Box 50"/>
            <p:cNvSpPr txBox="1">
              <a:spLocks noChangeArrowheads="1"/>
            </p:cNvSpPr>
            <p:nvPr/>
          </p:nvSpPr>
          <p:spPr bwMode="auto">
            <a:xfrm>
              <a:off x="3312" y="2751"/>
              <a:ext cx="133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i="1">
                  <a:latin typeface="Arial" panose="020B0604020202020204" pitchFamily="34" charset="0"/>
                </a:rPr>
                <a:t>couple gravitationnel </a:t>
              </a:r>
            </a:p>
          </p:txBody>
        </p:sp>
      </p:grpSp>
      <p:sp>
        <p:nvSpPr>
          <p:cNvPr id="20" name="Espace réservé du pied de page 19"/>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3" presetClass="path" presetSubtype="0" accel="50000" decel="50000" fill="hold" nodeType="clickEffect">
                                  <p:stCondLst>
                                    <p:cond delay="0"/>
                                  </p:stCondLst>
                                  <p:childTnLst>
                                    <p:animMotion origin="layout" path="M -3.33333E-6 4.44444E-6 L 0.14723 4.44444E-6 " pathEditMode="relative" rAng="0" ptsTypes="AA">
                                      <p:cBhvr>
                                        <p:cTn id="11" dur="500" fill="hold"/>
                                        <p:tgtEl>
                                          <p:spTgt spid="3"/>
                                        </p:tgtEl>
                                        <p:attrNameLst>
                                          <p:attrName>ppt_x</p:attrName>
                                          <p:attrName>ppt_y</p:attrName>
                                        </p:attrNameLst>
                                      </p:cBhvr>
                                      <p:rCtr x="7361" y="0"/>
                                    </p:animMotion>
                                  </p:childTnLst>
                                </p:cTn>
                              </p:par>
                            </p:childTnLst>
                          </p:cTn>
                        </p:par>
                        <p:par>
                          <p:cTn id="12" fill="hold" nodeType="afterGroup">
                            <p:stCondLst>
                              <p:cond delay="5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8806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E0C1CDC-FC2B-4A4F-8BAF-DCD06B630306}" type="slidenum">
              <a:rPr lang="en-US" altLang="fr-FR" sz="1000" smtClean="0">
                <a:solidFill>
                  <a:srgbClr val="292929"/>
                </a:solidFill>
                <a:latin typeface="Arial" panose="020B0604020202020204" pitchFamily="34" charset="0"/>
              </a:rPr>
              <a:pPr>
                <a:spcBef>
                  <a:spcPct val="0"/>
                </a:spcBef>
                <a:buClrTx/>
                <a:buSzTx/>
                <a:buFontTx/>
                <a:buNone/>
              </a:pPr>
              <a:t>42</a:t>
            </a:fld>
            <a:endParaRPr lang="en-US" altLang="fr-FR" sz="1000" smtClean="0">
              <a:solidFill>
                <a:srgbClr val="292929"/>
              </a:solidFill>
              <a:latin typeface="Arial" panose="020B0604020202020204" pitchFamily="34" charset="0"/>
            </a:endParaRPr>
          </a:p>
        </p:txBody>
      </p:sp>
      <p:sp>
        <p:nvSpPr>
          <p:cNvPr id="88068" name="Rectangle 32"/>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 name="Rectangle 31"/>
          <p:cNvSpPr txBox="1">
            <a:spLocks noChangeArrowheads="1"/>
          </p:cNvSpPr>
          <p:nvPr/>
        </p:nvSpPr>
        <p:spPr>
          <a:xfrm>
            <a:off x="457200" y="304800"/>
            <a:ext cx="6858000" cy="381000"/>
          </a:xfrm>
          <a:prstGeom prst="rect">
            <a:avLst/>
          </a:prstGeom>
          <a:noFill/>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88070" name="ZoneTexte 6"/>
          <p:cNvSpPr txBox="1">
            <a:spLocks noChangeArrowheads="1"/>
          </p:cNvSpPr>
          <p:nvPr/>
        </p:nvSpPr>
        <p:spPr bwMode="auto">
          <a:xfrm>
            <a:off x="990600" y="1514475"/>
            <a:ext cx="7086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i="1">
                <a:latin typeface="Arial" panose="020B0604020202020204" pitchFamily="34" charset="0"/>
              </a:rPr>
              <a:t>Exprimer l’équation du mouvement du système composé d’un moteur, d’un couple d’inertie, d’un monte-charge, de frottement sec, de frottement visqueux et d’un ventilateur.</a:t>
            </a:r>
          </a:p>
        </p:txBody>
      </p:sp>
      <p:sp>
        <p:nvSpPr>
          <p:cNvPr id="88071" name="ZoneTexte 7"/>
          <p:cNvSpPr txBox="1">
            <a:spLocks noChangeArrowheads="1"/>
          </p:cNvSpPr>
          <p:nvPr/>
        </p:nvSpPr>
        <p:spPr bwMode="auto">
          <a:xfrm>
            <a:off x="990600" y="914400"/>
            <a:ext cx="403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Exercice :</a:t>
            </a:r>
          </a:p>
        </p:txBody>
      </p:sp>
      <p:sp>
        <p:nvSpPr>
          <p:cNvPr id="88072" name="ZoneTexte 18"/>
          <p:cNvSpPr txBox="1">
            <a:spLocks noChangeArrowheads="1"/>
          </p:cNvSpPr>
          <p:nvPr/>
        </p:nvSpPr>
        <p:spPr bwMode="auto">
          <a:xfrm>
            <a:off x="7391400" y="3810000"/>
            <a:ext cx="1828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200">
                <a:latin typeface="Arial" panose="020B0604020202020204" pitchFamily="34" charset="0"/>
              </a:rPr>
              <a:t>Ventilateur</a:t>
            </a:r>
          </a:p>
        </p:txBody>
      </p:sp>
      <p:grpSp>
        <p:nvGrpSpPr>
          <p:cNvPr id="88073" name="Groupe 24"/>
          <p:cNvGrpSpPr>
            <a:grpSpLocks/>
          </p:cNvGrpSpPr>
          <p:nvPr/>
        </p:nvGrpSpPr>
        <p:grpSpPr bwMode="auto">
          <a:xfrm>
            <a:off x="1262063" y="2743200"/>
            <a:ext cx="7043737" cy="1885950"/>
            <a:chOff x="1262063" y="2743200"/>
            <a:chExt cx="7043737" cy="1885950"/>
          </a:xfrm>
        </p:grpSpPr>
        <p:grpSp>
          <p:nvGrpSpPr>
            <p:cNvPr id="88074" name="Groupe 14"/>
            <p:cNvGrpSpPr>
              <a:grpSpLocks/>
            </p:cNvGrpSpPr>
            <p:nvPr/>
          </p:nvGrpSpPr>
          <p:grpSpPr bwMode="auto">
            <a:xfrm>
              <a:off x="1262063" y="2971800"/>
              <a:ext cx="6662737" cy="1657350"/>
              <a:chOff x="1262063" y="2971800"/>
              <a:chExt cx="6662737" cy="1657350"/>
            </a:xfrm>
          </p:grpSpPr>
          <p:pic>
            <p:nvPicPr>
              <p:cNvPr id="88080" name="Picture 2"/>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1262063" y="2971800"/>
                <a:ext cx="661987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81" name="ZoneTexte 9"/>
              <p:cNvSpPr txBox="1">
                <a:spLocks noChangeArrowheads="1"/>
              </p:cNvSpPr>
              <p:nvPr/>
            </p:nvSpPr>
            <p:spPr bwMode="auto">
              <a:xfrm>
                <a:off x="4876800" y="3440668"/>
                <a:ext cx="108000" cy="32400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8082" name="ZoneTexte 8"/>
              <p:cNvSpPr txBox="1">
                <a:spLocks noChangeArrowheads="1"/>
              </p:cNvSpPr>
              <p:nvPr/>
            </p:nvSpPr>
            <p:spPr bwMode="auto">
              <a:xfrm>
                <a:off x="4785600" y="3429000"/>
                <a:ext cx="396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J</a:t>
                </a:r>
                <a:r>
                  <a:rPr lang="fr-FR" altLang="fr-FR" sz="1400" baseline="-25000">
                    <a:latin typeface="Arial" panose="020B0604020202020204" pitchFamily="34" charset="0"/>
                  </a:rPr>
                  <a:t>L</a:t>
                </a:r>
              </a:p>
            </p:txBody>
          </p:sp>
          <p:sp>
            <p:nvSpPr>
              <p:cNvPr id="88083" name="ZoneTexte 10"/>
              <p:cNvSpPr txBox="1">
                <a:spLocks noChangeArrowheads="1"/>
              </p:cNvSpPr>
              <p:nvPr/>
            </p:nvSpPr>
            <p:spPr bwMode="auto">
              <a:xfrm>
                <a:off x="6248400" y="2971800"/>
                <a:ext cx="1219200" cy="369332"/>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8084" name="ZoneTexte 11"/>
              <p:cNvSpPr txBox="1">
                <a:spLocks noChangeArrowheads="1"/>
              </p:cNvSpPr>
              <p:nvPr/>
            </p:nvSpPr>
            <p:spPr bwMode="auto">
              <a:xfrm>
                <a:off x="7467600" y="3212068"/>
                <a:ext cx="457200" cy="369332"/>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8085" name="ZoneTexte 12"/>
              <p:cNvSpPr txBox="1">
                <a:spLocks noChangeArrowheads="1"/>
              </p:cNvSpPr>
              <p:nvPr/>
            </p:nvSpPr>
            <p:spPr bwMode="auto">
              <a:xfrm>
                <a:off x="6477000" y="3886200"/>
                <a:ext cx="914400" cy="25200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8086" name="ZoneTexte 13"/>
              <p:cNvSpPr txBox="1">
                <a:spLocks noChangeArrowheads="1"/>
              </p:cNvSpPr>
              <p:nvPr/>
            </p:nvSpPr>
            <p:spPr bwMode="auto">
              <a:xfrm>
                <a:off x="6172200" y="3733800"/>
                <a:ext cx="648000" cy="25200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88075" name="ZoneTexte 15"/>
            <p:cNvSpPr txBox="1">
              <a:spLocks noChangeArrowheads="1"/>
            </p:cNvSpPr>
            <p:nvPr/>
          </p:nvSpPr>
          <p:spPr bwMode="auto">
            <a:xfrm>
              <a:off x="6019800" y="4267200"/>
              <a:ext cx="228600" cy="338554"/>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M</a:t>
              </a:r>
            </a:p>
          </p:txBody>
        </p:sp>
        <p:sp>
          <p:nvSpPr>
            <p:cNvPr id="88076" name="ZoneTexte 16"/>
            <p:cNvSpPr txBox="1">
              <a:spLocks noChangeArrowheads="1"/>
            </p:cNvSpPr>
            <p:nvPr/>
          </p:nvSpPr>
          <p:spPr bwMode="auto">
            <a:xfrm>
              <a:off x="6096000" y="2743200"/>
              <a:ext cx="18288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200">
                  <a:latin typeface="Arial" panose="020B0604020202020204" pitchFamily="34" charset="0"/>
                </a:rPr>
                <a:t>Frottement visqueux</a:t>
              </a:r>
            </a:p>
          </p:txBody>
        </p:sp>
        <p:sp>
          <p:nvSpPr>
            <p:cNvPr id="88077" name="ZoneTexte 17"/>
            <p:cNvSpPr txBox="1">
              <a:spLocks noChangeArrowheads="1"/>
            </p:cNvSpPr>
            <p:nvPr/>
          </p:nvSpPr>
          <p:spPr bwMode="auto">
            <a:xfrm>
              <a:off x="6477000" y="4114800"/>
              <a:ext cx="18288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200">
                  <a:latin typeface="Arial" panose="020B0604020202020204" pitchFamily="34" charset="0"/>
                </a:rPr>
                <a:t>Frottement  sec</a:t>
              </a:r>
            </a:p>
          </p:txBody>
        </p:sp>
        <p:cxnSp>
          <p:nvCxnSpPr>
            <p:cNvPr id="21" name="Connecteur droit avec flèche 20"/>
            <p:cNvCxnSpPr/>
            <p:nvPr/>
          </p:nvCxnSpPr>
          <p:spPr>
            <a:xfrm rot="5400000" flipH="1" flipV="1">
              <a:off x="6477001" y="3962400"/>
              <a:ext cx="304800" cy="31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Connecteur droit avec flèche 21"/>
            <p:cNvCxnSpPr/>
            <p:nvPr/>
          </p:nvCxnSpPr>
          <p:spPr>
            <a:xfrm rot="5400000">
              <a:off x="6972300" y="3086100"/>
              <a:ext cx="381000" cy="152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9011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BFA9F45-898D-4E68-9ABD-53AD00B9695A}" type="slidenum">
              <a:rPr lang="en-US" altLang="fr-FR" sz="1000" smtClean="0">
                <a:solidFill>
                  <a:srgbClr val="292929"/>
                </a:solidFill>
                <a:latin typeface="Arial" panose="020B0604020202020204" pitchFamily="34" charset="0"/>
              </a:rPr>
              <a:pPr>
                <a:spcBef>
                  <a:spcPct val="0"/>
                </a:spcBef>
                <a:buClrTx/>
                <a:buSzTx/>
                <a:buFontTx/>
                <a:buNone/>
              </a:pPr>
              <a:t>43</a:t>
            </a:fld>
            <a:endParaRPr lang="en-US" altLang="fr-FR" sz="1000" smtClean="0">
              <a:solidFill>
                <a:srgbClr val="292929"/>
              </a:solidFill>
              <a:latin typeface="Arial" panose="020B0604020202020204" pitchFamily="34" charset="0"/>
            </a:endParaRPr>
          </a:p>
        </p:txBody>
      </p:sp>
      <p:sp>
        <p:nvSpPr>
          <p:cNvPr id="4" name="Rectangle 31"/>
          <p:cNvSpPr txBox="1">
            <a:spLocks noChangeArrowheads="1"/>
          </p:cNvSpPr>
          <p:nvPr/>
        </p:nvSpPr>
        <p:spPr>
          <a:xfrm>
            <a:off x="457200" y="304800"/>
            <a:ext cx="6858000" cy="381000"/>
          </a:xfrm>
          <a:prstGeom prst="rect">
            <a:avLst/>
          </a:prstGeom>
          <a:noFill/>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90117" name="Rectangle 32"/>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pic>
        <p:nvPicPr>
          <p:cNvPr id="90118" name="Picture 2"/>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2457450" y="1552575"/>
            <a:ext cx="20383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9" name="ZoneTexte 6"/>
          <p:cNvSpPr txBox="1">
            <a:spLocks noChangeArrowheads="1"/>
          </p:cNvSpPr>
          <p:nvPr/>
        </p:nvSpPr>
        <p:spPr bwMode="auto">
          <a:xfrm>
            <a:off x="838200" y="1143000"/>
            <a:ext cx="579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1. L’inertie J</a:t>
            </a:r>
            <a:r>
              <a:rPr lang="fr-FR" altLang="fr-FR" sz="1800" baseline="-25000">
                <a:latin typeface="Arial" panose="020B0604020202020204" pitchFamily="34" charset="0"/>
              </a:rPr>
              <a:t>L</a:t>
            </a:r>
            <a:r>
              <a:rPr lang="fr-FR" altLang="fr-FR" sz="1800">
                <a:latin typeface="Arial" panose="020B0604020202020204" pitchFamily="34" charset="0"/>
              </a:rPr>
              <a:t> ramené sur l’arbre du moteur</a:t>
            </a:r>
          </a:p>
        </p:txBody>
      </p:sp>
      <p:sp>
        <p:nvSpPr>
          <p:cNvPr id="90120" name="ZoneTexte 7"/>
          <p:cNvSpPr txBox="1">
            <a:spLocks noChangeArrowheads="1"/>
          </p:cNvSpPr>
          <p:nvPr/>
        </p:nvSpPr>
        <p:spPr bwMode="auto">
          <a:xfrm>
            <a:off x="4800600" y="1763713"/>
            <a:ext cx="990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Donc</a:t>
            </a:r>
          </a:p>
        </p:txBody>
      </p:sp>
      <p:pic>
        <p:nvPicPr>
          <p:cNvPr id="90121" name="Picture 3"/>
          <p:cNvPicPr>
            <a:picLocks noChangeAspect="1" noChangeArrowheads="1"/>
          </p:cNvPicPr>
          <p:nvPr/>
        </p:nvPicPr>
        <p:blipFill>
          <a:blip r:embed="rId4">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5753100" y="1600200"/>
            <a:ext cx="14097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2" name="ZoneTexte 9"/>
          <p:cNvSpPr txBox="1">
            <a:spLocks noChangeArrowheads="1"/>
          </p:cNvSpPr>
          <p:nvPr/>
        </p:nvSpPr>
        <p:spPr bwMode="auto">
          <a:xfrm>
            <a:off x="838200" y="2438400"/>
            <a:ext cx="579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2. Le monte-charge ramené à l’arbre du moteur:</a:t>
            </a:r>
          </a:p>
        </p:txBody>
      </p:sp>
      <p:grpSp>
        <p:nvGrpSpPr>
          <p:cNvPr id="90123" name="Groupe 13"/>
          <p:cNvGrpSpPr>
            <a:grpSpLocks/>
          </p:cNvGrpSpPr>
          <p:nvPr/>
        </p:nvGrpSpPr>
        <p:grpSpPr bwMode="auto">
          <a:xfrm>
            <a:off x="3352800" y="2895600"/>
            <a:ext cx="2457450" cy="685800"/>
            <a:chOff x="3352800" y="2895600"/>
            <a:chExt cx="2457450" cy="685800"/>
          </a:xfrm>
        </p:grpSpPr>
        <p:pic>
          <p:nvPicPr>
            <p:cNvPr id="90136" name="Picture 4"/>
            <p:cNvPicPr>
              <a:picLocks noChangeAspect="1" noChangeArrowheads="1"/>
            </p:cNvPicPr>
            <p:nvPr/>
          </p:nvPicPr>
          <p:blipFill>
            <a:blip r:embed="rId5">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352800" y="2895600"/>
              <a:ext cx="24574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37" name="ZoneTexte 11"/>
            <p:cNvSpPr txBox="1">
              <a:spLocks noChangeArrowheads="1"/>
            </p:cNvSpPr>
            <p:nvPr/>
          </p:nvSpPr>
          <p:spPr bwMode="auto">
            <a:xfrm>
              <a:off x="5181600" y="3077400"/>
              <a:ext cx="252000" cy="504000"/>
            </a:xfrm>
            <a:prstGeom prst="rect">
              <a:avLst/>
            </a:prstGeom>
            <a:blipFill dpi="0" rotWithShape="1">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M</a:t>
              </a:r>
            </a:p>
          </p:txBody>
        </p:sp>
        <p:sp>
          <p:nvSpPr>
            <p:cNvPr id="90138" name="ZoneTexte 12"/>
            <p:cNvSpPr txBox="1">
              <a:spLocks noChangeArrowheads="1"/>
            </p:cNvSpPr>
            <p:nvPr/>
          </p:nvSpPr>
          <p:spPr bwMode="auto">
            <a:xfrm>
              <a:off x="5105400" y="2971800"/>
              <a:ext cx="457200" cy="108000"/>
            </a:xfrm>
            <a:prstGeom prst="rect">
              <a:avLst/>
            </a:prstGeom>
            <a:blipFill dpi="0" rotWithShape="1">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nvGrpSpPr>
          <p:cNvPr id="90124" name="Groupe 16"/>
          <p:cNvGrpSpPr>
            <a:grpSpLocks/>
          </p:cNvGrpSpPr>
          <p:nvPr/>
        </p:nvGrpSpPr>
        <p:grpSpPr bwMode="auto">
          <a:xfrm>
            <a:off x="3581400" y="3505200"/>
            <a:ext cx="1847850" cy="539750"/>
            <a:chOff x="3733800" y="3581400"/>
            <a:chExt cx="1847850" cy="540000"/>
          </a:xfrm>
        </p:grpSpPr>
        <p:pic>
          <p:nvPicPr>
            <p:cNvPr id="90134" name="Picture 5"/>
            <p:cNvPicPr>
              <a:picLocks noChangeAspect="1" noChangeArrowheads="1"/>
            </p:cNvPicPr>
            <p:nvPr/>
          </p:nvPicPr>
          <p:blipFill>
            <a:blip r:embed="rId7">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733800" y="3581400"/>
              <a:ext cx="18478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35" name="ZoneTexte 15"/>
            <p:cNvSpPr txBox="1">
              <a:spLocks noChangeArrowheads="1"/>
            </p:cNvSpPr>
            <p:nvPr/>
          </p:nvSpPr>
          <p:spPr bwMode="auto">
            <a:xfrm>
              <a:off x="4419600" y="3581400"/>
              <a:ext cx="504000" cy="540000"/>
            </a:xfrm>
            <a:prstGeom prst="rect">
              <a:avLst/>
            </a:prstGeom>
            <a:blipFill dpi="0" rotWithShape="1">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M.</a:t>
              </a:r>
            </a:p>
          </p:txBody>
        </p:sp>
      </p:grpSp>
      <p:sp>
        <p:nvSpPr>
          <p:cNvPr id="90125" name="ZoneTexte 21"/>
          <p:cNvSpPr txBox="1">
            <a:spLocks noChangeArrowheads="1"/>
          </p:cNvSpPr>
          <p:nvPr/>
        </p:nvSpPr>
        <p:spPr bwMode="auto">
          <a:xfrm>
            <a:off x="1219200" y="4114800"/>
            <a:ext cx="701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Donc, l’inertie du monte-charge ramené à l’arbre du moteur est:</a:t>
            </a:r>
          </a:p>
        </p:txBody>
      </p:sp>
      <p:grpSp>
        <p:nvGrpSpPr>
          <p:cNvPr id="90126" name="Groupe 24"/>
          <p:cNvGrpSpPr>
            <a:grpSpLocks/>
          </p:cNvGrpSpPr>
          <p:nvPr/>
        </p:nvGrpSpPr>
        <p:grpSpPr bwMode="auto">
          <a:xfrm>
            <a:off x="3048000" y="4648200"/>
            <a:ext cx="3086100" cy="579438"/>
            <a:chOff x="3048000" y="4648200"/>
            <a:chExt cx="3086100" cy="580199"/>
          </a:xfrm>
        </p:grpSpPr>
        <p:pic>
          <p:nvPicPr>
            <p:cNvPr id="90131" name="Picture 6"/>
            <p:cNvPicPr>
              <a:picLocks noChangeAspect="1" noChangeArrowheads="1"/>
            </p:cNvPicPr>
            <p:nvPr/>
          </p:nvPicPr>
          <p:blipFill>
            <a:blip r:embed="rId8">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048000" y="4648200"/>
              <a:ext cx="30861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32" name="ZoneTexte 22"/>
            <p:cNvSpPr txBox="1">
              <a:spLocks noChangeArrowheads="1"/>
            </p:cNvSpPr>
            <p:nvPr/>
          </p:nvSpPr>
          <p:spPr bwMode="auto">
            <a:xfrm>
              <a:off x="5029200" y="4724399"/>
              <a:ext cx="432000" cy="504000"/>
            </a:xfrm>
            <a:prstGeom prst="rect">
              <a:avLst/>
            </a:prstGeom>
            <a:blipFill dpi="0" rotWithShape="1">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700" b="1">
                  <a:latin typeface="Arial" panose="020B0604020202020204" pitchFamily="34" charset="0"/>
                </a:rPr>
                <a:t>M.</a:t>
              </a:r>
            </a:p>
          </p:txBody>
        </p:sp>
        <p:sp>
          <p:nvSpPr>
            <p:cNvPr id="90133" name="ZoneTexte 23"/>
            <p:cNvSpPr txBox="1">
              <a:spLocks noChangeArrowheads="1"/>
            </p:cNvSpPr>
            <p:nvPr/>
          </p:nvSpPr>
          <p:spPr bwMode="auto">
            <a:xfrm>
              <a:off x="5126400" y="4656600"/>
              <a:ext cx="360000" cy="144000"/>
            </a:xfrm>
            <a:prstGeom prst="rect">
              <a:avLst/>
            </a:prstGeom>
            <a:blipFill dpi="0" rotWithShape="1">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90127" name="ZoneTexte 25"/>
          <p:cNvSpPr txBox="1">
            <a:spLocks noChangeArrowheads="1"/>
          </p:cNvSpPr>
          <p:nvPr/>
        </p:nvSpPr>
        <p:spPr bwMode="auto">
          <a:xfrm>
            <a:off x="914400" y="5410200"/>
            <a:ext cx="579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3. Les frottement sec (couple constant Td):</a:t>
            </a:r>
          </a:p>
        </p:txBody>
      </p:sp>
      <p:pic>
        <p:nvPicPr>
          <p:cNvPr id="90128" name="Picture 7"/>
          <p:cNvPicPr>
            <a:picLocks noChangeAspect="1" noChangeArrowheads="1"/>
          </p:cNvPicPr>
          <p:nvPr/>
        </p:nvPicPr>
        <p:blipFill>
          <a:blip r:embed="rId9">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733800" y="5791200"/>
            <a:ext cx="15240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9" name="ZoneTexte 28"/>
          <p:cNvSpPr txBox="1">
            <a:spLocks noChangeArrowheads="1"/>
          </p:cNvSpPr>
          <p:nvPr/>
        </p:nvSpPr>
        <p:spPr bwMode="auto">
          <a:xfrm>
            <a:off x="685800" y="609600"/>
            <a:ext cx="1905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Solution:</a:t>
            </a:r>
          </a:p>
        </p:txBody>
      </p:sp>
      <p:pic>
        <p:nvPicPr>
          <p:cNvPr id="90130" name="Picture 26"/>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86600" y="1676400"/>
            <a:ext cx="2873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9216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80DCF4F-131B-4554-83E6-99EED17FE055}" type="slidenum">
              <a:rPr lang="en-US" altLang="fr-FR" sz="1000" smtClean="0">
                <a:solidFill>
                  <a:srgbClr val="292929"/>
                </a:solidFill>
                <a:latin typeface="Arial" panose="020B0604020202020204" pitchFamily="34" charset="0"/>
              </a:rPr>
              <a:pPr>
                <a:spcBef>
                  <a:spcPct val="0"/>
                </a:spcBef>
                <a:buClrTx/>
                <a:buSzTx/>
                <a:buFontTx/>
                <a:buNone/>
              </a:pPr>
              <a:t>44</a:t>
            </a:fld>
            <a:endParaRPr lang="en-US" altLang="fr-FR" sz="1000" smtClean="0">
              <a:solidFill>
                <a:srgbClr val="292929"/>
              </a:solidFill>
              <a:latin typeface="Arial" panose="020B0604020202020204" pitchFamily="34" charset="0"/>
            </a:endParaRPr>
          </a:p>
        </p:txBody>
      </p:sp>
      <p:pic>
        <p:nvPicPr>
          <p:cNvPr id="92164" name="Picture 2"/>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2819400" y="1447800"/>
            <a:ext cx="3276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5" name="ZoneTexte 4"/>
          <p:cNvSpPr txBox="1">
            <a:spLocks noChangeArrowheads="1"/>
          </p:cNvSpPr>
          <p:nvPr/>
        </p:nvSpPr>
        <p:spPr bwMode="auto">
          <a:xfrm>
            <a:off x="838200" y="762000"/>
            <a:ext cx="579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4. Les frottement visqueux (T</a:t>
            </a:r>
            <a:r>
              <a:rPr lang="fr-FR" altLang="fr-FR" sz="1800" baseline="-25000">
                <a:latin typeface="Calibri" panose="020F0502020204030204" pitchFamily="34" charset="0"/>
              </a:rPr>
              <a:t>v</a:t>
            </a:r>
            <a:r>
              <a:rPr lang="fr-FR" altLang="fr-FR" sz="1800">
                <a:latin typeface="Arial" panose="020B0604020202020204" pitchFamily="34" charset="0"/>
              </a:rPr>
              <a:t> = K1.</a:t>
            </a:r>
            <a:r>
              <a:rPr lang="el-GR" altLang="fr-FR" sz="1800">
                <a:latin typeface="Calibri" panose="020F0502020204030204" pitchFamily="34" charset="0"/>
              </a:rPr>
              <a:t>ω</a:t>
            </a:r>
            <a:r>
              <a:rPr lang="fr-FR" altLang="fr-FR" sz="1800" baseline="-25000">
                <a:latin typeface="Calibri" panose="020F0502020204030204" pitchFamily="34" charset="0"/>
              </a:rPr>
              <a:t>L</a:t>
            </a:r>
            <a:r>
              <a:rPr lang="fr-FR" altLang="fr-FR" sz="1800">
                <a:latin typeface="Arial" panose="020B0604020202020204" pitchFamily="34" charset="0"/>
              </a:rPr>
              <a:t>):</a:t>
            </a:r>
          </a:p>
        </p:txBody>
      </p:sp>
      <p:sp>
        <p:nvSpPr>
          <p:cNvPr id="92166" name="ZoneTexte 5"/>
          <p:cNvSpPr txBox="1">
            <a:spLocks noChangeArrowheads="1"/>
          </p:cNvSpPr>
          <p:nvPr/>
        </p:nvSpPr>
        <p:spPr bwMode="auto">
          <a:xfrm>
            <a:off x="914400" y="2209800"/>
            <a:ext cx="579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5. Le ventilateur (T</a:t>
            </a:r>
            <a:r>
              <a:rPr lang="fr-FR" altLang="fr-FR" sz="1800" baseline="-25000">
                <a:latin typeface="Calibri" panose="020F0502020204030204" pitchFamily="34" charset="0"/>
              </a:rPr>
              <a:t>f</a:t>
            </a:r>
            <a:r>
              <a:rPr lang="fr-FR" altLang="fr-FR" sz="1800">
                <a:latin typeface="Arial" panose="020B0604020202020204" pitchFamily="34" charset="0"/>
              </a:rPr>
              <a:t> = K</a:t>
            </a:r>
            <a:r>
              <a:rPr lang="fr-FR" altLang="fr-FR" sz="1800" baseline="-25000">
                <a:latin typeface="Calibri" panose="020F0502020204030204" pitchFamily="34" charset="0"/>
              </a:rPr>
              <a:t>2</a:t>
            </a:r>
            <a:r>
              <a:rPr lang="fr-FR" altLang="fr-FR" sz="1800">
                <a:latin typeface="Arial" panose="020B0604020202020204" pitchFamily="34" charset="0"/>
              </a:rPr>
              <a:t>.</a:t>
            </a:r>
            <a:r>
              <a:rPr lang="el-GR" altLang="fr-FR" sz="1800">
                <a:latin typeface="Calibri" panose="020F0502020204030204" pitchFamily="34" charset="0"/>
              </a:rPr>
              <a:t>ω</a:t>
            </a:r>
            <a:r>
              <a:rPr lang="fr-FR" altLang="fr-FR" sz="1800" baseline="-25000">
                <a:latin typeface="Calibri" panose="020F0502020204030204" pitchFamily="34" charset="0"/>
              </a:rPr>
              <a:t>L</a:t>
            </a:r>
            <a:r>
              <a:rPr lang="fr-FR" altLang="fr-FR" sz="1800">
                <a:latin typeface="Calibri" panose="020F0502020204030204" pitchFamily="34" charset="0"/>
              </a:rPr>
              <a:t>²</a:t>
            </a:r>
            <a:r>
              <a:rPr lang="fr-FR" altLang="fr-FR" sz="1800" baseline="-25000">
                <a:latin typeface="Calibri" panose="020F0502020204030204" pitchFamily="34" charset="0"/>
              </a:rPr>
              <a:t> </a:t>
            </a:r>
            <a:r>
              <a:rPr lang="fr-FR" altLang="fr-FR" sz="1800">
                <a:latin typeface="Arial" panose="020B0604020202020204" pitchFamily="34" charset="0"/>
              </a:rPr>
              <a:t>):</a:t>
            </a:r>
          </a:p>
        </p:txBody>
      </p:sp>
      <p:pic>
        <p:nvPicPr>
          <p:cNvPr id="92167" name="Picture 3"/>
          <p:cNvPicPr>
            <a:picLocks noChangeAspect="1" noChangeArrowheads="1"/>
          </p:cNvPicPr>
          <p:nvPr/>
        </p:nvPicPr>
        <p:blipFill>
          <a:blip r:embed="rId4">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2971800" y="2971800"/>
            <a:ext cx="32099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8" name="ZoneTexte 8"/>
          <p:cNvSpPr txBox="1">
            <a:spLocks noChangeArrowheads="1"/>
          </p:cNvSpPr>
          <p:nvPr/>
        </p:nvSpPr>
        <p:spPr bwMode="auto">
          <a:xfrm>
            <a:off x="990600" y="3810000"/>
            <a:ext cx="579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6. L’équation du mouvement devient évidente.</a:t>
            </a:r>
          </a:p>
        </p:txBody>
      </p:sp>
      <p:sp>
        <p:nvSpPr>
          <p:cNvPr id="92169" name="Rectangle 32"/>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7" name="Rectangle 31"/>
          <p:cNvSpPr txBox="1">
            <a:spLocks noChangeArrowheads="1"/>
          </p:cNvSpPr>
          <p:nvPr/>
        </p:nvSpPr>
        <p:spPr>
          <a:xfrm>
            <a:off x="457200" y="304800"/>
            <a:ext cx="6858000" cy="381000"/>
          </a:xfrm>
          <a:prstGeom prst="rect">
            <a:avLst/>
          </a:prstGeom>
          <a:noFill/>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94211" name="Espace réservé du numéro de diapositive 3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93133F0-1C39-41F5-AF97-E0BD2A4705AD}" type="slidenum">
              <a:rPr lang="en-US" altLang="fr-FR" sz="1000" smtClean="0">
                <a:solidFill>
                  <a:srgbClr val="292929"/>
                </a:solidFill>
                <a:latin typeface="Arial" panose="020B0604020202020204" pitchFamily="34" charset="0"/>
              </a:rPr>
              <a:pPr>
                <a:spcBef>
                  <a:spcPct val="0"/>
                </a:spcBef>
                <a:buClrTx/>
                <a:buSzTx/>
                <a:buFontTx/>
                <a:buNone/>
              </a:pPr>
              <a:t>45</a:t>
            </a:fld>
            <a:endParaRPr lang="en-US" altLang="fr-FR" sz="1000" smtClean="0">
              <a:solidFill>
                <a:srgbClr val="292929"/>
              </a:solidFill>
              <a:latin typeface="Arial" panose="020B0604020202020204" pitchFamily="34" charset="0"/>
            </a:endParaRPr>
          </a:p>
        </p:txBody>
      </p:sp>
      <p:sp>
        <p:nvSpPr>
          <p:cNvPr id="94212"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6565" name="Text Box 4"/>
          <p:cNvSpPr txBox="1">
            <a:spLocks noChangeArrowheads="1"/>
          </p:cNvSpPr>
          <p:nvPr/>
        </p:nvSpPr>
        <p:spPr bwMode="auto">
          <a:xfrm>
            <a:off x="685800" y="762000"/>
            <a:ext cx="6553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Couples de Charge et du moteur en régime statique</a:t>
            </a:r>
          </a:p>
        </p:txBody>
      </p:sp>
      <p:sp>
        <p:nvSpPr>
          <p:cNvPr id="66566" name="Text Box 6"/>
          <p:cNvSpPr txBox="1">
            <a:spLocks noChangeArrowheads="1"/>
          </p:cNvSpPr>
          <p:nvPr/>
        </p:nvSpPr>
        <p:spPr bwMode="auto">
          <a:xfrm>
            <a:off x="685800" y="1371600"/>
            <a:ext cx="78486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A vitesse constante (régime statique), T</a:t>
            </a:r>
            <a:r>
              <a:rPr lang="en-US" altLang="fr-FR" sz="1800" baseline="-25000">
                <a:latin typeface="Arial" panose="020B0604020202020204" pitchFamily="34" charset="0"/>
              </a:rPr>
              <a:t>e</a:t>
            </a:r>
            <a:r>
              <a:rPr lang="en-US" altLang="fr-FR" sz="1800">
                <a:latin typeface="Arial" panose="020B0604020202020204" pitchFamily="34" charset="0"/>
              </a:rPr>
              <a:t>= T</a:t>
            </a:r>
            <a:r>
              <a:rPr lang="en-US" altLang="fr-FR" sz="1800" baseline="-25000">
                <a:latin typeface="Arial" panose="020B0604020202020204" pitchFamily="34" charset="0"/>
              </a:rPr>
              <a:t>L</a:t>
            </a:r>
            <a:r>
              <a:rPr lang="en-US" altLang="fr-FR" sz="1800">
                <a:latin typeface="Arial" panose="020B0604020202020204" pitchFamily="34" charset="0"/>
              </a:rPr>
              <a:t> </a:t>
            </a:r>
          </a:p>
          <a:p>
            <a:pPr eaLnBrk="1" hangingPunct="1">
              <a:spcBef>
                <a:spcPct val="0"/>
              </a:spcBef>
              <a:buClrTx/>
              <a:buSzTx/>
              <a:buFontTx/>
              <a:buNone/>
            </a:pPr>
            <a:r>
              <a:rPr lang="en-US" altLang="fr-FR" sz="1800">
                <a:latin typeface="Arial" panose="020B0604020202020204" pitchFamily="34" charset="0"/>
              </a:rPr>
              <a:t>La vitesse au régime statique </a:t>
            </a:r>
            <a:r>
              <a:rPr lang="fr-FR" altLang="fr-FR" sz="1800">
                <a:latin typeface="Arial" panose="020B0604020202020204" pitchFamily="34" charset="0"/>
              </a:rPr>
              <a:t>est au point d'intersection entre</a:t>
            </a:r>
            <a:r>
              <a:rPr lang="en-US" altLang="fr-FR" sz="1800">
                <a:latin typeface="Arial" panose="020B0604020202020204" pitchFamily="34" charset="0"/>
              </a:rPr>
              <a:t>T</a:t>
            </a:r>
            <a:r>
              <a:rPr lang="en-US" altLang="fr-FR" sz="1800" baseline="-25000">
                <a:latin typeface="Arial" panose="020B0604020202020204" pitchFamily="34" charset="0"/>
              </a:rPr>
              <a:t>e</a:t>
            </a:r>
            <a:r>
              <a:rPr lang="en-US" altLang="fr-FR" sz="1800">
                <a:latin typeface="Arial" panose="020B0604020202020204" pitchFamily="34" charset="0"/>
              </a:rPr>
              <a:t> et T</a:t>
            </a:r>
            <a:r>
              <a:rPr lang="en-US" altLang="fr-FR" sz="1800" baseline="-25000">
                <a:latin typeface="Arial" panose="020B0604020202020204" pitchFamily="34" charset="0"/>
              </a:rPr>
              <a:t>L</a:t>
            </a:r>
            <a:r>
              <a:rPr lang="en-US" altLang="fr-FR" sz="1800">
                <a:latin typeface="Arial" panose="020B0604020202020204" pitchFamily="34" charset="0"/>
              </a:rPr>
              <a:t> caractéristiques statiques du moteur et de la charge.</a:t>
            </a:r>
            <a:endParaRPr lang="en-US" altLang="fr-FR" sz="1800" baseline="-25000">
              <a:latin typeface="Arial" panose="020B0604020202020204" pitchFamily="34" charset="0"/>
            </a:endParaRPr>
          </a:p>
        </p:txBody>
      </p:sp>
      <p:grpSp>
        <p:nvGrpSpPr>
          <p:cNvPr id="66569" name="Group 16"/>
          <p:cNvGrpSpPr>
            <a:grpSpLocks/>
          </p:cNvGrpSpPr>
          <p:nvPr/>
        </p:nvGrpSpPr>
        <p:grpSpPr bwMode="auto">
          <a:xfrm>
            <a:off x="3352800" y="2474913"/>
            <a:ext cx="4129088" cy="3468687"/>
            <a:chOff x="1296" y="1559"/>
            <a:chExt cx="2601" cy="2185"/>
          </a:xfrm>
        </p:grpSpPr>
        <p:sp>
          <p:nvSpPr>
            <p:cNvPr id="94246" name="Freeform 9"/>
            <p:cNvSpPr>
              <a:spLocks/>
            </p:cNvSpPr>
            <p:nvPr/>
          </p:nvSpPr>
          <p:spPr bwMode="auto">
            <a:xfrm>
              <a:off x="1296" y="1776"/>
              <a:ext cx="2400" cy="1968"/>
            </a:xfrm>
            <a:custGeom>
              <a:avLst/>
              <a:gdLst>
                <a:gd name="T0" fmla="*/ 0 w 2400"/>
                <a:gd name="T1" fmla="*/ 1968 h 1968"/>
                <a:gd name="T2" fmla="*/ 672 w 2400"/>
                <a:gd name="T3" fmla="*/ 1824 h 1968"/>
                <a:gd name="T4" fmla="*/ 1296 w 2400"/>
                <a:gd name="T5" fmla="*/ 1440 h 1968"/>
                <a:gd name="T6" fmla="*/ 2064 w 2400"/>
                <a:gd name="T7" fmla="*/ 576 h 1968"/>
                <a:gd name="T8" fmla="*/ 2400 w 2400"/>
                <a:gd name="T9" fmla="*/ 0 h 1968"/>
                <a:gd name="T10" fmla="*/ 0 60000 65536"/>
                <a:gd name="T11" fmla="*/ 0 60000 65536"/>
                <a:gd name="T12" fmla="*/ 0 60000 65536"/>
                <a:gd name="T13" fmla="*/ 0 60000 65536"/>
                <a:gd name="T14" fmla="*/ 0 60000 65536"/>
                <a:gd name="T15" fmla="*/ 0 w 2400"/>
                <a:gd name="T16" fmla="*/ 0 h 1968"/>
                <a:gd name="T17" fmla="*/ 2400 w 2400"/>
                <a:gd name="T18" fmla="*/ 1968 h 1968"/>
              </a:gdLst>
              <a:ahLst/>
              <a:cxnLst>
                <a:cxn ang="T10">
                  <a:pos x="T0" y="T1"/>
                </a:cxn>
                <a:cxn ang="T11">
                  <a:pos x="T2" y="T3"/>
                </a:cxn>
                <a:cxn ang="T12">
                  <a:pos x="T4" y="T5"/>
                </a:cxn>
                <a:cxn ang="T13">
                  <a:pos x="T6" y="T7"/>
                </a:cxn>
                <a:cxn ang="T14">
                  <a:pos x="T8" y="T9"/>
                </a:cxn>
              </a:cxnLst>
              <a:rect l="T15" t="T16" r="T17" b="T18"/>
              <a:pathLst>
                <a:path w="2400" h="1968">
                  <a:moveTo>
                    <a:pt x="0" y="1968"/>
                  </a:moveTo>
                  <a:cubicBezTo>
                    <a:pt x="228" y="1940"/>
                    <a:pt x="456" y="1912"/>
                    <a:pt x="672" y="1824"/>
                  </a:cubicBezTo>
                  <a:cubicBezTo>
                    <a:pt x="888" y="1736"/>
                    <a:pt x="1064" y="1648"/>
                    <a:pt x="1296" y="1440"/>
                  </a:cubicBezTo>
                  <a:cubicBezTo>
                    <a:pt x="1528" y="1232"/>
                    <a:pt x="1880" y="816"/>
                    <a:pt x="2064" y="576"/>
                  </a:cubicBezTo>
                  <a:cubicBezTo>
                    <a:pt x="2248" y="336"/>
                    <a:pt x="2324" y="168"/>
                    <a:pt x="2400" y="0"/>
                  </a:cubicBezTo>
                </a:path>
              </a:pathLst>
            </a:custGeom>
            <a:noFill/>
            <a:ln w="28575">
              <a:solidFill>
                <a:srgbClr val="000099"/>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4247" name="Text Box 15"/>
            <p:cNvSpPr txBox="1">
              <a:spLocks noChangeArrowheads="1"/>
            </p:cNvSpPr>
            <p:nvPr/>
          </p:nvSpPr>
          <p:spPr bwMode="auto">
            <a:xfrm>
              <a:off x="3638" y="1559"/>
              <a:ext cx="25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a:t>
              </a:r>
              <a:r>
                <a:rPr lang="en-US" altLang="fr-FR" sz="1800" baseline="-25000">
                  <a:latin typeface="Arial" panose="020B0604020202020204" pitchFamily="34" charset="0"/>
                </a:rPr>
                <a:t>L</a:t>
              </a:r>
              <a:endParaRPr lang="en-US" altLang="fr-FR" sz="1800">
                <a:latin typeface="Arial" panose="020B0604020202020204" pitchFamily="34" charset="0"/>
              </a:endParaRPr>
            </a:p>
          </p:txBody>
        </p:sp>
      </p:grpSp>
      <p:grpSp>
        <p:nvGrpSpPr>
          <p:cNvPr id="66570" name="Group 18"/>
          <p:cNvGrpSpPr>
            <a:grpSpLocks/>
          </p:cNvGrpSpPr>
          <p:nvPr/>
        </p:nvGrpSpPr>
        <p:grpSpPr bwMode="auto">
          <a:xfrm>
            <a:off x="5699125" y="2474913"/>
            <a:ext cx="549275" cy="3468687"/>
            <a:chOff x="3062" y="1559"/>
            <a:chExt cx="346" cy="2185"/>
          </a:xfrm>
        </p:grpSpPr>
        <p:sp>
          <p:nvSpPr>
            <p:cNvPr id="94244" name="Line 10"/>
            <p:cNvSpPr>
              <a:spLocks noChangeShapeType="1"/>
            </p:cNvSpPr>
            <p:nvPr/>
          </p:nvSpPr>
          <p:spPr bwMode="auto">
            <a:xfrm>
              <a:off x="3216" y="1776"/>
              <a:ext cx="192" cy="196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45" name="Text Box 17"/>
            <p:cNvSpPr txBox="1">
              <a:spLocks noChangeArrowheads="1"/>
            </p:cNvSpPr>
            <p:nvPr/>
          </p:nvSpPr>
          <p:spPr bwMode="auto">
            <a:xfrm>
              <a:off x="3062" y="1559"/>
              <a:ext cx="2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a:t>
              </a:r>
              <a:r>
                <a:rPr lang="en-US" altLang="fr-FR" sz="1800" baseline="-25000">
                  <a:latin typeface="Arial" panose="020B0604020202020204" pitchFamily="34" charset="0"/>
                </a:rPr>
                <a:t>e</a:t>
              </a:r>
              <a:endParaRPr lang="en-US" altLang="fr-FR" sz="1800">
                <a:latin typeface="Arial" panose="020B0604020202020204" pitchFamily="34" charset="0"/>
              </a:endParaRPr>
            </a:p>
          </p:txBody>
        </p:sp>
      </p:grpSp>
      <p:grpSp>
        <p:nvGrpSpPr>
          <p:cNvPr id="4" name="Group 14"/>
          <p:cNvGrpSpPr>
            <a:grpSpLocks/>
          </p:cNvGrpSpPr>
          <p:nvPr/>
        </p:nvGrpSpPr>
        <p:grpSpPr bwMode="auto">
          <a:xfrm>
            <a:off x="6019800" y="3833813"/>
            <a:ext cx="2816225" cy="923925"/>
            <a:chOff x="3240" y="2087"/>
            <a:chExt cx="1774" cy="582"/>
          </a:xfrm>
        </p:grpSpPr>
        <p:sp>
          <p:nvSpPr>
            <p:cNvPr id="94241" name="Oval 11"/>
            <p:cNvSpPr>
              <a:spLocks noChangeArrowheads="1"/>
            </p:cNvSpPr>
            <p:nvPr/>
          </p:nvSpPr>
          <p:spPr bwMode="auto">
            <a:xfrm>
              <a:off x="3240" y="2408"/>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4242" name="Freeform 12"/>
            <p:cNvSpPr>
              <a:spLocks/>
            </p:cNvSpPr>
            <p:nvPr/>
          </p:nvSpPr>
          <p:spPr bwMode="auto">
            <a:xfrm>
              <a:off x="3360" y="2192"/>
              <a:ext cx="672" cy="256"/>
            </a:xfrm>
            <a:custGeom>
              <a:avLst/>
              <a:gdLst>
                <a:gd name="T0" fmla="*/ 672 w 672"/>
                <a:gd name="T1" fmla="*/ 16 h 256"/>
                <a:gd name="T2" fmla="*/ 240 w 672"/>
                <a:gd name="T3" fmla="*/ 16 h 256"/>
                <a:gd name="T4" fmla="*/ 288 w 672"/>
                <a:gd name="T5" fmla="*/ 112 h 256"/>
                <a:gd name="T6" fmla="*/ 0 w 672"/>
                <a:gd name="T7" fmla="*/ 256 h 256"/>
                <a:gd name="T8" fmla="*/ 0 60000 65536"/>
                <a:gd name="T9" fmla="*/ 0 60000 65536"/>
                <a:gd name="T10" fmla="*/ 0 60000 65536"/>
                <a:gd name="T11" fmla="*/ 0 60000 65536"/>
                <a:gd name="T12" fmla="*/ 0 w 672"/>
                <a:gd name="T13" fmla="*/ 0 h 256"/>
                <a:gd name="T14" fmla="*/ 672 w 672"/>
                <a:gd name="T15" fmla="*/ 256 h 256"/>
              </a:gdLst>
              <a:ahLst/>
              <a:cxnLst>
                <a:cxn ang="T8">
                  <a:pos x="T0" y="T1"/>
                </a:cxn>
                <a:cxn ang="T9">
                  <a:pos x="T2" y="T3"/>
                </a:cxn>
                <a:cxn ang="T10">
                  <a:pos x="T4" y="T5"/>
                </a:cxn>
                <a:cxn ang="T11">
                  <a:pos x="T6" y="T7"/>
                </a:cxn>
              </a:cxnLst>
              <a:rect l="T12" t="T13" r="T14" b="T15"/>
              <a:pathLst>
                <a:path w="672" h="256">
                  <a:moveTo>
                    <a:pt x="672" y="16"/>
                  </a:moveTo>
                  <a:cubicBezTo>
                    <a:pt x="488" y="8"/>
                    <a:pt x="304" y="0"/>
                    <a:pt x="240" y="16"/>
                  </a:cubicBezTo>
                  <a:cubicBezTo>
                    <a:pt x="176" y="32"/>
                    <a:pt x="328" y="72"/>
                    <a:pt x="288" y="112"/>
                  </a:cubicBezTo>
                  <a:cubicBezTo>
                    <a:pt x="248" y="152"/>
                    <a:pt x="124" y="204"/>
                    <a:pt x="0" y="25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4243" name="Text Box 13"/>
            <p:cNvSpPr txBox="1">
              <a:spLocks noChangeArrowheads="1"/>
            </p:cNvSpPr>
            <p:nvPr/>
          </p:nvSpPr>
          <p:spPr bwMode="auto">
            <a:xfrm>
              <a:off x="3864" y="2087"/>
              <a:ext cx="1150"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en-US" altLang="fr-FR" sz="1800" dirty="0">
                <a:latin typeface="Arial" panose="020B0604020202020204" pitchFamily="34" charset="0"/>
              </a:endParaRPr>
            </a:p>
            <a:p>
              <a:pPr eaLnBrk="1" hangingPunct="1">
                <a:spcBef>
                  <a:spcPct val="0"/>
                </a:spcBef>
                <a:buClrTx/>
                <a:buSzTx/>
                <a:buFontTx/>
                <a:buNone/>
              </a:pPr>
              <a:r>
                <a:rPr lang="en-US" altLang="fr-FR" sz="1800" dirty="0" err="1">
                  <a:latin typeface="Arial" panose="020B0604020202020204" pitchFamily="34" charset="0"/>
                </a:rPr>
                <a:t>Vitesse</a:t>
              </a:r>
              <a:r>
                <a:rPr lang="en-US" altLang="fr-FR" sz="1800" dirty="0">
                  <a:latin typeface="Arial" panose="020B0604020202020204" pitchFamily="34" charset="0"/>
                </a:rPr>
                <a:t> du</a:t>
              </a:r>
            </a:p>
            <a:p>
              <a:pPr eaLnBrk="1" hangingPunct="1">
                <a:spcBef>
                  <a:spcPct val="0"/>
                </a:spcBef>
                <a:buClrTx/>
                <a:buSzTx/>
                <a:buFontTx/>
                <a:buNone/>
              </a:pPr>
              <a:r>
                <a:rPr lang="en-US" altLang="fr-FR" sz="1800" dirty="0">
                  <a:latin typeface="Arial" panose="020B0604020202020204" pitchFamily="34" charset="0"/>
                </a:rPr>
                <a:t> régime </a:t>
              </a:r>
              <a:r>
                <a:rPr lang="en-US" altLang="fr-FR" sz="1800" dirty="0" err="1">
                  <a:latin typeface="Arial" panose="020B0604020202020204" pitchFamily="34" charset="0"/>
                </a:rPr>
                <a:t>statique</a:t>
              </a:r>
              <a:endParaRPr lang="en-US" altLang="fr-FR" sz="1800" dirty="0">
                <a:latin typeface="Arial" panose="020B0604020202020204" pitchFamily="34" charset="0"/>
              </a:endParaRPr>
            </a:p>
          </p:txBody>
        </p:sp>
      </p:grpSp>
      <p:sp>
        <p:nvSpPr>
          <p:cNvPr id="27671" name="Line 23"/>
          <p:cNvSpPr>
            <a:spLocks noChangeShapeType="1"/>
          </p:cNvSpPr>
          <p:nvPr/>
        </p:nvSpPr>
        <p:spPr bwMode="auto">
          <a:xfrm>
            <a:off x="5943600" y="2819400"/>
            <a:ext cx="304800" cy="3124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673" name="Line 25"/>
          <p:cNvSpPr>
            <a:spLocks noChangeShapeType="1"/>
          </p:cNvSpPr>
          <p:nvPr/>
        </p:nvSpPr>
        <p:spPr bwMode="auto">
          <a:xfrm>
            <a:off x="5943600" y="2819400"/>
            <a:ext cx="304800" cy="3124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20" name="Line 26"/>
          <p:cNvSpPr>
            <a:spLocks noChangeShapeType="1"/>
          </p:cNvSpPr>
          <p:nvPr/>
        </p:nvSpPr>
        <p:spPr bwMode="auto">
          <a:xfrm>
            <a:off x="6096000" y="4343400"/>
            <a:ext cx="0" cy="1600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nvGrpSpPr>
          <p:cNvPr id="3" name="Groupe 2"/>
          <p:cNvGrpSpPr>
            <a:grpSpLocks/>
          </p:cNvGrpSpPr>
          <p:nvPr/>
        </p:nvGrpSpPr>
        <p:grpSpPr bwMode="auto">
          <a:xfrm>
            <a:off x="3352800" y="2438400"/>
            <a:ext cx="5318125" cy="3919538"/>
            <a:chOff x="3352800" y="2438400"/>
            <a:chExt cx="5318125" cy="3919538"/>
          </a:xfrm>
        </p:grpSpPr>
        <p:grpSp>
          <p:nvGrpSpPr>
            <p:cNvPr id="94236" name="Groupe 1"/>
            <p:cNvGrpSpPr>
              <a:grpSpLocks/>
            </p:cNvGrpSpPr>
            <p:nvPr/>
          </p:nvGrpSpPr>
          <p:grpSpPr bwMode="auto">
            <a:xfrm>
              <a:off x="3352800" y="2514600"/>
              <a:ext cx="5257800" cy="3429000"/>
              <a:chOff x="3352800" y="2514600"/>
              <a:chExt cx="5257800" cy="3429000"/>
            </a:xfrm>
          </p:grpSpPr>
          <p:sp>
            <p:nvSpPr>
              <p:cNvPr id="94239" name="Line 7"/>
              <p:cNvSpPr>
                <a:spLocks noChangeShapeType="1"/>
              </p:cNvSpPr>
              <p:nvPr/>
            </p:nvSpPr>
            <p:spPr bwMode="auto">
              <a:xfrm flipV="1">
                <a:off x="3352800" y="2514600"/>
                <a:ext cx="0" cy="3429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94240" name="Line 8"/>
              <p:cNvSpPr>
                <a:spLocks noChangeShapeType="1"/>
              </p:cNvSpPr>
              <p:nvPr/>
            </p:nvSpPr>
            <p:spPr bwMode="auto">
              <a:xfrm>
                <a:off x="3352800" y="5943600"/>
                <a:ext cx="5257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94237" name="Text Box 29"/>
            <p:cNvSpPr txBox="1">
              <a:spLocks noChangeArrowheads="1"/>
            </p:cNvSpPr>
            <p:nvPr/>
          </p:nvSpPr>
          <p:spPr bwMode="auto">
            <a:xfrm>
              <a:off x="3429000" y="2438400"/>
              <a:ext cx="787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couple</a:t>
              </a:r>
            </a:p>
          </p:txBody>
        </p:sp>
        <p:sp>
          <p:nvSpPr>
            <p:cNvPr id="94238" name="Text Box 30"/>
            <p:cNvSpPr txBox="1">
              <a:spLocks noChangeArrowheads="1"/>
            </p:cNvSpPr>
            <p:nvPr/>
          </p:nvSpPr>
          <p:spPr bwMode="auto">
            <a:xfrm>
              <a:off x="7848600" y="6019800"/>
              <a:ext cx="8223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vitesse</a:t>
              </a:r>
            </a:p>
          </p:txBody>
        </p:sp>
      </p:grpSp>
      <p:grpSp>
        <p:nvGrpSpPr>
          <p:cNvPr id="5" name="Group 44"/>
          <p:cNvGrpSpPr>
            <a:grpSpLocks/>
          </p:cNvGrpSpPr>
          <p:nvPr/>
        </p:nvGrpSpPr>
        <p:grpSpPr bwMode="auto">
          <a:xfrm>
            <a:off x="4822825" y="3276600"/>
            <a:ext cx="2408238" cy="2998788"/>
            <a:chOff x="2222" y="2064"/>
            <a:chExt cx="1517" cy="1889"/>
          </a:xfrm>
        </p:grpSpPr>
        <p:sp>
          <p:nvSpPr>
            <p:cNvPr id="94225" name="Oval 32"/>
            <p:cNvSpPr>
              <a:spLocks noChangeArrowheads="1"/>
            </p:cNvSpPr>
            <p:nvPr/>
          </p:nvSpPr>
          <p:spPr bwMode="auto">
            <a:xfrm>
              <a:off x="3473"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4226" name="Line 34"/>
            <p:cNvSpPr>
              <a:spLocks noChangeShapeType="1"/>
            </p:cNvSpPr>
            <p:nvPr/>
          </p:nvSpPr>
          <p:spPr bwMode="auto">
            <a:xfrm>
              <a:off x="3521" y="2160"/>
              <a:ext cx="0" cy="158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4227" name="Text Box 36"/>
            <p:cNvSpPr txBox="1">
              <a:spLocks noChangeArrowheads="1"/>
            </p:cNvSpPr>
            <p:nvPr/>
          </p:nvSpPr>
          <p:spPr bwMode="auto">
            <a:xfrm>
              <a:off x="3417" y="3722"/>
              <a:ext cx="32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r2</a:t>
              </a:r>
              <a:endParaRPr lang="en-US" altLang="fr-FR" sz="1800">
                <a:latin typeface="Arial" panose="020B0604020202020204" pitchFamily="34" charset="0"/>
                <a:sym typeface="Symbol" panose="05050102010706020507" pitchFamily="18" charset="2"/>
              </a:endParaRPr>
            </a:p>
          </p:txBody>
        </p:sp>
        <p:grpSp>
          <p:nvGrpSpPr>
            <p:cNvPr id="94228" name="Group 43"/>
            <p:cNvGrpSpPr>
              <a:grpSpLocks/>
            </p:cNvGrpSpPr>
            <p:nvPr/>
          </p:nvGrpSpPr>
          <p:grpSpPr bwMode="auto">
            <a:xfrm>
              <a:off x="2222" y="2736"/>
              <a:ext cx="994" cy="1191"/>
              <a:chOff x="2222" y="2736"/>
              <a:chExt cx="994" cy="1191"/>
            </a:xfrm>
          </p:grpSpPr>
          <p:sp>
            <p:nvSpPr>
              <p:cNvPr id="94229" name="Oval 31"/>
              <p:cNvSpPr>
                <a:spLocks noChangeArrowheads="1"/>
              </p:cNvSpPr>
              <p:nvPr/>
            </p:nvSpPr>
            <p:spPr bwMode="auto">
              <a:xfrm>
                <a:off x="2343" y="3312"/>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4230" name="Line 33"/>
              <p:cNvSpPr>
                <a:spLocks noChangeShapeType="1"/>
              </p:cNvSpPr>
              <p:nvPr/>
            </p:nvSpPr>
            <p:spPr bwMode="auto">
              <a:xfrm>
                <a:off x="2400" y="3360"/>
                <a:ext cx="0" cy="38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4231" name="Text Box 37"/>
              <p:cNvSpPr txBox="1">
                <a:spLocks noChangeArrowheads="1"/>
              </p:cNvSpPr>
              <p:nvPr/>
            </p:nvSpPr>
            <p:spPr bwMode="auto">
              <a:xfrm>
                <a:off x="2222" y="3696"/>
                <a:ext cx="32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r3</a:t>
                </a:r>
                <a:endParaRPr lang="en-US" altLang="fr-FR" sz="1800">
                  <a:latin typeface="Arial" panose="020B0604020202020204" pitchFamily="34" charset="0"/>
                  <a:sym typeface="Symbol" panose="05050102010706020507" pitchFamily="18" charset="2"/>
                </a:endParaRPr>
              </a:p>
            </p:txBody>
          </p:sp>
          <p:grpSp>
            <p:nvGrpSpPr>
              <p:cNvPr id="94232" name="Group 41"/>
              <p:cNvGrpSpPr>
                <a:grpSpLocks/>
              </p:cNvGrpSpPr>
              <p:nvPr/>
            </p:nvGrpSpPr>
            <p:grpSpPr bwMode="auto">
              <a:xfrm>
                <a:off x="2894" y="2736"/>
                <a:ext cx="322" cy="1191"/>
                <a:chOff x="3662" y="2736"/>
                <a:chExt cx="322" cy="1191"/>
              </a:xfrm>
            </p:grpSpPr>
            <p:sp>
              <p:nvSpPr>
                <p:cNvPr id="94233" name="Oval 38"/>
                <p:cNvSpPr>
                  <a:spLocks noChangeArrowheads="1"/>
                </p:cNvSpPr>
                <p:nvPr/>
              </p:nvSpPr>
              <p:spPr bwMode="auto">
                <a:xfrm>
                  <a:off x="3744" y="2736"/>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4234" name="Line 39"/>
                <p:cNvSpPr>
                  <a:spLocks noChangeShapeType="1"/>
                </p:cNvSpPr>
                <p:nvPr/>
              </p:nvSpPr>
              <p:spPr bwMode="auto">
                <a:xfrm>
                  <a:off x="3792" y="2784"/>
                  <a:ext cx="0" cy="96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4235" name="Text Box 40"/>
                <p:cNvSpPr txBox="1">
                  <a:spLocks noChangeArrowheads="1"/>
                </p:cNvSpPr>
                <p:nvPr/>
              </p:nvSpPr>
              <p:spPr bwMode="auto">
                <a:xfrm>
                  <a:off x="3662" y="3696"/>
                  <a:ext cx="32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r1</a:t>
                  </a:r>
                  <a:endParaRPr lang="en-US" altLang="fr-FR" sz="1800">
                    <a:latin typeface="Arial" panose="020B0604020202020204" pitchFamily="34" charset="0"/>
                    <a:sym typeface="Symbol" panose="05050102010706020507" pitchFamily="18" charset="2"/>
                  </a:endParaRPr>
                </a:p>
              </p:txBody>
            </p:sp>
          </p:grpSp>
        </p:grpSp>
      </p:grpSp>
      <p:sp>
        <p:nvSpPr>
          <p:cNvPr id="39" name="Espace réservé du pied de page 38"/>
          <p:cNvSpPr>
            <a:spLocks noGrp="1"/>
          </p:cNvSpPr>
          <p:nvPr>
            <p:ph type="ftr" sz="quarter" idx="11"/>
          </p:nvPr>
        </p:nvSpPr>
        <p:spPr/>
        <p:txBody>
          <a:bodyPr/>
          <a:lstStyle/>
          <a:p>
            <a:pPr>
              <a:defRPr/>
            </a:pPr>
            <a:r>
              <a:rPr lang="fr-FR" smtClean="0"/>
              <a:t>Commande des machines  1. Intro         Ali NEJMI</a:t>
            </a:r>
            <a:endParaRPr lang="fr-FR"/>
          </a:p>
        </p:txBody>
      </p:sp>
      <p:sp>
        <p:nvSpPr>
          <p:cNvPr id="63507" name="ZoneTexte 39"/>
          <p:cNvSpPr txBox="1">
            <a:spLocks noChangeArrowheads="1"/>
          </p:cNvSpPr>
          <p:nvPr/>
        </p:nvSpPr>
        <p:spPr bwMode="auto">
          <a:xfrm>
            <a:off x="533400" y="3427413"/>
            <a:ext cx="28194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Pour le profil de vitesse en régime dynamique, il faut utiliser les caractéristiques dynamiques du moteur et de la charge.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5" presetClass="path" presetSubtype="0" accel="50000" decel="50000" fill="hold" grpId="0" nodeType="afterEffect">
                                  <p:stCondLst>
                                    <p:cond delay="0"/>
                                  </p:stCondLst>
                                  <p:childTnLst>
                                    <p:animMotion origin="layout" path="M 3.33333E-6 1.11111E-6 L -0.12032 1.11111E-6 " pathEditMode="relative" rAng="0" ptsTypes="AA">
                                      <p:cBhvr>
                                        <p:cTn id="6" dur="500" fill="hold"/>
                                        <p:tgtEl>
                                          <p:spTgt spid="27671"/>
                                        </p:tgtEl>
                                        <p:attrNameLst>
                                          <p:attrName>ppt_x</p:attrName>
                                          <p:attrName>ppt_y</p:attrName>
                                        </p:attrNameLst>
                                      </p:cBhvr>
                                      <p:rCtr x="-6024" y="0"/>
                                    </p:animMotion>
                                  </p:childTnLst>
                                </p:cTn>
                              </p:par>
                            </p:childTnLst>
                          </p:cTn>
                        </p:par>
                        <p:par>
                          <p:cTn id="7" fill="hold" nodeType="afterGroup">
                            <p:stCondLst>
                              <p:cond delay="500"/>
                            </p:stCondLst>
                            <p:childTnLst>
                              <p:par>
                                <p:cTn id="8" presetID="63" presetClass="path" presetSubtype="0" accel="50000" decel="50000" fill="hold" grpId="0" nodeType="afterEffect">
                                  <p:stCondLst>
                                    <p:cond delay="0"/>
                                  </p:stCondLst>
                                  <p:childTnLst>
                                    <p:animMotion origin="layout" path="M 3.33333E-6 1.11111E-6 L 0.1 1.11111E-6 " pathEditMode="relative" rAng="0" ptsTypes="AA">
                                      <p:cBhvr>
                                        <p:cTn id="9" dur="500" fill="hold"/>
                                        <p:tgtEl>
                                          <p:spTgt spid="27673"/>
                                        </p:tgtEl>
                                        <p:attrNameLst>
                                          <p:attrName>ppt_x</p:attrName>
                                          <p:attrName>ppt_y</p:attrName>
                                        </p:attrNameLst>
                                      </p:cBhvr>
                                      <p:rCtr x="5000" y="0"/>
                                    </p:animMotion>
                                  </p:childTnLst>
                                </p:cTn>
                              </p:par>
                            </p:childTnLst>
                          </p:cTn>
                        </p:par>
                        <p:par>
                          <p:cTn id="10" fill="hold" nodeType="afterGroup">
                            <p:stCondLst>
                              <p:cond delay="1000"/>
                            </p:stCondLst>
                            <p:childTnLst>
                              <p:par>
                                <p:cTn id="11" presetID="10"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63507"/>
                                        </p:tgtEl>
                                        <p:attrNameLst>
                                          <p:attrName>style.visibility</p:attrName>
                                        </p:attrNameLst>
                                      </p:cBhvr>
                                      <p:to>
                                        <p:strVal val="visible"/>
                                      </p:to>
                                    </p:set>
                                    <p:animEffect transition="in" filter="checkerboard(across)">
                                      <p:cBhvr>
                                        <p:cTn id="18" dur="500"/>
                                        <p:tgtEl>
                                          <p:spTgt spid="63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71" grpId="0" animBg="1"/>
      <p:bldP spid="27673" grpId="0" animBg="1"/>
      <p:bldP spid="6350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p:cNvSpPr>
            <a:spLocks noGrp="1"/>
          </p:cNvSpPr>
          <p:nvPr>
            <p:ph type="ftr" sz="quarter" idx="11"/>
          </p:nvPr>
        </p:nvSpPr>
        <p:spPr/>
        <p:txBody>
          <a:bodyPr/>
          <a:lstStyle/>
          <a:p>
            <a:pPr>
              <a:defRPr/>
            </a:pPr>
            <a:r>
              <a:rPr lang="fr-FR" smtClean="0"/>
              <a:t>Commande des machines  1. Intro         Ali NEJMI</a:t>
            </a:r>
            <a:endParaRPr lang="fr-FR"/>
          </a:p>
        </p:txBody>
      </p:sp>
      <p:sp>
        <p:nvSpPr>
          <p:cNvPr id="96259"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228B0B3-CD0D-4587-8277-7E7C6804FF29}" type="slidenum">
              <a:rPr lang="en-US" altLang="fr-FR" smtClean="0">
                <a:solidFill>
                  <a:srgbClr val="292929"/>
                </a:solidFill>
              </a:rPr>
              <a:pPr/>
              <a:t>46</a:t>
            </a:fld>
            <a:endParaRPr lang="en-US" altLang="fr-FR" smtClean="0">
              <a:solidFill>
                <a:srgbClr val="292929"/>
              </a:solidFill>
            </a:endParaRPr>
          </a:p>
        </p:txBody>
      </p:sp>
      <p:sp>
        <p:nvSpPr>
          <p:cNvPr id="96260" name="Text Box 4"/>
          <p:cNvSpPr txBox="1">
            <a:spLocks noChangeArrowheads="1"/>
          </p:cNvSpPr>
          <p:nvPr/>
        </p:nvSpPr>
        <p:spPr bwMode="auto">
          <a:xfrm>
            <a:off x="576263" y="554038"/>
            <a:ext cx="5257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Profil du couple et de vitesse</a:t>
            </a:r>
          </a:p>
        </p:txBody>
      </p:sp>
      <p:grpSp>
        <p:nvGrpSpPr>
          <p:cNvPr id="96261" name="Group 17"/>
          <p:cNvGrpSpPr>
            <a:grpSpLocks/>
          </p:cNvGrpSpPr>
          <p:nvPr/>
        </p:nvGrpSpPr>
        <p:grpSpPr bwMode="auto">
          <a:xfrm>
            <a:off x="1981200" y="1401763"/>
            <a:ext cx="5554663" cy="2149475"/>
            <a:chOff x="1658" y="5022"/>
            <a:chExt cx="8747" cy="3385"/>
          </a:xfrm>
        </p:grpSpPr>
        <p:sp>
          <p:nvSpPr>
            <p:cNvPr id="96266" name="Line 18"/>
            <p:cNvSpPr>
              <a:spLocks noChangeShapeType="1"/>
            </p:cNvSpPr>
            <p:nvPr/>
          </p:nvSpPr>
          <p:spPr bwMode="auto">
            <a:xfrm flipV="1">
              <a:off x="2555" y="5334"/>
              <a:ext cx="0" cy="256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96267" name="Line 19"/>
            <p:cNvSpPr>
              <a:spLocks noChangeShapeType="1"/>
            </p:cNvSpPr>
            <p:nvPr/>
          </p:nvSpPr>
          <p:spPr bwMode="auto">
            <a:xfrm>
              <a:off x="2555" y="7953"/>
              <a:ext cx="665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96268" name="Line 20"/>
            <p:cNvSpPr>
              <a:spLocks noChangeShapeType="1"/>
            </p:cNvSpPr>
            <p:nvPr/>
          </p:nvSpPr>
          <p:spPr bwMode="auto">
            <a:xfrm>
              <a:off x="2555" y="7937"/>
              <a:ext cx="76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69" name="Line 21"/>
            <p:cNvSpPr>
              <a:spLocks noChangeShapeType="1"/>
            </p:cNvSpPr>
            <p:nvPr/>
          </p:nvSpPr>
          <p:spPr bwMode="auto">
            <a:xfrm flipV="1">
              <a:off x="3321" y="7025"/>
              <a:ext cx="418" cy="95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0" name="Line 22"/>
            <p:cNvSpPr>
              <a:spLocks noChangeShapeType="1"/>
            </p:cNvSpPr>
            <p:nvPr/>
          </p:nvSpPr>
          <p:spPr bwMode="auto">
            <a:xfrm>
              <a:off x="5138" y="5806"/>
              <a:ext cx="111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1" name="Line 23"/>
            <p:cNvSpPr>
              <a:spLocks noChangeShapeType="1"/>
            </p:cNvSpPr>
            <p:nvPr/>
          </p:nvSpPr>
          <p:spPr bwMode="auto">
            <a:xfrm flipH="1" flipV="1">
              <a:off x="6249" y="5806"/>
              <a:ext cx="329" cy="99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2" name="Line 24"/>
            <p:cNvSpPr>
              <a:spLocks noChangeShapeType="1"/>
            </p:cNvSpPr>
            <p:nvPr/>
          </p:nvSpPr>
          <p:spPr bwMode="auto">
            <a:xfrm>
              <a:off x="6578" y="6814"/>
              <a:ext cx="76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3" name="Text Box 25"/>
            <p:cNvSpPr txBox="1">
              <a:spLocks noChangeArrowheads="1"/>
            </p:cNvSpPr>
            <p:nvPr/>
          </p:nvSpPr>
          <p:spPr bwMode="auto">
            <a:xfrm>
              <a:off x="3065" y="7947"/>
              <a:ext cx="674"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10</a:t>
              </a:r>
              <a:endParaRPr lang="en-US" altLang="fr-FR" sz="1800">
                <a:latin typeface="Arial" panose="020B0604020202020204" pitchFamily="34" charset="0"/>
              </a:endParaRPr>
            </a:p>
          </p:txBody>
        </p:sp>
        <p:sp>
          <p:nvSpPr>
            <p:cNvPr id="96274" name="Text Box 29"/>
            <p:cNvSpPr txBox="1">
              <a:spLocks noChangeArrowheads="1"/>
            </p:cNvSpPr>
            <p:nvPr/>
          </p:nvSpPr>
          <p:spPr bwMode="auto">
            <a:xfrm>
              <a:off x="8768" y="7954"/>
              <a:ext cx="1637"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t</a:t>
              </a:r>
              <a:endParaRPr lang="en-US" altLang="fr-FR" sz="1800">
                <a:latin typeface="Arial" panose="020B0604020202020204" pitchFamily="34" charset="0"/>
              </a:endParaRPr>
            </a:p>
          </p:txBody>
        </p:sp>
        <p:sp>
          <p:nvSpPr>
            <p:cNvPr id="96275" name="Text Box 30"/>
            <p:cNvSpPr txBox="1">
              <a:spLocks noChangeArrowheads="1"/>
            </p:cNvSpPr>
            <p:nvPr/>
          </p:nvSpPr>
          <p:spPr bwMode="auto">
            <a:xfrm>
              <a:off x="1658" y="5022"/>
              <a:ext cx="1138"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vitesse </a:t>
              </a:r>
            </a:p>
          </p:txBody>
        </p:sp>
        <p:sp>
          <p:nvSpPr>
            <p:cNvPr id="96276" name="Line 31"/>
            <p:cNvSpPr>
              <a:spLocks noChangeShapeType="1"/>
            </p:cNvSpPr>
            <p:nvPr/>
          </p:nvSpPr>
          <p:spPr bwMode="auto">
            <a:xfrm>
              <a:off x="5138" y="5806"/>
              <a:ext cx="0" cy="217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6277" name="Line 32"/>
            <p:cNvSpPr>
              <a:spLocks noChangeShapeType="1"/>
            </p:cNvSpPr>
            <p:nvPr/>
          </p:nvSpPr>
          <p:spPr bwMode="auto">
            <a:xfrm>
              <a:off x="6225" y="5814"/>
              <a:ext cx="0" cy="217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6278" name="Line 33"/>
            <p:cNvSpPr>
              <a:spLocks noChangeShapeType="1"/>
            </p:cNvSpPr>
            <p:nvPr/>
          </p:nvSpPr>
          <p:spPr bwMode="auto">
            <a:xfrm flipH="1">
              <a:off x="2555" y="5804"/>
              <a:ext cx="2583" cy="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6279" name="Line 23"/>
            <p:cNvSpPr>
              <a:spLocks noChangeShapeType="1"/>
            </p:cNvSpPr>
            <p:nvPr/>
          </p:nvSpPr>
          <p:spPr bwMode="auto">
            <a:xfrm flipH="1" flipV="1">
              <a:off x="7332" y="6799"/>
              <a:ext cx="484" cy="114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0" name="Line 24"/>
            <p:cNvSpPr>
              <a:spLocks noChangeShapeType="1"/>
            </p:cNvSpPr>
            <p:nvPr/>
          </p:nvSpPr>
          <p:spPr bwMode="auto">
            <a:xfrm flipV="1">
              <a:off x="3739" y="7041"/>
              <a:ext cx="675"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1" name="Line 21"/>
            <p:cNvSpPr>
              <a:spLocks noChangeShapeType="1"/>
            </p:cNvSpPr>
            <p:nvPr/>
          </p:nvSpPr>
          <p:spPr bwMode="auto">
            <a:xfrm flipV="1">
              <a:off x="4409" y="5805"/>
              <a:ext cx="729" cy="122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2" name="Line 31"/>
            <p:cNvSpPr>
              <a:spLocks noChangeShapeType="1"/>
            </p:cNvSpPr>
            <p:nvPr/>
          </p:nvSpPr>
          <p:spPr bwMode="auto">
            <a:xfrm>
              <a:off x="4409" y="7041"/>
              <a:ext cx="0" cy="94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96283" name="Line 31"/>
            <p:cNvSpPr>
              <a:spLocks noChangeShapeType="1"/>
            </p:cNvSpPr>
            <p:nvPr/>
          </p:nvSpPr>
          <p:spPr bwMode="auto">
            <a:xfrm flipH="1">
              <a:off x="7331" y="6829"/>
              <a:ext cx="1" cy="114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96262" name="Text Box 38"/>
          <p:cNvSpPr txBox="1">
            <a:spLocks noChangeArrowheads="1"/>
          </p:cNvSpPr>
          <p:nvPr/>
        </p:nvSpPr>
        <p:spPr bwMode="auto">
          <a:xfrm>
            <a:off x="5638800" y="1401763"/>
            <a:ext cx="1787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u="sng">
                <a:latin typeface="Arial" panose="020B0604020202020204" pitchFamily="34" charset="0"/>
              </a:rPr>
              <a:t>profil de vitesse</a:t>
            </a:r>
          </a:p>
        </p:txBody>
      </p:sp>
      <p:sp>
        <p:nvSpPr>
          <p:cNvPr id="96263" name="Rectangle 3"/>
          <p:cNvSpPr>
            <a:spLocks noChangeArrowheads="1"/>
          </p:cNvSpPr>
          <p:nvPr/>
        </p:nvSpPr>
        <p:spPr bwMode="auto">
          <a:xfrm>
            <a:off x="182563" y="211138"/>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7"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endParaRPr lang="en-US" sz="1200" dirty="0">
              <a:latin typeface="+mn-lt"/>
              <a:cs typeface="+mn-cs"/>
            </a:endParaRPr>
          </a:p>
        </p:txBody>
      </p:sp>
      <p:sp>
        <p:nvSpPr>
          <p:cNvPr id="96265" name="Rectangle 27"/>
          <p:cNvSpPr>
            <a:spLocks noChangeArrowheads="1"/>
          </p:cNvSpPr>
          <p:nvPr/>
        </p:nvSpPr>
        <p:spPr bwMode="auto">
          <a:xfrm>
            <a:off x="1074738" y="4037013"/>
            <a:ext cx="7078662"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fr-FR" altLang="fr-FR" b="1" u="sng"/>
              <a:t>Le démarrage</a:t>
            </a:r>
            <a:r>
              <a:rPr lang="fr-FR" altLang="fr-FR"/>
              <a:t>: le moteur passe de la vitesse nulle jusqu'à sa vitesse établie en un temps prédéfini et en évitant les pointes d'intensité.</a:t>
            </a:r>
          </a:p>
          <a:p>
            <a:pPr algn="just" eaLnBrk="1" hangingPunct="1"/>
            <a:endParaRPr lang="fr-FR" altLang="fr-FR" b="1" u="sng"/>
          </a:p>
          <a:p>
            <a:pPr algn="just" eaLnBrk="1" hangingPunct="1"/>
            <a:r>
              <a:rPr lang="fr-FR" altLang="fr-FR" b="1" u="sng"/>
              <a:t>La variation de vitesse</a:t>
            </a:r>
            <a:r>
              <a:rPr lang="fr-FR" altLang="fr-FR"/>
              <a:t>: modification de la vitesse de rotation du moteur par accélération ou décélération en un temps donné.</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571500" y="1563688"/>
            <a:ext cx="7786688"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fr-FR" altLang="fr-FR" b="1" u="sng"/>
              <a:t>La régulation</a:t>
            </a:r>
            <a:r>
              <a:rPr lang="fr-FR" altLang="fr-FR"/>
              <a:t>: la fréquence de rotation du moteur est maintenue constante quelles que soient les fluctuations de la charge (dans certaines limites).</a:t>
            </a:r>
          </a:p>
          <a:p>
            <a:pPr algn="just" eaLnBrk="1" hangingPunct="1"/>
            <a:endParaRPr lang="fr-FR" altLang="fr-FR" b="1" u="sng"/>
          </a:p>
          <a:p>
            <a:pPr algn="just" eaLnBrk="1" hangingPunct="1"/>
            <a:r>
              <a:rPr lang="fr-FR" altLang="fr-FR" b="1" u="sng"/>
              <a:t>Le freinage</a:t>
            </a:r>
            <a:r>
              <a:rPr lang="fr-FR" altLang="fr-FR"/>
              <a:t>: le moteur passe d'une vitesse établie à une vitesse inférieure (ralentissement) ou à la vitesse nulle (arrêt) avec maintien en position possible.</a:t>
            </a:r>
          </a:p>
          <a:p>
            <a:pPr algn="just" eaLnBrk="1" hangingPunct="1"/>
            <a:endParaRPr lang="fr-FR" altLang="fr-FR" b="1" u="sng"/>
          </a:p>
          <a:p>
            <a:pPr algn="just" eaLnBrk="1" hangingPunct="1"/>
            <a:r>
              <a:rPr lang="fr-FR" altLang="fr-FR" b="1" u="sng"/>
              <a:t>L'inversion du sens de rotation</a:t>
            </a:r>
            <a:r>
              <a:rPr lang="fr-FR" altLang="fr-FR"/>
              <a:t>: permet de faire fonctionner le moteur dans les deux sens de rotation.</a:t>
            </a:r>
          </a:p>
          <a:p>
            <a:pPr algn="just" eaLnBrk="1" hangingPunct="1"/>
            <a:endParaRPr lang="fr-FR" altLang="fr-FR"/>
          </a:p>
          <a:p>
            <a:pPr algn="just" eaLnBrk="1" hangingPunct="1"/>
            <a:endParaRPr lang="fr-FR" altLang="fr-FR"/>
          </a:p>
          <a:p>
            <a:pPr algn="just" eaLnBrk="1" hangingPunct="1"/>
            <a:endParaRPr lang="fr-FR" altLang="fr-FR"/>
          </a:p>
        </p:txBody>
      </p:sp>
      <p:sp>
        <p:nvSpPr>
          <p:cNvPr id="97283" name="Rectangle 3"/>
          <p:cNvSpPr>
            <a:spLocks noChangeArrowheads="1"/>
          </p:cNvSpPr>
          <p:nvPr/>
        </p:nvSpPr>
        <p:spPr bwMode="auto">
          <a:xfrm>
            <a:off x="182563" y="211138"/>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 name="Espace réservé du pied de page 3"/>
          <p:cNvSpPr>
            <a:spLocks noGrp="1"/>
          </p:cNvSpPr>
          <p:nvPr>
            <p:ph type="ftr" sz="quarter" idx="11"/>
          </p:nvPr>
        </p:nvSpPr>
        <p:spPr/>
        <p:txBody>
          <a:bodyPr/>
          <a:lstStyle/>
          <a:p>
            <a:pPr>
              <a:defRPr/>
            </a:pPr>
            <a:r>
              <a:rPr lang="fr-FR" smtClean="0"/>
              <a:t>Commande des machines  1. Intro         Ali NEJMI</a:t>
            </a:r>
            <a:endParaRPr lang="fr-FR"/>
          </a:p>
        </p:txBody>
      </p:sp>
      <p:sp>
        <p:nvSpPr>
          <p:cNvPr id="97285"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34745D9-F44D-4D08-8D86-8694C5BF933C}" type="slidenum">
              <a:rPr lang="fr-FR" altLang="fr-FR" sz="1000" smtClean="0">
                <a:solidFill>
                  <a:srgbClr val="292929"/>
                </a:solidFill>
                <a:latin typeface="Arial" panose="020B0604020202020204" pitchFamily="34" charset="0"/>
              </a:rPr>
              <a:pPr>
                <a:spcBef>
                  <a:spcPct val="0"/>
                </a:spcBef>
                <a:buClrTx/>
                <a:buSzTx/>
                <a:buFontTx/>
                <a:buNone/>
              </a:pPr>
              <a:t>47</a:t>
            </a:fld>
            <a:endParaRPr lang="fr-FR" altLang="fr-FR" sz="1000" smtClean="0">
              <a:solidFill>
                <a:srgbClr val="292929"/>
              </a:solidFill>
              <a:latin typeface="Arial" panose="020B0604020202020204" pitchFamily="34" charset="0"/>
            </a:endParaRPr>
          </a:p>
        </p:txBody>
      </p:sp>
      <p:sp>
        <p:nvSpPr>
          <p:cNvPr id="7"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endParaRPr lang="en-US" sz="1200" dirty="0">
              <a:latin typeface="+mn-lt"/>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heckerboard(across)">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checkerboard(across)">
                                      <p:cBhvr>
                                        <p:cTn id="12" dur="500"/>
                                        <p:tgtEl>
                                          <p:spTgt spid="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checkerboard(across)">
                                      <p:cBhvr>
                                        <p:cTn id="1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838200" y="1252538"/>
            <a:ext cx="7696200" cy="2586037"/>
          </a:xfrm>
          <a:prstGeom prst="rect">
            <a:avLst/>
          </a:prstGeom>
          <a:noFill/>
          <a:ln w="9525">
            <a:noFill/>
            <a:miter lim="800000"/>
            <a:headEnd/>
            <a:tailEnd/>
          </a:ln>
          <a:effectLst/>
        </p:spPr>
        <p:txBody>
          <a:bodyPr anchor="ctr">
            <a:spAutoFit/>
          </a:bodyPr>
          <a:lstStyle/>
          <a:p>
            <a:pPr algn="just" eaLnBrk="1" hangingPunct="1">
              <a:defRPr/>
            </a:pPr>
            <a:r>
              <a:rPr lang="fr-FR" b="1" u="sng" dirty="0"/>
              <a:t>La récupération d'énergie </a:t>
            </a:r>
            <a:r>
              <a:rPr lang="fr-FR" dirty="0">
                <a:ea typeface="Times New Roman" pitchFamily="18" charset="0"/>
              </a:rPr>
              <a:t>: </a:t>
            </a:r>
          </a:p>
          <a:p>
            <a:pPr indent="180975" algn="just" eaLnBrk="1" hangingPunct="1">
              <a:defRPr/>
            </a:pPr>
            <a:endParaRPr lang="fr-FR" dirty="0">
              <a:ea typeface="Times New Roman" pitchFamily="18" charset="0"/>
            </a:endParaRPr>
          </a:p>
          <a:p>
            <a:pPr algn="just" eaLnBrk="1" hangingPunct="1">
              <a:defRPr/>
            </a:pPr>
            <a:r>
              <a:rPr lang="fr-FR" dirty="0">
                <a:ea typeface="Times New Roman" pitchFamily="18" charset="0"/>
              </a:rPr>
              <a:t>permet lors d'un ralentissement ou d'un freinage des systèmes de transformer l'énergie mécanique en énergie électrique. Dans ce cas, le moteur fonctionne en génératrice et l'énergie récupérée peut être soit dissipée dans des résistances, soit utilisée pour recharger des batteries ou encore réinjectée dans le réseau.</a:t>
            </a:r>
          </a:p>
          <a:p>
            <a:pPr indent="180975" algn="just" eaLnBrk="1" hangingPunct="1">
              <a:defRPr/>
            </a:pPr>
            <a:endParaRPr lang="fr-FR" dirty="0"/>
          </a:p>
          <a:p>
            <a:pPr indent="180975" algn="just">
              <a:defRPr/>
            </a:pPr>
            <a:r>
              <a:rPr lang="fr-FR" dirty="0">
                <a:ea typeface="Times New Roman" pitchFamily="18" charset="0"/>
              </a:rPr>
              <a:t>  </a:t>
            </a:r>
            <a:endParaRPr lang="fr-FR" dirty="0"/>
          </a:p>
        </p:txBody>
      </p:sp>
      <p:pic>
        <p:nvPicPr>
          <p:cNvPr id="66563" name="Picture 1" descr="Scan Lacoste_Pic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5200" y="3810000"/>
            <a:ext cx="7250113" cy="262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2" name="Rectangle 3"/>
          <p:cNvSpPr>
            <a:spLocks noChangeArrowheads="1"/>
          </p:cNvSpPr>
          <p:nvPr/>
        </p:nvSpPr>
        <p:spPr bwMode="auto">
          <a:xfrm>
            <a:off x="182563" y="211138"/>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 name="Espace réservé du pied de page 4"/>
          <p:cNvSpPr>
            <a:spLocks noGrp="1"/>
          </p:cNvSpPr>
          <p:nvPr>
            <p:ph type="ftr" sz="quarter" idx="11"/>
          </p:nvPr>
        </p:nvSpPr>
        <p:spPr/>
        <p:txBody>
          <a:bodyPr/>
          <a:lstStyle/>
          <a:p>
            <a:pPr>
              <a:defRPr/>
            </a:pPr>
            <a:r>
              <a:rPr lang="fr-FR" smtClean="0"/>
              <a:t>Commande des machines  1. Intro         Ali NEJMI</a:t>
            </a:r>
            <a:endParaRPr lang="fr-FR"/>
          </a:p>
        </p:txBody>
      </p:sp>
      <p:sp>
        <p:nvSpPr>
          <p:cNvPr id="99334"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6E437BA-5D19-422D-BBC1-CC13B28303C7}" type="slidenum">
              <a:rPr lang="fr-FR" altLang="fr-FR" sz="1000" smtClean="0">
                <a:solidFill>
                  <a:srgbClr val="292929"/>
                </a:solidFill>
                <a:latin typeface="Arial" panose="020B0604020202020204" pitchFamily="34" charset="0"/>
              </a:rPr>
              <a:pPr>
                <a:spcBef>
                  <a:spcPct val="0"/>
                </a:spcBef>
                <a:buClrTx/>
                <a:buSzTx/>
                <a:buFontTx/>
                <a:buNone/>
              </a:pPr>
              <a:t>48</a:t>
            </a:fld>
            <a:endParaRPr lang="fr-FR" altLang="fr-FR" sz="1000" smtClean="0">
              <a:solidFill>
                <a:srgbClr val="292929"/>
              </a:solidFill>
              <a:latin typeface="Arial" panose="020B0604020202020204" pitchFamily="34" charset="0"/>
            </a:endParaRPr>
          </a:p>
        </p:txBody>
      </p:sp>
      <p:sp>
        <p:nvSpPr>
          <p:cNvPr id="8"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endParaRPr lang="en-US" sz="1200" dirty="0">
              <a:latin typeface="+mn-lt"/>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checkerboard(across)">
                                      <p:cBhvr>
                                        <p:cTn id="7" dur="500"/>
                                        <p:tgtEl>
                                          <p:spTgt spid="296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66563"/>
                                        </p:tgtEl>
                                        <p:attrNameLst>
                                          <p:attrName>style.visibility</p:attrName>
                                        </p:attrNameLst>
                                      </p:cBhvr>
                                      <p:to>
                                        <p:strVal val="visible"/>
                                      </p:to>
                                    </p:set>
                                    <p:animEffect transition="in" filter="checkerboard(across)">
                                      <p:cBhvr>
                                        <p:cTn id="12" dur="500"/>
                                        <p:tgtEl>
                                          <p:spTgt spid="66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01379" name="Espace réservé du numéro de diapositive 2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176B62B-EDB2-4DF5-9370-536817307BEE}" type="slidenum">
              <a:rPr lang="en-US" altLang="fr-FR" sz="1000" smtClean="0">
                <a:solidFill>
                  <a:srgbClr val="292929"/>
                </a:solidFill>
                <a:latin typeface="Arial" panose="020B0604020202020204" pitchFamily="34" charset="0"/>
              </a:rPr>
              <a:pPr>
                <a:spcBef>
                  <a:spcPct val="0"/>
                </a:spcBef>
                <a:buClrTx/>
                <a:buSzTx/>
                <a:buFontTx/>
                <a:buNone/>
              </a:pPr>
              <a:t>49</a:t>
            </a:fld>
            <a:endParaRPr lang="en-US" altLang="fr-FR" sz="1000" smtClean="0">
              <a:solidFill>
                <a:srgbClr val="292929"/>
              </a:solidFill>
              <a:latin typeface="Arial" panose="020B0604020202020204" pitchFamily="34" charset="0"/>
            </a:endParaRPr>
          </a:p>
        </p:txBody>
      </p:sp>
      <p:sp>
        <p:nvSpPr>
          <p:cNvPr id="101380"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01381" name="Text Box 4"/>
          <p:cNvSpPr txBox="1">
            <a:spLocks noChangeArrowheads="1"/>
          </p:cNvSpPr>
          <p:nvPr/>
        </p:nvSpPr>
        <p:spPr bwMode="auto">
          <a:xfrm>
            <a:off x="685800" y="7620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Profil du couple et de vitesse</a:t>
            </a:r>
          </a:p>
        </p:txBody>
      </p:sp>
      <p:grpSp>
        <p:nvGrpSpPr>
          <p:cNvPr id="101382" name="Group 17"/>
          <p:cNvGrpSpPr>
            <a:grpSpLocks/>
          </p:cNvGrpSpPr>
          <p:nvPr/>
        </p:nvGrpSpPr>
        <p:grpSpPr bwMode="auto">
          <a:xfrm>
            <a:off x="1981200" y="1401763"/>
            <a:ext cx="5554663" cy="2149475"/>
            <a:chOff x="1658" y="5022"/>
            <a:chExt cx="8747" cy="3385"/>
          </a:xfrm>
        </p:grpSpPr>
        <p:sp>
          <p:nvSpPr>
            <p:cNvPr id="101388" name="Line 18"/>
            <p:cNvSpPr>
              <a:spLocks noChangeShapeType="1"/>
            </p:cNvSpPr>
            <p:nvPr/>
          </p:nvSpPr>
          <p:spPr bwMode="auto">
            <a:xfrm flipV="1">
              <a:off x="2555" y="5440"/>
              <a:ext cx="0" cy="256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1389" name="Line 19"/>
            <p:cNvSpPr>
              <a:spLocks noChangeShapeType="1"/>
            </p:cNvSpPr>
            <p:nvPr/>
          </p:nvSpPr>
          <p:spPr bwMode="auto">
            <a:xfrm>
              <a:off x="2555" y="7953"/>
              <a:ext cx="665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1390" name="Line 20"/>
            <p:cNvSpPr>
              <a:spLocks noChangeShapeType="1"/>
            </p:cNvSpPr>
            <p:nvPr/>
          </p:nvSpPr>
          <p:spPr bwMode="auto">
            <a:xfrm>
              <a:off x="2555" y="7937"/>
              <a:ext cx="76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1391" name="Line 21"/>
            <p:cNvSpPr>
              <a:spLocks noChangeShapeType="1"/>
            </p:cNvSpPr>
            <p:nvPr/>
          </p:nvSpPr>
          <p:spPr bwMode="auto">
            <a:xfrm flipV="1">
              <a:off x="3321" y="5806"/>
              <a:ext cx="1093" cy="21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1392" name="Line 22"/>
            <p:cNvSpPr>
              <a:spLocks noChangeShapeType="1"/>
            </p:cNvSpPr>
            <p:nvPr/>
          </p:nvSpPr>
          <p:spPr bwMode="auto">
            <a:xfrm>
              <a:off x="4414" y="5806"/>
              <a:ext cx="183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1393" name="Line 23"/>
            <p:cNvSpPr>
              <a:spLocks noChangeShapeType="1"/>
            </p:cNvSpPr>
            <p:nvPr/>
          </p:nvSpPr>
          <p:spPr bwMode="auto">
            <a:xfrm flipH="1" flipV="1">
              <a:off x="6249" y="5806"/>
              <a:ext cx="1093" cy="21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1394" name="Line 24"/>
            <p:cNvSpPr>
              <a:spLocks noChangeShapeType="1"/>
            </p:cNvSpPr>
            <p:nvPr/>
          </p:nvSpPr>
          <p:spPr bwMode="auto">
            <a:xfrm>
              <a:off x="7342" y="7937"/>
              <a:ext cx="76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1395" name="Text Box 25"/>
            <p:cNvSpPr txBox="1">
              <a:spLocks noChangeArrowheads="1"/>
            </p:cNvSpPr>
            <p:nvPr/>
          </p:nvSpPr>
          <p:spPr bwMode="auto">
            <a:xfrm>
              <a:off x="3065" y="7947"/>
              <a:ext cx="674"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10</a:t>
              </a:r>
              <a:endParaRPr lang="en-US" altLang="fr-FR" sz="1800">
                <a:latin typeface="Arial" panose="020B0604020202020204" pitchFamily="34" charset="0"/>
              </a:endParaRPr>
            </a:p>
          </p:txBody>
        </p:sp>
        <p:sp>
          <p:nvSpPr>
            <p:cNvPr id="101396" name="Text Box 26"/>
            <p:cNvSpPr txBox="1">
              <a:spLocks noChangeArrowheads="1"/>
            </p:cNvSpPr>
            <p:nvPr/>
          </p:nvSpPr>
          <p:spPr bwMode="auto">
            <a:xfrm>
              <a:off x="4017" y="7937"/>
              <a:ext cx="674"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25</a:t>
              </a:r>
              <a:endParaRPr lang="en-US" altLang="fr-FR" sz="1800">
                <a:latin typeface="Arial" panose="020B0604020202020204" pitchFamily="34" charset="0"/>
              </a:endParaRPr>
            </a:p>
          </p:txBody>
        </p:sp>
        <p:sp>
          <p:nvSpPr>
            <p:cNvPr id="101397" name="Text Box 27"/>
            <p:cNvSpPr txBox="1">
              <a:spLocks noChangeArrowheads="1"/>
            </p:cNvSpPr>
            <p:nvPr/>
          </p:nvSpPr>
          <p:spPr bwMode="auto">
            <a:xfrm>
              <a:off x="5935" y="7954"/>
              <a:ext cx="674"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45</a:t>
              </a:r>
              <a:endParaRPr lang="en-US" altLang="fr-FR" sz="1800">
                <a:latin typeface="Arial" panose="020B0604020202020204" pitchFamily="34" charset="0"/>
              </a:endParaRPr>
            </a:p>
          </p:txBody>
        </p:sp>
        <p:sp>
          <p:nvSpPr>
            <p:cNvPr id="101398" name="Text Box 28"/>
            <p:cNvSpPr txBox="1">
              <a:spLocks noChangeArrowheads="1"/>
            </p:cNvSpPr>
            <p:nvPr/>
          </p:nvSpPr>
          <p:spPr bwMode="auto">
            <a:xfrm>
              <a:off x="7050" y="7937"/>
              <a:ext cx="674"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60</a:t>
              </a:r>
              <a:endParaRPr lang="en-US" altLang="fr-FR" sz="1800">
                <a:latin typeface="Arial" panose="020B0604020202020204" pitchFamily="34" charset="0"/>
              </a:endParaRPr>
            </a:p>
          </p:txBody>
        </p:sp>
        <p:sp>
          <p:nvSpPr>
            <p:cNvPr id="101399" name="Text Box 29"/>
            <p:cNvSpPr txBox="1">
              <a:spLocks noChangeArrowheads="1"/>
            </p:cNvSpPr>
            <p:nvPr/>
          </p:nvSpPr>
          <p:spPr bwMode="auto">
            <a:xfrm>
              <a:off x="8768" y="7954"/>
              <a:ext cx="1637"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t (ms)</a:t>
              </a:r>
              <a:endParaRPr lang="en-US" altLang="fr-FR" sz="1800">
                <a:latin typeface="Arial" panose="020B0604020202020204" pitchFamily="34" charset="0"/>
              </a:endParaRPr>
            </a:p>
          </p:txBody>
        </p:sp>
        <p:sp>
          <p:nvSpPr>
            <p:cNvPr id="101400" name="Text Box 30"/>
            <p:cNvSpPr txBox="1">
              <a:spLocks noChangeArrowheads="1"/>
            </p:cNvSpPr>
            <p:nvPr/>
          </p:nvSpPr>
          <p:spPr bwMode="auto">
            <a:xfrm>
              <a:off x="1658" y="5022"/>
              <a:ext cx="1138" cy="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vitesse </a:t>
              </a:r>
            </a:p>
            <a:p>
              <a:pPr eaLnBrk="1" hangingPunct="1">
                <a:spcBef>
                  <a:spcPct val="0"/>
                </a:spcBef>
                <a:buClrTx/>
                <a:buSzTx/>
                <a:buFontTx/>
                <a:buNone/>
              </a:pPr>
              <a:r>
                <a:rPr lang="en-US" altLang="fr-FR" sz="1200" b="1">
                  <a:latin typeface="Arial" panose="020B0604020202020204" pitchFamily="34" charset="0"/>
                </a:rPr>
                <a:t>(rad/s)</a:t>
              </a:r>
              <a:endParaRPr lang="en-US" altLang="fr-FR" sz="1800">
                <a:latin typeface="Arial" panose="020B0604020202020204" pitchFamily="34" charset="0"/>
              </a:endParaRPr>
            </a:p>
          </p:txBody>
        </p:sp>
        <p:sp>
          <p:nvSpPr>
            <p:cNvPr id="101401" name="Line 31"/>
            <p:cNvSpPr>
              <a:spLocks noChangeShapeType="1"/>
            </p:cNvSpPr>
            <p:nvPr/>
          </p:nvSpPr>
          <p:spPr bwMode="auto">
            <a:xfrm>
              <a:off x="4414" y="5806"/>
              <a:ext cx="0" cy="217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1402" name="Line 32"/>
            <p:cNvSpPr>
              <a:spLocks noChangeShapeType="1"/>
            </p:cNvSpPr>
            <p:nvPr/>
          </p:nvSpPr>
          <p:spPr bwMode="auto">
            <a:xfrm>
              <a:off x="6225" y="5814"/>
              <a:ext cx="0" cy="217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1403" name="Line 33"/>
            <p:cNvSpPr>
              <a:spLocks noChangeShapeType="1"/>
            </p:cNvSpPr>
            <p:nvPr/>
          </p:nvSpPr>
          <p:spPr bwMode="auto">
            <a:xfrm flipH="1">
              <a:off x="2555" y="5806"/>
              <a:ext cx="1859"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1404" name="Text Box 34"/>
            <p:cNvSpPr txBox="1">
              <a:spLocks noChangeArrowheads="1"/>
            </p:cNvSpPr>
            <p:nvPr/>
          </p:nvSpPr>
          <p:spPr bwMode="auto">
            <a:xfrm>
              <a:off x="1718" y="5687"/>
              <a:ext cx="101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100</a:t>
              </a:r>
              <a:endParaRPr lang="en-US" altLang="fr-FR" sz="1800">
                <a:latin typeface="Arial" panose="020B0604020202020204" pitchFamily="34" charset="0"/>
              </a:endParaRPr>
            </a:p>
          </p:txBody>
        </p:sp>
      </p:grpSp>
      <p:sp>
        <p:nvSpPr>
          <p:cNvPr id="101383" name="Rectangle 35"/>
          <p:cNvSpPr>
            <a:spLocks noChangeArrowheads="1"/>
          </p:cNvSpPr>
          <p:nvPr/>
        </p:nvSpPr>
        <p:spPr bwMode="auto">
          <a:xfrm>
            <a:off x="1317625" y="3990975"/>
            <a:ext cx="5934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en-US" altLang="fr-FR" sz="1800">
                <a:latin typeface="Arial" panose="020B0604020202020204" pitchFamily="34" charset="0"/>
              </a:rPr>
              <a:t>Le système est décrit par:      T</a:t>
            </a:r>
            <a:r>
              <a:rPr lang="en-US" altLang="fr-FR" sz="1800" baseline="-25000">
                <a:latin typeface="Arial" panose="020B0604020202020204" pitchFamily="34" charset="0"/>
              </a:rPr>
              <a:t>e </a:t>
            </a:r>
            <a:r>
              <a:rPr lang="en-US" altLang="fr-FR" sz="1800">
                <a:latin typeface="Arial" panose="020B0604020202020204" pitchFamily="34" charset="0"/>
              </a:rPr>
              <a:t>– T</a:t>
            </a:r>
            <a:r>
              <a:rPr lang="en-US" altLang="fr-FR" sz="1800" baseline="-25000">
                <a:latin typeface="Arial" panose="020B0604020202020204" pitchFamily="34" charset="0"/>
              </a:rPr>
              <a:t>Charge</a:t>
            </a:r>
            <a:r>
              <a:rPr lang="en-US" altLang="fr-FR" sz="1800">
                <a:latin typeface="Arial" panose="020B0604020202020204" pitchFamily="34" charset="0"/>
              </a:rPr>
              <a:t> = J(d</a:t>
            </a:r>
            <a:r>
              <a:rPr lang="en-US" altLang="fr-FR" sz="1800">
                <a:latin typeface="Arial" panose="020B0604020202020204" pitchFamily="34" charset="0"/>
                <a:sym typeface="Symbol" panose="05050102010706020507" pitchFamily="18" charset="2"/>
              </a:rPr>
              <a:t></a:t>
            </a:r>
            <a:r>
              <a:rPr lang="en-US" altLang="fr-FR" sz="1800">
                <a:latin typeface="Arial" panose="020B0604020202020204" pitchFamily="34" charset="0"/>
              </a:rPr>
              <a:t>/dt) + B</a:t>
            </a:r>
            <a:r>
              <a:rPr lang="en-US" altLang="fr-FR" sz="1800">
                <a:latin typeface="Arial" panose="020B0604020202020204" pitchFamily="34" charset="0"/>
                <a:sym typeface="Symbol" panose="05050102010706020507" pitchFamily="18" charset="2"/>
              </a:rPr>
              <a:t></a:t>
            </a:r>
          </a:p>
        </p:txBody>
      </p:sp>
      <p:sp>
        <p:nvSpPr>
          <p:cNvPr id="101384" name="Rectangle 36"/>
          <p:cNvSpPr>
            <a:spLocks noChangeArrowheads="1"/>
          </p:cNvSpPr>
          <p:nvPr/>
        </p:nvSpPr>
        <p:spPr bwMode="auto">
          <a:xfrm>
            <a:off x="1447800" y="4648200"/>
            <a:ext cx="6172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J = 0.01 kg-m²,    B = 0.01 Nm/rads</a:t>
            </a:r>
            <a:r>
              <a:rPr lang="en-US" altLang="fr-FR" sz="1600" baseline="30000">
                <a:latin typeface="Arial" panose="020B0604020202020204" pitchFamily="34" charset="0"/>
              </a:rPr>
              <a:t>-1</a:t>
            </a:r>
            <a:r>
              <a:rPr lang="en-US" altLang="fr-FR" sz="1600">
                <a:latin typeface="Arial" panose="020B0604020202020204" pitchFamily="34" charset="0"/>
              </a:rPr>
              <a:t>   et    T</a:t>
            </a:r>
            <a:r>
              <a:rPr lang="en-US" altLang="fr-FR" sz="1600" baseline="-25000">
                <a:latin typeface="Arial" panose="020B0604020202020204" pitchFamily="34" charset="0"/>
              </a:rPr>
              <a:t>Charge</a:t>
            </a:r>
            <a:r>
              <a:rPr lang="en-US" altLang="fr-FR" sz="1600">
                <a:latin typeface="Arial" panose="020B0604020202020204" pitchFamily="34" charset="0"/>
              </a:rPr>
              <a:t> = 5 Nm.</a:t>
            </a:r>
          </a:p>
        </p:txBody>
      </p:sp>
      <p:sp>
        <p:nvSpPr>
          <p:cNvPr id="101385" name="Text Box 37"/>
          <p:cNvSpPr txBox="1">
            <a:spLocks noChangeArrowheads="1"/>
          </p:cNvSpPr>
          <p:nvPr/>
        </p:nvSpPr>
        <p:spPr bwMode="auto">
          <a:xfrm>
            <a:off x="1447800" y="5287963"/>
            <a:ext cx="434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Quel est le profil du couple à produire ?</a:t>
            </a:r>
          </a:p>
        </p:txBody>
      </p:sp>
      <p:sp>
        <p:nvSpPr>
          <p:cNvPr id="101386" name="Text Box 38"/>
          <p:cNvSpPr txBox="1">
            <a:spLocks noChangeArrowheads="1"/>
          </p:cNvSpPr>
          <p:nvPr/>
        </p:nvSpPr>
        <p:spPr bwMode="auto">
          <a:xfrm>
            <a:off x="5638800" y="1401763"/>
            <a:ext cx="1787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u="sng">
                <a:latin typeface="Arial" panose="020B0604020202020204" pitchFamily="34" charset="0"/>
              </a:rPr>
              <a:t>profil de vitesse</a:t>
            </a:r>
          </a:p>
        </p:txBody>
      </p:sp>
      <p:sp>
        <p:nvSpPr>
          <p:cNvPr id="29" name="Espace réservé du pied de page 28"/>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03427" name="Espace réservé du numéro de diapositive 2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0BB859C-A680-4317-804E-8CC8D0694F4D}" type="slidenum">
              <a:rPr lang="en-US" altLang="fr-FR" sz="1000" smtClean="0">
                <a:solidFill>
                  <a:srgbClr val="292929"/>
                </a:solidFill>
                <a:latin typeface="Arial" panose="020B0604020202020204" pitchFamily="34" charset="0"/>
              </a:rPr>
              <a:pPr>
                <a:spcBef>
                  <a:spcPct val="0"/>
                </a:spcBef>
                <a:buClrTx/>
                <a:buSzTx/>
                <a:buFontTx/>
                <a:buNone/>
              </a:pPr>
              <a:t>50</a:t>
            </a:fld>
            <a:endParaRPr lang="en-US" altLang="fr-FR" sz="1000" smtClean="0">
              <a:solidFill>
                <a:srgbClr val="292929"/>
              </a:solidFill>
              <a:latin typeface="Arial" panose="020B0604020202020204" pitchFamily="34" charset="0"/>
            </a:endParaRPr>
          </a:p>
        </p:txBody>
      </p:sp>
      <p:sp>
        <p:nvSpPr>
          <p:cNvPr id="103428"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03429" name="Text Box 4"/>
          <p:cNvSpPr txBox="1">
            <a:spLocks noChangeArrowheads="1"/>
          </p:cNvSpPr>
          <p:nvPr/>
        </p:nvSpPr>
        <p:spPr bwMode="auto">
          <a:xfrm>
            <a:off x="685800" y="7620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Profil du couple et de vitesse</a:t>
            </a:r>
            <a:endParaRPr lang="en-US" altLang="fr-FR" sz="1800" b="1">
              <a:solidFill>
                <a:srgbClr val="CC6600"/>
              </a:solidFill>
              <a:latin typeface="Arial" panose="020B0604020202020204" pitchFamily="34" charset="0"/>
            </a:endParaRPr>
          </a:p>
        </p:txBody>
      </p:sp>
      <p:grpSp>
        <p:nvGrpSpPr>
          <p:cNvPr id="103430" name="Group 5"/>
          <p:cNvGrpSpPr>
            <a:grpSpLocks/>
          </p:cNvGrpSpPr>
          <p:nvPr/>
        </p:nvGrpSpPr>
        <p:grpSpPr bwMode="auto">
          <a:xfrm>
            <a:off x="762000" y="1524000"/>
            <a:ext cx="5554663" cy="2149475"/>
            <a:chOff x="1658" y="5022"/>
            <a:chExt cx="8747" cy="3385"/>
          </a:xfrm>
        </p:grpSpPr>
        <p:sp>
          <p:nvSpPr>
            <p:cNvPr id="103435" name="Line 6"/>
            <p:cNvSpPr>
              <a:spLocks noChangeShapeType="1"/>
            </p:cNvSpPr>
            <p:nvPr/>
          </p:nvSpPr>
          <p:spPr bwMode="auto">
            <a:xfrm flipV="1">
              <a:off x="2555" y="5440"/>
              <a:ext cx="0" cy="256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3436" name="Line 7"/>
            <p:cNvSpPr>
              <a:spLocks noChangeShapeType="1"/>
            </p:cNvSpPr>
            <p:nvPr/>
          </p:nvSpPr>
          <p:spPr bwMode="auto">
            <a:xfrm>
              <a:off x="2555" y="7953"/>
              <a:ext cx="665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3437" name="Line 8"/>
            <p:cNvSpPr>
              <a:spLocks noChangeShapeType="1"/>
            </p:cNvSpPr>
            <p:nvPr/>
          </p:nvSpPr>
          <p:spPr bwMode="auto">
            <a:xfrm>
              <a:off x="2555" y="7937"/>
              <a:ext cx="76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3438" name="Line 9"/>
            <p:cNvSpPr>
              <a:spLocks noChangeShapeType="1"/>
            </p:cNvSpPr>
            <p:nvPr/>
          </p:nvSpPr>
          <p:spPr bwMode="auto">
            <a:xfrm flipV="1">
              <a:off x="3321" y="5806"/>
              <a:ext cx="1093" cy="21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3439" name="Line 10"/>
            <p:cNvSpPr>
              <a:spLocks noChangeShapeType="1"/>
            </p:cNvSpPr>
            <p:nvPr/>
          </p:nvSpPr>
          <p:spPr bwMode="auto">
            <a:xfrm>
              <a:off x="4414" y="5806"/>
              <a:ext cx="183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3440" name="Line 11"/>
            <p:cNvSpPr>
              <a:spLocks noChangeShapeType="1"/>
            </p:cNvSpPr>
            <p:nvPr/>
          </p:nvSpPr>
          <p:spPr bwMode="auto">
            <a:xfrm flipH="1" flipV="1">
              <a:off x="6249" y="5806"/>
              <a:ext cx="1093" cy="21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3441" name="Line 12"/>
            <p:cNvSpPr>
              <a:spLocks noChangeShapeType="1"/>
            </p:cNvSpPr>
            <p:nvPr/>
          </p:nvSpPr>
          <p:spPr bwMode="auto">
            <a:xfrm>
              <a:off x="7342" y="7937"/>
              <a:ext cx="76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3442" name="Text Box 13"/>
            <p:cNvSpPr txBox="1">
              <a:spLocks noChangeArrowheads="1"/>
            </p:cNvSpPr>
            <p:nvPr/>
          </p:nvSpPr>
          <p:spPr bwMode="auto">
            <a:xfrm>
              <a:off x="3065" y="7947"/>
              <a:ext cx="674"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10</a:t>
              </a:r>
              <a:endParaRPr lang="en-US" altLang="fr-FR" sz="1800">
                <a:latin typeface="Arial" panose="020B0604020202020204" pitchFamily="34" charset="0"/>
              </a:endParaRPr>
            </a:p>
          </p:txBody>
        </p:sp>
        <p:sp>
          <p:nvSpPr>
            <p:cNvPr id="103443" name="Text Box 14"/>
            <p:cNvSpPr txBox="1">
              <a:spLocks noChangeArrowheads="1"/>
            </p:cNvSpPr>
            <p:nvPr/>
          </p:nvSpPr>
          <p:spPr bwMode="auto">
            <a:xfrm>
              <a:off x="4017" y="7937"/>
              <a:ext cx="674"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25</a:t>
              </a:r>
              <a:endParaRPr lang="en-US" altLang="fr-FR" sz="1800">
                <a:latin typeface="Arial" panose="020B0604020202020204" pitchFamily="34" charset="0"/>
              </a:endParaRPr>
            </a:p>
          </p:txBody>
        </p:sp>
        <p:sp>
          <p:nvSpPr>
            <p:cNvPr id="103444" name="Text Box 15"/>
            <p:cNvSpPr txBox="1">
              <a:spLocks noChangeArrowheads="1"/>
            </p:cNvSpPr>
            <p:nvPr/>
          </p:nvSpPr>
          <p:spPr bwMode="auto">
            <a:xfrm>
              <a:off x="5935" y="7954"/>
              <a:ext cx="674"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45</a:t>
              </a:r>
              <a:endParaRPr lang="en-US" altLang="fr-FR" sz="1800">
                <a:latin typeface="Arial" panose="020B0604020202020204" pitchFamily="34" charset="0"/>
              </a:endParaRPr>
            </a:p>
          </p:txBody>
        </p:sp>
        <p:sp>
          <p:nvSpPr>
            <p:cNvPr id="103445" name="Text Box 16"/>
            <p:cNvSpPr txBox="1">
              <a:spLocks noChangeArrowheads="1"/>
            </p:cNvSpPr>
            <p:nvPr/>
          </p:nvSpPr>
          <p:spPr bwMode="auto">
            <a:xfrm>
              <a:off x="7050" y="7937"/>
              <a:ext cx="674"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60</a:t>
              </a:r>
              <a:endParaRPr lang="en-US" altLang="fr-FR" sz="1800">
                <a:latin typeface="Arial" panose="020B0604020202020204" pitchFamily="34" charset="0"/>
              </a:endParaRPr>
            </a:p>
          </p:txBody>
        </p:sp>
        <p:sp>
          <p:nvSpPr>
            <p:cNvPr id="103446" name="Text Box 17"/>
            <p:cNvSpPr txBox="1">
              <a:spLocks noChangeArrowheads="1"/>
            </p:cNvSpPr>
            <p:nvPr/>
          </p:nvSpPr>
          <p:spPr bwMode="auto">
            <a:xfrm>
              <a:off x="8768" y="7954"/>
              <a:ext cx="1637"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t (ms)</a:t>
              </a:r>
              <a:endParaRPr lang="en-US" altLang="fr-FR" sz="1800">
                <a:latin typeface="Arial" panose="020B0604020202020204" pitchFamily="34" charset="0"/>
              </a:endParaRPr>
            </a:p>
          </p:txBody>
        </p:sp>
        <p:sp>
          <p:nvSpPr>
            <p:cNvPr id="103447" name="Text Box 18"/>
            <p:cNvSpPr txBox="1">
              <a:spLocks noChangeArrowheads="1"/>
            </p:cNvSpPr>
            <p:nvPr/>
          </p:nvSpPr>
          <p:spPr bwMode="auto">
            <a:xfrm>
              <a:off x="1658" y="5022"/>
              <a:ext cx="1138" cy="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vitesse </a:t>
              </a:r>
            </a:p>
            <a:p>
              <a:pPr eaLnBrk="1" hangingPunct="1">
                <a:spcBef>
                  <a:spcPct val="0"/>
                </a:spcBef>
                <a:buClrTx/>
                <a:buSzTx/>
                <a:buFontTx/>
                <a:buNone/>
              </a:pPr>
              <a:r>
                <a:rPr lang="en-US" altLang="fr-FR" sz="1200" b="1">
                  <a:latin typeface="Arial" panose="020B0604020202020204" pitchFamily="34" charset="0"/>
                </a:rPr>
                <a:t>(rad/s)</a:t>
              </a:r>
              <a:endParaRPr lang="en-US" altLang="fr-FR" sz="1800">
                <a:latin typeface="Arial" panose="020B0604020202020204" pitchFamily="34" charset="0"/>
              </a:endParaRPr>
            </a:p>
          </p:txBody>
        </p:sp>
        <p:sp>
          <p:nvSpPr>
            <p:cNvPr id="103448" name="Line 19"/>
            <p:cNvSpPr>
              <a:spLocks noChangeShapeType="1"/>
            </p:cNvSpPr>
            <p:nvPr/>
          </p:nvSpPr>
          <p:spPr bwMode="auto">
            <a:xfrm>
              <a:off x="4414" y="5806"/>
              <a:ext cx="0" cy="217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3449" name="Line 20"/>
            <p:cNvSpPr>
              <a:spLocks noChangeShapeType="1"/>
            </p:cNvSpPr>
            <p:nvPr/>
          </p:nvSpPr>
          <p:spPr bwMode="auto">
            <a:xfrm>
              <a:off x="6225" y="5814"/>
              <a:ext cx="0" cy="217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3450" name="Line 21"/>
            <p:cNvSpPr>
              <a:spLocks noChangeShapeType="1"/>
            </p:cNvSpPr>
            <p:nvPr/>
          </p:nvSpPr>
          <p:spPr bwMode="auto">
            <a:xfrm flipH="1">
              <a:off x="2555" y="5806"/>
              <a:ext cx="1859"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3451" name="Text Box 22"/>
            <p:cNvSpPr txBox="1">
              <a:spLocks noChangeArrowheads="1"/>
            </p:cNvSpPr>
            <p:nvPr/>
          </p:nvSpPr>
          <p:spPr bwMode="auto">
            <a:xfrm>
              <a:off x="1718" y="5687"/>
              <a:ext cx="101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latin typeface="Arial" panose="020B0604020202020204" pitchFamily="34" charset="0"/>
                </a:rPr>
                <a:t>100</a:t>
              </a:r>
              <a:endParaRPr lang="en-US" altLang="fr-FR" sz="1800">
                <a:latin typeface="Arial" panose="020B0604020202020204" pitchFamily="34" charset="0"/>
              </a:endParaRPr>
            </a:p>
          </p:txBody>
        </p:sp>
      </p:grpSp>
      <p:sp>
        <p:nvSpPr>
          <p:cNvPr id="103431" name="Rectangle 25"/>
          <p:cNvSpPr>
            <a:spLocks noChangeArrowheads="1"/>
          </p:cNvSpPr>
          <p:nvPr/>
        </p:nvSpPr>
        <p:spPr bwMode="auto">
          <a:xfrm>
            <a:off x="1262063" y="4087813"/>
            <a:ext cx="7272337"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pl-PL" altLang="zh-CN" sz="1400">
                <a:latin typeface="Arial" panose="020B0604020202020204" pitchFamily="34" charset="0"/>
              </a:rPr>
              <a:t>0 &lt; t &lt;10 ms	Te = 0.01(0) + 0.01(0) + 5 Nm = 5 Nm</a:t>
            </a:r>
            <a:endParaRPr lang="en-US" altLang="zh-CN" sz="1400">
              <a:latin typeface="Arial" panose="020B0604020202020204" pitchFamily="34" charset="0"/>
            </a:endParaRPr>
          </a:p>
          <a:p>
            <a:pPr eaLnBrk="1" hangingPunct="1">
              <a:spcBef>
                <a:spcPct val="0"/>
              </a:spcBef>
              <a:buClrTx/>
              <a:buSzTx/>
              <a:buFontTx/>
              <a:buNone/>
            </a:pPr>
            <a:endParaRPr lang="en-US" altLang="zh-CN" sz="1400">
              <a:latin typeface="Arial" panose="020B0604020202020204" pitchFamily="34" charset="0"/>
            </a:endParaRPr>
          </a:p>
          <a:p>
            <a:pPr eaLnBrk="1" hangingPunct="1">
              <a:spcBef>
                <a:spcPct val="0"/>
              </a:spcBef>
              <a:buClrTx/>
              <a:buSzTx/>
              <a:buFontTx/>
              <a:buNone/>
            </a:pPr>
            <a:r>
              <a:rPr lang="pl-PL" altLang="zh-CN" sz="1400">
                <a:latin typeface="Arial" panose="020B0604020202020204" pitchFamily="34" charset="0"/>
              </a:rPr>
              <a:t>10ms &lt; t &lt;25 ms	Te </a:t>
            </a:r>
            <a:r>
              <a:rPr lang="en-US" altLang="zh-CN" sz="1400">
                <a:latin typeface="Arial" panose="020B0604020202020204" pitchFamily="34" charset="0"/>
              </a:rPr>
              <a:t> </a:t>
            </a:r>
            <a:r>
              <a:rPr lang="pl-PL" altLang="zh-CN" sz="1400">
                <a:latin typeface="Arial" panose="020B0604020202020204" pitchFamily="34" charset="0"/>
              </a:rPr>
              <a:t>= 0.01(100/0.015) +0.01(-66.67 + 6666.67t) + 5</a:t>
            </a:r>
            <a:endParaRPr lang="en-US" altLang="zh-CN" sz="1400">
              <a:latin typeface="Arial" panose="020B0604020202020204" pitchFamily="34" charset="0"/>
            </a:endParaRPr>
          </a:p>
          <a:p>
            <a:pPr eaLnBrk="1" hangingPunct="1">
              <a:spcBef>
                <a:spcPct val="0"/>
              </a:spcBef>
              <a:buClrTx/>
              <a:buSzTx/>
              <a:buFontTx/>
              <a:buNone/>
            </a:pPr>
            <a:r>
              <a:rPr lang="pl-PL" altLang="zh-CN" sz="1400">
                <a:latin typeface="Arial" panose="020B0604020202020204" pitchFamily="34" charset="0"/>
              </a:rPr>
              <a:t>	</a:t>
            </a:r>
            <a:r>
              <a:rPr lang="en-US" altLang="zh-CN" sz="1400">
                <a:latin typeface="Arial" panose="020B0604020202020204" pitchFamily="34" charset="0"/>
              </a:rPr>
              <a:t>	      </a:t>
            </a:r>
            <a:r>
              <a:rPr lang="pl-PL" altLang="zh-CN" sz="1400">
                <a:latin typeface="Arial" panose="020B0604020202020204" pitchFamily="34" charset="0"/>
              </a:rPr>
              <a:t>= (71 + 66.67t) Nm</a:t>
            </a:r>
            <a:endParaRPr lang="en-US" altLang="zh-CN" sz="1400">
              <a:latin typeface="Arial" panose="020B0604020202020204" pitchFamily="34" charset="0"/>
            </a:endParaRPr>
          </a:p>
          <a:p>
            <a:pPr eaLnBrk="1" hangingPunct="1">
              <a:spcBef>
                <a:spcPct val="0"/>
              </a:spcBef>
              <a:buClrTx/>
              <a:buSzTx/>
              <a:buFontTx/>
              <a:buNone/>
            </a:pPr>
            <a:endParaRPr lang="en-US" altLang="zh-CN" sz="1400">
              <a:latin typeface="Arial" panose="020B0604020202020204" pitchFamily="34" charset="0"/>
            </a:endParaRPr>
          </a:p>
          <a:p>
            <a:pPr eaLnBrk="1" hangingPunct="1">
              <a:spcBef>
                <a:spcPct val="0"/>
              </a:spcBef>
              <a:buClrTx/>
              <a:buSzTx/>
              <a:buFontTx/>
              <a:buNone/>
            </a:pPr>
            <a:r>
              <a:rPr lang="pl-PL" altLang="zh-CN" sz="1400">
                <a:latin typeface="Arial" panose="020B0604020202020204" pitchFamily="34" charset="0"/>
              </a:rPr>
              <a:t>25ms &lt; t&lt; 45ms	Te </a:t>
            </a:r>
            <a:r>
              <a:rPr lang="en-US" altLang="zh-CN" sz="1400">
                <a:latin typeface="Arial" panose="020B0604020202020204" pitchFamily="34" charset="0"/>
              </a:rPr>
              <a:t> </a:t>
            </a:r>
            <a:r>
              <a:rPr lang="pl-PL" altLang="zh-CN" sz="1400">
                <a:latin typeface="Arial" panose="020B0604020202020204" pitchFamily="34" charset="0"/>
              </a:rPr>
              <a:t>= 0.01(0) + 0.01(100) + 5 = 6 Nm</a:t>
            </a:r>
            <a:endParaRPr lang="en-US" altLang="zh-CN" sz="1400">
              <a:latin typeface="Arial" panose="020B0604020202020204" pitchFamily="34" charset="0"/>
            </a:endParaRPr>
          </a:p>
          <a:p>
            <a:pPr eaLnBrk="1" hangingPunct="1">
              <a:spcBef>
                <a:spcPct val="0"/>
              </a:spcBef>
              <a:buClrTx/>
              <a:buSzTx/>
              <a:buFontTx/>
              <a:buNone/>
            </a:pPr>
            <a:endParaRPr lang="en-US" altLang="zh-CN" sz="1400">
              <a:latin typeface="Arial" panose="020B0604020202020204" pitchFamily="34" charset="0"/>
            </a:endParaRPr>
          </a:p>
          <a:p>
            <a:pPr eaLnBrk="1" hangingPunct="1">
              <a:spcBef>
                <a:spcPct val="0"/>
              </a:spcBef>
              <a:buClrTx/>
              <a:buSzTx/>
              <a:buFontTx/>
              <a:buNone/>
            </a:pPr>
            <a:r>
              <a:rPr lang="pl-PL" altLang="zh-CN" sz="1400">
                <a:latin typeface="Arial" panose="020B0604020202020204" pitchFamily="34" charset="0"/>
              </a:rPr>
              <a:t>45ms &lt; t &lt; 60ms	Te </a:t>
            </a:r>
            <a:r>
              <a:rPr lang="en-US" altLang="zh-CN" sz="1400">
                <a:latin typeface="Arial" panose="020B0604020202020204" pitchFamily="34" charset="0"/>
              </a:rPr>
              <a:t> </a:t>
            </a:r>
            <a:r>
              <a:rPr lang="pl-PL" altLang="zh-CN" sz="1400">
                <a:latin typeface="Arial" panose="020B0604020202020204" pitchFamily="34" charset="0"/>
              </a:rPr>
              <a:t>= 0.01(-100/0.015) + 0.01(</a:t>
            </a:r>
            <a:r>
              <a:rPr lang="en-US" altLang="zh-CN" sz="1400">
                <a:latin typeface="Arial" panose="020B0604020202020204" pitchFamily="34" charset="0"/>
              </a:rPr>
              <a:t>4</a:t>
            </a:r>
            <a:r>
              <a:rPr lang="pl-PL" altLang="zh-CN" sz="1400">
                <a:latin typeface="Arial" panose="020B0604020202020204" pitchFamily="34" charset="0"/>
              </a:rPr>
              <a:t>00 -6666.67t) + 5</a:t>
            </a:r>
          </a:p>
          <a:p>
            <a:pPr eaLnBrk="1" hangingPunct="1">
              <a:spcBef>
                <a:spcPct val="0"/>
              </a:spcBef>
              <a:buClrTx/>
              <a:buSzTx/>
              <a:buFontTx/>
              <a:buNone/>
            </a:pPr>
            <a:r>
              <a:rPr lang="pl-PL" altLang="zh-CN" sz="1400">
                <a:latin typeface="Arial" panose="020B0604020202020204" pitchFamily="34" charset="0"/>
              </a:rPr>
              <a:t>	</a:t>
            </a:r>
            <a:r>
              <a:rPr lang="en-US" altLang="zh-CN" sz="1400">
                <a:latin typeface="Arial" panose="020B0604020202020204" pitchFamily="34" charset="0"/>
              </a:rPr>
              <a:t>	      </a:t>
            </a:r>
            <a:r>
              <a:rPr lang="pl-PL" altLang="zh-CN" sz="1400">
                <a:latin typeface="Arial" panose="020B0604020202020204" pitchFamily="34" charset="0"/>
              </a:rPr>
              <a:t>= -5</a:t>
            </a:r>
            <a:r>
              <a:rPr lang="en-US" altLang="zh-CN" sz="1400">
                <a:latin typeface="Arial" panose="020B0604020202020204" pitchFamily="34" charset="0"/>
              </a:rPr>
              <a:t>7</a:t>
            </a:r>
            <a:r>
              <a:rPr lang="pl-PL" altLang="zh-CN" sz="1400">
                <a:latin typeface="Arial" panose="020B0604020202020204" pitchFamily="34" charset="0"/>
              </a:rPr>
              <a:t>.67 – 66.67t</a:t>
            </a:r>
            <a:r>
              <a:rPr lang="en-US" altLang="zh-CN" sz="1400">
                <a:latin typeface="Arial" panose="020B0604020202020204" pitchFamily="34" charset="0"/>
              </a:rPr>
              <a:t> </a:t>
            </a:r>
          </a:p>
        </p:txBody>
      </p:sp>
      <p:sp>
        <p:nvSpPr>
          <p:cNvPr id="103432" name="Text Box 26"/>
          <p:cNvSpPr txBox="1">
            <a:spLocks noChangeArrowheads="1"/>
          </p:cNvSpPr>
          <p:nvPr/>
        </p:nvSpPr>
        <p:spPr bwMode="auto">
          <a:xfrm>
            <a:off x="5699125" y="11795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aphicFrame>
        <p:nvGraphicFramePr>
          <p:cNvPr id="103433" name="Object 2"/>
          <p:cNvGraphicFramePr>
            <a:graphicFrameLocks noChangeAspect="1"/>
          </p:cNvGraphicFramePr>
          <p:nvPr/>
        </p:nvGraphicFramePr>
        <p:xfrm>
          <a:off x="5472113" y="2041525"/>
          <a:ext cx="2697162" cy="819150"/>
        </p:xfrm>
        <a:graphic>
          <a:graphicData uri="http://schemas.openxmlformats.org/presentationml/2006/ole">
            <mc:AlternateContent xmlns:mc="http://schemas.openxmlformats.org/markup-compatibility/2006">
              <mc:Choice xmlns:v="urn:schemas-microsoft-com:vml" Requires="v">
                <p:oleObj spid="_x0000_s103468" name="Équation" r:id="rId4" imgW="1076446" imgH="285786" progId="Equation.3">
                  <p:embed/>
                </p:oleObj>
              </mc:Choice>
              <mc:Fallback>
                <p:oleObj name="Équation" r:id="rId4" imgW="1076446" imgH="285786"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2113" y="2041525"/>
                        <a:ext cx="2697162" cy="81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 name="Espace réservé du pied de page 27"/>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05475" name="Espace réservé du numéro de diapositive 5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E102A35-594E-413C-BACF-A831D1BE8BAF}" type="slidenum">
              <a:rPr lang="en-US" altLang="fr-FR" sz="1000" smtClean="0">
                <a:solidFill>
                  <a:srgbClr val="292929"/>
                </a:solidFill>
                <a:latin typeface="Arial" panose="020B0604020202020204" pitchFamily="34" charset="0"/>
              </a:rPr>
              <a:pPr>
                <a:spcBef>
                  <a:spcPct val="0"/>
                </a:spcBef>
                <a:buClrTx/>
                <a:buSzTx/>
                <a:buFontTx/>
                <a:buNone/>
              </a:pPr>
              <a:t>51</a:t>
            </a:fld>
            <a:endParaRPr lang="en-US" altLang="fr-FR" sz="1000" smtClean="0">
              <a:solidFill>
                <a:srgbClr val="292929"/>
              </a:solidFill>
              <a:latin typeface="Arial" panose="020B0604020202020204" pitchFamily="34" charset="0"/>
            </a:endParaRPr>
          </a:p>
        </p:txBody>
      </p:sp>
      <p:sp>
        <p:nvSpPr>
          <p:cNvPr id="105476"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05477" name="Text Box 4"/>
          <p:cNvSpPr txBox="1">
            <a:spLocks noChangeArrowheads="1"/>
          </p:cNvSpPr>
          <p:nvPr/>
        </p:nvSpPr>
        <p:spPr bwMode="auto">
          <a:xfrm>
            <a:off x="685800" y="7620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Profil du couple et de vitesse</a:t>
            </a:r>
            <a:endParaRPr lang="en-US" altLang="fr-FR" sz="1800" b="1">
              <a:solidFill>
                <a:srgbClr val="CC6600"/>
              </a:solidFill>
              <a:latin typeface="Arial" panose="020B0604020202020204" pitchFamily="34" charset="0"/>
            </a:endParaRPr>
          </a:p>
        </p:txBody>
      </p:sp>
      <p:sp>
        <p:nvSpPr>
          <p:cNvPr id="105478" name="Line 25"/>
          <p:cNvSpPr>
            <a:spLocks noChangeShapeType="1"/>
          </p:cNvSpPr>
          <p:nvPr/>
        </p:nvSpPr>
        <p:spPr bwMode="auto">
          <a:xfrm flipV="1">
            <a:off x="2520950" y="1573213"/>
            <a:ext cx="0" cy="16287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5479" name="Line 26"/>
          <p:cNvSpPr>
            <a:spLocks noChangeShapeType="1"/>
          </p:cNvSpPr>
          <p:nvPr/>
        </p:nvSpPr>
        <p:spPr bwMode="auto">
          <a:xfrm>
            <a:off x="2520950" y="3201988"/>
            <a:ext cx="422592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nvGrpSpPr>
          <p:cNvPr id="105480" name="Group 27"/>
          <p:cNvGrpSpPr>
            <a:grpSpLocks/>
          </p:cNvGrpSpPr>
          <p:nvPr/>
        </p:nvGrpSpPr>
        <p:grpSpPr bwMode="auto">
          <a:xfrm>
            <a:off x="2520950" y="1811338"/>
            <a:ext cx="3525838" cy="1379537"/>
            <a:chOff x="2555" y="5493"/>
            <a:chExt cx="5553" cy="2172"/>
          </a:xfrm>
        </p:grpSpPr>
        <p:sp>
          <p:nvSpPr>
            <p:cNvPr id="105524" name="Line 28"/>
            <p:cNvSpPr>
              <a:spLocks noChangeShapeType="1"/>
            </p:cNvSpPr>
            <p:nvPr/>
          </p:nvSpPr>
          <p:spPr bwMode="auto">
            <a:xfrm>
              <a:off x="2555" y="7665"/>
              <a:ext cx="76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525" name="Line 29"/>
            <p:cNvSpPr>
              <a:spLocks noChangeShapeType="1"/>
            </p:cNvSpPr>
            <p:nvPr/>
          </p:nvSpPr>
          <p:spPr bwMode="auto">
            <a:xfrm flipV="1">
              <a:off x="3321" y="5493"/>
              <a:ext cx="1093" cy="21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526" name="Line 30"/>
            <p:cNvSpPr>
              <a:spLocks noChangeShapeType="1"/>
            </p:cNvSpPr>
            <p:nvPr/>
          </p:nvSpPr>
          <p:spPr bwMode="auto">
            <a:xfrm>
              <a:off x="4414" y="5493"/>
              <a:ext cx="183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527" name="Line 31"/>
            <p:cNvSpPr>
              <a:spLocks noChangeShapeType="1"/>
            </p:cNvSpPr>
            <p:nvPr/>
          </p:nvSpPr>
          <p:spPr bwMode="auto">
            <a:xfrm flipH="1" flipV="1">
              <a:off x="6249" y="5493"/>
              <a:ext cx="1093" cy="217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528" name="Line 32"/>
            <p:cNvSpPr>
              <a:spLocks noChangeShapeType="1"/>
            </p:cNvSpPr>
            <p:nvPr/>
          </p:nvSpPr>
          <p:spPr bwMode="auto">
            <a:xfrm>
              <a:off x="7342" y="7665"/>
              <a:ext cx="76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05481" name="Text Box 33"/>
          <p:cNvSpPr txBox="1">
            <a:spLocks noChangeArrowheads="1"/>
          </p:cNvSpPr>
          <p:nvPr/>
        </p:nvSpPr>
        <p:spPr bwMode="auto">
          <a:xfrm>
            <a:off x="2844800" y="3201988"/>
            <a:ext cx="4286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10</a:t>
            </a:r>
            <a:endParaRPr lang="en-US" altLang="fr-FR" sz="1800">
              <a:latin typeface="Arial" panose="020B0604020202020204" pitchFamily="34" charset="0"/>
            </a:endParaRPr>
          </a:p>
        </p:txBody>
      </p:sp>
      <p:sp>
        <p:nvSpPr>
          <p:cNvPr id="105482" name="Text Box 34"/>
          <p:cNvSpPr txBox="1">
            <a:spLocks noChangeArrowheads="1"/>
          </p:cNvSpPr>
          <p:nvPr/>
        </p:nvSpPr>
        <p:spPr bwMode="auto">
          <a:xfrm>
            <a:off x="3449638" y="3190875"/>
            <a:ext cx="4270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25</a:t>
            </a:r>
            <a:endParaRPr lang="en-US" altLang="fr-FR" sz="1800">
              <a:latin typeface="Arial" panose="020B0604020202020204" pitchFamily="34" charset="0"/>
            </a:endParaRPr>
          </a:p>
        </p:txBody>
      </p:sp>
      <p:sp>
        <p:nvSpPr>
          <p:cNvPr id="105483" name="Text Box 35"/>
          <p:cNvSpPr txBox="1">
            <a:spLocks noChangeArrowheads="1"/>
          </p:cNvSpPr>
          <p:nvPr/>
        </p:nvSpPr>
        <p:spPr bwMode="auto">
          <a:xfrm>
            <a:off x="4667250" y="3201988"/>
            <a:ext cx="4286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45</a:t>
            </a:r>
            <a:endParaRPr lang="en-US" altLang="fr-FR" sz="1800">
              <a:latin typeface="Arial" panose="020B0604020202020204" pitchFamily="34" charset="0"/>
            </a:endParaRPr>
          </a:p>
        </p:txBody>
      </p:sp>
      <p:sp>
        <p:nvSpPr>
          <p:cNvPr id="105484" name="Text Box 36"/>
          <p:cNvSpPr txBox="1">
            <a:spLocks noChangeArrowheads="1"/>
          </p:cNvSpPr>
          <p:nvPr/>
        </p:nvSpPr>
        <p:spPr bwMode="auto">
          <a:xfrm>
            <a:off x="5375275" y="3190875"/>
            <a:ext cx="428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60</a:t>
            </a:r>
            <a:endParaRPr lang="en-US" altLang="fr-FR" sz="1800">
              <a:latin typeface="Arial" panose="020B0604020202020204" pitchFamily="34" charset="0"/>
            </a:endParaRPr>
          </a:p>
        </p:txBody>
      </p:sp>
      <p:sp>
        <p:nvSpPr>
          <p:cNvPr id="105485" name="Text Box 37"/>
          <p:cNvSpPr txBox="1">
            <a:spLocks noChangeArrowheads="1"/>
          </p:cNvSpPr>
          <p:nvPr/>
        </p:nvSpPr>
        <p:spPr bwMode="auto">
          <a:xfrm>
            <a:off x="1951038" y="998538"/>
            <a:ext cx="722312"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vitesse </a:t>
            </a:r>
          </a:p>
          <a:p>
            <a:pPr eaLnBrk="1" hangingPunct="1">
              <a:spcBef>
                <a:spcPct val="0"/>
              </a:spcBef>
              <a:buClrTx/>
              <a:buSzTx/>
              <a:buFontTx/>
              <a:buNone/>
            </a:pPr>
            <a:r>
              <a:rPr lang="en-US" altLang="fr-FR" sz="1200">
                <a:latin typeface="Arial" panose="020B0604020202020204" pitchFamily="34" charset="0"/>
              </a:rPr>
              <a:t>(rad/s)</a:t>
            </a:r>
            <a:endParaRPr lang="en-US" altLang="fr-FR" sz="1800">
              <a:latin typeface="Arial" panose="020B0604020202020204" pitchFamily="34" charset="0"/>
            </a:endParaRPr>
          </a:p>
        </p:txBody>
      </p:sp>
      <p:sp>
        <p:nvSpPr>
          <p:cNvPr id="105486" name="Line 38"/>
          <p:cNvSpPr>
            <a:spLocks noChangeShapeType="1"/>
          </p:cNvSpPr>
          <p:nvPr/>
        </p:nvSpPr>
        <p:spPr bwMode="auto">
          <a:xfrm>
            <a:off x="3702050" y="1811338"/>
            <a:ext cx="0" cy="137953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5487" name="Line 39"/>
          <p:cNvSpPr>
            <a:spLocks noChangeShapeType="1"/>
          </p:cNvSpPr>
          <p:nvPr/>
        </p:nvSpPr>
        <p:spPr bwMode="auto">
          <a:xfrm>
            <a:off x="4851400" y="1816100"/>
            <a:ext cx="0" cy="137953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5488" name="Line 40"/>
          <p:cNvSpPr>
            <a:spLocks noChangeShapeType="1"/>
          </p:cNvSpPr>
          <p:nvPr/>
        </p:nvSpPr>
        <p:spPr bwMode="auto">
          <a:xfrm flipH="1">
            <a:off x="2520950" y="1811338"/>
            <a:ext cx="118110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5489" name="Text Box 41"/>
          <p:cNvSpPr txBox="1">
            <a:spLocks noChangeArrowheads="1"/>
          </p:cNvSpPr>
          <p:nvPr/>
        </p:nvSpPr>
        <p:spPr bwMode="auto">
          <a:xfrm>
            <a:off x="1989138" y="1733550"/>
            <a:ext cx="6413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100</a:t>
            </a:r>
            <a:endParaRPr lang="en-US" altLang="fr-FR" sz="1800">
              <a:latin typeface="Arial" panose="020B0604020202020204" pitchFamily="34" charset="0"/>
            </a:endParaRPr>
          </a:p>
        </p:txBody>
      </p:sp>
      <p:sp>
        <p:nvSpPr>
          <p:cNvPr id="105490" name="Line 42"/>
          <p:cNvSpPr>
            <a:spLocks noChangeShapeType="1"/>
          </p:cNvSpPr>
          <p:nvPr/>
        </p:nvSpPr>
        <p:spPr bwMode="auto">
          <a:xfrm flipV="1">
            <a:off x="2511425" y="3400425"/>
            <a:ext cx="0" cy="29241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5491" name="Line 43"/>
          <p:cNvSpPr>
            <a:spLocks noChangeShapeType="1"/>
          </p:cNvSpPr>
          <p:nvPr/>
        </p:nvSpPr>
        <p:spPr bwMode="auto">
          <a:xfrm>
            <a:off x="2511425" y="5334000"/>
            <a:ext cx="422592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5492" name="Line 44"/>
          <p:cNvSpPr>
            <a:spLocks noChangeShapeType="1"/>
          </p:cNvSpPr>
          <p:nvPr/>
        </p:nvSpPr>
        <p:spPr bwMode="auto">
          <a:xfrm>
            <a:off x="2511425" y="5224463"/>
            <a:ext cx="485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493" name="Line 45"/>
          <p:cNvSpPr>
            <a:spLocks noChangeShapeType="1"/>
          </p:cNvSpPr>
          <p:nvPr/>
        </p:nvSpPr>
        <p:spPr bwMode="auto">
          <a:xfrm flipV="1">
            <a:off x="2997200" y="4081463"/>
            <a:ext cx="704850" cy="2063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494" name="Line 46"/>
          <p:cNvSpPr>
            <a:spLocks noChangeShapeType="1"/>
          </p:cNvSpPr>
          <p:nvPr/>
        </p:nvSpPr>
        <p:spPr bwMode="auto">
          <a:xfrm>
            <a:off x="3676650" y="5054600"/>
            <a:ext cx="1165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495" name="Line 47"/>
          <p:cNvSpPr>
            <a:spLocks noChangeShapeType="1"/>
          </p:cNvSpPr>
          <p:nvPr/>
        </p:nvSpPr>
        <p:spPr bwMode="auto">
          <a:xfrm flipH="1" flipV="1">
            <a:off x="4851400" y="6007100"/>
            <a:ext cx="700088" cy="257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496" name="Line 48"/>
          <p:cNvSpPr>
            <a:spLocks noChangeShapeType="1"/>
          </p:cNvSpPr>
          <p:nvPr/>
        </p:nvSpPr>
        <p:spPr bwMode="auto">
          <a:xfrm>
            <a:off x="5551488" y="5224463"/>
            <a:ext cx="485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497" name="Text Box 49"/>
          <p:cNvSpPr txBox="1">
            <a:spLocks noChangeArrowheads="1"/>
          </p:cNvSpPr>
          <p:nvPr/>
        </p:nvSpPr>
        <p:spPr bwMode="auto">
          <a:xfrm>
            <a:off x="2835275" y="5334000"/>
            <a:ext cx="4286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10</a:t>
            </a:r>
            <a:endParaRPr lang="en-US" altLang="fr-FR" sz="1800">
              <a:latin typeface="Arial" panose="020B0604020202020204" pitchFamily="34" charset="0"/>
            </a:endParaRPr>
          </a:p>
        </p:txBody>
      </p:sp>
      <p:sp>
        <p:nvSpPr>
          <p:cNvPr id="105498" name="Text Box 50"/>
          <p:cNvSpPr txBox="1">
            <a:spLocks noChangeArrowheads="1"/>
          </p:cNvSpPr>
          <p:nvPr/>
        </p:nvSpPr>
        <p:spPr bwMode="auto">
          <a:xfrm>
            <a:off x="3440113" y="5324475"/>
            <a:ext cx="4270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25</a:t>
            </a:r>
            <a:endParaRPr lang="en-US" altLang="fr-FR" sz="1800">
              <a:latin typeface="Arial" panose="020B0604020202020204" pitchFamily="34" charset="0"/>
            </a:endParaRPr>
          </a:p>
        </p:txBody>
      </p:sp>
      <p:sp>
        <p:nvSpPr>
          <p:cNvPr id="105499" name="Text Box 51"/>
          <p:cNvSpPr txBox="1">
            <a:spLocks noChangeArrowheads="1"/>
          </p:cNvSpPr>
          <p:nvPr/>
        </p:nvSpPr>
        <p:spPr bwMode="auto">
          <a:xfrm>
            <a:off x="4567238" y="5311775"/>
            <a:ext cx="4270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45</a:t>
            </a:r>
            <a:endParaRPr lang="en-US" altLang="fr-FR" sz="1800">
              <a:latin typeface="Arial" panose="020B0604020202020204" pitchFamily="34" charset="0"/>
            </a:endParaRPr>
          </a:p>
        </p:txBody>
      </p:sp>
      <p:sp>
        <p:nvSpPr>
          <p:cNvPr id="105500" name="Text Box 52"/>
          <p:cNvSpPr txBox="1">
            <a:spLocks noChangeArrowheads="1"/>
          </p:cNvSpPr>
          <p:nvPr/>
        </p:nvSpPr>
        <p:spPr bwMode="auto">
          <a:xfrm>
            <a:off x="5507038" y="5334000"/>
            <a:ext cx="4286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60</a:t>
            </a:r>
            <a:endParaRPr lang="en-US" altLang="fr-FR" sz="1800">
              <a:latin typeface="Arial" panose="020B0604020202020204" pitchFamily="34" charset="0"/>
            </a:endParaRPr>
          </a:p>
        </p:txBody>
      </p:sp>
      <p:sp>
        <p:nvSpPr>
          <p:cNvPr id="105501" name="Text Box 53"/>
          <p:cNvSpPr txBox="1">
            <a:spLocks noChangeArrowheads="1"/>
          </p:cNvSpPr>
          <p:nvPr/>
        </p:nvSpPr>
        <p:spPr bwMode="auto">
          <a:xfrm>
            <a:off x="1941513" y="3435350"/>
            <a:ext cx="722312"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couple </a:t>
            </a:r>
          </a:p>
          <a:p>
            <a:pPr eaLnBrk="1" hangingPunct="1">
              <a:spcBef>
                <a:spcPct val="0"/>
              </a:spcBef>
              <a:buClrTx/>
              <a:buSzTx/>
              <a:buFontTx/>
              <a:buNone/>
            </a:pPr>
            <a:r>
              <a:rPr lang="en-US" altLang="fr-FR" sz="1200">
                <a:latin typeface="Arial" panose="020B0604020202020204" pitchFamily="34" charset="0"/>
              </a:rPr>
              <a:t>(Nm)</a:t>
            </a:r>
            <a:endParaRPr lang="en-US" altLang="fr-FR" sz="1800">
              <a:latin typeface="Arial" panose="020B0604020202020204" pitchFamily="34" charset="0"/>
            </a:endParaRPr>
          </a:p>
        </p:txBody>
      </p:sp>
      <p:sp>
        <p:nvSpPr>
          <p:cNvPr id="105502" name="Line 54"/>
          <p:cNvSpPr>
            <a:spLocks noChangeShapeType="1"/>
          </p:cNvSpPr>
          <p:nvPr/>
        </p:nvSpPr>
        <p:spPr bwMode="auto">
          <a:xfrm>
            <a:off x="3692525" y="3265488"/>
            <a:ext cx="6350" cy="171132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5503" name="Line 55"/>
          <p:cNvSpPr>
            <a:spLocks noChangeShapeType="1"/>
          </p:cNvSpPr>
          <p:nvPr/>
        </p:nvSpPr>
        <p:spPr bwMode="auto">
          <a:xfrm>
            <a:off x="4841875" y="3265488"/>
            <a:ext cx="0" cy="259715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5504" name="Line 56"/>
          <p:cNvSpPr>
            <a:spLocks noChangeShapeType="1"/>
          </p:cNvSpPr>
          <p:nvPr/>
        </p:nvSpPr>
        <p:spPr bwMode="auto">
          <a:xfrm flipH="1">
            <a:off x="2511425" y="4081463"/>
            <a:ext cx="118110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5505" name="Text Box 57"/>
          <p:cNvSpPr txBox="1">
            <a:spLocks noChangeArrowheads="1"/>
          </p:cNvSpPr>
          <p:nvPr/>
        </p:nvSpPr>
        <p:spPr bwMode="auto">
          <a:xfrm>
            <a:off x="1989138" y="3944938"/>
            <a:ext cx="6413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72.67</a:t>
            </a:r>
            <a:endParaRPr lang="en-US" altLang="fr-FR" sz="1800">
              <a:latin typeface="Arial" panose="020B0604020202020204" pitchFamily="34" charset="0"/>
            </a:endParaRPr>
          </a:p>
        </p:txBody>
      </p:sp>
      <p:sp>
        <p:nvSpPr>
          <p:cNvPr id="105506" name="Text Box 58"/>
          <p:cNvSpPr txBox="1">
            <a:spLocks noChangeArrowheads="1"/>
          </p:cNvSpPr>
          <p:nvPr/>
        </p:nvSpPr>
        <p:spPr bwMode="auto">
          <a:xfrm>
            <a:off x="1989138" y="4154488"/>
            <a:ext cx="6159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71.67</a:t>
            </a:r>
            <a:endParaRPr lang="en-US" altLang="fr-FR" sz="1800">
              <a:latin typeface="Arial" panose="020B0604020202020204" pitchFamily="34" charset="0"/>
            </a:endParaRPr>
          </a:p>
        </p:txBody>
      </p:sp>
      <p:sp>
        <p:nvSpPr>
          <p:cNvPr id="105507" name="Line 59"/>
          <p:cNvSpPr>
            <a:spLocks noChangeShapeType="1"/>
          </p:cNvSpPr>
          <p:nvPr/>
        </p:nvSpPr>
        <p:spPr bwMode="auto">
          <a:xfrm flipH="1">
            <a:off x="2511425" y="4287838"/>
            <a:ext cx="48577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5508" name="Text Box 60"/>
          <p:cNvSpPr txBox="1">
            <a:spLocks noChangeArrowheads="1"/>
          </p:cNvSpPr>
          <p:nvPr/>
        </p:nvSpPr>
        <p:spPr bwMode="auto">
          <a:xfrm>
            <a:off x="1912938" y="5865813"/>
            <a:ext cx="6413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-60.67</a:t>
            </a:r>
            <a:endParaRPr lang="en-US" altLang="fr-FR" sz="1800">
              <a:latin typeface="Arial" panose="020B0604020202020204" pitchFamily="34" charset="0"/>
            </a:endParaRPr>
          </a:p>
        </p:txBody>
      </p:sp>
      <p:sp>
        <p:nvSpPr>
          <p:cNvPr id="105509" name="Text Box 61"/>
          <p:cNvSpPr txBox="1">
            <a:spLocks noChangeArrowheads="1"/>
          </p:cNvSpPr>
          <p:nvPr/>
        </p:nvSpPr>
        <p:spPr bwMode="auto">
          <a:xfrm>
            <a:off x="1905000" y="6154738"/>
            <a:ext cx="6413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-61.67</a:t>
            </a:r>
            <a:endParaRPr lang="en-US" altLang="fr-FR" sz="1800">
              <a:latin typeface="Arial" panose="020B0604020202020204" pitchFamily="34" charset="0"/>
            </a:endParaRPr>
          </a:p>
        </p:txBody>
      </p:sp>
      <p:sp>
        <p:nvSpPr>
          <p:cNvPr id="105510" name="Line 62"/>
          <p:cNvSpPr>
            <a:spLocks noChangeShapeType="1"/>
          </p:cNvSpPr>
          <p:nvPr/>
        </p:nvSpPr>
        <p:spPr bwMode="auto">
          <a:xfrm flipH="1">
            <a:off x="2511425" y="6007100"/>
            <a:ext cx="233680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5511" name="Line 63"/>
          <p:cNvSpPr>
            <a:spLocks noChangeShapeType="1"/>
          </p:cNvSpPr>
          <p:nvPr/>
        </p:nvSpPr>
        <p:spPr bwMode="auto">
          <a:xfrm flipH="1">
            <a:off x="2511425" y="6272213"/>
            <a:ext cx="3021013" cy="793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5512" name="Line 64"/>
          <p:cNvSpPr>
            <a:spLocks noChangeShapeType="1"/>
          </p:cNvSpPr>
          <p:nvPr/>
        </p:nvSpPr>
        <p:spPr bwMode="auto">
          <a:xfrm flipV="1">
            <a:off x="3006725" y="4287838"/>
            <a:ext cx="0" cy="9525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513" name="Line 65"/>
          <p:cNvSpPr>
            <a:spLocks noChangeShapeType="1"/>
          </p:cNvSpPr>
          <p:nvPr/>
        </p:nvSpPr>
        <p:spPr bwMode="auto">
          <a:xfrm flipV="1">
            <a:off x="3684588" y="4095750"/>
            <a:ext cx="0" cy="9620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514" name="Line 66"/>
          <p:cNvSpPr>
            <a:spLocks noChangeShapeType="1"/>
          </p:cNvSpPr>
          <p:nvPr/>
        </p:nvSpPr>
        <p:spPr bwMode="auto">
          <a:xfrm flipV="1">
            <a:off x="4841875" y="5054600"/>
            <a:ext cx="0" cy="9525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515" name="Line 67"/>
          <p:cNvSpPr>
            <a:spLocks noChangeShapeType="1"/>
          </p:cNvSpPr>
          <p:nvPr/>
        </p:nvSpPr>
        <p:spPr bwMode="auto">
          <a:xfrm flipH="1" flipV="1">
            <a:off x="5551488" y="5224463"/>
            <a:ext cx="1587" cy="10604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516" name="Line 68"/>
          <p:cNvSpPr>
            <a:spLocks noChangeShapeType="1"/>
          </p:cNvSpPr>
          <p:nvPr/>
        </p:nvSpPr>
        <p:spPr bwMode="auto">
          <a:xfrm flipH="1">
            <a:off x="2520950" y="5054600"/>
            <a:ext cx="11636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5517" name="Text Box 69"/>
          <p:cNvSpPr txBox="1">
            <a:spLocks noChangeArrowheads="1"/>
          </p:cNvSpPr>
          <p:nvPr/>
        </p:nvSpPr>
        <p:spPr bwMode="auto">
          <a:xfrm>
            <a:off x="2265363" y="5091113"/>
            <a:ext cx="3397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5</a:t>
            </a:r>
            <a:endParaRPr lang="en-US" altLang="fr-FR" sz="1800">
              <a:latin typeface="Arial" panose="020B0604020202020204" pitchFamily="34" charset="0"/>
            </a:endParaRPr>
          </a:p>
        </p:txBody>
      </p:sp>
      <p:sp>
        <p:nvSpPr>
          <p:cNvPr id="105518" name="Text Box 70"/>
          <p:cNvSpPr txBox="1">
            <a:spLocks noChangeArrowheads="1"/>
          </p:cNvSpPr>
          <p:nvPr/>
        </p:nvSpPr>
        <p:spPr bwMode="auto">
          <a:xfrm>
            <a:off x="2274888" y="4937125"/>
            <a:ext cx="3397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6</a:t>
            </a:r>
            <a:endParaRPr lang="en-US" altLang="fr-FR" sz="1800">
              <a:latin typeface="Arial" panose="020B0604020202020204" pitchFamily="34" charset="0"/>
            </a:endParaRPr>
          </a:p>
        </p:txBody>
      </p:sp>
      <p:sp>
        <p:nvSpPr>
          <p:cNvPr id="105519" name="Text Box 71"/>
          <p:cNvSpPr txBox="1">
            <a:spLocks noChangeArrowheads="1"/>
          </p:cNvSpPr>
          <p:nvPr/>
        </p:nvSpPr>
        <p:spPr bwMode="auto">
          <a:xfrm>
            <a:off x="6110288" y="5368925"/>
            <a:ext cx="10382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t (ms)</a:t>
            </a:r>
            <a:endParaRPr lang="en-US" altLang="fr-FR" sz="1800">
              <a:latin typeface="Arial" panose="020B0604020202020204" pitchFamily="34" charset="0"/>
            </a:endParaRPr>
          </a:p>
        </p:txBody>
      </p:sp>
      <p:sp>
        <p:nvSpPr>
          <p:cNvPr id="105520" name="Text Box 72"/>
          <p:cNvSpPr txBox="1">
            <a:spLocks noChangeArrowheads="1"/>
          </p:cNvSpPr>
          <p:nvPr/>
        </p:nvSpPr>
        <p:spPr bwMode="auto">
          <a:xfrm>
            <a:off x="6178550" y="3197225"/>
            <a:ext cx="1039813"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t (ms)</a:t>
            </a:r>
            <a:endParaRPr lang="en-US" altLang="fr-FR" sz="1800">
              <a:latin typeface="Arial" panose="020B0604020202020204" pitchFamily="34" charset="0"/>
            </a:endParaRPr>
          </a:p>
        </p:txBody>
      </p:sp>
      <p:sp>
        <p:nvSpPr>
          <p:cNvPr id="105521" name="Text Box 73"/>
          <p:cNvSpPr txBox="1">
            <a:spLocks noChangeArrowheads="1"/>
          </p:cNvSpPr>
          <p:nvPr/>
        </p:nvSpPr>
        <p:spPr bwMode="auto">
          <a:xfrm>
            <a:off x="5638800" y="1828800"/>
            <a:ext cx="1812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u="sng">
                <a:latin typeface="Arial" panose="020B0604020202020204" pitchFamily="34" charset="0"/>
              </a:rPr>
              <a:t>Profil de vitesse</a:t>
            </a:r>
          </a:p>
        </p:txBody>
      </p:sp>
      <p:sp>
        <p:nvSpPr>
          <p:cNvPr id="105522" name="Text Box 74"/>
          <p:cNvSpPr txBox="1">
            <a:spLocks noChangeArrowheads="1"/>
          </p:cNvSpPr>
          <p:nvPr/>
        </p:nvSpPr>
        <p:spPr bwMode="auto">
          <a:xfrm>
            <a:off x="5715000" y="3962400"/>
            <a:ext cx="1774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u="sng">
                <a:latin typeface="Arial" panose="020B0604020202020204" pitchFamily="34" charset="0"/>
              </a:rPr>
              <a:t>Profil de couple</a:t>
            </a:r>
          </a:p>
        </p:txBody>
      </p:sp>
      <p:sp>
        <p:nvSpPr>
          <p:cNvPr id="57" name="Espace réservé du pied de page 56"/>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07523" name="Espace réservé du numéro de diapositive 2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9CCBD76-D198-4247-AAC3-5096F4E07ED0}" type="slidenum">
              <a:rPr lang="en-US" altLang="fr-FR" sz="1000" smtClean="0">
                <a:solidFill>
                  <a:srgbClr val="292929"/>
                </a:solidFill>
                <a:latin typeface="Arial" panose="020B0604020202020204" pitchFamily="34" charset="0"/>
              </a:rPr>
              <a:pPr>
                <a:spcBef>
                  <a:spcPct val="0"/>
                </a:spcBef>
                <a:buClrTx/>
                <a:buSzTx/>
                <a:buFontTx/>
                <a:buNone/>
              </a:pPr>
              <a:t>52</a:t>
            </a:fld>
            <a:endParaRPr lang="en-US" altLang="fr-FR" sz="1000" smtClean="0">
              <a:solidFill>
                <a:srgbClr val="292929"/>
              </a:solidFill>
              <a:latin typeface="Arial" panose="020B0604020202020204" pitchFamily="34" charset="0"/>
            </a:endParaRPr>
          </a:p>
        </p:txBody>
      </p:sp>
      <p:sp>
        <p:nvSpPr>
          <p:cNvPr id="107524"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07525" name="Text Box 4"/>
          <p:cNvSpPr txBox="1">
            <a:spLocks noChangeArrowheads="1"/>
          </p:cNvSpPr>
          <p:nvPr/>
        </p:nvSpPr>
        <p:spPr bwMode="auto">
          <a:xfrm>
            <a:off x="685800" y="8382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Profil du couple et de vitesse</a:t>
            </a:r>
            <a:endParaRPr lang="en-US" altLang="fr-FR" sz="1800" b="1">
              <a:solidFill>
                <a:srgbClr val="CC6600"/>
              </a:solidFill>
              <a:latin typeface="Arial" panose="020B0604020202020204" pitchFamily="34" charset="0"/>
            </a:endParaRPr>
          </a:p>
        </p:txBody>
      </p:sp>
      <p:sp>
        <p:nvSpPr>
          <p:cNvPr id="107526" name="Line 22"/>
          <p:cNvSpPr>
            <a:spLocks noChangeShapeType="1"/>
          </p:cNvSpPr>
          <p:nvPr/>
        </p:nvSpPr>
        <p:spPr bwMode="auto">
          <a:xfrm flipV="1">
            <a:off x="2039938" y="2146300"/>
            <a:ext cx="0" cy="29241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7527" name="Line 23"/>
          <p:cNvSpPr>
            <a:spLocks noChangeShapeType="1"/>
          </p:cNvSpPr>
          <p:nvPr/>
        </p:nvSpPr>
        <p:spPr bwMode="auto">
          <a:xfrm>
            <a:off x="2039938" y="3775075"/>
            <a:ext cx="422592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7528" name="Line 25"/>
          <p:cNvSpPr>
            <a:spLocks noChangeShapeType="1"/>
          </p:cNvSpPr>
          <p:nvPr/>
        </p:nvSpPr>
        <p:spPr bwMode="auto">
          <a:xfrm flipV="1">
            <a:off x="2525713" y="2728913"/>
            <a:ext cx="6937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7529" name="Line 26"/>
          <p:cNvSpPr>
            <a:spLocks noChangeShapeType="1"/>
          </p:cNvSpPr>
          <p:nvPr/>
        </p:nvSpPr>
        <p:spPr bwMode="auto">
          <a:xfrm>
            <a:off x="3209925" y="3781425"/>
            <a:ext cx="11414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7530" name="Line 27"/>
          <p:cNvSpPr>
            <a:spLocks noChangeShapeType="1"/>
          </p:cNvSpPr>
          <p:nvPr/>
        </p:nvSpPr>
        <p:spPr bwMode="auto">
          <a:xfrm flipH="1" flipV="1">
            <a:off x="4370388" y="4529138"/>
            <a:ext cx="6953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7531" name="Line 28"/>
          <p:cNvSpPr>
            <a:spLocks noChangeShapeType="1"/>
          </p:cNvSpPr>
          <p:nvPr/>
        </p:nvSpPr>
        <p:spPr bwMode="auto">
          <a:xfrm>
            <a:off x="5091113" y="3781425"/>
            <a:ext cx="485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7532" name="Text Box 29"/>
          <p:cNvSpPr txBox="1">
            <a:spLocks noChangeArrowheads="1"/>
          </p:cNvSpPr>
          <p:nvPr/>
        </p:nvSpPr>
        <p:spPr bwMode="auto">
          <a:xfrm>
            <a:off x="2363788" y="3775075"/>
            <a:ext cx="4286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10</a:t>
            </a:r>
            <a:endParaRPr lang="en-US" altLang="fr-FR" sz="1800">
              <a:latin typeface="Arial" panose="020B0604020202020204" pitchFamily="34" charset="0"/>
            </a:endParaRPr>
          </a:p>
        </p:txBody>
      </p:sp>
      <p:sp>
        <p:nvSpPr>
          <p:cNvPr id="107533" name="Text Box 30"/>
          <p:cNvSpPr txBox="1">
            <a:spLocks noChangeArrowheads="1"/>
          </p:cNvSpPr>
          <p:nvPr/>
        </p:nvSpPr>
        <p:spPr bwMode="auto">
          <a:xfrm>
            <a:off x="2968625" y="3765550"/>
            <a:ext cx="4270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25</a:t>
            </a:r>
            <a:endParaRPr lang="en-US" altLang="fr-FR" sz="1800">
              <a:latin typeface="Arial" panose="020B0604020202020204" pitchFamily="34" charset="0"/>
            </a:endParaRPr>
          </a:p>
        </p:txBody>
      </p:sp>
      <p:sp>
        <p:nvSpPr>
          <p:cNvPr id="107534" name="Text Box 31"/>
          <p:cNvSpPr txBox="1">
            <a:spLocks noChangeArrowheads="1"/>
          </p:cNvSpPr>
          <p:nvPr/>
        </p:nvSpPr>
        <p:spPr bwMode="auto">
          <a:xfrm>
            <a:off x="4095750" y="3752850"/>
            <a:ext cx="4270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45</a:t>
            </a:r>
            <a:endParaRPr lang="en-US" altLang="fr-FR" sz="1800">
              <a:latin typeface="Arial" panose="020B0604020202020204" pitchFamily="34" charset="0"/>
            </a:endParaRPr>
          </a:p>
        </p:txBody>
      </p:sp>
      <p:sp>
        <p:nvSpPr>
          <p:cNvPr id="107535" name="Text Box 32"/>
          <p:cNvSpPr txBox="1">
            <a:spLocks noChangeArrowheads="1"/>
          </p:cNvSpPr>
          <p:nvPr/>
        </p:nvSpPr>
        <p:spPr bwMode="auto">
          <a:xfrm>
            <a:off x="5035550" y="3775075"/>
            <a:ext cx="4286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60</a:t>
            </a:r>
            <a:endParaRPr lang="en-US" altLang="fr-FR" sz="1800">
              <a:latin typeface="Arial" panose="020B0604020202020204" pitchFamily="34" charset="0"/>
            </a:endParaRPr>
          </a:p>
        </p:txBody>
      </p:sp>
      <p:sp>
        <p:nvSpPr>
          <p:cNvPr id="107536" name="Text Box 33"/>
          <p:cNvSpPr txBox="1">
            <a:spLocks noChangeArrowheads="1"/>
          </p:cNvSpPr>
          <p:nvPr/>
        </p:nvSpPr>
        <p:spPr bwMode="auto">
          <a:xfrm>
            <a:off x="1433513" y="1800225"/>
            <a:ext cx="722312"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couple </a:t>
            </a:r>
          </a:p>
          <a:p>
            <a:pPr eaLnBrk="1" hangingPunct="1">
              <a:spcBef>
                <a:spcPct val="0"/>
              </a:spcBef>
              <a:buClrTx/>
              <a:buSzTx/>
              <a:buFontTx/>
              <a:buNone/>
            </a:pPr>
            <a:r>
              <a:rPr lang="en-US" altLang="fr-FR" sz="1200">
                <a:latin typeface="Arial" panose="020B0604020202020204" pitchFamily="34" charset="0"/>
              </a:rPr>
              <a:t>(Nm)</a:t>
            </a:r>
            <a:endParaRPr lang="en-US" altLang="fr-FR" sz="1800">
              <a:latin typeface="Arial" panose="020B0604020202020204" pitchFamily="34" charset="0"/>
            </a:endParaRPr>
          </a:p>
        </p:txBody>
      </p:sp>
      <p:sp>
        <p:nvSpPr>
          <p:cNvPr id="107537" name="Text Box 38"/>
          <p:cNvSpPr txBox="1">
            <a:spLocks noChangeArrowheads="1"/>
          </p:cNvSpPr>
          <p:nvPr/>
        </p:nvSpPr>
        <p:spPr bwMode="auto">
          <a:xfrm>
            <a:off x="1517650" y="2595563"/>
            <a:ext cx="6159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70</a:t>
            </a:r>
            <a:endParaRPr lang="en-US" altLang="fr-FR" sz="1800">
              <a:latin typeface="Arial" panose="020B0604020202020204" pitchFamily="34" charset="0"/>
            </a:endParaRPr>
          </a:p>
        </p:txBody>
      </p:sp>
      <p:sp>
        <p:nvSpPr>
          <p:cNvPr id="107538" name="Line 39"/>
          <p:cNvSpPr>
            <a:spLocks noChangeShapeType="1"/>
          </p:cNvSpPr>
          <p:nvPr/>
        </p:nvSpPr>
        <p:spPr bwMode="auto">
          <a:xfrm flipH="1">
            <a:off x="2039938" y="2728913"/>
            <a:ext cx="48577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7539" name="Text Box 40"/>
          <p:cNvSpPr txBox="1">
            <a:spLocks noChangeArrowheads="1"/>
          </p:cNvSpPr>
          <p:nvPr/>
        </p:nvSpPr>
        <p:spPr bwMode="auto">
          <a:xfrm>
            <a:off x="1662113" y="4391025"/>
            <a:ext cx="5254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-65</a:t>
            </a:r>
            <a:endParaRPr lang="en-US" altLang="fr-FR" sz="1800">
              <a:latin typeface="Arial" panose="020B0604020202020204" pitchFamily="34" charset="0"/>
            </a:endParaRPr>
          </a:p>
        </p:txBody>
      </p:sp>
      <p:sp>
        <p:nvSpPr>
          <p:cNvPr id="107540" name="Line 42"/>
          <p:cNvSpPr>
            <a:spLocks noChangeShapeType="1"/>
          </p:cNvSpPr>
          <p:nvPr/>
        </p:nvSpPr>
        <p:spPr bwMode="auto">
          <a:xfrm flipH="1">
            <a:off x="2039938" y="4543425"/>
            <a:ext cx="233680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7541" name="Line 44"/>
          <p:cNvSpPr>
            <a:spLocks noChangeShapeType="1"/>
          </p:cNvSpPr>
          <p:nvPr/>
        </p:nvSpPr>
        <p:spPr bwMode="auto">
          <a:xfrm flipV="1">
            <a:off x="2533650" y="2728913"/>
            <a:ext cx="1588" cy="10525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7542" name="Line 45"/>
          <p:cNvSpPr>
            <a:spLocks noChangeShapeType="1"/>
          </p:cNvSpPr>
          <p:nvPr/>
        </p:nvSpPr>
        <p:spPr bwMode="auto">
          <a:xfrm flipH="1" flipV="1">
            <a:off x="3214688" y="2714625"/>
            <a:ext cx="0" cy="107156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7543" name="Line 46"/>
          <p:cNvSpPr>
            <a:spLocks noChangeAspect="1" noChangeShapeType="1"/>
          </p:cNvSpPr>
          <p:nvPr/>
        </p:nvSpPr>
        <p:spPr bwMode="auto">
          <a:xfrm flipV="1">
            <a:off x="4370388" y="3762375"/>
            <a:ext cx="0" cy="7810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7544" name="Line 47"/>
          <p:cNvSpPr>
            <a:spLocks noChangeAspect="1" noChangeShapeType="1"/>
          </p:cNvSpPr>
          <p:nvPr/>
        </p:nvSpPr>
        <p:spPr bwMode="auto">
          <a:xfrm flipH="1" flipV="1">
            <a:off x="5080000" y="3781425"/>
            <a:ext cx="1588" cy="762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7545" name="Line 48"/>
          <p:cNvSpPr>
            <a:spLocks noChangeShapeType="1"/>
          </p:cNvSpPr>
          <p:nvPr/>
        </p:nvSpPr>
        <p:spPr bwMode="auto">
          <a:xfrm flipH="1">
            <a:off x="2049463" y="3495675"/>
            <a:ext cx="1163637"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07546" name="Text Box 50"/>
          <p:cNvSpPr txBox="1">
            <a:spLocks noChangeArrowheads="1"/>
          </p:cNvSpPr>
          <p:nvPr/>
        </p:nvSpPr>
        <p:spPr bwMode="auto">
          <a:xfrm>
            <a:off x="1803400" y="3378200"/>
            <a:ext cx="3397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6</a:t>
            </a:r>
            <a:endParaRPr lang="en-US" altLang="fr-FR" sz="1800">
              <a:latin typeface="Arial" panose="020B0604020202020204" pitchFamily="34" charset="0"/>
            </a:endParaRPr>
          </a:p>
        </p:txBody>
      </p:sp>
      <p:sp>
        <p:nvSpPr>
          <p:cNvPr id="107547" name="Text Box 51"/>
          <p:cNvSpPr txBox="1">
            <a:spLocks noChangeArrowheads="1"/>
          </p:cNvSpPr>
          <p:nvPr/>
        </p:nvSpPr>
        <p:spPr bwMode="auto">
          <a:xfrm>
            <a:off x="5638800" y="3810000"/>
            <a:ext cx="10382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t (ms)</a:t>
            </a:r>
            <a:endParaRPr lang="en-US" altLang="fr-FR" sz="1800">
              <a:latin typeface="Arial" panose="020B0604020202020204" pitchFamily="34" charset="0"/>
            </a:endParaRPr>
          </a:p>
        </p:txBody>
      </p:sp>
      <p:sp>
        <p:nvSpPr>
          <p:cNvPr id="107548" name="Line 56"/>
          <p:cNvSpPr>
            <a:spLocks noChangeShapeType="1"/>
          </p:cNvSpPr>
          <p:nvPr/>
        </p:nvSpPr>
        <p:spPr bwMode="auto">
          <a:xfrm>
            <a:off x="2043113" y="3781425"/>
            <a:ext cx="485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7549" name="Text Box 58"/>
          <p:cNvSpPr txBox="1">
            <a:spLocks noChangeArrowheads="1"/>
          </p:cNvSpPr>
          <p:nvPr/>
        </p:nvSpPr>
        <p:spPr bwMode="auto">
          <a:xfrm>
            <a:off x="1143000" y="5257800"/>
            <a:ext cx="7315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Pour le même système et avec le profil de couple moteur donnée ci-dessus, quelle serait le profil de la vitesse?</a:t>
            </a:r>
            <a:endParaRPr lang="en-US" altLang="fr-FR" sz="1800">
              <a:latin typeface="Arial" panose="020B0604020202020204" pitchFamily="34" charset="0"/>
            </a:endParaRPr>
          </a:p>
        </p:txBody>
      </p:sp>
      <p:sp>
        <p:nvSpPr>
          <p:cNvPr id="107550" name="Rectangle 59"/>
          <p:cNvSpPr>
            <a:spLocks noChangeArrowheads="1"/>
          </p:cNvSpPr>
          <p:nvPr/>
        </p:nvSpPr>
        <p:spPr bwMode="auto">
          <a:xfrm>
            <a:off x="5395913" y="2638425"/>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panose="020B0604020202020204" pitchFamily="34" charset="0"/>
              </a:rPr>
              <a:t>J = 0.001 kg-m2,    B = 0.1 Nm/rads-1      T</a:t>
            </a:r>
            <a:r>
              <a:rPr lang="en-US" altLang="fr-FR" sz="1200" baseline="-25000">
                <a:latin typeface="Arial" panose="020B0604020202020204" pitchFamily="34" charset="0"/>
              </a:rPr>
              <a:t>Charge</a:t>
            </a:r>
            <a:r>
              <a:rPr lang="en-US" altLang="fr-FR" sz="1200">
                <a:latin typeface="Arial" panose="020B0604020202020204" pitchFamily="34" charset="0"/>
              </a:rPr>
              <a:t> = 5 Nm.</a:t>
            </a:r>
          </a:p>
        </p:txBody>
      </p:sp>
      <p:sp>
        <p:nvSpPr>
          <p:cNvPr id="32" name="Espace réservé du pied de page 31"/>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0957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B18880E-E502-460B-A6B9-0B3732EDE40F}" type="slidenum">
              <a:rPr lang="en-US" altLang="fr-FR" sz="1000" smtClean="0">
                <a:solidFill>
                  <a:srgbClr val="292929"/>
                </a:solidFill>
                <a:latin typeface="Arial" panose="020B0604020202020204" pitchFamily="34" charset="0"/>
              </a:rPr>
              <a:pPr>
                <a:spcBef>
                  <a:spcPct val="0"/>
                </a:spcBef>
                <a:buClrTx/>
                <a:buSzTx/>
                <a:buFontTx/>
                <a:buNone/>
              </a:pPr>
              <a:t>53</a:t>
            </a:fld>
            <a:endParaRPr lang="en-US" altLang="fr-FR" sz="1000" smtClean="0">
              <a:solidFill>
                <a:srgbClr val="292929"/>
              </a:solidFill>
              <a:latin typeface="Arial" panose="020B0604020202020204" pitchFamily="34" charset="0"/>
            </a:endParaRPr>
          </a:p>
        </p:txBody>
      </p:sp>
      <p:sp>
        <p:nvSpPr>
          <p:cNvPr id="78852" name="Rectangle 3"/>
          <p:cNvSpPr>
            <a:spLocks noChangeArrowheads="1"/>
          </p:cNvSpPr>
          <p:nvPr/>
        </p:nvSpPr>
        <p:spPr bwMode="auto">
          <a:xfrm>
            <a:off x="685800" y="1143000"/>
            <a:ext cx="7772400" cy="31400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Les pertes dans les machines contribuent à l'augmentation de température dans la machine. Les différentes parties de la machine ont des limites de température différentes. L'isolation utilisée pour les enroulements est d’autant plus importante qu’elle détermine les différentes classes de machines. Si la température va au-delà de la température admissible, il  provoque un  arrêt immédiat (court-circuit dans l'enroulement) ou elle va dégrader la qualité et donc réduire la durée de vie de l'isolation. Les pertes de puissance admissible sont plus élevés pour les matériaux qui peuvent résister à une température plus élevée (se traduit par une augmentation des coûts). Les classes de l'isolant utilisées pour l'enroulement dans les machines électriques sont affichées dans le tableau suivant.</a:t>
            </a:r>
          </a:p>
        </p:txBody>
      </p:sp>
      <p:sp>
        <p:nvSpPr>
          <p:cNvPr id="5"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p>
        </p:txBody>
      </p:sp>
      <p:sp>
        <p:nvSpPr>
          <p:cNvPr id="109574"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78855" name="Text Box 4"/>
          <p:cNvSpPr txBox="1">
            <a:spLocks noChangeArrowheads="1"/>
          </p:cNvSpPr>
          <p:nvPr/>
        </p:nvSpPr>
        <p:spPr bwMode="auto">
          <a:xfrm>
            <a:off x="685800" y="609600"/>
            <a:ext cx="320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pic>
        <p:nvPicPr>
          <p:cNvPr id="78856" name="Picture 2"/>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133600" y="4876800"/>
            <a:ext cx="560070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7" name="ZoneTexte 8"/>
          <p:cNvSpPr txBox="1">
            <a:spLocks noChangeArrowheads="1"/>
          </p:cNvSpPr>
          <p:nvPr/>
        </p:nvSpPr>
        <p:spPr bwMode="auto">
          <a:xfrm>
            <a:off x="5181600" y="4572000"/>
            <a:ext cx="259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dirty="0" err="1">
                <a:latin typeface="Arial" panose="020B0604020202020204" pitchFamily="34" charset="0"/>
              </a:rPr>
              <a:t>Temp</a:t>
            </a:r>
            <a:r>
              <a:rPr lang="fr-FR" altLang="fr-FR" sz="1800" dirty="0">
                <a:latin typeface="Arial" panose="020B0604020202020204" pitchFamily="34" charset="0"/>
              </a:rPr>
              <a:t>. Max  (°C)</a:t>
            </a:r>
          </a:p>
        </p:txBody>
      </p:sp>
      <p:sp>
        <p:nvSpPr>
          <p:cNvPr id="109578" name="ZoneTexte 9"/>
          <p:cNvSpPr txBox="1">
            <a:spLocks noChangeArrowheads="1"/>
          </p:cNvSpPr>
          <p:nvPr/>
        </p:nvSpPr>
        <p:spPr bwMode="auto">
          <a:xfrm>
            <a:off x="3200400" y="4583113"/>
            <a:ext cx="2286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dirty="0">
                <a:latin typeface="Arial" panose="020B0604020202020204" pitchFamily="34" charset="0"/>
              </a:rPr>
              <a:t>Classe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5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8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95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88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9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animBg="1"/>
      <p:bldP spid="78855" grpId="0"/>
      <p:bldP spid="109577" grpId="0"/>
      <p:bldP spid="10957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11619"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D00DE62-47FD-4ED6-95A4-F2D3E6434141}" type="slidenum">
              <a:rPr lang="en-US" altLang="fr-FR" sz="1000" smtClean="0">
                <a:solidFill>
                  <a:srgbClr val="292929"/>
                </a:solidFill>
                <a:latin typeface="Arial" panose="020B0604020202020204" pitchFamily="34" charset="0"/>
              </a:rPr>
              <a:pPr>
                <a:spcBef>
                  <a:spcPct val="0"/>
                </a:spcBef>
                <a:buClrTx/>
                <a:buSzTx/>
                <a:buFontTx/>
                <a:buNone/>
              </a:pPr>
              <a:t>54</a:t>
            </a:fld>
            <a:endParaRPr lang="en-US" altLang="fr-FR" sz="1000" smtClean="0">
              <a:solidFill>
                <a:srgbClr val="292929"/>
              </a:solidFill>
              <a:latin typeface="Arial" panose="020B0604020202020204" pitchFamily="34" charset="0"/>
            </a:endParaRPr>
          </a:p>
        </p:txBody>
      </p:sp>
      <p:sp>
        <p:nvSpPr>
          <p:cNvPr id="111620"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11621" name="Text Box 4"/>
          <p:cNvSpPr txBox="1">
            <a:spLocks noChangeArrowheads="1"/>
          </p:cNvSpPr>
          <p:nvPr/>
        </p:nvSpPr>
        <p:spPr bwMode="auto">
          <a:xfrm>
            <a:off x="685800" y="762000"/>
            <a:ext cx="434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
        <p:nvSpPr>
          <p:cNvPr id="74758" name="Text Box 56"/>
          <p:cNvSpPr txBox="1">
            <a:spLocks noChangeArrowheads="1"/>
          </p:cNvSpPr>
          <p:nvPr/>
        </p:nvSpPr>
        <p:spPr bwMode="auto">
          <a:xfrm>
            <a:off x="762000" y="1447800"/>
            <a:ext cx="6904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Les Pertes inévitables mènent à l’augmentation de la température</a:t>
            </a:r>
          </a:p>
        </p:txBody>
      </p:sp>
      <p:sp>
        <p:nvSpPr>
          <p:cNvPr id="74759" name="Text Box 57"/>
          <p:cNvSpPr txBox="1">
            <a:spLocks noChangeArrowheads="1"/>
          </p:cNvSpPr>
          <p:nvPr/>
        </p:nvSpPr>
        <p:spPr bwMode="auto">
          <a:xfrm>
            <a:off x="1524000" y="1828800"/>
            <a:ext cx="6172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Isolation utilisée dans les enroulements est classée selon la température qu’elle peut supporter.</a:t>
            </a:r>
          </a:p>
        </p:txBody>
      </p:sp>
      <p:sp>
        <p:nvSpPr>
          <p:cNvPr id="74760" name="Text Box 58"/>
          <p:cNvSpPr txBox="1">
            <a:spLocks noChangeArrowheads="1"/>
          </p:cNvSpPr>
          <p:nvPr/>
        </p:nvSpPr>
        <p:spPr bwMode="auto">
          <a:xfrm>
            <a:off x="762000" y="2743200"/>
            <a:ext cx="7772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Le moteur doit être manœuvré dans la marge de la température maximale admissible</a:t>
            </a:r>
          </a:p>
        </p:txBody>
      </p:sp>
      <p:sp>
        <p:nvSpPr>
          <p:cNvPr id="74761" name="Text Box 59"/>
          <p:cNvSpPr txBox="1">
            <a:spLocks noChangeArrowheads="1"/>
          </p:cNvSpPr>
          <p:nvPr/>
        </p:nvSpPr>
        <p:spPr bwMode="auto">
          <a:xfrm>
            <a:off x="762000" y="3733800"/>
            <a:ext cx="7772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Sources de pertes ( augmentation de la température):</a:t>
            </a:r>
          </a:p>
          <a:p>
            <a:pPr eaLnBrk="1" hangingPunct="1">
              <a:spcBef>
                <a:spcPct val="0"/>
              </a:spcBef>
              <a:buClrTx/>
              <a:buSzTx/>
              <a:buFontTx/>
              <a:buNone/>
            </a:pPr>
            <a:r>
              <a:rPr lang="fr-FR" altLang="fr-FR" sz="1800">
                <a:latin typeface="Arial" panose="020B0604020202020204" pitchFamily="34" charset="0"/>
              </a:rPr>
              <a:t> - Pertes Joule (i</a:t>
            </a:r>
            <a:r>
              <a:rPr lang="fr-FR" altLang="fr-FR" sz="1800" baseline="30000">
                <a:latin typeface="Arial" panose="020B0604020202020204" pitchFamily="34" charset="0"/>
              </a:rPr>
              <a:t>2</a:t>
            </a:r>
            <a:r>
              <a:rPr lang="fr-FR" altLang="fr-FR" sz="1800">
                <a:latin typeface="Arial" panose="020B0604020202020204" pitchFamily="34" charset="0"/>
              </a:rPr>
              <a:t>R)</a:t>
            </a:r>
          </a:p>
          <a:p>
            <a:pPr eaLnBrk="1" hangingPunct="1">
              <a:spcBef>
                <a:spcPct val="0"/>
              </a:spcBef>
              <a:buClrTx/>
              <a:buSzTx/>
              <a:buFontTx/>
              <a:buNone/>
            </a:pPr>
            <a:r>
              <a:rPr lang="fr-FR" altLang="fr-FR" sz="1800">
                <a:latin typeface="Arial" panose="020B0604020202020204" pitchFamily="34" charset="0"/>
              </a:rPr>
              <a:t> - Pertes fer : hystérésis et courant de Foucault</a:t>
            </a:r>
          </a:p>
          <a:p>
            <a:pPr eaLnBrk="1" hangingPunct="1">
              <a:spcBef>
                <a:spcPct val="0"/>
              </a:spcBef>
              <a:buClrTx/>
              <a:buSzTx/>
              <a:buFontTx/>
              <a:buNone/>
            </a:pPr>
            <a:r>
              <a:rPr lang="fr-FR" altLang="fr-FR" sz="1800">
                <a:latin typeface="Arial" panose="020B0604020202020204" pitchFamily="34" charset="0"/>
              </a:rPr>
              <a:t> - Pertes de frottement : roulements, balais</a:t>
            </a:r>
          </a:p>
        </p:txBody>
      </p:sp>
      <p:sp>
        <p:nvSpPr>
          <p:cNvPr id="11" name="Espace réservé du pied de page 10"/>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4758"/>
                                        </p:tgtEl>
                                        <p:attrNameLst>
                                          <p:attrName>style.visibility</p:attrName>
                                        </p:attrNameLst>
                                      </p:cBhvr>
                                      <p:to>
                                        <p:strVal val="visible"/>
                                      </p:to>
                                    </p:set>
                                    <p:animEffect transition="in" filter="checkerboard(across)">
                                      <p:cBhvr>
                                        <p:cTn id="7" dur="500"/>
                                        <p:tgtEl>
                                          <p:spTgt spid="747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4759"/>
                                        </p:tgtEl>
                                        <p:attrNameLst>
                                          <p:attrName>style.visibility</p:attrName>
                                        </p:attrNameLst>
                                      </p:cBhvr>
                                      <p:to>
                                        <p:strVal val="visible"/>
                                      </p:to>
                                    </p:set>
                                    <p:animEffect transition="in" filter="checkerboard(across)">
                                      <p:cBhvr>
                                        <p:cTn id="12" dur="500"/>
                                        <p:tgtEl>
                                          <p:spTgt spid="747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4760"/>
                                        </p:tgtEl>
                                        <p:attrNameLst>
                                          <p:attrName>style.visibility</p:attrName>
                                        </p:attrNameLst>
                                      </p:cBhvr>
                                      <p:to>
                                        <p:strVal val="visible"/>
                                      </p:to>
                                    </p:set>
                                    <p:animEffect transition="in" filter="checkerboard(across)">
                                      <p:cBhvr>
                                        <p:cTn id="17" dur="500"/>
                                        <p:tgtEl>
                                          <p:spTgt spid="747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74761">
                                            <p:txEl>
                                              <p:pRg st="0" end="0"/>
                                            </p:txEl>
                                          </p:spTgt>
                                        </p:tgtEl>
                                        <p:attrNameLst>
                                          <p:attrName>style.visibility</p:attrName>
                                        </p:attrNameLst>
                                      </p:cBhvr>
                                      <p:to>
                                        <p:strVal val="visible"/>
                                      </p:to>
                                    </p:set>
                                    <p:animEffect transition="in" filter="checkerboard(across)">
                                      <p:cBhvr>
                                        <p:cTn id="22" dur="500"/>
                                        <p:tgtEl>
                                          <p:spTgt spid="74761">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74761">
                                            <p:txEl>
                                              <p:pRg st="1" end="1"/>
                                            </p:txEl>
                                          </p:spTgt>
                                        </p:tgtEl>
                                        <p:attrNameLst>
                                          <p:attrName>style.visibility</p:attrName>
                                        </p:attrNameLst>
                                      </p:cBhvr>
                                      <p:to>
                                        <p:strVal val="visible"/>
                                      </p:to>
                                    </p:set>
                                    <p:animEffect transition="in" filter="checkerboard(across)">
                                      <p:cBhvr>
                                        <p:cTn id="27" dur="500"/>
                                        <p:tgtEl>
                                          <p:spTgt spid="74761">
                                            <p:txEl>
                                              <p:pRg st="1" end="1"/>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74761">
                                            <p:txEl>
                                              <p:pRg st="2" end="2"/>
                                            </p:txEl>
                                          </p:spTgt>
                                        </p:tgtEl>
                                        <p:attrNameLst>
                                          <p:attrName>style.visibility</p:attrName>
                                        </p:attrNameLst>
                                      </p:cBhvr>
                                      <p:to>
                                        <p:strVal val="visible"/>
                                      </p:to>
                                    </p:set>
                                    <p:animEffect transition="in" filter="checkerboard(across)">
                                      <p:cBhvr>
                                        <p:cTn id="30" dur="500"/>
                                        <p:tgtEl>
                                          <p:spTgt spid="74761">
                                            <p:txEl>
                                              <p:pRg st="2" end="2"/>
                                            </p:txEl>
                                          </p:spTgt>
                                        </p:tgtEl>
                                      </p:cBhvr>
                                    </p:animEffect>
                                  </p:childTnLst>
                                </p:cTn>
                              </p:par>
                              <p:par>
                                <p:cTn id="31" presetID="5" presetClass="entr" presetSubtype="10" fill="hold" nodeType="withEffect">
                                  <p:stCondLst>
                                    <p:cond delay="0"/>
                                  </p:stCondLst>
                                  <p:childTnLst>
                                    <p:set>
                                      <p:cBhvr>
                                        <p:cTn id="32" dur="1" fill="hold">
                                          <p:stCondLst>
                                            <p:cond delay="0"/>
                                          </p:stCondLst>
                                        </p:cTn>
                                        <p:tgtEl>
                                          <p:spTgt spid="74761">
                                            <p:txEl>
                                              <p:pRg st="3" end="3"/>
                                            </p:txEl>
                                          </p:spTgt>
                                        </p:tgtEl>
                                        <p:attrNameLst>
                                          <p:attrName>style.visibility</p:attrName>
                                        </p:attrNameLst>
                                      </p:cBhvr>
                                      <p:to>
                                        <p:strVal val="visible"/>
                                      </p:to>
                                    </p:set>
                                    <p:animEffect transition="in" filter="checkerboard(across)">
                                      <p:cBhvr>
                                        <p:cTn id="33" dur="500"/>
                                        <p:tgtEl>
                                          <p:spTgt spid="7476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8" grpId="0"/>
      <p:bldP spid="74759" grpId="0"/>
      <p:bldP spid="7476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13667" name="Espace réservé du numéro de diapositive 1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C7EC69A-F1A3-4C9F-AECD-73A22BE75E98}" type="slidenum">
              <a:rPr lang="en-US" altLang="fr-FR" sz="1000" smtClean="0">
                <a:solidFill>
                  <a:srgbClr val="292929"/>
                </a:solidFill>
                <a:latin typeface="Arial" panose="020B0604020202020204" pitchFamily="34" charset="0"/>
              </a:rPr>
              <a:pPr>
                <a:spcBef>
                  <a:spcPct val="0"/>
                </a:spcBef>
                <a:buClrTx/>
                <a:buSzTx/>
                <a:buFontTx/>
                <a:buNone/>
              </a:pPr>
              <a:t>55</a:t>
            </a:fld>
            <a:endParaRPr lang="en-US" altLang="fr-FR" sz="1000" smtClean="0">
              <a:solidFill>
                <a:srgbClr val="292929"/>
              </a:solidFill>
              <a:latin typeface="Arial" panose="020B0604020202020204" pitchFamily="34" charset="0"/>
            </a:endParaRPr>
          </a:p>
        </p:txBody>
      </p:sp>
      <p:sp>
        <p:nvSpPr>
          <p:cNvPr id="113668"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13669" name="Text Box 4"/>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
        <p:nvSpPr>
          <p:cNvPr id="75782" name="Text Box 9"/>
          <p:cNvSpPr txBox="1">
            <a:spLocks noChangeArrowheads="1"/>
          </p:cNvSpPr>
          <p:nvPr/>
        </p:nvSpPr>
        <p:spPr bwMode="auto">
          <a:xfrm>
            <a:off x="762000" y="1492250"/>
            <a:ext cx="7848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Arial" panose="020B0604020202020204" pitchFamily="34" charset="0"/>
              <a:buChar char="•"/>
            </a:pPr>
            <a:r>
              <a:rPr lang="fr-FR" altLang="fr-FR" sz="1800">
                <a:latin typeface="Arial" panose="020B0604020202020204" pitchFamily="34" charset="0"/>
              </a:rPr>
              <a:t>  Les machines électriques peuvent être surchargés aussi longtemps que leur température ne dépasse pas la limite de température.</a:t>
            </a:r>
            <a:endParaRPr lang="en-US" altLang="fr-FR" sz="1800">
              <a:latin typeface="Arial" panose="020B0604020202020204" pitchFamily="34" charset="0"/>
            </a:endParaRPr>
          </a:p>
        </p:txBody>
      </p:sp>
      <p:sp>
        <p:nvSpPr>
          <p:cNvPr id="75783" name="Text Box 15"/>
          <p:cNvSpPr txBox="1">
            <a:spLocks noChangeArrowheads="1"/>
          </p:cNvSpPr>
          <p:nvPr/>
        </p:nvSpPr>
        <p:spPr bwMode="auto">
          <a:xfrm>
            <a:off x="762000" y="2782888"/>
            <a:ext cx="7848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Arial" panose="020B0604020202020204" pitchFamily="34" charset="0"/>
              <a:buChar char="•"/>
            </a:pPr>
            <a:r>
              <a:rPr lang="fr-FR" altLang="fr-FR" sz="1800">
                <a:latin typeface="Arial" panose="020B0604020202020204" pitchFamily="34" charset="0"/>
              </a:rPr>
              <a:t>  Prévision exacte de la distribution de température dans les machines est complexe : matériaux hétérogène, des formes géométriques complexes.</a:t>
            </a:r>
            <a:endParaRPr lang="en-US" altLang="fr-FR" sz="1800">
              <a:latin typeface="Arial" panose="020B0604020202020204" pitchFamily="34" charset="0"/>
            </a:endParaRPr>
          </a:p>
        </p:txBody>
      </p:sp>
      <p:sp>
        <p:nvSpPr>
          <p:cNvPr id="75784" name="Text Box 16"/>
          <p:cNvSpPr txBox="1">
            <a:spLocks noChangeArrowheads="1"/>
          </p:cNvSpPr>
          <p:nvPr/>
        </p:nvSpPr>
        <p:spPr bwMode="auto">
          <a:xfrm>
            <a:off x="762000" y="4057650"/>
            <a:ext cx="7924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Arial" panose="020B0604020202020204" pitchFamily="34" charset="0"/>
              <a:buChar char="•"/>
            </a:pPr>
            <a:r>
              <a:rPr lang="fr-FR" altLang="fr-FR" sz="1800">
                <a:latin typeface="Arial" panose="020B0604020202020204" pitchFamily="34" charset="0"/>
              </a:rPr>
              <a:t>  Selon l’hypothèse que les limites de température de toutes les parties ne dépasse pas les limites de température sous certaines conditions d'exploitation, le moteur peut donc adéquatement être modélisée en tant que corps homogènes.</a:t>
            </a:r>
            <a:endParaRPr lang="en-US" altLang="fr-FR" sz="1800">
              <a:latin typeface="Arial" panose="020B0604020202020204" pitchFamily="34" charset="0"/>
            </a:endParaRPr>
          </a:p>
        </p:txBody>
      </p:sp>
      <p:sp>
        <p:nvSpPr>
          <p:cNvPr id="19" name="Espace réservé du pied de page 18"/>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5782"/>
                                        </p:tgtEl>
                                        <p:attrNameLst>
                                          <p:attrName>style.visibility</p:attrName>
                                        </p:attrNameLst>
                                      </p:cBhvr>
                                      <p:to>
                                        <p:strVal val="visible"/>
                                      </p:to>
                                    </p:set>
                                    <p:animEffect transition="in" filter="checkerboard(across)">
                                      <p:cBhvr>
                                        <p:cTn id="7" dur="500"/>
                                        <p:tgtEl>
                                          <p:spTgt spid="757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5783"/>
                                        </p:tgtEl>
                                        <p:attrNameLst>
                                          <p:attrName>style.visibility</p:attrName>
                                        </p:attrNameLst>
                                      </p:cBhvr>
                                      <p:to>
                                        <p:strVal val="visible"/>
                                      </p:to>
                                    </p:set>
                                    <p:animEffect transition="in" filter="checkerboard(across)">
                                      <p:cBhvr>
                                        <p:cTn id="12" dur="500"/>
                                        <p:tgtEl>
                                          <p:spTgt spid="757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5784"/>
                                        </p:tgtEl>
                                        <p:attrNameLst>
                                          <p:attrName>style.visibility</p:attrName>
                                        </p:attrNameLst>
                                      </p:cBhvr>
                                      <p:to>
                                        <p:strVal val="visible"/>
                                      </p:to>
                                    </p:set>
                                    <p:animEffect transition="in" filter="checkerboard(across)">
                                      <p:cBhvr>
                                        <p:cTn id="17" dur="500"/>
                                        <p:tgtEl>
                                          <p:spTgt spid="757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2" grpId="0"/>
      <p:bldP spid="75783" grpId="0"/>
      <p:bldP spid="7578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1571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2492A66-F99D-4891-B4DA-D4407FAC0867}" type="slidenum">
              <a:rPr lang="en-US" altLang="fr-FR" sz="1000" smtClean="0">
                <a:solidFill>
                  <a:srgbClr val="292929"/>
                </a:solidFill>
                <a:latin typeface="Arial" panose="020B0604020202020204" pitchFamily="34" charset="0"/>
              </a:rPr>
              <a:pPr>
                <a:spcBef>
                  <a:spcPct val="0"/>
                </a:spcBef>
                <a:buClrTx/>
                <a:buSzTx/>
                <a:buFontTx/>
                <a:buNone/>
              </a:pPr>
              <a:t>56</a:t>
            </a:fld>
            <a:endParaRPr lang="en-US" altLang="fr-FR" sz="1000" smtClean="0">
              <a:solidFill>
                <a:srgbClr val="292929"/>
              </a:solidFill>
              <a:latin typeface="Arial" panose="020B0604020202020204" pitchFamily="34" charset="0"/>
            </a:endParaRPr>
          </a:p>
        </p:txBody>
      </p:sp>
      <p:sp>
        <p:nvSpPr>
          <p:cNvPr id="76804" name="Rectangle 19"/>
          <p:cNvSpPr>
            <a:spLocks noChangeArrowheads="1"/>
          </p:cNvSpPr>
          <p:nvPr/>
        </p:nvSpPr>
        <p:spPr bwMode="auto">
          <a:xfrm>
            <a:off x="2913063" y="4471988"/>
            <a:ext cx="1905000" cy="1371600"/>
          </a:xfrm>
          <a:prstGeom prst="rect">
            <a:avLst/>
          </a:prstGeom>
          <a:solidFill>
            <a:srgbClr val="FC4A4A"/>
          </a:solidFill>
          <a:ln w="9525">
            <a:miter lim="800000"/>
            <a:headEnd/>
            <a:tailEnd/>
          </a:ln>
          <a:scene3d>
            <a:camera prst="legacyObliqueTopRight"/>
            <a:lightRig rig="legacyFlat3" dir="b"/>
          </a:scene3d>
          <a:sp3d extrusionH="1801800" prstMaterial="legacyMatte">
            <a:bevelT w="13500" h="13500" prst="angle"/>
            <a:bevelB w="13500" h="13500" prst="angle"/>
            <a:extrusionClr>
              <a:srgbClr val="FEB4B4"/>
            </a:extrusionClr>
            <a:contourClr>
              <a:srgbClr val="FC4A4A"/>
            </a:contourClr>
          </a:sp3d>
        </p:spPr>
        <p:txBody>
          <a:bodyPr wrap="none" anchor="ctr">
            <a:flatTx/>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endParaRPr lang="fr-FR" altLang="fr-FR" sz="1400">
              <a:latin typeface="Arial" panose="020B0604020202020204" pitchFamily="34" charset="0"/>
            </a:endParaRPr>
          </a:p>
        </p:txBody>
      </p:sp>
      <p:sp>
        <p:nvSpPr>
          <p:cNvPr id="76805" name="AutoShape 20"/>
          <p:cNvSpPr>
            <a:spLocks noChangeArrowheads="1"/>
          </p:cNvSpPr>
          <p:nvPr/>
        </p:nvSpPr>
        <p:spPr bwMode="auto">
          <a:xfrm>
            <a:off x="1998663" y="4548188"/>
            <a:ext cx="914400" cy="533400"/>
          </a:xfrm>
          <a:prstGeom prst="rightArrow">
            <a:avLst>
              <a:gd name="adj1" fmla="val 50000"/>
              <a:gd name="adj2" fmla="val 42857"/>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76806" name="AutoShape 21"/>
          <p:cNvSpPr>
            <a:spLocks noChangeArrowheads="1"/>
          </p:cNvSpPr>
          <p:nvPr/>
        </p:nvSpPr>
        <p:spPr bwMode="auto">
          <a:xfrm>
            <a:off x="5046663" y="4548188"/>
            <a:ext cx="914400" cy="533400"/>
          </a:xfrm>
          <a:prstGeom prst="rightArrow">
            <a:avLst>
              <a:gd name="adj1" fmla="val 50000"/>
              <a:gd name="adj2" fmla="val 42857"/>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76807" name="Text Box 23"/>
          <p:cNvSpPr txBox="1">
            <a:spLocks noChangeArrowheads="1"/>
          </p:cNvSpPr>
          <p:nvPr/>
        </p:nvSpPr>
        <p:spPr bwMode="auto">
          <a:xfrm>
            <a:off x="6037263" y="4660900"/>
            <a:ext cx="395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p</a:t>
            </a:r>
            <a:r>
              <a:rPr lang="en-US" altLang="fr-FR" sz="1800" baseline="-25000">
                <a:latin typeface="Arial" panose="020B0604020202020204" pitchFamily="34" charset="0"/>
              </a:rPr>
              <a:t>2</a:t>
            </a:r>
            <a:endParaRPr lang="en-US" altLang="fr-FR" sz="1800">
              <a:latin typeface="Arial" panose="020B0604020202020204" pitchFamily="34" charset="0"/>
            </a:endParaRPr>
          </a:p>
        </p:txBody>
      </p:sp>
      <p:sp>
        <p:nvSpPr>
          <p:cNvPr id="76808" name="Text Box 24"/>
          <p:cNvSpPr txBox="1">
            <a:spLocks noChangeArrowheads="1"/>
          </p:cNvSpPr>
          <p:nvPr/>
        </p:nvSpPr>
        <p:spPr bwMode="auto">
          <a:xfrm>
            <a:off x="1541463" y="4624388"/>
            <a:ext cx="3952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p</a:t>
            </a:r>
            <a:r>
              <a:rPr lang="en-US" altLang="fr-FR" sz="1800" baseline="-25000">
                <a:latin typeface="Arial" panose="020B0604020202020204" pitchFamily="34" charset="0"/>
              </a:rPr>
              <a:t>1</a:t>
            </a:r>
            <a:endParaRPr lang="en-US" altLang="fr-FR" sz="1800">
              <a:latin typeface="Arial" panose="020B0604020202020204" pitchFamily="34" charset="0"/>
            </a:endParaRPr>
          </a:p>
        </p:txBody>
      </p:sp>
      <p:sp>
        <p:nvSpPr>
          <p:cNvPr id="76809" name="Rectangle 25"/>
          <p:cNvSpPr>
            <a:spLocks noChangeArrowheads="1"/>
          </p:cNvSpPr>
          <p:nvPr/>
        </p:nvSpPr>
        <p:spPr bwMode="auto">
          <a:xfrm>
            <a:off x="2895600" y="4548188"/>
            <a:ext cx="2209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b="1">
                <a:solidFill>
                  <a:schemeClr val="bg1"/>
                </a:solidFill>
                <a:latin typeface="Arial" panose="020B0604020202020204" pitchFamily="34" charset="0"/>
              </a:rPr>
              <a:t>Capacité thermique, C (Ws/</a:t>
            </a:r>
            <a:r>
              <a:rPr lang="en-US" altLang="fr-FR" sz="1200" b="1" baseline="30000">
                <a:solidFill>
                  <a:schemeClr val="bg1"/>
                </a:solidFill>
                <a:latin typeface="Arial" panose="020B0604020202020204" pitchFamily="34" charset="0"/>
              </a:rPr>
              <a:t>o</a:t>
            </a:r>
            <a:r>
              <a:rPr lang="en-US" altLang="fr-FR" sz="1200" b="1">
                <a:solidFill>
                  <a:schemeClr val="bg1"/>
                </a:solidFill>
                <a:latin typeface="Arial" panose="020B0604020202020204" pitchFamily="34" charset="0"/>
              </a:rPr>
              <a:t>C)</a:t>
            </a:r>
          </a:p>
          <a:p>
            <a:pPr eaLnBrk="1" hangingPunct="1">
              <a:spcBef>
                <a:spcPct val="0"/>
              </a:spcBef>
              <a:buClrTx/>
              <a:buSzTx/>
              <a:buFontTx/>
              <a:buNone/>
            </a:pPr>
            <a:r>
              <a:rPr lang="en-US" altLang="fr-FR" sz="1200" b="1">
                <a:solidFill>
                  <a:schemeClr val="bg1"/>
                </a:solidFill>
                <a:latin typeface="Arial" panose="020B0604020202020204" pitchFamily="34" charset="0"/>
              </a:rPr>
              <a:t>Surface A, (m</a:t>
            </a:r>
            <a:r>
              <a:rPr lang="en-US" altLang="fr-FR" sz="1200" b="1" baseline="30000">
                <a:solidFill>
                  <a:schemeClr val="bg1"/>
                </a:solidFill>
                <a:latin typeface="Arial" panose="020B0604020202020204" pitchFamily="34" charset="0"/>
              </a:rPr>
              <a:t>2</a:t>
            </a:r>
            <a:r>
              <a:rPr lang="en-US" altLang="fr-FR" sz="1200" b="1">
                <a:solidFill>
                  <a:schemeClr val="bg1"/>
                </a:solidFill>
                <a:latin typeface="Arial" panose="020B0604020202020204" pitchFamily="34" charset="0"/>
              </a:rPr>
              <a:t>)</a:t>
            </a:r>
          </a:p>
          <a:p>
            <a:pPr eaLnBrk="1" hangingPunct="1">
              <a:spcBef>
                <a:spcPct val="0"/>
              </a:spcBef>
              <a:buClrTx/>
              <a:buSzTx/>
              <a:buFontTx/>
              <a:buNone/>
            </a:pPr>
            <a:r>
              <a:rPr lang="en-US" altLang="fr-FR" sz="1200" b="1">
                <a:solidFill>
                  <a:schemeClr val="bg1"/>
                </a:solidFill>
                <a:latin typeface="Arial" panose="020B0604020202020204" pitchFamily="34" charset="0"/>
              </a:rPr>
              <a:t>Température de surface, T (</a:t>
            </a:r>
            <a:r>
              <a:rPr lang="en-US" altLang="fr-FR" sz="1200" b="1" baseline="30000">
                <a:solidFill>
                  <a:schemeClr val="bg1"/>
                </a:solidFill>
                <a:latin typeface="Arial" panose="020B0604020202020204" pitchFamily="34" charset="0"/>
              </a:rPr>
              <a:t>o</a:t>
            </a:r>
            <a:r>
              <a:rPr lang="en-US" altLang="fr-FR" sz="1200" b="1">
                <a:solidFill>
                  <a:schemeClr val="bg1"/>
                </a:solidFill>
                <a:latin typeface="Arial" panose="020B0604020202020204" pitchFamily="34" charset="0"/>
              </a:rPr>
              <a:t>C)</a:t>
            </a:r>
          </a:p>
        </p:txBody>
      </p:sp>
      <p:sp>
        <p:nvSpPr>
          <p:cNvPr id="76810" name="Text Box 26"/>
          <p:cNvSpPr txBox="1">
            <a:spLocks noChangeArrowheads="1"/>
          </p:cNvSpPr>
          <p:nvPr/>
        </p:nvSpPr>
        <p:spPr bwMode="auto">
          <a:xfrm>
            <a:off x="660400" y="5081588"/>
            <a:ext cx="24288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FR" altLang="fr-FR" sz="1800">
                <a:latin typeface="Arial" panose="020B0604020202020204" pitchFamily="34" charset="0"/>
              </a:rPr>
              <a:t>Puissance calorifique </a:t>
            </a:r>
          </a:p>
          <a:p>
            <a:pPr algn="ctr" eaLnBrk="1" hangingPunct="1">
              <a:spcBef>
                <a:spcPct val="0"/>
              </a:spcBef>
              <a:buClrTx/>
              <a:buSzTx/>
              <a:buFontTx/>
              <a:buNone/>
            </a:pPr>
            <a:r>
              <a:rPr lang="fr-FR" altLang="fr-FR" sz="1800">
                <a:latin typeface="Arial" panose="020B0604020202020204" pitchFamily="34" charset="0"/>
              </a:rPr>
              <a:t>d'entrée (pertes)</a:t>
            </a:r>
            <a:endParaRPr lang="en-US" altLang="fr-FR" sz="1800">
              <a:latin typeface="Arial" panose="020B0604020202020204" pitchFamily="34" charset="0"/>
            </a:endParaRPr>
          </a:p>
        </p:txBody>
      </p:sp>
      <p:sp>
        <p:nvSpPr>
          <p:cNvPr id="76811" name="Text Box 27"/>
          <p:cNvSpPr txBox="1">
            <a:spLocks noChangeArrowheads="1"/>
          </p:cNvSpPr>
          <p:nvPr/>
        </p:nvSpPr>
        <p:spPr bwMode="auto">
          <a:xfrm>
            <a:off x="5638800" y="5081588"/>
            <a:ext cx="30448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FR" altLang="fr-FR" sz="1800">
                <a:latin typeface="Arial" panose="020B0604020202020204" pitchFamily="34" charset="0"/>
              </a:rPr>
              <a:t>Puissance calorifique émise</a:t>
            </a:r>
          </a:p>
          <a:p>
            <a:pPr algn="ctr" eaLnBrk="1" hangingPunct="1">
              <a:spcBef>
                <a:spcPct val="0"/>
              </a:spcBef>
              <a:buClrTx/>
              <a:buSzTx/>
              <a:buFontTx/>
              <a:buNone/>
            </a:pPr>
            <a:r>
              <a:rPr lang="fr-FR" altLang="fr-FR" sz="1800">
                <a:latin typeface="Arial" panose="020B0604020202020204" pitchFamily="34" charset="0"/>
              </a:rPr>
              <a:t> (convection)</a:t>
            </a:r>
            <a:endParaRPr lang="en-US" altLang="fr-FR" sz="1800">
              <a:latin typeface="Arial" panose="020B0604020202020204" pitchFamily="34" charset="0"/>
            </a:endParaRPr>
          </a:p>
        </p:txBody>
      </p:sp>
      <p:sp>
        <p:nvSpPr>
          <p:cNvPr id="76812" name="Text Box 28"/>
          <p:cNvSpPr txBox="1">
            <a:spLocks noChangeArrowheads="1"/>
          </p:cNvSpPr>
          <p:nvPr/>
        </p:nvSpPr>
        <p:spPr bwMode="auto">
          <a:xfrm>
            <a:off x="5808663" y="3810000"/>
            <a:ext cx="26781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panose="020B0604020202020204" pitchFamily="34" charset="0"/>
              </a:rPr>
              <a:t>Température ambiante, T</a:t>
            </a:r>
            <a:r>
              <a:rPr lang="en-US" altLang="fr-FR" sz="1600" b="1" baseline="-25000">
                <a:latin typeface="Arial" panose="020B0604020202020204" pitchFamily="34" charset="0"/>
              </a:rPr>
              <a:t>o</a:t>
            </a:r>
            <a:endParaRPr lang="en-US" altLang="fr-FR" sz="1600" b="1">
              <a:latin typeface="Arial" panose="020B0604020202020204" pitchFamily="34" charset="0"/>
            </a:endParaRPr>
          </a:p>
        </p:txBody>
      </p:sp>
      <p:sp>
        <p:nvSpPr>
          <p:cNvPr id="13"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p>
        </p:txBody>
      </p:sp>
      <p:sp>
        <p:nvSpPr>
          <p:cNvPr id="115726"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15727" name="Text Box 4"/>
          <p:cNvSpPr txBox="1">
            <a:spLocks noChangeArrowheads="1"/>
          </p:cNvSpPr>
          <p:nvPr/>
        </p:nvSpPr>
        <p:spPr bwMode="auto">
          <a:xfrm>
            <a:off x="685800" y="762000"/>
            <a:ext cx="320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
        <p:nvSpPr>
          <p:cNvPr id="76816" name="Rectangle 15"/>
          <p:cNvSpPr>
            <a:spLocks noChangeArrowheads="1"/>
          </p:cNvSpPr>
          <p:nvPr/>
        </p:nvSpPr>
        <p:spPr bwMode="auto">
          <a:xfrm>
            <a:off x="609600" y="1219200"/>
            <a:ext cx="8001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Supposons un corps homogène (représentant le moteur) qui a une capacité thermique C. La puissance d'entrée (pertes dans le moteur), est représentée par p</a:t>
            </a:r>
            <a:r>
              <a:rPr lang="fr-FR" altLang="fr-FR" sz="1800" baseline="-25000">
                <a:latin typeface="Arial" panose="020B0604020202020204" pitchFamily="34" charset="0"/>
              </a:rPr>
              <a:t>1</a:t>
            </a:r>
            <a:r>
              <a:rPr lang="fr-FR" altLang="fr-FR" sz="1800">
                <a:latin typeface="Arial" panose="020B0604020202020204" pitchFamily="34" charset="0"/>
              </a:rPr>
              <a:t>, la puissance de sortie (la puissance émise sous forme de chaleur par convection), est représentée par p</a:t>
            </a:r>
            <a:r>
              <a:rPr lang="fr-FR" altLang="fr-FR" sz="1800" baseline="-25000">
                <a:latin typeface="Arial" panose="020B0604020202020204" pitchFamily="34" charset="0"/>
              </a:rPr>
              <a:t>2</a:t>
            </a:r>
            <a:r>
              <a:rPr lang="fr-FR" altLang="fr-FR" sz="1800">
                <a:latin typeface="Arial" panose="020B0604020202020204" pitchFamily="34" charset="0"/>
              </a:rPr>
              <a:t>.</a:t>
            </a:r>
          </a:p>
          <a:p>
            <a:pPr algn="just" eaLnBrk="1" hangingPunct="1">
              <a:spcBef>
                <a:spcPct val="0"/>
              </a:spcBef>
              <a:buClrTx/>
              <a:buSzTx/>
              <a:buFontTx/>
              <a:buNone/>
            </a:pPr>
            <a:r>
              <a:rPr lang="fr-FR" altLang="fr-FR" sz="1800">
                <a:latin typeface="Arial" panose="020B0604020202020204" pitchFamily="34" charset="0"/>
              </a:rPr>
              <a:t>A l'état stable (température du régime atteinte), la puissance d'entrée est égale à la puissance de sortie.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6816"/>
                                        </p:tgtEl>
                                        <p:attrNameLst>
                                          <p:attrName>style.visibility</p:attrName>
                                        </p:attrNameLst>
                                      </p:cBhvr>
                                      <p:to>
                                        <p:strVal val="visible"/>
                                      </p:to>
                                    </p:set>
                                    <p:animEffect transition="in" filter="checkerboard(across)">
                                      <p:cBhvr>
                                        <p:cTn id="7" dur="500"/>
                                        <p:tgtEl>
                                          <p:spTgt spid="768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6804"/>
                                        </p:tgtEl>
                                        <p:attrNameLst>
                                          <p:attrName>style.visibility</p:attrName>
                                        </p:attrNameLst>
                                      </p:cBhvr>
                                      <p:to>
                                        <p:strVal val="visible"/>
                                      </p:to>
                                    </p:set>
                                    <p:animEffect transition="in" filter="checkerboard(across)">
                                      <p:cBhvr>
                                        <p:cTn id="12" dur="500"/>
                                        <p:tgtEl>
                                          <p:spTgt spid="76804"/>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76805"/>
                                        </p:tgtEl>
                                        <p:attrNameLst>
                                          <p:attrName>style.visibility</p:attrName>
                                        </p:attrNameLst>
                                      </p:cBhvr>
                                      <p:to>
                                        <p:strVal val="visible"/>
                                      </p:to>
                                    </p:set>
                                    <p:animEffect transition="in" filter="checkerboard(across)">
                                      <p:cBhvr>
                                        <p:cTn id="15" dur="500"/>
                                        <p:tgtEl>
                                          <p:spTgt spid="76805"/>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76806"/>
                                        </p:tgtEl>
                                        <p:attrNameLst>
                                          <p:attrName>style.visibility</p:attrName>
                                        </p:attrNameLst>
                                      </p:cBhvr>
                                      <p:to>
                                        <p:strVal val="visible"/>
                                      </p:to>
                                    </p:set>
                                    <p:animEffect transition="in" filter="checkerboard(across)">
                                      <p:cBhvr>
                                        <p:cTn id="18" dur="500"/>
                                        <p:tgtEl>
                                          <p:spTgt spid="76806"/>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76807"/>
                                        </p:tgtEl>
                                        <p:attrNameLst>
                                          <p:attrName>style.visibility</p:attrName>
                                        </p:attrNameLst>
                                      </p:cBhvr>
                                      <p:to>
                                        <p:strVal val="visible"/>
                                      </p:to>
                                    </p:set>
                                    <p:animEffect transition="in" filter="checkerboard(across)">
                                      <p:cBhvr>
                                        <p:cTn id="21" dur="500"/>
                                        <p:tgtEl>
                                          <p:spTgt spid="76807"/>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76808"/>
                                        </p:tgtEl>
                                        <p:attrNameLst>
                                          <p:attrName>style.visibility</p:attrName>
                                        </p:attrNameLst>
                                      </p:cBhvr>
                                      <p:to>
                                        <p:strVal val="visible"/>
                                      </p:to>
                                    </p:set>
                                    <p:animEffect transition="in" filter="checkerboard(across)">
                                      <p:cBhvr>
                                        <p:cTn id="24" dur="500"/>
                                        <p:tgtEl>
                                          <p:spTgt spid="76808"/>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76809"/>
                                        </p:tgtEl>
                                        <p:attrNameLst>
                                          <p:attrName>style.visibility</p:attrName>
                                        </p:attrNameLst>
                                      </p:cBhvr>
                                      <p:to>
                                        <p:strVal val="visible"/>
                                      </p:to>
                                    </p:set>
                                    <p:animEffect transition="in" filter="checkerboard(across)">
                                      <p:cBhvr>
                                        <p:cTn id="27" dur="500"/>
                                        <p:tgtEl>
                                          <p:spTgt spid="76809"/>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76810"/>
                                        </p:tgtEl>
                                        <p:attrNameLst>
                                          <p:attrName>style.visibility</p:attrName>
                                        </p:attrNameLst>
                                      </p:cBhvr>
                                      <p:to>
                                        <p:strVal val="visible"/>
                                      </p:to>
                                    </p:set>
                                    <p:animEffect transition="in" filter="checkerboard(across)">
                                      <p:cBhvr>
                                        <p:cTn id="30" dur="500"/>
                                        <p:tgtEl>
                                          <p:spTgt spid="76810"/>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76811"/>
                                        </p:tgtEl>
                                        <p:attrNameLst>
                                          <p:attrName>style.visibility</p:attrName>
                                        </p:attrNameLst>
                                      </p:cBhvr>
                                      <p:to>
                                        <p:strVal val="visible"/>
                                      </p:to>
                                    </p:set>
                                    <p:animEffect transition="in" filter="checkerboard(across)">
                                      <p:cBhvr>
                                        <p:cTn id="33" dur="500"/>
                                        <p:tgtEl>
                                          <p:spTgt spid="76811"/>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76812"/>
                                        </p:tgtEl>
                                        <p:attrNameLst>
                                          <p:attrName>style.visibility</p:attrName>
                                        </p:attrNameLst>
                                      </p:cBhvr>
                                      <p:to>
                                        <p:strVal val="visible"/>
                                      </p:to>
                                    </p:set>
                                    <p:animEffect transition="in" filter="checkerboard(across)">
                                      <p:cBhvr>
                                        <p:cTn id="36" dur="500"/>
                                        <p:tgtEl>
                                          <p:spTgt spid="76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animBg="1"/>
      <p:bldP spid="76805" grpId="0" animBg="1"/>
      <p:bldP spid="76806" grpId="0" animBg="1"/>
      <p:bldP spid="76807" grpId="0"/>
      <p:bldP spid="76808" grpId="0"/>
      <p:bldP spid="76809" grpId="0"/>
      <p:bldP spid="76810" grpId="0"/>
      <p:bldP spid="76811" grpId="0"/>
      <p:bldP spid="76812" grpId="0"/>
      <p:bldP spid="7681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17763" name="Espace réservé du numéro de diapositive 1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8491C85-BAD8-46A7-95E1-DD8820FFCC86}" type="slidenum">
              <a:rPr lang="en-US" altLang="fr-FR" sz="1000" smtClean="0">
                <a:solidFill>
                  <a:srgbClr val="292929"/>
                </a:solidFill>
                <a:latin typeface="Arial" panose="020B0604020202020204" pitchFamily="34" charset="0"/>
              </a:rPr>
              <a:pPr>
                <a:spcBef>
                  <a:spcPct val="0"/>
                </a:spcBef>
                <a:buClrTx/>
                <a:buSzTx/>
                <a:buFontTx/>
                <a:buNone/>
              </a:pPr>
              <a:t>57</a:t>
            </a:fld>
            <a:endParaRPr lang="en-US" altLang="fr-FR" sz="1000" smtClean="0">
              <a:solidFill>
                <a:srgbClr val="292929"/>
              </a:solidFill>
              <a:latin typeface="Arial" panose="020B0604020202020204" pitchFamily="34" charset="0"/>
            </a:endParaRPr>
          </a:p>
        </p:txBody>
      </p:sp>
      <p:sp>
        <p:nvSpPr>
          <p:cNvPr id="117764" name="Rectangle 3"/>
          <p:cNvSpPr>
            <a:spLocks noChangeArrowheads="1"/>
          </p:cNvSpPr>
          <p:nvPr/>
        </p:nvSpPr>
        <p:spPr bwMode="auto">
          <a:xfrm>
            <a:off x="3048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17765" name="Text Box 4"/>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
        <p:nvSpPr>
          <p:cNvPr id="10249" name="Text Box 11"/>
          <p:cNvSpPr txBox="1">
            <a:spLocks noChangeArrowheads="1"/>
          </p:cNvSpPr>
          <p:nvPr/>
        </p:nvSpPr>
        <p:spPr bwMode="auto">
          <a:xfrm>
            <a:off x="838200" y="1179513"/>
            <a:ext cx="49942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L’équation décrivant l’équilibre des puissances:</a:t>
            </a:r>
          </a:p>
        </p:txBody>
      </p:sp>
      <p:sp>
        <p:nvSpPr>
          <p:cNvPr id="117767" name="Text Box 12"/>
          <p:cNvSpPr txBox="1">
            <a:spLocks noChangeArrowheads="1"/>
          </p:cNvSpPr>
          <p:nvPr/>
        </p:nvSpPr>
        <p:spPr bwMode="auto">
          <a:xfrm>
            <a:off x="3108325" y="17129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aphicFrame>
        <p:nvGraphicFramePr>
          <p:cNvPr id="10242" name="Object 2"/>
          <p:cNvGraphicFramePr>
            <a:graphicFrameLocks noChangeAspect="1"/>
          </p:cNvGraphicFramePr>
          <p:nvPr/>
        </p:nvGraphicFramePr>
        <p:xfrm>
          <a:off x="3008313" y="1679575"/>
          <a:ext cx="2020887" cy="804863"/>
        </p:xfrm>
        <a:graphic>
          <a:graphicData uri="http://schemas.openxmlformats.org/presentationml/2006/ole">
            <mc:AlternateContent xmlns:mc="http://schemas.openxmlformats.org/markup-compatibility/2006">
              <mc:Choice xmlns:v="urn:schemas-microsoft-com:vml" Requires="v">
                <p:oleObj spid="_x0000_s117823" name="Équation" r:id="rId4" imgW="1117115" imgH="444307" progId="Equation.3">
                  <p:embed/>
                </p:oleObj>
              </mc:Choice>
              <mc:Fallback>
                <p:oleObj name="Équation" r:id="rId4" imgW="1117115" imgH="44430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8313" y="1679575"/>
                        <a:ext cx="2020887" cy="8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1" name="Text Box 14"/>
          <p:cNvSpPr txBox="1">
            <a:spLocks noChangeArrowheads="1"/>
          </p:cNvSpPr>
          <p:nvPr/>
        </p:nvSpPr>
        <p:spPr bwMode="auto">
          <a:xfrm>
            <a:off x="914400" y="2578100"/>
            <a:ext cx="6950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Transfert de chaleur par convection :</a:t>
            </a:r>
            <a:endParaRPr lang="en-US" altLang="fr-FR" sz="1800">
              <a:latin typeface="Arial" panose="020B0604020202020204" pitchFamily="34" charset="0"/>
            </a:endParaRPr>
          </a:p>
        </p:txBody>
      </p:sp>
      <p:graphicFrame>
        <p:nvGraphicFramePr>
          <p:cNvPr id="10243" name="Object 3"/>
          <p:cNvGraphicFramePr>
            <a:graphicFrameLocks noChangeAspect="1"/>
          </p:cNvGraphicFramePr>
          <p:nvPr/>
        </p:nvGraphicFramePr>
        <p:xfrm>
          <a:off x="2944813" y="3036888"/>
          <a:ext cx="2312987" cy="468312"/>
        </p:xfrm>
        <a:graphic>
          <a:graphicData uri="http://schemas.openxmlformats.org/presentationml/2006/ole">
            <mc:AlternateContent xmlns:mc="http://schemas.openxmlformats.org/markup-compatibility/2006">
              <mc:Choice xmlns:v="urn:schemas-microsoft-com:vml" Requires="v">
                <p:oleObj spid="_x0000_s117824" name="Équation" r:id="rId6" imgW="1193800" imgH="241300" progId="Equation.3">
                  <p:embed/>
                </p:oleObj>
              </mc:Choice>
              <mc:Fallback>
                <p:oleObj name="Équation" r:id="rId6" imgW="1193800" imgH="2413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4813" y="3036888"/>
                        <a:ext cx="2312987"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 name="Object 4"/>
          <p:cNvGraphicFramePr>
            <a:graphicFrameLocks noChangeAspect="1"/>
          </p:cNvGraphicFramePr>
          <p:nvPr/>
        </p:nvGraphicFramePr>
        <p:xfrm>
          <a:off x="2971800" y="4875213"/>
          <a:ext cx="2320925" cy="687387"/>
        </p:xfrm>
        <a:graphic>
          <a:graphicData uri="http://schemas.openxmlformats.org/presentationml/2006/ole">
            <mc:AlternateContent xmlns:mc="http://schemas.openxmlformats.org/markup-compatibility/2006">
              <mc:Choice xmlns:v="urn:schemas-microsoft-com:vml" Requires="v">
                <p:oleObj spid="_x0000_s117825" name="Équation" r:id="rId8" imgW="1497950" imgH="444307" progId="Equation.3">
                  <p:embed/>
                </p:oleObj>
              </mc:Choice>
              <mc:Fallback>
                <p:oleObj name="Équation" r:id="rId8" imgW="1497950" imgH="444307"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1800" y="4875213"/>
                        <a:ext cx="2320925" cy="68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2" name="Text Box 17"/>
          <p:cNvSpPr txBox="1">
            <a:spLocks noChangeArrowheads="1"/>
          </p:cNvSpPr>
          <p:nvPr/>
        </p:nvSpPr>
        <p:spPr bwMode="auto">
          <a:xfrm>
            <a:off x="930275" y="4227513"/>
            <a:ext cx="4784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Ce qui donne en posant  </a:t>
            </a:r>
            <a:r>
              <a:rPr lang="el-GR" altLang="fr-FR" sz="1800">
                <a:latin typeface="Arial" panose="020B0604020202020204" pitchFamily="34" charset="0"/>
              </a:rPr>
              <a:t> Δ</a:t>
            </a:r>
            <a:r>
              <a:rPr lang="fr-FR" altLang="fr-FR" sz="1800">
                <a:latin typeface="Arial" panose="020B0604020202020204" pitchFamily="34" charset="0"/>
              </a:rPr>
              <a:t>T = T − To  </a:t>
            </a:r>
            <a:r>
              <a:rPr lang="en-US" altLang="fr-FR" sz="1800">
                <a:latin typeface="Arial" panose="020B0604020202020204" pitchFamily="34" charset="0"/>
              </a:rPr>
              <a:t> :</a:t>
            </a:r>
          </a:p>
        </p:txBody>
      </p:sp>
      <p:sp>
        <p:nvSpPr>
          <p:cNvPr id="10253" name="Text Box 22"/>
          <p:cNvSpPr txBox="1">
            <a:spLocks noChangeArrowheads="1"/>
          </p:cNvSpPr>
          <p:nvPr/>
        </p:nvSpPr>
        <p:spPr bwMode="auto">
          <a:xfrm>
            <a:off x="3581400" y="3581400"/>
            <a:ext cx="43529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sym typeface="Symbol" panose="05050102010706020507" pitchFamily="18" charset="2"/>
              </a:rPr>
              <a:t>où </a:t>
            </a:r>
            <a:r>
              <a:rPr lang="en-US" altLang="fr-FR" sz="1600">
                <a:latin typeface="Arial" panose="020B0604020202020204" pitchFamily="34" charset="0"/>
                <a:sym typeface="Symbol" panose="05050102010706020507" pitchFamily="18" charset="2"/>
              </a:rPr>
              <a:t></a:t>
            </a:r>
            <a:r>
              <a:rPr lang="fr-FR" altLang="fr-FR" sz="1600">
                <a:latin typeface="Arial" panose="020B0604020202020204" pitchFamily="34" charset="0"/>
                <a:sym typeface="Symbol" panose="05050102010706020507" pitchFamily="18" charset="2"/>
              </a:rPr>
              <a:t> est le coefficient de transfert de chaleur</a:t>
            </a:r>
            <a:endParaRPr lang="en-US" altLang="fr-FR" sz="1600">
              <a:latin typeface="Arial" panose="020B0604020202020204" pitchFamily="34" charset="0"/>
              <a:sym typeface="Symbol" panose="05050102010706020507" pitchFamily="18" charset="2"/>
            </a:endParaRPr>
          </a:p>
        </p:txBody>
      </p:sp>
      <p:sp>
        <p:nvSpPr>
          <p:cNvPr id="19" name="Espace réservé du pied de page 18"/>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249"/>
                                        </p:tgtEl>
                                        <p:attrNameLst>
                                          <p:attrName>style.visibility</p:attrName>
                                        </p:attrNameLst>
                                      </p:cBhvr>
                                      <p:to>
                                        <p:strVal val="visible"/>
                                      </p:to>
                                    </p:set>
                                    <p:animEffect transition="in" filter="checkerboard(across)">
                                      <p:cBhvr>
                                        <p:cTn id="7" dur="500"/>
                                        <p:tgtEl>
                                          <p:spTgt spid="102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0242"/>
                                        </p:tgtEl>
                                        <p:attrNameLst>
                                          <p:attrName>style.visibility</p:attrName>
                                        </p:attrNameLst>
                                      </p:cBhvr>
                                      <p:to>
                                        <p:strVal val="visible"/>
                                      </p:to>
                                    </p:set>
                                    <p:animEffect transition="in" filter="checkerboard(across)">
                                      <p:cBhvr>
                                        <p:cTn id="12" dur="500"/>
                                        <p:tgtEl>
                                          <p:spTgt spid="102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0251"/>
                                        </p:tgtEl>
                                        <p:attrNameLst>
                                          <p:attrName>style.visibility</p:attrName>
                                        </p:attrNameLst>
                                      </p:cBhvr>
                                      <p:to>
                                        <p:strVal val="visible"/>
                                      </p:to>
                                    </p:set>
                                    <p:animEffect transition="in" filter="checkerboard(across)">
                                      <p:cBhvr>
                                        <p:cTn id="17" dur="500"/>
                                        <p:tgtEl>
                                          <p:spTgt spid="102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0243"/>
                                        </p:tgtEl>
                                        <p:attrNameLst>
                                          <p:attrName>style.visibility</p:attrName>
                                        </p:attrNameLst>
                                      </p:cBhvr>
                                      <p:to>
                                        <p:strVal val="visible"/>
                                      </p:to>
                                    </p:set>
                                    <p:animEffect transition="in" filter="checkerboard(across)">
                                      <p:cBhvr>
                                        <p:cTn id="22" dur="500"/>
                                        <p:tgtEl>
                                          <p:spTgt spid="102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0253"/>
                                        </p:tgtEl>
                                        <p:attrNameLst>
                                          <p:attrName>style.visibility</p:attrName>
                                        </p:attrNameLst>
                                      </p:cBhvr>
                                      <p:to>
                                        <p:strVal val="visible"/>
                                      </p:to>
                                    </p:set>
                                    <p:animEffect transition="in" filter="checkerboard(across)">
                                      <p:cBhvr>
                                        <p:cTn id="27" dur="500"/>
                                        <p:tgtEl>
                                          <p:spTgt spid="102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0252"/>
                                        </p:tgtEl>
                                        <p:attrNameLst>
                                          <p:attrName>style.visibility</p:attrName>
                                        </p:attrNameLst>
                                      </p:cBhvr>
                                      <p:to>
                                        <p:strVal val="visible"/>
                                      </p:to>
                                    </p:set>
                                    <p:animEffect transition="in" filter="checkerboard(across)">
                                      <p:cBhvr>
                                        <p:cTn id="32" dur="500"/>
                                        <p:tgtEl>
                                          <p:spTgt spid="1025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10244"/>
                                        </p:tgtEl>
                                        <p:attrNameLst>
                                          <p:attrName>style.visibility</p:attrName>
                                        </p:attrNameLst>
                                      </p:cBhvr>
                                      <p:to>
                                        <p:strVal val="visible"/>
                                      </p:to>
                                    </p:set>
                                    <p:animEffect transition="in" filter="checkerboard(across)">
                                      <p:cBhvr>
                                        <p:cTn id="37" dur="500"/>
                                        <p:tgtEl>
                                          <p:spTgt spid="10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9" grpId="0"/>
      <p:bldP spid="10251" grpId="0"/>
      <p:bldP spid="10252" grpId="0"/>
      <p:bldP spid="1025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1981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70ED058-CE98-408E-A7C2-0B08F3221E7E}" type="slidenum">
              <a:rPr lang="en-US" altLang="fr-FR" sz="1000" smtClean="0">
                <a:solidFill>
                  <a:srgbClr val="292929"/>
                </a:solidFill>
                <a:latin typeface="Arial" panose="020B0604020202020204" pitchFamily="34" charset="0"/>
              </a:rPr>
              <a:pPr>
                <a:spcBef>
                  <a:spcPct val="0"/>
                </a:spcBef>
                <a:buClrTx/>
                <a:buSzTx/>
                <a:buFontTx/>
                <a:buNone/>
              </a:pPr>
              <a:t>58</a:t>
            </a:fld>
            <a:endParaRPr lang="en-US" altLang="fr-FR" sz="1000" smtClean="0">
              <a:solidFill>
                <a:srgbClr val="292929"/>
              </a:solidFill>
              <a:latin typeface="Arial" panose="020B0604020202020204" pitchFamily="34" charset="0"/>
            </a:endParaRPr>
          </a:p>
        </p:txBody>
      </p:sp>
      <p:graphicFrame>
        <p:nvGraphicFramePr>
          <p:cNvPr id="11266" name="Object 5"/>
          <p:cNvGraphicFramePr>
            <a:graphicFrameLocks noChangeAspect="1"/>
          </p:cNvGraphicFramePr>
          <p:nvPr/>
        </p:nvGraphicFramePr>
        <p:xfrm>
          <a:off x="2971800" y="2667000"/>
          <a:ext cx="2413000" cy="773113"/>
        </p:xfrm>
        <a:graphic>
          <a:graphicData uri="http://schemas.openxmlformats.org/presentationml/2006/ole">
            <mc:AlternateContent xmlns:mc="http://schemas.openxmlformats.org/markup-compatibility/2006">
              <mc:Choice xmlns:v="urn:schemas-microsoft-com:vml" Requires="v">
                <p:oleObj spid="_x0000_s119852" name="Équation" r:id="rId4" imgW="1384300" imgH="444500" progId="Equation.3">
                  <p:embed/>
                </p:oleObj>
              </mc:Choice>
              <mc:Fallback>
                <p:oleObj name="Équation" r:id="rId4" imgW="1384300" imgH="4445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2667000"/>
                        <a:ext cx="2413000" cy="773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7" name="Object 6"/>
          <p:cNvGraphicFramePr>
            <a:graphicFrameLocks noChangeAspect="1"/>
          </p:cNvGraphicFramePr>
          <p:nvPr/>
        </p:nvGraphicFramePr>
        <p:xfrm>
          <a:off x="3852863" y="3657600"/>
          <a:ext cx="795337" cy="631825"/>
        </p:xfrm>
        <a:graphic>
          <a:graphicData uri="http://schemas.openxmlformats.org/presentationml/2006/ole">
            <mc:AlternateContent xmlns:mc="http://schemas.openxmlformats.org/markup-compatibility/2006">
              <mc:Choice xmlns:v="urn:schemas-microsoft-com:vml" Requires="v">
                <p:oleObj spid="_x0000_s119853" name="Équation" r:id="rId6" imgW="558558" imgH="444307" progId="Equation.3">
                  <p:embed/>
                </p:oleObj>
              </mc:Choice>
              <mc:Fallback>
                <p:oleObj name="Équation" r:id="rId6" imgW="558558" imgH="444307"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2863" y="3657600"/>
                        <a:ext cx="795337"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0" name="Text Box 20"/>
          <p:cNvSpPr txBox="1">
            <a:spLocks noChangeArrowheads="1"/>
          </p:cNvSpPr>
          <p:nvPr/>
        </p:nvSpPr>
        <p:spPr bwMode="auto">
          <a:xfrm>
            <a:off x="2819400" y="3810000"/>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   où</a:t>
            </a:r>
          </a:p>
        </p:txBody>
      </p:sp>
      <p:sp>
        <p:nvSpPr>
          <p:cNvPr id="11271" name="Text Box 21"/>
          <p:cNvSpPr txBox="1">
            <a:spLocks noChangeArrowheads="1"/>
          </p:cNvSpPr>
          <p:nvPr/>
        </p:nvSpPr>
        <p:spPr bwMode="auto">
          <a:xfrm>
            <a:off x="990600" y="1447800"/>
            <a:ext cx="662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Avec </a:t>
            </a:r>
            <a:r>
              <a:rPr lang="en-US" altLang="fr-FR" sz="1800">
                <a:latin typeface="Arial" panose="020B0604020202020204" pitchFamily="34" charset="0"/>
                <a:sym typeface="Symbol" panose="05050102010706020507" pitchFamily="18" charset="2"/>
              </a:rPr>
              <a:t></a:t>
            </a:r>
            <a:r>
              <a:rPr lang="en-US" altLang="fr-FR" sz="1800">
                <a:latin typeface="Arial" panose="020B0604020202020204" pitchFamily="34" charset="0"/>
              </a:rPr>
              <a:t>T(0) = 0 et  p</a:t>
            </a:r>
            <a:r>
              <a:rPr lang="en-US" altLang="fr-FR" sz="1800" baseline="-25000">
                <a:latin typeface="Arial" panose="020B0604020202020204" pitchFamily="34" charset="0"/>
              </a:rPr>
              <a:t>1</a:t>
            </a:r>
            <a:r>
              <a:rPr lang="en-US" altLang="fr-FR" sz="1800">
                <a:latin typeface="Arial" panose="020B0604020202020204" pitchFamily="34" charset="0"/>
              </a:rPr>
              <a:t> = un saut d’amplitude p</a:t>
            </a:r>
            <a:r>
              <a:rPr lang="en-US" altLang="fr-FR" sz="1800" baseline="-25000">
                <a:latin typeface="Arial" panose="020B0604020202020204" pitchFamily="34" charset="0"/>
              </a:rPr>
              <a:t>h</a:t>
            </a:r>
            <a:r>
              <a:rPr lang="en-US" altLang="fr-FR" sz="1800">
                <a:latin typeface="Arial" panose="020B0604020202020204" pitchFamily="34" charset="0"/>
              </a:rPr>
              <a:t>  à t=0,</a:t>
            </a:r>
          </a:p>
        </p:txBody>
      </p:sp>
      <p:sp>
        <p:nvSpPr>
          <p:cNvPr id="11272" name="ZoneTexte 7"/>
          <p:cNvSpPr txBox="1">
            <a:spLocks noChangeArrowheads="1"/>
          </p:cNvSpPr>
          <p:nvPr/>
        </p:nvSpPr>
        <p:spPr bwMode="auto">
          <a:xfrm>
            <a:off x="2590800" y="5029200"/>
            <a:ext cx="426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2400" i="1">
                <a:latin typeface="Calibri" panose="020F0502020204030204" pitchFamily="34" charset="0"/>
              </a:rPr>
              <a:t>τ</a:t>
            </a:r>
            <a:r>
              <a:rPr lang="fr-FR" altLang="fr-FR" sz="1800" i="1">
                <a:latin typeface="Calibri" panose="020F0502020204030204" pitchFamily="34" charset="0"/>
              </a:rPr>
              <a:t> </a:t>
            </a:r>
            <a:r>
              <a:rPr lang="fr-FR" altLang="fr-FR" sz="1800">
                <a:latin typeface="Calibri" panose="020F0502020204030204" pitchFamily="34" charset="0"/>
              </a:rPr>
              <a:t>   </a:t>
            </a:r>
            <a:r>
              <a:rPr lang="fr-FR" altLang="fr-FR" sz="1800">
                <a:latin typeface="Arial" panose="020B0604020202020204" pitchFamily="34" charset="0"/>
              </a:rPr>
              <a:t>est la constante de temps thermique </a:t>
            </a:r>
          </a:p>
        </p:txBody>
      </p:sp>
      <p:sp>
        <p:nvSpPr>
          <p:cNvPr id="9"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p>
        </p:txBody>
      </p:sp>
      <p:sp>
        <p:nvSpPr>
          <p:cNvPr id="119818"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19819" name="Text Box 4"/>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271"/>
                                        </p:tgtEl>
                                        <p:attrNameLst>
                                          <p:attrName>style.visibility</p:attrName>
                                        </p:attrNameLst>
                                      </p:cBhvr>
                                      <p:to>
                                        <p:strVal val="visible"/>
                                      </p:to>
                                    </p:set>
                                    <p:animEffect transition="in" filter="checkerboard(across)">
                                      <p:cBhvr>
                                        <p:cTn id="7" dur="500"/>
                                        <p:tgtEl>
                                          <p:spTgt spid="112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1266"/>
                                        </p:tgtEl>
                                        <p:attrNameLst>
                                          <p:attrName>style.visibility</p:attrName>
                                        </p:attrNameLst>
                                      </p:cBhvr>
                                      <p:to>
                                        <p:strVal val="visible"/>
                                      </p:to>
                                    </p:set>
                                    <p:animEffect transition="in" filter="checkerboard(across)">
                                      <p:cBhvr>
                                        <p:cTn id="12" dur="500"/>
                                        <p:tgtEl>
                                          <p:spTgt spid="112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1267"/>
                                        </p:tgtEl>
                                        <p:attrNameLst>
                                          <p:attrName>style.visibility</p:attrName>
                                        </p:attrNameLst>
                                      </p:cBhvr>
                                      <p:to>
                                        <p:strVal val="visible"/>
                                      </p:to>
                                    </p:set>
                                    <p:animEffect transition="in" filter="checkerboard(across)">
                                      <p:cBhvr>
                                        <p:cTn id="17" dur="500"/>
                                        <p:tgtEl>
                                          <p:spTgt spid="11267"/>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11270"/>
                                        </p:tgtEl>
                                        <p:attrNameLst>
                                          <p:attrName>style.visibility</p:attrName>
                                        </p:attrNameLst>
                                      </p:cBhvr>
                                      <p:to>
                                        <p:strVal val="visible"/>
                                      </p:to>
                                    </p:set>
                                    <p:animEffect transition="in" filter="checkerboard(across)">
                                      <p:cBhvr>
                                        <p:cTn id="20" dur="500"/>
                                        <p:tgtEl>
                                          <p:spTgt spid="1127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11272"/>
                                        </p:tgtEl>
                                        <p:attrNameLst>
                                          <p:attrName>style.visibility</p:attrName>
                                        </p:attrNameLst>
                                      </p:cBhvr>
                                      <p:to>
                                        <p:strVal val="visible"/>
                                      </p:to>
                                    </p:set>
                                    <p:animEffect transition="in" filter="checkerboard(across)">
                                      <p:cBhvr>
                                        <p:cTn id="25" dur="500"/>
                                        <p:tgtEl>
                                          <p:spTgt spid="11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p:bldP spid="11271" grpId="0"/>
      <p:bldP spid="1127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21859" name="Espace réservé du numéro de diapositive 3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8EDC9A6-73F7-429D-93B4-B6B162543F9E}" type="slidenum">
              <a:rPr lang="en-US" altLang="fr-FR" sz="1000" smtClean="0">
                <a:solidFill>
                  <a:srgbClr val="292929"/>
                </a:solidFill>
                <a:latin typeface="Arial" panose="020B0604020202020204" pitchFamily="34" charset="0"/>
              </a:rPr>
              <a:pPr>
                <a:spcBef>
                  <a:spcPct val="0"/>
                </a:spcBef>
                <a:buClrTx/>
                <a:buSzTx/>
                <a:buFontTx/>
                <a:buNone/>
              </a:pPr>
              <a:t>59</a:t>
            </a:fld>
            <a:endParaRPr lang="en-US" altLang="fr-FR" sz="1000" smtClean="0">
              <a:solidFill>
                <a:srgbClr val="292929"/>
              </a:solidFill>
              <a:latin typeface="Arial" panose="020B0604020202020204" pitchFamily="34" charset="0"/>
            </a:endParaRPr>
          </a:p>
        </p:txBody>
      </p:sp>
      <p:sp>
        <p:nvSpPr>
          <p:cNvPr id="121860"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1861" name="Text Box 4"/>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
        <p:nvSpPr>
          <p:cNvPr id="121862" name="Line 16"/>
          <p:cNvSpPr>
            <a:spLocks noChangeShapeType="1"/>
          </p:cNvSpPr>
          <p:nvPr/>
        </p:nvSpPr>
        <p:spPr bwMode="auto">
          <a:xfrm flipV="1">
            <a:off x="1600200" y="3810000"/>
            <a:ext cx="0" cy="1981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21863" name="Line 17"/>
          <p:cNvSpPr>
            <a:spLocks noChangeShapeType="1"/>
          </p:cNvSpPr>
          <p:nvPr/>
        </p:nvSpPr>
        <p:spPr bwMode="auto">
          <a:xfrm>
            <a:off x="1600200" y="5791200"/>
            <a:ext cx="3505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42005" name="Line 21"/>
          <p:cNvSpPr>
            <a:spLocks noChangeShapeType="1"/>
          </p:cNvSpPr>
          <p:nvPr/>
        </p:nvSpPr>
        <p:spPr bwMode="auto">
          <a:xfrm>
            <a:off x="1600200" y="3962400"/>
            <a:ext cx="685800" cy="1828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21865" name="Text Box 30"/>
          <p:cNvSpPr txBox="1">
            <a:spLocks noChangeArrowheads="1"/>
          </p:cNvSpPr>
          <p:nvPr/>
        </p:nvSpPr>
        <p:spPr bwMode="auto">
          <a:xfrm>
            <a:off x="5105400" y="5638800"/>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a:t>
            </a:r>
          </a:p>
        </p:txBody>
      </p:sp>
      <p:sp>
        <p:nvSpPr>
          <p:cNvPr id="42017" name="Text Box 33"/>
          <p:cNvSpPr txBox="1">
            <a:spLocks noChangeArrowheads="1"/>
          </p:cNvSpPr>
          <p:nvPr/>
        </p:nvSpPr>
        <p:spPr bwMode="auto">
          <a:xfrm>
            <a:off x="2133600" y="5715000"/>
            <a:ext cx="228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p>
        </p:txBody>
      </p:sp>
      <p:sp>
        <p:nvSpPr>
          <p:cNvPr id="121867" name="Text Box 8"/>
          <p:cNvSpPr txBox="1">
            <a:spLocks noChangeArrowheads="1"/>
          </p:cNvSpPr>
          <p:nvPr/>
        </p:nvSpPr>
        <p:spPr bwMode="auto">
          <a:xfrm>
            <a:off x="2498725" y="16367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1868" name="Line 13"/>
          <p:cNvSpPr>
            <a:spLocks noChangeShapeType="1"/>
          </p:cNvSpPr>
          <p:nvPr/>
        </p:nvSpPr>
        <p:spPr bwMode="auto">
          <a:xfrm flipV="1">
            <a:off x="1600200" y="1371600"/>
            <a:ext cx="0" cy="1981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21869" name="Line 15"/>
          <p:cNvSpPr>
            <a:spLocks noChangeShapeType="1"/>
          </p:cNvSpPr>
          <p:nvPr/>
        </p:nvSpPr>
        <p:spPr bwMode="auto">
          <a:xfrm>
            <a:off x="1600200" y="3352800"/>
            <a:ext cx="3505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42006" name="Line 22"/>
          <p:cNvSpPr>
            <a:spLocks noChangeShapeType="1"/>
          </p:cNvSpPr>
          <p:nvPr/>
        </p:nvSpPr>
        <p:spPr bwMode="auto">
          <a:xfrm flipV="1">
            <a:off x="1600200" y="1600200"/>
            <a:ext cx="68580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42007" name="Line 23"/>
          <p:cNvSpPr>
            <a:spLocks noChangeShapeType="1"/>
          </p:cNvSpPr>
          <p:nvPr/>
        </p:nvSpPr>
        <p:spPr bwMode="auto">
          <a:xfrm flipH="1">
            <a:off x="1600200" y="1600200"/>
            <a:ext cx="2819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aphicFrame>
        <p:nvGraphicFramePr>
          <p:cNvPr id="121872" name="Object 2"/>
          <p:cNvGraphicFramePr>
            <a:graphicFrameLocks noChangeAspect="1"/>
          </p:cNvGraphicFramePr>
          <p:nvPr/>
        </p:nvGraphicFramePr>
        <p:xfrm>
          <a:off x="1219200" y="1295400"/>
          <a:ext cx="306388" cy="234950"/>
        </p:xfrm>
        <a:graphic>
          <a:graphicData uri="http://schemas.openxmlformats.org/presentationml/2006/ole">
            <mc:AlternateContent xmlns:mc="http://schemas.openxmlformats.org/markup-compatibility/2006">
              <mc:Choice xmlns:v="urn:schemas-microsoft-com:vml" Requires="v">
                <p:oleObj spid="_x0000_s121988" name="Equation" r:id="rId4" imgW="215619" imgH="164885" progId="Equation.3">
                  <p:embed/>
                </p:oleObj>
              </mc:Choice>
              <mc:Fallback>
                <p:oleObj name="Equation" r:id="rId4" imgW="215619" imgH="164885"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1295400"/>
                        <a:ext cx="306388" cy="234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73" name="Text Box 29"/>
          <p:cNvSpPr txBox="1">
            <a:spLocks noChangeArrowheads="1"/>
          </p:cNvSpPr>
          <p:nvPr/>
        </p:nvSpPr>
        <p:spPr bwMode="auto">
          <a:xfrm>
            <a:off x="5089525" y="3160713"/>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a:t>
            </a:r>
          </a:p>
        </p:txBody>
      </p:sp>
      <p:grpSp>
        <p:nvGrpSpPr>
          <p:cNvPr id="2" name="Group 50"/>
          <p:cNvGrpSpPr>
            <a:grpSpLocks/>
          </p:cNvGrpSpPr>
          <p:nvPr/>
        </p:nvGrpSpPr>
        <p:grpSpPr bwMode="auto">
          <a:xfrm>
            <a:off x="2133600" y="1600200"/>
            <a:ext cx="228600" cy="2043113"/>
            <a:chOff x="1344" y="1008"/>
            <a:chExt cx="144" cy="1287"/>
          </a:xfrm>
        </p:grpSpPr>
        <p:sp>
          <p:nvSpPr>
            <p:cNvPr id="121890" name="Text Box 31"/>
            <p:cNvSpPr txBox="1">
              <a:spLocks noChangeArrowheads="1"/>
            </p:cNvSpPr>
            <p:nvPr/>
          </p:nvSpPr>
          <p:spPr bwMode="auto">
            <a:xfrm>
              <a:off x="1344" y="2064"/>
              <a:ext cx="1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p>
          </p:txBody>
        </p:sp>
        <p:sp>
          <p:nvSpPr>
            <p:cNvPr id="121891" name="Line 32"/>
            <p:cNvSpPr>
              <a:spLocks noChangeShapeType="1"/>
            </p:cNvSpPr>
            <p:nvPr/>
          </p:nvSpPr>
          <p:spPr bwMode="auto">
            <a:xfrm>
              <a:off x="1440" y="1008"/>
              <a:ext cx="0" cy="110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graphicFrame>
        <p:nvGraphicFramePr>
          <p:cNvPr id="42019" name="Object 3"/>
          <p:cNvGraphicFramePr>
            <a:graphicFrameLocks noChangeAspect="1"/>
          </p:cNvGraphicFramePr>
          <p:nvPr/>
        </p:nvGraphicFramePr>
        <p:xfrm>
          <a:off x="6019800" y="3886200"/>
          <a:ext cx="1446213" cy="325438"/>
        </p:xfrm>
        <a:graphic>
          <a:graphicData uri="http://schemas.openxmlformats.org/presentationml/2006/ole">
            <mc:AlternateContent xmlns:mc="http://schemas.openxmlformats.org/markup-compatibility/2006">
              <mc:Choice xmlns:v="urn:schemas-microsoft-com:vml" Requires="v">
                <p:oleObj spid="_x0000_s121989" name="Equation" r:id="rId6" imgW="1016000" imgH="228600" progId="Equation.3">
                  <p:embed/>
                </p:oleObj>
              </mc:Choice>
              <mc:Fallback>
                <p:oleObj name="Equation" r:id="rId6" imgW="1016000" imgH="228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9800" y="3886200"/>
                        <a:ext cx="1446213" cy="325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876" name="Object 4"/>
          <p:cNvGraphicFramePr>
            <a:graphicFrameLocks noChangeAspect="1"/>
          </p:cNvGraphicFramePr>
          <p:nvPr/>
        </p:nvGraphicFramePr>
        <p:xfrm>
          <a:off x="1293813" y="3581400"/>
          <a:ext cx="306387" cy="234950"/>
        </p:xfrm>
        <a:graphic>
          <a:graphicData uri="http://schemas.openxmlformats.org/presentationml/2006/ole">
            <mc:AlternateContent xmlns:mc="http://schemas.openxmlformats.org/markup-compatibility/2006">
              <mc:Choice xmlns:v="urn:schemas-microsoft-com:vml" Requires="v">
                <p:oleObj spid="_x0000_s121990" name="Equation" r:id="rId8" imgW="215619" imgH="164885" progId="Equation.3">
                  <p:embed/>
                </p:oleObj>
              </mc:Choice>
              <mc:Fallback>
                <p:oleObj name="Equation" r:id="rId8" imgW="215619" imgH="164885"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3813" y="3581400"/>
                        <a:ext cx="306387" cy="234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52"/>
          <p:cNvGrpSpPr>
            <a:grpSpLocks/>
          </p:cNvGrpSpPr>
          <p:nvPr/>
        </p:nvGrpSpPr>
        <p:grpSpPr bwMode="auto">
          <a:xfrm>
            <a:off x="5775325" y="1219200"/>
            <a:ext cx="2681288" cy="939800"/>
            <a:chOff x="3638" y="768"/>
            <a:chExt cx="1689" cy="592"/>
          </a:xfrm>
        </p:grpSpPr>
        <p:graphicFrame>
          <p:nvGraphicFramePr>
            <p:cNvPr id="121888" name="Object 7"/>
            <p:cNvGraphicFramePr>
              <a:graphicFrameLocks noChangeAspect="1"/>
            </p:cNvGraphicFramePr>
            <p:nvPr/>
          </p:nvGraphicFramePr>
          <p:xfrm>
            <a:off x="3744" y="768"/>
            <a:ext cx="991" cy="353"/>
          </p:xfrm>
          <a:graphic>
            <a:graphicData uri="http://schemas.openxmlformats.org/presentationml/2006/ole">
              <mc:AlternateContent xmlns:mc="http://schemas.openxmlformats.org/markup-compatibility/2006">
                <mc:Choice xmlns:v="urn:schemas-microsoft-com:vml" Requires="v">
                  <p:oleObj spid="_x0000_s121991" name="Equation" r:id="rId9" imgW="1104900" imgH="393700" progId="Equation.3">
                    <p:embed/>
                  </p:oleObj>
                </mc:Choice>
                <mc:Fallback>
                  <p:oleObj name="Equation" r:id="rId9" imgW="1104900" imgH="3937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44" y="768"/>
                          <a:ext cx="991" cy="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89" name="Text Box 38"/>
            <p:cNvSpPr txBox="1">
              <a:spLocks noChangeArrowheads="1"/>
            </p:cNvSpPr>
            <p:nvPr/>
          </p:nvSpPr>
          <p:spPr bwMode="auto">
            <a:xfrm>
              <a:off x="3638" y="1127"/>
              <a:ext cx="16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Echauffement transitoire</a:t>
              </a:r>
            </a:p>
          </p:txBody>
        </p:sp>
      </p:grpSp>
      <p:sp>
        <p:nvSpPr>
          <p:cNvPr id="42023" name="Text Box 39"/>
          <p:cNvSpPr txBox="1">
            <a:spLocks noChangeArrowheads="1"/>
          </p:cNvSpPr>
          <p:nvPr/>
        </p:nvSpPr>
        <p:spPr bwMode="auto">
          <a:xfrm>
            <a:off x="5181600" y="4343400"/>
            <a:ext cx="3581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     Refroidissement transitoire</a:t>
            </a:r>
          </a:p>
          <a:p>
            <a:pPr eaLnBrk="1" hangingPunct="1">
              <a:spcBef>
                <a:spcPct val="0"/>
              </a:spcBef>
              <a:buClrTx/>
              <a:buSzTx/>
              <a:buFontTx/>
              <a:buNone/>
            </a:pPr>
            <a:endParaRPr lang="en-US" altLang="fr-FR" sz="1800">
              <a:latin typeface="Arial" panose="020B0604020202020204" pitchFamily="34" charset="0"/>
            </a:endParaRPr>
          </a:p>
          <a:p>
            <a:pPr eaLnBrk="1" hangingPunct="1">
              <a:spcBef>
                <a:spcPct val="0"/>
              </a:spcBef>
              <a:buClrTx/>
              <a:buSzTx/>
              <a:buFontTx/>
              <a:buNone/>
            </a:pPr>
            <a:r>
              <a:rPr lang="en-US" altLang="fr-FR" sz="1800">
                <a:latin typeface="Arial" panose="020B0604020202020204" pitchFamily="34" charset="0"/>
              </a:rPr>
              <a:t>Si la source de chaleur disparait, la température T=T</a:t>
            </a:r>
            <a:r>
              <a:rPr lang="en-US" altLang="fr-FR" sz="1800" baseline="-25000">
                <a:latin typeface="Arial" panose="020B0604020202020204" pitchFamily="34" charset="0"/>
              </a:rPr>
              <a:t>o</a:t>
            </a:r>
          </a:p>
        </p:txBody>
      </p:sp>
      <p:sp>
        <p:nvSpPr>
          <p:cNvPr id="42030" name="Freeform 46"/>
          <p:cNvSpPr>
            <a:spLocks/>
          </p:cNvSpPr>
          <p:nvPr/>
        </p:nvSpPr>
        <p:spPr bwMode="auto">
          <a:xfrm>
            <a:off x="1600200" y="1624013"/>
            <a:ext cx="3200400" cy="1728787"/>
          </a:xfrm>
          <a:custGeom>
            <a:avLst/>
            <a:gdLst>
              <a:gd name="T0" fmla="*/ 0 w 2144"/>
              <a:gd name="T1" fmla="*/ 2147483646 h 1089"/>
              <a:gd name="T2" fmla="*/ 2147483646 w 2144"/>
              <a:gd name="T3" fmla="*/ 2147483646 h 1089"/>
              <a:gd name="T4" fmla="*/ 2147483646 w 2144"/>
              <a:gd name="T5" fmla="*/ 2147483646 h 1089"/>
              <a:gd name="T6" fmla="*/ 2147483646 w 2144"/>
              <a:gd name="T7" fmla="*/ 2147483646 h 1089"/>
              <a:gd name="T8" fmla="*/ 2147483646 w 2144"/>
              <a:gd name="T9" fmla="*/ 2147483646 h 1089"/>
              <a:gd name="T10" fmla="*/ 2147483646 w 2144"/>
              <a:gd name="T11" fmla="*/ 2147483646 h 1089"/>
              <a:gd name="T12" fmla="*/ 2147483646 w 2144"/>
              <a:gd name="T13" fmla="*/ 2147483646 h 1089"/>
              <a:gd name="T14" fmla="*/ 2147483646 w 2144"/>
              <a:gd name="T15" fmla="*/ 2147483646 h 1089"/>
              <a:gd name="T16" fmla="*/ 0 60000 65536"/>
              <a:gd name="T17" fmla="*/ 0 60000 65536"/>
              <a:gd name="T18" fmla="*/ 0 60000 65536"/>
              <a:gd name="T19" fmla="*/ 0 60000 65536"/>
              <a:gd name="T20" fmla="*/ 0 60000 65536"/>
              <a:gd name="T21" fmla="*/ 0 60000 65536"/>
              <a:gd name="T22" fmla="*/ 0 60000 65536"/>
              <a:gd name="T23" fmla="*/ 0 60000 65536"/>
              <a:gd name="T24" fmla="*/ 0 w 2144"/>
              <a:gd name="T25" fmla="*/ 0 h 1089"/>
              <a:gd name="T26" fmla="*/ 2144 w 2144"/>
              <a:gd name="T27" fmla="*/ 1089 h 10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44" h="1089">
                <a:moveTo>
                  <a:pt x="0" y="1089"/>
                </a:moveTo>
                <a:cubicBezTo>
                  <a:pt x="80" y="933"/>
                  <a:pt x="160" y="777"/>
                  <a:pt x="240" y="657"/>
                </a:cubicBezTo>
                <a:cubicBezTo>
                  <a:pt x="320" y="537"/>
                  <a:pt x="392" y="449"/>
                  <a:pt x="480" y="369"/>
                </a:cubicBezTo>
                <a:cubicBezTo>
                  <a:pt x="568" y="289"/>
                  <a:pt x="672" y="225"/>
                  <a:pt x="768" y="177"/>
                </a:cubicBezTo>
                <a:cubicBezTo>
                  <a:pt x="864" y="129"/>
                  <a:pt x="952" y="105"/>
                  <a:pt x="1056" y="81"/>
                </a:cubicBezTo>
                <a:cubicBezTo>
                  <a:pt x="1160" y="57"/>
                  <a:pt x="1248" y="46"/>
                  <a:pt x="1392" y="33"/>
                </a:cubicBezTo>
                <a:cubicBezTo>
                  <a:pt x="1536" y="20"/>
                  <a:pt x="1795" y="10"/>
                  <a:pt x="1920" y="5"/>
                </a:cubicBezTo>
                <a:cubicBezTo>
                  <a:pt x="2045" y="0"/>
                  <a:pt x="2094" y="0"/>
                  <a:pt x="2144" y="1"/>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nvGrpSpPr>
          <p:cNvPr id="4" name="Group 49"/>
          <p:cNvGrpSpPr>
            <a:grpSpLocks/>
          </p:cNvGrpSpPr>
          <p:nvPr/>
        </p:nvGrpSpPr>
        <p:grpSpPr bwMode="auto">
          <a:xfrm>
            <a:off x="2895600" y="1143000"/>
            <a:ext cx="550863" cy="457200"/>
            <a:chOff x="1824" y="720"/>
            <a:chExt cx="347" cy="288"/>
          </a:xfrm>
        </p:grpSpPr>
        <p:graphicFrame>
          <p:nvGraphicFramePr>
            <p:cNvPr id="121886" name="Object 6"/>
            <p:cNvGraphicFramePr>
              <a:graphicFrameLocks noChangeAspect="1"/>
            </p:cNvGraphicFramePr>
            <p:nvPr/>
          </p:nvGraphicFramePr>
          <p:xfrm>
            <a:off x="2016" y="720"/>
            <a:ext cx="155" cy="240"/>
          </p:xfrm>
          <a:graphic>
            <a:graphicData uri="http://schemas.openxmlformats.org/presentationml/2006/ole">
              <mc:AlternateContent xmlns:mc="http://schemas.openxmlformats.org/markup-compatibility/2006">
                <mc:Choice xmlns:v="urn:schemas-microsoft-com:vml" Requires="v">
                  <p:oleObj spid="_x0000_s121992" name="Equation" r:id="rId11" imgW="253890" imgH="393529" progId="Equation.3">
                    <p:embed/>
                  </p:oleObj>
                </mc:Choice>
                <mc:Fallback>
                  <p:oleObj name="Equation" r:id="rId11" imgW="253890" imgH="393529"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16" y="720"/>
                          <a:ext cx="155"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87" name="Line 48"/>
            <p:cNvSpPr>
              <a:spLocks noChangeShapeType="1"/>
            </p:cNvSpPr>
            <p:nvPr/>
          </p:nvSpPr>
          <p:spPr bwMode="auto">
            <a:xfrm flipH="1">
              <a:off x="1824" y="864"/>
              <a:ext cx="19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42037" name="Freeform 53"/>
          <p:cNvSpPr>
            <a:spLocks/>
          </p:cNvSpPr>
          <p:nvPr/>
        </p:nvSpPr>
        <p:spPr bwMode="auto">
          <a:xfrm flipV="1">
            <a:off x="1600200" y="3962400"/>
            <a:ext cx="3429000" cy="1778000"/>
          </a:xfrm>
          <a:custGeom>
            <a:avLst/>
            <a:gdLst>
              <a:gd name="T0" fmla="*/ 0 w 2144"/>
              <a:gd name="T1" fmla="*/ 2147483646 h 1089"/>
              <a:gd name="T2" fmla="*/ 2147483646 w 2144"/>
              <a:gd name="T3" fmla="*/ 2147483646 h 1089"/>
              <a:gd name="T4" fmla="*/ 2147483646 w 2144"/>
              <a:gd name="T5" fmla="*/ 2147483646 h 1089"/>
              <a:gd name="T6" fmla="*/ 2147483646 w 2144"/>
              <a:gd name="T7" fmla="*/ 2147483646 h 1089"/>
              <a:gd name="T8" fmla="*/ 2147483646 w 2144"/>
              <a:gd name="T9" fmla="*/ 2147483646 h 1089"/>
              <a:gd name="T10" fmla="*/ 2147483646 w 2144"/>
              <a:gd name="T11" fmla="*/ 2147483646 h 1089"/>
              <a:gd name="T12" fmla="*/ 2147483646 w 2144"/>
              <a:gd name="T13" fmla="*/ 2147483646 h 1089"/>
              <a:gd name="T14" fmla="*/ 2147483646 w 2144"/>
              <a:gd name="T15" fmla="*/ 2147483646 h 1089"/>
              <a:gd name="T16" fmla="*/ 0 60000 65536"/>
              <a:gd name="T17" fmla="*/ 0 60000 65536"/>
              <a:gd name="T18" fmla="*/ 0 60000 65536"/>
              <a:gd name="T19" fmla="*/ 0 60000 65536"/>
              <a:gd name="T20" fmla="*/ 0 60000 65536"/>
              <a:gd name="T21" fmla="*/ 0 60000 65536"/>
              <a:gd name="T22" fmla="*/ 0 60000 65536"/>
              <a:gd name="T23" fmla="*/ 0 60000 65536"/>
              <a:gd name="T24" fmla="*/ 0 w 2144"/>
              <a:gd name="T25" fmla="*/ 0 h 1089"/>
              <a:gd name="T26" fmla="*/ 2144 w 2144"/>
              <a:gd name="T27" fmla="*/ 1089 h 10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44" h="1089">
                <a:moveTo>
                  <a:pt x="0" y="1089"/>
                </a:moveTo>
                <a:cubicBezTo>
                  <a:pt x="80" y="933"/>
                  <a:pt x="160" y="777"/>
                  <a:pt x="240" y="657"/>
                </a:cubicBezTo>
                <a:cubicBezTo>
                  <a:pt x="320" y="537"/>
                  <a:pt x="392" y="449"/>
                  <a:pt x="480" y="369"/>
                </a:cubicBezTo>
                <a:cubicBezTo>
                  <a:pt x="568" y="289"/>
                  <a:pt x="672" y="225"/>
                  <a:pt x="768" y="177"/>
                </a:cubicBezTo>
                <a:cubicBezTo>
                  <a:pt x="864" y="129"/>
                  <a:pt x="952" y="105"/>
                  <a:pt x="1056" y="81"/>
                </a:cubicBezTo>
                <a:cubicBezTo>
                  <a:pt x="1160" y="57"/>
                  <a:pt x="1248" y="46"/>
                  <a:pt x="1392" y="33"/>
                </a:cubicBezTo>
                <a:cubicBezTo>
                  <a:pt x="1536" y="20"/>
                  <a:pt x="1795" y="10"/>
                  <a:pt x="1920" y="5"/>
                </a:cubicBezTo>
                <a:cubicBezTo>
                  <a:pt x="2045" y="0"/>
                  <a:pt x="2094" y="0"/>
                  <a:pt x="2144" y="1"/>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nvGrpSpPr>
          <p:cNvPr id="5" name="Group 56"/>
          <p:cNvGrpSpPr>
            <a:grpSpLocks/>
          </p:cNvGrpSpPr>
          <p:nvPr/>
        </p:nvGrpSpPr>
        <p:grpSpPr bwMode="auto">
          <a:xfrm>
            <a:off x="762000" y="3962400"/>
            <a:ext cx="838200" cy="365125"/>
            <a:chOff x="480" y="2496"/>
            <a:chExt cx="528" cy="230"/>
          </a:xfrm>
        </p:grpSpPr>
        <p:graphicFrame>
          <p:nvGraphicFramePr>
            <p:cNvPr id="121884" name="Object 5"/>
            <p:cNvGraphicFramePr>
              <a:graphicFrameLocks noChangeAspect="1"/>
            </p:cNvGraphicFramePr>
            <p:nvPr/>
          </p:nvGraphicFramePr>
          <p:xfrm>
            <a:off x="480" y="2544"/>
            <a:ext cx="342" cy="182"/>
          </p:xfrm>
          <a:graphic>
            <a:graphicData uri="http://schemas.openxmlformats.org/presentationml/2006/ole">
              <mc:AlternateContent xmlns:mc="http://schemas.openxmlformats.org/markup-compatibility/2006">
                <mc:Choice xmlns:v="urn:schemas-microsoft-com:vml" Requires="v">
                  <p:oleObj spid="_x0000_s121993" name="Equation" r:id="rId13" imgW="380835" imgH="203112" progId="Equation.3">
                    <p:embed/>
                  </p:oleObj>
                </mc:Choice>
                <mc:Fallback>
                  <p:oleObj name="Equation" r:id="rId13" imgW="380835" imgH="203112"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0" y="2544"/>
                          <a:ext cx="342"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85" name="Line 55"/>
            <p:cNvSpPr>
              <a:spLocks noChangeShapeType="1"/>
            </p:cNvSpPr>
            <p:nvPr/>
          </p:nvSpPr>
          <p:spPr bwMode="auto">
            <a:xfrm flipV="1">
              <a:off x="816" y="2496"/>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36" name="Espace réservé du pied de page 35"/>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030"/>
                                        </p:tgtEl>
                                        <p:attrNameLst>
                                          <p:attrName>style.visibility</p:attrName>
                                        </p:attrNameLst>
                                      </p:cBhvr>
                                      <p:to>
                                        <p:strVal val="visible"/>
                                      </p:to>
                                    </p:set>
                                    <p:animEffect transition="in" filter="wipe(down)">
                                      <p:cBhvr>
                                        <p:cTn id="7" dur="1000"/>
                                        <p:tgtEl>
                                          <p:spTgt spid="420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007"/>
                                        </p:tgtEl>
                                        <p:attrNameLst>
                                          <p:attrName>style.visibility</p:attrName>
                                        </p:attrNameLst>
                                      </p:cBhvr>
                                      <p:to>
                                        <p:strVal val="visible"/>
                                      </p:to>
                                    </p:set>
                                    <p:animEffect transition="in" filter="wipe(left)">
                                      <p:cBhvr>
                                        <p:cTn id="12" dur="1000"/>
                                        <p:tgtEl>
                                          <p:spTgt spid="42007"/>
                                        </p:tgtEl>
                                      </p:cBhvr>
                                    </p:animEffect>
                                  </p:childTnLst>
                                </p:cTn>
                              </p:par>
                            </p:childTnLst>
                          </p:cTn>
                        </p:par>
                        <p:par>
                          <p:cTn id="13" fill="hold" nodeType="afterGroup">
                            <p:stCondLst>
                              <p:cond delay="1000"/>
                            </p:stCondLst>
                            <p:childTnLst>
                              <p:par>
                                <p:cTn id="14" presetID="10"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42006"/>
                                        </p:tgtEl>
                                        <p:attrNameLst>
                                          <p:attrName>style.visibility</p:attrName>
                                        </p:attrNameLst>
                                      </p:cBhvr>
                                      <p:to>
                                        <p:strVal val="visible"/>
                                      </p:to>
                                    </p:set>
                                    <p:animEffect transition="in" filter="wipe(down)">
                                      <p:cBhvr>
                                        <p:cTn id="21" dur="500"/>
                                        <p:tgtEl>
                                          <p:spTgt spid="42006"/>
                                        </p:tgtEl>
                                      </p:cBhvr>
                                    </p:animEffect>
                                  </p:childTnLst>
                                </p:cTn>
                              </p:par>
                            </p:childTnLst>
                          </p:cTn>
                        </p:par>
                        <p:par>
                          <p:cTn id="22" fill="hold" nodeType="afterGroup">
                            <p:stCondLst>
                              <p:cond delay="500"/>
                            </p:stCondLst>
                            <p:childTnLst>
                              <p:par>
                                <p:cTn id="23" presetID="10" presetClass="entr" presetSubtype="0"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42019"/>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2023"/>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2037"/>
                                        </p:tgtEl>
                                        <p:attrNameLst>
                                          <p:attrName>style.visibility</p:attrName>
                                        </p:attrNameLst>
                                      </p:cBhvr>
                                      <p:to>
                                        <p:strVal val="visible"/>
                                      </p:to>
                                    </p:set>
                                    <p:animEffect transition="in" filter="wipe(up)">
                                      <p:cBhvr>
                                        <p:cTn id="42" dur="1000"/>
                                        <p:tgtEl>
                                          <p:spTgt spid="42037"/>
                                        </p:tgtEl>
                                      </p:cBhvr>
                                    </p:animEffect>
                                  </p:childTnLst>
                                </p:cTn>
                              </p:par>
                            </p:childTnLst>
                          </p:cTn>
                        </p:par>
                        <p:par>
                          <p:cTn id="43" fill="hold" nodeType="afterGroup">
                            <p:stCondLst>
                              <p:cond delay="1000"/>
                            </p:stCondLst>
                            <p:childTnLst>
                              <p:par>
                                <p:cTn id="44" presetID="10" presetClass="entr" presetSubtype="0" fill="hold"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fade">
                                      <p:cBhvr>
                                        <p:cTn id="46" dur="1000"/>
                                        <p:tgtEl>
                                          <p:spTgt spid="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42005"/>
                                        </p:tgtEl>
                                        <p:attrNameLst>
                                          <p:attrName>style.visibility</p:attrName>
                                        </p:attrNameLst>
                                      </p:cBhvr>
                                      <p:to>
                                        <p:strVal val="visible"/>
                                      </p:to>
                                    </p:set>
                                    <p:animEffect transition="in" filter="wipe(up)">
                                      <p:cBhvr>
                                        <p:cTn id="51" dur="2000"/>
                                        <p:tgtEl>
                                          <p:spTgt spid="42005"/>
                                        </p:tgtEl>
                                      </p:cBhvr>
                                    </p:animEffect>
                                  </p:childTnLst>
                                </p:cTn>
                              </p:par>
                            </p:childTnLst>
                          </p:cTn>
                        </p:par>
                        <p:par>
                          <p:cTn id="52" fill="hold" nodeType="afterGroup">
                            <p:stCondLst>
                              <p:cond delay="2000"/>
                            </p:stCondLst>
                            <p:childTnLst>
                              <p:par>
                                <p:cTn id="53" presetID="10" presetClass="entr" presetSubtype="0" fill="hold" grpId="0" nodeType="afterEffect">
                                  <p:stCondLst>
                                    <p:cond delay="0"/>
                                  </p:stCondLst>
                                  <p:childTnLst>
                                    <p:set>
                                      <p:cBhvr>
                                        <p:cTn id="54" dur="1" fill="hold">
                                          <p:stCondLst>
                                            <p:cond delay="0"/>
                                          </p:stCondLst>
                                        </p:cTn>
                                        <p:tgtEl>
                                          <p:spTgt spid="42017"/>
                                        </p:tgtEl>
                                        <p:attrNameLst>
                                          <p:attrName>style.visibility</p:attrName>
                                        </p:attrNameLst>
                                      </p:cBhvr>
                                      <p:to>
                                        <p:strVal val="visible"/>
                                      </p:to>
                                    </p:set>
                                    <p:animEffect transition="in" filter="fade">
                                      <p:cBhvr>
                                        <p:cTn id="55" dur="1000"/>
                                        <p:tgtEl>
                                          <p:spTgt spid="42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5" grpId="0" animBg="1"/>
      <p:bldP spid="42017" grpId="0"/>
      <p:bldP spid="42006" grpId="0" animBg="1"/>
      <p:bldP spid="42007" grpId="0" animBg="1"/>
      <p:bldP spid="42023" grpId="0"/>
      <p:bldP spid="42030" grpId="0" animBg="1"/>
      <p:bldP spid="4203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2390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A03F2E0-6F65-424D-BB4C-E7C4A7179E2F}" type="slidenum">
              <a:rPr lang="en-US" altLang="fr-FR" sz="1000" smtClean="0">
                <a:solidFill>
                  <a:srgbClr val="292929"/>
                </a:solidFill>
                <a:latin typeface="Arial" panose="020B0604020202020204" pitchFamily="34" charset="0"/>
              </a:rPr>
              <a:pPr>
                <a:spcBef>
                  <a:spcPct val="0"/>
                </a:spcBef>
                <a:buClrTx/>
                <a:buSzTx/>
                <a:buFontTx/>
                <a:buNone/>
              </a:pPr>
              <a:t>60</a:t>
            </a:fld>
            <a:endParaRPr lang="en-US" altLang="fr-FR" sz="1000" smtClean="0">
              <a:solidFill>
                <a:srgbClr val="292929"/>
              </a:solidFill>
              <a:latin typeface="Arial" panose="020B0604020202020204" pitchFamily="34" charset="0"/>
            </a:endParaRPr>
          </a:p>
        </p:txBody>
      </p:sp>
      <p:sp>
        <p:nvSpPr>
          <p:cNvPr id="123908" name="Rectangle 3"/>
          <p:cNvSpPr>
            <a:spLocks noChangeArrowheads="1"/>
          </p:cNvSpPr>
          <p:nvPr/>
        </p:nvSpPr>
        <p:spPr bwMode="auto">
          <a:xfrm>
            <a:off x="762000" y="1676400"/>
            <a:ext cx="7924800" cy="286226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La constante de temps thermique varie selon le coefficient de transfert de chaleur α qui dépend de la vitesse de l'air de refroidissement. Les machines qui sont auto-ventilées auront une constante de temps de refroidissement plus grande que la constante de temps d’échauffement. D'autre part les machines avec système de ventilation forcée auront une constantes de temps de refroidissement et d’échauffement plus ou moins égales. Il convient de noter que la constante de temps thermique des machines électriques sont généralement beaucoup plus grande que leurs constantes de temps mécaniques ou électriques. Elle peut varier de quelques minutes à quelques heures.</a:t>
            </a:r>
          </a:p>
        </p:txBody>
      </p:sp>
      <p:sp>
        <p:nvSpPr>
          <p:cNvPr id="5"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p>
        </p:txBody>
      </p:sp>
      <p:sp>
        <p:nvSpPr>
          <p:cNvPr id="123910"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3911" name="Text Box 4"/>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2595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14F6481-7457-4B7D-954B-C63001BF36AB}" type="slidenum">
              <a:rPr lang="en-US" altLang="fr-FR" sz="1000" smtClean="0">
                <a:solidFill>
                  <a:srgbClr val="292929"/>
                </a:solidFill>
                <a:latin typeface="Arial" panose="020B0604020202020204" pitchFamily="34" charset="0"/>
              </a:rPr>
              <a:pPr>
                <a:spcBef>
                  <a:spcPct val="0"/>
                </a:spcBef>
                <a:buClrTx/>
                <a:buSzTx/>
                <a:buFontTx/>
                <a:buNone/>
              </a:pPr>
              <a:t>61</a:t>
            </a:fld>
            <a:endParaRPr lang="en-US" altLang="fr-FR" sz="1000" smtClean="0">
              <a:solidFill>
                <a:srgbClr val="292929"/>
              </a:solidFill>
              <a:latin typeface="Arial" panose="020B0604020202020204" pitchFamily="34" charset="0"/>
            </a:endParaRPr>
          </a:p>
        </p:txBody>
      </p:sp>
      <p:sp>
        <p:nvSpPr>
          <p:cNvPr id="4"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125957"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5958" name="Text Box 4"/>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
        <p:nvSpPr>
          <p:cNvPr id="78855" name="Text Box 5"/>
          <p:cNvSpPr txBox="1">
            <a:spLocks noChangeArrowheads="1"/>
          </p:cNvSpPr>
          <p:nvPr/>
        </p:nvSpPr>
        <p:spPr bwMode="auto">
          <a:xfrm>
            <a:off x="914400" y="1371600"/>
            <a:ext cx="7391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La durée de la surcharge varie selon les modes de fonctionnement :</a:t>
            </a:r>
            <a:endParaRPr lang="en-US" altLang="fr-FR" sz="1800">
              <a:latin typeface="Arial" panose="020B0604020202020204" pitchFamily="34" charset="0"/>
            </a:endParaRPr>
          </a:p>
        </p:txBody>
      </p:sp>
      <p:sp>
        <p:nvSpPr>
          <p:cNvPr id="78856" name="Text Box 6"/>
          <p:cNvSpPr txBox="1">
            <a:spLocks noChangeArrowheads="1"/>
          </p:cNvSpPr>
          <p:nvPr/>
        </p:nvSpPr>
        <p:spPr bwMode="auto">
          <a:xfrm>
            <a:off x="2743200" y="2209800"/>
            <a:ext cx="4057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 Service continu</a:t>
            </a:r>
          </a:p>
          <a:p>
            <a:pPr eaLnBrk="1" hangingPunct="1">
              <a:spcBef>
                <a:spcPct val="0"/>
              </a:spcBef>
              <a:buClrTx/>
              <a:buSzTx/>
              <a:buFontTx/>
              <a:buNone/>
            </a:pPr>
            <a:r>
              <a:rPr lang="en-US" altLang="fr-FR" sz="1800" b="1">
                <a:latin typeface="Arial" panose="020B0604020202020204" pitchFamily="34" charset="0"/>
              </a:rPr>
              <a:t> Service intermittent à courte durée</a:t>
            </a:r>
          </a:p>
          <a:p>
            <a:pPr eaLnBrk="1" hangingPunct="1">
              <a:spcBef>
                <a:spcPct val="0"/>
              </a:spcBef>
              <a:buClrTx/>
              <a:buSzTx/>
              <a:buFontTx/>
              <a:buNone/>
            </a:pPr>
            <a:r>
              <a:rPr lang="en-US" altLang="fr-FR" sz="1800" b="1">
                <a:latin typeface="Arial" panose="020B0604020202020204" pitchFamily="34" charset="0"/>
              </a:rPr>
              <a:t>service périodique intermittent </a:t>
            </a:r>
          </a:p>
        </p:txBody>
      </p:sp>
      <p:sp>
        <p:nvSpPr>
          <p:cNvPr id="78857" name="Text Box 13"/>
          <p:cNvSpPr txBox="1">
            <a:spLocks noChangeArrowheads="1"/>
          </p:cNvSpPr>
          <p:nvPr/>
        </p:nvSpPr>
        <p:spPr bwMode="auto">
          <a:xfrm>
            <a:off x="762000" y="3657600"/>
            <a:ext cx="1954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 </a:t>
            </a:r>
            <a:r>
              <a:rPr lang="en-US" altLang="fr-FR" sz="1800" b="1">
                <a:latin typeface="Arial" panose="020B0604020202020204" pitchFamily="34" charset="0"/>
              </a:rPr>
              <a:t>Service continu</a:t>
            </a:r>
          </a:p>
        </p:txBody>
      </p:sp>
      <p:sp>
        <p:nvSpPr>
          <p:cNvPr id="78858" name="Rectangle 10"/>
          <p:cNvSpPr>
            <a:spLocks noChangeArrowheads="1"/>
          </p:cNvSpPr>
          <p:nvPr/>
        </p:nvSpPr>
        <p:spPr bwMode="auto">
          <a:xfrm>
            <a:off x="1143000" y="4343400"/>
            <a:ext cx="7162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Le moteur est chargée en permanence. Bien évidemment le moteur doit avoir une puissance nominale au moins égale à la charge continue.(Exemples: pompes centrifuges, ventilateurs, convoyeurs, papeteries, treuil…)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8855"/>
                                        </p:tgtEl>
                                        <p:attrNameLst>
                                          <p:attrName>style.visibility</p:attrName>
                                        </p:attrNameLst>
                                      </p:cBhvr>
                                      <p:to>
                                        <p:strVal val="visible"/>
                                      </p:to>
                                    </p:set>
                                    <p:animEffect transition="in" filter="checkerboard(across)">
                                      <p:cBhvr>
                                        <p:cTn id="7" dur="500"/>
                                        <p:tgtEl>
                                          <p:spTgt spid="788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8856"/>
                                        </p:tgtEl>
                                        <p:attrNameLst>
                                          <p:attrName>style.visibility</p:attrName>
                                        </p:attrNameLst>
                                      </p:cBhvr>
                                      <p:to>
                                        <p:strVal val="visible"/>
                                      </p:to>
                                    </p:set>
                                    <p:animEffect transition="in" filter="checkerboard(across)">
                                      <p:cBhvr>
                                        <p:cTn id="12" dur="500"/>
                                        <p:tgtEl>
                                          <p:spTgt spid="788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8857"/>
                                        </p:tgtEl>
                                        <p:attrNameLst>
                                          <p:attrName>style.visibility</p:attrName>
                                        </p:attrNameLst>
                                      </p:cBhvr>
                                      <p:to>
                                        <p:strVal val="visible"/>
                                      </p:to>
                                    </p:set>
                                    <p:animEffect transition="in" filter="checkerboard(across)">
                                      <p:cBhvr>
                                        <p:cTn id="17" dur="500"/>
                                        <p:tgtEl>
                                          <p:spTgt spid="788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8858"/>
                                        </p:tgtEl>
                                        <p:attrNameLst>
                                          <p:attrName>style.visibility</p:attrName>
                                        </p:attrNameLst>
                                      </p:cBhvr>
                                      <p:to>
                                        <p:strVal val="visible"/>
                                      </p:to>
                                    </p:set>
                                    <p:animEffect transition="in" filter="checkerboard(across)">
                                      <p:cBhvr>
                                        <p:cTn id="22" dur="500"/>
                                        <p:tgtEl>
                                          <p:spTgt spid="78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5" grpId="0"/>
      <p:bldP spid="78856" grpId="0"/>
      <p:bldP spid="78857" grpId="0"/>
      <p:bldP spid="7885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28003" name="Espace réservé du numéro de diapositive 3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45A18387-E73D-4991-BE4D-75EE98C93D6E}" type="slidenum">
              <a:rPr lang="en-US" altLang="fr-FR" sz="1000" smtClean="0">
                <a:solidFill>
                  <a:srgbClr val="292929"/>
                </a:solidFill>
                <a:latin typeface="Arial" panose="020B0604020202020204" pitchFamily="34" charset="0"/>
              </a:rPr>
              <a:pPr>
                <a:spcBef>
                  <a:spcPct val="0"/>
                </a:spcBef>
                <a:buClrTx/>
                <a:buSzTx/>
                <a:buFontTx/>
                <a:buNone/>
              </a:pPr>
              <a:t>62</a:t>
            </a:fld>
            <a:endParaRPr lang="en-US" altLang="fr-FR" sz="1000" smtClean="0">
              <a:solidFill>
                <a:srgbClr val="292929"/>
              </a:solidFill>
              <a:latin typeface="Arial" panose="020B0604020202020204" pitchFamily="34" charset="0"/>
            </a:endParaRPr>
          </a:p>
        </p:txBody>
      </p:sp>
      <p:sp>
        <p:nvSpPr>
          <p:cNvPr id="128004"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8005" name="Text Box 4"/>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grpSp>
        <p:nvGrpSpPr>
          <p:cNvPr id="2" name="Group 18"/>
          <p:cNvGrpSpPr>
            <a:grpSpLocks/>
          </p:cNvGrpSpPr>
          <p:nvPr/>
        </p:nvGrpSpPr>
        <p:grpSpPr bwMode="auto">
          <a:xfrm>
            <a:off x="838200" y="1447800"/>
            <a:ext cx="8183563" cy="2398713"/>
            <a:chOff x="528" y="1152"/>
            <a:chExt cx="5155" cy="1511"/>
          </a:xfrm>
        </p:grpSpPr>
        <p:sp>
          <p:nvSpPr>
            <p:cNvPr id="128032" name="Text Box 13"/>
            <p:cNvSpPr txBox="1">
              <a:spLocks noChangeArrowheads="1"/>
            </p:cNvSpPr>
            <p:nvPr/>
          </p:nvSpPr>
          <p:spPr bwMode="auto">
            <a:xfrm>
              <a:off x="528" y="1152"/>
              <a:ext cx="123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 </a:t>
              </a:r>
              <a:r>
                <a:rPr lang="en-US" altLang="fr-FR" sz="1800" b="1">
                  <a:latin typeface="Arial" panose="020B0604020202020204" pitchFamily="34" charset="0"/>
                </a:rPr>
                <a:t>Service continu</a:t>
              </a:r>
            </a:p>
          </p:txBody>
        </p:sp>
        <p:sp>
          <p:nvSpPr>
            <p:cNvPr id="128033" name="Text Box 14"/>
            <p:cNvSpPr txBox="1">
              <a:spLocks noChangeArrowheads="1"/>
            </p:cNvSpPr>
            <p:nvPr/>
          </p:nvSpPr>
          <p:spPr bwMode="auto">
            <a:xfrm>
              <a:off x="724" y="1680"/>
              <a:ext cx="42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Couple de charge est constant sur plusieurs périodes étendues</a:t>
              </a:r>
              <a:endParaRPr lang="en-US" altLang="fr-FR" sz="1800">
                <a:latin typeface="Arial" panose="020B0604020202020204" pitchFamily="34" charset="0"/>
              </a:endParaRPr>
            </a:p>
          </p:txBody>
        </p:sp>
        <p:sp>
          <p:nvSpPr>
            <p:cNvPr id="128034" name="Text Box 15"/>
            <p:cNvSpPr txBox="1">
              <a:spLocks noChangeArrowheads="1"/>
            </p:cNvSpPr>
            <p:nvPr/>
          </p:nvSpPr>
          <p:spPr bwMode="auto">
            <a:xfrm>
              <a:off x="744" y="1976"/>
              <a:ext cx="213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Température du régime atteinte</a:t>
              </a:r>
              <a:endParaRPr lang="en-US" altLang="fr-FR" sz="1800">
                <a:latin typeface="Arial" panose="020B0604020202020204" pitchFamily="34" charset="0"/>
              </a:endParaRPr>
            </a:p>
          </p:txBody>
        </p:sp>
        <p:sp>
          <p:nvSpPr>
            <p:cNvPr id="128035" name="Text Box 16"/>
            <p:cNvSpPr txBox="1">
              <a:spLocks noChangeArrowheads="1"/>
            </p:cNvSpPr>
            <p:nvPr/>
          </p:nvSpPr>
          <p:spPr bwMode="auto">
            <a:xfrm>
              <a:off x="720" y="2256"/>
              <a:ext cx="496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Puissance nominale du moteur choisi est égale ou supérieure à la charge </a:t>
              </a:r>
            </a:p>
            <a:p>
              <a:pPr eaLnBrk="1" hangingPunct="1">
                <a:spcBef>
                  <a:spcPct val="0"/>
                </a:spcBef>
                <a:buClrTx/>
                <a:buSzTx/>
                <a:buFontTx/>
                <a:buNone/>
              </a:pPr>
              <a:r>
                <a:rPr lang="fr-FR" altLang="fr-FR" sz="1800">
                  <a:latin typeface="Arial" panose="020B0604020202020204" pitchFamily="34" charset="0"/>
                </a:rPr>
                <a:t>continue</a:t>
              </a:r>
              <a:endParaRPr lang="en-US" altLang="fr-FR" sz="1800">
                <a:latin typeface="Arial" panose="020B0604020202020204" pitchFamily="34" charset="0"/>
              </a:endParaRPr>
            </a:p>
          </p:txBody>
        </p:sp>
      </p:grpSp>
      <p:sp>
        <p:nvSpPr>
          <p:cNvPr id="128007" name="Text Box 35"/>
          <p:cNvSpPr txBox="1">
            <a:spLocks noChangeArrowheads="1"/>
          </p:cNvSpPr>
          <p:nvPr/>
        </p:nvSpPr>
        <p:spPr bwMode="auto">
          <a:xfrm>
            <a:off x="3194050" y="451008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3046" name="Line 38"/>
          <p:cNvSpPr>
            <a:spLocks noChangeShapeType="1"/>
          </p:cNvSpPr>
          <p:nvPr/>
        </p:nvSpPr>
        <p:spPr bwMode="auto">
          <a:xfrm flipV="1">
            <a:off x="2295525" y="4473575"/>
            <a:ext cx="68580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43047" name="Line 39"/>
          <p:cNvSpPr>
            <a:spLocks noChangeShapeType="1"/>
          </p:cNvSpPr>
          <p:nvPr/>
        </p:nvSpPr>
        <p:spPr bwMode="auto">
          <a:xfrm flipH="1">
            <a:off x="2295525" y="4473575"/>
            <a:ext cx="2819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aphicFrame>
        <p:nvGraphicFramePr>
          <p:cNvPr id="43048" name="Object 2"/>
          <p:cNvGraphicFramePr>
            <a:graphicFrameLocks noChangeAspect="1"/>
          </p:cNvGraphicFramePr>
          <p:nvPr/>
        </p:nvGraphicFramePr>
        <p:xfrm>
          <a:off x="1914525" y="4168775"/>
          <a:ext cx="306388" cy="234950"/>
        </p:xfrm>
        <a:graphic>
          <a:graphicData uri="http://schemas.openxmlformats.org/presentationml/2006/ole">
            <mc:AlternateContent xmlns:mc="http://schemas.openxmlformats.org/markup-compatibility/2006">
              <mc:Choice xmlns:v="urn:schemas-microsoft-com:vml" Requires="v">
                <p:oleObj spid="_x0000_s128068" name="Equation" r:id="rId4" imgW="215619" imgH="164885" progId="Equation.3">
                  <p:embed/>
                </p:oleObj>
              </mc:Choice>
              <mc:Fallback>
                <p:oleObj name="Equation" r:id="rId4" imgW="215619" imgH="164885"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4525" y="4168775"/>
                        <a:ext cx="306388" cy="234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56"/>
          <p:cNvGrpSpPr>
            <a:grpSpLocks/>
          </p:cNvGrpSpPr>
          <p:nvPr/>
        </p:nvGrpSpPr>
        <p:grpSpPr bwMode="auto">
          <a:xfrm>
            <a:off x="1612900" y="4244975"/>
            <a:ext cx="4495800" cy="2155825"/>
            <a:chOff x="1008" y="2530"/>
            <a:chExt cx="2832" cy="1358"/>
          </a:xfrm>
        </p:grpSpPr>
        <p:sp>
          <p:nvSpPr>
            <p:cNvPr id="128029" name="Line 36"/>
            <p:cNvSpPr>
              <a:spLocks noChangeShapeType="1"/>
            </p:cNvSpPr>
            <p:nvPr/>
          </p:nvSpPr>
          <p:spPr bwMode="auto">
            <a:xfrm flipV="1">
              <a:off x="1438" y="2530"/>
              <a:ext cx="0" cy="124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28030" name="Line 37"/>
            <p:cNvSpPr>
              <a:spLocks noChangeAspect="1" noChangeShapeType="1"/>
            </p:cNvSpPr>
            <p:nvPr/>
          </p:nvSpPr>
          <p:spPr bwMode="auto">
            <a:xfrm>
              <a:off x="1008" y="3778"/>
              <a:ext cx="26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28031" name="Text Box 41"/>
            <p:cNvSpPr txBox="1">
              <a:spLocks noChangeArrowheads="1"/>
            </p:cNvSpPr>
            <p:nvPr/>
          </p:nvSpPr>
          <p:spPr bwMode="auto">
            <a:xfrm>
              <a:off x="3684" y="3657"/>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a:t>
              </a:r>
            </a:p>
          </p:txBody>
        </p:sp>
      </p:grpSp>
      <p:sp>
        <p:nvSpPr>
          <p:cNvPr id="43050" name="Freeform 42"/>
          <p:cNvSpPr>
            <a:spLocks/>
          </p:cNvSpPr>
          <p:nvPr/>
        </p:nvSpPr>
        <p:spPr bwMode="auto">
          <a:xfrm>
            <a:off x="2295525" y="4497388"/>
            <a:ext cx="3200400" cy="1728787"/>
          </a:xfrm>
          <a:custGeom>
            <a:avLst/>
            <a:gdLst>
              <a:gd name="T0" fmla="*/ 0 w 2144"/>
              <a:gd name="T1" fmla="*/ 2147483646 h 1089"/>
              <a:gd name="T2" fmla="*/ 2147483646 w 2144"/>
              <a:gd name="T3" fmla="*/ 2147483646 h 1089"/>
              <a:gd name="T4" fmla="*/ 2147483646 w 2144"/>
              <a:gd name="T5" fmla="*/ 2147483646 h 1089"/>
              <a:gd name="T6" fmla="*/ 2147483646 w 2144"/>
              <a:gd name="T7" fmla="*/ 2147483646 h 1089"/>
              <a:gd name="T8" fmla="*/ 2147483646 w 2144"/>
              <a:gd name="T9" fmla="*/ 2147483646 h 1089"/>
              <a:gd name="T10" fmla="*/ 2147483646 w 2144"/>
              <a:gd name="T11" fmla="*/ 2147483646 h 1089"/>
              <a:gd name="T12" fmla="*/ 2147483646 w 2144"/>
              <a:gd name="T13" fmla="*/ 2147483646 h 1089"/>
              <a:gd name="T14" fmla="*/ 2147483646 w 2144"/>
              <a:gd name="T15" fmla="*/ 2147483646 h 1089"/>
              <a:gd name="T16" fmla="*/ 0 60000 65536"/>
              <a:gd name="T17" fmla="*/ 0 60000 65536"/>
              <a:gd name="T18" fmla="*/ 0 60000 65536"/>
              <a:gd name="T19" fmla="*/ 0 60000 65536"/>
              <a:gd name="T20" fmla="*/ 0 60000 65536"/>
              <a:gd name="T21" fmla="*/ 0 60000 65536"/>
              <a:gd name="T22" fmla="*/ 0 60000 65536"/>
              <a:gd name="T23" fmla="*/ 0 60000 65536"/>
              <a:gd name="T24" fmla="*/ 0 w 2144"/>
              <a:gd name="T25" fmla="*/ 0 h 1089"/>
              <a:gd name="T26" fmla="*/ 2144 w 2144"/>
              <a:gd name="T27" fmla="*/ 1089 h 10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44" h="1089">
                <a:moveTo>
                  <a:pt x="0" y="1089"/>
                </a:moveTo>
                <a:cubicBezTo>
                  <a:pt x="80" y="933"/>
                  <a:pt x="160" y="777"/>
                  <a:pt x="240" y="657"/>
                </a:cubicBezTo>
                <a:cubicBezTo>
                  <a:pt x="320" y="537"/>
                  <a:pt x="392" y="449"/>
                  <a:pt x="480" y="369"/>
                </a:cubicBezTo>
                <a:cubicBezTo>
                  <a:pt x="568" y="289"/>
                  <a:pt x="672" y="225"/>
                  <a:pt x="768" y="177"/>
                </a:cubicBezTo>
                <a:cubicBezTo>
                  <a:pt x="864" y="129"/>
                  <a:pt x="952" y="105"/>
                  <a:pt x="1056" y="81"/>
                </a:cubicBezTo>
                <a:cubicBezTo>
                  <a:pt x="1160" y="57"/>
                  <a:pt x="1248" y="46"/>
                  <a:pt x="1392" y="33"/>
                </a:cubicBezTo>
                <a:cubicBezTo>
                  <a:pt x="1536" y="20"/>
                  <a:pt x="1795" y="10"/>
                  <a:pt x="1920" y="5"/>
                </a:cubicBezTo>
                <a:cubicBezTo>
                  <a:pt x="2045" y="0"/>
                  <a:pt x="2094" y="0"/>
                  <a:pt x="2144" y="1"/>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nvGrpSpPr>
          <p:cNvPr id="4" name="Group 43"/>
          <p:cNvGrpSpPr>
            <a:grpSpLocks/>
          </p:cNvGrpSpPr>
          <p:nvPr/>
        </p:nvGrpSpPr>
        <p:grpSpPr bwMode="auto">
          <a:xfrm>
            <a:off x="3594100" y="3990975"/>
            <a:ext cx="569913" cy="479425"/>
            <a:chOff x="1824" y="706"/>
            <a:chExt cx="359" cy="302"/>
          </a:xfrm>
        </p:grpSpPr>
        <p:graphicFrame>
          <p:nvGraphicFramePr>
            <p:cNvPr id="128027" name="Object 3"/>
            <p:cNvGraphicFramePr>
              <a:graphicFrameLocks noChangeAspect="1"/>
            </p:cNvGraphicFramePr>
            <p:nvPr/>
          </p:nvGraphicFramePr>
          <p:xfrm>
            <a:off x="2005" y="706"/>
            <a:ext cx="178" cy="270"/>
          </p:xfrm>
          <a:graphic>
            <a:graphicData uri="http://schemas.openxmlformats.org/presentationml/2006/ole">
              <mc:AlternateContent xmlns:mc="http://schemas.openxmlformats.org/markup-compatibility/2006">
                <mc:Choice xmlns:v="urn:schemas-microsoft-com:vml" Requires="v">
                  <p:oleObj spid="_x0000_s128069" name="Équation" r:id="rId6" imgW="291973" imgH="444307" progId="Equation.3">
                    <p:embed/>
                  </p:oleObj>
                </mc:Choice>
                <mc:Fallback>
                  <p:oleObj name="Équation" r:id="rId6" imgW="291973" imgH="444307"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5" y="706"/>
                          <a:ext cx="178"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28" name="Line 45"/>
            <p:cNvSpPr>
              <a:spLocks noChangeShapeType="1"/>
            </p:cNvSpPr>
            <p:nvPr/>
          </p:nvSpPr>
          <p:spPr bwMode="auto">
            <a:xfrm flipH="1">
              <a:off x="1824" y="864"/>
              <a:ext cx="19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5" name="Group 48"/>
          <p:cNvGrpSpPr>
            <a:grpSpLocks/>
          </p:cNvGrpSpPr>
          <p:nvPr/>
        </p:nvGrpSpPr>
        <p:grpSpPr bwMode="auto">
          <a:xfrm>
            <a:off x="2832100" y="4495800"/>
            <a:ext cx="317500" cy="2057400"/>
            <a:chOff x="1776" y="2688"/>
            <a:chExt cx="200" cy="1296"/>
          </a:xfrm>
        </p:grpSpPr>
        <p:sp>
          <p:nvSpPr>
            <p:cNvPr id="128025" name="Line 46"/>
            <p:cNvSpPr>
              <a:spLocks noChangeShapeType="1"/>
            </p:cNvSpPr>
            <p:nvPr/>
          </p:nvSpPr>
          <p:spPr bwMode="auto">
            <a:xfrm>
              <a:off x="1872" y="2688"/>
              <a:ext cx="0" cy="110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28026" name="Text Box 47"/>
            <p:cNvSpPr txBox="1">
              <a:spLocks noChangeArrowheads="1"/>
            </p:cNvSpPr>
            <p:nvPr/>
          </p:nvSpPr>
          <p:spPr bwMode="auto">
            <a:xfrm>
              <a:off x="1776" y="369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panose="020B0604020202020204" pitchFamily="34" charset="0"/>
                  <a:sym typeface="Symbol" panose="05050102010706020507" pitchFamily="18" charset="2"/>
                </a:rPr>
                <a:t></a:t>
              </a:r>
            </a:p>
          </p:txBody>
        </p:sp>
      </p:grpSp>
      <p:grpSp>
        <p:nvGrpSpPr>
          <p:cNvPr id="6" name="Group 55"/>
          <p:cNvGrpSpPr>
            <a:grpSpLocks/>
          </p:cNvGrpSpPr>
          <p:nvPr/>
        </p:nvGrpSpPr>
        <p:grpSpPr bwMode="auto">
          <a:xfrm>
            <a:off x="1778000" y="4419600"/>
            <a:ext cx="3352800" cy="1803400"/>
            <a:chOff x="1112" y="2640"/>
            <a:chExt cx="2112" cy="1136"/>
          </a:xfrm>
        </p:grpSpPr>
        <p:grpSp>
          <p:nvGrpSpPr>
            <p:cNvPr id="128020" name="Group 53"/>
            <p:cNvGrpSpPr>
              <a:grpSpLocks/>
            </p:cNvGrpSpPr>
            <p:nvPr/>
          </p:nvGrpSpPr>
          <p:grpSpPr bwMode="auto">
            <a:xfrm>
              <a:off x="1112" y="2720"/>
              <a:ext cx="2112" cy="1056"/>
              <a:chOff x="2784" y="2544"/>
              <a:chExt cx="2112" cy="1056"/>
            </a:xfrm>
          </p:grpSpPr>
          <p:sp>
            <p:nvSpPr>
              <p:cNvPr id="128022" name="Line 50"/>
              <p:cNvSpPr>
                <a:spLocks noChangeShapeType="1"/>
              </p:cNvSpPr>
              <p:nvPr/>
            </p:nvSpPr>
            <p:spPr bwMode="auto">
              <a:xfrm>
                <a:off x="2784" y="3600"/>
                <a:ext cx="336" cy="0"/>
              </a:xfrm>
              <a:prstGeom prst="line">
                <a:avLst/>
              </a:prstGeom>
              <a:noFill/>
              <a:ln w="28575">
                <a:solidFill>
                  <a:srgbClr val="00CC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8023" name="Line 51"/>
              <p:cNvSpPr>
                <a:spLocks noChangeShapeType="1"/>
              </p:cNvSpPr>
              <p:nvPr/>
            </p:nvSpPr>
            <p:spPr bwMode="auto">
              <a:xfrm flipV="1">
                <a:off x="3120" y="2544"/>
                <a:ext cx="0" cy="1056"/>
              </a:xfrm>
              <a:prstGeom prst="line">
                <a:avLst/>
              </a:prstGeom>
              <a:noFill/>
              <a:ln w="28575">
                <a:solidFill>
                  <a:srgbClr val="00CC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8024" name="Line 52"/>
              <p:cNvSpPr>
                <a:spLocks noChangeShapeType="1"/>
              </p:cNvSpPr>
              <p:nvPr/>
            </p:nvSpPr>
            <p:spPr bwMode="auto">
              <a:xfrm>
                <a:off x="3120" y="2544"/>
                <a:ext cx="1776" cy="0"/>
              </a:xfrm>
              <a:prstGeom prst="line">
                <a:avLst/>
              </a:prstGeom>
              <a:noFill/>
              <a:ln w="28575">
                <a:solidFill>
                  <a:srgbClr val="00CC00"/>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28021" name="Text Box 54"/>
            <p:cNvSpPr txBox="1">
              <a:spLocks noChangeArrowheads="1"/>
            </p:cNvSpPr>
            <p:nvPr/>
          </p:nvSpPr>
          <p:spPr bwMode="auto">
            <a:xfrm>
              <a:off x="1152" y="2640"/>
              <a:ext cx="30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p</a:t>
              </a:r>
              <a:r>
                <a:rPr lang="en-US" altLang="fr-FR" sz="1800" baseline="-25000">
                  <a:latin typeface="Arial" panose="020B0604020202020204" pitchFamily="34" charset="0"/>
                </a:rPr>
                <a:t>1n</a:t>
              </a:r>
            </a:p>
          </p:txBody>
        </p:sp>
      </p:grpSp>
      <p:grpSp>
        <p:nvGrpSpPr>
          <p:cNvPr id="8" name="Group 59"/>
          <p:cNvGrpSpPr>
            <a:grpSpLocks/>
          </p:cNvGrpSpPr>
          <p:nvPr/>
        </p:nvGrpSpPr>
        <p:grpSpPr bwMode="auto">
          <a:xfrm>
            <a:off x="4419600" y="4038600"/>
            <a:ext cx="3097213" cy="495300"/>
            <a:chOff x="2776" y="2400"/>
            <a:chExt cx="1951" cy="312"/>
          </a:xfrm>
        </p:grpSpPr>
        <p:sp>
          <p:nvSpPr>
            <p:cNvPr id="128018" name="Text Box 57"/>
            <p:cNvSpPr txBox="1">
              <a:spLocks noChangeArrowheads="1"/>
            </p:cNvSpPr>
            <p:nvPr/>
          </p:nvSpPr>
          <p:spPr bwMode="auto">
            <a:xfrm>
              <a:off x="2976" y="2400"/>
              <a:ext cx="175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i="1">
                  <a:latin typeface="Arial" panose="020B0604020202020204" pitchFamily="34" charset="0"/>
                </a:rPr>
                <a:t>pertes dues à la charge continue</a:t>
              </a:r>
            </a:p>
          </p:txBody>
        </p:sp>
        <p:sp>
          <p:nvSpPr>
            <p:cNvPr id="128019" name="Line 58"/>
            <p:cNvSpPr>
              <a:spLocks noChangeShapeType="1"/>
            </p:cNvSpPr>
            <p:nvPr/>
          </p:nvSpPr>
          <p:spPr bwMode="auto">
            <a:xfrm flipH="1">
              <a:off x="2776" y="2568"/>
              <a:ext cx="288"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38" name="Espace réservé du pied de page 37"/>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1000"/>
                                        <p:tgtEl>
                                          <p:spTgt spid="6"/>
                                        </p:tgtEl>
                                      </p:cBhvr>
                                    </p:animEffect>
                                  </p:childTnLst>
                                </p:cTn>
                              </p:par>
                            </p:childTnLst>
                          </p:cTn>
                        </p:par>
                        <p:par>
                          <p:cTn id="18" fill="hold" nodeType="afterGroup">
                            <p:stCondLst>
                              <p:cond delay="1000"/>
                            </p:stCondLst>
                            <p:childTnLst>
                              <p:par>
                                <p:cTn id="19" presetID="10"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xit" presetSubtype="0" fill="hold" nodeType="clickEffect">
                                  <p:stCondLst>
                                    <p:cond delay="0"/>
                                  </p:stCondLst>
                                  <p:childTnLst>
                                    <p:animEffect transition="out" filter="fade">
                                      <p:cBhvr>
                                        <p:cTn id="25" dur="1000"/>
                                        <p:tgtEl>
                                          <p:spTgt spid="6"/>
                                        </p:tgtEl>
                                      </p:cBhvr>
                                    </p:animEffect>
                                    <p:set>
                                      <p:cBhvr>
                                        <p:cTn id="26" dur="1" fill="hold">
                                          <p:stCondLst>
                                            <p:cond delay="999"/>
                                          </p:stCondLst>
                                        </p:cTn>
                                        <p:tgtEl>
                                          <p:spTgt spid="6"/>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1000"/>
                                        <p:tgtEl>
                                          <p:spTgt spid="8"/>
                                        </p:tgtEl>
                                      </p:cBhvr>
                                    </p:animEffect>
                                    <p:set>
                                      <p:cBhvr>
                                        <p:cTn id="29" dur="1" fill="hold">
                                          <p:stCondLst>
                                            <p:cond delay="999"/>
                                          </p:stCondLst>
                                        </p:cTn>
                                        <p:tgtEl>
                                          <p:spTgt spid="8"/>
                                        </p:tgtEl>
                                        <p:attrNameLst>
                                          <p:attrName>style.visibility</p:attrName>
                                        </p:attrNameLst>
                                      </p:cBhvr>
                                      <p:to>
                                        <p:strVal val="hidden"/>
                                      </p:to>
                                    </p:set>
                                  </p:childTnLst>
                                </p:cTn>
                              </p:par>
                            </p:childTnLst>
                          </p:cTn>
                        </p:par>
                        <p:par>
                          <p:cTn id="30" fill="hold" nodeType="afterGroup">
                            <p:stCondLst>
                              <p:cond delay="1000"/>
                            </p:stCondLst>
                            <p:childTnLst>
                              <p:par>
                                <p:cTn id="31" presetID="10" presetClass="entr" presetSubtype="0" fill="hold" nodeType="afterEffect">
                                  <p:stCondLst>
                                    <p:cond delay="0"/>
                                  </p:stCondLst>
                                  <p:childTnLst>
                                    <p:set>
                                      <p:cBhvr>
                                        <p:cTn id="32" dur="1" fill="hold">
                                          <p:stCondLst>
                                            <p:cond delay="0"/>
                                          </p:stCondLst>
                                        </p:cTn>
                                        <p:tgtEl>
                                          <p:spTgt spid="43048"/>
                                        </p:tgtEl>
                                        <p:attrNameLst>
                                          <p:attrName>style.visibility</p:attrName>
                                        </p:attrNameLst>
                                      </p:cBhvr>
                                      <p:to>
                                        <p:strVal val="visible"/>
                                      </p:to>
                                    </p:set>
                                    <p:animEffect transition="in" filter="fade">
                                      <p:cBhvr>
                                        <p:cTn id="33" dur="2000"/>
                                        <p:tgtEl>
                                          <p:spTgt spid="43048"/>
                                        </p:tgtEl>
                                      </p:cBhvr>
                                    </p:animEffect>
                                  </p:childTnLst>
                                </p:cTn>
                              </p:par>
                            </p:childTnLst>
                          </p:cTn>
                        </p:par>
                        <p:par>
                          <p:cTn id="34" fill="hold" nodeType="afterGroup">
                            <p:stCondLst>
                              <p:cond delay="3000"/>
                            </p:stCondLst>
                            <p:childTnLst>
                              <p:par>
                                <p:cTn id="35" presetID="22" presetClass="entr" presetSubtype="4" fill="hold" grpId="0" nodeType="afterEffect">
                                  <p:stCondLst>
                                    <p:cond delay="0"/>
                                  </p:stCondLst>
                                  <p:childTnLst>
                                    <p:set>
                                      <p:cBhvr>
                                        <p:cTn id="36" dur="1" fill="hold">
                                          <p:stCondLst>
                                            <p:cond delay="0"/>
                                          </p:stCondLst>
                                        </p:cTn>
                                        <p:tgtEl>
                                          <p:spTgt spid="43050"/>
                                        </p:tgtEl>
                                        <p:attrNameLst>
                                          <p:attrName>style.visibility</p:attrName>
                                        </p:attrNameLst>
                                      </p:cBhvr>
                                      <p:to>
                                        <p:strVal val="visible"/>
                                      </p:to>
                                    </p:set>
                                    <p:animEffect transition="in" filter="wipe(down)">
                                      <p:cBhvr>
                                        <p:cTn id="37" dur="1000"/>
                                        <p:tgtEl>
                                          <p:spTgt spid="43050"/>
                                        </p:tgtEl>
                                      </p:cBhvr>
                                    </p:animEffect>
                                  </p:childTnLst>
                                </p:cTn>
                              </p:par>
                            </p:childTnLst>
                          </p:cTn>
                        </p:par>
                        <p:par>
                          <p:cTn id="38" fill="hold" nodeType="afterGroup">
                            <p:stCondLst>
                              <p:cond delay="4000"/>
                            </p:stCondLst>
                            <p:childTnLst>
                              <p:par>
                                <p:cTn id="39" presetID="22" presetClass="entr" presetSubtype="8" fill="hold" grpId="0" nodeType="afterEffect">
                                  <p:stCondLst>
                                    <p:cond delay="0"/>
                                  </p:stCondLst>
                                  <p:childTnLst>
                                    <p:set>
                                      <p:cBhvr>
                                        <p:cTn id="40" dur="1" fill="hold">
                                          <p:stCondLst>
                                            <p:cond delay="0"/>
                                          </p:stCondLst>
                                        </p:cTn>
                                        <p:tgtEl>
                                          <p:spTgt spid="43047"/>
                                        </p:tgtEl>
                                        <p:attrNameLst>
                                          <p:attrName>style.visibility</p:attrName>
                                        </p:attrNameLst>
                                      </p:cBhvr>
                                      <p:to>
                                        <p:strVal val="visible"/>
                                      </p:to>
                                    </p:set>
                                    <p:animEffect transition="in" filter="wipe(left)">
                                      <p:cBhvr>
                                        <p:cTn id="41" dur="1000"/>
                                        <p:tgtEl>
                                          <p:spTgt spid="43047"/>
                                        </p:tgtEl>
                                      </p:cBhvr>
                                    </p:animEffect>
                                  </p:childTnLst>
                                </p:cTn>
                              </p:par>
                            </p:childTnLst>
                          </p:cTn>
                        </p:par>
                        <p:par>
                          <p:cTn id="42" fill="hold" nodeType="afterGroup">
                            <p:stCondLst>
                              <p:cond delay="5000"/>
                            </p:stCondLst>
                            <p:childTnLst>
                              <p:par>
                                <p:cTn id="43" presetID="10" presetClass="entr" presetSubtype="0" fill="hold" nodeType="after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1000"/>
                                        <p:tgtEl>
                                          <p:spTgt spid="4"/>
                                        </p:tgtEl>
                                      </p:cBhvr>
                                    </p:animEffect>
                                  </p:childTnLst>
                                </p:cTn>
                              </p:par>
                            </p:childTnLst>
                          </p:cTn>
                        </p:par>
                        <p:par>
                          <p:cTn id="46" fill="hold" nodeType="afterGroup">
                            <p:stCondLst>
                              <p:cond delay="6000"/>
                            </p:stCondLst>
                            <p:childTnLst>
                              <p:par>
                                <p:cTn id="47" presetID="22" presetClass="entr" presetSubtype="4" fill="hold" grpId="0" nodeType="afterEffect">
                                  <p:stCondLst>
                                    <p:cond delay="0"/>
                                  </p:stCondLst>
                                  <p:childTnLst>
                                    <p:set>
                                      <p:cBhvr>
                                        <p:cTn id="48" dur="1" fill="hold">
                                          <p:stCondLst>
                                            <p:cond delay="0"/>
                                          </p:stCondLst>
                                        </p:cTn>
                                        <p:tgtEl>
                                          <p:spTgt spid="43046"/>
                                        </p:tgtEl>
                                        <p:attrNameLst>
                                          <p:attrName>style.visibility</p:attrName>
                                        </p:attrNameLst>
                                      </p:cBhvr>
                                      <p:to>
                                        <p:strVal val="visible"/>
                                      </p:to>
                                    </p:set>
                                    <p:animEffect transition="in" filter="wipe(down)">
                                      <p:cBhvr>
                                        <p:cTn id="49" dur="500"/>
                                        <p:tgtEl>
                                          <p:spTgt spid="43046"/>
                                        </p:tgtEl>
                                      </p:cBhvr>
                                    </p:animEffect>
                                  </p:childTnLst>
                                </p:cTn>
                              </p:par>
                            </p:childTnLst>
                          </p:cTn>
                        </p:par>
                        <p:par>
                          <p:cTn id="50" fill="hold" nodeType="afterGroup">
                            <p:stCondLst>
                              <p:cond delay="6500"/>
                            </p:stCondLst>
                            <p:childTnLst>
                              <p:par>
                                <p:cTn id="51" presetID="10" presetClass="entr" presetSubtype="0" fill="hold" nodeType="after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fade">
                                      <p:cBhvr>
                                        <p:cTn id="5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46" grpId="0" animBg="1"/>
      <p:bldP spid="43047" grpId="0" animBg="1"/>
      <p:bldP spid="4305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3005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A86051F-DCF8-4B45-8F0E-4C755C8BE3B4}" type="slidenum">
              <a:rPr lang="en-US" altLang="fr-FR" sz="1000" smtClean="0">
                <a:solidFill>
                  <a:srgbClr val="292929"/>
                </a:solidFill>
                <a:latin typeface="Arial" panose="020B0604020202020204" pitchFamily="34" charset="0"/>
              </a:rPr>
              <a:pPr>
                <a:spcBef>
                  <a:spcPct val="0"/>
                </a:spcBef>
                <a:buClrTx/>
                <a:buSzTx/>
                <a:buFontTx/>
                <a:buNone/>
              </a:pPr>
              <a:t>63</a:t>
            </a:fld>
            <a:endParaRPr lang="en-US" altLang="fr-FR" sz="1000" smtClean="0">
              <a:solidFill>
                <a:srgbClr val="292929"/>
              </a:solidFill>
              <a:latin typeface="Arial" panose="020B0604020202020204" pitchFamily="34" charset="0"/>
            </a:endParaRPr>
          </a:p>
        </p:txBody>
      </p:sp>
      <p:sp>
        <p:nvSpPr>
          <p:cNvPr id="79876" name="Rectangle 3"/>
          <p:cNvSpPr>
            <a:spLocks noChangeArrowheads="1"/>
          </p:cNvSpPr>
          <p:nvPr/>
        </p:nvSpPr>
        <p:spPr bwMode="auto">
          <a:xfrm>
            <a:off x="762000" y="2420938"/>
            <a:ext cx="7848600" cy="344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Le temps de fonctionnement est très inférieur à la constante de temps thermique </a:t>
            </a:r>
            <a:r>
              <a:rPr lang="el-GR" altLang="fr-FR" sz="2000" i="1">
                <a:latin typeface="Calibri" panose="020F0502020204030204" pitchFamily="34" charset="0"/>
              </a:rPr>
              <a:t>τ</a:t>
            </a:r>
            <a:r>
              <a:rPr lang="fr-FR" altLang="fr-FR" sz="1800">
                <a:latin typeface="Arial" panose="020B0604020202020204" pitchFamily="34" charset="0"/>
              </a:rPr>
              <a:t>. Le moteur se refroidit  jusqu’à la température ambiante avant que le nouveau cycle de charge soit appliqué. </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Dans ce mode de fonctionnement, le moteur est autorisé à être surchargé autant que la température maximale n'est pas dépassée. </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Toutefois, l'application d’une puissance plus élevée que la puissance nominale est conditionnée par le couple de la machine disponible. Pour les moteurs DC, c’est limitée en raison des étincelles entre balais et commutateur. Dans la machine à induction, c’est limitée par son couple pull-out (couple limite de décrochage).</a:t>
            </a:r>
          </a:p>
        </p:txBody>
      </p:sp>
      <p:sp>
        <p:nvSpPr>
          <p:cNvPr id="5"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130054"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0055" name="Text Box 4"/>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
        <p:nvSpPr>
          <p:cNvPr id="130056" name="Text Box 8"/>
          <p:cNvSpPr txBox="1">
            <a:spLocks noChangeArrowheads="1"/>
          </p:cNvSpPr>
          <p:nvPr/>
        </p:nvSpPr>
        <p:spPr bwMode="auto">
          <a:xfrm>
            <a:off x="762000" y="1524000"/>
            <a:ext cx="7540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Service intermittent à courte durée     </a:t>
            </a:r>
            <a:r>
              <a:rPr lang="en-US" altLang="fr-FR" sz="1100" b="1">
                <a:latin typeface="Arial" panose="020B0604020202020204" pitchFamily="34" charset="0"/>
              </a:rPr>
              <a:t> (intermittent: s’arrête et reprend par intervalles)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79876">
                                            <p:txEl>
                                              <p:pRg st="0" end="0"/>
                                            </p:txEl>
                                          </p:spTgt>
                                        </p:tgtEl>
                                        <p:attrNameLst>
                                          <p:attrName>style.visibility</p:attrName>
                                        </p:attrNameLst>
                                      </p:cBhvr>
                                      <p:to>
                                        <p:strVal val="visible"/>
                                      </p:to>
                                    </p:set>
                                    <p:animEffect transition="in" filter="checkerboard(across)">
                                      <p:cBhvr>
                                        <p:cTn id="7" dur="500"/>
                                        <p:tgtEl>
                                          <p:spTgt spid="7987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79876">
                                            <p:txEl>
                                              <p:pRg st="2" end="2"/>
                                            </p:txEl>
                                          </p:spTgt>
                                        </p:tgtEl>
                                        <p:attrNameLst>
                                          <p:attrName>style.visibility</p:attrName>
                                        </p:attrNameLst>
                                      </p:cBhvr>
                                      <p:to>
                                        <p:strVal val="visible"/>
                                      </p:to>
                                    </p:set>
                                    <p:animEffect transition="in" filter="checkerboard(across)">
                                      <p:cBhvr>
                                        <p:cTn id="12" dur="500"/>
                                        <p:tgtEl>
                                          <p:spTgt spid="7987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79876">
                                            <p:txEl>
                                              <p:pRg st="4" end="4"/>
                                            </p:txEl>
                                          </p:spTgt>
                                        </p:tgtEl>
                                        <p:attrNameLst>
                                          <p:attrName>style.visibility</p:attrName>
                                        </p:attrNameLst>
                                      </p:cBhvr>
                                      <p:to>
                                        <p:strVal val="visible"/>
                                      </p:to>
                                    </p:set>
                                    <p:animEffect transition="in" filter="checkerboard(across)">
                                      <p:cBhvr>
                                        <p:cTn id="17" dur="500"/>
                                        <p:tgtEl>
                                          <p:spTgt spid="798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5"/>
          <p:cNvGrpSpPr>
            <a:grpSpLocks/>
          </p:cNvGrpSpPr>
          <p:nvPr/>
        </p:nvGrpSpPr>
        <p:grpSpPr bwMode="auto">
          <a:xfrm>
            <a:off x="1600200" y="3505200"/>
            <a:ext cx="5181600" cy="3200400"/>
            <a:chOff x="1008" y="2208"/>
            <a:chExt cx="3264" cy="2016"/>
          </a:xfrm>
        </p:grpSpPr>
        <p:grpSp>
          <p:nvGrpSpPr>
            <p:cNvPr id="132156" name="Group 71"/>
            <p:cNvGrpSpPr>
              <a:grpSpLocks/>
            </p:cNvGrpSpPr>
            <p:nvPr/>
          </p:nvGrpSpPr>
          <p:grpSpPr bwMode="auto">
            <a:xfrm>
              <a:off x="1008" y="2208"/>
              <a:ext cx="2976" cy="2016"/>
              <a:chOff x="1008" y="1872"/>
              <a:chExt cx="2976" cy="2016"/>
            </a:xfrm>
          </p:grpSpPr>
          <p:sp>
            <p:nvSpPr>
              <p:cNvPr id="132158" name="Freeform 37"/>
              <p:cNvSpPr>
                <a:spLocks/>
              </p:cNvSpPr>
              <p:nvPr/>
            </p:nvSpPr>
            <p:spPr bwMode="auto">
              <a:xfrm>
                <a:off x="1008" y="1920"/>
                <a:ext cx="2928" cy="1680"/>
              </a:xfrm>
              <a:custGeom>
                <a:avLst/>
                <a:gdLst>
                  <a:gd name="T0" fmla="*/ 0 w 1488"/>
                  <a:gd name="T1" fmla="*/ 2147483646 h 480"/>
                  <a:gd name="T2" fmla="*/ 2147483646 w 1488"/>
                  <a:gd name="T3" fmla="*/ 2147483646 h 480"/>
                  <a:gd name="T4" fmla="*/ 2147483646 w 1488"/>
                  <a:gd name="T5" fmla="*/ 0 h 480"/>
                  <a:gd name="T6" fmla="*/ 0 60000 65536"/>
                  <a:gd name="T7" fmla="*/ 0 60000 65536"/>
                  <a:gd name="T8" fmla="*/ 0 60000 65536"/>
                  <a:gd name="T9" fmla="*/ 0 w 1488"/>
                  <a:gd name="T10" fmla="*/ 0 h 480"/>
                  <a:gd name="T11" fmla="*/ 1488 w 1488"/>
                  <a:gd name="T12" fmla="*/ 480 h 480"/>
                </a:gdLst>
                <a:ahLst/>
                <a:cxnLst>
                  <a:cxn ang="T6">
                    <a:pos x="T0" y="T1"/>
                  </a:cxn>
                  <a:cxn ang="T7">
                    <a:pos x="T2" y="T3"/>
                  </a:cxn>
                  <a:cxn ang="T8">
                    <a:pos x="T4" y="T5"/>
                  </a:cxn>
                </a:cxnLst>
                <a:rect l="T9" t="T10" r="T11" b="T12"/>
                <a:pathLst>
                  <a:path w="1488" h="480">
                    <a:moveTo>
                      <a:pt x="0" y="480"/>
                    </a:moveTo>
                    <a:cubicBezTo>
                      <a:pt x="140" y="328"/>
                      <a:pt x="280" y="176"/>
                      <a:pt x="528" y="96"/>
                    </a:cubicBezTo>
                    <a:cubicBezTo>
                      <a:pt x="776" y="16"/>
                      <a:pt x="1132" y="8"/>
                      <a:pt x="1488" y="0"/>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32159" name="Rectangle 38"/>
              <p:cNvSpPr>
                <a:spLocks noChangeArrowheads="1"/>
              </p:cNvSpPr>
              <p:nvPr/>
            </p:nvSpPr>
            <p:spPr bwMode="auto">
              <a:xfrm>
                <a:off x="1488" y="1872"/>
                <a:ext cx="2496" cy="201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132157" name="Freeform 70"/>
            <p:cNvSpPr>
              <a:spLocks/>
            </p:cNvSpPr>
            <p:nvPr/>
          </p:nvSpPr>
          <p:spPr bwMode="auto">
            <a:xfrm>
              <a:off x="1488" y="3120"/>
              <a:ext cx="2784" cy="816"/>
            </a:xfrm>
            <a:custGeom>
              <a:avLst/>
              <a:gdLst>
                <a:gd name="T0" fmla="*/ 0 w 2784"/>
                <a:gd name="T1" fmla="*/ 0 h 816"/>
                <a:gd name="T2" fmla="*/ 240 w 2784"/>
                <a:gd name="T3" fmla="*/ 240 h 816"/>
                <a:gd name="T4" fmla="*/ 576 w 2784"/>
                <a:gd name="T5" fmla="*/ 480 h 816"/>
                <a:gd name="T6" fmla="*/ 1008 w 2784"/>
                <a:gd name="T7" fmla="*/ 624 h 816"/>
                <a:gd name="T8" fmla="*/ 1968 w 2784"/>
                <a:gd name="T9" fmla="*/ 768 h 816"/>
                <a:gd name="T10" fmla="*/ 2784 w 2784"/>
                <a:gd name="T11" fmla="*/ 816 h 816"/>
                <a:gd name="T12" fmla="*/ 0 60000 65536"/>
                <a:gd name="T13" fmla="*/ 0 60000 65536"/>
                <a:gd name="T14" fmla="*/ 0 60000 65536"/>
                <a:gd name="T15" fmla="*/ 0 60000 65536"/>
                <a:gd name="T16" fmla="*/ 0 60000 65536"/>
                <a:gd name="T17" fmla="*/ 0 60000 65536"/>
                <a:gd name="T18" fmla="*/ 0 w 2784"/>
                <a:gd name="T19" fmla="*/ 0 h 816"/>
                <a:gd name="T20" fmla="*/ 2784 w 2784"/>
                <a:gd name="T21" fmla="*/ 816 h 816"/>
              </a:gdLst>
              <a:ahLst/>
              <a:cxnLst>
                <a:cxn ang="T12">
                  <a:pos x="T0" y="T1"/>
                </a:cxn>
                <a:cxn ang="T13">
                  <a:pos x="T2" y="T3"/>
                </a:cxn>
                <a:cxn ang="T14">
                  <a:pos x="T4" y="T5"/>
                </a:cxn>
                <a:cxn ang="T15">
                  <a:pos x="T6" y="T7"/>
                </a:cxn>
                <a:cxn ang="T16">
                  <a:pos x="T8" y="T9"/>
                </a:cxn>
                <a:cxn ang="T17">
                  <a:pos x="T10" y="T11"/>
                </a:cxn>
              </a:cxnLst>
              <a:rect l="T18" t="T19" r="T20" b="T21"/>
              <a:pathLst>
                <a:path w="2784" h="816">
                  <a:moveTo>
                    <a:pt x="0" y="0"/>
                  </a:moveTo>
                  <a:cubicBezTo>
                    <a:pt x="72" y="80"/>
                    <a:pt x="144" y="160"/>
                    <a:pt x="240" y="240"/>
                  </a:cubicBezTo>
                  <a:cubicBezTo>
                    <a:pt x="336" y="320"/>
                    <a:pt x="448" y="416"/>
                    <a:pt x="576" y="480"/>
                  </a:cubicBezTo>
                  <a:cubicBezTo>
                    <a:pt x="704" y="544"/>
                    <a:pt x="776" y="576"/>
                    <a:pt x="1008" y="624"/>
                  </a:cubicBezTo>
                  <a:cubicBezTo>
                    <a:pt x="1240" y="672"/>
                    <a:pt x="1672" y="736"/>
                    <a:pt x="1968" y="768"/>
                  </a:cubicBezTo>
                  <a:cubicBezTo>
                    <a:pt x="2264" y="800"/>
                    <a:pt x="2640" y="808"/>
                    <a:pt x="2784" y="816"/>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4" name="Group 106"/>
          <p:cNvGrpSpPr>
            <a:grpSpLocks/>
          </p:cNvGrpSpPr>
          <p:nvPr/>
        </p:nvGrpSpPr>
        <p:grpSpPr bwMode="auto">
          <a:xfrm>
            <a:off x="2259013" y="4953000"/>
            <a:ext cx="331787" cy="1676400"/>
            <a:chOff x="1423" y="3120"/>
            <a:chExt cx="209" cy="1056"/>
          </a:xfrm>
        </p:grpSpPr>
        <p:sp>
          <p:nvSpPr>
            <p:cNvPr id="132154" name="Text Box 26"/>
            <p:cNvSpPr txBox="1">
              <a:spLocks noChangeArrowheads="1"/>
            </p:cNvSpPr>
            <p:nvPr/>
          </p:nvSpPr>
          <p:spPr bwMode="auto">
            <a:xfrm>
              <a:off x="1423" y="3945"/>
              <a:ext cx="20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a:t>
              </a:r>
              <a:r>
                <a:rPr lang="en-US" altLang="fr-FR" sz="1800" baseline="-25000">
                  <a:latin typeface="Arial" panose="020B0604020202020204" pitchFamily="34" charset="0"/>
                </a:rPr>
                <a:t>1</a:t>
              </a:r>
              <a:endParaRPr lang="en-US" altLang="fr-FR" sz="1800">
                <a:latin typeface="Arial" panose="020B0604020202020204" pitchFamily="34" charset="0"/>
              </a:endParaRPr>
            </a:p>
          </p:txBody>
        </p:sp>
        <p:sp>
          <p:nvSpPr>
            <p:cNvPr id="132155" name="Line 42"/>
            <p:cNvSpPr>
              <a:spLocks noChangeShapeType="1"/>
            </p:cNvSpPr>
            <p:nvPr/>
          </p:nvSpPr>
          <p:spPr bwMode="auto">
            <a:xfrm>
              <a:off x="1488" y="3120"/>
              <a:ext cx="0" cy="81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45090" name="Freeform 34"/>
          <p:cNvSpPr>
            <a:spLocks/>
          </p:cNvSpPr>
          <p:nvPr/>
        </p:nvSpPr>
        <p:spPr bwMode="auto">
          <a:xfrm>
            <a:off x="1600200" y="3581400"/>
            <a:ext cx="4648200" cy="2667000"/>
          </a:xfrm>
          <a:custGeom>
            <a:avLst/>
            <a:gdLst>
              <a:gd name="T0" fmla="*/ 0 w 1488"/>
              <a:gd name="T1" fmla="*/ 2147483646 h 480"/>
              <a:gd name="T2" fmla="*/ 2147483646 w 1488"/>
              <a:gd name="T3" fmla="*/ 2147483646 h 480"/>
              <a:gd name="T4" fmla="*/ 2147483646 w 1488"/>
              <a:gd name="T5" fmla="*/ 0 h 480"/>
              <a:gd name="T6" fmla="*/ 0 60000 65536"/>
              <a:gd name="T7" fmla="*/ 0 60000 65536"/>
              <a:gd name="T8" fmla="*/ 0 60000 65536"/>
              <a:gd name="T9" fmla="*/ 0 w 1488"/>
              <a:gd name="T10" fmla="*/ 0 h 480"/>
              <a:gd name="T11" fmla="*/ 1488 w 1488"/>
              <a:gd name="T12" fmla="*/ 480 h 480"/>
            </a:gdLst>
            <a:ahLst/>
            <a:cxnLst>
              <a:cxn ang="T6">
                <a:pos x="T0" y="T1"/>
              </a:cxn>
              <a:cxn ang="T7">
                <a:pos x="T2" y="T3"/>
              </a:cxn>
              <a:cxn ang="T8">
                <a:pos x="T4" y="T5"/>
              </a:cxn>
            </a:cxnLst>
            <a:rect l="T9" t="T10" r="T11" b="T12"/>
            <a:pathLst>
              <a:path w="1488" h="480">
                <a:moveTo>
                  <a:pt x="0" y="480"/>
                </a:moveTo>
                <a:cubicBezTo>
                  <a:pt x="140" y="328"/>
                  <a:pt x="280" y="176"/>
                  <a:pt x="528" y="96"/>
                </a:cubicBezTo>
                <a:cubicBezTo>
                  <a:pt x="776" y="16"/>
                  <a:pt x="1132" y="8"/>
                  <a:pt x="1488" y="0"/>
                </a:cubicBezTo>
              </a:path>
            </a:pathLst>
          </a:custGeom>
          <a:noFill/>
          <a:ln w="952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nvGrpSpPr>
          <p:cNvPr id="5" name="Group 104"/>
          <p:cNvGrpSpPr>
            <a:grpSpLocks/>
          </p:cNvGrpSpPr>
          <p:nvPr/>
        </p:nvGrpSpPr>
        <p:grpSpPr bwMode="auto">
          <a:xfrm>
            <a:off x="2895600" y="3581400"/>
            <a:ext cx="228600" cy="2987675"/>
            <a:chOff x="1824" y="2256"/>
            <a:chExt cx="144" cy="1882"/>
          </a:xfrm>
        </p:grpSpPr>
        <p:sp>
          <p:nvSpPr>
            <p:cNvPr id="132152" name="Text Box 28"/>
            <p:cNvSpPr txBox="1">
              <a:spLocks noChangeArrowheads="1"/>
            </p:cNvSpPr>
            <p:nvPr/>
          </p:nvSpPr>
          <p:spPr bwMode="auto">
            <a:xfrm>
              <a:off x="1824" y="3888"/>
              <a:ext cx="1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a:latin typeface="Arial" panose="020B0604020202020204" pitchFamily="34" charset="0"/>
                  <a:sym typeface="Symbol" panose="05050102010706020507" pitchFamily="18" charset="2"/>
                </a:rPr>
                <a:t></a:t>
              </a:r>
            </a:p>
          </p:txBody>
        </p:sp>
        <p:sp>
          <p:nvSpPr>
            <p:cNvPr id="132153" name="Line 36"/>
            <p:cNvSpPr>
              <a:spLocks noChangeShapeType="1"/>
            </p:cNvSpPr>
            <p:nvPr/>
          </p:nvSpPr>
          <p:spPr bwMode="auto">
            <a:xfrm flipV="1">
              <a:off x="1872" y="2256"/>
              <a:ext cx="0" cy="168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45077" name="Line 21"/>
          <p:cNvSpPr>
            <a:spLocks noChangeShapeType="1"/>
          </p:cNvSpPr>
          <p:nvPr/>
        </p:nvSpPr>
        <p:spPr bwMode="auto">
          <a:xfrm flipV="1">
            <a:off x="1600200" y="3429000"/>
            <a:ext cx="1447800" cy="2819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32103"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32104" name="Espace réservé du numéro de diapositive 6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338C0E3F-437C-4CB6-8645-419EE2E378C6}" type="slidenum">
              <a:rPr lang="en-US" altLang="fr-FR" sz="1000" smtClean="0">
                <a:solidFill>
                  <a:srgbClr val="292929"/>
                </a:solidFill>
                <a:latin typeface="Arial" panose="020B0604020202020204" pitchFamily="34" charset="0"/>
              </a:rPr>
              <a:pPr>
                <a:spcBef>
                  <a:spcPct val="0"/>
                </a:spcBef>
                <a:buClrTx/>
                <a:buSzTx/>
                <a:buFontTx/>
                <a:buNone/>
              </a:pPr>
              <a:t>64</a:t>
            </a:fld>
            <a:endParaRPr lang="en-US" altLang="fr-FR" sz="1000" smtClean="0">
              <a:solidFill>
                <a:srgbClr val="292929"/>
              </a:solidFill>
              <a:latin typeface="Arial" panose="020B0604020202020204" pitchFamily="34" charset="0"/>
            </a:endParaRPr>
          </a:p>
        </p:txBody>
      </p:sp>
      <p:sp>
        <p:nvSpPr>
          <p:cNvPr id="132105"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2106" name="Text Box 4"/>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
        <p:nvSpPr>
          <p:cNvPr id="132107" name="Text Box 13"/>
          <p:cNvSpPr txBox="1">
            <a:spLocks noChangeArrowheads="1"/>
          </p:cNvSpPr>
          <p:nvPr/>
        </p:nvSpPr>
        <p:spPr bwMode="auto">
          <a:xfrm>
            <a:off x="2498725" y="16367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2108" name="Line 14"/>
          <p:cNvSpPr>
            <a:spLocks noChangeShapeType="1"/>
          </p:cNvSpPr>
          <p:nvPr/>
        </p:nvSpPr>
        <p:spPr bwMode="auto">
          <a:xfrm flipV="1">
            <a:off x="1600200" y="3352800"/>
            <a:ext cx="0" cy="2895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32109" name="Line 15"/>
          <p:cNvSpPr>
            <a:spLocks noChangeShapeType="1"/>
          </p:cNvSpPr>
          <p:nvPr/>
        </p:nvSpPr>
        <p:spPr bwMode="auto">
          <a:xfrm>
            <a:off x="990600" y="6248400"/>
            <a:ext cx="5943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nvGrpSpPr>
          <p:cNvPr id="6" name="Group 103"/>
          <p:cNvGrpSpPr>
            <a:grpSpLocks/>
          </p:cNvGrpSpPr>
          <p:nvPr/>
        </p:nvGrpSpPr>
        <p:grpSpPr bwMode="auto">
          <a:xfrm>
            <a:off x="1600200" y="2962275"/>
            <a:ext cx="4572000" cy="619125"/>
            <a:chOff x="1008" y="1866"/>
            <a:chExt cx="2880" cy="390"/>
          </a:xfrm>
        </p:grpSpPr>
        <p:sp>
          <p:nvSpPr>
            <p:cNvPr id="132148" name="Line 35"/>
            <p:cNvSpPr>
              <a:spLocks noChangeShapeType="1"/>
            </p:cNvSpPr>
            <p:nvPr/>
          </p:nvSpPr>
          <p:spPr bwMode="auto">
            <a:xfrm flipH="1">
              <a:off x="1008" y="2256"/>
              <a:ext cx="288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32149" name="Group 102"/>
            <p:cNvGrpSpPr>
              <a:grpSpLocks/>
            </p:cNvGrpSpPr>
            <p:nvPr/>
          </p:nvGrpSpPr>
          <p:grpSpPr bwMode="auto">
            <a:xfrm>
              <a:off x="2304" y="1866"/>
              <a:ext cx="354" cy="390"/>
              <a:chOff x="2304" y="1866"/>
              <a:chExt cx="354" cy="390"/>
            </a:xfrm>
          </p:grpSpPr>
          <p:graphicFrame>
            <p:nvGraphicFramePr>
              <p:cNvPr id="132150" name="Object 5"/>
              <p:cNvGraphicFramePr>
                <a:graphicFrameLocks noChangeAspect="1"/>
              </p:cNvGraphicFramePr>
              <p:nvPr/>
            </p:nvGraphicFramePr>
            <p:xfrm>
              <a:off x="2431" y="1866"/>
              <a:ext cx="227" cy="353"/>
            </p:xfrm>
            <a:graphic>
              <a:graphicData uri="http://schemas.openxmlformats.org/presentationml/2006/ole">
                <mc:AlternateContent xmlns:mc="http://schemas.openxmlformats.org/markup-compatibility/2006">
                  <mc:Choice xmlns:v="urn:schemas-microsoft-com:vml" Requires="v">
                    <p:oleObj spid="_x0000_s132224" name="Equation" r:id="rId4" imgW="253890" imgH="393529" progId="Equation.3">
                      <p:embed/>
                    </p:oleObj>
                  </mc:Choice>
                  <mc:Fallback>
                    <p:oleObj name="Equation" r:id="rId4" imgW="253890" imgH="393529"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1" y="1866"/>
                            <a:ext cx="227" cy="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51" name="Line 50"/>
              <p:cNvSpPr>
                <a:spLocks noChangeShapeType="1"/>
              </p:cNvSpPr>
              <p:nvPr/>
            </p:nvSpPr>
            <p:spPr bwMode="auto">
              <a:xfrm flipH="1">
                <a:off x="2304" y="2112"/>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grpSp>
        <p:nvGrpSpPr>
          <p:cNvPr id="8" name="Group 72"/>
          <p:cNvGrpSpPr>
            <a:grpSpLocks/>
          </p:cNvGrpSpPr>
          <p:nvPr/>
        </p:nvGrpSpPr>
        <p:grpSpPr bwMode="auto">
          <a:xfrm>
            <a:off x="990600" y="4343400"/>
            <a:ext cx="5562600" cy="738188"/>
            <a:chOff x="624" y="2400"/>
            <a:chExt cx="3504" cy="465"/>
          </a:xfrm>
        </p:grpSpPr>
        <p:sp>
          <p:nvSpPr>
            <p:cNvPr id="132144" name="Line 52"/>
            <p:cNvSpPr>
              <a:spLocks noChangeShapeType="1"/>
            </p:cNvSpPr>
            <p:nvPr/>
          </p:nvSpPr>
          <p:spPr bwMode="auto">
            <a:xfrm flipH="1">
              <a:off x="2321" y="2646"/>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aphicFrame>
          <p:nvGraphicFramePr>
            <p:cNvPr id="132145" name="Object 3"/>
            <p:cNvGraphicFramePr>
              <a:graphicFrameLocks noChangeAspect="1"/>
            </p:cNvGraphicFramePr>
            <p:nvPr/>
          </p:nvGraphicFramePr>
          <p:xfrm>
            <a:off x="624" y="2660"/>
            <a:ext cx="307" cy="205"/>
          </p:xfrm>
          <a:graphic>
            <a:graphicData uri="http://schemas.openxmlformats.org/presentationml/2006/ole">
              <mc:AlternateContent xmlns:mc="http://schemas.openxmlformats.org/markup-compatibility/2006">
                <mc:Choice xmlns:v="urn:schemas-microsoft-com:vml" Requires="v">
                  <p:oleObj spid="_x0000_s132225" name="Equation" r:id="rId6" imgW="342751" imgH="228501" progId="Equation.3">
                    <p:embed/>
                  </p:oleObj>
                </mc:Choice>
                <mc:Fallback>
                  <p:oleObj name="Equation" r:id="rId6" imgW="342751" imgH="228501"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 y="2660"/>
                          <a:ext cx="307"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46" name="Line 44"/>
            <p:cNvSpPr>
              <a:spLocks noChangeAspect="1" noChangeShapeType="1"/>
            </p:cNvSpPr>
            <p:nvPr/>
          </p:nvSpPr>
          <p:spPr bwMode="auto">
            <a:xfrm>
              <a:off x="1008" y="2784"/>
              <a:ext cx="3120" cy="0"/>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fr-FR"/>
            </a:p>
          </p:txBody>
        </p:sp>
        <p:graphicFrame>
          <p:nvGraphicFramePr>
            <p:cNvPr id="132147" name="Object 4"/>
            <p:cNvGraphicFramePr>
              <a:graphicFrameLocks noChangeAspect="1"/>
            </p:cNvGraphicFramePr>
            <p:nvPr/>
          </p:nvGraphicFramePr>
          <p:xfrm>
            <a:off x="2448" y="2400"/>
            <a:ext cx="227" cy="353"/>
          </p:xfrm>
          <a:graphic>
            <a:graphicData uri="http://schemas.openxmlformats.org/presentationml/2006/ole">
              <mc:AlternateContent xmlns:mc="http://schemas.openxmlformats.org/markup-compatibility/2006">
                <mc:Choice xmlns:v="urn:schemas-microsoft-com:vml" Requires="v">
                  <p:oleObj spid="_x0000_s132226" name="Equation" r:id="rId8" imgW="253890" imgH="393529" progId="Equation.3">
                    <p:embed/>
                  </p:oleObj>
                </mc:Choice>
                <mc:Fallback>
                  <p:oleObj name="Equation" r:id="rId8" imgW="253890" imgH="393529"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48" y="2400"/>
                          <a:ext cx="227" cy="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2112" name="Text Box 55"/>
          <p:cNvSpPr txBox="1">
            <a:spLocks noChangeArrowheads="1"/>
          </p:cNvSpPr>
          <p:nvPr/>
        </p:nvSpPr>
        <p:spPr bwMode="auto">
          <a:xfrm>
            <a:off x="7010400" y="6096000"/>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a:t>
            </a:r>
          </a:p>
        </p:txBody>
      </p:sp>
      <p:graphicFrame>
        <p:nvGraphicFramePr>
          <p:cNvPr id="132113" name="Object 2"/>
          <p:cNvGraphicFramePr>
            <a:graphicFrameLocks noChangeAspect="1"/>
          </p:cNvGraphicFramePr>
          <p:nvPr/>
        </p:nvGraphicFramePr>
        <p:xfrm>
          <a:off x="1447800" y="3048000"/>
          <a:ext cx="306388" cy="234950"/>
        </p:xfrm>
        <a:graphic>
          <a:graphicData uri="http://schemas.openxmlformats.org/presentationml/2006/ole">
            <mc:AlternateContent xmlns:mc="http://schemas.openxmlformats.org/markup-compatibility/2006">
              <mc:Choice xmlns:v="urn:schemas-microsoft-com:vml" Requires="v">
                <p:oleObj spid="_x0000_s132227" name="Equation" r:id="rId10" imgW="215619" imgH="164885" progId="Equation.3">
                  <p:embed/>
                </p:oleObj>
              </mc:Choice>
              <mc:Fallback>
                <p:oleObj name="Equation" r:id="rId10" imgW="215619" imgH="164885" progId="Equation.3">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7800" y="3048000"/>
                        <a:ext cx="306388" cy="234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14" name="Line 73"/>
          <p:cNvSpPr>
            <a:spLocks noChangeShapeType="1"/>
          </p:cNvSpPr>
          <p:nvPr/>
        </p:nvSpPr>
        <p:spPr bwMode="auto">
          <a:xfrm flipV="1">
            <a:off x="1600200" y="1524000"/>
            <a:ext cx="0"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32115" name="Line 74"/>
          <p:cNvSpPr>
            <a:spLocks noChangeShapeType="1"/>
          </p:cNvSpPr>
          <p:nvPr/>
        </p:nvSpPr>
        <p:spPr bwMode="auto">
          <a:xfrm>
            <a:off x="1219200" y="2819400"/>
            <a:ext cx="5715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32116" name="Text Box 83"/>
          <p:cNvSpPr txBox="1">
            <a:spLocks noChangeArrowheads="1"/>
          </p:cNvSpPr>
          <p:nvPr/>
        </p:nvSpPr>
        <p:spPr bwMode="auto">
          <a:xfrm>
            <a:off x="1219200" y="1447800"/>
            <a:ext cx="346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panose="020B0604020202020204" pitchFamily="34" charset="0"/>
              </a:rPr>
              <a:t>p</a:t>
            </a:r>
            <a:r>
              <a:rPr lang="en-US" altLang="fr-FR" sz="1400" baseline="-25000">
                <a:latin typeface="Arial" panose="020B0604020202020204" pitchFamily="34" charset="0"/>
              </a:rPr>
              <a:t>1</a:t>
            </a:r>
          </a:p>
        </p:txBody>
      </p:sp>
      <p:sp>
        <p:nvSpPr>
          <p:cNvPr id="45105" name="Freeform 49"/>
          <p:cNvSpPr>
            <a:spLocks/>
          </p:cNvSpPr>
          <p:nvPr/>
        </p:nvSpPr>
        <p:spPr bwMode="auto">
          <a:xfrm>
            <a:off x="1600200" y="4953000"/>
            <a:ext cx="4648200" cy="1295400"/>
          </a:xfrm>
          <a:custGeom>
            <a:avLst/>
            <a:gdLst>
              <a:gd name="T0" fmla="*/ 0 w 1488"/>
              <a:gd name="T1" fmla="*/ 2147483646 h 480"/>
              <a:gd name="T2" fmla="*/ 2147483646 w 1488"/>
              <a:gd name="T3" fmla="*/ 2147483646 h 480"/>
              <a:gd name="T4" fmla="*/ 2147483646 w 1488"/>
              <a:gd name="T5" fmla="*/ 0 h 480"/>
              <a:gd name="T6" fmla="*/ 0 60000 65536"/>
              <a:gd name="T7" fmla="*/ 0 60000 65536"/>
              <a:gd name="T8" fmla="*/ 0 60000 65536"/>
              <a:gd name="T9" fmla="*/ 0 w 1488"/>
              <a:gd name="T10" fmla="*/ 0 h 480"/>
              <a:gd name="T11" fmla="*/ 1488 w 1488"/>
              <a:gd name="T12" fmla="*/ 480 h 480"/>
            </a:gdLst>
            <a:ahLst/>
            <a:cxnLst>
              <a:cxn ang="T6">
                <a:pos x="T0" y="T1"/>
              </a:cxn>
              <a:cxn ang="T7">
                <a:pos x="T2" y="T3"/>
              </a:cxn>
              <a:cxn ang="T8">
                <a:pos x="T4" y="T5"/>
              </a:cxn>
            </a:cxnLst>
            <a:rect l="T9" t="T10" r="T11" b="T12"/>
            <a:pathLst>
              <a:path w="1488" h="480">
                <a:moveTo>
                  <a:pt x="0" y="480"/>
                </a:moveTo>
                <a:cubicBezTo>
                  <a:pt x="140" y="328"/>
                  <a:pt x="280" y="176"/>
                  <a:pt x="528" y="96"/>
                </a:cubicBezTo>
                <a:cubicBezTo>
                  <a:pt x="776" y="16"/>
                  <a:pt x="1132" y="8"/>
                  <a:pt x="1488" y="0"/>
                </a:cubicBezTo>
              </a:path>
            </a:pathLst>
          </a:custGeom>
          <a:noFill/>
          <a:ln w="952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nvGrpSpPr>
          <p:cNvPr id="9" name="Group 98"/>
          <p:cNvGrpSpPr>
            <a:grpSpLocks/>
          </p:cNvGrpSpPr>
          <p:nvPr/>
        </p:nvGrpSpPr>
        <p:grpSpPr bwMode="auto">
          <a:xfrm>
            <a:off x="1066800" y="1828800"/>
            <a:ext cx="4724400" cy="990600"/>
            <a:chOff x="672" y="1152"/>
            <a:chExt cx="2976" cy="624"/>
          </a:xfrm>
        </p:grpSpPr>
        <p:grpSp>
          <p:nvGrpSpPr>
            <p:cNvPr id="132137" name="Group 78"/>
            <p:cNvGrpSpPr>
              <a:grpSpLocks/>
            </p:cNvGrpSpPr>
            <p:nvPr/>
          </p:nvGrpSpPr>
          <p:grpSpPr bwMode="auto">
            <a:xfrm>
              <a:off x="672" y="1440"/>
              <a:ext cx="2976" cy="336"/>
              <a:chOff x="1200" y="1344"/>
              <a:chExt cx="2976" cy="336"/>
            </a:xfrm>
          </p:grpSpPr>
          <p:sp>
            <p:nvSpPr>
              <p:cNvPr id="132141" name="Line 75"/>
              <p:cNvSpPr>
                <a:spLocks noChangeShapeType="1"/>
              </p:cNvSpPr>
              <p:nvPr/>
            </p:nvSpPr>
            <p:spPr bwMode="auto">
              <a:xfrm flipV="1">
                <a:off x="1536" y="1344"/>
                <a:ext cx="0" cy="33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2142" name="Line 76"/>
              <p:cNvSpPr>
                <a:spLocks noChangeShapeType="1"/>
              </p:cNvSpPr>
              <p:nvPr/>
            </p:nvSpPr>
            <p:spPr bwMode="auto">
              <a:xfrm>
                <a:off x="1536" y="1344"/>
                <a:ext cx="264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2143" name="Line 77"/>
              <p:cNvSpPr>
                <a:spLocks noChangeShapeType="1"/>
              </p:cNvSpPr>
              <p:nvPr/>
            </p:nvSpPr>
            <p:spPr bwMode="auto">
              <a:xfrm flipH="1">
                <a:off x="1200" y="1680"/>
                <a:ext cx="336"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132138" name="Group 89"/>
            <p:cNvGrpSpPr>
              <a:grpSpLocks/>
            </p:cNvGrpSpPr>
            <p:nvPr/>
          </p:nvGrpSpPr>
          <p:grpSpPr bwMode="auto">
            <a:xfrm>
              <a:off x="2784" y="1152"/>
              <a:ext cx="354" cy="288"/>
              <a:chOff x="2784" y="1152"/>
              <a:chExt cx="354" cy="288"/>
            </a:xfrm>
          </p:grpSpPr>
          <p:sp>
            <p:nvSpPr>
              <p:cNvPr id="132139" name="Text Box 84"/>
              <p:cNvSpPr txBox="1">
                <a:spLocks noChangeArrowheads="1"/>
              </p:cNvSpPr>
              <p:nvPr/>
            </p:nvSpPr>
            <p:spPr bwMode="auto">
              <a:xfrm>
                <a:off x="2880" y="1152"/>
                <a:ext cx="25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panose="020B0604020202020204" pitchFamily="34" charset="0"/>
                  </a:rPr>
                  <a:t>p</a:t>
                </a:r>
                <a:r>
                  <a:rPr lang="en-US" altLang="fr-FR" sz="1400" baseline="-25000">
                    <a:latin typeface="Arial" panose="020B0604020202020204" pitchFamily="34" charset="0"/>
                  </a:rPr>
                  <a:t>1n</a:t>
                </a:r>
              </a:p>
            </p:txBody>
          </p:sp>
          <p:sp>
            <p:nvSpPr>
              <p:cNvPr id="132140" name="Line 85"/>
              <p:cNvSpPr>
                <a:spLocks noChangeShapeType="1"/>
              </p:cNvSpPr>
              <p:nvPr/>
            </p:nvSpPr>
            <p:spPr bwMode="auto">
              <a:xfrm flipH="1">
                <a:off x="2784" y="1296"/>
                <a:ext cx="96"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grpSp>
        <p:nvGrpSpPr>
          <p:cNvPr id="12" name="Group 97"/>
          <p:cNvGrpSpPr>
            <a:grpSpLocks/>
          </p:cNvGrpSpPr>
          <p:nvPr/>
        </p:nvGrpSpPr>
        <p:grpSpPr bwMode="auto">
          <a:xfrm>
            <a:off x="1066800" y="1219200"/>
            <a:ext cx="4724400" cy="1600200"/>
            <a:chOff x="672" y="768"/>
            <a:chExt cx="2976" cy="1008"/>
          </a:xfrm>
        </p:grpSpPr>
        <p:grpSp>
          <p:nvGrpSpPr>
            <p:cNvPr id="132130" name="Group 79"/>
            <p:cNvGrpSpPr>
              <a:grpSpLocks/>
            </p:cNvGrpSpPr>
            <p:nvPr/>
          </p:nvGrpSpPr>
          <p:grpSpPr bwMode="auto">
            <a:xfrm>
              <a:off x="672" y="1056"/>
              <a:ext cx="2976" cy="720"/>
              <a:chOff x="1200" y="1344"/>
              <a:chExt cx="2976" cy="336"/>
            </a:xfrm>
          </p:grpSpPr>
          <p:sp>
            <p:nvSpPr>
              <p:cNvPr id="132134" name="Line 80"/>
              <p:cNvSpPr>
                <a:spLocks noChangeShapeType="1"/>
              </p:cNvSpPr>
              <p:nvPr/>
            </p:nvSpPr>
            <p:spPr bwMode="auto">
              <a:xfrm flipV="1">
                <a:off x="1536" y="1344"/>
                <a:ext cx="0" cy="33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2135" name="Line 81"/>
              <p:cNvSpPr>
                <a:spLocks noChangeShapeType="1"/>
              </p:cNvSpPr>
              <p:nvPr/>
            </p:nvSpPr>
            <p:spPr bwMode="auto">
              <a:xfrm>
                <a:off x="1536" y="1344"/>
                <a:ext cx="264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2136" name="Line 82"/>
              <p:cNvSpPr>
                <a:spLocks noChangeShapeType="1"/>
              </p:cNvSpPr>
              <p:nvPr/>
            </p:nvSpPr>
            <p:spPr bwMode="auto">
              <a:xfrm flipH="1">
                <a:off x="1200" y="1680"/>
                <a:ext cx="336"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132131" name="Group 88"/>
            <p:cNvGrpSpPr>
              <a:grpSpLocks/>
            </p:cNvGrpSpPr>
            <p:nvPr/>
          </p:nvGrpSpPr>
          <p:grpSpPr bwMode="auto">
            <a:xfrm>
              <a:off x="2880" y="768"/>
              <a:ext cx="398" cy="288"/>
              <a:chOff x="2880" y="768"/>
              <a:chExt cx="398" cy="288"/>
            </a:xfrm>
          </p:grpSpPr>
          <p:sp>
            <p:nvSpPr>
              <p:cNvPr id="132132" name="Text Box 86"/>
              <p:cNvSpPr txBox="1">
                <a:spLocks noChangeArrowheads="1"/>
              </p:cNvSpPr>
              <p:nvPr/>
            </p:nvSpPr>
            <p:spPr bwMode="auto">
              <a:xfrm>
                <a:off x="3024" y="768"/>
                <a:ext cx="25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panose="020B0604020202020204" pitchFamily="34" charset="0"/>
                  </a:rPr>
                  <a:t>p</a:t>
                </a:r>
                <a:r>
                  <a:rPr lang="en-US" altLang="fr-FR" sz="1400" baseline="-25000">
                    <a:latin typeface="Arial" panose="020B0604020202020204" pitchFamily="34" charset="0"/>
                  </a:rPr>
                  <a:t>1s</a:t>
                </a:r>
              </a:p>
            </p:txBody>
          </p:sp>
          <p:sp>
            <p:nvSpPr>
              <p:cNvPr id="132133" name="Line 87"/>
              <p:cNvSpPr>
                <a:spLocks noChangeShapeType="1"/>
              </p:cNvSpPr>
              <p:nvPr/>
            </p:nvSpPr>
            <p:spPr bwMode="auto">
              <a:xfrm flipH="1">
                <a:off x="2880" y="912"/>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grpSp>
        <p:nvGrpSpPr>
          <p:cNvPr id="15" name="Group 100"/>
          <p:cNvGrpSpPr>
            <a:grpSpLocks/>
          </p:cNvGrpSpPr>
          <p:nvPr/>
        </p:nvGrpSpPr>
        <p:grpSpPr bwMode="auto">
          <a:xfrm>
            <a:off x="1193800" y="1676400"/>
            <a:ext cx="4673600" cy="1143000"/>
            <a:chOff x="752" y="1056"/>
            <a:chExt cx="2944" cy="720"/>
          </a:xfrm>
        </p:grpSpPr>
        <p:grpSp>
          <p:nvGrpSpPr>
            <p:cNvPr id="132123" name="Group 96"/>
            <p:cNvGrpSpPr>
              <a:grpSpLocks/>
            </p:cNvGrpSpPr>
            <p:nvPr/>
          </p:nvGrpSpPr>
          <p:grpSpPr bwMode="auto">
            <a:xfrm>
              <a:off x="752" y="1056"/>
              <a:ext cx="1680" cy="720"/>
              <a:chOff x="3792" y="672"/>
              <a:chExt cx="1680" cy="720"/>
            </a:xfrm>
          </p:grpSpPr>
          <p:sp>
            <p:nvSpPr>
              <p:cNvPr id="132125" name="Line 91"/>
              <p:cNvSpPr>
                <a:spLocks noChangeShapeType="1"/>
              </p:cNvSpPr>
              <p:nvPr/>
            </p:nvSpPr>
            <p:spPr bwMode="auto">
              <a:xfrm flipV="1">
                <a:off x="4044" y="67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2126" name="Line 92"/>
              <p:cNvSpPr>
                <a:spLocks noChangeShapeType="1"/>
              </p:cNvSpPr>
              <p:nvPr/>
            </p:nvSpPr>
            <p:spPr bwMode="auto">
              <a:xfrm>
                <a:off x="4044" y="672"/>
                <a:ext cx="46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2127" name="Line 93"/>
              <p:cNvSpPr>
                <a:spLocks noChangeShapeType="1"/>
              </p:cNvSpPr>
              <p:nvPr/>
            </p:nvSpPr>
            <p:spPr bwMode="auto">
              <a:xfrm flipH="1">
                <a:off x="3792" y="1392"/>
                <a:ext cx="252"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2128" name="Line 94"/>
              <p:cNvSpPr>
                <a:spLocks noChangeShapeType="1"/>
              </p:cNvSpPr>
              <p:nvPr/>
            </p:nvSpPr>
            <p:spPr bwMode="auto">
              <a:xfrm flipV="1">
                <a:off x="4512" y="67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2129" name="Line 95"/>
              <p:cNvSpPr>
                <a:spLocks noChangeShapeType="1"/>
              </p:cNvSpPr>
              <p:nvPr/>
            </p:nvSpPr>
            <p:spPr bwMode="auto">
              <a:xfrm flipH="1">
                <a:off x="4512" y="1392"/>
                <a:ext cx="96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32124" name="Line 99"/>
            <p:cNvSpPr>
              <a:spLocks noChangeShapeType="1"/>
            </p:cNvSpPr>
            <p:nvPr/>
          </p:nvSpPr>
          <p:spPr bwMode="auto">
            <a:xfrm>
              <a:off x="2448" y="1776"/>
              <a:ext cx="124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32121" name="Text Box 8"/>
          <p:cNvSpPr txBox="1">
            <a:spLocks noChangeArrowheads="1"/>
          </p:cNvSpPr>
          <p:nvPr/>
        </p:nvSpPr>
        <p:spPr bwMode="auto">
          <a:xfrm>
            <a:off x="838200" y="1143000"/>
            <a:ext cx="399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Service intermittent à courte durée</a:t>
            </a:r>
          </a:p>
        </p:txBody>
      </p:sp>
      <p:sp>
        <p:nvSpPr>
          <p:cNvPr id="64" name="Espace réservé du pied de page 63"/>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par>
                          <p:cTn id="8" fill="hold" nodeType="afterGroup">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45105"/>
                                        </p:tgtEl>
                                        <p:attrNameLst>
                                          <p:attrName>style.visibility</p:attrName>
                                        </p:attrNameLst>
                                      </p:cBhvr>
                                      <p:to>
                                        <p:strVal val="visible"/>
                                      </p:to>
                                    </p:set>
                                    <p:animEffect transition="in" filter="wipe(down)">
                                      <p:cBhvr>
                                        <p:cTn id="11" dur="500"/>
                                        <p:tgtEl>
                                          <p:spTgt spid="45105"/>
                                        </p:tgtEl>
                                      </p:cBhvr>
                                    </p:animEffect>
                                  </p:childTnLst>
                                </p:cTn>
                              </p:par>
                            </p:childTnLst>
                          </p:cTn>
                        </p:par>
                        <p:par>
                          <p:cTn id="12" fill="hold" nodeType="afterGroup">
                            <p:stCondLst>
                              <p:cond delay="15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xit" presetSubtype="0" fill="hold" nodeType="clickEffect">
                                  <p:stCondLst>
                                    <p:cond delay="0"/>
                                  </p:stCondLst>
                                  <p:childTnLst>
                                    <p:animEffect transition="out" filter="fade">
                                      <p:cBhvr>
                                        <p:cTn id="19" dur="1000"/>
                                        <p:tgtEl>
                                          <p:spTgt spid="9"/>
                                        </p:tgtEl>
                                      </p:cBhvr>
                                    </p:animEffect>
                                    <p:set>
                                      <p:cBhvr>
                                        <p:cTn id="20" dur="1" fill="hold">
                                          <p:stCondLst>
                                            <p:cond delay="999"/>
                                          </p:stCondLst>
                                        </p:cTn>
                                        <p:tgtEl>
                                          <p:spTgt spid="9"/>
                                        </p:tgtEl>
                                        <p:attrNameLst>
                                          <p:attrName>style.visibility</p:attrName>
                                        </p:attrNameLst>
                                      </p:cBhvr>
                                      <p:to>
                                        <p:strVal val="hidden"/>
                                      </p:to>
                                    </p:se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500"/>
                                        <p:tgtEl>
                                          <p:spTgt spid="12"/>
                                        </p:tgtEl>
                                      </p:cBhvr>
                                    </p:animEffect>
                                  </p:childTnLst>
                                </p:cTn>
                              </p:par>
                            </p:childTnLst>
                          </p:cTn>
                        </p:par>
                        <p:par>
                          <p:cTn id="25" fill="hold" nodeType="afterGroup">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45090"/>
                                        </p:tgtEl>
                                        <p:attrNameLst>
                                          <p:attrName>style.visibility</p:attrName>
                                        </p:attrNameLst>
                                      </p:cBhvr>
                                      <p:to>
                                        <p:strVal val="visible"/>
                                      </p:to>
                                    </p:set>
                                    <p:animEffect transition="in" filter="wipe(left)">
                                      <p:cBhvr>
                                        <p:cTn id="28" dur="2000"/>
                                        <p:tgtEl>
                                          <p:spTgt spid="45090"/>
                                        </p:tgtEl>
                                      </p:cBhvr>
                                    </p:animEffect>
                                  </p:childTnLst>
                                </p:cTn>
                              </p:par>
                            </p:childTnLst>
                          </p:cTn>
                        </p:par>
                        <p:par>
                          <p:cTn id="29" fill="hold" nodeType="afterGroup">
                            <p:stCondLst>
                              <p:cond delay="3500"/>
                            </p:stCondLst>
                            <p:childTnLst>
                              <p:par>
                                <p:cTn id="30" presetID="22" presetClass="entr" presetSubtype="8"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par>
                          <p:cTn id="33" fill="hold" nodeType="afterGroup">
                            <p:stCondLst>
                              <p:cond delay="4000"/>
                            </p:stCondLst>
                            <p:childTnLst>
                              <p:par>
                                <p:cTn id="34" presetID="22" presetClass="entr" presetSubtype="4" fill="hold" grpId="0" nodeType="afterEffect">
                                  <p:stCondLst>
                                    <p:cond delay="0"/>
                                  </p:stCondLst>
                                  <p:childTnLst>
                                    <p:set>
                                      <p:cBhvr>
                                        <p:cTn id="35" dur="1" fill="hold">
                                          <p:stCondLst>
                                            <p:cond delay="0"/>
                                          </p:stCondLst>
                                        </p:cTn>
                                        <p:tgtEl>
                                          <p:spTgt spid="45077"/>
                                        </p:tgtEl>
                                        <p:attrNameLst>
                                          <p:attrName>style.visibility</p:attrName>
                                        </p:attrNameLst>
                                      </p:cBhvr>
                                      <p:to>
                                        <p:strVal val="visible"/>
                                      </p:to>
                                    </p:set>
                                    <p:animEffect transition="in" filter="wipe(down)">
                                      <p:cBhvr>
                                        <p:cTn id="36" dur="500"/>
                                        <p:tgtEl>
                                          <p:spTgt spid="45077"/>
                                        </p:tgtEl>
                                      </p:cBhvr>
                                    </p:animEffect>
                                  </p:childTnLst>
                                </p:cTn>
                              </p:par>
                            </p:childTnLst>
                          </p:cTn>
                        </p:par>
                        <p:par>
                          <p:cTn id="37" fill="hold" nodeType="afterGroup">
                            <p:stCondLst>
                              <p:cond delay="4500"/>
                            </p:stCondLst>
                            <p:childTnLst>
                              <p:par>
                                <p:cTn id="38" presetID="10" presetClass="entr" presetSubtype="0" fill="hold" nodeType="after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1000"/>
                                        <p:tgtEl>
                                          <p:spTgt spid="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0" presetClass="exit" presetSubtype="0" fill="hold" nodeType="clickEffect">
                                  <p:stCondLst>
                                    <p:cond delay="0"/>
                                  </p:stCondLst>
                                  <p:childTnLst>
                                    <p:animEffect transition="out" filter="fade">
                                      <p:cBhvr>
                                        <p:cTn id="44" dur="1000"/>
                                        <p:tgtEl>
                                          <p:spTgt spid="12"/>
                                        </p:tgtEl>
                                      </p:cBhvr>
                                    </p:animEffect>
                                    <p:set>
                                      <p:cBhvr>
                                        <p:cTn id="45" dur="1" fill="hold">
                                          <p:stCondLst>
                                            <p:cond delay="999"/>
                                          </p:stCondLst>
                                        </p:cTn>
                                        <p:tgtEl>
                                          <p:spTgt spid="12"/>
                                        </p:tgtEl>
                                        <p:attrNameLst>
                                          <p:attrName>style.visibility</p:attrName>
                                        </p:attrNameLst>
                                      </p:cBhvr>
                                      <p:to>
                                        <p:strVal val="hidden"/>
                                      </p:to>
                                    </p:se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1000"/>
                                        <p:tgtEl>
                                          <p:spTgt spid="15"/>
                                        </p:tgtEl>
                                      </p:cBhvr>
                                    </p:animEffect>
                                  </p:childTnLst>
                                </p:cTn>
                              </p:par>
                            </p:childTnLst>
                          </p:cTn>
                        </p:par>
                        <p:par>
                          <p:cTn id="50" fill="hold" nodeType="afterGroup">
                            <p:stCondLst>
                              <p:cond delay="2000"/>
                            </p:stCondLst>
                            <p:childTnLst>
                              <p:par>
                                <p:cTn id="51" presetID="22" presetClass="entr" presetSubtype="8" fill="hold" nodeType="after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wipe(left)">
                                      <p:cBhvr>
                                        <p:cTn id="53" dur="2000"/>
                                        <p:tgtEl>
                                          <p:spTgt spid="2"/>
                                        </p:tgtEl>
                                      </p:cBhvr>
                                    </p:animEffect>
                                  </p:childTnLst>
                                </p:cTn>
                              </p:par>
                            </p:childTnLst>
                          </p:cTn>
                        </p:par>
                        <p:par>
                          <p:cTn id="54" fill="hold" nodeType="afterGroup">
                            <p:stCondLst>
                              <p:cond delay="4000"/>
                            </p:stCondLst>
                            <p:childTnLst>
                              <p:par>
                                <p:cTn id="55" presetID="10" presetClass="entr" presetSubtype="0" fill="hold" nodeType="after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fade">
                                      <p:cBhvr>
                                        <p:cTn id="5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90" grpId="0" animBg="1"/>
      <p:bldP spid="45077" grpId="0" animBg="1"/>
      <p:bldP spid="4510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219200" y="1990725"/>
            <a:ext cx="5181600" cy="3200400"/>
            <a:chOff x="1008" y="2208"/>
            <a:chExt cx="3264" cy="2016"/>
          </a:xfrm>
        </p:grpSpPr>
        <p:grpSp>
          <p:nvGrpSpPr>
            <p:cNvPr id="134182" name="Group 3"/>
            <p:cNvGrpSpPr>
              <a:grpSpLocks/>
            </p:cNvGrpSpPr>
            <p:nvPr/>
          </p:nvGrpSpPr>
          <p:grpSpPr bwMode="auto">
            <a:xfrm>
              <a:off x="1008" y="2208"/>
              <a:ext cx="2976" cy="2016"/>
              <a:chOff x="1008" y="1872"/>
              <a:chExt cx="2976" cy="2016"/>
            </a:xfrm>
          </p:grpSpPr>
          <p:sp>
            <p:nvSpPr>
              <p:cNvPr id="134184" name="Freeform 4"/>
              <p:cNvSpPr>
                <a:spLocks/>
              </p:cNvSpPr>
              <p:nvPr/>
            </p:nvSpPr>
            <p:spPr bwMode="auto">
              <a:xfrm>
                <a:off x="1008" y="1920"/>
                <a:ext cx="2928" cy="1680"/>
              </a:xfrm>
              <a:custGeom>
                <a:avLst/>
                <a:gdLst>
                  <a:gd name="T0" fmla="*/ 0 w 1488"/>
                  <a:gd name="T1" fmla="*/ 2147483646 h 480"/>
                  <a:gd name="T2" fmla="*/ 2147483646 w 1488"/>
                  <a:gd name="T3" fmla="*/ 2147483646 h 480"/>
                  <a:gd name="T4" fmla="*/ 2147483646 w 1488"/>
                  <a:gd name="T5" fmla="*/ 0 h 480"/>
                  <a:gd name="T6" fmla="*/ 0 60000 65536"/>
                  <a:gd name="T7" fmla="*/ 0 60000 65536"/>
                  <a:gd name="T8" fmla="*/ 0 60000 65536"/>
                  <a:gd name="T9" fmla="*/ 0 w 1488"/>
                  <a:gd name="T10" fmla="*/ 0 h 480"/>
                  <a:gd name="T11" fmla="*/ 1488 w 1488"/>
                  <a:gd name="T12" fmla="*/ 480 h 480"/>
                </a:gdLst>
                <a:ahLst/>
                <a:cxnLst>
                  <a:cxn ang="T6">
                    <a:pos x="T0" y="T1"/>
                  </a:cxn>
                  <a:cxn ang="T7">
                    <a:pos x="T2" y="T3"/>
                  </a:cxn>
                  <a:cxn ang="T8">
                    <a:pos x="T4" y="T5"/>
                  </a:cxn>
                </a:cxnLst>
                <a:rect l="T9" t="T10" r="T11" b="T12"/>
                <a:pathLst>
                  <a:path w="1488" h="480">
                    <a:moveTo>
                      <a:pt x="0" y="480"/>
                    </a:moveTo>
                    <a:cubicBezTo>
                      <a:pt x="140" y="328"/>
                      <a:pt x="280" y="176"/>
                      <a:pt x="528" y="96"/>
                    </a:cubicBezTo>
                    <a:cubicBezTo>
                      <a:pt x="776" y="16"/>
                      <a:pt x="1132" y="8"/>
                      <a:pt x="1488" y="0"/>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34185" name="Rectangle 5"/>
              <p:cNvSpPr>
                <a:spLocks noChangeArrowheads="1"/>
              </p:cNvSpPr>
              <p:nvPr/>
            </p:nvSpPr>
            <p:spPr bwMode="auto">
              <a:xfrm>
                <a:off x="1488" y="1872"/>
                <a:ext cx="2496" cy="201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134183" name="Freeform 6"/>
            <p:cNvSpPr>
              <a:spLocks/>
            </p:cNvSpPr>
            <p:nvPr/>
          </p:nvSpPr>
          <p:spPr bwMode="auto">
            <a:xfrm>
              <a:off x="1488" y="3120"/>
              <a:ext cx="2784" cy="816"/>
            </a:xfrm>
            <a:custGeom>
              <a:avLst/>
              <a:gdLst>
                <a:gd name="T0" fmla="*/ 0 w 2784"/>
                <a:gd name="T1" fmla="*/ 0 h 816"/>
                <a:gd name="T2" fmla="*/ 240 w 2784"/>
                <a:gd name="T3" fmla="*/ 240 h 816"/>
                <a:gd name="T4" fmla="*/ 576 w 2784"/>
                <a:gd name="T5" fmla="*/ 480 h 816"/>
                <a:gd name="T6" fmla="*/ 1008 w 2784"/>
                <a:gd name="T7" fmla="*/ 624 h 816"/>
                <a:gd name="T8" fmla="*/ 1968 w 2784"/>
                <a:gd name="T9" fmla="*/ 768 h 816"/>
                <a:gd name="T10" fmla="*/ 2784 w 2784"/>
                <a:gd name="T11" fmla="*/ 816 h 816"/>
                <a:gd name="T12" fmla="*/ 0 60000 65536"/>
                <a:gd name="T13" fmla="*/ 0 60000 65536"/>
                <a:gd name="T14" fmla="*/ 0 60000 65536"/>
                <a:gd name="T15" fmla="*/ 0 60000 65536"/>
                <a:gd name="T16" fmla="*/ 0 60000 65536"/>
                <a:gd name="T17" fmla="*/ 0 60000 65536"/>
                <a:gd name="T18" fmla="*/ 0 w 2784"/>
                <a:gd name="T19" fmla="*/ 0 h 816"/>
                <a:gd name="T20" fmla="*/ 2784 w 2784"/>
                <a:gd name="T21" fmla="*/ 816 h 816"/>
              </a:gdLst>
              <a:ahLst/>
              <a:cxnLst>
                <a:cxn ang="T12">
                  <a:pos x="T0" y="T1"/>
                </a:cxn>
                <a:cxn ang="T13">
                  <a:pos x="T2" y="T3"/>
                </a:cxn>
                <a:cxn ang="T14">
                  <a:pos x="T4" y="T5"/>
                </a:cxn>
                <a:cxn ang="T15">
                  <a:pos x="T6" y="T7"/>
                </a:cxn>
                <a:cxn ang="T16">
                  <a:pos x="T8" y="T9"/>
                </a:cxn>
                <a:cxn ang="T17">
                  <a:pos x="T10" y="T11"/>
                </a:cxn>
              </a:cxnLst>
              <a:rect l="T18" t="T19" r="T20" b="T21"/>
              <a:pathLst>
                <a:path w="2784" h="816">
                  <a:moveTo>
                    <a:pt x="0" y="0"/>
                  </a:moveTo>
                  <a:cubicBezTo>
                    <a:pt x="72" y="80"/>
                    <a:pt x="144" y="160"/>
                    <a:pt x="240" y="240"/>
                  </a:cubicBezTo>
                  <a:cubicBezTo>
                    <a:pt x="336" y="320"/>
                    <a:pt x="448" y="416"/>
                    <a:pt x="576" y="480"/>
                  </a:cubicBezTo>
                  <a:cubicBezTo>
                    <a:pt x="704" y="544"/>
                    <a:pt x="776" y="576"/>
                    <a:pt x="1008" y="624"/>
                  </a:cubicBezTo>
                  <a:cubicBezTo>
                    <a:pt x="1240" y="672"/>
                    <a:pt x="1672" y="736"/>
                    <a:pt x="1968" y="768"/>
                  </a:cubicBezTo>
                  <a:cubicBezTo>
                    <a:pt x="2264" y="800"/>
                    <a:pt x="2640" y="808"/>
                    <a:pt x="2784" y="816"/>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4" name="Group 7"/>
          <p:cNvGrpSpPr>
            <a:grpSpLocks/>
          </p:cNvGrpSpPr>
          <p:nvPr/>
        </p:nvGrpSpPr>
        <p:grpSpPr bwMode="auto">
          <a:xfrm>
            <a:off x="1878013" y="3438525"/>
            <a:ext cx="331787" cy="1676400"/>
            <a:chOff x="1423" y="3120"/>
            <a:chExt cx="209" cy="1056"/>
          </a:xfrm>
        </p:grpSpPr>
        <p:sp>
          <p:nvSpPr>
            <p:cNvPr id="134180" name="Text Box 8"/>
            <p:cNvSpPr txBox="1">
              <a:spLocks noChangeArrowheads="1"/>
            </p:cNvSpPr>
            <p:nvPr/>
          </p:nvSpPr>
          <p:spPr bwMode="auto">
            <a:xfrm>
              <a:off x="1423" y="3945"/>
              <a:ext cx="20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a:t>
              </a:r>
              <a:r>
                <a:rPr lang="en-US" altLang="fr-FR" sz="1800" baseline="-25000">
                  <a:latin typeface="Arial" panose="020B0604020202020204" pitchFamily="34" charset="0"/>
                </a:rPr>
                <a:t>1</a:t>
              </a:r>
              <a:endParaRPr lang="en-US" altLang="fr-FR" sz="1800">
                <a:latin typeface="Arial" panose="020B0604020202020204" pitchFamily="34" charset="0"/>
              </a:endParaRPr>
            </a:p>
          </p:txBody>
        </p:sp>
        <p:sp>
          <p:nvSpPr>
            <p:cNvPr id="134181" name="Line 9"/>
            <p:cNvSpPr>
              <a:spLocks noChangeShapeType="1"/>
            </p:cNvSpPr>
            <p:nvPr/>
          </p:nvSpPr>
          <p:spPr bwMode="auto">
            <a:xfrm>
              <a:off x="1488" y="3120"/>
              <a:ext cx="0" cy="81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46090" name="Freeform 10"/>
          <p:cNvSpPr>
            <a:spLocks/>
          </p:cNvSpPr>
          <p:nvPr/>
        </p:nvSpPr>
        <p:spPr bwMode="auto">
          <a:xfrm>
            <a:off x="1219200" y="2066925"/>
            <a:ext cx="4648200" cy="2667000"/>
          </a:xfrm>
          <a:custGeom>
            <a:avLst/>
            <a:gdLst>
              <a:gd name="T0" fmla="*/ 0 w 1488"/>
              <a:gd name="T1" fmla="*/ 2147483646 h 480"/>
              <a:gd name="T2" fmla="*/ 2147483646 w 1488"/>
              <a:gd name="T3" fmla="*/ 2147483646 h 480"/>
              <a:gd name="T4" fmla="*/ 2147483646 w 1488"/>
              <a:gd name="T5" fmla="*/ 0 h 480"/>
              <a:gd name="T6" fmla="*/ 0 60000 65536"/>
              <a:gd name="T7" fmla="*/ 0 60000 65536"/>
              <a:gd name="T8" fmla="*/ 0 60000 65536"/>
              <a:gd name="T9" fmla="*/ 0 w 1488"/>
              <a:gd name="T10" fmla="*/ 0 h 480"/>
              <a:gd name="T11" fmla="*/ 1488 w 1488"/>
              <a:gd name="T12" fmla="*/ 480 h 480"/>
            </a:gdLst>
            <a:ahLst/>
            <a:cxnLst>
              <a:cxn ang="T6">
                <a:pos x="T0" y="T1"/>
              </a:cxn>
              <a:cxn ang="T7">
                <a:pos x="T2" y="T3"/>
              </a:cxn>
              <a:cxn ang="T8">
                <a:pos x="T4" y="T5"/>
              </a:cxn>
            </a:cxnLst>
            <a:rect l="T9" t="T10" r="T11" b="T12"/>
            <a:pathLst>
              <a:path w="1488" h="480">
                <a:moveTo>
                  <a:pt x="0" y="480"/>
                </a:moveTo>
                <a:cubicBezTo>
                  <a:pt x="140" y="328"/>
                  <a:pt x="280" y="176"/>
                  <a:pt x="528" y="96"/>
                </a:cubicBezTo>
                <a:cubicBezTo>
                  <a:pt x="776" y="16"/>
                  <a:pt x="1132" y="8"/>
                  <a:pt x="1488" y="0"/>
                </a:cubicBezTo>
              </a:path>
            </a:pathLst>
          </a:custGeom>
          <a:noFill/>
          <a:ln w="952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34149" name="Rectangle 15"/>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34150" name="Espace réservé du numéro de diapositive 3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99977C5-32CF-4CCE-93F6-04E3C6470134}" type="slidenum">
              <a:rPr lang="en-US" altLang="fr-FR" sz="1000" smtClean="0">
                <a:solidFill>
                  <a:srgbClr val="292929"/>
                </a:solidFill>
                <a:latin typeface="Arial" panose="020B0604020202020204" pitchFamily="34" charset="0"/>
              </a:rPr>
              <a:pPr>
                <a:spcBef>
                  <a:spcPct val="0"/>
                </a:spcBef>
                <a:buClrTx/>
                <a:buSzTx/>
                <a:buFontTx/>
                <a:buNone/>
              </a:pPr>
              <a:t>65</a:t>
            </a:fld>
            <a:endParaRPr lang="en-US" altLang="fr-FR" sz="1000" smtClean="0">
              <a:solidFill>
                <a:srgbClr val="292929"/>
              </a:solidFill>
              <a:latin typeface="Arial" panose="020B0604020202020204" pitchFamily="34" charset="0"/>
            </a:endParaRPr>
          </a:p>
        </p:txBody>
      </p:sp>
      <p:sp>
        <p:nvSpPr>
          <p:cNvPr id="134151" name="Rectangle 16"/>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4152" name="Text Box 17"/>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
        <p:nvSpPr>
          <p:cNvPr id="134153" name="Line 20"/>
          <p:cNvSpPr>
            <a:spLocks noChangeShapeType="1"/>
          </p:cNvSpPr>
          <p:nvPr/>
        </p:nvSpPr>
        <p:spPr bwMode="auto">
          <a:xfrm flipV="1">
            <a:off x="1219200" y="1838325"/>
            <a:ext cx="0" cy="2895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34154" name="Line 21"/>
          <p:cNvSpPr>
            <a:spLocks noChangeShapeType="1"/>
          </p:cNvSpPr>
          <p:nvPr/>
        </p:nvSpPr>
        <p:spPr bwMode="auto">
          <a:xfrm>
            <a:off x="609600" y="4733925"/>
            <a:ext cx="5943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nvGrpSpPr>
          <p:cNvPr id="5" name="Group 62"/>
          <p:cNvGrpSpPr>
            <a:grpSpLocks/>
          </p:cNvGrpSpPr>
          <p:nvPr/>
        </p:nvGrpSpPr>
        <p:grpSpPr bwMode="auto">
          <a:xfrm>
            <a:off x="1219200" y="1914525"/>
            <a:ext cx="4572000" cy="3140075"/>
            <a:chOff x="768" y="1206"/>
            <a:chExt cx="2880" cy="1978"/>
          </a:xfrm>
        </p:grpSpPr>
        <p:grpSp>
          <p:nvGrpSpPr>
            <p:cNvPr id="134175" name="Group 11"/>
            <p:cNvGrpSpPr>
              <a:grpSpLocks/>
            </p:cNvGrpSpPr>
            <p:nvPr/>
          </p:nvGrpSpPr>
          <p:grpSpPr bwMode="auto">
            <a:xfrm>
              <a:off x="1584" y="1302"/>
              <a:ext cx="144" cy="1882"/>
              <a:chOff x="1824" y="2256"/>
              <a:chExt cx="144" cy="1882"/>
            </a:xfrm>
          </p:grpSpPr>
          <p:sp>
            <p:nvSpPr>
              <p:cNvPr id="134178" name="Text Box 12"/>
              <p:cNvSpPr txBox="1">
                <a:spLocks noChangeArrowheads="1"/>
              </p:cNvSpPr>
              <p:nvPr/>
            </p:nvSpPr>
            <p:spPr bwMode="auto">
              <a:xfrm>
                <a:off x="1824" y="3888"/>
                <a:ext cx="1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a:latin typeface="Arial" panose="020B0604020202020204" pitchFamily="34" charset="0"/>
                    <a:sym typeface="Symbol" panose="05050102010706020507" pitchFamily="18" charset="2"/>
                  </a:rPr>
                  <a:t></a:t>
                </a:r>
              </a:p>
            </p:txBody>
          </p:sp>
          <p:sp>
            <p:nvSpPr>
              <p:cNvPr id="134179" name="Line 13"/>
              <p:cNvSpPr>
                <a:spLocks noChangeShapeType="1"/>
              </p:cNvSpPr>
              <p:nvPr/>
            </p:nvSpPr>
            <p:spPr bwMode="auto">
              <a:xfrm flipV="1">
                <a:off x="1872" y="2256"/>
                <a:ext cx="0" cy="168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34176" name="Line 14"/>
            <p:cNvSpPr>
              <a:spLocks noChangeShapeType="1"/>
            </p:cNvSpPr>
            <p:nvPr/>
          </p:nvSpPr>
          <p:spPr bwMode="auto">
            <a:xfrm flipV="1">
              <a:off x="768" y="1206"/>
              <a:ext cx="912" cy="17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34177" name="Line 23"/>
            <p:cNvSpPr>
              <a:spLocks noChangeShapeType="1"/>
            </p:cNvSpPr>
            <p:nvPr/>
          </p:nvSpPr>
          <p:spPr bwMode="auto">
            <a:xfrm flipH="1">
              <a:off x="768" y="1302"/>
              <a:ext cx="288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34156" name="Text Box 32"/>
          <p:cNvSpPr txBox="1">
            <a:spLocks noChangeArrowheads="1"/>
          </p:cNvSpPr>
          <p:nvPr/>
        </p:nvSpPr>
        <p:spPr bwMode="auto">
          <a:xfrm>
            <a:off x="6629400" y="4581525"/>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t</a:t>
            </a:r>
          </a:p>
        </p:txBody>
      </p:sp>
      <p:graphicFrame>
        <p:nvGraphicFramePr>
          <p:cNvPr id="134157" name="Object 2"/>
          <p:cNvGraphicFramePr>
            <a:graphicFrameLocks noChangeAspect="1"/>
          </p:cNvGraphicFramePr>
          <p:nvPr/>
        </p:nvGraphicFramePr>
        <p:xfrm>
          <a:off x="1066800" y="1533525"/>
          <a:ext cx="306388" cy="234950"/>
        </p:xfrm>
        <a:graphic>
          <a:graphicData uri="http://schemas.openxmlformats.org/presentationml/2006/ole">
            <mc:AlternateContent xmlns:mc="http://schemas.openxmlformats.org/markup-compatibility/2006">
              <mc:Choice xmlns:v="urn:schemas-microsoft-com:vml" Requires="v">
                <p:oleObj spid="_x0000_s134298" name="Equation" r:id="rId4" imgW="215619" imgH="164885" progId="Equation.3">
                  <p:embed/>
                </p:oleObj>
              </mc:Choice>
              <mc:Fallback>
                <p:oleObj name="Equation" r:id="rId4" imgW="215619" imgH="164885"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1533525"/>
                        <a:ext cx="306388" cy="234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17" name="Freeform 37"/>
          <p:cNvSpPr>
            <a:spLocks/>
          </p:cNvSpPr>
          <p:nvPr/>
        </p:nvSpPr>
        <p:spPr bwMode="auto">
          <a:xfrm>
            <a:off x="1219200" y="3438525"/>
            <a:ext cx="4648200" cy="1295400"/>
          </a:xfrm>
          <a:custGeom>
            <a:avLst/>
            <a:gdLst>
              <a:gd name="T0" fmla="*/ 0 w 1488"/>
              <a:gd name="T1" fmla="*/ 2147483646 h 480"/>
              <a:gd name="T2" fmla="*/ 2147483646 w 1488"/>
              <a:gd name="T3" fmla="*/ 2147483646 h 480"/>
              <a:gd name="T4" fmla="*/ 2147483646 w 1488"/>
              <a:gd name="T5" fmla="*/ 0 h 480"/>
              <a:gd name="T6" fmla="*/ 0 60000 65536"/>
              <a:gd name="T7" fmla="*/ 0 60000 65536"/>
              <a:gd name="T8" fmla="*/ 0 60000 65536"/>
              <a:gd name="T9" fmla="*/ 0 w 1488"/>
              <a:gd name="T10" fmla="*/ 0 h 480"/>
              <a:gd name="T11" fmla="*/ 1488 w 1488"/>
              <a:gd name="T12" fmla="*/ 480 h 480"/>
            </a:gdLst>
            <a:ahLst/>
            <a:cxnLst>
              <a:cxn ang="T6">
                <a:pos x="T0" y="T1"/>
              </a:cxn>
              <a:cxn ang="T7">
                <a:pos x="T2" y="T3"/>
              </a:cxn>
              <a:cxn ang="T8">
                <a:pos x="T4" y="T5"/>
              </a:cxn>
            </a:cxnLst>
            <a:rect l="T9" t="T10" r="T11" b="T12"/>
            <a:pathLst>
              <a:path w="1488" h="480">
                <a:moveTo>
                  <a:pt x="0" y="480"/>
                </a:moveTo>
                <a:cubicBezTo>
                  <a:pt x="140" y="328"/>
                  <a:pt x="280" y="176"/>
                  <a:pt x="528" y="96"/>
                </a:cubicBezTo>
                <a:cubicBezTo>
                  <a:pt x="776" y="16"/>
                  <a:pt x="1132" y="8"/>
                  <a:pt x="1488" y="0"/>
                </a:cubicBezTo>
              </a:path>
            </a:pathLst>
          </a:custGeom>
          <a:noFill/>
          <a:ln w="952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nvGrpSpPr>
          <p:cNvPr id="7" name="Group 74"/>
          <p:cNvGrpSpPr>
            <a:grpSpLocks/>
          </p:cNvGrpSpPr>
          <p:nvPr/>
        </p:nvGrpSpPr>
        <p:grpSpPr bwMode="auto">
          <a:xfrm>
            <a:off x="3644900" y="2286000"/>
            <a:ext cx="2043113" cy="636588"/>
            <a:chOff x="2296" y="1440"/>
            <a:chExt cx="1287" cy="401"/>
          </a:xfrm>
        </p:grpSpPr>
        <p:graphicFrame>
          <p:nvGraphicFramePr>
            <p:cNvPr id="134173" name="Object 8"/>
            <p:cNvGraphicFramePr>
              <a:graphicFrameLocks noChangeAspect="1"/>
            </p:cNvGraphicFramePr>
            <p:nvPr/>
          </p:nvGraphicFramePr>
          <p:xfrm>
            <a:off x="2592" y="1488"/>
            <a:ext cx="991" cy="353"/>
          </p:xfrm>
          <a:graphic>
            <a:graphicData uri="http://schemas.openxmlformats.org/presentationml/2006/ole">
              <mc:AlternateContent xmlns:mc="http://schemas.openxmlformats.org/markup-compatibility/2006">
                <mc:Choice xmlns:v="urn:schemas-microsoft-com:vml" Requires="v">
                  <p:oleObj spid="_x0000_s134299" name="Equation" r:id="rId6" imgW="1104900" imgH="393700" progId="Equation.3">
                    <p:embed/>
                  </p:oleObj>
                </mc:Choice>
                <mc:Fallback>
                  <p:oleObj name="Equation" r:id="rId6" imgW="1104900" imgH="3937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2" y="1488"/>
                          <a:ext cx="991" cy="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74" name="Line 66"/>
            <p:cNvSpPr>
              <a:spLocks noChangeShapeType="1"/>
            </p:cNvSpPr>
            <p:nvPr/>
          </p:nvSpPr>
          <p:spPr bwMode="auto">
            <a:xfrm flipH="1" flipV="1">
              <a:off x="2296" y="1440"/>
              <a:ext cx="28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46147" name="Oval 67"/>
          <p:cNvSpPr>
            <a:spLocks noChangeArrowheads="1"/>
          </p:cNvSpPr>
          <p:nvPr/>
        </p:nvSpPr>
        <p:spPr bwMode="auto">
          <a:xfrm>
            <a:off x="1905000" y="3352800"/>
            <a:ext cx="152400" cy="152400"/>
          </a:xfrm>
          <a:prstGeom prst="ellipse">
            <a:avLst/>
          </a:prstGeom>
          <a:noFill/>
          <a:ln w="28575">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nvGrpSpPr>
          <p:cNvPr id="8" name="Group 75"/>
          <p:cNvGrpSpPr>
            <a:grpSpLocks/>
          </p:cNvGrpSpPr>
          <p:nvPr/>
        </p:nvGrpSpPr>
        <p:grpSpPr bwMode="auto">
          <a:xfrm>
            <a:off x="609600" y="2819400"/>
            <a:ext cx="5562600" cy="747713"/>
            <a:chOff x="384" y="1776"/>
            <a:chExt cx="3504" cy="471"/>
          </a:xfrm>
        </p:grpSpPr>
        <p:graphicFrame>
          <p:nvGraphicFramePr>
            <p:cNvPr id="134168" name="Object 6"/>
            <p:cNvGraphicFramePr>
              <a:graphicFrameLocks noChangeAspect="1"/>
            </p:cNvGraphicFramePr>
            <p:nvPr/>
          </p:nvGraphicFramePr>
          <p:xfrm>
            <a:off x="384" y="2042"/>
            <a:ext cx="307" cy="205"/>
          </p:xfrm>
          <a:graphic>
            <a:graphicData uri="http://schemas.openxmlformats.org/presentationml/2006/ole">
              <mc:AlternateContent xmlns:mc="http://schemas.openxmlformats.org/markup-compatibility/2006">
                <mc:Choice xmlns:v="urn:schemas-microsoft-com:vml" Requires="v">
                  <p:oleObj spid="_x0000_s134300" name="Equation" r:id="rId8" imgW="342751" imgH="228501" progId="Equation.3">
                    <p:embed/>
                  </p:oleObj>
                </mc:Choice>
                <mc:Fallback>
                  <p:oleObj name="Equation" r:id="rId8" imgW="342751" imgH="228501"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 y="2042"/>
                          <a:ext cx="307"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69" name="Line 30"/>
            <p:cNvSpPr>
              <a:spLocks noChangeAspect="1" noChangeShapeType="1"/>
            </p:cNvSpPr>
            <p:nvPr/>
          </p:nvSpPr>
          <p:spPr bwMode="auto">
            <a:xfrm>
              <a:off x="768" y="2166"/>
              <a:ext cx="3120" cy="0"/>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34170" name="Group 73"/>
            <p:cNvGrpSpPr>
              <a:grpSpLocks/>
            </p:cNvGrpSpPr>
            <p:nvPr/>
          </p:nvGrpSpPr>
          <p:grpSpPr bwMode="auto">
            <a:xfrm>
              <a:off x="2064" y="1776"/>
              <a:ext cx="354" cy="390"/>
              <a:chOff x="2321" y="3216"/>
              <a:chExt cx="354" cy="390"/>
            </a:xfrm>
          </p:grpSpPr>
          <p:sp>
            <p:nvSpPr>
              <p:cNvPr id="134171" name="Line 69"/>
              <p:cNvSpPr>
                <a:spLocks noChangeShapeType="1"/>
              </p:cNvSpPr>
              <p:nvPr/>
            </p:nvSpPr>
            <p:spPr bwMode="auto">
              <a:xfrm flipH="1">
                <a:off x="2321" y="3462"/>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aphicFrame>
            <p:nvGraphicFramePr>
              <p:cNvPr id="134172" name="Object 7"/>
              <p:cNvGraphicFramePr>
                <a:graphicFrameLocks noChangeAspect="1"/>
              </p:cNvGraphicFramePr>
              <p:nvPr/>
            </p:nvGraphicFramePr>
            <p:xfrm>
              <a:off x="2448" y="3216"/>
              <a:ext cx="227" cy="353"/>
            </p:xfrm>
            <a:graphic>
              <a:graphicData uri="http://schemas.openxmlformats.org/presentationml/2006/ole">
                <mc:AlternateContent xmlns:mc="http://schemas.openxmlformats.org/markup-compatibility/2006">
                  <mc:Choice xmlns:v="urn:schemas-microsoft-com:vml" Requires="v">
                    <p:oleObj spid="_x0000_s134301" name="Equation" r:id="rId10" imgW="253890" imgH="393529" progId="Equation.3">
                      <p:embed/>
                    </p:oleObj>
                  </mc:Choice>
                  <mc:Fallback>
                    <p:oleObj name="Equation" r:id="rId10" imgW="253890" imgH="393529"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48" y="3216"/>
                            <a:ext cx="227" cy="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46156" name="Freeform 76"/>
          <p:cNvSpPr>
            <a:spLocks/>
          </p:cNvSpPr>
          <p:nvPr/>
        </p:nvSpPr>
        <p:spPr bwMode="auto">
          <a:xfrm>
            <a:off x="2057400" y="1447800"/>
            <a:ext cx="4267200" cy="1828800"/>
          </a:xfrm>
          <a:custGeom>
            <a:avLst/>
            <a:gdLst>
              <a:gd name="T0" fmla="*/ 0 w 2688"/>
              <a:gd name="T1" fmla="*/ 2147483646 h 1152"/>
              <a:gd name="T2" fmla="*/ 2147483646 w 2688"/>
              <a:gd name="T3" fmla="*/ 2147483646 h 1152"/>
              <a:gd name="T4" fmla="*/ 2147483646 w 2688"/>
              <a:gd name="T5" fmla="*/ 2147483646 h 1152"/>
              <a:gd name="T6" fmla="*/ 2147483646 w 2688"/>
              <a:gd name="T7" fmla="*/ 2147483646 h 1152"/>
              <a:gd name="T8" fmla="*/ 2147483646 w 2688"/>
              <a:gd name="T9" fmla="*/ 0 h 1152"/>
              <a:gd name="T10" fmla="*/ 0 60000 65536"/>
              <a:gd name="T11" fmla="*/ 0 60000 65536"/>
              <a:gd name="T12" fmla="*/ 0 60000 65536"/>
              <a:gd name="T13" fmla="*/ 0 60000 65536"/>
              <a:gd name="T14" fmla="*/ 0 60000 65536"/>
              <a:gd name="T15" fmla="*/ 0 w 2688"/>
              <a:gd name="T16" fmla="*/ 0 h 1152"/>
              <a:gd name="T17" fmla="*/ 2688 w 2688"/>
              <a:gd name="T18" fmla="*/ 1152 h 1152"/>
            </a:gdLst>
            <a:ahLst/>
            <a:cxnLst>
              <a:cxn ang="T10">
                <a:pos x="T0" y="T1"/>
              </a:cxn>
              <a:cxn ang="T11">
                <a:pos x="T2" y="T3"/>
              </a:cxn>
              <a:cxn ang="T12">
                <a:pos x="T4" y="T5"/>
              </a:cxn>
              <a:cxn ang="T13">
                <a:pos x="T6" y="T7"/>
              </a:cxn>
              <a:cxn ang="T14">
                <a:pos x="T8" y="T9"/>
              </a:cxn>
            </a:cxnLst>
            <a:rect l="T15" t="T16" r="T17" b="T18"/>
            <a:pathLst>
              <a:path w="2688" h="1152">
                <a:moveTo>
                  <a:pt x="0" y="1152"/>
                </a:moveTo>
                <a:cubicBezTo>
                  <a:pt x="144" y="944"/>
                  <a:pt x="288" y="736"/>
                  <a:pt x="480" y="576"/>
                </a:cubicBezTo>
                <a:cubicBezTo>
                  <a:pt x="672" y="416"/>
                  <a:pt x="912" y="280"/>
                  <a:pt x="1152" y="192"/>
                </a:cubicBezTo>
                <a:cubicBezTo>
                  <a:pt x="1392" y="104"/>
                  <a:pt x="1664" y="80"/>
                  <a:pt x="1920" y="48"/>
                </a:cubicBezTo>
                <a:cubicBezTo>
                  <a:pt x="2176" y="16"/>
                  <a:pt x="2432" y="8"/>
                  <a:pt x="2688" y="0"/>
                </a:cubicBezTo>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fr-FR"/>
          </a:p>
        </p:txBody>
      </p:sp>
      <p:graphicFrame>
        <p:nvGraphicFramePr>
          <p:cNvPr id="46157" name="Object 3"/>
          <p:cNvGraphicFramePr>
            <a:graphicFrameLocks noChangeAspect="1"/>
          </p:cNvGraphicFramePr>
          <p:nvPr/>
        </p:nvGraphicFramePr>
        <p:xfrm>
          <a:off x="6705600" y="1143000"/>
          <a:ext cx="1682750" cy="560388"/>
        </p:xfrm>
        <a:graphic>
          <a:graphicData uri="http://schemas.openxmlformats.org/presentationml/2006/ole">
            <mc:AlternateContent xmlns:mc="http://schemas.openxmlformats.org/markup-compatibility/2006">
              <mc:Choice xmlns:v="urn:schemas-microsoft-com:vml" Requires="v">
                <p:oleObj spid="_x0000_s134302" name="Equation" r:id="rId12" imgW="1180588" imgH="393529" progId="Equation.3">
                  <p:embed/>
                </p:oleObj>
              </mc:Choice>
              <mc:Fallback>
                <p:oleObj name="Equation" r:id="rId12" imgW="1180588" imgH="393529" progId="Equation.3">
                  <p:embed/>
                  <p:pic>
                    <p:nvPicPr>
                      <p:cNvPr id="0" name="Object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05600" y="1143000"/>
                        <a:ext cx="168275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58" name="Object 4"/>
          <p:cNvGraphicFramePr>
            <a:graphicFrameLocks noChangeAspect="1"/>
          </p:cNvGraphicFramePr>
          <p:nvPr/>
        </p:nvGraphicFramePr>
        <p:xfrm>
          <a:off x="6705600" y="1219200"/>
          <a:ext cx="1501775" cy="342900"/>
        </p:xfrm>
        <a:graphic>
          <a:graphicData uri="http://schemas.openxmlformats.org/presentationml/2006/ole">
            <mc:AlternateContent xmlns:mc="http://schemas.openxmlformats.org/markup-compatibility/2006">
              <mc:Choice xmlns:v="urn:schemas-microsoft-com:vml" Requires="v">
                <p:oleObj spid="_x0000_s134303" name="Equation" r:id="rId14" imgW="1054100" imgH="241300" progId="Equation.3">
                  <p:embed/>
                </p:oleObj>
              </mc:Choice>
              <mc:Fallback>
                <p:oleObj name="Equation" r:id="rId14" imgW="1054100" imgH="241300" progId="Equation.3">
                  <p:embed/>
                  <p:pic>
                    <p:nvPicPr>
                      <p:cNvPr id="0" name="Object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05600" y="1219200"/>
                        <a:ext cx="1501775"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59" name="Object 5"/>
          <p:cNvGraphicFramePr>
            <a:graphicFrameLocks noChangeAspect="1"/>
          </p:cNvGraphicFramePr>
          <p:nvPr/>
        </p:nvGraphicFramePr>
        <p:xfrm>
          <a:off x="6172200" y="838200"/>
          <a:ext cx="2362200" cy="890588"/>
        </p:xfrm>
        <a:graphic>
          <a:graphicData uri="http://schemas.openxmlformats.org/presentationml/2006/ole">
            <mc:AlternateContent xmlns:mc="http://schemas.openxmlformats.org/markup-compatibility/2006">
              <mc:Choice xmlns:v="urn:schemas-microsoft-com:vml" Requires="v">
                <p:oleObj spid="_x0000_s134304" name="Equation" r:id="rId16" imgW="1143000" imgH="431800" progId="Equation.3">
                  <p:embed/>
                </p:oleObj>
              </mc:Choice>
              <mc:Fallback>
                <p:oleObj name="Equation" r:id="rId16" imgW="1143000" imgH="431800" progId="Equation.3">
                  <p:embed/>
                  <p:pic>
                    <p:nvPicPr>
                      <p:cNvPr id="0" name="Object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72200" y="838200"/>
                        <a:ext cx="2362200" cy="89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66" name="Text Box 8"/>
          <p:cNvSpPr txBox="1">
            <a:spLocks noChangeArrowheads="1"/>
          </p:cNvSpPr>
          <p:nvPr/>
        </p:nvSpPr>
        <p:spPr bwMode="auto">
          <a:xfrm>
            <a:off x="762000" y="1143000"/>
            <a:ext cx="399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Service intermittent à courte durée</a:t>
            </a:r>
          </a:p>
        </p:txBody>
      </p:sp>
      <p:sp>
        <p:nvSpPr>
          <p:cNvPr id="42" name="Espace réservé du pied de page 41"/>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6117"/>
                                        </p:tgtEl>
                                        <p:attrNameLst>
                                          <p:attrName>style.visibility</p:attrName>
                                        </p:attrNameLst>
                                      </p:cBhvr>
                                      <p:to>
                                        <p:strVal val="visible"/>
                                      </p:to>
                                    </p:set>
                                    <p:animEffect transition="in" filter="wipe(down)">
                                      <p:cBhvr>
                                        <p:cTn id="7" dur="500"/>
                                        <p:tgtEl>
                                          <p:spTgt spid="46117"/>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6090"/>
                                        </p:tgtEl>
                                        <p:attrNameLst>
                                          <p:attrName>style.visibility</p:attrName>
                                        </p:attrNameLst>
                                      </p:cBhvr>
                                      <p:to>
                                        <p:strVal val="visible"/>
                                      </p:to>
                                    </p:set>
                                    <p:animEffect transition="in" filter="wipe(left)">
                                      <p:cBhvr>
                                        <p:cTn id="11" dur="1000"/>
                                        <p:tgtEl>
                                          <p:spTgt spid="46090"/>
                                        </p:tgtEl>
                                      </p:cBhvr>
                                    </p:animEffect>
                                  </p:childTnLst>
                                </p:cTn>
                              </p:par>
                            </p:childTnLst>
                          </p:cTn>
                        </p:par>
                        <p:par>
                          <p:cTn id="12" fill="hold" nodeType="afterGroup">
                            <p:stCondLst>
                              <p:cond delay="15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2000"/>
                                        <p:tgtEl>
                                          <p:spTgt spid="2"/>
                                        </p:tgtEl>
                                      </p:cBhvr>
                                    </p:animEffect>
                                  </p:childTnLst>
                                </p:cTn>
                              </p:par>
                            </p:childTnLst>
                          </p:cTn>
                        </p:par>
                        <p:par>
                          <p:cTn id="16" fill="hold" nodeType="afterGroup">
                            <p:stCondLst>
                              <p:cond delay="3500"/>
                            </p:stCondLst>
                            <p:childTnLst>
                              <p:par>
                                <p:cTn id="17" presetID="10"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childTnLst>
                                </p:cTn>
                              </p:par>
                            </p:childTnLst>
                          </p:cTn>
                        </p:par>
                        <p:par>
                          <p:cTn id="20" fill="hold" nodeType="afterGroup">
                            <p:stCondLst>
                              <p:cond delay="45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1000"/>
                                        <p:tgtEl>
                                          <p:spTgt spid="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32" fill="hold" grpId="0" nodeType="clickEffect">
                                  <p:stCondLst>
                                    <p:cond delay="0"/>
                                  </p:stCondLst>
                                  <p:childTnLst>
                                    <p:set>
                                      <p:cBhvr>
                                        <p:cTn id="37" dur="1" fill="hold">
                                          <p:stCondLst>
                                            <p:cond delay="0"/>
                                          </p:stCondLst>
                                        </p:cTn>
                                        <p:tgtEl>
                                          <p:spTgt spid="46147"/>
                                        </p:tgtEl>
                                        <p:attrNameLst>
                                          <p:attrName>style.visibility</p:attrName>
                                        </p:attrNameLst>
                                      </p:cBhvr>
                                      <p:to>
                                        <p:strVal val="visible"/>
                                      </p:to>
                                    </p:set>
                                    <p:anim calcmode="lin" valueType="num">
                                      <p:cBhvr>
                                        <p:cTn id="38" dur="500" fill="hold"/>
                                        <p:tgtEl>
                                          <p:spTgt spid="46147"/>
                                        </p:tgtEl>
                                        <p:attrNameLst>
                                          <p:attrName>ppt_w</p:attrName>
                                        </p:attrNameLst>
                                      </p:cBhvr>
                                      <p:tavLst>
                                        <p:tav tm="0">
                                          <p:val>
                                            <p:strVal val="4*#ppt_w"/>
                                          </p:val>
                                        </p:tav>
                                        <p:tav tm="100000">
                                          <p:val>
                                            <p:strVal val="#ppt_w"/>
                                          </p:val>
                                        </p:tav>
                                      </p:tavLst>
                                    </p:anim>
                                    <p:anim calcmode="lin" valueType="num">
                                      <p:cBhvr>
                                        <p:cTn id="39" dur="500" fill="hold"/>
                                        <p:tgtEl>
                                          <p:spTgt spid="46147"/>
                                        </p:tgtEl>
                                        <p:attrNameLst>
                                          <p:attrName>ppt_h</p:attrName>
                                        </p:attrNameLst>
                                      </p:cBhvr>
                                      <p:tavLst>
                                        <p:tav tm="0">
                                          <p:val>
                                            <p:strVal val="4*#ppt_h"/>
                                          </p:val>
                                        </p:tav>
                                        <p:tav tm="100000">
                                          <p:val>
                                            <p:strVal val="#ppt_h"/>
                                          </p:val>
                                        </p:tav>
                                      </p:tavLst>
                                    </p:anim>
                                  </p:childTnLst>
                                </p:cTn>
                              </p:par>
                            </p:childTnLst>
                          </p:cTn>
                        </p:par>
                        <p:par>
                          <p:cTn id="40" fill="hold" nodeType="afterGroup">
                            <p:stCondLst>
                              <p:cond delay="500"/>
                            </p:stCondLst>
                            <p:childTnLst>
                              <p:par>
                                <p:cTn id="41" presetID="22" presetClass="entr" presetSubtype="4" fill="hold" grpId="0" nodeType="afterEffect">
                                  <p:stCondLst>
                                    <p:cond delay="0"/>
                                  </p:stCondLst>
                                  <p:childTnLst>
                                    <p:set>
                                      <p:cBhvr>
                                        <p:cTn id="42" dur="1" fill="hold">
                                          <p:stCondLst>
                                            <p:cond delay="0"/>
                                          </p:stCondLst>
                                        </p:cTn>
                                        <p:tgtEl>
                                          <p:spTgt spid="46156"/>
                                        </p:tgtEl>
                                        <p:attrNameLst>
                                          <p:attrName>style.visibility</p:attrName>
                                        </p:attrNameLst>
                                      </p:cBhvr>
                                      <p:to>
                                        <p:strVal val="visible"/>
                                      </p:to>
                                    </p:set>
                                    <p:animEffect transition="in" filter="wipe(down)">
                                      <p:cBhvr>
                                        <p:cTn id="43" dur="500"/>
                                        <p:tgtEl>
                                          <p:spTgt spid="46156"/>
                                        </p:tgtEl>
                                      </p:cBhvr>
                                    </p:animEffect>
                                  </p:childTnLst>
                                </p:cTn>
                              </p:par>
                            </p:childTnLst>
                          </p:cTn>
                        </p:par>
                        <p:par>
                          <p:cTn id="44" fill="hold" nodeType="afterGroup">
                            <p:stCondLst>
                              <p:cond delay="1000"/>
                            </p:stCondLst>
                            <p:childTnLst>
                              <p:par>
                                <p:cTn id="45" presetID="10" presetClass="exit" presetSubtype="0" fill="hold" grpId="1" nodeType="afterEffect">
                                  <p:stCondLst>
                                    <p:cond delay="0"/>
                                  </p:stCondLst>
                                  <p:childTnLst>
                                    <p:animEffect transition="out" filter="fade">
                                      <p:cBhvr>
                                        <p:cTn id="46" dur="1000"/>
                                        <p:tgtEl>
                                          <p:spTgt spid="46147"/>
                                        </p:tgtEl>
                                      </p:cBhvr>
                                    </p:animEffect>
                                    <p:set>
                                      <p:cBhvr>
                                        <p:cTn id="47" dur="1" fill="hold">
                                          <p:stCondLst>
                                            <p:cond delay="999"/>
                                          </p:stCondLst>
                                        </p:cTn>
                                        <p:tgtEl>
                                          <p:spTgt spid="46147"/>
                                        </p:tgtEl>
                                        <p:attrNameLst>
                                          <p:attrName>style.visibility</p:attrName>
                                        </p:attrNameLst>
                                      </p:cBhvr>
                                      <p:to>
                                        <p:strVal val="hidden"/>
                                      </p:to>
                                    </p:set>
                                  </p:childTnLst>
                                </p:cTn>
                              </p:par>
                              <p:par>
                                <p:cTn id="48" presetID="10" presetClass="exit" presetSubtype="0" fill="hold" grpId="1" nodeType="withEffect">
                                  <p:stCondLst>
                                    <p:cond delay="0"/>
                                  </p:stCondLst>
                                  <p:childTnLst>
                                    <p:animEffect transition="out" filter="fade">
                                      <p:cBhvr>
                                        <p:cTn id="49" dur="1000"/>
                                        <p:tgtEl>
                                          <p:spTgt spid="46156"/>
                                        </p:tgtEl>
                                      </p:cBhvr>
                                    </p:animEffect>
                                    <p:set>
                                      <p:cBhvr>
                                        <p:cTn id="50" dur="1" fill="hold">
                                          <p:stCondLst>
                                            <p:cond delay="999"/>
                                          </p:stCondLst>
                                        </p:cTn>
                                        <p:tgtEl>
                                          <p:spTgt spid="46156"/>
                                        </p:tgtEl>
                                        <p:attrNameLst>
                                          <p:attrName>style.visibility</p:attrName>
                                        </p:attrNameLst>
                                      </p:cBhvr>
                                      <p:to>
                                        <p:strVal val="hidden"/>
                                      </p:to>
                                    </p:set>
                                  </p:childTnLst>
                                </p:cTn>
                              </p:par>
                              <p:par>
                                <p:cTn id="51" presetID="10" presetClass="entr" presetSubtype="0" fill="hold" nodeType="withEffect">
                                  <p:stCondLst>
                                    <p:cond delay="0"/>
                                  </p:stCondLst>
                                  <p:childTnLst>
                                    <p:set>
                                      <p:cBhvr>
                                        <p:cTn id="52" dur="1" fill="hold">
                                          <p:stCondLst>
                                            <p:cond delay="0"/>
                                          </p:stCondLst>
                                        </p:cTn>
                                        <p:tgtEl>
                                          <p:spTgt spid="46157"/>
                                        </p:tgtEl>
                                        <p:attrNameLst>
                                          <p:attrName>style.visibility</p:attrName>
                                        </p:attrNameLst>
                                      </p:cBhvr>
                                      <p:to>
                                        <p:strVal val="visible"/>
                                      </p:to>
                                    </p:set>
                                    <p:animEffect transition="in" filter="fade">
                                      <p:cBhvr>
                                        <p:cTn id="53" dur="1000"/>
                                        <p:tgtEl>
                                          <p:spTgt spid="4615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0" presetClass="exit" presetSubtype="0" fill="hold" nodeType="clickEffect">
                                  <p:stCondLst>
                                    <p:cond delay="0"/>
                                  </p:stCondLst>
                                  <p:childTnLst>
                                    <p:animEffect transition="out" filter="fade">
                                      <p:cBhvr>
                                        <p:cTn id="57" dur="500"/>
                                        <p:tgtEl>
                                          <p:spTgt spid="46157"/>
                                        </p:tgtEl>
                                      </p:cBhvr>
                                    </p:animEffect>
                                    <p:set>
                                      <p:cBhvr>
                                        <p:cTn id="58" dur="1" fill="hold">
                                          <p:stCondLst>
                                            <p:cond delay="499"/>
                                          </p:stCondLst>
                                        </p:cTn>
                                        <p:tgtEl>
                                          <p:spTgt spid="46157"/>
                                        </p:tgtEl>
                                        <p:attrNameLst>
                                          <p:attrName>style.visibility</p:attrName>
                                        </p:attrNameLst>
                                      </p:cBhvr>
                                      <p:to>
                                        <p:strVal val="hidden"/>
                                      </p:to>
                                    </p:set>
                                  </p:childTnLst>
                                </p:cTn>
                              </p:par>
                            </p:childTnLst>
                          </p:cTn>
                        </p:par>
                        <p:par>
                          <p:cTn id="59" fill="hold" nodeType="afterGroup">
                            <p:stCondLst>
                              <p:cond delay="500"/>
                            </p:stCondLst>
                            <p:childTnLst>
                              <p:par>
                                <p:cTn id="60" presetID="10" presetClass="entr" presetSubtype="0" fill="hold" nodeType="afterEffect">
                                  <p:stCondLst>
                                    <p:cond delay="0"/>
                                  </p:stCondLst>
                                  <p:childTnLst>
                                    <p:set>
                                      <p:cBhvr>
                                        <p:cTn id="61" dur="1" fill="hold">
                                          <p:stCondLst>
                                            <p:cond delay="0"/>
                                          </p:stCondLst>
                                        </p:cTn>
                                        <p:tgtEl>
                                          <p:spTgt spid="46158"/>
                                        </p:tgtEl>
                                        <p:attrNameLst>
                                          <p:attrName>style.visibility</p:attrName>
                                        </p:attrNameLst>
                                      </p:cBhvr>
                                      <p:to>
                                        <p:strVal val="visible"/>
                                      </p:to>
                                    </p:set>
                                    <p:animEffect transition="in" filter="fade">
                                      <p:cBhvr>
                                        <p:cTn id="62" dur="1000"/>
                                        <p:tgtEl>
                                          <p:spTgt spid="4615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xit" presetSubtype="0" fill="hold" nodeType="clickEffect">
                                  <p:stCondLst>
                                    <p:cond delay="0"/>
                                  </p:stCondLst>
                                  <p:childTnLst>
                                    <p:animEffect transition="out" filter="fade">
                                      <p:cBhvr>
                                        <p:cTn id="66" dur="500"/>
                                        <p:tgtEl>
                                          <p:spTgt spid="46158"/>
                                        </p:tgtEl>
                                      </p:cBhvr>
                                    </p:animEffect>
                                    <p:set>
                                      <p:cBhvr>
                                        <p:cTn id="67" dur="1" fill="hold">
                                          <p:stCondLst>
                                            <p:cond delay="499"/>
                                          </p:stCondLst>
                                        </p:cTn>
                                        <p:tgtEl>
                                          <p:spTgt spid="46158"/>
                                        </p:tgtEl>
                                        <p:attrNameLst>
                                          <p:attrName>style.visibility</p:attrName>
                                        </p:attrNameLst>
                                      </p:cBhvr>
                                      <p:to>
                                        <p:strVal val="hidden"/>
                                      </p:to>
                                    </p:set>
                                  </p:childTnLst>
                                </p:cTn>
                              </p:par>
                            </p:childTnLst>
                          </p:cTn>
                        </p:par>
                        <p:par>
                          <p:cTn id="68" fill="hold" nodeType="afterGroup">
                            <p:stCondLst>
                              <p:cond delay="500"/>
                            </p:stCondLst>
                            <p:childTnLst>
                              <p:par>
                                <p:cTn id="69" presetID="23" presetClass="entr" presetSubtype="32" fill="hold" nodeType="afterEffect">
                                  <p:stCondLst>
                                    <p:cond delay="0"/>
                                  </p:stCondLst>
                                  <p:childTnLst>
                                    <p:set>
                                      <p:cBhvr>
                                        <p:cTn id="70" dur="1" fill="hold">
                                          <p:stCondLst>
                                            <p:cond delay="0"/>
                                          </p:stCondLst>
                                        </p:cTn>
                                        <p:tgtEl>
                                          <p:spTgt spid="46159"/>
                                        </p:tgtEl>
                                        <p:attrNameLst>
                                          <p:attrName>style.visibility</p:attrName>
                                        </p:attrNameLst>
                                      </p:cBhvr>
                                      <p:to>
                                        <p:strVal val="visible"/>
                                      </p:to>
                                    </p:set>
                                    <p:anim calcmode="lin" valueType="num">
                                      <p:cBhvr>
                                        <p:cTn id="71" dur="1000" fill="hold"/>
                                        <p:tgtEl>
                                          <p:spTgt spid="46159"/>
                                        </p:tgtEl>
                                        <p:attrNameLst>
                                          <p:attrName>ppt_w</p:attrName>
                                        </p:attrNameLst>
                                      </p:cBhvr>
                                      <p:tavLst>
                                        <p:tav tm="0">
                                          <p:val>
                                            <p:strVal val="4*#ppt_w"/>
                                          </p:val>
                                        </p:tav>
                                        <p:tav tm="100000">
                                          <p:val>
                                            <p:strVal val="#ppt_w"/>
                                          </p:val>
                                        </p:tav>
                                      </p:tavLst>
                                    </p:anim>
                                    <p:anim calcmode="lin" valueType="num">
                                      <p:cBhvr>
                                        <p:cTn id="72" dur="1000" fill="hold"/>
                                        <p:tgtEl>
                                          <p:spTgt spid="46159"/>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0" grpId="0" animBg="1"/>
      <p:bldP spid="46117" grpId="0" animBg="1"/>
      <p:bldP spid="46147" grpId="0" animBg="1"/>
      <p:bldP spid="46147" grpId="1" animBg="1"/>
      <p:bldP spid="46156" grpId="0" animBg="1"/>
      <p:bldP spid="46156"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11"/>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36195" name="Rectangle 12"/>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6196" name="Text Box 13"/>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
        <p:nvSpPr>
          <p:cNvPr id="136197" name="Text Box 14"/>
          <p:cNvSpPr txBox="1">
            <a:spLocks noChangeArrowheads="1"/>
          </p:cNvSpPr>
          <p:nvPr/>
        </p:nvSpPr>
        <p:spPr bwMode="auto">
          <a:xfrm>
            <a:off x="914400" y="1371600"/>
            <a:ext cx="364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 </a:t>
            </a:r>
            <a:r>
              <a:rPr lang="en-US" altLang="fr-FR" sz="1800" b="1">
                <a:latin typeface="Arial" panose="020B0604020202020204" pitchFamily="34" charset="0"/>
              </a:rPr>
              <a:t>service périodique intermittent</a:t>
            </a:r>
          </a:p>
        </p:txBody>
      </p:sp>
      <p:sp>
        <p:nvSpPr>
          <p:cNvPr id="11" name="Espace réservé du pied de page 10"/>
          <p:cNvSpPr>
            <a:spLocks noGrp="1"/>
          </p:cNvSpPr>
          <p:nvPr>
            <p:ph type="ftr" sz="quarter" idx="11"/>
          </p:nvPr>
        </p:nvSpPr>
        <p:spPr/>
        <p:txBody>
          <a:bodyPr/>
          <a:lstStyle/>
          <a:p>
            <a:pPr>
              <a:defRPr/>
            </a:pPr>
            <a:r>
              <a:rPr lang="fr-FR" dirty="0" smtClean="0"/>
              <a:t>Commande des machines  1. Intro         Ali NEJMI</a:t>
            </a:r>
            <a:endParaRPr lang="fr-FR" dirty="0"/>
          </a:p>
        </p:txBody>
      </p:sp>
      <p:sp>
        <p:nvSpPr>
          <p:cNvPr id="80903" name="Rectangle 11"/>
          <p:cNvSpPr>
            <a:spLocks noChangeArrowheads="1"/>
          </p:cNvSpPr>
          <p:nvPr/>
        </p:nvSpPr>
        <p:spPr bwMode="auto">
          <a:xfrm>
            <a:off x="762000" y="2057400"/>
            <a:ext cx="769620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Le cycle de charge est répété périodiquement. La machine n’a pas le temps de se refroidir jusqu’à la température ambiante lorsque le prochain cycle de charge est appliqué. </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La température va fluctuer et sa valeur moyenne se stabilisera finalement à une valeur stable. </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La machine peut être surchargée et le degré de surcharge varie en fonction du cycle de la charge. </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La constante de temps de refroidissement et d’échauffement peuvent être différentes selon que la machine est auto-ventilé ou à à refroidissement forcé.</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80903">
                                            <p:txEl>
                                              <p:pRg st="0" end="0"/>
                                            </p:txEl>
                                          </p:spTgt>
                                        </p:tgtEl>
                                        <p:attrNameLst>
                                          <p:attrName>style.visibility</p:attrName>
                                        </p:attrNameLst>
                                      </p:cBhvr>
                                      <p:to>
                                        <p:strVal val="visible"/>
                                      </p:to>
                                    </p:set>
                                    <p:animEffect transition="in" filter="checkerboard(across)">
                                      <p:cBhvr>
                                        <p:cTn id="7" dur="500"/>
                                        <p:tgtEl>
                                          <p:spTgt spid="809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80903">
                                            <p:txEl>
                                              <p:pRg st="2" end="2"/>
                                            </p:txEl>
                                          </p:spTgt>
                                        </p:tgtEl>
                                        <p:attrNameLst>
                                          <p:attrName>style.visibility</p:attrName>
                                        </p:attrNameLst>
                                      </p:cBhvr>
                                      <p:to>
                                        <p:strVal val="visible"/>
                                      </p:to>
                                    </p:set>
                                    <p:animEffect transition="in" filter="checkerboard(across)">
                                      <p:cBhvr>
                                        <p:cTn id="12" dur="500"/>
                                        <p:tgtEl>
                                          <p:spTgt spid="8090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80903">
                                            <p:txEl>
                                              <p:pRg st="4" end="4"/>
                                            </p:txEl>
                                          </p:spTgt>
                                        </p:tgtEl>
                                        <p:attrNameLst>
                                          <p:attrName>style.visibility</p:attrName>
                                        </p:attrNameLst>
                                      </p:cBhvr>
                                      <p:to>
                                        <p:strVal val="visible"/>
                                      </p:to>
                                    </p:set>
                                    <p:animEffect transition="in" filter="checkerboard(across)">
                                      <p:cBhvr>
                                        <p:cTn id="17" dur="500"/>
                                        <p:tgtEl>
                                          <p:spTgt spid="8090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80903">
                                            <p:txEl>
                                              <p:pRg st="6" end="6"/>
                                            </p:txEl>
                                          </p:spTgt>
                                        </p:tgtEl>
                                        <p:attrNameLst>
                                          <p:attrName>style.visibility</p:attrName>
                                        </p:attrNameLst>
                                      </p:cBhvr>
                                      <p:to>
                                        <p:strVal val="visible"/>
                                      </p:to>
                                    </p:set>
                                    <p:animEffect transition="in" filter="checkerboard(across)">
                                      <p:cBhvr>
                                        <p:cTn id="22" dur="500"/>
                                        <p:tgtEl>
                                          <p:spTgt spid="809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38243" name="Espace réservé du numéro de diapositive 2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003A856-DA63-4B09-ABE0-CD9CAB0454D0}" type="slidenum">
              <a:rPr lang="en-US" altLang="fr-FR" sz="1000" smtClean="0">
                <a:solidFill>
                  <a:srgbClr val="292929"/>
                </a:solidFill>
                <a:latin typeface="Arial" panose="020B0604020202020204" pitchFamily="34" charset="0"/>
              </a:rPr>
              <a:pPr>
                <a:spcBef>
                  <a:spcPct val="0"/>
                </a:spcBef>
                <a:buClrTx/>
                <a:buSzTx/>
                <a:buFontTx/>
                <a:buNone/>
              </a:pPr>
              <a:t>67</a:t>
            </a:fld>
            <a:endParaRPr lang="en-US" altLang="fr-FR" sz="1000" smtClean="0">
              <a:solidFill>
                <a:srgbClr val="292929"/>
              </a:solidFill>
              <a:latin typeface="Arial" panose="020B0604020202020204" pitchFamily="34" charset="0"/>
            </a:endParaRPr>
          </a:p>
        </p:txBody>
      </p:sp>
      <p:sp>
        <p:nvSpPr>
          <p:cNvPr id="138244"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8245" name="Text Box 4"/>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
        <p:nvSpPr>
          <p:cNvPr id="138246" name="Text Box 5"/>
          <p:cNvSpPr txBox="1">
            <a:spLocks noChangeArrowheads="1"/>
          </p:cNvSpPr>
          <p:nvPr/>
        </p:nvSpPr>
        <p:spPr bwMode="auto">
          <a:xfrm>
            <a:off x="990600" y="1295400"/>
            <a:ext cx="3646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 </a:t>
            </a:r>
            <a:r>
              <a:rPr lang="en-US" altLang="fr-FR" sz="1800" b="1">
                <a:latin typeface="Arial" panose="020B0604020202020204" pitchFamily="34" charset="0"/>
              </a:rPr>
              <a:t>service périodique intermittent</a:t>
            </a:r>
          </a:p>
        </p:txBody>
      </p:sp>
      <p:grpSp>
        <p:nvGrpSpPr>
          <p:cNvPr id="2" name="Group 35"/>
          <p:cNvGrpSpPr>
            <a:grpSpLocks/>
          </p:cNvGrpSpPr>
          <p:nvPr/>
        </p:nvGrpSpPr>
        <p:grpSpPr bwMode="auto">
          <a:xfrm>
            <a:off x="1371600" y="2178050"/>
            <a:ext cx="6019800" cy="2362200"/>
            <a:chOff x="864" y="1372"/>
            <a:chExt cx="3792" cy="1488"/>
          </a:xfrm>
        </p:grpSpPr>
        <p:grpSp>
          <p:nvGrpSpPr>
            <p:cNvPr id="138264" name="Group 24"/>
            <p:cNvGrpSpPr>
              <a:grpSpLocks/>
            </p:cNvGrpSpPr>
            <p:nvPr/>
          </p:nvGrpSpPr>
          <p:grpSpPr bwMode="auto">
            <a:xfrm>
              <a:off x="1104" y="1372"/>
              <a:ext cx="3552" cy="1488"/>
              <a:chOff x="1104" y="1152"/>
              <a:chExt cx="3552" cy="1488"/>
            </a:xfrm>
          </p:grpSpPr>
          <p:sp>
            <p:nvSpPr>
              <p:cNvPr id="138266" name="Rectangle 10"/>
              <p:cNvSpPr>
                <a:spLocks noChangeArrowheads="1"/>
              </p:cNvSpPr>
              <p:nvPr/>
            </p:nvSpPr>
            <p:spPr bwMode="auto">
              <a:xfrm>
                <a:off x="1104" y="1392"/>
                <a:ext cx="528" cy="1248"/>
              </a:xfrm>
              <a:prstGeom prst="rect">
                <a:avLst/>
              </a:prstGeom>
              <a:solidFill>
                <a:schemeClr val="accent1"/>
              </a:solidFill>
              <a:ln w="2857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8267" name="Rectangle 12"/>
              <p:cNvSpPr>
                <a:spLocks noChangeArrowheads="1"/>
              </p:cNvSpPr>
              <p:nvPr/>
            </p:nvSpPr>
            <p:spPr bwMode="auto">
              <a:xfrm>
                <a:off x="2160" y="1392"/>
                <a:ext cx="528" cy="1248"/>
              </a:xfrm>
              <a:prstGeom prst="rect">
                <a:avLst/>
              </a:prstGeom>
              <a:solidFill>
                <a:schemeClr val="accent1"/>
              </a:solidFill>
              <a:ln w="2857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8268" name="Rectangle 14"/>
              <p:cNvSpPr>
                <a:spLocks noChangeArrowheads="1"/>
              </p:cNvSpPr>
              <p:nvPr/>
            </p:nvSpPr>
            <p:spPr bwMode="auto">
              <a:xfrm>
                <a:off x="3216" y="1392"/>
                <a:ext cx="528" cy="1248"/>
              </a:xfrm>
              <a:prstGeom prst="rect">
                <a:avLst/>
              </a:prstGeom>
              <a:solidFill>
                <a:schemeClr val="accent1"/>
              </a:solidFill>
              <a:ln w="2857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8269" name="Line 16"/>
              <p:cNvSpPr>
                <a:spLocks noChangeShapeType="1"/>
              </p:cNvSpPr>
              <p:nvPr/>
            </p:nvSpPr>
            <p:spPr bwMode="auto">
              <a:xfrm>
                <a:off x="1104" y="2640"/>
                <a:ext cx="355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38270" name="Line 17"/>
              <p:cNvSpPr>
                <a:spLocks noChangeShapeType="1"/>
              </p:cNvSpPr>
              <p:nvPr/>
            </p:nvSpPr>
            <p:spPr bwMode="auto">
              <a:xfrm flipV="1">
                <a:off x="1104" y="1152"/>
                <a:ext cx="0" cy="1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138265" name="Text Box 25"/>
            <p:cNvSpPr txBox="1">
              <a:spLocks noChangeArrowheads="1"/>
            </p:cNvSpPr>
            <p:nvPr/>
          </p:nvSpPr>
          <p:spPr bwMode="auto">
            <a:xfrm>
              <a:off x="864" y="1516"/>
              <a:ext cx="2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p1</a:t>
              </a:r>
            </a:p>
          </p:txBody>
        </p:sp>
      </p:grpSp>
      <p:sp>
        <p:nvSpPr>
          <p:cNvPr id="138248" name="Text Box 26"/>
          <p:cNvSpPr txBox="1">
            <a:spLocks noChangeArrowheads="1"/>
          </p:cNvSpPr>
          <p:nvPr/>
        </p:nvSpPr>
        <p:spPr bwMode="auto">
          <a:xfrm>
            <a:off x="7162800" y="4540250"/>
            <a:ext cx="241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t</a:t>
            </a:r>
          </a:p>
        </p:txBody>
      </p:sp>
      <p:grpSp>
        <p:nvGrpSpPr>
          <p:cNvPr id="4" name="Group 34"/>
          <p:cNvGrpSpPr>
            <a:grpSpLocks/>
          </p:cNvGrpSpPr>
          <p:nvPr/>
        </p:nvGrpSpPr>
        <p:grpSpPr bwMode="auto">
          <a:xfrm>
            <a:off x="1676400" y="2743200"/>
            <a:ext cx="6008688" cy="1797050"/>
            <a:chOff x="1056" y="1728"/>
            <a:chExt cx="3785" cy="1132"/>
          </a:xfrm>
        </p:grpSpPr>
        <p:grpSp>
          <p:nvGrpSpPr>
            <p:cNvPr id="138251" name="Group 27"/>
            <p:cNvGrpSpPr>
              <a:grpSpLocks/>
            </p:cNvGrpSpPr>
            <p:nvPr/>
          </p:nvGrpSpPr>
          <p:grpSpPr bwMode="auto">
            <a:xfrm>
              <a:off x="1104" y="1900"/>
              <a:ext cx="3168" cy="960"/>
              <a:chOff x="1104" y="1680"/>
              <a:chExt cx="3168" cy="960"/>
            </a:xfrm>
          </p:grpSpPr>
          <p:sp>
            <p:nvSpPr>
              <p:cNvPr id="138258" name="Freeform 18"/>
              <p:cNvSpPr>
                <a:spLocks/>
              </p:cNvSpPr>
              <p:nvPr/>
            </p:nvSpPr>
            <p:spPr bwMode="auto">
              <a:xfrm>
                <a:off x="1104" y="2064"/>
                <a:ext cx="528" cy="576"/>
              </a:xfrm>
              <a:custGeom>
                <a:avLst/>
                <a:gdLst>
                  <a:gd name="T0" fmla="*/ 0 w 528"/>
                  <a:gd name="T1" fmla="*/ 576 h 576"/>
                  <a:gd name="T2" fmla="*/ 336 w 528"/>
                  <a:gd name="T3" fmla="*/ 192 h 576"/>
                  <a:gd name="T4" fmla="*/ 528 w 528"/>
                  <a:gd name="T5" fmla="*/ 0 h 576"/>
                  <a:gd name="T6" fmla="*/ 0 60000 65536"/>
                  <a:gd name="T7" fmla="*/ 0 60000 65536"/>
                  <a:gd name="T8" fmla="*/ 0 60000 65536"/>
                  <a:gd name="T9" fmla="*/ 0 w 528"/>
                  <a:gd name="T10" fmla="*/ 0 h 576"/>
                  <a:gd name="T11" fmla="*/ 528 w 528"/>
                  <a:gd name="T12" fmla="*/ 576 h 576"/>
                </a:gdLst>
                <a:ahLst/>
                <a:cxnLst>
                  <a:cxn ang="T6">
                    <a:pos x="T0" y="T1"/>
                  </a:cxn>
                  <a:cxn ang="T7">
                    <a:pos x="T2" y="T3"/>
                  </a:cxn>
                  <a:cxn ang="T8">
                    <a:pos x="T4" y="T5"/>
                  </a:cxn>
                </a:cxnLst>
                <a:rect l="T9" t="T10" r="T11" b="T12"/>
                <a:pathLst>
                  <a:path w="528" h="576">
                    <a:moveTo>
                      <a:pt x="0" y="576"/>
                    </a:moveTo>
                    <a:cubicBezTo>
                      <a:pt x="124" y="432"/>
                      <a:pt x="248" y="288"/>
                      <a:pt x="336" y="192"/>
                    </a:cubicBezTo>
                    <a:cubicBezTo>
                      <a:pt x="424" y="96"/>
                      <a:pt x="488" y="32"/>
                      <a:pt x="528" y="0"/>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38259" name="Freeform 19"/>
              <p:cNvSpPr>
                <a:spLocks/>
              </p:cNvSpPr>
              <p:nvPr/>
            </p:nvSpPr>
            <p:spPr bwMode="auto">
              <a:xfrm>
                <a:off x="1632" y="2064"/>
                <a:ext cx="528" cy="288"/>
              </a:xfrm>
              <a:custGeom>
                <a:avLst/>
                <a:gdLst>
                  <a:gd name="T0" fmla="*/ 0 w 528"/>
                  <a:gd name="T1" fmla="*/ 0 h 288"/>
                  <a:gd name="T2" fmla="*/ 192 w 528"/>
                  <a:gd name="T3" fmla="*/ 144 h 288"/>
                  <a:gd name="T4" fmla="*/ 528 w 528"/>
                  <a:gd name="T5" fmla="*/ 288 h 288"/>
                  <a:gd name="T6" fmla="*/ 0 60000 65536"/>
                  <a:gd name="T7" fmla="*/ 0 60000 65536"/>
                  <a:gd name="T8" fmla="*/ 0 60000 65536"/>
                  <a:gd name="T9" fmla="*/ 0 w 528"/>
                  <a:gd name="T10" fmla="*/ 0 h 288"/>
                  <a:gd name="T11" fmla="*/ 528 w 528"/>
                  <a:gd name="T12" fmla="*/ 288 h 288"/>
                </a:gdLst>
                <a:ahLst/>
                <a:cxnLst>
                  <a:cxn ang="T6">
                    <a:pos x="T0" y="T1"/>
                  </a:cxn>
                  <a:cxn ang="T7">
                    <a:pos x="T2" y="T3"/>
                  </a:cxn>
                  <a:cxn ang="T8">
                    <a:pos x="T4" y="T5"/>
                  </a:cxn>
                </a:cxnLst>
                <a:rect l="T9" t="T10" r="T11" b="T12"/>
                <a:pathLst>
                  <a:path w="528" h="288">
                    <a:moveTo>
                      <a:pt x="0" y="0"/>
                    </a:moveTo>
                    <a:cubicBezTo>
                      <a:pt x="52" y="48"/>
                      <a:pt x="104" y="96"/>
                      <a:pt x="192" y="144"/>
                    </a:cubicBezTo>
                    <a:cubicBezTo>
                      <a:pt x="280" y="192"/>
                      <a:pt x="404" y="240"/>
                      <a:pt x="528" y="288"/>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38260" name="Freeform 20"/>
              <p:cNvSpPr>
                <a:spLocks/>
              </p:cNvSpPr>
              <p:nvPr/>
            </p:nvSpPr>
            <p:spPr bwMode="auto">
              <a:xfrm>
                <a:off x="2160" y="1920"/>
                <a:ext cx="528" cy="432"/>
              </a:xfrm>
              <a:custGeom>
                <a:avLst/>
                <a:gdLst>
                  <a:gd name="T0" fmla="*/ 0 w 528"/>
                  <a:gd name="T1" fmla="*/ 432 h 432"/>
                  <a:gd name="T2" fmla="*/ 192 w 528"/>
                  <a:gd name="T3" fmla="*/ 240 h 432"/>
                  <a:gd name="T4" fmla="*/ 432 w 528"/>
                  <a:gd name="T5" fmla="*/ 48 h 432"/>
                  <a:gd name="T6" fmla="*/ 528 w 528"/>
                  <a:gd name="T7" fmla="*/ 0 h 432"/>
                  <a:gd name="T8" fmla="*/ 0 60000 65536"/>
                  <a:gd name="T9" fmla="*/ 0 60000 65536"/>
                  <a:gd name="T10" fmla="*/ 0 60000 65536"/>
                  <a:gd name="T11" fmla="*/ 0 60000 65536"/>
                  <a:gd name="T12" fmla="*/ 0 w 528"/>
                  <a:gd name="T13" fmla="*/ 0 h 432"/>
                  <a:gd name="T14" fmla="*/ 528 w 528"/>
                  <a:gd name="T15" fmla="*/ 432 h 432"/>
                </a:gdLst>
                <a:ahLst/>
                <a:cxnLst>
                  <a:cxn ang="T8">
                    <a:pos x="T0" y="T1"/>
                  </a:cxn>
                  <a:cxn ang="T9">
                    <a:pos x="T2" y="T3"/>
                  </a:cxn>
                  <a:cxn ang="T10">
                    <a:pos x="T4" y="T5"/>
                  </a:cxn>
                  <a:cxn ang="T11">
                    <a:pos x="T6" y="T7"/>
                  </a:cxn>
                </a:cxnLst>
                <a:rect l="T12" t="T13" r="T14" b="T15"/>
                <a:pathLst>
                  <a:path w="528" h="432">
                    <a:moveTo>
                      <a:pt x="0" y="432"/>
                    </a:moveTo>
                    <a:cubicBezTo>
                      <a:pt x="60" y="368"/>
                      <a:pt x="120" y="304"/>
                      <a:pt x="192" y="240"/>
                    </a:cubicBezTo>
                    <a:cubicBezTo>
                      <a:pt x="264" y="176"/>
                      <a:pt x="376" y="88"/>
                      <a:pt x="432" y="48"/>
                    </a:cubicBezTo>
                    <a:cubicBezTo>
                      <a:pt x="488" y="8"/>
                      <a:pt x="508" y="4"/>
                      <a:pt x="528" y="0"/>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38261" name="Freeform 21"/>
              <p:cNvSpPr>
                <a:spLocks/>
              </p:cNvSpPr>
              <p:nvPr/>
            </p:nvSpPr>
            <p:spPr bwMode="auto">
              <a:xfrm>
                <a:off x="2688" y="1920"/>
                <a:ext cx="528" cy="288"/>
              </a:xfrm>
              <a:custGeom>
                <a:avLst/>
                <a:gdLst>
                  <a:gd name="T0" fmla="*/ 0 w 528"/>
                  <a:gd name="T1" fmla="*/ 0 h 288"/>
                  <a:gd name="T2" fmla="*/ 192 w 528"/>
                  <a:gd name="T3" fmla="*/ 144 h 288"/>
                  <a:gd name="T4" fmla="*/ 528 w 528"/>
                  <a:gd name="T5" fmla="*/ 288 h 288"/>
                  <a:gd name="T6" fmla="*/ 0 60000 65536"/>
                  <a:gd name="T7" fmla="*/ 0 60000 65536"/>
                  <a:gd name="T8" fmla="*/ 0 60000 65536"/>
                  <a:gd name="T9" fmla="*/ 0 w 528"/>
                  <a:gd name="T10" fmla="*/ 0 h 288"/>
                  <a:gd name="T11" fmla="*/ 528 w 528"/>
                  <a:gd name="T12" fmla="*/ 288 h 288"/>
                </a:gdLst>
                <a:ahLst/>
                <a:cxnLst>
                  <a:cxn ang="T6">
                    <a:pos x="T0" y="T1"/>
                  </a:cxn>
                  <a:cxn ang="T7">
                    <a:pos x="T2" y="T3"/>
                  </a:cxn>
                  <a:cxn ang="T8">
                    <a:pos x="T4" y="T5"/>
                  </a:cxn>
                </a:cxnLst>
                <a:rect l="T9" t="T10" r="T11" b="T12"/>
                <a:pathLst>
                  <a:path w="528" h="288">
                    <a:moveTo>
                      <a:pt x="0" y="0"/>
                    </a:moveTo>
                    <a:cubicBezTo>
                      <a:pt x="52" y="48"/>
                      <a:pt x="104" y="96"/>
                      <a:pt x="192" y="144"/>
                    </a:cubicBezTo>
                    <a:cubicBezTo>
                      <a:pt x="280" y="192"/>
                      <a:pt x="404" y="240"/>
                      <a:pt x="528" y="288"/>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38262" name="Freeform 22"/>
              <p:cNvSpPr>
                <a:spLocks/>
              </p:cNvSpPr>
              <p:nvPr/>
            </p:nvSpPr>
            <p:spPr bwMode="auto">
              <a:xfrm>
                <a:off x="3216" y="1680"/>
                <a:ext cx="528" cy="528"/>
              </a:xfrm>
              <a:custGeom>
                <a:avLst/>
                <a:gdLst>
                  <a:gd name="T0" fmla="*/ 0 w 528"/>
                  <a:gd name="T1" fmla="*/ 528 h 528"/>
                  <a:gd name="T2" fmla="*/ 288 w 528"/>
                  <a:gd name="T3" fmla="*/ 192 h 528"/>
                  <a:gd name="T4" fmla="*/ 528 w 528"/>
                  <a:gd name="T5" fmla="*/ 0 h 528"/>
                  <a:gd name="T6" fmla="*/ 0 60000 65536"/>
                  <a:gd name="T7" fmla="*/ 0 60000 65536"/>
                  <a:gd name="T8" fmla="*/ 0 60000 65536"/>
                  <a:gd name="T9" fmla="*/ 0 w 528"/>
                  <a:gd name="T10" fmla="*/ 0 h 528"/>
                  <a:gd name="T11" fmla="*/ 528 w 528"/>
                  <a:gd name="T12" fmla="*/ 528 h 528"/>
                </a:gdLst>
                <a:ahLst/>
                <a:cxnLst>
                  <a:cxn ang="T6">
                    <a:pos x="T0" y="T1"/>
                  </a:cxn>
                  <a:cxn ang="T7">
                    <a:pos x="T2" y="T3"/>
                  </a:cxn>
                  <a:cxn ang="T8">
                    <a:pos x="T4" y="T5"/>
                  </a:cxn>
                </a:cxnLst>
                <a:rect l="T9" t="T10" r="T11" b="T12"/>
                <a:pathLst>
                  <a:path w="528" h="528">
                    <a:moveTo>
                      <a:pt x="0" y="528"/>
                    </a:moveTo>
                    <a:cubicBezTo>
                      <a:pt x="100" y="404"/>
                      <a:pt x="200" y="280"/>
                      <a:pt x="288" y="192"/>
                    </a:cubicBezTo>
                    <a:cubicBezTo>
                      <a:pt x="376" y="104"/>
                      <a:pt x="452" y="52"/>
                      <a:pt x="528" y="0"/>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38263" name="Freeform 23"/>
              <p:cNvSpPr>
                <a:spLocks/>
              </p:cNvSpPr>
              <p:nvPr/>
            </p:nvSpPr>
            <p:spPr bwMode="auto">
              <a:xfrm>
                <a:off x="3744" y="1680"/>
                <a:ext cx="528" cy="240"/>
              </a:xfrm>
              <a:custGeom>
                <a:avLst/>
                <a:gdLst>
                  <a:gd name="T0" fmla="*/ 0 w 528"/>
                  <a:gd name="T1" fmla="*/ 0 h 240"/>
                  <a:gd name="T2" fmla="*/ 240 w 528"/>
                  <a:gd name="T3" fmla="*/ 144 h 240"/>
                  <a:gd name="T4" fmla="*/ 528 w 528"/>
                  <a:gd name="T5" fmla="*/ 240 h 240"/>
                  <a:gd name="T6" fmla="*/ 0 60000 65536"/>
                  <a:gd name="T7" fmla="*/ 0 60000 65536"/>
                  <a:gd name="T8" fmla="*/ 0 60000 65536"/>
                  <a:gd name="T9" fmla="*/ 0 w 528"/>
                  <a:gd name="T10" fmla="*/ 0 h 240"/>
                  <a:gd name="T11" fmla="*/ 528 w 528"/>
                  <a:gd name="T12" fmla="*/ 240 h 240"/>
                </a:gdLst>
                <a:ahLst/>
                <a:cxnLst>
                  <a:cxn ang="T6">
                    <a:pos x="T0" y="T1"/>
                  </a:cxn>
                  <a:cxn ang="T7">
                    <a:pos x="T2" y="T3"/>
                  </a:cxn>
                  <a:cxn ang="T8">
                    <a:pos x="T4" y="T5"/>
                  </a:cxn>
                </a:cxnLst>
                <a:rect l="T9" t="T10" r="T11" b="T12"/>
                <a:pathLst>
                  <a:path w="528" h="240">
                    <a:moveTo>
                      <a:pt x="0" y="0"/>
                    </a:moveTo>
                    <a:cubicBezTo>
                      <a:pt x="76" y="52"/>
                      <a:pt x="152" y="104"/>
                      <a:pt x="240" y="144"/>
                    </a:cubicBezTo>
                    <a:cubicBezTo>
                      <a:pt x="328" y="184"/>
                      <a:pt x="428" y="212"/>
                      <a:pt x="528" y="240"/>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sp>
          <p:nvSpPr>
            <p:cNvPr id="138252" name="Text Box 28"/>
            <p:cNvSpPr txBox="1">
              <a:spLocks noChangeArrowheads="1"/>
            </p:cNvSpPr>
            <p:nvPr/>
          </p:nvSpPr>
          <p:spPr bwMode="auto">
            <a:xfrm>
              <a:off x="1056" y="2352"/>
              <a:ext cx="91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Echauffement</a:t>
              </a:r>
            </a:p>
          </p:txBody>
        </p:sp>
        <p:sp>
          <p:nvSpPr>
            <p:cNvPr id="138253" name="Text Box 29"/>
            <p:cNvSpPr txBox="1">
              <a:spLocks noChangeArrowheads="1"/>
            </p:cNvSpPr>
            <p:nvPr/>
          </p:nvSpPr>
          <p:spPr bwMode="auto">
            <a:xfrm>
              <a:off x="1440" y="2064"/>
              <a:ext cx="104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Refroidissement</a:t>
              </a:r>
            </a:p>
          </p:txBody>
        </p:sp>
        <p:sp>
          <p:nvSpPr>
            <p:cNvPr id="138254" name="Text Box 30"/>
            <p:cNvSpPr txBox="1">
              <a:spLocks noChangeArrowheads="1"/>
            </p:cNvSpPr>
            <p:nvPr/>
          </p:nvSpPr>
          <p:spPr bwMode="auto">
            <a:xfrm>
              <a:off x="2544" y="1776"/>
              <a:ext cx="104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Refroidissement</a:t>
              </a:r>
            </a:p>
          </p:txBody>
        </p:sp>
        <p:sp>
          <p:nvSpPr>
            <p:cNvPr id="138255" name="Text Box 31"/>
            <p:cNvSpPr txBox="1">
              <a:spLocks noChangeArrowheads="1"/>
            </p:cNvSpPr>
            <p:nvPr/>
          </p:nvSpPr>
          <p:spPr bwMode="auto">
            <a:xfrm>
              <a:off x="3792" y="1728"/>
              <a:ext cx="104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Refroidissement</a:t>
              </a:r>
            </a:p>
          </p:txBody>
        </p:sp>
        <p:sp>
          <p:nvSpPr>
            <p:cNvPr id="138256" name="Text Box 32"/>
            <p:cNvSpPr txBox="1">
              <a:spLocks noChangeArrowheads="1"/>
            </p:cNvSpPr>
            <p:nvPr/>
          </p:nvSpPr>
          <p:spPr bwMode="auto">
            <a:xfrm>
              <a:off x="2160" y="2304"/>
              <a:ext cx="91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Echauffement</a:t>
              </a:r>
            </a:p>
          </p:txBody>
        </p:sp>
        <p:sp>
          <p:nvSpPr>
            <p:cNvPr id="138257" name="Text Box 33"/>
            <p:cNvSpPr txBox="1">
              <a:spLocks noChangeArrowheads="1"/>
            </p:cNvSpPr>
            <p:nvPr/>
          </p:nvSpPr>
          <p:spPr bwMode="auto">
            <a:xfrm>
              <a:off x="3072" y="2064"/>
              <a:ext cx="91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Echauffement</a:t>
              </a:r>
            </a:p>
          </p:txBody>
        </p:sp>
      </p:grpSp>
      <p:sp>
        <p:nvSpPr>
          <p:cNvPr id="31" name="Espace réservé du pied de page 30"/>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40291" name="Espace réservé du numéro de diapositive 1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E4DB7C2-32C1-4BA2-B5DF-12BAC5DFEFB3}" type="slidenum">
              <a:rPr lang="en-US" altLang="fr-FR" sz="1000" smtClean="0">
                <a:solidFill>
                  <a:srgbClr val="292929"/>
                </a:solidFill>
                <a:latin typeface="Arial" panose="020B0604020202020204" pitchFamily="34" charset="0"/>
              </a:rPr>
              <a:pPr>
                <a:spcBef>
                  <a:spcPct val="0"/>
                </a:spcBef>
                <a:buClrTx/>
                <a:buSzTx/>
                <a:buFontTx/>
                <a:buNone/>
              </a:pPr>
              <a:t>68</a:t>
            </a:fld>
            <a:endParaRPr lang="en-US" altLang="fr-FR" sz="1000" smtClean="0">
              <a:solidFill>
                <a:srgbClr val="292929"/>
              </a:solidFill>
              <a:latin typeface="Arial" panose="020B0604020202020204" pitchFamily="34" charset="0"/>
            </a:endParaRPr>
          </a:p>
        </p:txBody>
      </p:sp>
      <p:sp>
        <p:nvSpPr>
          <p:cNvPr id="140292"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0293" name="Text Box 4"/>
          <p:cNvSpPr txBox="1">
            <a:spLocks noChangeArrowheads="1"/>
          </p:cNvSpPr>
          <p:nvPr/>
        </p:nvSpPr>
        <p:spPr bwMode="auto">
          <a:xfrm>
            <a:off x="685800" y="7620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Considérations thermiques</a:t>
            </a:r>
          </a:p>
        </p:txBody>
      </p:sp>
      <p:sp>
        <p:nvSpPr>
          <p:cNvPr id="140294" name="Text Box 5"/>
          <p:cNvSpPr txBox="1">
            <a:spLocks noChangeArrowheads="1"/>
          </p:cNvSpPr>
          <p:nvPr/>
        </p:nvSpPr>
        <p:spPr bwMode="auto">
          <a:xfrm>
            <a:off x="914400" y="1295400"/>
            <a:ext cx="3646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 </a:t>
            </a:r>
            <a:r>
              <a:rPr lang="en-US" altLang="fr-FR" sz="1800" b="1">
                <a:latin typeface="Arial" panose="020B0604020202020204" pitchFamily="34" charset="0"/>
              </a:rPr>
              <a:t>service périodique intermittent</a:t>
            </a:r>
          </a:p>
        </p:txBody>
      </p:sp>
      <p:sp>
        <p:nvSpPr>
          <p:cNvPr id="16393" name="Text Box 9"/>
          <p:cNvSpPr txBox="1">
            <a:spLocks noChangeArrowheads="1"/>
          </p:cNvSpPr>
          <p:nvPr/>
        </p:nvSpPr>
        <p:spPr bwMode="auto">
          <a:xfrm>
            <a:off x="1431925" y="1789113"/>
            <a:ext cx="7421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Exemple d'un cas simple – Calcul de la constante de temps thermique </a:t>
            </a:r>
            <a:endParaRPr lang="en-US" altLang="fr-FR" sz="1800">
              <a:latin typeface="Arial" panose="020B0604020202020204" pitchFamily="34" charset="0"/>
            </a:endParaRPr>
          </a:p>
        </p:txBody>
      </p:sp>
      <p:sp>
        <p:nvSpPr>
          <p:cNvPr id="16394" name="Text Box 10"/>
          <p:cNvSpPr txBox="1">
            <a:spLocks noChangeArrowheads="1"/>
          </p:cNvSpPr>
          <p:nvPr/>
        </p:nvSpPr>
        <p:spPr bwMode="auto">
          <a:xfrm>
            <a:off x="1981200" y="2286000"/>
            <a:ext cx="4308475" cy="1384300"/>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p</a:t>
            </a:r>
            <a:r>
              <a:rPr lang="en-US" altLang="fr-FR" sz="1600" baseline="-25000">
                <a:latin typeface="Arial" panose="020B0604020202020204" pitchFamily="34" charset="0"/>
              </a:rPr>
              <a:t>n</a:t>
            </a:r>
            <a:r>
              <a:rPr lang="en-US" altLang="fr-FR" sz="1600">
                <a:latin typeface="Arial" panose="020B0604020202020204" pitchFamily="34" charset="0"/>
              </a:rPr>
              <a:t> = 100kW, puissance nominale</a:t>
            </a:r>
          </a:p>
          <a:p>
            <a:pPr eaLnBrk="1" hangingPunct="1">
              <a:spcBef>
                <a:spcPct val="0"/>
              </a:spcBef>
              <a:buClrTx/>
              <a:buSzTx/>
              <a:buFontTx/>
              <a:buNone/>
            </a:pPr>
            <a:r>
              <a:rPr lang="en-US" altLang="fr-FR" sz="1600">
                <a:latin typeface="Arial" panose="020B0604020202020204" pitchFamily="34" charset="0"/>
              </a:rPr>
              <a:t>M = 800kg</a:t>
            </a:r>
          </a:p>
          <a:p>
            <a:pPr eaLnBrk="1" hangingPunct="1">
              <a:spcBef>
                <a:spcPct val="0"/>
              </a:spcBef>
              <a:buClrTx/>
              <a:buSzTx/>
              <a:buFontTx/>
              <a:buNone/>
            </a:pPr>
            <a:r>
              <a:rPr lang="fr-FR" altLang="fr-FR" sz="1600">
                <a:latin typeface="Arial" panose="020B0604020202020204" pitchFamily="34" charset="0"/>
              </a:rPr>
              <a:t>Chaleur spécifique </a:t>
            </a:r>
            <a:r>
              <a:rPr lang="en-US" altLang="fr-FR" sz="2000">
                <a:latin typeface="Arial" panose="020B0604020202020204" pitchFamily="34" charset="0"/>
              </a:rPr>
              <a:t>c</a:t>
            </a:r>
            <a:r>
              <a:rPr lang="en-US" altLang="fr-FR" sz="1600" baseline="-25000">
                <a:latin typeface="Arial" panose="020B0604020202020204" pitchFamily="34" charset="0"/>
              </a:rPr>
              <a:t>FE</a:t>
            </a:r>
            <a:r>
              <a:rPr lang="en-US" altLang="fr-FR" sz="1600">
                <a:latin typeface="Arial" panose="020B0604020202020204" pitchFamily="34" charset="0"/>
              </a:rPr>
              <a:t>=0.48 kWs/kg</a:t>
            </a:r>
            <a:r>
              <a:rPr lang="en-US" altLang="fr-FR" sz="1600" baseline="30000">
                <a:latin typeface="Arial" panose="020B0604020202020204" pitchFamily="34" charset="0"/>
              </a:rPr>
              <a:t>o</a:t>
            </a:r>
            <a:r>
              <a:rPr lang="en-US" altLang="fr-FR" sz="1600">
                <a:latin typeface="Arial" panose="020B0604020202020204" pitchFamily="34" charset="0"/>
              </a:rPr>
              <a:t>C,</a:t>
            </a:r>
          </a:p>
          <a:p>
            <a:pPr eaLnBrk="1" hangingPunct="1">
              <a:spcBef>
                <a:spcPct val="0"/>
              </a:spcBef>
              <a:buClrTx/>
              <a:buSzTx/>
              <a:buFont typeface="Symbol" panose="05050102010706020507" pitchFamily="18" charset="2"/>
              <a:buChar char="h"/>
            </a:pPr>
            <a:r>
              <a:rPr lang="en-US" altLang="fr-FR" sz="1600">
                <a:latin typeface="Arial" panose="020B0604020202020204" pitchFamily="34" charset="0"/>
                <a:sym typeface="Symbol" panose="05050102010706020507" pitchFamily="18" charset="2"/>
              </a:rPr>
              <a:t>= 0.92, rendement nominal</a:t>
            </a:r>
          </a:p>
          <a:p>
            <a:pPr eaLnBrk="1" hangingPunct="1">
              <a:spcBef>
                <a:spcPct val="0"/>
              </a:spcBef>
              <a:buClrTx/>
              <a:buSzTx/>
              <a:buFont typeface="Symbol" panose="05050102010706020507" pitchFamily="18" charset="2"/>
              <a:buNone/>
            </a:pPr>
            <a:r>
              <a:rPr lang="en-US" altLang="fr-FR" sz="1600">
                <a:latin typeface="Arial" panose="020B0604020202020204" pitchFamily="34" charset="0"/>
                <a:sym typeface="Symbol" panose="05050102010706020507" pitchFamily="18" charset="2"/>
              </a:rPr>
              <a:t>T</a:t>
            </a:r>
            <a:r>
              <a:rPr lang="en-US" altLang="fr-FR" sz="1600" baseline="-25000">
                <a:latin typeface="Arial" panose="020B0604020202020204" pitchFamily="34" charset="0"/>
                <a:sym typeface="Symbol" panose="05050102010706020507" pitchFamily="18" charset="2"/>
              </a:rPr>
              <a:t></a:t>
            </a:r>
            <a:r>
              <a:rPr lang="en-US" altLang="fr-FR" sz="1600">
                <a:latin typeface="Arial" panose="020B0604020202020204" pitchFamily="34" charset="0"/>
                <a:sym typeface="Symbol" panose="05050102010706020507" pitchFamily="18" charset="2"/>
              </a:rPr>
              <a:t>= 50</a:t>
            </a:r>
            <a:r>
              <a:rPr lang="en-US" altLang="fr-FR" sz="1600" baseline="30000">
                <a:latin typeface="Arial" panose="020B0604020202020204" pitchFamily="34" charset="0"/>
                <a:sym typeface="Symbol" panose="05050102010706020507" pitchFamily="18" charset="2"/>
              </a:rPr>
              <a:t>o</a:t>
            </a:r>
            <a:r>
              <a:rPr lang="en-US" altLang="fr-FR" sz="1600">
                <a:latin typeface="Arial" panose="020B0604020202020204" pitchFamily="34" charset="0"/>
                <a:sym typeface="Symbol" panose="05050102010706020507" pitchFamily="18" charset="2"/>
              </a:rPr>
              <a:t>C, température statique atteinte à p</a:t>
            </a:r>
            <a:r>
              <a:rPr lang="en-US" altLang="fr-FR" sz="1600" baseline="-25000">
                <a:latin typeface="Arial" panose="020B0604020202020204" pitchFamily="34" charset="0"/>
                <a:sym typeface="Symbol" panose="05050102010706020507" pitchFamily="18" charset="2"/>
              </a:rPr>
              <a:t>n</a:t>
            </a:r>
          </a:p>
        </p:txBody>
      </p:sp>
      <p:graphicFrame>
        <p:nvGraphicFramePr>
          <p:cNvPr id="16386" name="Object 2"/>
          <p:cNvGraphicFramePr>
            <a:graphicFrameLocks noChangeAspect="1"/>
          </p:cNvGraphicFramePr>
          <p:nvPr/>
        </p:nvGraphicFramePr>
        <p:xfrm>
          <a:off x="1223963" y="4019550"/>
          <a:ext cx="1897062" cy="676275"/>
        </p:xfrm>
        <a:graphic>
          <a:graphicData uri="http://schemas.openxmlformats.org/presentationml/2006/ole">
            <mc:AlternateContent xmlns:mc="http://schemas.openxmlformats.org/markup-compatibility/2006">
              <mc:Choice xmlns:v="urn:schemas-microsoft-com:vml" Requires="v">
                <p:oleObj spid="_x0000_s140336" name="Equation" r:id="rId4" imgW="1282700" imgH="457200" progId="Equation.3">
                  <p:embed/>
                </p:oleObj>
              </mc:Choice>
              <mc:Fallback>
                <p:oleObj name="Equation" r:id="rId4" imgW="1282700" imgH="4572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3963" y="4019550"/>
                        <a:ext cx="1897062"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5" name="Text Box 14"/>
          <p:cNvSpPr txBox="1">
            <a:spLocks noChangeArrowheads="1"/>
          </p:cNvSpPr>
          <p:nvPr/>
        </p:nvSpPr>
        <p:spPr bwMode="auto">
          <a:xfrm>
            <a:off x="3870325" y="4156075"/>
            <a:ext cx="7207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aussi,</a:t>
            </a:r>
            <a:endParaRPr lang="en-US" altLang="fr-FR" sz="1800">
              <a:latin typeface="Arial" panose="020B0604020202020204" pitchFamily="34" charset="0"/>
            </a:endParaRPr>
          </a:p>
        </p:txBody>
      </p:sp>
      <p:graphicFrame>
        <p:nvGraphicFramePr>
          <p:cNvPr id="16387" name="Object 3"/>
          <p:cNvGraphicFramePr>
            <a:graphicFrameLocks noChangeAspect="1"/>
          </p:cNvGraphicFramePr>
          <p:nvPr/>
        </p:nvGraphicFramePr>
        <p:xfrm>
          <a:off x="4627563" y="4019550"/>
          <a:ext cx="2992437" cy="711200"/>
        </p:xfrm>
        <a:graphic>
          <a:graphicData uri="http://schemas.openxmlformats.org/presentationml/2006/ole">
            <mc:AlternateContent xmlns:mc="http://schemas.openxmlformats.org/markup-compatibility/2006">
              <mc:Choice xmlns:v="urn:schemas-microsoft-com:vml" Requires="v">
                <p:oleObj spid="_x0000_s140337" name="Equation" r:id="rId6" imgW="1816100" imgH="431800" progId="Equation.3">
                  <p:embed/>
                </p:oleObj>
              </mc:Choice>
              <mc:Fallback>
                <p:oleObj name="Equation" r:id="rId6" imgW="1816100" imgH="4318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27563" y="4019550"/>
                        <a:ext cx="2992437"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6" name="Text Box 16"/>
          <p:cNvSpPr txBox="1">
            <a:spLocks noChangeArrowheads="1"/>
          </p:cNvSpPr>
          <p:nvPr/>
        </p:nvSpPr>
        <p:spPr bwMode="auto">
          <a:xfrm>
            <a:off x="1524000" y="4933950"/>
            <a:ext cx="6858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Si on considère un moteur à fer massique de chaleur spécifique </a:t>
            </a:r>
            <a:r>
              <a:rPr lang="en-US" altLang="fr-FR" sz="2000">
                <a:latin typeface="Arial" panose="020B0604020202020204" pitchFamily="34" charset="0"/>
              </a:rPr>
              <a:t>c</a:t>
            </a:r>
            <a:r>
              <a:rPr lang="en-US" altLang="fr-FR" sz="1600" baseline="-25000">
                <a:latin typeface="Arial" panose="020B0604020202020204" pitchFamily="34" charset="0"/>
              </a:rPr>
              <a:t>FE</a:t>
            </a:r>
            <a:r>
              <a:rPr lang="en-US" altLang="fr-FR" sz="1600">
                <a:latin typeface="Arial" panose="020B0604020202020204" pitchFamily="34" charset="0"/>
              </a:rPr>
              <a:t>=0.48 kWs/kg</a:t>
            </a:r>
            <a:r>
              <a:rPr lang="en-US" altLang="fr-FR" sz="1600" baseline="30000">
                <a:latin typeface="Arial" panose="020B0604020202020204" pitchFamily="34" charset="0"/>
              </a:rPr>
              <a:t>o</a:t>
            </a:r>
            <a:r>
              <a:rPr lang="en-US" altLang="fr-FR" sz="1600">
                <a:latin typeface="Arial" panose="020B0604020202020204" pitchFamily="34" charset="0"/>
              </a:rPr>
              <a:t>C, la </a:t>
            </a:r>
            <a:r>
              <a:rPr lang="fr-FR" altLang="fr-FR" sz="1600">
                <a:latin typeface="Arial" panose="020B0604020202020204" pitchFamily="34" charset="0"/>
              </a:rPr>
              <a:t>capacité thermique C est donnée par</a:t>
            </a:r>
            <a:endParaRPr lang="en-US" altLang="fr-FR" sz="1600" baseline="-25000">
              <a:latin typeface="Arial" panose="020B0604020202020204" pitchFamily="34" charset="0"/>
              <a:sym typeface="Symbol" panose="05050102010706020507" pitchFamily="18" charset="2"/>
            </a:endParaRPr>
          </a:p>
        </p:txBody>
      </p:sp>
      <p:sp>
        <p:nvSpPr>
          <p:cNvPr id="16397" name="Text Box 17"/>
          <p:cNvSpPr txBox="1">
            <a:spLocks noChangeArrowheads="1"/>
          </p:cNvSpPr>
          <p:nvPr/>
        </p:nvSpPr>
        <p:spPr bwMode="auto">
          <a:xfrm>
            <a:off x="1524000" y="5695950"/>
            <a:ext cx="6858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panose="020B0604020202020204" pitchFamily="34" charset="0"/>
              </a:rPr>
              <a:t>C = </a:t>
            </a:r>
            <a:r>
              <a:rPr lang="en-US" altLang="fr-FR" sz="2000">
                <a:latin typeface="Arial" panose="020B0604020202020204" pitchFamily="34" charset="0"/>
              </a:rPr>
              <a:t>c</a:t>
            </a:r>
            <a:r>
              <a:rPr lang="en-US" altLang="fr-FR" sz="1600" baseline="-25000">
                <a:latin typeface="Arial" panose="020B0604020202020204" pitchFamily="34" charset="0"/>
              </a:rPr>
              <a:t>FE</a:t>
            </a:r>
            <a:r>
              <a:rPr lang="en-US" altLang="fr-FR" sz="1600">
                <a:latin typeface="Arial" panose="020B0604020202020204" pitchFamily="34" charset="0"/>
              </a:rPr>
              <a:t> M = 0.48 (800) = 384 kWs/</a:t>
            </a:r>
            <a:r>
              <a:rPr lang="en-US" altLang="fr-FR" sz="1600" baseline="30000">
                <a:latin typeface="Arial" panose="020B0604020202020204" pitchFamily="34" charset="0"/>
              </a:rPr>
              <a:t>o</a:t>
            </a:r>
            <a:r>
              <a:rPr lang="en-US" altLang="fr-FR" sz="1600">
                <a:latin typeface="Arial" panose="020B0604020202020204" pitchFamily="34" charset="0"/>
              </a:rPr>
              <a:t>C </a:t>
            </a:r>
          </a:p>
        </p:txBody>
      </p:sp>
      <p:sp>
        <p:nvSpPr>
          <p:cNvPr id="16398" name="Text Box 18"/>
          <p:cNvSpPr txBox="1">
            <a:spLocks noChangeArrowheads="1"/>
          </p:cNvSpPr>
          <p:nvPr/>
        </p:nvSpPr>
        <p:spPr bwMode="auto">
          <a:xfrm>
            <a:off x="1524000" y="6229350"/>
            <a:ext cx="6858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Enfin </a:t>
            </a:r>
            <a:r>
              <a:rPr lang="en-US" altLang="fr-FR" sz="2000">
                <a:latin typeface="Arial" panose="020B0604020202020204" pitchFamily="34" charset="0"/>
                <a:sym typeface="Symbol" panose="05050102010706020507" pitchFamily="18" charset="2"/>
              </a:rPr>
              <a:t></a:t>
            </a:r>
            <a:r>
              <a:rPr lang="fr-FR" altLang="fr-FR" sz="1600">
                <a:latin typeface="Arial" panose="020B0604020202020204" pitchFamily="34" charset="0"/>
              </a:rPr>
              <a:t>, la constante de temps thermique = 384000/180 = 35 minutes</a:t>
            </a:r>
            <a:endParaRPr lang="en-US" altLang="fr-FR" sz="1600" b="1">
              <a:latin typeface="Arial" panose="020B0604020202020204" pitchFamily="34" charset="0"/>
              <a:sym typeface="Symbol" panose="05050102010706020507" pitchFamily="18" charset="2"/>
            </a:endParaRPr>
          </a:p>
        </p:txBody>
      </p:sp>
      <p:sp>
        <p:nvSpPr>
          <p:cNvPr id="16" name="Espace réservé du pied de page 15"/>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393"/>
                                        </p:tgtEl>
                                        <p:attrNameLst>
                                          <p:attrName>style.visibility</p:attrName>
                                        </p:attrNameLst>
                                      </p:cBhvr>
                                      <p:to>
                                        <p:strVal val="visible"/>
                                      </p:to>
                                    </p:set>
                                    <p:animEffect transition="in" filter="checkerboard(across)">
                                      <p:cBhvr>
                                        <p:cTn id="7" dur="500"/>
                                        <p:tgtEl>
                                          <p:spTgt spid="163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6394"/>
                                        </p:tgtEl>
                                        <p:attrNameLst>
                                          <p:attrName>style.visibility</p:attrName>
                                        </p:attrNameLst>
                                      </p:cBhvr>
                                      <p:to>
                                        <p:strVal val="visible"/>
                                      </p:to>
                                    </p:set>
                                    <p:animEffect transition="in" filter="checkerboard(across)">
                                      <p:cBhvr>
                                        <p:cTn id="12" dur="500"/>
                                        <p:tgtEl>
                                          <p:spTgt spid="163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6386"/>
                                        </p:tgtEl>
                                        <p:attrNameLst>
                                          <p:attrName>style.visibility</p:attrName>
                                        </p:attrNameLst>
                                      </p:cBhvr>
                                      <p:to>
                                        <p:strVal val="visible"/>
                                      </p:to>
                                    </p:set>
                                    <p:animEffect transition="in" filter="checkerboard(across)">
                                      <p:cBhvr>
                                        <p:cTn id="17" dur="500"/>
                                        <p:tgtEl>
                                          <p:spTgt spid="163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6395"/>
                                        </p:tgtEl>
                                        <p:attrNameLst>
                                          <p:attrName>style.visibility</p:attrName>
                                        </p:attrNameLst>
                                      </p:cBhvr>
                                      <p:to>
                                        <p:strVal val="visible"/>
                                      </p:to>
                                    </p:set>
                                    <p:animEffect transition="in" filter="checkerboard(across)">
                                      <p:cBhvr>
                                        <p:cTn id="22" dur="500"/>
                                        <p:tgtEl>
                                          <p:spTgt spid="16395"/>
                                        </p:tgtEl>
                                      </p:cBhvr>
                                    </p:animEffect>
                                  </p:childTnLst>
                                </p:cTn>
                              </p:par>
                              <p:par>
                                <p:cTn id="23" presetID="5" presetClass="entr" presetSubtype="10" fill="hold" nodeType="withEffect">
                                  <p:stCondLst>
                                    <p:cond delay="0"/>
                                  </p:stCondLst>
                                  <p:childTnLst>
                                    <p:set>
                                      <p:cBhvr>
                                        <p:cTn id="24" dur="1" fill="hold">
                                          <p:stCondLst>
                                            <p:cond delay="0"/>
                                          </p:stCondLst>
                                        </p:cTn>
                                        <p:tgtEl>
                                          <p:spTgt spid="16387"/>
                                        </p:tgtEl>
                                        <p:attrNameLst>
                                          <p:attrName>style.visibility</p:attrName>
                                        </p:attrNameLst>
                                      </p:cBhvr>
                                      <p:to>
                                        <p:strVal val="visible"/>
                                      </p:to>
                                    </p:set>
                                    <p:animEffect transition="in" filter="checkerboard(across)">
                                      <p:cBhvr>
                                        <p:cTn id="25" dur="500"/>
                                        <p:tgtEl>
                                          <p:spTgt spid="1638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16396"/>
                                        </p:tgtEl>
                                        <p:attrNameLst>
                                          <p:attrName>style.visibility</p:attrName>
                                        </p:attrNameLst>
                                      </p:cBhvr>
                                      <p:to>
                                        <p:strVal val="visible"/>
                                      </p:to>
                                    </p:set>
                                    <p:animEffect transition="in" filter="checkerboard(across)">
                                      <p:cBhvr>
                                        <p:cTn id="30" dur="500"/>
                                        <p:tgtEl>
                                          <p:spTgt spid="1639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16397"/>
                                        </p:tgtEl>
                                        <p:attrNameLst>
                                          <p:attrName>style.visibility</p:attrName>
                                        </p:attrNameLst>
                                      </p:cBhvr>
                                      <p:to>
                                        <p:strVal val="visible"/>
                                      </p:to>
                                    </p:set>
                                    <p:animEffect transition="in" filter="checkerboard(across)">
                                      <p:cBhvr>
                                        <p:cTn id="35" dur="500"/>
                                        <p:tgtEl>
                                          <p:spTgt spid="1639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16398"/>
                                        </p:tgtEl>
                                        <p:attrNameLst>
                                          <p:attrName>style.visibility</p:attrName>
                                        </p:attrNameLst>
                                      </p:cBhvr>
                                      <p:to>
                                        <p:strVal val="visible"/>
                                      </p:to>
                                    </p:set>
                                    <p:animEffect transition="in" filter="checkerboard(across)">
                                      <p:cBhvr>
                                        <p:cTn id="40" dur="500"/>
                                        <p:tgtEl>
                                          <p:spTgt spid="16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3" grpId="0"/>
      <p:bldP spid="16394" grpId="0" animBg="1"/>
      <p:bldP spid="16395" grpId="0"/>
      <p:bldP spid="16396" grpId="0"/>
      <p:bldP spid="16397" grpId="0"/>
      <p:bldP spid="1639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42339" name="Espace réservé du numéro de diapositive 5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4A46F6C-83B8-4EF4-9201-64D206CE3EFC}" type="slidenum">
              <a:rPr lang="en-US" altLang="fr-FR" sz="1000" smtClean="0">
                <a:solidFill>
                  <a:srgbClr val="292929"/>
                </a:solidFill>
                <a:latin typeface="Arial" panose="020B0604020202020204" pitchFamily="34" charset="0"/>
              </a:rPr>
              <a:pPr>
                <a:spcBef>
                  <a:spcPct val="0"/>
                </a:spcBef>
                <a:buClrTx/>
                <a:buSzTx/>
                <a:buFontTx/>
                <a:buNone/>
              </a:pPr>
              <a:t>69</a:t>
            </a:fld>
            <a:endParaRPr lang="en-US" altLang="fr-FR" sz="1000" smtClean="0">
              <a:solidFill>
                <a:srgbClr val="292929"/>
              </a:solidFill>
              <a:latin typeface="Arial" panose="020B0604020202020204" pitchFamily="34" charset="0"/>
            </a:endParaRPr>
          </a:p>
        </p:txBody>
      </p:sp>
      <p:sp>
        <p:nvSpPr>
          <p:cNvPr id="142340"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2341" name="Text Box 4"/>
          <p:cNvSpPr txBox="1">
            <a:spLocks noChangeArrowheads="1"/>
          </p:cNvSpPr>
          <p:nvPr/>
        </p:nvSpPr>
        <p:spPr bwMode="auto">
          <a:xfrm>
            <a:off x="685800" y="7620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Fonctionnement  4-quadrant</a:t>
            </a:r>
          </a:p>
        </p:txBody>
      </p:sp>
      <p:grpSp>
        <p:nvGrpSpPr>
          <p:cNvPr id="2" name="Group 5"/>
          <p:cNvGrpSpPr>
            <a:grpSpLocks/>
          </p:cNvGrpSpPr>
          <p:nvPr/>
        </p:nvGrpSpPr>
        <p:grpSpPr bwMode="auto">
          <a:xfrm>
            <a:off x="4457700" y="2286000"/>
            <a:ext cx="914400" cy="914400"/>
            <a:chOff x="3408" y="912"/>
            <a:chExt cx="576" cy="576"/>
          </a:xfrm>
        </p:grpSpPr>
        <p:sp>
          <p:nvSpPr>
            <p:cNvPr id="142389" name="Oval 6"/>
            <p:cNvSpPr>
              <a:spLocks noChangeArrowheads="1"/>
            </p:cNvSpPr>
            <p:nvPr/>
          </p:nvSpPr>
          <p:spPr bwMode="auto">
            <a:xfrm>
              <a:off x="3408" y="912"/>
              <a:ext cx="576" cy="57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2390" name="Rectangle 7"/>
            <p:cNvSpPr>
              <a:spLocks noChangeArrowheads="1"/>
            </p:cNvSpPr>
            <p:nvPr/>
          </p:nvSpPr>
          <p:spPr bwMode="auto">
            <a:xfrm>
              <a:off x="3648" y="912"/>
              <a:ext cx="96" cy="576"/>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nvGrpSpPr>
          <p:cNvPr id="3" name="Group 8"/>
          <p:cNvGrpSpPr>
            <a:grpSpLocks/>
          </p:cNvGrpSpPr>
          <p:nvPr/>
        </p:nvGrpSpPr>
        <p:grpSpPr bwMode="auto">
          <a:xfrm>
            <a:off x="1371600" y="2266950"/>
            <a:ext cx="914400" cy="914400"/>
            <a:chOff x="3408" y="912"/>
            <a:chExt cx="576" cy="576"/>
          </a:xfrm>
        </p:grpSpPr>
        <p:sp>
          <p:nvSpPr>
            <p:cNvPr id="142387" name="Oval 9"/>
            <p:cNvSpPr>
              <a:spLocks noChangeArrowheads="1"/>
            </p:cNvSpPr>
            <p:nvPr/>
          </p:nvSpPr>
          <p:spPr bwMode="auto">
            <a:xfrm>
              <a:off x="3408" y="912"/>
              <a:ext cx="576" cy="57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2388" name="Rectangle 10"/>
            <p:cNvSpPr>
              <a:spLocks noChangeArrowheads="1"/>
            </p:cNvSpPr>
            <p:nvPr/>
          </p:nvSpPr>
          <p:spPr bwMode="auto">
            <a:xfrm>
              <a:off x="3648" y="912"/>
              <a:ext cx="96" cy="576"/>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nvGrpSpPr>
          <p:cNvPr id="4" name="Group 11"/>
          <p:cNvGrpSpPr>
            <a:grpSpLocks/>
          </p:cNvGrpSpPr>
          <p:nvPr/>
        </p:nvGrpSpPr>
        <p:grpSpPr bwMode="auto">
          <a:xfrm>
            <a:off x="4772025" y="1868488"/>
            <a:ext cx="646113" cy="503237"/>
            <a:chOff x="3606" y="709"/>
            <a:chExt cx="407" cy="317"/>
          </a:xfrm>
        </p:grpSpPr>
        <p:sp>
          <p:nvSpPr>
            <p:cNvPr id="142385" name="Freeform 12"/>
            <p:cNvSpPr>
              <a:spLocks/>
            </p:cNvSpPr>
            <p:nvPr/>
          </p:nvSpPr>
          <p:spPr bwMode="auto">
            <a:xfrm>
              <a:off x="3855" y="890"/>
              <a:ext cx="158" cy="136"/>
            </a:xfrm>
            <a:custGeom>
              <a:avLst/>
              <a:gdLst>
                <a:gd name="T0" fmla="*/ 158 w 158"/>
                <a:gd name="T1" fmla="*/ 136 h 136"/>
                <a:gd name="T2" fmla="*/ 113 w 158"/>
                <a:gd name="T3" fmla="*/ 68 h 136"/>
                <a:gd name="T4" fmla="*/ 0 w 158"/>
                <a:gd name="T5" fmla="*/ 0 h 136"/>
                <a:gd name="T6" fmla="*/ 0 60000 65536"/>
                <a:gd name="T7" fmla="*/ 0 60000 65536"/>
                <a:gd name="T8" fmla="*/ 0 60000 65536"/>
                <a:gd name="T9" fmla="*/ 0 w 158"/>
                <a:gd name="T10" fmla="*/ 0 h 136"/>
                <a:gd name="T11" fmla="*/ 158 w 158"/>
                <a:gd name="T12" fmla="*/ 136 h 136"/>
              </a:gdLst>
              <a:ahLst/>
              <a:cxnLst>
                <a:cxn ang="T6">
                  <a:pos x="T0" y="T1"/>
                </a:cxn>
                <a:cxn ang="T7">
                  <a:pos x="T2" y="T3"/>
                </a:cxn>
                <a:cxn ang="T8">
                  <a:pos x="T4" y="T5"/>
                </a:cxn>
              </a:cxnLst>
              <a:rect l="T9" t="T10" r="T11" b="T12"/>
              <a:pathLst>
                <a:path w="158" h="136">
                  <a:moveTo>
                    <a:pt x="158" y="136"/>
                  </a:moveTo>
                  <a:cubicBezTo>
                    <a:pt x="148" y="113"/>
                    <a:pt x="139" y="91"/>
                    <a:pt x="113" y="68"/>
                  </a:cubicBezTo>
                  <a:cubicBezTo>
                    <a:pt x="87" y="45"/>
                    <a:pt x="43" y="22"/>
                    <a:pt x="0"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2386" name="Text Box 13"/>
            <p:cNvSpPr txBox="1">
              <a:spLocks noChangeArrowheads="1"/>
            </p:cNvSpPr>
            <p:nvPr/>
          </p:nvSpPr>
          <p:spPr bwMode="auto">
            <a:xfrm>
              <a:off x="3606" y="709"/>
              <a:ext cx="2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m</a:t>
              </a:r>
            </a:p>
          </p:txBody>
        </p:sp>
      </p:grpSp>
      <p:grpSp>
        <p:nvGrpSpPr>
          <p:cNvPr id="5" name="Group 14"/>
          <p:cNvGrpSpPr>
            <a:grpSpLocks/>
          </p:cNvGrpSpPr>
          <p:nvPr/>
        </p:nvGrpSpPr>
        <p:grpSpPr bwMode="auto">
          <a:xfrm>
            <a:off x="4987925" y="1616075"/>
            <a:ext cx="574675" cy="576263"/>
            <a:chOff x="3742" y="550"/>
            <a:chExt cx="362" cy="363"/>
          </a:xfrm>
        </p:grpSpPr>
        <p:sp>
          <p:nvSpPr>
            <p:cNvPr id="142383" name="Freeform 15"/>
            <p:cNvSpPr>
              <a:spLocks/>
            </p:cNvSpPr>
            <p:nvPr/>
          </p:nvSpPr>
          <p:spPr bwMode="auto">
            <a:xfrm>
              <a:off x="3946" y="777"/>
              <a:ext cx="158" cy="136"/>
            </a:xfrm>
            <a:custGeom>
              <a:avLst/>
              <a:gdLst>
                <a:gd name="T0" fmla="*/ 158 w 158"/>
                <a:gd name="T1" fmla="*/ 136 h 136"/>
                <a:gd name="T2" fmla="*/ 113 w 158"/>
                <a:gd name="T3" fmla="*/ 68 h 136"/>
                <a:gd name="T4" fmla="*/ 0 w 158"/>
                <a:gd name="T5" fmla="*/ 0 h 136"/>
                <a:gd name="T6" fmla="*/ 0 60000 65536"/>
                <a:gd name="T7" fmla="*/ 0 60000 65536"/>
                <a:gd name="T8" fmla="*/ 0 60000 65536"/>
                <a:gd name="T9" fmla="*/ 0 w 158"/>
                <a:gd name="T10" fmla="*/ 0 h 136"/>
                <a:gd name="T11" fmla="*/ 158 w 158"/>
                <a:gd name="T12" fmla="*/ 136 h 136"/>
              </a:gdLst>
              <a:ahLst/>
              <a:cxnLst>
                <a:cxn ang="T6">
                  <a:pos x="T0" y="T1"/>
                </a:cxn>
                <a:cxn ang="T7">
                  <a:pos x="T2" y="T3"/>
                </a:cxn>
                <a:cxn ang="T8">
                  <a:pos x="T4" y="T5"/>
                </a:cxn>
              </a:cxnLst>
              <a:rect l="T9" t="T10" r="T11" b="T12"/>
              <a:pathLst>
                <a:path w="158" h="136">
                  <a:moveTo>
                    <a:pt x="158" y="136"/>
                  </a:moveTo>
                  <a:cubicBezTo>
                    <a:pt x="148" y="113"/>
                    <a:pt x="139" y="91"/>
                    <a:pt x="113" y="68"/>
                  </a:cubicBezTo>
                  <a:cubicBezTo>
                    <a:pt x="87" y="45"/>
                    <a:pt x="43" y="22"/>
                    <a:pt x="0"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2384" name="Text Box 16"/>
            <p:cNvSpPr txBox="1">
              <a:spLocks noChangeArrowheads="1"/>
            </p:cNvSpPr>
            <p:nvPr/>
          </p:nvSpPr>
          <p:spPr bwMode="auto">
            <a:xfrm>
              <a:off x="3742" y="550"/>
              <a:ext cx="2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T</a:t>
              </a:r>
              <a:r>
                <a:rPr lang="en-US" altLang="fr-FR" sz="1800" baseline="-25000">
                  <a:latin typeface="Arial" panose="020B0604020202020204" pitchFamily="34" charset="0"/>
                  <a:sym typeface="Symbol" panose="05050102010706020507" pitchFamily="18" charset="2"/>
                </a:rPr>
                <a:t>e</a:t>
              </a:r>
            </a:p>
          </p:txBody>
        </p:sp>
      </p:grpSp>
      <p:grpSp>
        <p:nvGrpSpPr>
          <p:cNvPr id="6" name="Group 17"/>
          <p:cNvGrpSpPr>
            <a:grpSpLocks/>
          </p:cNvGrpSpPr>
          <p:nvPr/>
        </p:nvGrpSpPr>
        <p:grpSpPr bwMode="auto">
          <a:xfrm>
            <a:off x="2189163" y="2016125"/>
            <a:ext cx="671512" cy="438150"/>
            <a:chOff x="2170" y="868"/>
            <a:chExt cx="423" cy="276"/>
          </a:xfrm>
        </p:grpSpPr>
        <p:sp>
          <p:nvSpPr>
            <p:cNvPr id="142381" name="Freeform 18"/>
            <p:cNvSpPr>
              <a:spLocks/>
            </p:cNvSpPr>
            <p:nvPr/>
          </p:nvSpPr>
          <p:spPr bwMode="auto">
            <a:xfrm>
              <a:off x="2170" y="868"/>
              <a:ext cx="158" cy="136"/>
            </a:xfrm>
            <a:custGeom>
              <a:avLst/>
              <a:gdLst>
                <a:gd name="T0" fmla="*/ 158 w 158"/>
                <a:gd name="T1" fmla="*/ 136 h 136"/>
                <a:gd name="T2" fmla="*/ 113 w 158"/>
                <a:gd name="T3" fmla="*/ 68 h 136"/>
                <a:gd name="T4" fmla="*/ 0 w 158"/>
                <a:gd name="T5" fmla="*/ 0 h 136"/>
                <a:gd name="T6" fmla="*/ 0 60000 65536"/>
                <a:gd name="T7" fmla="*/ 0 60000 65536"/>
                <a:gd name="T8" fmla="*/ 0 60000 65536"/>
                <a:gd name="T9" fmla="*/ 0 w 158"/>
                <a:gd name="T10" fmla="*/ 0 h 136"/>
                <a:gd name="T11" fmla="*/ 158 w 158"/>
                <a:gd name="T12" fmla="*/ 136 h 136"/>
              </a:gdLst>
              <a:ahLst/>
              <a:cxnLst>
                <a:cxn ang="T6">
                  <a:pos x="T0" y="T1"/>
                </a:cxn>
                <a:cxn ang="T7">
                  <a:pos x="T2" y="T3"/>
                </a:cxn>
                <a:cxn ang="T8">
                  <a:pos x="T4" y="T5"/>
                </a:cxn>
              </a:cxnLst>
              <a:rect l="T9" t="T10" r="T11" b="T12"/>
              <a:pathLst>
                <a:path w="158" h="136">
                  <a:moveTo>
                    <a:pt x="158" y="136"/>
                  </a:moveTo>
                  <a:cubicBezTo>
                    <a:pt x="148" y="113"/>
                    <a:pt x="139" y="91"/>
                    <a:pt x="113" y="68"/>
                  </a:cubicBezTo>
                  <a:cubicBezTo>
                    <a:pt x="87" y="45"/>
                    <a:pt x="43" y="22"/>
                    <a:pt x="0" y="0"/>
                  </a:cubicBezTo>
                </a:path>
              </a:pathLst>
            </a:custGeom>
            <a:noFill/>
            <a:ln w="38100">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2382" name="Text Box 19"/>
            <p:cNvSpPr txBox="1">
              <a:spLocks noChangeArrowheads="1"/>
            </p:cNvSpPr>
            <p:nvPr/>
          </p:nvSpPr>
          <p:spPr bwMode="auto">
            <a:xfrm>
              <a:off x="2336" y="913"/>
              <a:ext cx="2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T</a:t>
              </a:r>
              <a:r>
                <a:rPr lang="en-US" altLang="fr-FR" sz="1800" baseline="-25000">
                  <a:latin typeface="Arial" panose="020B0604020202020204" pitchFamily="34" charset="0"/>
                  <a:sym typeface="Symbol" panose="05050102010706020507" pitchFamily="18" charset="2"/>
                </a:rPr>
                <a:t>e</a:t>
              </a:r>
            </a:p>
          </p:txBody>
        </p:sp>
      </p:grpSp>
      <p:grpSp>
        <p:nvGrpSpPr>
          <p:cNvPr id="7" name="Group 20"/>
          <p:cNvGrpSpPr>
            <a:grpSpLocks/>
          </p:cNvGrpSpPr>
          <p:nvPr/>
        </p:nvGrpSpPr>
        <p:grpSpPr bwMode="auto">
          <a:xfrm>
            <a:off x="1660525" y="1828800"/>
            <a:ext cx="636588" cy="582613"/>
            <a:chOff x="1837" y="750"/>
            <a:chExt cx="401" cy="367"/>
          </a:xfrm>
        </p:grpSpPr>
        <p:sp>
          <p:nvSpPr>
            <p:cNvPr id="142379" name="Freeform 21"/>
            <p:cNvSpPr>
              <a:spLocks/>
            </p:cNvSpPr>
            <p:nvPr/>
          </p:nvSpPr>
          <p:spPr bwMode="auto">
            <a:xfrm>
              <a:off x="2080" y="981"/>
              <a:ext cx="158" cy="136"/>
            </a:xfrm>
            <a:custGeom>
              <a:avLst/>
              <a:gdLst>
                <a:gd name="T0" fmla="*/ 158 w 158"/>
                <a:gd name="T1" fmla="*/ 136 h 136"/>
                <a:gd name="T2" fmla="*/ 113 w 158"/>
                <a:gd name="T3" fmla="*/ 68 h 136"/>
                <a:gd name="T4" fmla="*/ 0 w 158"/>
                <a:gd name="T5" fmla="*/ 0 h 136"/>
                <a:gd name="T6" fmla="*/ 0 60000 65536"/>
                <a:gd name="T7" fmla="*/ 0 60000 65536"/>
                <a:gd name="T8" fmla="*/ 0 60000 65536"/>
                <a:gd name="T9" fmla="*/ 0 w 158"/>
                <a:gd name="T10" fmla="*/ 0 h 136"/>
                <a:gd name="T11" fmla="*/ 158 w 158"/>
                <a:gd name="T12" fmla="*/ 136 h 136"/>
              </a:gdLst>
              <a:ahLst/>
              <a:cxnLst>
                <a:cxn ang="T6">
                  <a:pos x="T0" y="T1"/>
                </a:cxn>
                <a:cxn ang="T7">
                  <a:pos x="T2" y="T3"/>
                </a:cxn>
                <a:cxn ang="T8">
                  <a:pos x="T4" y="T5"/>
                </a:cxn>
              </a:cxnLst>
              <a:rect l="T9" t="T10" r="T11" b="T12"/>
              <a:pathLst>
                <a:path w="158" h="136">
                  <a:moveTo>
                    <a:pt x="158" y="136"/>
                  </a:moveTo>
                  <a:cubicBezTo>
                    <a:pt x="148" y="113"/>
                    <a:pt x="139" y="91"/>
                    <a:pt x="113" y="68"/>
                  </a:cubicBezTo>
                  <a:cubicBezTo>
                    <a:pt x="87" y="45"/>
                    <a:pt x="43" y="22"/>
                    <a:pt x="0"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2380" name="Text Box 22"/>
            <p:cNvSpPr txBox="1">
              <a:spLocks noChangeArrowheads="1"/>
            </p:cNvSpPr>
            <p:nvPr/>
          </p:nvSpPr>
          <p:spPr bwMode="auto">
            <a:xfrm>
              <a:off x="1837" y="750"/>
              <a:ext cx="2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m</a:t>
              </a:r>
            </a:p>
          </p:txBody>
        </p:sp>
      </p:grpSp>
      <p:grpSp>
        <p:nvGrpSpPr>
          <p:cNvPr id="8" name="Group 23"/>
          <p:cNvGrpSpPr>
            <a:grpSpLocks/>
          </p:cNvGrpSpPr>
          <p:nvPr/>
        </p:nvGrpSpPr>
        <p:grpSpPr bwMode="auto">
          <a:xfrm>
            <a:off x="1447800" y="5105400"/>
            <a:ext cx="914400" cy="914400"/>
            <a:chOff x="3408" y="912"/>
            <a:chExt cx="576" cy="576"/>
          </a:xfrm>
        </p:grpSpPr>
        <p:sp>
          <p:nvSpPr>
            <p:cNvPr id="142377" name="Oval 24"/>
            <p:cNvSpPr>
              <a:spLocks noChangeArrowheads="1"/>
            </p:cNvSpPr>
            <p:nvPr/>
          </p:nvSpPr>
          <p:spPr bwMode="auto">
            <a:xfrm>
              <a:off x="3408" y="912"/>
              <a:ext cx="576" cy="57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2378" name="Rectangle 25"/>
            <p:cNvSpPr>
              <a:spLocks noChangeArrowheads="1"/>
            </p:cNvSpPr>
            <p:nvPr/>
          </p:nvSpPr>
          <p:spPr bwMode="auto">
            <a:xfrm>
              <a:off x="3648" y="912"/>
              <a:ext cx="96" cy="576"/>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nvGrpSpPr>
          <p:cNvPr id="9" name="Group 26"/>
          <p:cNvGrpSpPr>
            <a:grpSpLocks/>
          </p:cNvGrpSpPr>
          <p:nvPr/>
        </p:nvGrpSpPr>
        <p:grpSpPr bwMode="auto">
          <a:xfrm>
            <a:off x="2209800" y="4800600"/>
            <a:ext cx="671513" cy="438150"/>
            <a:chOff x="2193" y="2297"/>
            <a:chExt cx="423" cy="276"/>
          </a:xfrm>
        </p:grpSpPr>
        <p:sp>
          <p:nvSpPr>
            <p:cNvPr id="142375" name="Freeform 27"/>
            <p:cNvSpPr>
              <a:spLocks/>
            </p:cNvSpPr>
            <p:nvPr/>
          </p:nvSpPr>
          <p:spPr bwMode="auto">
            <a:xfrm>
              <a:off x="2193" y="2297"/>
              <a:ext cx="158" cy="136"/>
            </a:xfrm>
            <a:custGeom>
              <a:avLst/>
              <a:gdLst>
                <a:gd name="T0" fmla="*/ 158 w 158"/>
                <a:gd name="T1" fmla="*/ 136 h 136"/>
                <a:gd name="T2" fmla="*/ 113 w 158"/>
                <a:gd name="T3" fmla="*/ 68 h 136"/>
                <a:gd name="T4" fmla="*/ 0 w 158"/>
                <a:gd name="T5" fmla="*/ 0 h 136"/>
                <a:gd name="T6" fmla="*/ 0 60000 65536"/>
                <a:gd name="T7" fmla="*/ 0 60000 65536"/>
                <a:gd name="T8" fmla="*/ 0 60000 65536"/>
                <a:gd name="T9" fmla="*/ 0 w 158"/>
                <a:gd name="T10" fmla="*/ 0 h 136"/>
                <a:gd name="T11" fmla="*/ 158 w 158"/>
                <a:gd name="T12" fmla="*/ 136 h 136"/>
              </a:gdLst>
              <a:ahLst/>
              <a:cxnLst>
                <a:cxn ang="T6">
                  <a:pos x="T0" y="T1"/>
                </a:cxn>
                <a:cxn ang="T7">
                  <a:pos x="T2" y="T3"/>
                </a:cxn>
                <a:cxn ang="T8">
                  <a:pos x="T4" y="T5"/>
                </a:cxn>
              </a:cxnLst>
              <a:rect l="T9" t="T10" r="T11" b="T12"/>
              <a:pathLst>
                <a:path w="158" h="136">
                  <a:moveTo>
                    <a:pt x="158" y="136"/>
                  </a:moveTo>
                  <a:cubicBezTo>
                    <a:pt x="148" y="113"/>
                    <a:pt x="139" y="91"/>
                    <a:pt x="113" y="68"/>
                  </a:cubicBezTo>
                  <a:cubicBezTo>
                    <a:pt x="87" y="45"/>
                    <a:pt x="43" y="22"/>
                    <a:pt x="0" y="0"/>
                  </a:cubicBezTo>
                </a:path>
              </a:pathLst>
            </a:custGeom>
            <a:noFill/>
            <a:ln w="38100">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2376" name="Text Box 28"/>
            <p:cNvSpPr txBox="1">
              <a:spLocks noChangeArrowheads="1"/>
            </p:cNvSpPr>
            <p:nvPr/>
          </p:nvSpPr>
          <p:spPr bwMode="auto">
            <a:xfrm>
              <a:off x="2359" y="2342"/>
              <a:ext cx="2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T</a:t>
              </a:r>
              <a:r>
                <a:rPr lang="en-US" altLang="fr-FR" sz="1800" baseline="-25000">
                  <a:latin typeface="Arial" panose="020B0604020202020204" pitchFamily="34" charset="0"/>
                  <a:sym typeface="Symbol" panose="05050102010706020507" pitchFamily="18" charset="2"/>
                </a:rPr>
                <a:t>e</a:t>
              </a:r>
            </a:p>
          </p:txBody>
        </p:sp>
      </p:grpSp>
      <p:grpSp>
        <p:nvGrpSpPr>
          <p:cNvPr id="10" name="Group 29"/>
          <p:cNvGrpSpPr>
            <a:grpSpLocks/>
          </p:cNvGrpSpPr>
          <p:nvPr/>
        </p:nvGrpSpPr>
        <p:grpSpPr bwMode="auto">
          <a:xfrm>
            <a:off x="2122488" y="5033963"/>
            <a:ext cx="657225" cy="509587"/>
            <a:chOff x="2103" y="2410"/>
            <a:chExt cx="414" cy="321"/>
          </a:xfrm>
        </p:grpSpPr>
        <p:sp>
          <p:nvSpPr>
            <p:cNvPr id="142373" name="Freeform 30"/>
            <p:cNvSpPr>
              <a:spLocks/>
            </p:cNvSpPr>
            <p:nvPr/>
          </p:nvSpPr>
          <p:spPr bwMode="auto">
            <a:xfrm>
              <a:off x="2103" y="2410"/>
              <a:ext cx="158" cy="136"/>
            </a:xfrm>
            <a:custGeom>
              <a:avLst/>
              <a:gdLst>
                <a:gd name="T0" fmla="*/ 158 w 158"/>
                <a:gd name="T1" fmla="*/ 136 h 136"/>
                <a:gd name="T2" fmla="*/ 113 w 158"/>
                <a:gd name="T3" fmla="*/ 68 h 136"/>
                <a:gd name="T4" fmla="*/ 0 w 158"/>
                <a:gd name="T5" fmla="*/ 0 h 136"/>
                <a:gd name="T6" fmla="*/ 0 60000 65536"/>
                <a:gd name="T7" fmla="*/ 0 60000 65536"/>
                <a:gd name="T8" fmla="*/ 0 60000 65536"/>
                <a:gd name="T9" fmla="*/ 0 w 158"/>
                <a:gd name="T10" fmla="*/ 0 h 136"/>
                <a:gd name="T11" fmla="*/ 158 w 158"/>
                <a:gd name="T12" fmla="*/ 136 h 136"/>
              </a:gdLst>
              <a:ahLst/>
              <a:cxnLst>
                <a:cxn ang="T6">
                  <a:pos x="T0" y="T1"/>
                </a:cxn>
                <a:cxn ang="T7">
                  <a:pos x="T2" y="T3"/>
                </a:cxn>
                <a:cxn ang="T8">
                  <a:pos x="T4" y="T5"/>
                </a:cxn>
              </a:cxnLst>
              <a:rect l="T9" t="T10" r="T11" b="T12"/>
              <a:pathLst>
                <a:path w="158" h="136">
                  <a:moveTo>
                    <a:pt x="158" y="136"/>
                  </a:moveTo>
                  <a:cubicBezTo>
                    <a:pt x="148" y="113"/>
                    <a:pt x="139" y="91"/>
                    <a:pt x="113" y="68"/>
                  </a:cubicBezTo>
                  <a:cubicBezTo>
                    <a:pt x="87" y="45"/>
                    <a:pt x="43" y="22"/>
                    <a:pt x="0" y="0"/>
                  </a:cubicBezTo>
                </a:path>
              </a:pathLst>
            </a:custGeom>
            <a:noFill/>
            <a:ln w="38100">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2374" name="Text Box 31"/>
            <p:cNvSpPr txBox="1">
              <a:spLocks noChangeArrowheads="1"/>
            </p:cNvSpPr>
            <p:nvPr/>
          </p:nvSpPr>
          <p:spPr bwMode="auto">
            <a:xfrm>
              <a:off x="2222" y="2500"/>
              <a:ext cx="2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m</a:t>
              </a:r>
            </a:p>
          </p:txBody>
        </p:sp>
      </p:grpSp>
      <p:grpSp>
        <p:nvGrpSpPr>
          <p:cNvPr id="11" name="Group 32"/>
          <p:cNvGrpSpPr>
            <a:grpSpLocks/>
          </p:cNvGrpSpPr>
          <p:nvPr/>
        </p:nvGrpSpPr>
        <p:grpSpPr bwMode="auto">
          <a:xfrm>
            <a:off x="4495800" y="5029200"/>
            <a:ext cx="914400" cy="914400"/>
            <a:chOff x="3408" y="912"/>
            <a:chExt cx="576" cy="576"/>
          </a:xfrm>
        </p:grpSpPr>
        <p:sp>
          <p:nvSpPr>
            <p:cNvPr id="142371" name="Oval 33"/>
            <p:cNvSpPr>
              <a:spLocks noChangeArrowheads="1"/>
            </p:cNvSpPr>
            <p:nvPr/>
          </p:nvSpPr>
          <p:spPr bwMode="auto">
            <a:xfrm>
              <a:off x="3408" y="912"/>
              <a:ext cx="576" cy="576"/>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2372" name="Rectangle 34"/>
            <p:cNvSpPr>
              <a:spLocks noChangeArrowheads="1"/>
            </p:cNvSpPr>
            <p:nvPr/>
          </p:nvSpPr>
          <p:spPr bwMode="auto">
            <a:xfrm>
              <a:off x="3648" y="912"/>
              <a:ext cx="96" cy="576"/>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nvGrpSpPr>
          <p:cNvPr id="12" name="Group 35"/>
          <p:cNvGrpSpPr>
            <a:grpSpLocks/>
          </p:cNvGrpSpPr>
          <p:nvPr/>
        </p:nvGrpSpPr>
        <p:grpSpPr bwMode="auto">
          <a:xfrm>
            <a:off x="4953000" y="4419600"/>
            <a:ext cx="587375" cy="577850"/>
            <a:chOff x="3719" y="2069"/>
            <a:chExt cx="370" cy="364"/>
          </a:xfrm>
        </p:grpSpPr>
        <p:sp>
          <p:nvSpPr>
            <p:cNvPr id="142369" name="Freeform 36"/>
            <p:cNvSpPr>
              <a:spLocks/>
            </p:cNvSpPr>
            <p:nvPr/>
          </p:nvSpPr>
          <p:spPr bwMode="auto">
            <a:xfrm>
              <a:off x="3931" y="2297"/>
              <a:ext cx="158" cy="136"/>
            </a:xfrm>
            <a:custGeom>
              <a:avLst/>
              <a:gdLst>
                <a:gd name="T0" fmla="*/ 158 w 158"/>
                <a:gd name="T1" fmla="*/ 136 h 136"/>
                <a:gd name="T2" fmla="*/ 113 w 158"/>
                <a:gd name="T3" fmla="*/ 68 h 136"/>
                <a:gd name="T4" fmla="*/ 0 w 158"/>
                <a:gd name="T5" fmla="*/ 0 h 136"/>
                <a:gd name="T6" fmla="*/ 0 60000 65536"/>
                <a:gd name="T7" fmla="*/ 0 60000 65536"/>
                <a:gd name="T8" fmla="*/ 0 60000 65536"/>
                <a:gd name="T9" fmla="*/ 0 w 158"/>
                <a:gd name="T10" fmla="*/ 0 h 136"/>
                <a:gd name="T11" fmla="*/ 158 w 158"/>
                <a:gd name="T12" fmla="*/ 136 h 136"/>
              </a:gdLst>
              <a:ahLst/>
              <a:cxnLst>
                <a:cxn ang="T6">
                  <a:pos x="T0" y="T1"/>
                </a:cxn>
                <a:cxn ang="T7">
                  <a:pos x="T2" y="T3"/>
                </a:cxn>
                <a:cxn ang="T8">
                  <a:pos x="T4" y="T5"/>
                </a:cxn>
              </a:cxnLst>
              <a:rect l="T9" t="T10" r="T11" b="T12"/>
              <a:pathLst>
                <a:path w="158" h="136">
                  <a:moveTo>
                    <a:pt x="158" y="136"/>
                  </a:moveTo>
                  <a:cubicBezTo>
                    <a:pt x="148" y="113"/>
                    <a:pt x="139" y="91"/>
                    <a:pt x="113" y="68"/>
                  </a:cubicBezTo>
                  <a:cubicBezTo>
                    <a:pt x="87" y="45"/>
                    <a:pt x="43" y="22"/>
                    <a:pt x="0"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2370" name="Text Box 37"/>
            <p:cNvSpPr txBox="1">
              <a:spLocks noChangeArrowheads="1"/>
            </p:cNvSpPr>
            <p:nvPr/>
          </p:nvSpPr>
          <p:spPr bwMode="auto">
            <a:xfrm>
              <a:off x="3719" y="2069"/>
              <a:ext cx="2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T</a:t>
              </a:r>
              <a:r>
                <a:rPr lang="en-US" altLang="fr-FR" sz="1800" baseline="-25000">
                  <a:latin typeface="Arial" panose="020B0604020202020204" pitchFamily="34" charset="0"/>
                  <a:sym typeface="Symbol" panose="05050102010706020507" pitchFamily="18" charset="2"/>
                </a:rPr>
                <a:t>e</a:t>
              </a:r>
            </a:p>
          </p:txBody>
        </p:sp>
      </p:grpSp>
      <p:grpSp>
        <p:nvGrpSpPr>
          <p:cNvPr id="13" name="Group 38"/>
          <p:cNvGrpSpPr>
            <a:grpSpLocks/>
          </p:cNvGrpSpPr>
          <p:nvPr/>
        </p:nvGrpSpPr>
        <p:grpSpPr bwMode="auto">
          <a:xfrm>
            <a:off x="5170488" y="4957763"/>
            <a:ext cx="657225" cy="509587"/>
            <a:chOff x="3841" y="2410"/>
            <a:chExt cx="414" cy="321"/>
          </a:xfrm>
        </p:grpSpPr>
        <p:sp>
          <p:nvSpPr>
            <p:cNvPr id="142367" name="Freeform 39"/>
            <p:cNvSpPr>
              <a:spLocks/>
            </p:cNvSpPr>
            <p:nvPr/>
          </p:nvSpPr>
          <p:spPr bwMode="auto">
            <a:xfrm>
              <a:off x="3841" y="2410"/>
              <a:ext cx="158" cy="136"/>
            </a:xfrm>
            <a:custGeom>
              <a:avLst/>
              <a:gdLst>
                <a:gd name="T0" fmla="*/ 158 w 158"/>
                <a:gd name="T1" fmla="*/ 136 h 136"/>
                <a:gd name="T2" fmla="*/ 113 w 158"/>
                <a:gd name="T3" fmla="*/ 68 h 136"/>
                <a:gd name="T4" fmla="*/ 0 w 158"/>
                <a:gd name="T5" fmla="*/ 0 h 136"/>
                <a:gd name="T6" fmla="*/ 0 60000 65536"/>
                <a:gd name="T7" fmla="*/ 0 60000 65536"/>
                <a:gd name="T8" fmla="*/ 0 60000 65536"/>
                <a:gd name="T9" fmla="*/ 0 w 158"/>
                <a:gd name="T10" fmla="*/ 0 h 136"/>
                <a:gd name="T11" fmla="*/ 158 w 158"/>
                <a:gd name="T12" fmla="*/ 136 h 136"/>
              </a:gdLst>
              <a:ahLst/>
              <a:cxnLst>
                <a:cxn ang="T6">
                  <a:pos x="T0" y="T1"/>
                </a:cxn>
                <a:cxn ang="T7">
                  <a:pos x="T2" y="T3"/>
                </a:cxn>
                <a:cxn ang="T8">
                  <a:pos x="T4" y="T5"/>
                </a:cxn>
              </a:cxnLst>
              <a:rect l="T9" t="T10" r="T11" b="T12"/>
              <a:pathLst>
                <a:path w="158" h="136">
                  <a:moveTo>
                    <a:pt x="158" y="136"/>
                  </a:moveTo>
                  <a:cubicBezTo>
                    <a:pt x="148" y="113"/>
                    <a:pt x="139" y="91"/>
                    <a:pt x="113" y="68"/>
                  </a:cubicBezTo>
                  <a:cubicBezTo>
                    <a:pt x="87" y="45"/>
                    <a:pt x="43" y="22"/>
                    <a:pt x="0" y="0"/>
                  </a:cubicBezTo>
                </a:path>
              </a:pathLst>
            </a:custGeom>
            <a:noFill/>
            <a:ln w="38100">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2368" name="Text Box 40"/>
            <p:cNvSpPr txBox="1">
              <a:spLocks noChangeArrowheads="1"/>
            </p:cNvSpPr>
            <p:nvPr/>
          </p:nvSpPr>
          <p:spPr bwMode="auto">
            <a:xfrm>
              <a:off x="3960" y="2500"/>
              <a:ext cx="2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m</a:t>
              </a:r>
            </a:p>
          </p:txBody>
        </p:sp>
      </p:grpSp>
      <p:grpSp>
        <p:nvGrpSpPr>
          <p:cNvPr id="14" name="Group 41"/>
          <p:cNvGrpSpPr>
            <a:grpSpLocks/>
          </p:cNvGrpSpPr>
          <p:nvPr/>
        </p:nvGrpSpPr>
        <p:grpSpPr bwMode="auto">
          <a:xfrm>
            <a:off x="3429000" y="1504950"/>
            <a:ext cx="363538" cy="4667250"/>
            <a:chOff x="2160" y="948"/>
            <a:chExt cx="229" cy="2940"/>
          </a:xfrm>
        </p:grpSpPr>
        <p:sp>
          <p:nvSpPr>
            <p:cNvPr id="142365" name="Line 42"/>
            <p:cNvSpPr>
              <a:spLocks noChangeShapeType="1"/>
            </p:cNvSpPr>
            <p:nvPr/>
          </p:nvSpPr>
          <p:spPr bwMode="auto">
            <a:xfrm flipV="1">
              <a:off x="2160" y="1152"/>
              <a:ext cx="0" cy="2736"/>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fr-FR"/>
            </a:p>
          </p:txBody>
        </p:sp>
        <p:sp>
          <p:nvSpPr>
            <p:cNvPr id="142366" name="Text Box 43"/>
            <p:cNvSpPr txBox="1">
              <a:spLocks noChangeArrowheads="1"/>
            </p:cNvSpPr>
            <p:nvPr/>
          </p:nvSpPr>
          <p:spPr bwMode="auto">
            <a:xfrm>
              <a:off x="2163" y="948"/>
              <a:ext cx="2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a:latin typeface="Arial" panose="020B0604020202020204" pitchFamily="34" charset="0"/>
                  <a:sym typeface="Symbol" panose="05050102010706020507" pitchFamily="18" charset="2"/>
                </a:rPr>
                <a:t></a:t>
              </a:r>
              <a:endParaRPr lang="en-US" altLang="fr-FR" sz="2000" baseline="-25000">
                <a:latin typeface="Arial" panose="020B0604020202020204" pitchFamily="34" charset="0"/>
                <a:sym typeface="Symbol" panose="05050102010706020507" pitchFamily="18" charset="2"/>
              </a:endParaRPr>
            </a:p>
          </p:txBody>
        </p:sp>
      </p:grpSp>
      <p:grpSp>
        <p:nvGrpSpPr>
          <p:cNvPr id="15" name="Group 44"/>
          <p:cNvGrpSpPr>
            <a:grpSpLocks/>
          </p:cNvGrpSpPr>
          <p:nvPr/>
        </p:nvGrpSpPr>
        <p:grpSpPr bwMode="auto">
          <a:xfrm>
            <a:off x="685800" y="3657600"/>
            <a:ext cx="5859463" cy="396875"/>
            <a:chOff x="432" y="2304"/>
            <a:chExt cx="3691" cy="250"/>
          </a:xfrm>
        </p:grpSpPr>
        <p:sp>
          <p:nvSpPr>
            <p:cNvPr id="142363" name="Line 45"/>
            <p:cNvSpPr>
              <a:spLocks noChangeShapeType="1"/>
            </p:cNvSpPr>
            <p:nvPr/>
          </p:nvSpPr>
          <p:spPr bwMode="auto">
            <a:xfrm>
              <a:off x="432" y="2544"/>
              <a:ext cx="350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2364" name="Text Box 46"/>
            <p:cNvSpPr txBox="1">
              <a:spLocks noChangeArrowheads="1"/>
            </p:cNvSpPr>
            <p:nvPr/>
          </p:nvSpPr>
          <p:spPr bwMode="auto">
            <a:xfrm>
              <a:off x="3909" y="2304"/>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a:latin typeface="Arial" panose="020B0604020202020204" pitchFamily="34" charset="0"/>
                  <a:sym typeface="Symbol" panose="05050102010706020507" pitchFamily="18" charset="2"/>
                </a:rPr>
                <a:t>T</a:t>
              </a:r>
              <a:endParaRPr lang="en-US" altLang="fr-FR" sz="2000" baseline="-25000">
                <a:latin typeface="Arial" panose="020B0604020202020204" pitchFamily="34" charset="0"/>
                <a:sym typeface="Symbol" panose="05050102010706020507" pitchFamily="18" charset="2"/>
              </a:endParaRPr>
            </a:p>
          </p:txBody>
        </p:sp>
      </p:grpSp>
      <p:sp>
        <p:nvSpPr>
          <p:cNvPr id="52271" name="Text Box 47"/>
          <p:cNvSpPr txBox="1">
            <a:spLocks noChangeArrowheads="1"/>
          </p:cNvSpPr>
          <p:nvPr/>
        </p:nvSpPr>
        <p:spPr bwMode="auto">
          <a:xfrm>
            <a:off x="5867400" y="1524000"/>
            <a:ext cx="28956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14300" indent="-1143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Char char="•"/>
            </a:pPr>
            <a:r>
              <a:rPr lang="fr-FR" altLang="fr-FR" sz="1400">
                <a:latin typeface="Arial" panose="020B0604020202020204" pitchFamily="34" charset="0"/>
              </a:rPr>
              <a:t>L’orientation positive de la vitesse (en avant) est choisie arbitrairement</a:t>
            </a:r>
            <a:endParaRPr lang="en-US" altLang="fr-FR" sz="1400">
              <a:latin typeface="Arial" panose="020B0604020202020204" pitchFamily="34" charset="0"/>
            </a:endParaRPr>
          </a:p>
        </p:txBody>
      </p:sp>
      <p:sp>
        <p:nvSpPr>
          <p:cNvPr id="52272" name="Text Box 48"/>
          <p:cNvSpPr txBox="1">
            <a:spLocks noChangeArrowheads="1"/>
          </p:cNvSpPr>
          <p:nvPr/>
        </p:nvSpPr>
        <p:spPr bwMode="auto">
          <a:xfrm>
            <a:off x="5867400" y="2225675"/>
            <a:ext cx="29718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14300" indent="-1143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Char char="•"/>
            </a:pPr>
            <a:r>
              <a:rPr lang="en-US" altLang="fr-FR" sz="1400">
                <a:latin typeface="Arial" panose="020B0604020202020204" pitchFamily="34" charset="0"/>
              </a:rPr>
              <a:t>Le sens du couple positif  va produire une vitesse (en avant) positive </a:t>
            </a:r>
          </a:p>
        </p:txBody>
      </p:sp>
      <p:sp>
        <p:nvSpPr>
          <p:cNvPr id="52273" name="Text Box 49"/>
          <p:cNvSpPr txBox="1">
            <a:spLocks noChangeArrowheads="1"/>
          </p:cNvSpPr>
          <p:nvPr/>
        </p:nvSpPr>
        <p:spPr bwMode="auto">
          <a:xfrm>
            <a:off x="3505200" y="3403600"/>
            <a:ext cx="1566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b="1" i="1">
                <a:solidFill>
                  <a:srgbClr val="FF0000"/>
                </a:solidFill>
                <a:latin typeface="Arial" panose="020B0604020202020204" pitchFamily="34" charset="0"/>
              </a:rPr>
              <a:t>Quadrant 1</a:t>
            </a:r>
          </a:p>
          <a:p>
            <a:pPr eaLnBrk="1" hangingPunct="1">
              <a:spcBef>
                <a:spcPct val="0"/>
              </a:spcBef>
              <a:buClrTx/>
              <a:buSzTx/>
              <a:buFontTx/>
              <a:buNone/>
            </a:pPr>
            <a:r>
              <a:rPr lang="en-US" altLang="fr-FR" sz="1400" i="1">
                <a:solidFill>
                  <a:srgbClr val="FF3300"/>
                </a:solidFill>
                <a:latin typeface="Arial" panose="020B0604020202020204" pitchFamily="34" charset="0"/>
              </a:rPr>
              <a:t>Marche en avant</a:t>
            </a:r>
          </a:p>
        </p:txBody>
      </p:sp>
      <p:sp>
        <p:nvSpPr>
          <p:cNvPr id="52274" name="Text Box 50"/>
          <p:cNvSpPr txBox="1">
            <a:spLocks noChangeArrowheads="1"/>
          </p:cNvSpPr>
          <p:nvPr/>
        </p:nvSpPr>
        <p:spPr bwMode="auto">
          <a:xfrm>
            <a:off x="762000" y="3429000"/>
            <a:ext cx="2509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b="1" i="1">
                <a:solidFill>
                  <a:srgbClr val="FF0000"/>
                </a:solidFill>
                <a:latin typeface="Arial" panose="020B0604020202020204" pitchFamily="34" charset="0"/>
              </a:rPr>
              <a:t>Quadrant 2</a:t>
            </a:r>
          </a:p>
          <a:p>
            <a:pPr eaLnBrk="1" hangingPunct="1">
              <a:spcBef>
                <a:spcPct val="0"/>
              </a:spcBef>
              <a:buClrTx/>
              <a:buSzTx/>
              <a:buFontTx/>
              <a:buNone/>
            </a:pPr>
            <a:r>
              <a:rPr lang="en-US" altLang="fr-FR" sz="1400" i="1">
                <a:solidFill>
                  <a:srgbClr val="FF0000"/>
                </a:solidFill>
                <a:latin typeface="Arial" panose="020B0604020202020204" pitchFamily="34" charset="0"/>
              </a:rPr>
              <a:t>Freinage  de la marche avant</a:t>
            </a:r>
          </a:p>
        </p:txBody>
      </p:sp>
      <p:sp>
        <p:nvSpPr>
          <p:cNvPr id="52275" name="Text Box 51"/>
          <p:cNvSpPr txBox="1">
            <a:spLocks noChangeArrowheads="1"/>
          </p:cNvSpPr>
          <p:nvPr/>
        </p:nvSpPr>
        <p:spPr bwMode="auto">
          <a:xfrm>
            <a:off x="838200" y="4114800"/>
            <a:ext cx="1397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b="1" i="1">
                <a:solidFill>
                  <a:srgbClr val="FF0000"/>
                </a:solidFill>
                <a:latin typeface="Arial" panose="020B0604020202020204" pitchFamily="34" charset="0"/>
              </a:rPr>
              <a:t>Quadrant 3</a:t>
            </a:r>
          </a:p>
          <a:p>
            <a:pPr eaLnBrk="1" hangingPunct="1">
              <a:spcBef>
                <a:spcPct val="0"/>
              </a:spcBef>
              <a:buClrTx/>
              <a:buSzTx/>
              <a:buFontTx/>
              <a:buNone/>
            </a:pPr>
            <a:r>
              <a:rPr lang="en-US" altLang="fr-FR" sz="1400" i="1">
                <a:solidFill>
                  <a:srgbClr val="FF0000"/>
                </a:solidFill>
                <a:latin typeface="Arial" panose="020B0604020202020204" pitchFamily="34" charset="0"/>
              </a:rPr>
              <a:t>Marche  arrière</a:t>
            </a:r>
          </a:p>
        </p:txBody>
      </p:sp>
      <p:sp>
        <p:nvSpPr>
          <p:cNvPr id="52276" name="Text Box 52"/>
          <p:cNvSpPr txBox="1">
            <a:spLocks noChangeArrowheads="1"/>
          </p:cNvSpPr>
          <p:nvPr/>
        </p:nvSpPr>
        <p:spPr bwMode="auto">
          <a:xfrm>
            <a:off x="3505200" y="4038600"/>
            <a:ext cx="25892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b="1" i="1">
                <a:solidFill>
                  <a:srgbClr val="FF0000"/>
                </a:solidFill>
                <a:latin typeface="Arial" panose="020B0604020202020204" pitchFamily="34" charset="0"/>
              </a:rPr>
              <a:t>Quadrant 4</a:t>
            </a:r>
          </a:p>
          <a:p>
            <a:pPr eaLnBrk="1" hangingPunct="1">
              <a:spcBef>
                <a:spcPct val="0"/>
              </a:spcBef>
              <a:buClrTx/>
              <a:buSzTx/>
              <a:buFontTx/>
              <a:buNone/>
            </a:pPr>
            <a:r>
              <a:rPr lang="en-US" altLang="fr-FR" sz="1400" i="1">
                <a:solidFill>
                  <a:srgbClr val="FF0000"/>
                </a:solidFill>
                <a:latin typeface="Arial" panose="020B0604020202020204" pitchFamily="34" charset="0"/>
              </a:rPr>
              <a:t>Freinage  de la marche arrière</a:t>
            </a:r>
          </a:p>
        </p:txBody>
      </p:sp>
      <p:sp>
        <p:nvSpPr>
          <p:cNvPr id="55" name="Espace réservé du pied de page 54"/>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par>
                          <p:cTn id="19" fill="hold" nodeType="afterGroup">
                            <p:stCondLst>
                              <p:cond delay="500"/>
                            </p:stCondLst>
                            <p:childTnLst>
                              <p:par>
                                <p:cTn id="20" presetID="23" presetClass="entr" presetSubtype="16"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childTnLst>
                                </p:cTn>
                              </p:par>
                            </p:childTnLst>
                          </p:cTn>
                        </p:par>
                        <p:par>
                          <p:cTn id="24" fill="hold" nodeType="afterGroup">
                            <p:stCondLst>
                              <p:cond delay="1000"/>
                            </p:stCondLst>
                            <p:childTnLst>
                              <p:par>
                                <p:cTn id="25" presetID="23" presetClass="entr" presetSubtype="16"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500"/>
                            </p:stCondLst>
                            <p:childTnLst>
                              <p:par>
                                <p:cTn id="30" presetID="23" presetClass="entr" presetSubtype="16"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2271"/>
                                        </p:tgtEl>
                                        <p:attrNameLst>
                                          <p:attrName>style.visibility</p:attrName>
                                        </p:attrNameLst>
                                      </p:cBhvr>
                                      <p:to>
                                        <p:strVal val="visible"/>
                                      </p:to>
                                    </p:set>
                                    <p:animEffect transition="in" filter="fade">
                                      <p:cBhvr>
                                        <p:cTn id="38" dur="1000"/>
                                        <p:tgtEl>
                                          <p:spTgt spid="5227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52272"/>
                                        </p:tgtEl>
                                        <p:attrNameLst>
                                          <p:attrName>style.visibility</p:attrName>
                                        </p:attrNameLst>
                                      </p:cBhvr>
                                      <p:to>
                                        <p:strVal val="visible"/>
                                      </p:to>
                                    </p:set>
                                    <p:animEffect transition="in" filter="fade">
                                      <p:cBhvr>
                                        <p:cTn id="43" dur="1000"/>
                                        <p:tgtEl>
                                          <p:spTgt spid="5227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8" presetClass="emph" presetSubtype="0" fill="hold" nodeType="clickEffect">
                                  <p:stCondLst>
                                    <p:cond delay="0"/>
                                  </p:stCondLst>
                                  <p:childTnLst>
                                    <p:animRot by="-64800000">
                                      <p:cBhvr>
                                        <p:cTn id="47" dur="2000" fill="hold"/>
                                        <p:tgtEl>
                                          <p:spTgt spid="2"/>
                                        </p:tgtEl>
                                        <p:attrNameLst>
                                          <p:attrName>r</p:attrName>
                                        </p:attrNameLst>
                                      </p:cBhvr>
                                    </p:animRo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down)">
                                      <p:cBhvr>
                                        <p:cTn id="52" dur="500"/>
                                        <p:tgtEl>
                                          <p:spTgt spid="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down)">
                                      <p:cBhvr>
                                        <p:cTn id="57" dur="500"/>
                                        <p:tgtEl>
                                          <p:spTgt spid="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2273"/>
                                        </p:tgtEl>
                                        <p:attrNameLst>
                                          <p:attrName>style.visibility</p:attrName>
                                        </p:attrNameLst>
                                      </p:cBhvr>
                                      <p:to>
                                        <p:strVal val="visible"/>
                                      </p:to>
                                    </p:set>
                                    <p:animEffect transition="in" filter="fade">
                                      <p:cBhvr>
                                        <p:cTn id="62" dur="500"/>
                                        <p:tgtEl>
                                          <p:spTgt spid="5227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8" presetClass="emph" presetSubtype="0" fill="hold" nodeType="clickEffect">
                                  <p:stCondLst>
                                    <p:cond delay="0"/>
                                  </p:stCondLst>
                                  <p:childTnLst>
                                    <p:animRot by="-86400000">
                                      <p:cBhvr>
                                        <p:cTn id="66" dur="3000" fill="hold"/>
                                        <p:tgtEl>
                                          <p:spTgt spid="3"/>
                                        </p:tgtEl>
                                        <p:attrNameLst>
                                          <p:attrName>r</p:attrName>
                                        </p:attrNameLst>
                                      </p:cBhvr>
                                    </p:animRo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4" fill="hold" nodeType="click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wipe(down)">
                                      <p:cBhvr>
                                        <p:cTn id="71" dur="500"/>
                                        <p:tgtEl>
                                          <p:spTgt spid="7"/>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1" fill="hold" nodeType="clickEffect">
                                  <p:stCondLst>
                                    <p:cond delay="0"/>
                                  </p:stCondLst>
                                  <p:childTnLst>
                                    <p:set>
                                      <p:cBhvr>
                                        <p:cTn id="75" dur="1" fill="hold">
                                          <p:stCondLst>
                                            <p:cond delay="0"/>
                                          </p:stCondLst>
                                        </p:cTn>
                                        <p:tgtEl>
                                          <p:spTgt spid="6"/>
                                        </p:tgtEl>
                                        <p:attrNameLst>
                                          <p:attrName>style.visibility</p:attrName>
                                        </p:attrNameLst>
                                      </p:cBhvr>
                                      <p:to>
                                        <p:strVal val="visible"/>
                                      </p:to>
                                    </p:set>
                                    <p:animEffect transition="in" filter="wipe(up)">
                                      <p:cBhvr>
                                        <p:cTn id="76" dur="500"/>
                                        <p:tgtEl>
                                          <p:spTgt spid="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52274"/>
                                        </p:tgtEl>
                                        <p:attrNameLst>
                                          <p:attrName>style.visibility</p:attrName>
                                        </p:attrNameLst>
                                      </p:cBhvr>
                                      <p:to>
                                        <p:strVal val="visible"/>
                                      </p:to>
                                    </p:set>
                                    <p:animEffect transition="in" filter="fade">
                                      <p:cBhvr>
                                        <p:cTn id="81" dur="500"/>
                                        <p:tgtEl>
                                          <p:spTgt spid="52274"/>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8" presetClass="emph" presetSubtype="0" fill="hold" nodeType="clickEffect">
                                  <p:stCondLst>
                                    <p:cond delay="0"/>
                                  </p:stCondLst>
                                  <p:childTnLst>
                                    <p:animRot by="64800000">
                                      <p:cBhvr>
                                        <p:cTn id="85" dur="2000" fill="hold"/>
                                        <p:tgtEl>
                                          <p:spTgt spid="8"/>
                                        </p:tgtEl>
                                        <p:attrNameLst>
                                          <p:attrName>r</p:attrName>
                                        </p:attrNameLst>
                                      </p:cBhvr>
                                    </p:animRo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1" fill="hold" nodeType="clickEffect">
                                  <p:stCondLst>
                                    <p:cond delay="0"/>
                                  </p:stCondLst>
                                  <p:childTnLst>
                                    <p:set>
                                      <p:cBhvr>
                                        <p:cTn id="89" dur="1" fill="hold">
                                          <p:stCondLst>
                                            <p:cond delay="0"/>
                                          </p:stCondLst>
                                        </p:cTn>
                                        <p:tgtEl>
                                          <p:spTgt spid="10"/>
                                        </p:tgtEl>
                                        <p:attrNameLst>
                                          <p:attrName>style.visibility</p:attrName>
                                        </p:attrNameLst>
                                      </p:cBhvr>
                                      <p:to>
                                        <p:strVal val="visible"/>
                                      </p:to>
                                    </p:set>
                                    <p:animEffect transition="in" filter="wipe(up)">
                                      <p:cBhvr>
                                        <p:cTn id="90" dur="500"/>
                                        <p:tgtEl>
                                          <p:spTgt spid="1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nodeType="clickEffect">
                                  <p:stCondLst>
                                    <p:cond delay="0"/>
                                  </p:stCondLst>
                                  <p:childTnLst>
                                    <p:set>
                                      <p:cBhvr>
                                        <p:cTn id="94" dur="1" fill="hold">
                                          <p:stCondLst>
                                            <p:cond delay="0"/>
                                          </p:stCondLst>
                                        </p:cTn>
                                        <p:tgtEl>
                                          <p:spTgt spid="9"/>
                                        </p:tgtEl>
                                        <p:attrNameLst>
                                          <p:attrName>style.visibility</p:attrName>
                                        </p:attrNameLst>
                                      </p:cBhvr>
                                      <p:to>
                                        <p:strVal val="visible"/>
                                      </p:to>
                                    </p:set>
                                    <p:animEffect transition="in" filter="wipe(up)">
                                      <p:cBhvr>
                                        <p:cTn id="95" dur="500"/>
                                        <p:tgtEl>
                                          <p:spTgt spid="9"/>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52275"/>
                                        </p:tgtEl>
                                        <p:attrNameLst>
                                          <p:attrName>style.visibility</p:attrName>
                                        </p:attrNameLst>
                                      </p:cBhvr>
                                      <p:to>
                                        <p:strVal val="visible"/>
                                      </p:to>
                                    </p:set>
                                    <p:animEffect transition="in" filter="fade">
                                      <p:cBhvr>
                                        <p:cTn id="100" dur="500"/>
                                        <p:tgtEl>
                                          <p:spTgt spid="52275"/>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8" presetClass="emph" presetSubtype="0" fill="hold" nodeType="clickEffect">
                                  <p:stCondLst>
                                    <p:cond delay="0"/>
                                  </p:stCondLst>
                                  <p:childTnLst>
                                    <p:animRot by="64800000">
                                      <p:cBhvr>
                                        <p:cTn id="104" dur="2000" fill="hold"/>
                                        <p:tgtEl>
                                          <p:spTgt spid="11"/>
                                        </p:tgtEl>
                                        <p:attrNameLst>
                                          <p:attrName>r</p:attrName>
                                        </p:attrNameLst>
                                      </p:cBhvr>
                                    </p:animRo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1" fill="hold" nodeType="clickEffect">
                                  <p:stCondLst>
                                    <p:cond delay="0"/>
                                  </p:stCondLst>
                                  <p:childTnLst>
                                    <p:set>
                                      <p:cBhvr>
                                        <p:cTn id="108" dur="1" fill="hold">
                                          <p:stCondLst>
                                            <p:cond delay="0"/>
                                          </p:stCondLst>
                                        </p:cTn>
                                        <p:tgtEl>
                                          <p:spTgt spid="13"/>
                                        </p:tgtEl>
                                        <p:attrNameLst>
                                          <p:attrName>style.visibility</p:attrName>
                                        </p:attrNameLst>
                                      </p:cBhvr>
                                      <p:to>
                                        <p:strVal val="visible"/>
                                      </p:to>
                                    </p:set>
                                    <p:animEffect transition="in" filter="wipe(up)">
                                      <p:cBhvr>
                                        <p:cTn id="109" dur="500"/>
                                        <p:tgtEl>
                                          <p:spTgt spid="13"/>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4" fill="hold" nodeType="clickEffect">
                                  <p:stCondLst>
                                    <p:cond delay="0"/>
                                  </p:stCondLst>
                                  <p:childTnLst>
                                    <p:set>
                                      <p:cBhvr>
                                        <p:cTn id="113" dur="1" fill="hold">
                                          <p:stCondLst>
                                            <p:cond delay="0"/>
                                          </p:stCondLst>
                                        </p:cTn>
                                        <p:tgtEl>
                                          <p:spTgt spid="12"/>
                                        </p:tgtEl>
                                        <p:attrNameLst>
                                          <p:attrName>style.visibility</p:attrName>
                                        </p:attrNameLst>
                                      </p:cBhvr>
                                      <p:to>
                                        <p:strVal val="visible"/>
                                      </p:to>
                                    </p:set>
                                    <p:animEffect transition="in" filter="wipe(down)">
                                      <p:cBhvr>
                                        <p:cTn id="114" dur="500"/>
                                        <p:tgtEl>
                                          <p:spTgt spid="12"/>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52276"/>
                                        </p:tgtEl>
                                        <p:attrNameLst>
                                          <p:attrName>style.visibility</p:attrName>
                                        </p:attrNameLst>
                                      </p:cBhvr>
                                      <p:to>
                                        <p:strVal val="visible"/>
                                      </p:to>
                                    </p:set>
                                    <p:animEffect transition="in" filter="fade">
                                      <p:cBhvr>
                                        <p:cTn id="119" dur="500"/>
                                        <p:tgtEl>
                                          <p:spTgt spid="52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71" grpId="0"/>
      <p:bldP spid="52272" grpId="0"/>
      <p:bldP spid="52273" grpId="0"/>
      <p:bldP spid="52274" grpId="0"/>
      <p:bldP spid="52275" grpId="0"/>
      <p:bldP spid="5227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44387" name="Espace réservé du numéro de diapositive 4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BC780EE-A502-4FB6-B626-FEE5526A7970}" type="slidenum">
              <a:rPr lang="en-US" altLang="fr-FR" sz="1000" smtClean="0">
                <a:solidFill>
                  <a:srgbClr val="292929"/>
                </a:solidFill>
                <a:latin typeface="Arial" panose="020B0604020202020204" pitchFamily="34" charset="0"/>
              </a:rPr>
              <a:pPr>
                <a:spcBef>
                  <a:spcPct val="0"/>
                </a:spcBef>
                <a:buClrTx/>
                <a:buSzTx/>
                <a:buFontTx/>
                <a:buNone/>
              </a:pPr>
              <a:t>70</a:t>
            </a:fld>
            <a:endParaRPr lang="en-US" altLang="fr-FR" sz="1000" smtClean="0">
              <a:solidFill>
                <a:srgbClr val="292929"/>
              </a:solidFill>
              <a:latin typeface="Arial" panose="020B0604020202020204" pitchFamily="34" charset="0"/>
            </a:endParaRPr>
          </a:p>
        </p:txBody>
      </p:sp>
      <p:sp>
        <p:nvSpPr>
          <p:cNvPr id="144388"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4389" name="Text Box 4"/>
          <p:cNvSpPr txBox="1">
            <a:spLocks noChangeArrowheads="1"/>
          </p:cNvSpPr>
          <p:nvPr/>
        </p:nvSpPr>
        <p:spPr bwMode="auto">
          <a:xfrm>
            <a:off x="685800" y="762000"/>
            <a:ext cx="6553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Classements des moteurs et des convertisseurs</a:t>
            </a:r>
            <a:endParaRPr lang="en-US" altLang="fr-FR" sz="1800" b="1">
              <a:solidFill>
                <a:srgbClr val="CC6600"/>
              </a:solidFill>
              <a:latin typeface="Arial" panose="020B0604020202020204" pitchFamily="34" charset="0"/>
            </a:endParaRPr>
          </a:p>
        </p:txBody>
      </p:sp>
      <p:sp>
        <p:nvSpPr>
          <p:cNvPr id="144390" name="Line 7"/>
          <p:cNvSpPr>
            <a:spLocks noChangeShapeType="1"/>
          </p:cNvSpPr>
          <p:nvPr/>
        </p:nvSpPr>
        <p:spPr bwMode="auto">
          <a:xfrm>
            <a:off x="1981200" y="3941763"/>
            <a:ext cx="4329113" cy="0"/>
          </a:xfrm>
          <a:prstGeom prst="line">
            <a:avLst/>
          </a:prstGeom>
          <a:noFill/>
          <a:ln w="9525">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fr-FR"/>
          </a:p>
        </p:txBody>
      </p:sp>
      <p:grpSp>
        <p:nvGrpSpPr>
          <p:cNvPr id="144391" name="Group 8"/>
          <p:cNvGrpSpPr>
            <a:grpSpLocks/>
          </p:cNvGrpSpPr>
          <p:nvPr/>
        </p:nvGrpSpPr>
        <p:grpSpPr bwMode="auto">
          <a:xfrm>
            <a:off x="2433638" y="2847975"/>
            <a:ext cx="3294062" cy="546100"/>
            <a:chOff x="4124" y="2129"/>
            <a:chExt cx="4099" cy="606"/>
          </a:xfrm>
        </p:grpSpPr>
        <p:sp>
          <p:nvSpPr>
            <p:cNvPr id="144425" name="Line 9"/>
            <p:cNvSpPr>
              <a:spLocks noChangeShapeType="1"/>
            </p:cNvSpPr>
            <p:nvPr/>
          </p:nvSpPr>
          <p:spPr bwMode="auto">
            <a:xfrm>
              <a:off x="5176" y="2139"/>
              <a:ext cx="200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4426" name="Freeform 10"/>
            <p:cNvSpPr>
              <a:spLocks/>
            </p:cNvSpPr>
            <p:nvPr/>
          </p:nvSpPr>
          <p:spPr bwMode="auto">
            <a:xfrm>
              <a:off x="7179" y="2129"/>
              <a:ext cx="1044" cy="605"/>
            </a:xfrm>
            <a:custGeom>
              <a:avLst/>
              <a:gdLst>
                <a:gd name="T0" fmla="*/ 0 w 1044"/>
                <a:gd name="T1" fmla="*/ 0 h 605"/>
                <a:gd name="T2" fmla="*/ 230 w 1044"/>
                <a:gd name="T3" fmla="*/ 250 h 605"/>
                <a:gd name="T4" fmla="*/ 574 w 1044"/>
                <a:gd name="T5" fmla="*/ 469 h 605"/>
                <a:gd name="T6" fmla="*/ 1044 w 1044"/>
                <a:gd name="T7" fmla="*/ 605 h 605"/>
                <a:gd name="T8" fmla="*/ 0 60000 65536"/>
                <a:gd name="T9" fmla="*/ 0 60000 65536"/>
                <a:gd name="T10" fmla="*/ 0 60000 65536"/>
                <a:gd name="T11" fmla="*/ 0 60000 65536"/>
                <a:gd name="T12" fmla="*/ 0 w 1044"/>
                <a:gd name="T13" fmla="*/ 0 h 605"/>
                <a:gd name="T14" fmla="*/ 1044 w 1044"/>
                <a:gd name="T15" fmla="*/ 605 h 605"/>
              </a:gdLst>
              <a:ahLst/>
              <a:cxnLst>
                <a:cxn ang="T8">
                  <a:pos x="T0" y="T1"/>
                </a:cxn>
                <a:cxn ang="T9">
                  <a:pos x="T2" y="T3"/>
                </a:cxn>
                <a:cxn ang="T10">
                  <a:pos x="T4" y="T5"/>
                </a:cxn>
                <a:cxn ang="T11">
                  <a:pos x="T6" y="T7"/>
                </a:cxn>
              </a:cxnLst>
              <a:rect l="T12" t="T13" r="T14" b="T15"/>
              <a:pathLst>
                <a:path w="1044" h="605">
                  <a:moveTo>
                    <a:pt x="0" y="0"/>
                  </a:moveTo>
                  <a:cubicBezTo>
                    <a:pt x="67" y="86"/>
                    <a:pt x="134" y="172"/>
                    <a:pt x="230" y="250"/>
                  </a:cubicBezTo>
                  <a:cubicBezTo>
                    <a:pt x="326" y="328"/>
                    <a:pt x="438" y="410"/>
                    <a:pt x="574" y="469"/>
                  </a:cubicBezTo>
                  <a:cubicBezTo>
                    <a:pt x="710" y="528"/>
                    <a:pt x="877" y="566"/>
                    <a:pt x="1044" y="60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4427" name="Freeform 11"/>
            <p:cNvSpPr>
              <a:spLocks/>
            </p:cNvSpPr>
            <p:nvPr/>
          </p:nvSpPr>
          <p:spPr bwMode="auto">
            <a:xfrm flipH="1">
              <a:off x="4124" y="2130"/>
              <a:ext cx="1044" cy="605"/>
            </a:xfrm>
            <a:custGeom>
              <a:avLst/>
              <a:gdLst>
                <a:gd name="T0" fmla="*/ 0 w 1044"/>
                <a:gd name="T1" fmla="*/ 0 h 605"/>
                <a:gd name="T2" fmla="*/ 230 w 1044"/>
                <a:gd name="T3" fmla="*/ 250 h 605"/>
                <a:gd name="T4" fmla="*/ 574 w 1044"/>
                <a:gd name="T5" fmla="*/ 469 h 605"/>
                <a:gd name="T6" fmla="*/ 1044 w 1044"/>
                <a:gd name="T7" fmla="*/ 605 h 605"/>
                <a:gd name="T8" fmla="*/ 0 60000 65536"/>
                <a:gd name="T9" fmla="*/ 0 60000 65536"/>
                <a:gd name="T10" fmla="*/ 0 60000 65536"/>
                <a:gd name="T11" fmla="*/ 0 60000 65536"/>
                <a:gd name="T12" fmla="*/ 0 w 1044"/>
                <a:gd name="T13" fmla="*/ 0 h 605"/>
                <a:gd name="T14" fmla="*/ 1044 w 1044"/>
                <a:gd name="T15" fmla="*/ 605 h 605"/>
              </a:gdLst>
              <a:ahLst/>
              <a:cxnLst>
                <a:cxn ang="T8">
                  <a:pos x="T0" y="T1"/>
                </a:cxn>
                <a:cxn ang="T9">
                  <a:pos x="T2" y="T3"/>
                </a:cxn>
                <a:cxn ang="T10">
                  <a:pos x="T4" y="T5"/>
                </a:cxn>
                <a:cxn ang="T11">
                  <a:pos x="T6" y="T7"/>
                </a:cxn>
              </a:cxnLst>
              <a:rect l="T12" t="T13" r="T14" b="T15"/>
              <a:pathLst>
                <a:path w="1044" h="605">
                  <a:moveTo>
                    <a:pt x="0" y="0"/>
                  </a:moveTo>
                  <a:cubicBezTo>
                    <a:pt x="67" y="86"/>
                    <a:pt x="134" y="172"/>
                    <a:pt x="230" y="250"/>
                  </a:cubicBezTo>
                  <a:cubicBezTo>
                    <a:pt x="326" y="328"/>
                    <a:pt x="438" y="410"/>
                    <a:pt x="574" y="469"/>
                  </a:cubicBezTo>
                  <a:cubicBezTo>
                    <a:pt x="710" y="528"/>
                    <a:pt x="877" y="566"/>
                    <a:pt x="1044" y="60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44392" name="Group 12"/>
          <p:cNvGrpSpPr>
            <a:grpSpLocks/>
          </p:cNvGrpSpPr>
          <p:nvPr/>
        </p:nvGrpSpPr>
        <p:grpSpPr bwMode="auto">
          <a:xfrm flipV="1">
            <a:off x="2441575" y="4467225"/>
            <a:ext cx="3294063" cy="546100"/>
            <a:chOff x="4124" y="2129"/>
            <a:chExt cx="4099" cy="606"/>
          </a:xfrm>
        </p:grpSpPr>
        <p:sp>
          <p:nvSpPr>
            <p:cNvPr id="144422" name="Line 13"/>
            <p:cNvSpPr>
              <a:spLocks noChangeShapeType="1"/>
            </p:cNvSpPr>
            <p:nvPr/>
          </p:nvSpPr>
          <p:spPr bwMode="auto">
            <a:xfrm>
              <a:off x="5176" y="2139"/>
              <a:ext cx="200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4423" name="Freeform 14"/>
            <p:cNvSpPr>
              <a:spLocks/>
            </p:cNvSpPr>
            <p:nvPr/>
          </p:nvSpPr>
          <p:spPr bwMode="auto">
            <a:xfrm>
              <a:off x="7179" y="2129"/>
              <a:ext cx="1044" cy="605"/>
            </a:xfrm>
            <a:custGeom>
              <a:avLst/>
              <a:gdLst>
                <a:gd name="T0" fmla="*/ 0 w 1044"/>
                <a:gd name="T1" fmla="*/ 0 h 605"/>
                <a:gd name="T2" fmla="*/ 230 w 1044"/>
                <a:gd name="T3" fmla="*/ 250 h 605"/>
                <a:gd name="T4" fmla="*/ 574 w 1044"/>
                <a:gd name="T5" fmla="*/ 469 h 605"/>
                <a:gd name="T6" fmla="*/ 1044 w 1044"/>
                <a:gd name="T7" fmla="*/ 605 h 605"/>
                <a:gd name="T8" fmla="*/ 0 60000 65536"/>
                <a:gd name="T9" fmla="*/ 0 60000 65536"/>
                <a:gd name="T10" fmla="*/ 0 60000 65536"/>
                <a:gd name="T11" fmla="*/ 0 60000 65536"/>
                <a:gd name="T12" fmla="*/ 0 w 1044"/>
                <a:gd name="T13" fmla="*/ 0 h 605"/>
                <a:gd name="T14" fmla="*/ 1044 w 1044"/>
                <a:gd name="T15" fmla="*/ 605 h 605"/>
              </a:gdLst>
              <a:ahLst/>
              <a:cxnLst>
                <a:cxn ang="T8">
                  <a:pos x="T0" y="T1"/>
                </a:cxn>
                <a:cxn ang="T9">
                  <a:pos x="T2" y="T3"/>
                </a:cxn>
                <a:cxn ang="T10">
                  <a:pos x="T4" y="T5"/>
                </a:cxn>
                <a:cxn ang="T11">
                  <a:pos x="T6" y="T7"/>
                </a:cxn>
              </a:cxnLst>
              <a:rect l="T12" t="T13" r="T14" b="T15"/>
              <a:pathLst>
                <a:path w="1044" h="605">
                  <a:moveTo>
                    <a:pt x="0" y="0"/>
                  </a:moveTo>
                  <a:cubicBezTo>
                    <a:pt x="67" y="86"/>
                    <a:pt x="134" y="172"/>
                    <a:pt x="230" y="250"/>
                  </a:cubicBezTo>
                  <a:cubicBezTo>
                    <a:pt x="326" y="328"/>
                    <a:pt x="438" y="410"/>
                    <a:pt x="574" y="469"/>
                  </a:cubicBezTo>
                  <a:cubicBezTo>
                    <a:pt x="710" y="528"/>
                    <a:pt x="877" y="566"/>
                    <a:pt x="1044" y="60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4424" name="Freeform 15"/>
            <p:cNvSpPr>
              <a:spLocks/>
            </p:cNvSpPr>
            <p:nvPr/>
          </p:nvSpPr>
          <p:spPr bwMode="auto">
            <a:xfrm flipH="1">
              <a:off x="4124" y="2130"/>
              <a:ext cx="1044" cy="605"/>
            </a:xfrm>
            <a:custGeom>
              <a:avLst/>
              <a:gdLst>
                <a:gd name="T0" fmla="*/ 0 w 1044"/>
                <a:gd name="T1" fmla="*/ 0 h 605"/>
                <a:gd name="T2" fmla="*/ 230 w 1044"/>
                <a:gd name="T3" fmla="*/ 250 h 605"/>
                <a:gd name="T4" fmla="*/ 574 w 1044"/>
                <a:gd name="T5" fmla="*/ 469 h 605"/>
                <a:gd name="T6" fmla="*/ 1044 w 1044"/>
                <a:gd name="T7" fmla="*/ 605 h 605"/>
                <a:gd name="T8" fmla="*/ 0 60000 65536"/>
                <a:gd name="T9" fmla="*/ 0 60000 65536"/>
                <a:gd name="T10" fmla="*/ 0 60000 65536"/>
                <a:gd name="T11" fmla="*/ 0 60000 65536"/>
                <a:gd name="T12" fmla="*/ 0 w 1044"/>
                <a:gd name="T13" fmla="*/ 0 h 605"/>
                <a:gd name="T14" fmla="*/ 1044 w 1044"/>
                <a:gd name="T15" fmla="*/ 605 h 605"/>
              </a:gdLst>
              <a:ahLst/>
              <a:cxnLst>
                <a:cxn ang="T8">
                  <a:pos x="T0" y="T1"/>
                </a:cxn>
                <a:cxn ang="T9">
                  <a:pos x="T2" y="T3"/>
                </a:cxn>
                <a:cxn ang="T10">
                  <a:pos x="T4" y="T5"/>
                </a:cxn>
                <a:cxn ang="T11">
                  <a:pos x="T6" y="T7"/>
                </a:cxn>
              </a:cxnLst>
              <a:rect l="T12" t="T13" r="T14" b="T15"/>
              <a:pathLst>
                <a:path w="1044" h="605">
                  <a:moveTo>
                    <a:pt x="0" y="0"/>
                  </a:moveTo>
                  <a:cubicBezTo>
                    <a:pt x="67" y="86"/>
                    <a:pt x="134" y="172"/>
                    <a:pt x="230" y="250"/>
                  </a:cubicBezTo>
                  <a:cubicBezTo>
                    <a:pt x="326" y="328"/>
                    <a:pt x="438" y="410"/>
                    <a:pt x="574" y="469"/>
                  </a:cubicBezTo>
                  <a:cubicBezTo>
                    <a:pt x="710" y="528"/>
                    <a:pt x="877" y="566"/>
                    <a:pt x="1044" y="60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sp>
        <p:nvSpPr>
          <p:cNvPr id="144393" name="Line 16"/>
          <p:cNvSpPr>
            <a:spLocks noChangeAspect="1" noChangeShapeType="1"/>
          </p:cNvSpPr>
          <p:nvPr/>
        </p:nvSpPr>
        <p:spPr bwMode="auto">
          <a:xfrm>
            <a:off x="2438400" y="3352800"/>
            <a:ext cx="0" cy="1143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4394" name="Line 17"/>
          <p:cNvSpPr>
            <a:spLocks noChangeAspect="1" noChangeShapeType="1"/>
          </p:cNvSpPr>
          <p:nvPr/>
        </p:nvSpPr>
        <p:spPr bwMode="auto">
          <a:xfrm>
            <a:off x="5734050" y="3352800"/>
            <a:ext cx="0" cy="1143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4395" name="Text Box 26"/>
          <p:cNvSpPr txBox="1">
            <a:spLocks noChangeArrowheads="1"/>
          </p:cNvSpPr>
          <p:nvPr/>
        </p:nvSpPr>
        <p:spPr bwMode="auto">
          <a:xfrm>
            <a:off x="4191000" y="1295400"/>
            <a:ext cx="919163"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b="1">
                <a:latin typeface="Arial Narrow" panose="020B0606020202030204" pitchFamily="34" charset="0"/>
              </a:rPr>
              <a:t>couple</a:t>
            </a:r>
            <a:endParaRPr lang="en-US" altLang="fr-FR" sz="1400">
              <a:latin typeface="Arial" panose="020B0604020202020204" pitchFamily="34" charset="0"/>
            </a:endParaRPr>
          </a:p>
        </p:txBody>
      </p:sp>
      <p:sp>
        <p:nvSpPr>
          <p:cNvPr id="144396" name="Text Box 27"/>
          <p:cNvSpPr txBox="1">
            <a:spLocks noChangeArrowheads="1"/>
          </p:cNvSpPr>
          <p:nvPr/>
        </p:nvSpPr>
        <p:spPr bwMode="auto">
          <a:xfrm>
            <a:off x="6264275" y="3962400"/>
            <a:ext cx="8223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b="1">
                <a:latin typeface="Arial Narrow" panose="020B0606020202030204" pitchFamily="34" charset="0"/>
              </a:rPr>
              <a:t>vitesse</a:t>
            </a:r>
            <a:endParaRPr lang="en-US" altLang="fr-FR" sz="1400">
              <a:latin typeface="Arial" panose="020B0604020202020204" pitchFamily="34" charset="0"/>
            </a:endParaRPr>
          </a:p>
        </p:txBody>
      </p:sp>
      <p:sp>
        <p:nvSpPr>
          <p:cNvPr id="144397" name="Text Box 30"/>
          <p:cNvSpPr txBox="1">
            <a:spLocks noChangeArrowheads="1"/>
          </p:cNvSpPr>
          <p:nvPr/>
        </p:nvSpPr>
        <p:spPr bwMode="auto">
          <a:xfrm>
            <a:off x="5853113" y="2611438"/>
            <a:ext cx="1462087"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200">
                <a:latin typeface="Arial Narrow" panose="020B0606020202030204" pitchFamily="34" charset="0"/>
              </a:rPr>
              <a:t>limite de puissance pour couple continu</a:t>
            </a:r>
            <a:endParaRPr lang="en-US" altLang="fr-FR" sz="1200">
              <a:latin typeface="Arial" panose="020B0604020202020204" pitchFamily="34" charset="0"/>
            </a:endParaRPr>
          </a:p>
        </p:txBody>
      </p:sp>
      <p:sp>
        <p:nvSpPr>
          <p:cNvPr id="144398" name="Freeform 31"/>
          <p:cNvSpPr>
            <a:spLocks/>
          </p:cNvSpPr>
          <p:nvPr/>
        </p:nvSpPr>
        <p:spPr bwMode="auto">
          <a:xfrm>
            <a:off x="5232400" y="2852738"/>
            <a:ext cx="671513" cy="230187"/>
          </a:xfrm>
          <a:custGeom>
            <a:avLst/>
            <a:gdLst>
              <a:gd name="T0" fmla="*/ 2147483646 w 835"/>
              <a:gd name="T1" fmla="*/ 2147483646 h 256"/>
              <a:gd name="T2" fmla="*/ 2147483646 w 835"/>
              <a:gd name="T3" fmla="*/ 2147483646 h 256"/>
              <a:gd name="T4" fmla="*/ 2147483646 w 835"/>
              <a:gd name="T5" fmla="*/ 2147483646 h 256"/>
              <a:gd name="T6" fmla="*/ 0 w 835"/>
              <a:gd name="T7" fmla="*/ 2147483646 h 256"/>
              <a:gd name="T8" fmla="*/ 0 60000 65536"/>
              <a:gd name="T9" fmla="*/ 0 60000 65536"/>
              <a:gd name="T10" fmla="*/ 0 60000 65536"/>
              <a:gd name="T11" fmla="*/ 0 60000 65536"/>
              <a:gd name="T12" fmla="*/ 0 w 835"/>
              <a:gd name="T13" fmla="*/ 0 h 256"/>
              <a:gd name="T14" fmla="*/ 835 w 835"/>
              <a:gd name="T15" fmla="*/ 256 h 256"/>
            </a:gdLst>
            <a:ahLst/>
            <a:cxnLst>
              <a:cxn ang="T8">
                <a:pos x="T0" y="T1"/>
              </a:cxn>
              <a:cxn ang="T9">
                <a:pos x="T2" y="T3"/>
              </a:cxn>
              <a:cxn ang="T10">
                <a:pos x="T4" y="T5"/>
              </a:cxn>
              <a:cxn ang="T11">
                <a:pos x="T6" y="T7"/>
              </a:cxn>
            </a:cxnLst>
            <a:rect l="T12" t="T13" r="T14" b="T15"/>
            <a:pathLst>
              <a:path w="835" h="256">
                <a:moveTo>
                  <a:pt x="835" y="16"/>
                </a:moveTo>
                <a:cubicBezTo>
                  <a:pt x="620" y="8"/>
                  <a:pt x="405" y="0"/>
                  <a:pt x="313" y="26"/>
                </a:cubicBezTo>
                <a:cubicBezTo>
                  <a:pt x="221" y="52"/>
                  <a:pt x="334" y="134"/>
                  <a:pt x="282" y="172"/>
                </a:cubicBezTo>
                <a:cubicBezTo>
                  <a:pt x="230" y="210"/>
                  <a:pt x="47" y="242"/>
                  <a:pt x="0" y="256"/>
                </a:cubicBezTo>
              </a:path>
            </a:pathLst>
          </a:custGeom>
          <a:noFill/>
          <a:ln w="9525">
            <a:solidFill>
              <a:srgbClr val="000000"/>
            </a:solidFill>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4399" name="Line 32"/>
          <p:cNvSpPr>
            <a:spLocks noChangeShapeType="1"/>
          </p:cNvSpPr>
          <p:nvPr/>
        </p:nvSpPr>
        <p:spPr bwMode="auto">
          <a:xfrm>
            <a:off x="4889500" y="2179638"/>
            <a:ext cx="0" cy="345916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fr-FR"/>
          </a:p>
        </p:txBody>
      </p:sp>
      <p:sp>
        <p:nvSpPr>
          <p:cNvPr id="144400" name="Line 33"/>
          <p:cNvSpPr>
            <a:spLocks noChangeShapeType="1"/>
          </p:cNvSpPr>
          <p:nvPr/>
        </p:nvSpPr>
        <p:spPr bwMode="auto">
          <a:xfrm>
            <a:off x="3270250" y="2170113"/>
            <a:ext cx="0" cy="345916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fr-FR"/>
          </a:p>
        </p:txBody>
      </p:sp>
      <p:sp>
        <p:nvSpPr>
          <p:cNvPr id="144401" name="Text Box 36"/>
          <p:cNvSpPr txBox="1">
            <a:spLocks noChangeArrowheads="1"/>
          </p:cNvSpPr>
          <p:nvPr/>
        </p:nvSpPr>
        <p:spPr bwMode="auto">
          <a:xfrm>
            <a:off x="5659438" y="3419475"/>
            <a:ext cx="1579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Narrow" panose="020B0606020202030204" pitchFamily="34" charset="0"/>
              </a:rPr>
              <a:t>Limite  maximale de la vitesse </a:t>
            </a:r>
            <a:endParaRPr lang="en-US" altLang="fr-FR" sz="1200">
              <a:latin typeface="Arial" panose="020B0604020202020204" pitchFamily="34" charset="0"/>
            </a:endParaRPr>
          </a:p>
        </p:txBody>
      </p:sp>
      <p:sp>
        <p:nvSpPr>
          <p:cNvPr id="144402" name="Line 37"/>
          <p:cNvSpPr>
            <a:spLocks noChangeShapeType="1"/>
          </p:cNvSpPr>
          <p:nvPr/>
        </p:nvSpPr>
        <p:spPr bwMode="auto">
          <a:xfrm>
            <a:off x="4114800" y="1371600"/>
            <a:ext cx="0" cy="4419600"/>
          </a:xfrm>
          <a:prstGeom prst="line">
            <a:avLst/>
          </a:prstGeom>
          <a:noFill/>
          <a:ln w="9525">
            <a:solidFill>
              <a:schemeClr val="tx1"/>
            </a:solidFill>
            <a:round/>
            <a:headEnd type="stealth" w="med" len="lg"/>
            <a:tailEnd/>
          </a:ln>
          <a:extLst>
            <a:ext uri="{909E8E84-426E-40DD-AFC4-6F175D3DCCD1}">
              <a14:hiddenFill xmlns:a14="http://schemas.microsoft.com/office/drawing/2010/main">
                <a:noFill/>
              </a14:hiddenFill>
            </a:ext>
          </a:extLst>
        </p:spPr>
        <p:txBody>
          <a:bodyPr/>
          <a:lstStyle/>
          <a:p>
            <a:endParaRPr lang="fr-FR"/>
          </a:p>
        </p:txBody>
      </p:sp>
      <p:grpSp>
        <p:nvGrpSpPr>
          <p:cNvPr id="4" name="Group 43"/>
          <p:cNvGrpSpPr>
            <a:grpSpLocks/>
          </p:cNvGrpSpPr>
          <p:nvPr/>
        </p:nvGrpSpPr>
        <p:grpSpPr bwMode="auto">
          <a:xfrm>
            <a:off x="2433638" y="1822450"/>
            <a:ext cx="4271962" cy="3813175"/>
            <a:chOff x="1533" y="1148"/>
            <a:chExt cx="2691" cy="2402"/>
          </a:xfrm>
        </p:grpSpPr>
        <p:grpSp>
          <p:nvGrpSpPr>
            <p:cNvPr id="144406" name="Group 38"/>
            <p:cNvGrpSpPr>
              <a:grpSpLocks/>
            </p:cNvGrpSpPr>
            <p:nvPr/>
          </p:nvGrpSpPr>
          <p:grpSpPr bwMode="auto">
            <a:xfrm>
              <a:off x="1533" y="1148"/>
              <a:ext cx="2691" cy="2402"/>
              <a:chOff x="1533" y="1148"/>
              <a:chExt cx="2691" cy="2402"/>
            </a:xfrm>
          </p:grpSpPr>
          <p:grpSp>
            <p:nvGrpSpPr>
              <p:cNvPr id="144411" name="Group 18"/>
              <p:cNvGrpSpPr>
                <a:grpSpLocks/>
              </p:cNvGrpSpPr>
              <p:nvPr/>
            </p:nvGrpSpPr>
            <p:grpSpPr bwMode="auto">
              <a:xfrm>
                <a:off x="1533" y="1368"/>
                <a:ext cx="2075" cy="344"/>
                <a:chOff x="4124" y="2129"/>
                <a:chExt cx="4099" cy="606"/>
              </a:xfrm>
            </p:grpSpPr>
            <p:sp>
              <p:nvSpPr>
                <p:cNvPr id="144419" name="Line 19"/>
                <p:cNvSpPr>
                  <a:spLocks noChangeShapeType="1"/>
                </p:cNvSpPr>
                <p:nvPr/>
              </p:nvSpPr>
              <p:spPr bwMode="auto">
                <a:xfrm>
                  <a:off x="5176" y="2139"/>
                  <a:ext cx="2003" cy="0"/>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44420" name="Freeform 20"/>
                <p:cNvSpPr>
                  <a:spLocks/>
                </p:cNvSpPr>
                <p:nvPr/>
              </p:nvSpPr>
              <p:spPr bwMode="auto">
                <a:xfrm>
                  <a:off x="7179" y="2129"/>
                  <a:ext cx="1044" cy="605"/>
                </a:xfrm>
                <a:custGeom>
                  <a:avLst/>
                  <a:gdLst>
                    <a:gd name="T0" fmla="*/ 0 w 1044"/>
                    <a:gd name="T1" fmla="*/ 0 h 605"/>
                    <a:gd name="T2" fmla="*/ 230 w 1044"/>
                    <a:gd name="T3" fmla="*/ 250 h 605"/>
                    <a:gd name="T4" fmla="*/ 574 w 1044"/>
                    <a:gd name="T5" fmla="*/ 469 h 605"/>
                    <a:gd name="T6" fmla="*/ 1044 w 1044"/>
                    <a:gd name="T7" fmla="*/ 605 h 605"/>
                    <a:gd name="T8" fmla="*/ 0 60000 65536"/>
                    <a:gd name="T9" fmla="*/ 0 60000 65536"/>
                    <a:gd name="T10" fmla="*/ 0 60000 65536"/>
                    <a:gd name="T11" fmla="*/ 0 60000 65536"/>
                    <a:gd name="T12" fmla="*/ 0 w 1044"/>
                    <a:gd name="T13" fmla="*/ 0 h 605"/>
                    <a:gd name="T14" fmla="*/ 1044 w 1044"/>
                    <a:gd name="T15" fmla="*/ 605 h 605"/>
                  </a:gdLst>
                  <a:ahLst/>
                  <a:cxnLst>
                    <a:cxn ang="T8">
                      <a:pos x="T0" y="T1"/>
                    </a:cxn>
                    <a:cxn ang="T9">
                      <a:pos x="T2" y="T3"/>
                    </a:cxn>
                    <a:cxn ang="T10">
                      <a:pos x="T4" y="T5"/>
                    </a:cxn>
                    <a:cxn ang="T11">
                      <a:pos x="T6" y="T7"/>
                    </a:cxn>
                  </a:cxnLst>
                  <a:rect l="T12" t="T13" r="T14" b="T15"/>
                  <a:pathLst>
                    <a:path w="1044" h="605">
                      <a:moveTo>
                        <a:pt x="0" y="0"/>
                      </a:moveTo>
                      <a:cubicBezTo>
                        <a:pt x="67" y="86"/>
                        <a:pt x="134" y="172"/>
                        <a:pt x="230" y="250"/>
                      </a:cubicBezTo>
                      <a:cubicBezTo>
                        <a:pt x="326" y="328"/>
                        <a:pt x="438" y="410"/>
                        <a:pt x="574" y="469"/>
                      </a:cubicBezTo>
                      <a:cubicBezTo>
                        <a:pt x="710" y="528"/>
                        <a:pt x="877" y="566"/>
                        <a:pt x="1044" y="605"/>
                      </a:cubicBezTo>
                    </a:path>
                  </a:pathLst>
                </a:cu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4421" name="Freeform 21"/>
                <p:cNvSpPr>
                  <a:spLocks/>
                </p:cNvSpPr>
                <p:nvPr/>
              </p:nvSpPr>
              <p:spPr bwMode="auto">
                <a:xfrm flipH="1">
                  <a:off x="4124" y="2130"/>
                  <a:ext cx="1044" cy="605"/>
                </a:xfrm>
                <a:custGeom>
                  <a:avLst/>
                  <a:gdLst>
                    <a:gd name="T0" fmla="*/ 0 w 1044"/>
                    <a:gd name="T1" fmla="*/ 0 h 605"/>
                    <a:gd name="T2" fmla="*/ 230 w 1044"/>
                    <a:gd name="T3" fmla="*/ 250 h 605"/>
                    <a:gd name="T4" fmla="*/ 574 w 1044"/>
                    <a:gd name="T5" fmla="*/ 469 h 605"/>
                    <a:gd name="T6" fmla="*/ 1044 w 1044"/>
                    <a:gd name="T7" fmla="*/ 605 h 605"/>
                    <a:gd name="T8" fmla="*/ 0 60000 65536"/>
                    <a:gd name="T9" fmla="*/ 0 60000 65536"/>
                    <a:gd name="T10" fmla="*/ 0 60000 65536"/>
                    <a:gd name="T11" fmla="*/ 0 60000 65536"/>
                    <a:gd name="T12" fmla="*/ 0 w 1044"/>
                    <a:gd name="T13" fmla="*/ 0 h 605"/>
                    <a:gd name="T14" fmla="*/ 1044 w 1044"/>
                    <a:gd name="T15" fmla="*/ 605 h 605"/>
                  </a:gdLst>
                  <a:ahLst/>
                  <a:cxnLst>
                    <a:cxn ang="T8">
                      <a:pos x="T0" y="T1"/>
                    </a:cxn>
                    <a:cxn ang="T9">
                      <a:pos x="T2" y="T3"/>
                    </a:cxn>
                    <a:cxn ang="T10">
                      <a:pos x="T4" y="T5"/>
                    </a:cxn>
                    <a:cxn ang="T11">
                      <a:pos x="T6" y="T7"/>
                    </a:cxn>
                  </a:cxnLst>
                  <a:rect l="T12" t="T13" r="T14" b="T15"/>
                  <a:pathLst>
                    <a:path w="1044" h="605">
                      <a:moveTo>
                        <a:pt x="0" y="0"/>
                      </a:moveTo>
                      <a:cubicBezTo>
                        <a:pt x="67" y="86"/>
                        <a:pt x="134" y="172"/>
                        <a:pt x="230" y="250"/>
                      </a:cubicBezTo>
                      <a:cubicBezTo>
                        <a:pt x="326" y="328"/>
                        <a:pt x="438" y="410"/>
                        <a:pt x="574" y="469"/>
                      </a:cubicBezTo>
                      <a:cubicBezTo>
                        <a:pt x="710" y="528"/>
                        <a:pt x="877" y="566"/>
                        <a:pt x="1044" y="605"/>
                      </a:cubicBezTo>
                    </a:path>
                  </a:pathLst>
                </a:cu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44412" name="Group 22"/>
              <p:cNvGrpSpPr>
                <a:grpSpLocks/>
              </p:cNvGrpSpPr>
              <p:nvPr/>
            </p:nvGrpSpPr>
            <p:grpSpPr bwMode="auto">
              <a:xfrm flipV="1">
                <a:off x="1538" y="3206"/>
                <a:ext cx="2075" cy="344"/>
                <a:chOff x="4124" y="2129"/>
                <a:chExt cx="4099" cy="606"/>
              </a:xfrm>
            </p:grpSpPr>
            <p:sp>
              <p:nvSpPr>
                <p:cNvPr id="144416" name="Line 23"/>
                <p:cNvSpPr>
                  <a:spLocks noChangeShapeType="1"/>
                </p:cNvSpPr>
                <p:nvPr/>
              </p:nvSpPr>
              <p:spPr bwMode="auto">
                <a:xfrm>
                  <a:off x="5176" y="2139"/>
                  <a:ext cx="2003" cy="0"/>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44417" name="Freeform 24"/>
                <p:cNvSpPr>
                  <a:spLocks/>
                </p:cNvSpPr>
                <p:nvPr/>
              </p:nvSpPr>
              <p:spPr bwMode="auto">
                <a:xfrm>
                  <a:off x="7179" y="2129"/>
                  <a:ext cx="1044" cy="605"/>
                </a:xfrm>
                <a:custGeom>
                  <a:avLst/>
                  <a:gdLst>
                    <a:gd name="T0" fmla="*/ 0 w 1044"/>
                    <a:gd name="T1" fmla="*/ 0 h 605"/>
                    <a:gd name="T2" fmla="*/ 230 w 1044"/>
                    <a:gd name="T3" fmla="*/ 250 h 605"/>
                    <a:gd name="T4" fmla="*/ 574 w 1044"/>
                    <a:gd name="T5" fmla="*/ 469 h 605"/>
                    <a:gd name="T6" fmla="*/ 1044 w 1044"/>
                    <a:gd name="T7" fmla="*/ 605 h 605"/>
                    <a:gd name="T8" fmla="*/ 0 60000 65536"/>
                    <a:gd name="T9" fmla="*/ 0 60000 65536"/>
                    <a:gd name="T10" fmla="*/ 0 60000 65536"/>
                    <a:gd name="T11" fmla="*/ 0 60000 65536"/>
                    <a:gd name="T12" fmla="*/ 0 w 1044"/>
                    <a:gd name="T13" fmla="*/ 0 h 605"/>
                    <a:gd name="T14" fmla="*/ 1044 w 1044"/>
                    <a:gd name="T15" fmla="*/ 605 h 605"/>
                  </a:gdLst>
                  <a:ahLst/>
                  <a:cxnLst>
                    <a:cxn ang="T8">
                      <a:pos x="T0" y="T1"/>
                    </a:cxn>
                    <a:cxn ang="T9">
                      <a:pos x="T2" y="T3"/>
                    </a:cxn>
                    <a:cxn ang="T10">
                      <a:pos x="T4" y="T5"/>
                    </a:cxn>
                    <a:cxn ang="T11">
                      <a:pos x="T6" y="T7"/>
                    </a:cxn>
                  </a:cxnLst>
                  <a:rect l="T12" t="T13" r="T14" b="T15"/>
                  <a:pathLst>
                    <a:path w="1044" h="605">
                      <a:moveTo>
                        <a:pt x="0" y="0"/>
                      </a:moveTo>
                      <a:cubicBezTo>
                        <a:pt x="67" y="86"/>
                        <a:pt x="134" y="172"/>
                        <a:pt x="230" y="250"/>
                      </a:cubicBezTo>
                      <a:cubicBezTo>
                        <a:pt x="326" y="328"/>
                        <a:pt x="438" y="410"/>
                        <a:pt x="574" y="469"/>
                      </a:cubicBezTo>
                      <a:cubicBezTo>
                        <a:pt x="710" y="528"/>
                        <a:pt x="877" y="566"/>
                        <a:pt x="1044" y="605"/>
                      </a:cubicBezTo>
                    </a:path>
                  </a:pathLst>
                </a:cu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4418" name="Freeform 25"/>
                <p:cNvSpPr>
                  <a:spLocks/>
                </p:cNvSpPr>
                <p:nvPr/>
              </p:nvSpPr>
              <p:spPr bwMode="auto">
                <a:xfrm flipH="1">
                  <a:off x="4124" y="2130"/>
                  <a:ext cx="1044" cy="605"/>
                </a:xfrm>
                <a:custGeom>
                  <a:avLst/>
                  <a:gdLst>
                    <a:gd name="T0" fmla="*/ 0 w 1044"/>
                    <a:gd name="T1" fmla="*/ 0 h 605"/>
                    <a:gd name="T2" fmla="*/ 230 w 1044"/>
                    <a:gd name="T3" fmla="*/ 250 h 605"/>
                    <a:gd name="T4" fmla="*/ 574 w 1044"/>
                    <a:gd name="T5" fmla="*/ 469 h 605"/>
                    <a:gd name="T6" fmla="*/ 1044 w 1044"/>
                    <a:gd name="T7" fmla="*/ 605 h 605"/>
                    <a:gd name="T8" fmla="*/ 0 60000 65536"/>
                    <a:gd name="T9" fmla="*/ 0 60000 65536"/>
                    <a:gd name="T10" fmla="*/ 0 60000 65536"/>
                    <a:gd name="T11" fmla="*/ 0 60000 65536"/>
                    <a:gd name="T12" fmla="*/ 0 w 1044"/>
                    <a:gd name="T13" fmla="*/ 0 h 605"/>
                    <a:gd name="T14" fmla="*/ 1044 w 1044"/>
                    <a:gd name="T15" fmla="*/ 605 h 605"/>
                  </a:gdLst>
                  <a:ahLst/>
                  <a:cxnLst>
                    <a:cxn ang="T8">
                      <a:pos x="T0" y="T1"/>
                    </a:cxn>
                    <a:cxn ang="T9">
                      <a:pos x="T2" y="T3"/>
                    </a:cxn>
                    <a:cxn ang="T10">
                      <a:pos x="T4" y="T5"/>
                    </a:cxn>
                    <a:cxn ang="T11">
                      <a:pos x="T6" y="T7"/>
                    </a:cxn>
                  </a:cxnLst>
                  <a:rect l="T12" t="T13" r="T14" b="T15"/>
                  <a:pathLst>
                    <a:path w="1044" h="605">
                      <a:moveTo>
                        <a:pt x="0" y="0"/>
                      </a:moveTo>
                      <a:cubicBezTo>
                        <a:pt x="67" y="86"/>
                        <a:pt x="134" y="172"/>
                        <a:pt x="230" y="250"/>
                      </a:cubicBezTo>
                      <a:cubicBezTo>
                        <a:pt x="326" y="328"/>
                        <a:pt x="438" y="410"/>
                        <a:pt x="574" y="469"/>
                      </a:cubicBezTo>
                      <a:cubicBezTo>
                        <a:pt x="710" y="528"/>
                        <a:pt x="877" y="566"/>
                        <a:pt x="1044" y="605"/>
                      </a:cubicBezTo>
                    </a:path>
                  </a:pathLst>
                </a:cu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sp>
            <p:nvSpPr>
              <p:cNvPr id="144413" name="Freeform 28"/>
              <p:cNvSpPr>
                <a:spLocks/>
              </p:cNvSpPr>
              <p:nvPr/>
            </p:nvSpPr>
            <p:spPr bwMode="auto">
              <a:xfrm>
                <a:off x="3259" y="1267"/>
                <a:ext cx="132" cy="231"/>
              </a:xfrm>
              <a:custGeom>
                <a:avLst/>
                <a:gdLst>
                  <a:gd name="T0" fmla="*/ 1 w 261"/>
                  <a:gd name="T1" fmla="*/ 0 h 407"/>
                  <a:gd name="T2" fmla="*/ 1 w 261"/>
                  <a:gd name="T3" fmla="*/ 1 h 407"/>
                  <a:gd name="T4" fmla="*/ 1 w 261"/>
                  <a:gd name="T5" fmla="*/ 1 h 407"/>
                  <a:gd name="T6" fmla="*/ 0 w 261"/>
                  <a:gd name="T7" fmla="*/ 1 h 407"/>
                  <a:gd name="T8" fmla="*/ 0 60000 65536"/>
                  <a:gd name="T9" fmla="*/ 0 60000 65536"/>
                  <a:gd name="T10" fmla="*/ 0 60000 65536"/>
                  <a:gd name="T11" fmla="*/ 0 60000 65536"/>
                  <a:gd name="T12" fmla="*/ 0 w 261"/>
                  <a:gd name="T13" fmla="*/ 0 h 407"/>
                  <a:gd name="T14" fmla="*/ 261 w 261"/>
                  <a:gd name="T15" fmla="*/ 407 h 407"/>
                </a:gdLst>
                <a:ahLst/>
                <a:cxnLst>
                  <a:cxn ang="T8">
                    <a:pos x="T0" y="T1"/>
                  </a:cxn>
                  <a:cxn ang="T9">
                    <a:pos x="T2" y="T3"/>
                  </a:cxn>
                  <a:cxn ang="T10">
                    <a:pos x="T4" y="T5"/>
                  </a:cxn>
                  <a:cxn ang="T11">
                    <a:pos x="T6" y="T7"/>
                  </a:cxn>
                </a:cxnLst>
                <a:rect l="T12" t="T13" r="T14" b="T15"/>
                <a:pathLst>
                  <a:path w="261" h="407">
                    <a:moveTo>
                      <a:pt x="261" y="0"/>
                    </a:moveTo>
                    <a:cubicBezTo>
                      <a:pt x="203" y="29"/>
                      <a:pt x="145" y="59"/>
                      <a:pt x="136" y="94"/>
                    </a:cubicBezTo>
                    <a:cubicBezTo>
                      <a:pt x="127" y="129"/>
                      <a:pt x="232" y="157"/>
                      <a:pt x="209" y="209"/>
                    </a:cubicBezTo>
                    <a:cubicBezTo>
                      <a:pt x="186" y="261"/>
                      <a:pt x="40" y="369"/>
                      <a:pt x="0" y="407"/>
                    </a:cubicBezTo>
                  </a:path>
                </a:pathLst>
              </a:custGeom>
              <a:noFill/>
              <a:ln w="9525">
                <a:solidFill>
                  <a:srgbClr val="000000"/>
                </a:solidFill>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4414" name="Text Box 29"/>
              <p:cNvSpPr txBox="1">
                <a:spLocks noChangeArrowheads="1"/>
              </p:cNvSpPr>
              <p:nvPr/>
            </p:nvSpPr>
            <p:spPr bwMode="auto">
              <a:xfrm>
                <a:off x="3376" y="1148"/>
                <a:ext cx="84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200">
                    <a:latin typeface="Arial Narrow" panose="020B0606020202030204" pitchFamily="34" charset="0"/>
                  </a:rPr>
                  <a:t>limite de puissance pour le couple en régime transitoire</a:t>
                </a:r>
                <a:endParaRPr lang="en-US" altLang="fr-FR" sz="1200">
                  <a:latin typeface="Arial" panose="020B0604020202020204" pitchFamily="34" charset="0"/>
                </a:endParaRPr>
              </a:p>
            </p:txBody>
          </p:sp>
          <p:sp>
            <p:nvSpPr>
              <p:cNvPr id="144415" name="Text Box 34"/>
              <p:cNvSpPr txBox="1">
                <a:spLocks noChangeArrowheads="1"/>
              </p:cNvSpPr>
              <p:nvPr/>
            </p:nvSpPr>
            <p:spPr bwMode="auto">
              <a:xfrm>
                <a:off x="2112" y="1181"/>
                <a:ext cx="11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Narrow" panose="020B0606020202030204" pitchFamily="34" charset="0"/>
                  </a:rPr>
                  <a:t>Limite du couple transitoire</a:t>
                </a:r>
                <a:endParaRPr lang="en-US" altLang="fr-FR" sz="1200">
                  <a:latin typeface="Arial" panose="020B0604020202020204" pitchFamily="34" charset="0"/>
                </a:endParaRPr>
              </a:p>
            </p:txBody>
          </p:sp>
        </p:grpSp>
        <p:sp>
          <p:nvSpPr>
            <p:cNvPr id="144407" name="Line 39"/>
            <p:cNvSpPr>
              <a:spLocks noChangeShapeType="1"/>
            </p:cNvSpPr>
            <p:nvPr/>
          </p:nvSpPr>
          <p:spPr bwMode="auto">
            <a:xfrm>
              <a:off x="1536" y="1728"/>
              <a:ext cx="0" cy="38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4408" name="Line 40"/>
            <p:cNvSpPr>
              <a:spLocks noChangeShapeType="1"/>
            </p:cNvSpPr>
            <p:nvPr/>
          </p:nvSpPr>
          <p:spPr bwMode="auto">
            <a:xfrm>
              <a:off x="1536" y="2832"/>
              <a:ext cx="0" cy="38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4409" name="Line 41"/>
            <p:cNvSpPr>
              <a:spLocks noChangeShapeType="1"/>
            </p:cNvSpPr>
            <p:nvPr/>
          </p:nvSpPr>
          <p:spPr bwMode="auto">
            <a:xfrm>
              <a:off x="3600" y="2832"/>
              <a:ext cx="0" cy="38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4410" name="Line 42"/>
            <p:cNvSpPr>
              <a:spLocks noChangeShapeType="1"/>
            </p:cNvSpPr>
            <p:nvPr/>
          </p:nvSpPr>
          <p:spPr bwMode="auto">
            <a:xfrm>
              <a:off x="3600" y="1728"/>
              <a:ext cx="0" cy="38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44404" name="Text Box 34"/>
          <p:cNvSpPr txBox="1">
            <a:spLocks noChangeArrowheads="1"/>
          </p:cNvSpPr>
          <p:nvPr/>
        </p:nvSpPr>
        <p:spPr bwMode="auto">
          <a:xfrm>
            <a:off x="3352800" y="2590800"/>
            <a:ext cx="17526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200">
                <a:latin typeface="Arial Narrow" panose="020B0606020202030204" pitchFamily="34" charset="0"/>
              </a:rPr>
              <a:t>Limite du couple continu</a:t>
            </a:r>
            <a:endParaRPr lang="en-US" altLang="fr-FR" sz="1200">
              <a:latin typeface="Arial" panose="020B0604020202020204" pitchFamily="34" charset="0"/>
            </a:endParaRPr>
          </a:p>
        </p:txBody>
      </p:sp>
      <p:sp>
        <p:nvSpPr>
          <p:cNvPr id="44" name="Espace réservé du pied de page 43"/>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4643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6101E2A-D741-4A46-AD87-6F6CFED14610}" type="slidenum">
              <a:rPr lang="en-US" altLang="fr-FR" sz="1000" smtClean="0">
                <a:solidFill>
                  <a:srgbClr val="292929"/>
                </a:solidFill>
                <a:latin typeface="Arial" panose="020B0604020202020204" pitchFamily="34" charset="0"/>
              </a:rPr>
              <a:pPr>
                <a:spcBef>
                  <a:spcPct val="0"/>
                </a:spcBef>
                <a:buClrTx/>
                <a:buSzTx/>
                <a:buFontTx/>
                <a:buNone/>
              </a:pPr>
              <a:t>71</a:t>
            </a:fld>
            <a:endParaRPr lang="en-US" altLang="fr-FR" sz="1000" smtClean="0">
              <a:solidFill>
                <a:srgbClr val="292929"/>
              </a:solidFill>
              <a:latin typeface="Arial" panose="020B0604020202020204" pitchFamily="34" charset="0"/>
            </a:endParaRPr>
          </a:p>
        </p:txBody>
      </p:sp>
      <p:sp>
        <p:nvSpPr>
          <p:cNvPr id="146436" name="Rectangle 3"/>
          <p:cNvSpPr>
            <a:spLocks noChangeArrowheads="1"/>
          </p:cNvSpPr>
          <p:nvPr/>
        </p:nvSpPr>
        <p:spPr bwMode="auto">
          <a:xfrm>
            <a:off x="990600" y="1600200"/>
            <a:ext cx="7239000" cy="45243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Dans la plupart des cas, le couple au cours du régime transitoire peut être jusqu'à 3 fois le couple nominal du moteur, pour les servo-moteur il peut être aussi élevée que 8 à 10 fois la valeur nominale. </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Ce couple élevé momentané est rendu possible grâce à la grande capacité thermique du moteur avec isolateurs appropriés aux enroulements. </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Le convertisseur qui assure le courant du moteur, doit être capable de supporter cette condition. Cependant la capacité thermique d'un convertisseur étant petite, le courant ne peut pas être supérieur à sa valeur nominale même pour un court laps de temps. </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Par conséquent, le courant nominal du convertisseur choisi est normalement défini égal au courant maximal du moteur (qui peut être aussi élevée que 3 fois le courant nominal du moteur). </a:t>
            </a:r>
          </a:p>
        </p:txBody>
      </p:sp>
      <p:sp>
        <p:nvSpPr>
          <p:cNvPr id="5"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p>
        </p:txBody>
      </p:sp>
      <p:sp>
        <p:nvSpPr>
          <p:cNvPr id="146438"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6439" name="Text Box 4"/>
          <p:cNvSpPr txBox="1">
            <a:spLocks noChangeArrowheads="1"/>
          </p:cNvSpPr>
          <p:nvPr/>
        </p:nvSpPr>
        <p:spPr bwMode="auto">
          <a:xfrm>
            <a:off x="685800" y="762000"/>
            <a:ext cx="6553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Classements des moteurs et des convertisseurs</a:t>
            </a:r>
            <a:endParaRPr lang="en-US" altLang="fr-FR" sz="1800" b="1">
              <a:solidFill>
                <a:srgbClr val="CC66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4848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D3D5820-6264-4942-B861-94826133EDD7}" type="slidenum">
              <a:rPr lang="en-US" altLang="fr-FR" sz="1000" smtClean="0">
                <a:solidFill>
                  <a:srgbClr val="292929"/>
                </a:solidFill>
                <a:latin typeface="Arial" panose="020B0604020202020204" pitchFamily="34" charset="0"/>
              </a:rPr>
              <a:pPr>
                <a:spcBef>
                  <a:spcPct val="0"/>
                </a:spcBef>
                <a:buClrTx/>
                <a:buSzTx/>
                <a:buFontTx/>
                <a:buNone/>
              </a:pPr>
              <a:t>72</a:t>
            </a:fld>
            <a:endParaRPr lang="en-US" altLang="fr-FR" sz="1000" smtClean="0">
              <a:solidFill>
                <a:srgbClr val="292929"/>
              </a:solidFill>
              <a:latin typeface="Arial" panose="020B0604020202020204" pitchFamily="34" charset="0"/>
            </a:endParaRPr>
          </a:p>
        </p:txBody>
      </p:sp>
      <p:sp>
        <p:nvSpPr>
          <p:cNvPr id="148484" name="Rectangle 3"/>
          <p:cNvSpPr>
            <a:spLocks noChangeArrowheads="1"/>
          </p:cNvSpPr>
          <p:nvPr/>
        </p:nvSpPr>
        <p:spPr bwMode="auto">
          <a:xfrm>
            <a:off x="762000" y="1371600"/>
            <a:ext cx="7620000" cy="39703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Le couple maximal admissible au cours du régime transitoire d'un système d’entrainement est déterminé par le courant nominal du convertisseur utilisé, alors que la limite de couple continue dépend de données nominales du moteur. </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Le convertisseur est normalement protégé contre la surintensité par un dispositif limiteur de courant intégré au convertisseur, </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Le moteur doit être protégé contre les surintensités par un dispotif de protection thermique supplémentaire. Au delà de la vitesse nominale, le couple est limitée par la puissance maximale autorisée.</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La limite de vitesse dépend essentiellement de la limitation mécanique du moteur.</a:t>
            </a:r>
          </a:p>
        </p:txBody>
      </p:sp>
      <p:sp>
        <p:nvSpPr>
          <p:cNvPr id="5"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a:latin typeface="+mn-lt"/>
                <a:cs typeface="+mn-cs"/>
              </a:rPr>
              <a:t>                                                                                                  MODULE 1 - INTRODUCTION</a:t>
            </a:r>
          </a:p>
        </p:txBody>
      </p:sp>
      <p:sp>
        <p:nvSpPr>
          <p:cNvPr id="148486"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8487" name="Text Box 4"/>
          <p:cNvSpPr txBox="1">
            <a:spLocks noChangeArrowheads="1"/>
          </p:cNvSpPr>
          <p:nvPr/>
        </p:nvSpPr>
        <p:spPr bwMode="auto">
          <a:xfrm>
            <a:off x="685800" y="762000"/>
            <a:ext cx="6553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C6600"/>
                </a:solidFill>
                <a:latin typeface="Arial" panose="020B0604020202020204" pitchFamily="34" charset="0"/>
              </a:rPr>
              <a:t>Classements des moteurs et des convertisseurs</a:t>
            </a:r>
            <a:endParaRPr lang="en-US" altLang="fr-FR" sz="1800" b="1">
              <a:solidFill>
                <a:srgbClr val="CC66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5053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C0BCC8B-B9D6-447B-A8EE-9E17D0F5D73C}" type="slidenum">
              <a:rPr lang="en-US" altLang="fr-FR" sz="1000" smtClean="0">
                <a:solidFill>
                  <a:srgbClr val="292929"/>
                </a:solidFill>
                <a:latin typeface="Arial" panose="020B0604020202020204" pitchFamily="34" charset="0"/>
              </a:rPr>
              <a:pPr>
                <a:spcBef>
                  <a:spcPct val="0"/>
                </a:spcBef>
                <a:buClrTx/>
                <a:buSzTx/>
                <a:buFontTx/>
                <a:buNone/>
              </a:pPr>
              <a:t>73</a:t>
            </a:fld>
            <a:endParaRPr lang="en-US" altLang="fr-FR" sz="1000" smtClean="0">
              <a:solidFill>
                <a:srgbClr val="292929"/>
              </a:solidFill>
              <a:latin typeface="Arial" panose="020B0604020202020204" pitchFamily="34" charset="0"/>
            </a:endParaRPr>
          </a:p>
        </p:txBody>
      </p:sp>
      <p:sp>
        <p:nvSpPr>
          <p:cNvPr id="17413" name="Rectangle 3"/>
          <p:cNvSpPr>
            <a:spLocks noChangeArrowheads="1"/>
          </p:cNvSpPr>
          <p:nvPr/>
        </p:nvSpPr>
        <p:spPr bwMode="auto">
          <a:xfrm>
            <a:off x="914400" y="1295400"/>
            <a:ext cx="7391400" cy="4246563"/>
          </a:xfrm>
          <a:prstGeom prst="rect">
            <a:avLst/>
          </a:prstGeom>
          <a:noFill/>
          <a:ln w="9525">
            <a:noFill/>
            <a:miter lim="800000"/>
            <a:headEnd/>
            <a:tailEnd/>
          </a:ln>
        </p:spPr>
        <p:txBody>
          <a:bodyPr>
            <a:spAutoFit/>
          </a:bodyPr>
          <a:lstStyle/>
          <a:p>
            <a:pPr indent="269875" algn="just" eaLnBrk="1" hangingPunct="1">
              <a:buFont typeface="Courier New" pitchFamily="49" charset="0"/>
              <a:buChar char="o"/>
              <a:defRPr/>
            </a:pPr>
            <a:r>
              <a:rPr lang="fr-FR" dirty="0">
                <a:latin typeface="Arial" charset="0"/>
                <a:cs typeface="Arial" charset="0"/>
              </a:rPr>
              <a:t>Le moteur fonctionne à la vitesse de l'état stable lorsque T</a:t>
            </a:r>
            <a:r>
              <a:rPr lang="fr-FR" baseline="-25000" dirty="0">
                <a:latin typeface="Arial" charset="0"/>
                <a:cs typeface="Arial" charset="0"/>
              </a:rPr>
              <a:t>L</a:t>
            </a:r>
            <a:r>
              <a:rPr lang="fr-FR" dirty="0">
                <a:latin typeface="Arial" charset="0"/>
                <a:cs typeface="Arial" charset="0"/>
              </a:rPr>
              <a:t> = T</a:t>
            </a:r>
            <a:r>
              <a:rPr lang="fr-FR" baseline="-25000" dirty="0">
                <a:latin typeface="Arial" charset="0"/>
                <a:cs typeface="Arial" charset="0"/>
              </a:rPr>
              <a:t>e</a:t>
            </a:r>
          </a:p>
          <a:p>
            <a:pPr indent="269875" algn="just" eaLnBrk="1" hangingPunct="1">
              <a:buFont typeface="Courier New" pitchFamily="49" charset="0"/>
              <a:buChar char="o"/>
              <a:defRPr/>
            </a:pPr>
            <a:endParaRPr lang="fr-FR" dirty="0">
              <a:latin typeface="Arial" charset="0"/>
              <a:cs typeface="Arial" charset="0"/>
            </a:endParaRPr>
          </a:p>
          <a:p>
            <a:pPr indent="269875" algn="just" eaLnBrk="1" hangingPunct="1">
              <a:buFont typeface="Courier New" pitchFamily="49" charset="0"/>
              <a:buChar char="o"/>
              <a:defRPr/>
            </a:pPr>
            <a:r>
              <a:rPr lang="fr-FR" dirty="0">
                <a:latin typeface="Arial" charset="0"/>
                <a:cs typeface="Arial" charset="0"/>
              </a:rPr>
              <a:t>Une perturbation dans n'importe quelle partie de l’entrainement aboutira à une vitesse qui s'écarte de l'état stable. Toutefois, si la vitesse de l'état stable est un point d'équilibre stable, la vitesse retournera à la vitesse d'équilibre stable. Si au contraire, l’état stable n'est pas un point d'équilibre stable, la perturbation aura pour résultat la divergence de la vitesse (soit emballement soit arrêt)</a:t>
            </a:r>
          </a:p>
          <a:p>
            <a:pPr indent="269875" algn="just" eaLnBrk="1" hangingPunct="1">
              <a:buFont typeface="Courier New" pitchFamily="49" charset="0"/>
              <a:buChar char="o"/>
              <a:defRPr/>
            </a:pPr>
            <a:endParaRPr lang="fr-FR" dirty="0">
              <a:latin typeface="Arial" charset="0"/>
              <a:cs typeface="Arial" charset="0"/>
            </a:endParaRPr>
          </a:p>
          <a:p>
            <a:pPr indent="269875" algn="just" eaLnBrk="1" hangingPunct="1">
              <a:buFont typeface="Courier New" pitchFamily="49" charset="0"/>
              <a:buChar char="o"/>
              <a:defRPr/>
            </a:pPr>
            <a:r>
              <a:rPr lang="fr-FR" b="1" dirty="0">
                <a:latin typeface="Arial" charset="0"/>
                <a:cs typeface="Arial" charset="0"/>
              </a:rPr>
              <a:t>La stabilité d’un entrainement traduit la capacité du système à développer des forces qui concourent à recouvrer un état stable après une perturbation.</a:t>
            </a:r>
          </a:p>
          <a:p>
            <a:pPr algn="just" eaLnBrk="1" hangingPunct="1">
              <a:defRPr/>
            </a:pPr>
            <a:endParaRPr lang="fr-FR" dirty="0">
              <a:latin typeface="Arial" charset="0"/>
              <a:cs typeface="Arial" charset="0"/>
            </a:endParaRPr>
          </a:p>
          <a:p>
            <a:pPr algn="just" eaLnBrk="1" hangingPunct="1">
              <a:defRPr/>
            </a:pPr>
            <a:r>
              <a:rPr lang="fr-FR" dirty="0">
                <a:latin typeface="Arial" charset="0"/>
                <a:cs typeface="Arial" charset="0"/>
              </a:rPr>
              <a:t>On démontre mathématiquement que la condition pour l'équilibre stable est :</a:t>
            </a:r>
          </a:p>
        </p:txBody>
      </p:sp>
      <p:graphicFrame>
        <p:nvGraphicFramePr>
          <p:cNvPr id="46159" name="Object 5"/>
          <p:cNvGraphicFramePr>
            <a:graphicFrameLocks noChangeAspect="1"/>
          </p:cNvGraphicFramePr>
          <p:nvPr/>
        </p:nvGraphicFramePr>
        <p:xfrm>
          <a:off x="3360738" y="5510213"/>
          <a:ext cx="1733550" cy="706437"/>
        </p:xfrm>
        <a:graphic>
          <a:graphicData uri="http://schemas.openxmlformats.org/presentationml/2006/ole">
            <mc:AlternateContent xmlns:mc="http://schemas.openxmlformats.org/markup-compatibility/2006">
              <mc:Choice xmlns:v="urn:schemas-microsoft-com:vml" Requires="v">
                <p:oleObj spid="_x0000_s150553" name="Équation" r:id="rId4" imgW="837836" imgH="342751" progId="Equation.3">
                  <p:embed/>
                </p:oleObj>
              </mc:Choice>
              <mc:Fallback>
                <p:oleObj name="Équation" r:id="rId4" imgW="837836" imgH="342751"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0738" y="5510213"/>
                        <a:ext cx="1733550" cy="706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150535"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50536" name="Text Box 4"/>
          <p:cNvSpPr txBox="1">
            <a:spLocks noChangeArrowheads="1"/>
          </p:cNvSpPr>
          <p:nvPr/>
        </p:nvSpPr>
        <p:spPr bwMode="auto">
          <a:xfrm>
            <a:off x="685800" y="7620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Stabilité statique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7413">
                                            <p:txEl>
                                              <p:pRg st="0" end="0"/>
                                            </p:txEl>
                                          </p:spTgt>
                                        </p:tgtEl>
                                        <p:attrNameLst>
                                          <p:attrName>style.visibility</p:attrName>
                                        </p:attrNameLst>
                                      </p:cBhvr>
                                      <p:to>
                                        <p:strVal val="visible"/>
                                      </p:to>
                                    </p:set>
                                    <p:animEffect transition="in" filter="checkerboard(across)">
                                      <p:cBhvr>
                                        <p:cTn id="7" dur="500"/>
                                        <p:tgtEl>
                                          <p:spTgt spid="174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7413">
                                            <p:txEl>
                                              <p:pRg st="2" end="2"/>
                                            </p:txEl>
                                          </p:spTgt>
                                        </p:tgtEl>
                                        <p:attrNameLst>
                                          <p:attrName>style.visibility</p:attrName>
                                        </p:attrNameLst>
                                      </p:cBhvr>
                                      <p:to>
                                        <p:strVal val="visible"/>
                                      </p:to>
                                    </p:set>
                                    <p:animEffect transition="in" filter="checkerboard(across)">
                                      <p:cBhvr>
                                        <p:cTn id="12" dur="500"/>
                                        <p:tgtEl>
                                          <p:spTgt spid="1741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7413">
                                            <p:txEl>
                                              <p:pRg st="4" end="4"/>
                                            </p:txEl>
                                          </p:spTgt>
                                        </p:tgtEl>
                                        <p:attrNameLst>
                                          <p:attrName>style.visibility</p:attrName>
                                        </p:attrNameLst>
                                      </p:cBhvr>
                                      <p:to>
                                        <p:strVal val="visible"/>
                                      </p:to>
                                    </p:set>
                                    <p:animEffect transition="in" filter="checkerboard(across)">
                                      <p:cBhvr>
                                        <p:cTn id="17" dur="500"/>
                                        <p:tgtEl>
                                          <p:spTgt spid="1741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7413">
                                            <p:txEl>
                                              <p:pRg st="6" end="6"/>
                                            </p:txEl>
                                          </p:spTgt>
                                        </p:tgtEl>
                                        <p:attrNameLst>
                                          <p:attrName>style.visibility</p:attrName>
                                        </p:attrNameLst>
                                      </p:cBhvr>
                                      <p:to>
                                        <p:strVal val="visible"/>
                                      </p:to>
                                    </p:set>
                                    <p:animEffect transition="in" filter="checkerboard(across)">
                                      <p:cBhvr>
                                        <p:cTn id="22" dur="500"/>
                                        <p:tgtEl>
                                          <p:spTgt spid="17413">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6159"/>
                                        </p:tgtEl>
                                        <p:attrNameLst>
                                          <p:attrName>style.visibility</p:attrName>
                                        </p:attrNameLst>
                                      </p:cBhvr>
                                      <p:to>
                                        <p:strVal val="visible"/>
                                      </p:to>
                                    </p:set>
                                    <p:animEffect transition="in" filter="checkerboard(across)">
                                      <p:cBhvr>
                                        <p:cTn id="27" dur="500"/>
                                        <p:tgtEl>
                                          <p:spTgt spid="46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52579"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16AC2FE-A2BD-4FC5-84EF-47D0CBC3A84F}" type="slidenum">
              <a:rPr lang="en-US" altLang="fr-FR" sz="1000" smtClean="0">
                <a:solidFill>
                  <a:srgbClr val="292929"/>
                </a:solidFill>
                <a:latin typeface="Arial" panose="020B0604020202020204" pitchFamily="34" charset="0"/>
              </a:rPr>
              <a:pPr>
                <a:spcBef>
                  <a:spcPct val="0"/>
                </a:spcBef>
                <a:buClrTx/>
                <a:buSzTx/>
                <a:buFontTx/>
                <a:buNone/>
              </a:pPr>
              <a:t>74</a:t>
            </a:fld>
            <a:endParaRPr lang="en-US" altLang="fr-FR" sz="1000" smtClean="0">
              <a:solidFill>
                <a:srgbClr val="292929"/>
              </a:solidFill>
              <a:latin typeface="Arial" panose="020B0604020202020204" pitchFamily="34" charset="0"/>
            </a:endParaRPr>
          </a:p>
        </p:txBody>
      </p:sp>
      <p:pic>
        <p:nvPicPr>
          <p:cNvPr id="152580" name="Picture 2"/>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024063" y="2800350"/>
            <a:ext cx="509587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81" name="ZoneTexte 4"/>
          <p:cNvSpPr txBox="1">
            <a:spLocks noChangeArrowheads="1"/>
          </p:cNvSpPr>
          <p:nvPr/>
        </p:nvSpPr>
        <p:spPr bwMode="auto">
          <a:xfrm>
            <a:off x="762000" y="952500"/>
            <a:ext cx="7620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Soit un point d’équilibre caractérisé par T</a:t>
            </a:r>
            <a:r>
              <a:rPr lang="fr-FR" altLang="fr-FR" sz="1800" baseline="-25000">
                <a:latin typeface="Arial" panose="020B0604020202020204" pitchFamily="34" charset="0"/>
              </a:rPr>
              <a:t>M</a:t>
            </a:r>
            <a:r>
              <a:rPr lang="fr-FR" altLang="fr-FR" sz="1800">
                <a:latin typeface="Arial" panose="020B0604020202020204" pitchFamily="34" charset="0"/>
              </a:rPr>
              <a:t> et T</a:t>
            </a:r>
            <a:r>
              <a:rPr lang="fr-FR" altLang="fr-FR" sz="1800" baseline="-25000">
                <a:latin typeface="Arial" panose="020B0604020202020204" pitchFamily="34" charset="0"/>
              </a:rPr>
              <a:t>L</a:t>
            </a:r>
            <a:r>
              <a:rPr lang="fr-FR" altLang="fr-FR" sz="1800">
                <a:latin typeface="Arial" panose="020B0604020202020204" pitchFamily="34" charset="0"/>
              </a:rPr>
              <a:t> et </a:t>
            </a:r>
            <a:r>
              <a:rPr lang="el-GR" altLang="fr-FR" sz="1800">
                <a:latin typeface="Calibri" panose="020F0502020204030204" pitchFamily="34" charset="0"/>
              </a:rPr>
              <a:t>ω</a:t>
            </a:r>
            <a:r>
              <a:rPr lang="fr-FR" altLang="fr-FR" sz="1800">
                <a:latin typeface="Calibri" panose="020F0502020204030204" pitchFamily="34" charset="0"/>
              </a:rPr>
              <a:t>.</a:t>
            </a:r>
          </a:p>
          <a:p>
            <a:pPr eaLnBrk="1" hangingPunct="1">
              <a:spcBef>
                <a:spcPct val="0"/>
              </a:spcBef>
              <a:buClrTx/>
              <a:buSzTx/>
              <a:buFontTx/>
              <a:buNone/>
            </a:pPr>
            <a:endParaRPr lang="fr-FR" altLang="fr-FR" sz="1800">
              <a:latin typeface="Calibri" panose="020F0502020204030204" pitchFamily="34" charset="0"/>
            </a:endParaRPr>
          </a:p>
          <a:p>
            <a:pPr eaLnBrk="1" hangingPunct="1">
              <a:spcBef>
                <a:spcPct val="0"/>
              </a:spcBef>
              <a:buClrTx/>
              <a:buSzTx/>
              <a:buFontTx/>
              <a:buNone/>
            </a:pPr>
            <a:r>
              <a:rPr lang="fr-FR" altLang="fr-FR" sz="1800">
                <a:latin typeface="Arial" panose="020B0604020202020204" pitchFamily="34" charset="0"/>
              </a:rPr>
              <a:t>Soit une déviation de ce point d’équilibre caractérisé par des variation </a:t>
            </a:r>
            <a:r>
              <a:rPr lang="el-GR" altLang="fr-FR" sz="1800">
                <a:latin typeface="Arial" panose="020B0604020202020204" pitchFamily="34" charset="0"/>
              </a:rPr>
              <a:t>Δ</a:t>
            </a:r>
            <a:r>
              <a:rPr lang="fr-FR" altLang="fr-FR" sz="1800">
                <a:latin typeface="Arial" panose="020B0604020202020204" pitchFamily="34" charset="0"/>
              </a:rPr>
              <a:t>T</a:t>
            </a:r>
            <a:r>
              <a:rPr lang="fr-FR" altLang="fr-FR" sz="1800" baseline="-25000">
                <a:latin typeface="Arial" panose="020B0604020202020204" pitchFamily="34" charset="0"/>
              </a:rPr>
              <a:t>M</a:t>
            </a:r>
            <a:r>
              <a:rPr lang="fr-FR" altLang="fr-FR" sz="1800">
                <a:latin typeface="Arial" panose="020B0604020202020204" pitchFamily="34" charset="0"/>
              </a:rPr>
              <a:t>  et </a:t>
            </a:r>
            <a:r>
              <a:rPr lang="el-GR" altLang="fr-FR" sz="1800">
                <a:latin typeface="Arial" panose="020B0604020202020204" pitchFamily="34" charset="0"/>
              </a:rPr>
              <a:t>Δ</a:t>
            </a:r>
            <a:r>
              <a:rPr lang="fr-FR" altLang="fr-FR" sz="1800">
                <a:latin typeface="Arial" panose="020B0604020202020204" pitchFamily="34" charset="0"/>
              </a:rPr>
              <a:t>T</a:t>
            </a:r>
            <a:r>
              <a:rPr lang="fr-FR" altLang="fr-FR" sz="1800" baseline="-25000">
                <a:latin typeface="Arial" panose="020B0604020202020204" pitchFamily="34" charset="0"/>
              </a:rPr>
              <a:t>L</a:t>
            </a:r>
            <a:r>
              <a:rPr lang="fr-FR" altLang="fr-FR" sz="1800">
                <a:latin typeface="Arial" panose="020B0604020202020204" pitchFamily="34" charset="0"/>
              </a:rPr>
              <a:t> et </a:t>
            </a:r>
            <a:r>
              <a:rPr lang="el-GR" altLang="fr-FR" sz="1800">
                <a:latin typeface="Arial" panose="020B0604020202020204" pitchFamily="34" charset="0"/>
              </a:rPr>
              <a:t>Δω</a:t>
            </a:r>
            <a:r>
              <a:rPr lang="fr-FR" altLang="fr-FR" sz="1800">
                <a:latin typeface="Arial" panose="020B0604020202020204" pitchFamily="34" charset="0"/>
              </a:rPr>
              <a:t>.  </a:t>
            </a:r>
          </a:p>
          <a:p>
            <a:pPr eaLnBrk="1" hangingPunct="1">
              <a:spcBef>
                <a:spcPct val="0"/>
              </a:spcBef>
              <a:buClrTx/>
              <a:buSzTx/>
              <a:buFontTx/>
              <a:buNone/>
            </a:pPr>
            <a:endParaRPr lang="fr-FR" altLang="fr-FR" sz="1800" baseline="-25000">
              <a:latin typeface="Arial" panose="020B0604020202020204" pitchFamily="34" charset="0"/>
            </a:endParaRPr>
          </a:p>
          <a:p>
            <a:pPr eaLnBrk="1" hangingPunct="1">
              <a:spcBef>
                <a:spcPct val="0"/>
              </a:spcBef>
              <a:buClrTx/>
              <a:buSzTx/>
              <a:buFontTx/>
              <a:buNone/>
            </a:pPr>
            <a:r>
              <a:rPr lang="fr-FR" altLang="fr-FR" sz="1800">
                <a:latin typeface="Arial" panose="020B0604020202020204" pitchFamily="34" charset="0"/>
              </a:rPr>
              <a:t>Donc on peut écrire l’équation du mouvement comme:</a:t>
            </a:r>
          </a:p>
          <a:p>
            <a:pPr eaLnBrk="1" hangingPunct="1">
              <a:spcBef>
                <a:spcPct val="0"/>
              </a:spcBef>
              <a:buClrTx/>
              <a:buSzTx/>
              <a:buFontTx/>
              <a:buNone/>
            </a:pPr>
            <a:endParaRPr lang="fr-FR" altLang="fr-FR" sz="1800">
              <a:latin typeface="Arial" panose="020B0604020202020204" pitchFamily="34" charset="0"/>
            </a:endParaRPr>
          </a:p>
        </p:txBody>
      </p:sp>
      <p:sp>
        <p:nvSpPr>
          <p:cNvPr id="152582" name="ZoneTexte 6"/>
          <p:cNvSpPr txBox="1">
            <a:spLocks noChangeArrowheads="1"/>
          </p:cNvSpPr>
          <p:nvPr/>
        </p:nvSpPr>
        <p:spPr bwMode="auto">
          <a:xfrm>
            <a:off x="990600" y="4914900"/>
            <a:ext cx="7391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Si on accepte que les variations sont très faibles, on peut considérer les variations de couples comme fonctions linéaires de la variation de vitesse: </a:t>
            </a:r>
          </a:p>
        </p:txBody>
      </p:sp>
      <p:pic>
        <p:nvPicPr>
          <p:cNvPr id="152583" name="Picture 4"/>
          <p:cNvPicPr>
            <a:picLocks noChangeAspect="1" noChangeArrowheads="1"/>
          </p:cNvPicPr>
          <p:nvPr/>
        </p:nvPicPr>
        <p:blipFill>
          <a:blip r:embed="rId4">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057400" y="5981700"/>
            <a:ext cx="19050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584" name="Picture 5"/>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4572000" y="5981700"/>
            <a:ext cx="17811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85"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1"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152587" name="Text Box 4"/>
          <p:cNvSpPr txBox="1">
            <a:spLocks noChangeArrowheads="1"/>
          </p:cNvSpPr>
          <p:nvPr/>
        </p:nvSpPr>
        <p:spPr bwMode="auto">
          <a:xfrm>
            <a:off x="685800" y="471488"/>
            <a:ext cx="5257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Stabilité statique</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5462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0264A54-C982-4ADB-B3A2-01105FAB480E}" type="slidenum">
              <a:rPr lang="en-US" altLang="fr-FR" sz="1000" smtClean="0">
                <a:solidFill>
                  <a:srgbClr val="292929"/>
                </a:solidFill>
                <a:latin typeface="Arial" panose="020B0604020202020204" pitchFamily="34" charset="0"/>
              </a:rPr>
              <a:pPr>
                <a:spcBef>
                  <a:spcPct val="0"/>
                </a:spcBef>
                <a:buClrTx/>
                <a:buSzTx/>
                <a:buFontTx/>
                <a:buNone/>
              </a:pPr>
              <a:t>75</a:t>
            </a:fld>
            <a:endParaRPr lang="en-US" altLang="fr-FR" sz="1000" smtClean="0">
              <a:solidFill>
                <a:srgbClr val="292929"/>
              </a:solidFill>
              <a:latin typeface="Arial" panose="020B0604020202020204" pitchFamily="34" charset="0"/>
            </a:endParaRPr>
          </a:p>
        </p:txBody>
      </p:sp>
      <p:grpSp>
        <p:nvGrpSpPr>
          <p:cNvPr id="154628" name="Groupe 5"/>
          <p:cNvGrpSpPr>
            <a:grpSpLocks/>
          </p:cNvGrpSpPr>
          <p:nvPr/>
        </p:nvGrpSpPr>
        <p:grpSpPr bwMode="auto">
          <a:xfrm>
            <a:off x="1371600" y="762000"/>
            <a:ext cx="2076450" cy="352425"/>
            <a:chOff x="1371600" y="762000"/>
            <a:chExt cx="2076450" cy="352425"/>
          </a:xfrm>
        </p:grpSpPr>
        <p:pic>
          <p:nvPicPr>
            <p:cNvPr id="154641" name="Picture 2"/>
            <p:cNvPicPr>
              <a:picLocks noChangeAspect="1" noChangeArrowheads="1"/>
            </p:cNvPicPr>
            <p:nvPr/>
          </p:nvPicPr>
          <p:blipFill>
            <a:blip r:embed="rId4">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1371600" y="762000"/>
              <a:ext cx="20764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42" name="ZoneTexte 4"/>
            <p:cNvSpPr txBox="1">
              <a:spLocks noChangeArrowheads="1"/>
            </p:cNvSpPr>
            <p:nvPr/>
          </p:nvSpPr>
          <p:spPr bwMode="auto">
            <a:xfrm>
              <a:off x="2158800" y="778800"/>
              <a:ext cx="432000" cy="288000"/>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et</a:t>
              </a:r>
            </a:p>
          </p:txBody>
        </p:sp>
      </p:grpSp>
      <p:sp>
        <p:nvSpPr>
          <p:cNvPr id="154629" name="ZoneTexte 6"/>
          <p:cNvSpPr txBox="1">
            <a:spLocks noChangeArrowheads="1"/>
          </p:cNvSpPr>
          <p:nvPr/>
        </p:nvSpPr>
        <p:spPr bwMode="auto">
          <a:xfrm>
            <a:off x="3581400" y="762000"/>
            <a:ext cx="495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Indiquent les dérivés au point d’équilibre.</a:t>
            </a:r>
          </a:p>
        </p:txBody>
      </p:sp>
      <p:pic>
        <p:nvPicPr>
          <p:cNvPr id="154630" name="Picture 3"/>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438400" y="1981200"/>
            <a:ext cx="37052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31" name="ZoneTexte 8"/>
          <p:cNvSpPr txBox="1">
            <a:spLocks noChangeArrowheads="1"/>
          </p:cNvSpPr>
          <p:nvPr/>
        </p:nvSpPr>
        <p:spPr bwMode="auto">
          <a:xfrm>
            <a:off x="1143000" y="1371600"/>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tabLst>
                <a:tab pos="0" algn="l"/>
              </a:tabLst>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tabLst>
                <a:tab pos="0" algn="l"/>
              </a:tabLst>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tabLst>
                <a:tab pos="0" algn="l"/>
              </a:tabLst>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tabLst>
                <a:tab pos="0" algn="l"/>
              </a:tabLst>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tabLst>
                <a:tab pos="0" algn="l"/>
              </a:tabLst>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tabLst>
                <a:tab pos="0" algn="l"/>
              </a:tabLst>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tabLst>
                <a:tab pos="0" algn="l"/>
              </a:tabLst>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tabLst>
                <a:tab pos="0" algn="l"/>
              </a:tabLst>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tabLst>
                <a:tab pos="0" algn="l"/>
              </a:tabLst>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L’équation du mouvement devient alors:</a:t>
            </a:r>
          </a:p>
        </p:txBody>
      </p:sp>
      <p:sp>
        <p:nvSpPr>
          <p:cNvPr id="154632" name="ZoneTexte 9"/>
          <p:cNvSpPr txBox="1">
            <a:spLocks noChangeArrowheads="1"/>
          </p:cNvSpPr>
          <p:nvPr/>
        </p:nvSpPr>
        <p:spPr bwMode="auto">
          <a:xfrm>
            <a:off x="1143000" y="2819400"/>
            <a:ext cx="6172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La solution de cette équation a la forme suivante:</a:t>
            </a:r>
          </a:p>
        </p:txBody>
      </p:sp>
      <p:grpSp>
        <p:nvGrpSpPr>
          <p:cNvPr id="154633" name="Groupe 12"/>
          <p:cNvGrpSpPr>
            <a:grpSpLocks/>
          </p:cNvGrpSpPr>
          <p:nvPr/>
        </p:nvGrpSpPr>
        <p:grpSpPr bwMode="auto">
          <a:xfrm>
            <a:off x="2287588" y="3352800"/>
            <a:ext cx="3317875" cy="684213"/>
            <a:chOff x="2287930" y="3352800"/>
            <a:chExt cx="3317465" cy="684000"/>
          </a:xfrm>
        </p:grpSpPr>
        <p:pic>
          <p:nvPicPr>
            <p:cNvPr id="154639" name="Picture 10"/>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287930" y="3352800"/>
              <a:ext cx="2284070" cy="6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640" name="Picture 11"/>
            <p:cNvPicPr>
              <a:picLocks noChangeAspect="1" noChangeArrowheads="1"/>
            </p:cNvPicPr>
            <p:nvPr/>
          </p:nvPicPr>
          <p:blipFill>
            <a:blip r:embed="rId8">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4583458" y="3488400"/>
              <a:ext cx="1021937"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4634" name="ZoneTexte 13"/>
          <p:cNvSpPr txBox="1">
            <a:spLocks noChangeArrowheads="1"/>
          </p:cNvSpPr>
          <p:nvPr/>
        </p:nvSpPr>
        <p:spPr bwMode="auto">
          <a:xfrm>
            <a:off x="2514600" y="4267200"/>
            <a:ext cx="6172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800" b="1">
                <a:latin typeface="GreekC" pitchFamily="2" charset="0"/>
                <a:ea typeface="GreekC" pitchFamily="2" charset="0"/>
                <a:cs typeface="GreekC" pitchFamily="2" charset="0"/>
              </a:rPr>
              <a:t>Δ</a:t>
            </a:r>
            <a:r>
              <a:rPr lang="el-GR" altLang="fr-FR" sz="1800" b="1">
                <a:latin typeface="Calibri" panose="020F0502020204030204" pitchFamily="34" charset="0"/>
              </a:rPr>
              <a:t>ω</a:t>
            </a:r>
            <a:r>
              <a:rPr lang="fr-FR" altLang="fr-FR" sz="1800" b="1" baseline="-25000">
                <a:latin typeface="Calibri" panose="020F0502020204030204" pitchFamily="34" charset="0"/>
              </a:rPr>
              <a:t>0</a:t>
            </a:r>
            <a:r>
              <a:rPr lang="fr-FR" altLang="fr-FR" sz="1800">
                <a:latin typeface="Arial" panose="020B0604020202020204" pitchFamily="34" charset="0"/>
              </a:rPr>
              <a:t>: la valeur initiale de la variation de la vitesse.</a:t>
            </a:r>
          </a:p>
        </p:txBody>
      </p:sp>
      <p:sp>
        <p:nvSpPr>
          <p:cNvPr id="154635" name="ZoneTexte 14"/>
          <p:cNvSpPr txBox="1">
            <a:spLocks noChangeArrowheads="1"/>
          </p:cNvSpPr>
          <p:nvPr/>
        </p:nvSpPr>
        <p:spPr bwMode="auto">
          <a:xfrm>
            <a:off x="1219200" y="4953000"/>
            <a:ext cx="7010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i="1">
                <a:latin typeface="Arial" panose="020B0604020202020204" pitchFamily="34" charset="0"/>
              </a:rPr>
              <a:t>Pour que le système soit stable, il faut que le terme transitoire</a:t>
            </a:r>
            <a:r>
              <a:rPr lang="el-GR" altLang="fr-FR" sz="1800" i="1">
                <a:latin typeface="Arial" panose="020B0604020202020204" pitchFamily="34" charset="0"/>
              </a:rPr>
              <a:t> Δω</a:t>
            </a:r>
            <a:endParaRPr lang="fr-FR" altLang="fr-FR" sz="1800" i="1">
              <a:latin typeface="Arial" panose="020B0604020202020204" pitchFamily="34" charset="0"/>
            </a:endParaRPr>
          </a:p>
          <a:p>
            <a:pPr eaLnBrk="1" hangingPunct="1">
              <a:spcBef>
                <a:spcPct val="0"/>
              </a:spcBef>
              <a:buClrTx/>
              <a:buSzTx/>
              <a:buFontTx/>
              <a:buNone/>
            </a:pPr>
            <a:r>
              <a:rPr lang="fr-FR" altLang="fr-FR" sz="1800" i="1">
                <a:latin typeface="Arial" panose="020B0604020202020204" pitchFamily="34" charset="0"/>
              </a:rPr>
              <a:t>Tende vers 0 lorsque t tend vers l’infini.</a:t>
            </a:r>
          </a:p>
          <a:p>
            <a:pPr eaLnBrk="1" hangingPunct="1">
              <a:spcBef>
                <a:spcPct val="0"/>
              </a:spcBef>
              <a:buClrTx/>
              <a:buSzTx/>
              <a:buFontTx/>
              <a:buNone/>
            </a:pPr>
            <a:endParaRPr lang="fr-FR" altLang="fr-FR" sz="1800" i="1">
              <a:latin typeface="Arial" panose="020B0604020202020204" pitchFamily="34" charset="0"/>
            </a:endParaRPr>
          </a:p>
          <a:p>
            <a:pPr eaLnBrk="1" hangingPunct="1">
              <a:spcBef>
                <a:spcPct val="0"/>
              </a:spcBef>
              <a:buClrTx/>
              <a:buSzTx/>
              <a:buFontTx/>
              <a:buNone/>
            </a:pPr>
            <a:r>
              <a:rPr lang="fr-FR" altLang="fr-FR" sz="1800" i="1">
                <a:latin typeface="Arial" panose="020B0604020202020204" pitchFamily="34" charset="0"/>
              </a:rPr>
              <a:t>           Donc      </a:t>
            </a:r>
          </a:p>
        </p:txBody>
      </p:sp>
      <p:graphicFrame>
        <p:nvGraphicFramePr>
          <p:cNvPr id="46159" name="Object 5"/>
          <p:cNvGraphicFramePr>
            <a:graphicFrameLocks noChangeAspect="1"/>
          </p:cNvGraphicFramePr>
          <p:nvPr/>
        </p:nvGraphicFramePr>
        <p:xfrm>
          <a:off x="3322638" y="5694363"/>
          <a:ext cx="1811337" cy="706437"/>
        </p:xfrm>
        <a:graphic>
          <a:graphicData uri="http://schemas.openxmlformats.org/presentationml/2006/ole">
            <mc:AlternateContent xmlns:mc="http://schemas.openxmlformats.org/markup-compatibility/2006">
              <mc:Choice xmlns:v="urn:schemas-microsoft-com:vml" Requires="v">
                <p:oleObj spid="_x0000_s154659" name="Équation" r:id="rId9" imgW="876300" imgH="342900" progId="Equation.3">
                  <p:embed/>
                </p:oleObj>
              </mc:Choice>
              <mc:Fallback>
                <p:oleObj name="Équation" r:id="rId9" imgW="876300" imgH="3429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22638" y="5694363"/>
                        <a:ext cx="1811337" cy="706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37"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6159"/>
                                        </p:tgtEl>
                                        <p:attrNameLst>
                                          <p:attrName>style.visibility</p:attrName>
                                        </p:attrNameLst>
                                      </p:cBhvr>
                                      <p:to>
                                        <p:strVal val="visible"/>
                                      </p:to>
                                    </p:set>
                                    <p:animEffect transition="in" filter="checkerboard(across)">
                                      <p:cBhvr>
                                        <p:cTn id="7" dur="500"/>
                                        <p:tgtEl>
                                          <p:spTgt spid="46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subTitle" idx="1"/>
          </p:nvPr>
        </p:nvSpPr>
        <p:spPr>
          <a:xfrm>
            <a:off x="457200" y="304800"/>
            <a:ext cx="6858000" cy="381000"/>
          </a:xfrm>
        </p:spPr>
        <p:txBody>
          <a:bodyPr/>
          <a:lstStyle/>
          <a:p>
            <a:pPr algn="l" eaLnBrk="1" hangingPunct="1"/>
            <a:r>
              <a:rPr lang="en-US" altLang="fr-FR" sz="1200" smtClean="0"/>
              <a:t>                                                                                                  MODULE 1 - INTRODUCTION</a:t>
            </a:r>
          </a:p>
        </p:txBody>
      </p:sp>
      <p:sp>
        <p:nvSpPr>
          <p:cNvPr id="156675"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37CB3FB-714B-44D3-9CA6-1AD5E5462C01}" type="slidenum">
              <a:rPr lang="en-US" altLang="fr-FR" sz="1000" smtClean="0">
                <a:solidFill>
                  <a:srgbClr val="292929"/>
                </a:solidFill>
                <a:latin typeface="Arial" panose="020B0604020202020204" pitchFamily="34" charset="0"/>
              </a:rPr>
              <a:pPr>
                <a:spcBef>
                  <a:spcPct val="0"/>
                </a:spcBef>
                <a:buClrTx/>
                <a:buSzTx/>
                <a:buFontTx/>
                <a:buNone/>
              </a:pPr>
              <a:t>76</a:t>
            </a:fld>
            <a:endParaRPr lang="en-US" altLang="fr-FR" sz="1000" smtClean="0">
              <a:solidFill>
                <a:srgbClr val="292929"/>
              </a:solidFill>
              <a:latin typeface="Arial" panose="020B0604020202020204" pitchFamily="34" charset="0"/>
            </a:endParaRPr>
          </a:p>
        </p:txBody>
      </p:sp>
      <p:sp>
        <p:nvSpPr>
          <p:cNvPr id="156676"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56677" name="Text Box 4"/>
          <p:cNvSpPr txBox="1">
            <a:spLocks noChangeArrowheads="1"/>
          </p:cNvSpPr>
          <p:nvPr/>
        </p:nvSpPr>
        <p:spPr bwMode="auto">
          <a:xfrm>
            <a:off x="685800" y="7620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Stabilité statique</a:t>
            </a:r>
          </a:p>
        </p:txBody>
      </p:sp>
      <p:pic>
        <p:nvPicPr>
          <p:cNvPr id="91142" name="Picture 8"/>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762000" y="1828800"/>
            <a:ext cx="7861300"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Espace réservé du pied de page 11"/>
          <p:cNvSpPr>
            <a:spLocks noGrp="1"/>
          </p:cNvSpPr>
          <p:nvPr>
            <p:ph type="ftr" sz="quarter" idx="11"/>
          </p:nvPr>
        </p:nvSpPr>
        <p:spPr/>
        <p:txBody>
          <a:bodyPr/>
          <a:lstStyle/>
          <a:p>
            <a:pPr>
              <a:defRPr/>
            </a:pPr>
            <a:r>
              <a:rPr lang="fr-FR" smtClean="0"/>
              <a:t>Commande des machines  1. Intro         Ali NEJMI</a:t>
            </a: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1142"/>
                                        </p:tgtEl>
                                        <p:attrNameLst>
                                          <p:attrName>style.visibility</p:attrName>
                                        </p:attrNameLst>
                                      </p:cBhvr>
                                      <p:to>
                                        <p:strVal val="visible"/>
                                      </p:to>
                                    </p:set>
                                    <p:animEffect transition="in" filter="checkerboard(across)">
                                      <p:cBhvr>
                                        <p:cTn id="7" dur="500"/>
                                        <p:tgtEl>
                                          <p:spTgt spid="91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5872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8EAE0A8-15AF-456A-A0E9-56BB403AD4BF}" type="slidenum">
              <a:rPr lang="en-US" altLang="fr-FR" sz="1000" smtClean="0">
                <a:solidFill>
                  <a:srgbClr val="292929"/>
                </a:solidFill>
                <a:latin typeface="Arial" panose="020B0604020202020204" pitchFamily="34" charset="0"/>
              </a:rPr>
              <a:pPr>
                <a:spcBef>
                  <a:spcPct val="0"/>
                </a:spcBef>
                <a:buClrTx/>
                <a:buSzTx/>
                <a:buFontTx/>
                <a:buNone/>
              </a:pPr>
              <a:t>77</a:t>
            </a:fld>
            <a:endParaRPr lang="en-US" altLang="fr-FR" sz="1000" smtClean="0">
              <a:solidFill>
                <a:srgbClr val="292929"/>
              </a:solidFill>
              <a:latin typeface="Arial" panose="020B0604020202020204" pitchFamily="34" charset="0"/>
            </a:endParaRPr>
          </a:p>
        </p:txBody>
      </p:sp>
      <p:sp>
        <p:nvSpPr>
          <p:cNvPr id="4" name="ZoneTexte 3"/>
          <p:cNvSpPr txBox="1"/>
          <p:nvPr/>
        </p:nvSpPr>
        <p:spPr>
          <a:xfrm>
            <a:off x="533400" y="1239838"/>
            <a:ext cx="8229600" cy="4246562"/>
          </a:xfrm>
          <a:prstGeom prst="rect">
            <a:avLst/>
          </a:prstGeom>
          <a:noFill/>
        </p:spPr>
        <p:txBody>
          <a:bodyPr>
            <a:spAutoFit/>
          </a:bodyPr>
          <a:lstStyle/>
          <a:p>
            <a:pPr eaLnBrk="1" hangingPunct="1">
              <a:defRPr/>
            </a:pPr>
            <a:r>
              <a:rPr lang="fr-FR" b="1" dirty="0">
                <a:latin typeface="Arial" charset="0"/>
                <a:cs typeface="Arial" charset="0"/>
              </a:rPr>
              <a:t>Exercice</a:t>
            </a:r>
          </a:p>
          <a:p>
            <a:pPr eaLnBrk="1" hangingPunct="1">
              <a:defRPr/>
            </a:pPr>
            <a:endParaRPr lang="fr-FR" b="1" dirty="0">
              <a:latin typeface="Arial" charset="0"/>
              <a:cs typeface="Arial" charset="0"/>
            </a:endParaRPr>
          </a:p>
          <a:p>
            <a:pPr eaLnBrk="1" hangingPunct="1">
              <a:defRPr/>
            </a:pPr>
            <a:r>
              <a:rPr lang="fr-FR" dirty="0"/>
              <a:t>Un moteur disposant d’une commande adéquate développe un couple exprimé comme suit :  </a:t>
            </a:r>
            <a:r>
              <a:rPr lang="fr-FR" b="1" dirty="0"/>
              <a:t>T</a:t>
            </a:r>
            <a:r>
              <a:rPr lang="fr-FR" b="1" baseline="-25000" dirty="0"/>
              <a:t>M</a:t>
            </a:r>
            <a:r>
              <a:rPr lang="fr-FR" b="1" dirty="0"/>
              <a:t> = a.</a:t>
            </a:r>
            <a:r>
              <a:rPr lang="el-GR" b="1" dirty="0"/>
              <a:t>ω</a:t>
            </a:r>
            <a:r>
              <a:rPr lang="fr-FR" b="1" dirty="0"/>
              <a:t> + b</a:t>
            </a:r>
            <a:r>
              <a:rPr lang="fr-FR" dirty="0"/>
              <a:t>. Ce moteur entraîne une charge dont le couple est  </a:t>
            </a:r>
            <a:r>
              <a:rPr lang="fr-FR" b="1" dirty="0"/>
              <a:t>T</a:t>
            </a:r>
            <a:r>
              <a:rPr lang="fr-FR" b="1" baseline="-25000" dirty="0"/>
              <a:t>L</a:t>
            </a:r>
            <a:r>
              <a:rPr lang="fr-FR" b="1" dirty="0"/>
              <a:t>= c.</a:t>
            </a:r>
            <a:r>
              <a:rPr lang="el-GR" b="1" dirty="0"/>
              <a:t>ω</a:t>
            </a:r>
            <a:r>
              <a:rPr lang="fr-FR" b="1" dirty="0"/>
              <a:t>² +d. </a:t>
            </a:r>
          </a:p>
          <a:p>
            <a:pPr eaLnBrk="1" hangingPunct="1">
              <a:defRPr/>
            </a:pPr>
            <a:r>
              <a:rPr lang="fr-FR" dirty="0"/>
              <a:t> a, b, c et d sont des constantes positives. J est le moment d’inertie total du système.</a:t>
            </a:r>
            <a:endParaRPr lang="fr-FR" b="1" dirty="0"/>
          </a:p>
          <a:p>
            <a:pPr eaLnBrk="1" hangingPunct="1">
              <a:defRPr/>
            </a:pPr>
            <a:endParaRPr lang="fr-FR" dirty="0"/>
          </a:p>
          <a:p>
            <a:pPr marL="342900" indent="-342900" eaLnBrk="1" hangingPunct="1">
              <a:buFontTx/>
              <a:buAutoNum type="arabicParenR"/>
              <a:defRPr/>
            </a:pPr>
            <a:r>
              <a:rPr lang="fr-FR" dirty="0"/>
              <a:t>Quelle est la relation entre a, b, c et d pour que le moteur et la charge puissent atteindre un point d’équilibre. </a:t>
            </a:r>
          </a:p>
          <a:p>
            <a:pPr marL="342900" indent="-342900" eaLnBrk="1" hangingPunct="1">
              <a:buFontTx/>
              <a:buAutoNum type="arabicParenR"/>
              <a:defRPr/>
            </a:pPr>
            <a:r>
              <a:rPr lang="fr-FR" dirty="0"/>
              <a:t>Exprimer la vitesse à l’équilibre (point de fonctionnement).</a:t>
            </a:r>
          </a:p>
          <a:p>
            <a:pPr marL="342900" indent="-342900" eaLnBrk="1" hangingPunct="1">
              <a:buFontTx/>
              <a:buAutoNum type="arabicParenR"/>
              <a:defRPr/>
            </a:pPr>
            <a:r>
              <a:rPr lang="fr-FR" dirty="0"/>
              <a:t>Le système est-il stable à cette vitesse.</a:t>
            </a:r>
          </a:p>
          <a:p>
            <a:pPr marL="342900" indent="-342900" eaLnBrk="1" hangingPunct="1">
              <a:buFontTx/>
              <a:buAutoNum type="arabicParenR"/>
              <a:defRPr/>
            </a:pPr>
            <a:r>
              <a:rPr lang="fr-FR" dirty="0"/>
              <a:t>Déterminer l’accélération initiale (à t=0) du système.</a:t>
            </a:r>
          </a:p>
          <a:p>
            <a:pPr marL="342900" indent="-342900" eaLnBrk="1" hangingPunct="1">
              <a:buFontTx/>
              <a:buAutoNum type="arabicParenR"/>
              <a:defRPr/>
            </a:pPr>
            <a:r>
              <a:rPr lang="fr-FR" dirty="0"/>
              <a:t>Déterminer l’accélération maximale du système.</a:t>
            </a:r>
          </a:p>
          <a:p>
            <a:pPr marL="342900" indent="-342900" eaLnBrk="1" hangingPunct="1">
              <a:buFontTx/>
              <a:buAutoNum type="arabicParenR"/>
              <a:defRPr/>
            </a:pPr>
            <a:endParaRPr lang="fr-FR" dirty="0"/>
          </a:p>
        </p:txBody>
      </p:sp>
      <p:sp>
        <p:nvSpPr>
          <p:cNvPr id="158725" name="Text Box 4"/>
          <p:cNvSpPr txBox="1">
            <a:spLocks noChangeArrowheads="1"/>
          </p:cNvSpPr>
          <p:nvPr/>
        </p:nvSpPr>
        <p:spPr bwMode="auto">
          <a:xfrm>
            <a:off x="457200" y="6858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Stabilité statique</a:t>
            </a:r>
          </a:p>
        </p:txBody>
      </p:sp>
      <p:sp>
        <p:nvSpPr>
          <p:cNvPr id="158726"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7"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6077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FA0C2B4-B711-4195-B117-A10CC8C1ADE8}" type="slidenum">
              <a:rPr lang="en-US" altLang="fr-FR" sz="1000" smtClean="0">
                <a:solidFill>
                  <a:srgbClr val="292929"/>
                </a:solidFill>
                <a:latin typeface="Arial" panose="020B0604020202020204" pitchFamily="34" charset="0"/>
              </a:rPr>
              <a:pPr>
                <a:spcBef>
                  <a:spcPct val="0"/>
                </a:spcBef>
                <a:buClrTx/>
                <a:buSzTx/>
                <a:buFontTx/>
                <a:buNone/>
              </a:pPr>
              <a:t>78</a:t>
            </a:fld>
            <a:endParaRPr lang="en-US" altLang="fr-FR" sz="1000" smtClean="0">
              <a:solidFill>
                <a:srgbClr val="292929"/>
              </a:solidFill>
              <a:latin typeface="Arial" panose="020B0604020202020204" pitchFamily="34" charset="0"/>
            </a:endParaRPr>
          </a:p>
        </p:txBody>
      </p:sp>
      <p:sp>
        <p:nvSpPr>
          <p:cNvPr id="160772" name="Text Box 4"/>
          <p:cNvSpPr txBox="1">
            <a:spLocks noChangeArrowheads="1"/>
          </p:cNvSpPr>
          <p:nvPr/>
        </p:nvSpPr>
        <p:spPr bwMode="auto">
          <a:xfrm>
            <a:off x="457200" y="5334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Stabilité statique</a:t>
            </a:r>
          </a:p>
        </p:txBody>
      </p:sp>
      <p:sp>
        <p:nvSpPr>
          <p:cNvPr id="160773" name="ZoneTexte 4"/>
          <p:cNvSpPr txBox="1">
            <a:spLocks noChangeArrowheads="1"/>
          </p:cNvSpPr>
          <p:nvPr/>
        </p:nvSpPr>
        <p:spPr bwMode="auto">
          <a:xfrm>
            <a:off x="609600" y="1066800"/>
            <a:ext cx="259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Solution</a:t>
            </a:r>
          </a:p>
        </p:txBody>
      </p:sp>
      <p:sp>
        <p:nvSpPr>
          <p:cNvPr id="160774" name="ZoneTexte 5"/>
          <p:cNvSpPr txBox="1">
            <a:spLocks noChangeArrowheads="1"/>
          </p:cNvSpPr>
          <p:nvPr/>
        </p:nvSpPr>
        <p:spPr bwMode="auto">
          <a:xfrm>
            <a:off x="609600" y="1600200"/>
            <a:ext cx="79248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AutoNum type="arabicParenR"/>
            </a:pPr>
            <a:r>
              <a:rPr lang="fr-FR" altLang="fr-FR" sz="1800">
                <a:latin typeface="Arial" panose="020B0604020202020204" pitchFamily="34" charset="0"/>
              </a:rPr>
              <a:t>à </a:t>
            </a:r>
            <a:r>
              <a:rPr lang="el-GR" altLang="fr-FR" sz="1800">
                <a:latin typeface="Arial" panose="020B0604020202020204" pitchFamily="34" charset="0"/>
              </a:rPr>
              <a:t>ω</a:t>
            </a:r>
            <a:r>
              <a:rPr lang="fr-FR" altLang="fr-FR" sz="1800">
                <a:latin typeface="Arial" panose="020B0604020202020204" pitchFamily="34" charset="0"/>
              </a:rPr>
              <a:t>=0 ,  T</a:t>
            </a:r>
            <a:r>
              <a:rPr lang="fr-FR" altLang="fr-FR" sz="1800" baseline="-25000">
                <a:latin typeface="Arial" panose="020B0604020202020204" pitchFamily="34" charset="0"/>
              </a:rPr>
              <a:t>M</a:t>
            </a:r>
            <a:r>
              <a:rPr lang="fr-FR" altLang="fr-FR" sz="1800">
                <a:latin typeface="Arial" panose="020B0604020202020204" pitchFamily="34" charset="0"/>
              </a:rPr>
              <a:t> = b   et   T</a:t>
            </a:r>
            <a:r>
              <a:rPr lang="fr-FR" altLang="fr-FR" sz="1800" baseline="-25000">
                <a:latin typeface="Arial" panose="020B0604020202020204" pitchFamily="34" charset="0"/>
              </a:rPr>
              <a:t>L</a:t>
            </a:r>
            <a:r>
              <a:rPr lang="fr-FR" altLang="fr-FR" sz="1800">
                <a:latin typeface="Arial" panose="020B0604020202020204" pitchFamily="34" charset="0"/>
              </a:rPr>
              <a:t>= d  ;  le moteur ne peut démarrer en présence de la charge que si  b&gt;d. </a:t>
            </a:r>
          </a:p>
          <a:p>
            <a:pPr algn="just" eaLnBrk="1" hangingPunct="1">
              <a:spcBef>
                <a:spcPct val="0"/>
              </a:spcBef>
              <a:buClrTx/>
              <a:buSzTx/>
              <a:buFontTx/>
              <a:buAutoNum type="arabicParenR"/>
            </a:pPr>
            <a:endParaRPr lang="fr-FR" altLang="fr-FR" sz="1800">
              <a:latin typeface="Arial" panose="020B0604020202020204" pitchFamily="34" charset="0"/>
            </a:endParaRPr>
          </a:p>
          <a:p>
            <a:pPr algn="just" eaLnBrk="1" hangingPunct="1">
              <a:spcBef>
                <a:spcPct val="0"/>
              </a:spcBef>
              <a:buClrTx/>
              <a:buSzTx/>
              <a:buFontTx/>
              <a:buAutoNum type="arabicParenR"/>
            </a:pPr>
            <a:r>
              <a:rPr lang="fr-FR" altLang="fr-FR" sz="1800">
                <a:latin typeface="Arial" panose="020B0604020202020204" pitchFamily="34" charset="0"/>
              </a:rPr>
              <a:t>Au point d’équilibre, on a      T</a:t>
            </a:r>
            <a:r>
              <a:rPr lang="fr-FR" altLang="fr-FR" sz="1800" baseline="-25000">
                <a:latin typeface="Arial" panose="020B0604020202020204" pitchFamily="34" charset="0"/>
              </a:rPr>
              <a:t>M</a:t>
            </a:r>
            <a:r>
              <a:rPr lang="fr-FR" altLang="fr-FR" sz="1800">
                <a:latin typeface="Arial" panose="020B0604020202020204" pitchFamily="34" charset="0"/>
              </a:rPr>
              <a:t> = T</a:t>
            </a:r>
            <a:r>
              <a:rPr lang="fr-FR" altLang="fr-FR" sz="1800" baseline="-25000">
                <a:latin typeface="Arial" panose="020B0604020202020204" pitchFamily="34" charset="0"/>
              </a:rPr>
              <a:t>L</a:t>
            </a:r>
            <a:r>
              <a:rPr lang="fr-FR" altLang="fr-FR" sz="1800">
                <a:latin typeface="Arial" panose="020B0604020202020204" pitchFamily="34" charset="0"/>
              </a:rPr>
              <a:t>  </a:t>
            </a:r>
          </a:p>
          <a:p>
            <a:pPr algn="just" eaLnBrk="1" hangingPunct="1">
              <a:spcBef>
                <a:spcPct val="0"/>
              </a:spcBef>
              <a:buClrTx/>
              <a:buSzTx/>
              <a:buFontTx/>
              <a:buNone/>
            </a:pPr>
            <a:r>
              <a:rPr lang="fr-FR" altLang="fr-FR" sz="1800">
                <a:latin typeface="Arial" panose="020B0604020202020204" pitchFamily="34" charset="0"/>
              </a:rPr>
              <a:t>                               donc       a.</a:t>
            </a:r>
            <a:r>
              <a:rPr lang="el-GR" altLang="fr-FR" sz="1800">
                <a:latin typeface="Arial" panose="020B0604020202020204" pitchFamily="34" charset="0"/>
              </a:rPr>
              <a:t>ω</a:t>
            </a:r>
            <a:r>
              <a:rPr lang="fr-FR" altLang="fr-FR" sz="1800">
                <a:latin typeface="Arial" panose="020B0604020202020204" pitchFamily="34" charset="0"/>
              </a:rPr>
              <a:t> + b = c.</a:t>
            </a:r>
            <a:r>
              <a:rPr lang="el-GR" altLang="fr-FR" sz="1800">
                <a:latin typeface="Arial" panose="020B0604020202020204" pitchFamily="34" charset="0"/>
              </a:rPr>
              <a:t>ω</a:t>
            </a:r>
            <a:r>
              <a:rPr lang="fr-FR" altLang="fr-FR" sz="1800">
                <a:latin typeface="Arial" panose="020B0604020202020204" pitchFamily="34" charset="0"/>
              </a:rPr>
              <a:t>² +d. </a:t>
            </a:r>
          </a:p>
          <a:p>
            <a:pPr algn="just" eaLnBrk="1" hangingPunct="1">
              <a:spcBef>
                <a:spcPct val="0"/>
              </a:spcBef>
              <a:buClrTx/>
              <a:buSzTx/>
              <a:buFontTx/>
              <a:buNone/>
            </a:pPr>
            <a:r>
              <a:rPr lang="fr-FR" altLang="fr-FR" sz="1800">
                <a:latin typeface="Arial" panose="020B0604020202020204" pitchFamily="34" charset="0"/>
              </a:rPr>
              <a:t>                                          </a:t>
            </a:r>
          </a:p>
          <a:p>
            <a:pPr algn="just" eaLnBrk="1" hangingPunct="1">
              <a:spcBef>
                <a:spcPct val="0"/>
              </a:spcBef>
              <a:buClrTx/>
              <a:buSzTx/>
              <a:buFontTx/>
              <a:buNone/>
            </a:pPr>
            <a:r>
              <a:rPr lang="fr-FR" altLang="fr-FR" sz="1800" b="1" i="1">
                <a:latin typeface="Arial" panose="020B0604020202020204" pitchFamily="34" charset="0"/>
              </a:rPr>
              <a:t>                                           c.</a:t>
            </a:r>
            <a:r>
              <a:rPr lang="el-GR" altLang="fr-FR" sz="1800" b="1" i="1">
                <a:latin typeface="Arial" panose="020B0604020202020204" pitchFamily="34" charset="0"/>
              </a:rPr>
              <a:t>ω</a:t>
            </a:r>
            <a:r>
              <a:rPr lang="fr-FR" altLang="fr-FR" sz="1800" b="1" i="1">
                <a:latin typeface="Arial" panose="020B0604020202020204" pitchFamily="34" charset="0"/>
              </a:rPr>
              <a:t>² - a.</a:t>
            </a:r>
            <a:r>
              <a:rPr lang="el-GR" altLang="fr-FR" sz="1800" b="1" i="1">
                <a:latin typeface="Arial" panose="020B0604020202020204" pitchFamily="34" charset="0"/>
              </a:rPr>
              <a:t>ω</a:t>
            </a:r>
            <a:r>
              <a:rPr lang="fr-FR" altLang="fr-FR" sz="1800" b="1" i="1">
                <a:latin typeface="Arial" panose="020B0604020202020204" pitchFamily="34" charset="0"/>
              </a:rPr>
              <a:t> – (b – d) = 0</a:t>
            </a:r>
          </a:p>
          <a:p>
            <a:pPr algn="just" eaLnBrk="1" hangingPunct="1">
              <a:spcBef>
                <a:spcPct val="0"/>
              </a:spcBef>
              <a:buClrTx/>
              <a:buSzTx/>
              <a:buFontTx/>
              <a:buNone/>
            </a:pPr>
            <a:endParaRPr lang="fr-FR" altLang="fr-FR" sz="1800">
              <a:latin typeface="Arial" panose="020B0604020202020204" pitchFamily="34" charset="0"/>
            </a:endParaRPr>
          </a:p>
        </p:txBody>
      </p:sp>
      <p:pic>
        <p:nvPicPr>
          <p:cNvPr id="160775" name="Picture 2"/>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1905000" y="3771900"/>
            <a:ext cx="2819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0776" name="Picture 3"/>
          <p:cNvPicPr>
            <a:picLocks noChangeAspect="1" noChangeArrowheads="1"/>
          </p:cNvPicPr>
          <p:nvPr/>
        </p:nvPicPr>
        <p:blipFill>
          <a:blip r:embed="rId4">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5638800" y="3886200"/>
            <a:ext cx="2085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7" name="ZoneTexte 8"/>
          <p:cNvSpPr txBox="1">
            <a:spLocks noChangeArrowheads="1"/>
          </p:cNvSpPr>
          <p:nvPr/>
        </p:nvSpPr>
        <p:spPr bwMode="auto">
          <a:xfrm>
            <a:off x="838200" y="4648200"/>
            <a:ext cx="7391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Avec le signe (+), la vitesse est positive</a:t>
            </a:r>
          </a:p>
          <a:p>
            <a:pPr eaLnBrk="1" hangingPunct="1">
              <a:spcBef>
                <a:spcPct val="0"/>
              </a:spcBef>
              <a:buClrTx/>
              <a:buSzTx/>
              <a:buFontTx/>
              <a:buNone/>
            </a:pPr>
            <a:endParaRPr lang="fr-FR" altLang="fr-FR" sz="1800">
              <a:latin typeface="Arial" panose="020B0604020202020204" pitchFamily="34" charset="0"/>
            </a:endParaRPr>
          </a:p>
          <a:p>
            <a:pPr eaLnBrk="1" hangingPunct="1">
              <a:spcBef>
                <a:spcPct val="0"/>
              </a:spcBef>
              <a:buClrTx/>
              <a:buSzTx/>
              <a:buFontTx/>
              <a:buNone/>
            </a:pPr>
            <a:r>
              <a:rPr lang="fr-FR" altLang="fr-FR" sz="1800">
                <a:latin typeface="Arial" panose="020B0604020202020204" pitchFamily="34" charset="0"/>
              </a:rPr>
              <a:t>Avec le signe (-), la vitesse est positive si seulement si   </a:t>
            </a:r>
          </a:p>
        </p:txBody>
      </p:sp>
      <p:pic>
        <p:nvPicPr>
          <p:cNvPr id="160778" name="Picture 9"/>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895600" y="5715000"/>
            <a:ext cx="25717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9"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1. Intro         Ali NEJMI</a:t>
            </a:r>
            <a:endParaRPr lang="fr-FR"/>
          </a:p>
        </p:txBody>
      </p:sp>
      <p:sp>
        <p:nvSpPr>
          <p:cNvPr id="162819"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17173D0-8815-4876-890C-4EC47D7AB793}" type="slidenum">
              <a:rPr lang="en-US" altLang="fr-FR" sz="1000" smtClean="0">
                <a:solidFill>
                  <a:srgbClr val="292929"/>
                </a:solidFill>
                <a:latin typeface="Arial" panose="020B0604020202020204" pitchFamily="34" charset="0"/>
              </a:rPr>
              <a:pPr>
                <a:spcBef>
                  <a:spcPct val="0"/>
                </a:spcBef>
                <a:buClrTx/>
                <a:buSzTx/>
                <a:buFontTx/>
                <a:buNone/>
              </a:pPr>
              <a:t>79</a:t>
            </a:fld>
            <a:endParaRPr lang="en-US" altLang="fr-FR" sz="1000" smtClean="0">
              <a:solidFill>
                <a:srgbClr val="292929"/>
              </a:solidFill>
              <a:latin typeface="Arial" panose="020B0604020202020204" pitchFamily="34" charset="0"/>
            </a:endParaRPr>
          </a:p>
        </p:txBody>
      </p:sp>
      <p:pic>
        <p:nvPicPr>
          <p:cNvPr id="162820" name="Picture 2"/>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971800" y="990600"/>
            <a:ext cx="21907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21" name="ZoneTexte 4"/>
          <p:cNvSpPr txBox="1">
            <a:spLocks noChangeArrowheads="1"/>
          </p:cNvSpPr>
          <p:nvPr/>
        </p:nvSpPr>
        <p:spPr bwMode="auto">
          <a:xfrm>
            <a:off x="1371600" y="9906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Donc</a:t>
            </a:r>
          </a:p>
        </p:txBody>
      </p:sp>
      <p:pic>
        <p:nvPicPr>
          <p:cNvPr id="162822" name="Picture 3"/>
          <p:cNvPicPr>
            <a:picLocks noChangeAspect="1" noChangeArrowheads="1"/>
          </p:cNvPicPr>
          <p:nvPr/>
        </p:nvPicPr>
        <p:blipFill>
          <a:blip r:embed="rId4">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3200400" y="1524000"/>
            <a:ext cx="16383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23" name="ZoneTexte 6"/>
          <p:cNvSpPr txBox="1">
            <a:spLocks noChangeArrowheads="1"/>
          </p:cNvSpPr>
          <p:nvPr/>
        </p:nvSpPr>
        <p:spPr bwMode="auto">
          <a:xfrm>
            <a:off x="1371600" y="13716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Donc</a:t>
            </a:r>
          </a:p>
        </p:txBody>
      </p:sp>
      <p:sp>
        <p:nvSpPr>
          <p:cNvPr id="162824" name="ZoneTexte 7"/>
          <p:cNvSpPr txBox="1">
            <a:spLocks noChangeArrowheads="1"/>
          </p:cNvSpPr>
          <p:nvPr/>
        </p:nvSpPr>
        <p:spPr bwMode="auto">
          <a:xfrm>
            <a:off x="1371600" y="18288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c.à.d</a:t>
            </a:r>
          </a:p>
        </p:txBody>
      </p:sp>
      <p:pic>
        <p:nvPicPr>
          <p:cNvPr id="162825" name="Picture 4"/>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3429000" y="1905000"/>
            <a:ext cx="6381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26" name="ZoneTexte 9"/>
          <p:cNvSpPr txBox="1">
            <a:spLocks noChangeArrowheads="1"/>
          </p:cNvSpPr>
          <p:nvPr/>
        </p:nvSpPr>
        <p:spPr bwMode="auto">
          <a:xfrm>
            <a:off x="5181600" y="1828800"/>
            <a:ext cx="2209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Contradiction!! </a:t>
            </a:r>
          </a:p>
        </p:txBody>
      </p:sp>
      <p:sp>
        <p:nvSpPr>
          <p:cNvPr id="162827" name="ZoneTexte 10"/>
          <p:cNvSpPr txBox="1">
            <a:spLocks noChangeArrowheads="1"/>
          </p:cNvSpPr>
          <p:nvPr/>
        </p:nvSpPr>
        <p:spPr bwMode="auto">
          <a:xfrm>
            <a:off x="1371600" y="2514600"/>
            <a:ext cx="640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Donc l’unique solution est celle avec le signe (+) </a:t>
            </a:r>
          </a:p>
        </p:txBody>
      </p:sp>
      <p:pic>
        <p:nvPicPr>
          <p:cNvPr id="162828" name="Picture 5"/>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3124200" y="3657600"/>
            <a:ext cx="29241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29" name="ZoneTexte 13"/>
          <p:cNvSpPr txBox="1">
            <a:spLocks noChangeArrowheads="1"/>
          </p:cNvSpPr>
          <p:nvPr/>
        </p:nvSpPr>
        <p:spPr bwMode="auto">
          <a:xfrm>
            <a:off x="1295400" y="3200400"/>
            <a:ext cx="640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2) Donc la vitesse à l’équilibre est : </a:t>
            </a:r>
          </a:p>
        </p:txBody>
      </p:sp>
      <p:pic>
        <p:nvPicPr>
          <p:cNvPr id="162830" name="Picture 6"/>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438400" y="4724400"/>
            <a:ext cx="123825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831" name="Picture 7"/>
          <p:cNvPicPr>
            <a:picLocks noChangeAspect="1" noChangeArrowheads="1"/>
          </p:cNvPicPr>
          <p:nvPr/>
        </p:nvPicPr>
        <p:blipFill>
          <a:blip r:embed="rId8">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4572000" y="4724400"/>
            <a:ext cx="10287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32" name="ZoneTexte 16"/>
          <p:cNvSpPr txBox="1">
            <a:spLocks noChangeArrowheads="1"/>
          </p:cNvSpPr>
          <p:nvPr/>
        </p:nvSpPr>
        <p:spPr bwMode="auto">
          <a:xfrm>
            <a:off x="1295400" y="43434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3)</a:t>
            </a:r>
          </a:p>
        </p:txBody>
      </p:sp>
      <p:sp>
        <p:nvSpPr>
          <p:cNvPr id="162833" name="ZoneTexte 17"/>
          <p:cNvSpPr txBox="1">
            <a:spLocks noChangeArrowheads="1"/>
          </p:cNvSpPr>
          <p:nvPr/>
        </p:nvSpPr>
        <p:spPr bwMode="auto">
          <a:xfrm>
            <a:off x="1524000" y="5486400"/>
            <a:ext cx="640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Ce point d’équilibre est stable si </a:t>
            </a:r>
          </a:p>
        </p:txBody>
      </p:sp>
      <p:pic>
        <p:nvPicPr>
          <p:cNvPr id="162834" name="Picture 8"/>
          <p:cNvPicPr>
            <a:picLocks noChangeAspect="1" noChangeArrowheads="1"/>
          </p:cNvPicPr>
          <p:nvPr/>
        </p:nvPicPr>
        <p:blipFill>
          <a:blip r:embed="rId9">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4953000" y="5410200"/>
            <a:ext cx="12668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35" name="ZoneTexte 19"/>
          <p:cNvSpPr txBox="1">
            <a:spLocks noChangeArrowheads="1"/>
          </p:cNvSpPr>
          <p:nvPr/>
        </p:nvSpPr>
        <p:spPr bwMode="auto">
          <a:xfrm>
            <a:off x="1524000" y="6019800"/>
            <a:ext cx="640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Ceci est bien vérifié pour ce cas.</a:t>
            </a:r>
          </a:p>
        </p:txBody>
      </p:sp>
      <p:sp>
        <p:nvSpPr>
          <p:cNvPr id="162836" name="Rectangle 3"/>
          <p:cNvSpPr>
            <a:spLocks noChangeArrowheads="1"/>
          </p:cNvSpPr>
          <p:nvPr/>
        </p:nvSpPr>
        <p:spPr bwMode="auto">
          <a:xfrm>
            <a:off x="381000" y="304800"/>
            <a:ext cx="8382000" cy="6248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2" name="Rectangle 2"/>
          <p:cNvSpPr txBox="1">
            <a:spLocks noChangeArrowheads="1"/>
          </p:cNvSpPr>
          <p:nvPr/>
        </p:nvSpPr>
        <p:spPr>
          <a:xfrm>
            <a:off x="457200" y="304800"/>
            <a:ext cx="6858000" cy="381000"/>
          </a:xfrm>
          <a:prstGeom prst="rect">
            <a:avLst/>
          </a:prstGeom>
        </p:spPr>
        <p:txBody>
          <a:bodyPr/>
          <a:lstStyle/>
          <a:p>
            <a:pPr marL="419100" indent="-382588" eaLnBrk="1" hangingPunct="1">
              <a:spcBef>
                <a:spcPct val="20000"/>
              </a:spcBef>
              <a:buClr>
                <a:schemeClr val="accent1"/>
              </a:buClr>
              <a:buSzPct val="80000"/>
              <a:defRPr/>
            </a:pPr>
            <a:r>
              <a:rPr lang="en-US" sz="1200" dirty="0">
                <a:latin typeface="+mn-lt"/>
                <a:cs typeface="+mn-cs"/>
              </a:rPr>
              <a:t>                                                                                                  MODULE 1 - INTRODUCTION</a:t>
            </a:r>
          </a:p>
        </p:txBody>
      </p:sp>
      <p:sp>
        <p:nvSpPr>
          <p:cNvPr id="162838" name="ZoneTexte 22"/>
          <p:cNvSpPr txBox="1">
            <a:spLocks noChangeArrowheads="1"/>
          </p:cNvSpPr>
          <p:nvPr/>
        </p:nvSpPr>
        <p:spPr bwMode="auto">
          <a:xfrm>
            <a:off x="3962400" y="48768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et</a:t>
            </a:r>
          </a:p>
        </p:txBody>
      </p:sp>
      <p:sp>
        <p:nvSpPr>
          <p:cNvPr id="162839" name="Text Box 4"/>
          <p:cNvSpPr txBox="1">
            <a:spLocks noChangeArrowheads="1"/>
          </p:cNvSpPr>
          <p:nvPr/>
        </p:nvSpPr>
        <p:spPr bwMode="auto">
          <a:xfrm>
            <a:off x="457200" y="685800"/>
            <a:ext cx="525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CC6600"/>
                </a:solidFill>
                <a:latin typeface="Arial" panose="020B0604020202020204" pitchFamily="34" charset="0"/>
              </a:rPr>
              <a:t>Stabilité statique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chnique">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echnique">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6922</TotalTime>
  <Words>6321</Words>
  <Application>Microsoft Office PowerPoint</Application>
  <PresentationFormat>Affichage à l'écran (4:3)</PresentationFormat>
  <Paragraphs>1023</Paragraphs>
  <Slides>79</Slides>
  <Notes>78</Notes>
  <HiddenSlides>0</HiddenSlides>
  <MMClips>0</MMClips>
  <ScaleCrop>false</ScaleCrop>
  <HeadingPairs>
    <vt:vector size="8" baseType="variant">
      <vt:variant>
        <vt:lpstr>Polices utilisées</vt:lpstr>
      </vt:variant>
      <vt:variant>
        <vt:i4>14</vt:i4>
      </vt:variant>
      <vt:variant>
        <vt:lpstr>Thème</vt:lpstr>
      </vt:variant>
      <vt:variant>
        <vt:i4>1</vt:i4>
      </vt:variant>
      <vt:variant>
        <vt:lpstr>Serveurs OLE incorporés</vt:lpstr>
      </vt:variant>
      <vt:variant>
        <vt:i4>2</vt:i4>
      </vt:variant>
      <vt:variant>
        <vt:lpstr>Titres des diapositives</vt:lpstr>
      </vt:variant>
      <vt:variant>
        <vt:i4>79</vt:i4>
      </vt:variant>
    </vt:vector>
  </HeadingPairs>
  <TitlesOfParts>
    <vt:vector size="96" baseType="lpstr">
      <vt:lpstr>SimSun</vt:lpstr>
      <vt:lpstr>SimSun</vt:lpstr>
      <vt:lpstr>Arial</vt:lpstr>
      <vt:lpstr>Arial Narrow</vt:lpstr>
      <vt:lpstr>Book Antiqua</vt:lpstr>
      <vt:lpstr>Bradley Hand ITC</vt:lpstr>
      <vt:lpstr>Calibri</vt:lpstr>
      <vt:lpstr>Courier New</vt:lpstr>
      <vt:lpstr>GreekC</vt:lpstr>
      <vt:lpstr>Lucida Sans</vt:lpstr>
      <vt:lpstr>Roboto</vt:lpstr>
      <vt:lpstr>Symbol</vt:lpstr>
      <vt:lpstr>Times New Roman</vt:lpstr>
      <vt:lpstr>Wingdings 2</vt:lpstr>
      <vt:lpstr>Technique</vt:lpstr>
      <vt:lpstr>Equation</vt:lpstr>
      <vt:lpstr>Équation</vt:lpstr>
      <vt:lpstr>Présentation PowerPoint</vt:lpstr>
      <vt:lpstr>Présentation PowerPoint</vt:lpstr>
      <vt:lpstr>Présentation PowerPoint</vt:lpstr>
      <vt:lpstr>Présentation PowerPoint</vt:lpstr>
      <vt:lpstr>Présentation PowerPoint</vt:lpstr>
      <vt:lpstr>COMMANDE DES MACHINES ELECTRIQUES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UTM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DRIVES</dc:title>
  <dc:creator>NikR</dc:creator>
  <cp:lastModifiedBy>DELL</cp:lastModifiedBy>
  <cp:revision>369</cp:revision>
  <dcterms:created xsi:type="dcterms:W3CDTF">2008-07-09T14:18:21Z</dcterms:created>
  <dcterms:modified xsi:type="dcterms:W3CDTF">2025-09-30T22:54:56Z</dcterms:modified>
</cp:coreProperties>
</file>