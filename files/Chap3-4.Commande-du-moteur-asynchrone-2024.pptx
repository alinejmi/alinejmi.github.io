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27"/>
  </p:notesMasterIdLst>
  <p:sldIdLst>
    <p:sldId id="388" r:id="rId2"/>
    <p:sldId id="389" r:id="rId3"/>
    <p:sldId id="390" r:id="rId4"/>
    <p:sldId id="391" r:id="rId5"/>
    <p:sldId id="392" r:id="rId6"/>
    <p:sldId id="393" r:id="rId7"/>
    <p:sldId id="395" r:id="rId8"/>
    <p:sldId id="396" r:id="rId9"/>
    <p:sldId id="397" r:id="rId10"/>
    <p:sldId id="398" r:id="rId11"/>
    <p:sldId id="399" r:id="rId12"/>
    <p:sldId id="400" r:id="rId13"/>
    <p:sldId id="401" r:id="rId14"/>
    <p:sldId id="402" r:id="rId15"/>
    <p:sldId id="403" r:id="rId16"/>
    <p:sldId id="405" r:id="rId17"/>
    <p:sldId id="406" r:id="rId18"/>
    <p:sldId id="407" r:id="rId19"/>
    <p:sldId id="408" r:id="rId20"/>
    <p:sldId id="409" r:id="rId21"/>
    <p:sldId id="410" r:id="rId22"/>
    <p:sldId id="411" r:id="rId23"/>
    <p:sldId id="412" r:id="rId24"/>
    <p:sldId id="413" r:id="rId25"/>
    <p:sldId id="414" r:id="rId2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99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45" autoAdjust="0"/>
    <p:restoredTop sz="94667" autoAdjust="0"/>
  </p:normalViewPr>
  <p:slideViewPr>
    <p:cSldViewPr>
      <p:cViewPr varScale="1">
        <p:scale>
          <a:sx n="65" d="100"/>
          <a:sy n="65" d="100"/>
        </p:scale>
        <p:origin x="762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510"/>
    </p:cViewPr>
  </p:outlineViewPr>
  <p:notesTextViewPr>
    <p:cViewPr>
      <p:scale>
        <a:sx n="100" d="100"/>
        <a:sy n="100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image" Target="../media/image10.wmf"/><Relationship Id="rId7" Type="http://schemas.openxmlformats.org/officeDocument/2006/relationships/image" Target="../media/image14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6" Type="http://schemas.openxmlformats.org/officeDocument/2006/relationships/image" Target="../media/image13.wmf"/><Relationship Id="rId5" Type="http://schemas.openxmlformats.org/officeDocument/2006/relationships/image" Target="../media/image12.wmf"/><Relationship Id="rId4" Type="http://schemas.openxmlformats.org/officeDocument/2006/relationships/image" Target="../media/image11.wmf"/><Relationship Id="rId9" Type="http://schemas.openxmlformats.org/officeDocument/2006/relationships/image" Target="../media/image16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image" Target="../media/image18.wmf"/><Relationship Id="rId7" Type="http://schemas.openxmlformats.org/officeDocument/2006/relationships/image" Target="../media/image20.wmf"/><Relationship Id="rId2" Type="http://schemas.openxmlformats.org/officeDocument/2006/relationships/image" Target="../media/image11.wmf"/><Relationship Id="rId1" Type="http://schemas.openxmlformats.org/officeDocument/2006/relationships/image" Target="../media/image17.wmf"/><Relationship Id="rId6" Type="http://schemas.openxmlformats.org/officeDocument/2006/relationships/image" Target="../media/image19.wmf"/><Relationship Id="rId5" Type="http://schemas.openxmlformats.org/officeDocument/2006/relationships/image" Target="../media/image10.wmf"/><Relationship Id="rId4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4" Type="http://schemas.openxmlformats.org/officeDocument/2006/relationships/image" Target="../media/image25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6.wmf"/><Relationship Id="rId6" Type="http://schemas.openxmlformats.org/officeDocument/2006/relationships/image" Target="../media/image33.wmf"/><Relationship Id="rId5" Type="http://schemas.openxmlformats.org/officeDocument/2006/relationships/image" Target="../media/image32.wmf"/><Relationship Id="rId4" Type="http://schemas.openxmlformats.org/officeDocument/2006/relationships/image" Target="../media/image31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4.wmf"/><Relationship Id="rId1" Type="http://schemas.openxmlformats.org/officeDocument/2006/relationships/image" Target="../media/image31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Relationship Id="rId5" Type="http://schemas.openxmlformats.org/officeDocument/2006/relationships/image" Target="../media/image41.wmf"/><Relationship Id="rId4" Type="http://schemas.openxmlformats.org/officeDocument/2006/relationships/image" Target="../media/image40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wmf"/><Relationship Id="rId1" Type="http://schemas.openxmlformats.org/officeDocument/2006/relationships/image" Target="../media/image35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3" Type="http://schemas.openxmlformats.org/officeDocument/2006/relationships/image" Target="../media/image46.wmf"/><Relationship Id="rId7" Type="http://schemas.openxmlformats.org/officeDocument/2006/relationships/image" Target="../media/image50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Relationship Id="rId6" Type="http://schemas.openxmlformats.org/officeDocument/2006/relationships/image" Target="../media/image49.wmf"/><Relationship Id="rId5" Type="http://schemas.openxmlformats.org/officeDocument/2006/relationships/image" Target="../media/image48.wmf"/><Relationship Id="rId4" Type="http://schemas.openxmlformats.org/officeDocument/2006/relationships/image" Target="../media/image47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3" Type="http://schemas.openxmlformats.org/officeDocument/2006/relationships/image" Target="../media/image54.wmf"/><Relationship Id="rId7" Type="http://schemas.openxmlformats.org/officeDocument/2006/relationships/image" Target="../media/image58.wmf"/><Relationship Id="rId2" Type="http://schemas.openxmlformats.org/officeDocument/2006/relationships/image" Target="../media/image53.wmf"/><Relationship Id="rId1" Type="http://schemas.openxmlformats.org/officeDocument/2006/relationships/image" Target="../media/image52.wmf"/><Relationship Id="rId6" Type="http://schemas.openxmlformats.org/officeDocument/2006/relationships/image" Target="../media/image57.wmf"/><Relationship Id="rId5" Type="http://schemas.openxmlformats.org/officeDocument/2006/relationships/image" Target="../media/image56.wmf"/><Relationship Id="rId4" Type="http://schemas.openxmlformats.org/officeDocument/2006/relationships/image" Target="../media/image55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3" Type="http://schemas.openxmlformats.org/officeDocument/2006/relationships/image" Target="../media/image57.wmf"/><Relationship Id="rId7" Type="http://schemas.openxmlformats.org/officeDocument/2006/relationships/image" Target="../media/image58.wmf"/><Relationship Id="rId2" Type="http://schemas.openxmlformats.org/officeDocument/2006/relationships/image" Target="../media/image56.wmf"/><Relationship Id="rId1" Type="http://schemas.openxmlformats.org/officeDocument/2006/relationships/image" Target="../media/image54.wmf"/><Relationship Id="rId6" Type="http://schemas.openxmlformats.org/officeDocument/2006/relationships/image" Target="../media/image55.wmf"/><Relationship Id="rId11" Type="http://schemas.openxmlformats.org/officeDocument/2006/relationships/image" Target="../media/image62.wmf"/><Relationship Id="rId5" Type="http://schemas.openxmlformats.org/officeDocument/2006/relationships/image" Target="../media/image53.wmf"/><Relationship Id="rId10" Type="http://schemas.openxmlformats.org/officeDocument/2006/relationships/image" Target="../media/image61.wmf"/><Relationship Id="rId4" Type="http://schemas.openxmlformats.org/officeDocument/2006/relationships/image" Target="../media/image52.wmf"/><Relationship Id="rId9" Type="http://schemas.openxmlformats.org/officeDocument/2006/relationships/image" Target="../media/image60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image" Target="../media/image64.wmf"/><Relationship Id="rId1" Type="http://schemas.openxmlformats.org/officeDocument/2006/relationships/image" Target="../media/image63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2" Type="http://schemas.openxmlformats.org/officeDocument/2006/relationships/image" Target="../media/image67.wmf"/><Relationship Id="rId1" Type="http://schemas.openxmlformats.org/officeDocument/2006/relationships/image" Target="../media/image66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70.wmf"/><Relationship Id="rId1" Type="http://schemas.openxmlformats.org/officeDocument/2006/relationships/image" Target="../media/image69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7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D5A34F86-553D-40EA-817E-91AD903857DE}" type="slidenum">
              <a:rPr lang="en-US" altLang="fr-FR"/>
              <a:pPr>
                <a:defRPr/>
              </a:pPr>
              <a:t>‹#›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8216506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A41FC02-04DF-42F1-9033-E77921567184}" type="slidenum">
              <a:rPr lang="en-US" altLang="fr-FR"/>
              <a:pPr>
                <a:spcBef>
                  <a:spcPct val="0"/>
                </a:spcBef>
              </a:pPr>
              <a:t>1</a:t>
            </a:fld>
            <a:endParaRPr lang="en-US" altLang="fr-FR"/>
          </a:p>
        </p:txBody>
      </p:sp>
      <p:sp>
        <p:nvSpPr>
          <p:cNvPr id="234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4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39533368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8A0C674-0CF2-4857-97F2-BE1B8D074C71}" type="slidenum">
              <a:rPr lang="en-US" altLang="fr-FR"/>
              <a:pPr>
                <a:spcBef>
                  <a:spcPct val="0"/>
                </a:spcBef>
              </a:pPr>
              <a:t>2</a:t>
            </a:fld>
            <a:endParaRPr lang="en-US" altLang="fr-FR"/>
          </a:p>
        </p:txBody>
      </p:sp>
      <p:sp>
        <p:nvSpPr>
          <p:cNvPr id="236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6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26096063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C7A961F-9C8C-4807-BDB3-5985992D0469}" type="slidenum">
              <a:rPr lang="en-US" altLang="fr-FR"/>
              <a:pPr>
                <a:spcBef>
                  <a:spcPct val="0"/>
                </a:spcBef>
              </a:pPr>
              <a:t>3</a:t>
            </a:fld>
            <a:endParaRPr lang="en-US" altLang="fr-FR"/>
          </a:p>
        </p:txBody>
      </p:sp>
      <p:sp>
        <p:nvSpPr>
          <p:cNvPr id="238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8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11053631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DCDA4BA-BB7E-416F-9246-BCE1B1BDE5A8}" type="slidenum">
              <a:rPr lang="en-US" altLang="fr-FR"/>
              <a:pPr>
                <a:spcBef>
                  <a:spcPct val="0"/>
                </a:spcBef>
              </a:pPr>
              <a:t>4</a:t>
            </a:fld>
            <a:endParaRPr lang="en-US" altLang="fr-FR"/>
          </a:p>
        </p:txBody>
      </p:sp>
      <p:sp>
        <p:nvSpPr>
          <p:cNvPr id="240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0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2231095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A5C8460-D763-4CD6-BA68-43F294425786}" type="slidenum">
              <a:rPr lang="en-US" altLang="fr-FR"/>
              <a:pPr>
                <a:spcBef>
                  <a:spcPct val="0"/>
                </a:spcBef>
              </a:pPr>
              <a:t>5</a:t>
            </a:fld>
            <a:endParaRPr lang="en-US" altLang="fr-FR"/>
          </a:p>
        </p:txBody>
      </p:sp>
      <p:sp>
        <p:nvSpPr>
          <p:cNvPr id="242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2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3111893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CBF7B10-78AC-48F3-988F-721DF06970FF}" type="slidenum">
              <a:rPr lang="en-US" altLang="fr-FR"/>
              <a:pPr>
                <a:spcBef>
                  <a:spcPct val="0"/>
                </a:spcBef>
              </a:pPr>
              <a:t>6</a:t>
            </a:fld>
            <a:endParaRPr lang="en-US" altLang="fr-FR"/>
          </a:p>
        </p:txBody>
      </p:sp>
      <p:sp>
        <p:nvSpPr>
          <p:cNvPr id="244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4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6367035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B1B175C-747B-40FA-B652-5FD6BA4248C9}" type="slidenum">
              <a:rPr lang="en-US" altLang="fr-FR"/>
              <a:pPr>
                <a:spcBef>
                  <a:spcPct val="0"/>
                </a:spcBef>
              </a:pPr>
              <a:t>7</a:t>
            </a:fld>
            <a:endParaRPr lang="en-US" altLang="fr-FR"/>
          </a:p>
        </p:txBody>
      </p:sp>
      <p:sp>
        <p:nvSpPr>
          <p:cNvPr id="246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6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32359711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F754375-3A97-4B16-B050-61B17C3C3027}" type="slidenum">
              <a:rPr lang="en-US" altLang="fr-FR"/>
              <a:pPr>
                <a:spcBef>
                  <a:spcPct val="0"/>
                </a:spcBef>
              </a:pPr>
              <a:t>8</a:t>
            </a:fld>
            <a:endParaRPr lang="en-US" altLang="fr-FR"/>
          </a:p>
        </p:txBody>
      </p:sp>
      <p:sp>
        <p:nvSpPr>
          <p:cNvPr id="248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8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25041541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73BB452-91BE-427A-BA42-220015006723}" type="slidenum">
              <a:rPr lang="en-US" altLang="fr-FR"/>
              <a:pPr>
                <a:spcBef>
                  <a:spcPct val="0"/>
                </a:spcBef>
              </a:pPr>
              <a:t>9</a:t>
            </a:fld>
            <a:endParaRPr lang="en-US" altLang="fr-FR"/>
          </a:p>
        </p:txBody>
      </p:sp>
      <p:sp>
        <p:nvSpPr>
          <p:cNvPr id="250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0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32159545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DD253E5-A392-4A35-9A9F-4B2C89658C7B}" type="slidenum">
              <a:rPr lang="en-US" altLang="fr-FR"/>
              <a:pPr>
                <a:spcBef>
                  <a:spcPct val="0"/>
                </a:spcBef>
              </a:pPr>
              <a:t>10</a:t>
            </a:fld>
            <a:endParaRPr lang="en-US" altLang="fr-FR"/>
          </a:p>
        </p:txBody>
      </p:sp>
      <p:sp>
        <p:nvSpPr>
          <p:cNvPr id="252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29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24362187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A5DAEEC-F615-4FDC-9161-F7C14FAB7997}" type="slidenum">
              <a:rPr lang="en-US" altLang="fr-FR"/>
              <a:pPr>
                <a:spcBef>
                  <a:spcPct val="0"/>
                </a:spcBef>
              </a:pPr>
              <a:t>11</a:t>
            </a:fld>
            <a:endParaRPr lang="en-US" altLang="fr-FR"/>
          </a:p>
        </p:txBody>
      </p:sp>
      <p:sp>
        <p:nvSpPr>
          <p:cNvPr id="254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49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25865128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6A56757-55B6-4F7F-BF95-9CF758EEB473}" type="slidenum">
              <a:rPr lang="en-US" altLang="fr-FR"/>
              <a:pPr>
                <a:spcBef>
                  <a:spcPct val="0"/>
                </a:spcBef>
              </a:pPr>
              <a:t>12</a:t>
            </a:fld>
            <a:endParaRPr lang="en-US" altLang="fr-FR"/>
          </a:p>
        </p:txBody>
      </p:sp>
      <p:sp>
        <p:nvSpPr>
          <p:cNvPr id="257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70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7826723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5FFFE66-BF75-4CCF-B391-A768272033EA}" type="slidenum">
              <a:rPr lang="en-US" altLang="fr-FR"/>
              <a:pPr>
                <a:spcBef>
                  <a:spcPct val="0"/>
                </a:spcBef>
              </a:pPr>
              <a:t>13</a:t>
            </a:fld>
            <a:endParaRPr lang="en-US" altLang="fr-FR"/>
          </a:p>
        </p:txBody>
      </p:sp>
      <p:sp>
        <p:nvSpPr>
          <p:cNvPr id="259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90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7939681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50D6010-4B1A-4B92-9459-A41BFB3DD8FA}" type="slidenum">
              <a:rPr lang="en-US" altLang="fr-FR"/>
              <a:pPr>
                <a:spcBef>
                  <a:spcPct val="0"/>
                </a:spcBef>
              </a:pPr>
              <a:t>14</a:t>
            </a:fld>
            <a:endParaRPr lang="en-US" altLang="fr-FR"/>
          </a:p>
        </p:txBody>
      </p:sp>
      <p:sp>
        <p:nvSpPr>
          <p:cNvPr id="261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1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40737143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22385C2-9AEE-4AD5-B4FE-08F5138AE9E5}" type="slidenum">
              <a:rPr lang="en-US" altLang="fr-FR"/>
              <a:pPr>
                <a:spcBef>
                  <a:spcPct val="0"/>
                </a:spcBef>
              </a:pPr>
              <a:t>15</a:t>
            </a:fld>
            <a:endParaRPr lang="en-US" altLang="fr-FR"/>
          </a:p>
        </p:txBody>
      </p:sp>
      <p:sp>
        <p:nvSpPr>
          <p:cNvPr id="263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3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13148202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FCF7C6D-35D4-4A3E-A248-F2BC6105A5E1}" type="slidenum">
              <a:rPr lang="en-US" altLang="fr-FR"/>
              <a:pPr>
                <a:spcBef>
                  <a:spcPct val="0"/>
                </a:spcBef>
              </a:pPr>
              <a:t>16</a:t>
            </a:fld>
            <a:endParaRPr lang="en-US" altLang="fr-FR"/>
          </a:p>
        </p:txBody>
      </p:sp>
      <p:sp>
        <p:nvSpPr>
          <p:cNvPr id="265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5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16155070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6B1F5AC-2DBF-4F79-9E3C-273E643EF8CE}" type="slidenum">
              <a:rPr lang="en-US" altLang="fr-FR"/>
              <a:pPr>
                <a:spcBef>
                  <a:spcPct val="0"/>
                </a:spcBef>
              </a:pPr>
              <a:t>17</a:t>
            </a:fld>
            <a:endParaRPr lang="en-US" altLang="fr-FR"/>
          </a:p>
        </p:txBody>
      </p:sp>
      <p:sp>
        <p:nvSpPr>
          <p:cNvPr id="267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7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12278289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E35008D-A052-4FEB-9032-731F293D2422}" type="slidenum">
              <a:rPr lang="en-US" altLang="fr-FR"/>
              <a:pPr>
                <a:spcBef>
                  <a:spcPct val="0"/>
                </a:spcBef>
              </a:pPr>
              <a:t>18</a:t>
            </a:fld>
            <a:endParaRPr lang="en-US" altLang="fr-FR"/>
          </a:p>
        </p:txBody>
      </p:sp>
      <p:sp>
        <p:nvSpPr>
          <p:cNvPr id="269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36327496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F196031-4B25-4AA9-B428-CE64C911EBED}" type="slidenum">
              <a:rPr lang="en-US" altLang="fr-FR"/>
              <a:pPr>
                <a:spcBef>
                  <a:spcPct val="0"/>
                </a:spcBef>
              </a:pPr>
              <a:t>19</a:t>
            </a:fld>
            <a:endParaRPr lang="en-US" altLang="fr-FR"/>
          </a:p>
        </p:txBody>
      </p:sp>
      <p:sp>
        <p:nvSpPr>
          <p:cNvPr id="271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1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36662783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D2B3BF2-9396-474D-B1DA-6BBCEEB3D0DC}" type="slidenum">
              <a:rPr lang="en-US" altLang="fr-FR"/>
              <a:pPr>
                <a:spcBef>
                  <a:spcPct val="0"/>
                </a:spcBef>
              </a:pPr>
              <a:t>20</a:t>
            </a:fld>
            <a:endParaRPr lang="en-US" altLang="fr-FR"/>
          </a:p>
        </p:txBody>
      </p:sp>
      <p:sp>
        <p:nvSpPr>
          <p:cNvPr id="273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3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23571772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3BAD2B8-74D4-4233-9BDE-D97A3790BD61}" type="slidenum">
              <a:rPr lang="en-US" altLang="fr-FR"/>
              <a:pPr>
                <a:spcBef>
                  <a:spcPct val="0"/>
                </a:spcBef>
              </a:pPr>
              <a:t>21</a:t>
            </a:fld>
            <a:endParaRPr lang="en-US" altLang="fr-FR"/>
          </a:p>
        </p:txBody>
      </p:sp>
      <p:sp>
        <p:nvSpPr>
          <p:cNvPr id="275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5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2670096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A51265E-EB22-4641-9AC5-5854BBEBAE83}" type="slidenum">
              <a:rPr lang="en-US" altLang="fr-FR"/>
              <a:pPr>
                <a:spcBef>
                  <a:spcPct val="0"/>
                </a:spcBef>
              </a:pPr>
              <a:t>22</a:t>
            </a:fld>
            <a:endParaRPr lang="en-US" altLang="fr-FR"/>
          </a:p>
        </p:txBody>
      </p:sp>
      <p:sp>
        <p:nvSpPr>
          <p:cNvPr id="277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7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506570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0C80C18-2811-4423-B89C-DF562F109663}" type="slidenum">
              <a:rPr lang="en-US" altLang="fr-FR"/>
              <a:pPr>
                <a:spcBef>
                  <a:spcPct val="0"/>
                </a:spcBef>
              </a:pPr>
              <a:t>23</a:t>
            </a:fld>
            <a:endParaRPr lang="en-US" altLang="fr-FR"/>
          </a:p>
        </p:txBody>
      </p:sp>
      <p:sp>
        <p:nvSpPr>
          <p:cNvPr id="279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9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25007292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53C5B65-E9C0-4892-A7A8-8123F5564081}" type="slidenum">
              <a:rPr lang="en-US" altLang="fr-FR"/>
              <a:pPr>
                <a:spcBef>
                  <a:spcPct val="0"/>
                </a:spcBef>
              </a:pPr>
              <a:t>24</a:t>
            </a:fld>
            <a:endParaRPr lang="en-US" altLang="fr-FR"/>
          </a:p>
        </p:txBody>
      </p:sp>
      <p:sp>
        <p:nvSpPr>
          <p:cNvPr id="281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1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306587822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C2FBF46-A74B-4BB0-91BE-DB55358908F6}" type="slidenum">
              <a:rPr lang="en-US" altLang="fr-FR"/>
              <a:pPr>
                <a:spcBef>
                  <a:spcPct val="0"/>
                </a:spcBef>
              </a:pPr>
              <a:t>25</a:t>
            </a:fld>
            <a:endParaRPr lang="en-US" altLang="fr-FR"/>
          </a:p>
        </p:txBody>
      </p:sp>
      <p:sp>
        <p:nvSpPr>
          <p:cNvPr id="283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3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3489158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e libre 3"/>
          <p:cNvSpPr>
            <a:spLocks/>
          </p:cNvSpPr>
          <p:nvPr/>
        </p:nvSpPr>
        <p:spPr bwMode="auto">
          <a:xfrm>
            <a:off x="0" y="4751388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5" name="Forme libre 4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9" name="Titre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17" name="Sous-titre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fr-FR" smtClean="0"/>
              <a:t>Cliquez pour modifier le style des sous-titres du masque</a:t>
            </a:r>
            <a:endParaRPr lang="en-US"/>
          </a:p>
        </p:txBody>
      </p:sp>
      <p:sp>
        <p:nvSpPr>
          <p:cNvPr id="6" name="Espace réservé de la date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Espace réservé du pied de page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  <p:sp>
        <p:nvSpPr>
          <p:cNvPr id="8" name="Espace réservé du numéro de diapositiv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E6F1B31-C1BD-460B-8DFE-62BF6FFF9229}" type="slidenum">
              <a:rPr lang="en-US" altLang="fr-FR"/>
              <a:pPr>
                <a:defRPr/>
              </a:pPr>
              <a:t>‹#›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423244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Espace réservé du pied de page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  <p:sp>
        <p:nvSpPr>
          <p:cNvPr id="6" name="Espace réservé du numéro de diapositive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10157E-CE96-41DC-9694-A2D66CED317E}" type="slidenum">
              <a:rPr lang="en-US" altLang="fr-FR"/>
              <a:pPr>
                <a:defRPr/>
              </a:pPr>
              <a:t>‹#›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4135304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e libre 3"/>
          <p:cNvSpPr>
            <a:spLocks/>
          </p:cNvSpPr>
          <p:nvPr/>
        </p:nvSpPr>
        <p:spPr bwMode="auto">
          <a:xfrm>
            <a:off x="0" y="4751388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5" name="Forme libre 4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  <p:sp>
        <p:nvSpPr>
          <p:cNvPr id="8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AEE3183-C548-4CA9-B721-B4E01355CD34}" type="slidenum">
              <a:rPr lang="en-US" altLang="fr-FR"/>
              <a:pPr>
                <a:defRPr/>
              </a:pPr>
              <a:t>‹#›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2965889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e la date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Espace réservé du pied de page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  <p:sp>
        <p:nvSpPr>
          <p:cNvPr id="7" name="Espace réservé du numéro de diapositive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74F6C-95CE-4D72-ADAB-C675903B11C1}" type="slidenum">
              <a:rPr lang="en-US" altLang="fr-FR"/>
              <a:pPr>
                <a:defRPr/>
              </a:pPr>
              <a:t>‹#›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102982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Espace réservé de la date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Espace réservé du pied de page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  <p:sp>
        <p:nvSpPr>
          <p:cNvPr id="9" name="Espace réservé du numéro de diapositive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15275-0BDA-4653-9575-80C8EDC29E66}" type="slidenum">
              <a:rPr lang="en-US" altLang="fr-FR"/>
              <a:pPr>
                <a:defRPr/>
              </a:pPr>
              <a:t>‹#›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1065746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/>
          <a:lstStyle>
            <a:lvl1pPr algn="l">
              <a:defRPr sz="4600"/>
            </a:lvl1pPr>
          </a:lstStyle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3" name="Espace réservé de la date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Espace réservé du pied de page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  <p:sp>
        <p:nvSpPr>
          <p:cNvPr id="5" name="Espace réservé du numéro de diapositive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9BAC0D-3F57-4931-B53E-46D163BB20D6}" type="slidenum">
              <a:rPr lang="en-US" altLang="fr-FR"/>
              <a:pPr>
                <a:defRPr/>
              </a:pPr>
              <a:t>‹#›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1520220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Espace réservé du pied de page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  <p:sp>
        <p:nvSpPr>
          <p:cNvPr id="4" name="Espace réservé du numéro de diapositive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B1655F-D14C-44F4-9E47-7A6E41570238}" type="slidenum">
              <a:rPr lang="en-US" altLang="fr-FR"/>
              <a:pPr>
                <a:defRPr/>
              </a:pPr>
              <a:t>‹#›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1872894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8156575" y="6421438"/>
            <a:ext cx="762000" cy="3651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5EBC5CA-A7C6-4DEA-97FB-A1B526FD0A24}" type="slidenum">
              <a:rPr lang="en-US" altLang="fr-FR"/>
              <a:pPr>
                <a:defRPr/>
              </a:pPr>
              <a:t>‹#›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1861975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fr-FR" noProof="0" smtClean="0"/>
              <a:t>Cliquez sur l'icône pour ajouter une image</a:t>
            </a:r>
            <a:endParaRPr lang="en-US" noProof="0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Espace réservé du pied de page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  <p:sp>
        <p:nvSpPr>
          <p:cNvPr id="7" name="Espace réservé du numéro de diapositive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C0FEC7-5E2D-484F-8B46-3C71F2B4A7DA}" type="slidenum">
              <a:rPr lang="en-US" altLang="fr-FR"/>
              <a:pPr>
                <a:defRPr/>
              </a:pPr>
              <a:t>‹#›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1184704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Espace réservé du pied de page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  <p:sp>
        <p:nvSpPr>
          <p:cNvPr id="6" name="Espace réservé du numéro de diapositive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D103FC-4823-4A47-9251-EAA19161FDAB}" type="slidenum">
              <a:rPr lang="en-US" altLang="fr-FR"/>
              <a:pPr>
                <a:defRPr/>
              </a:pPr>
              <a:t>‹#›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460132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Espace réservé du pied de page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  <p:sp>
        <p:nvSpPr>
          <p:cNvPr id="6" name="Espace réservé du numéro de diapositive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2A23C4-EB8F-499C-BE44-B38F6F899CC3}" type="slidenum">
              <a:rPr lang="en-US" altLang="fr-FR"/>
              <a:pPr>
                <a:defRPr/>
              </a:pPr>
              <a:t>‹#›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26006642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re. Contenu et 2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e la date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Espace réservé du pied de page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  <p:sp>
        <p:nvSpPr>
          <p:cNvPr id="8" name="Espace réservé du numéro de diapositive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2668B09-7B0E-4F22-9182-0273FBD6D0D3}" type="slidenum">
              <a:rPr lang="en-US" altLang="fr-FR"/>
              <a:pPr>
                <a:defRPr/>
              </a:pPr>
              <a:t>‹#›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295963145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e libre 11"/>
          <p:cNvSpPr>
            <a:spLocks/>
          </p:cNvSpPr>
          <p:nvPr/>
        </p:nvSpPr>
        <p:spPr bwMode="auto">
          <a:xfrm>
            <a:off x="0" y="4751388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6" name="Forme libre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28" name="Espace réservé du titre 8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467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 style du titre</a:t>
            </a:r>
            <a:endParaRPr lang="en-US" altLang="fr-FR" smtClean="0"/>
          </a:p>
        </p:txBody>
      </p:sp>
      <p:sp>
        <p:nvSpPr>
          <p:cNvPr id="1029" name="Espace réservé du texte 29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7467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les styles du texte du masque</a:t>
            </a:r>
          </a:p>
          <a:p>
            <a:pPr lvl="1"/>
            <a:r>
              <a:rPr lang="fr-FR" altLang="fr-FR" smtClean="0"/>
              <a:t>Deuxième niveau</a:t>
            </a:r>
          </a:p>
          <a:p>
            <a:pPr lvl="2"/>
            <a:r>
              <a:rPr lang="fr-FR" altLang="fr-FR" smtClean="0"/>
              <a:t>Troisième niveau</a:t>
            </a:r>
          </a:p>
          <a:p>
            <a:pPr lvl="3"/>
            <a:r>
              <a:rPr lang="fr-FR" altLang="fr-FR" smtClean="0"/>
              <a:t>Quatrième niveau</a:t>
            </a:r>
          </a:p>
          <a:p>
            <a:pPr lvl="4"/>
            <a:r>
              <a:rPr lang="fr-FR" altLang="fr-FR" smtClean="0"/>
              <a:t>Cinquième niveau</a:t>
            </a:r>
            <a:endParaRPr lang="en-US" altLang="fr-FR" smtClean="0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2"/>
          </p:nvPr>
        </p:nvSpPr>
        <p:spPr>
          <a:xfrm>
            <a:off x="457200" y="6421438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" name="Espace réservé du pied de page 21"/>
          <p:cNvSpPr>
            <a:spLocks noGrp="1"/>
          </p:cNvSpPr>
          <p:nvPr>
            <p:ph type="ftr" sz="quarter" idx="3"/>
          </p:nvPr>
        </p:nvSpPr>
        <p:spPr>
          <a:xfrm>
            <a:off x="3124200" y="6421438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 smtClean="0">
                <a:solidFill>
                  <a:schemeClr val="tx2">
                    <a:shade val="50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  <p:sp>
        <p:nvSpPr>
          <p:cNvPr id="18" name="Espace réservé du numéro de diapositive 17"/>
          <p:cNvSpPr>
            <a:spLocks noGrp="1"/>
          </p:cNvSpPr>
          <p:nvPr>
            <p:ph type="sldNum" sz="quarter" idx="4"/>
          </p:nvPr>
        </p:nvSpPr>
        <p:spPr>
          <a:xfrm>
            <a:off x="8153400" y="6421438"/>
            <a:ext cx="762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 smtClean="0">
                <a:solidFill>
                  <a:srgbClr val="29292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8190C74C-B9D8-47DD-A058-8CC26F08CC7D}" type="slidenum">
              <a:rPr lang="en-US" altLang="fr-FR"/>
              <a:pPr>
                <a:defRPr/>
              </a:pPr>
              <a:t>‹#›</a:t>
            </a:fld>
            <a:endParaRPr lang="en-US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91" r:id="rId1"/>
    <p:sldLayoutId id="2147484183" r:id="rId2"/>
    <p:sldLayoutId id="2147484192" r:id="rId3"/>
    <p:sldLayoutId id="2147484184" r:id="rId4"/>
    <p:sldLayoutId id="2147484185" r:id="rId5"/>
    <p:sldLayoutId id="2147484186" r:id="rId6"/>
    <p:sldLayoutId id="2147484187" r:id="rId7"/>
    <p:sldLayoutId id="2147484193" r:id="rId8"/>
    <p:sldLayoutId id="2147484188" r:id="rId9"/>
    <p:sldLayoutId id="2147484189" r:id="rId10"/>
    <p:sldLayoutId id="2147484190" r:id="rId11"/>
    <p:sldLayoutId id="2147484197" r:id="rId1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Lucida Sans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Lucida Sans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Lucida Sans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Lucida Sans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Lucida Sans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Lucida Sans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Lucida Sans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Lucida Sans" pitchFamily="34" charset="0"/>
        </a:defRPr>
      </a:lvl9pPr>
    </p:titleStyle>
    <p:bodyStyle>
      <a:lvl1pPr marL="419100" indent="-3825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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1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90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4888" indent="-2555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Arial" panose="020B0604020202020204" pitchFamily="34" charset="0"/>
        <a:buChar char="○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79525" indent="-236538" algn="l" rtl="0" eaLnBrk="0" fontAlgn="base" hangingPunct="0">
        <a:spcBef>
          <a:spcPct val="20000"/>
        </a:spcBef>
        <a:spcAft>
          <a:spcPct val="0"/>
        </a:spcAft>
        <a:buClr>
          <a:srgbClr val="8D89A4"/>
        </a:buClr>
        <a:buSzPct val="9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89075" indent="-182563" algn="l" rtl="0" eaLnBrk="0" fontAlgn="base" hangingPunct="0">
        <a:spcBef>
          <a:spcPct val="20000"/>
        </a:spcBef>
        <a:spcAft>
          <a:spcPct val="0"/>
        </a:spcAft>
        <a:buClr>
          <a:srgbClr val="748560"/>
        </a:buClr>
        <a:buSzPct val="100000"/>
        <a:buFont typeface="Arial" panose="020B0604020202020204" pitchFamily="34" charset="0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4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5.wmf"/><Relationship Id="rId4" Type="http://schemas.openxmlformats.org/officeDocument/2006/relationships/oleObject" Target="../embeddings/oleObject4.bin"/><Relationship Id="rId9" Type="http://schemas.openxmlformats.org/officeDocument/2006/relationships/image" Target="../media/image7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13" Type="http://schemas.openxmlformats.org/officeDocument/2006/relationships/image" Target="../media/image12.wmf"/><Relationship Id="rId18" Type="http://schemas.openxmlformats.org/officeDocument/2006/relationships/oleObject" Target="../embeddings/oleObject14.bin"/><Relationship Id="rId3" Type="http://schemas.openxmlformats.org/officeDocument/2006/relationships/notesSlide" Target="../notesSlides/notesSlide7.xml"/><Relationship Id="rId21" Type="http://schemas.openxmlformats.org/officeDocument/2006/relationships/image" Target="../media/image16.wmf"/><Relationship Id="rId7" Type="http://schemas.openxmlformats.org/officeDocument/2006/relationships/image" Target="../media/image9.wmf"/><Relationship Id="rId12" Type="http://schemas.openxmlformats.org/officeDocument/2006/relationships/oleObject" Target="../embeddings/oleObject11.bin"/><Relationship Id="rId17" Type="http://schemas.openxmlformats.org/officeDocument/2006/relationships/image" Target="../media/image14.wmf"/><Relationship Id="rId2" Type="http://schemas.openxmlformats.org/officeDocument/2006/relationships/slideLayout" Target="../slideLayouts/slideLayout4.xml"/><Relationship Id="rId16" Type="http://schemas.openxmlformats.org/officeDocument/2006/relationships/oleObject" Target="../embeddings/oleObject13.bin"/><Relationship Id="rId20" Type="http://schemas.openxmlformats.org/officeDocument/2006/relationships/oleObject" Target="../embeddings/oleObject15.bin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1.wmf"/><Relationship Id="rId5" Type="http://schemas.openxmlformats.org/officeDocument/2006/relationships/image" Target="../media/image8.wmf"/><Relationship Id="rId15" Type="http://schemas.openxmlformats.org/officeDocument/2006/relationships/image" Target="../media/image13.wmf"/><Relationship Id="rId10" Type="http://schemas.openxmlformats.org/officeDocument/2006/relationships/oleObject" Target="../embeddings/oleObject10.bin"/><Relationship Id="rId19" Type="http://schemas.openxmlformats.org/officeDocument/2006/relationships/image" Target="../media/image15.wmf"/><Relationship Id="rId4" Type="http://schemas.openxmlformats.org/officeDocument/2006/relationships/oleObject" Target="../embeddings/oleObject7.bin"/><Relationship Id="rId9" Type="http://schemas.openxmlformats.org/officeDocument/2006/relationships/image" Target="../media/image10.wmf"/><Relationship Id="rId14" Type="http://schemas.openxmlformats.org/officeDocument/2006/relationships/oleObject" Target="../embeddings/oleObject12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13" Type="http://schemas.openxmlformats.org/officeDocument/2006/relationships/image" Target="../media/image10.wmf"/><Relationship Id="rId18" Type="http://schemas.openxmlformats.org/officeDocument/2006/relationships/oleObject" Target="../embeddings/oleObject23.bin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1.wmf"/><Relationship Id="rId12" Type="http://schemas.openxmlformats.org/officeDocument/2006/relationships/oleObject" Target="../embeddings/oleObject20.bin"/><Relationship Id="rId17" Type="http://schemas.openxmlformats.org/officeDocument/2006/relationships/image" Target="../media/image20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22.bin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7.bin"/><Relationship Id="rId11" Type="http://schemas.openxmlformats.org/officeDocument/2006/relationships/image" Target="../media/image9.wmf"/><Relationship Id="rId5" Type="http://schemas.openxmlformats.org/officeDocument/2006/relationships/image" Target="../media/image17.wmf"/><Relationship Id="rId15" Type="http://schemas.openxmlformats.org/officeDocument/2006/relationships/image" Target="../media/image19.wmf"/><Relationship Id="rId10" Type="http://schemas.openxmlformats.org/officeDocument/2006/relationships/oleObject" Target="../embeddings/oleObject19.bin"/><Relationship Id="rId19" Type="http://schemas.openxmlformats.org/officeDocument/2006/relationships/image" Target="../media/image21.wmf"/><Relationship Id="rId4" Type="http://schemas.openxmlformats.org/officeDocument/2006/relationships/oleObject" Target="../embeddings/oleObject16.bin"/><Relationship Id="rId9" Type="http://schemas.openxmlformats.org/officeDocument/2006/relationships/image" Target="../media/image18.wmf"/><Relationship Id="rId14" Type="http://schemas.openxmlformats.org/officeDocument/2006/relationships/oleObject" Target="../embeddings/oleObject21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2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25.bin"/><Relationship Id="rId11" Type="http://schemas.openxmlformats.org/officeDocument/2006/relationships/image" Target="../media/image25.wmf"/><Relationship Id="rId5" Type="http://schemas.openxmlformats.org/officeDocument/2006/relationships/image" Target="../media/image22.wmf"/><Relationship Id="rId10" Type="http://schemas.openxmlformats.org/officeDocument/2006/relationships/oleObject" Target="../embeddings/oleObject27.bin"/><Relationship Id="rId4" Type="http://schemas.openxmlformats.org/officeDocument/2006/relationships/oleObject" Target="../embeddings/oleObject24.bin"/><Relationship Id="rId9" Type="http://schemas.openxmlformats.org/officeDocument/2006/relationships/image" Target="../media/image24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.bin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2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29.bin"/><Relationship Id="rId5" Type="http://schemas.openxmlformats.org/officeDocument/2006/relationships/image" Target="../media/image26.wmf"/><Relationship Id="rId4" Type="http://schemas.openxmlformats.org/officeDocument/2006/relationships/oleObject" Target="../embeddings/oleObject28.bin"/><Relationship Id="rId9" Type="http://schemas.openxmlformats.org/officeDocument/2006/relationships/image" Target="../media/image28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13" Type="http://schemas.openxmlformats.org/officeDocument/2006/relationships/image" Target="../media/image32.wmf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29.wmf"/><Relationship Id="rId12" Type="http://schemas.openxmlformats.org/officeDocument/2006/relationships/oleObject" Target="../embeddings/oleObject3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32.bin"/><Relationship Id="rId11" Type="http://schemas.openxmlformats.org/officeDocument/2006/relationships/image" Target="../media/image31.wmf"/><Relationship Id="rId5" Type="http://schemas.openxmlformats.org/officeDocument/2006/relationships/image" Target="../media/image26.wmf"/><Relationship Id="rId15" Type="http://schemas.openxmlformats.org/officeDocument/2006/relationships/image" Target="../media/image33.wmf"/><Relationship Id="rId10" Type="http://schemas.openxmlformats.org/officeDocument/2006/relationships/oleObject" Target="../embeddings/oleObject34.bin"/><Relationship Id="rId4" Type="http://schemas.openxmlformats.org/officeDocument/2006/relationships/oleObject" Target="../embeddings/oleObject31.bin"/><Relationship Id="rId9" Type="http://schemas.openxmlformats.org/officeDocument/2006/relationships/image" Target="../media/image30.wmf"/><Relationship Id="rId14" Type="http://schemas.openxmlformats.org/officeDocument/2006/relationships/oleObject" Target="../embeddings/oleObject36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.bin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3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38.bin"/><Relationship Id="rId5" Type="http://schemas.openxmlformats.org/officeDocument/2006/relationships/image" Target="../media/image31.wmf"/><Relationship Id="rId4" Type="http://schemas.openxmlformats.org/officeDocument/2006/relationships/oleObject" Target="../embeddings/oleObject37.bin"/><Relationship Id="rId9" Type="http://schemas.openxmlformats.org/officeDocument/2006/relationships/image" Target="../media/image32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36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41.bin"/><Relationship Id="rId5" Type="http://schemas.openxmlformats.org/officeDocument/2006/relationships/image" Target="../media/image35.wmf"/><Relationship Id="rId4" Type="http://schemas.openxmlformats.org/officeDocument/2006/relationships/oleObject" Target="../embeddings/oleObject40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4.bin"/><Relationship Id="rId13" Type="http://schemas.openxmlformats.org/officeDocument/2006/relationships/image" Target="../media/image41.wmf"/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38.wmf"/><Relationship Id="rId12" Type="http://schemas.openxmlformats.org/officeDocument/2006/relationships/oleObject" Target="../embeddings/oleObject4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43.bin"/><Relationship Id="rId11" Type="http://schemas.openxmlformats.org/officeDocument/2006/relationships/image" Target="../media/image40.wmf"/><Relationship Id="rId5" Type="http://schemas.openxmlformats.org/officeDocument/2006/relationships/image" Target="../media/image37.wmf"/><Relationship Id="rId10" Type="http://schemas.openxmlformats.org/officeDocument/2006/relationships/oleObject" Target="../embeddings/oleObject45.bin"/><Relationship Id="rId4" Type="http://schemas.openxmlformats.org/officeDocument/2006/relationships/oleObject" Target="../embeddings/oleObject42.bin"/><Relationship Id="rId9" Type="http://schemas.openxmlformats.org/officeDocument/2006/relationships/image" Target="../media/image39.wmf"/><Relationship Id="rId14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43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48.bin"/><Relationship Id="rId5" Type="http://schemas.openxmlformats.org/officeDocument/2006/relationships/image" Target="../media/image35.wmf"/><Relationship Id="rId4" Type="http://schemas.openxmlformats.org/officeDocument/2006/relationships/oleObject" Target="../embeddings/oleObject47.bin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1.bin"/><Relationship Id="rId13" Type="http://schemas.openxmlformats.org/officeDocument/2006/relationships/image" Target="../media/image48.wmf"/><Relationship Id="rId18" Type="http://schemas.openxmlformats.org/officeDocument/2006/relationships/oleObject" Target="../embeddings/oleObject56.bin"/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45.wmf"/><Relationship Id="rId12" Type="http://schemas.openxmlformats.org/officeDocument/2006/relationships/oleObject" Target="../embeddings/oleObject53.bin"/><Relationship Id="rId17" Type="http://schemas.openxmlformats.org/officeDocument/2006/relationships/image" Target="../media/image50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55.bin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50.bin"/><Relationship Id="rId11" Type="http://schemas.openxmlformats.org/officeDocument/2006/relationships/image" Target="../media/image47.wmf"/><Relationship Id="rId5" Type="http://schemas.openxmlformats.org/officeDocument/2006/relationships/image" Target="../media/image44.wmf"/><Relationship Id="rId15" Type="http://schemas.openxmlformats.org/officeDocument/2006/relationships/image" Target="../media/image49.wmf"/><Relationship Id="rId10" Type="http://schemas.openxmlformats.org/officeDocument/2006/relationships/oleObject" Target="../embeddings/oleObject52.bin"/><Relationship Id="rId19" Type="http://schemas.openxmlformats.org/officeDocument/2006/relationships/image" Target="../media/image51.wmf"/><Relationship Id="rId4" Type="http://schemas.openxmlformats.org/officeDocument/2006/relationships/oleObject" Target="../embeddings/oleObject49.bin"/><Relationship Id="rId9" Type="http://schemas.openxmlformats.org/officeDocument/2006/relationships/image" Target="../media/image46.wmf"/><Relationship Id="rId14" Type="http://schemas.openxmlformats.org/officeDocument/2006/relationships/oleObject" Target="../embeddings/oleObject54.bin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9.bin"/><Relationship Id="rId13" Type="http://schemas.openxmlformats.org/officeDocument/2006/relationships/image" Target="../media/image56.wmf"/><Relationship Id="rId18" Type="http://schemas.openxmlformats.org/officeDocument/2006/relationships/oleObject" Target="../embeddings/oleObject64.bin"/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53.wmf"/><Relationship Id="rId12" Type="http://schemas.openxmlformats.org/officeDocument/2006/relationships/oleObject" Target="../embeddings/oleObject61.bin"/><Relationship Id="rId17" Type="http://schemas.openxmlformats.org/officeDocument/2006/relationships/image" Target="../media/image58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63.bin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58.bin"/><Relationship Id="rId11" Type="http://schemas.openxmlformats.org/officeDocument/2006/relationships/image" Target="../media/image55.wmf"/><Relationship Id="rId5" Type="http://schemas.openxmlformats.org/officeDocument/2006/relationships/image" Target="../media/image52.wmf"/><Relationship Id="rId15" Type="http://schemas.openxmlformats.org/officeDocument/2006/relationships/image" Target="../media/image57.wmf"/><Relationship Id="rId10" Type="http://schemas.openxmlformats.org/officeDocument/2006/relationships/oleObject" Target="../embeddings/oleObject60.bin"/><Relationship Id="rId19" Type="http://schemas.openxmlformats.org/officeDocument/2006/relationships/image" Target="../media/image59.wmf"/><Relationship Id="rId4" Type="http://schemas.openxmlformats.org/officeDocument/2006/relationships/oleObject" Target="../embeddings/oleObject57.bin"/><Relationship Id="rId9" Type="http://schemas.openxmlformats.org/officeDocument/2006/relationships/image" Target="../media/image54.wmf"/><Relationship Id="rId14" Type="http://schemas.openxmlformats.org/officeDocument/2006/relationships/oleObject" Target="../embeddings/oleObject62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7.bin"/><Relationship Id="rId13" Type="http://schemas.openxmlformats.org/officeDocument/2006/relationships/image" Target="../media/image53.wmf"/><Relationship Id="rId18" Type="http://schemas.openxmlformats.org/officeDocument/2006/relationships/oleObject" Target="../embeddings/oleObject72.bin"/><Relationship Id="rId3" Type="http://schemas.openxmlformats.org/officeDocument/2006/relationships/notesSlide" Target="../notesSlides/notesSlide20.xml"/><Relationship Id="rId21" Type="http://schemas.openxmlformats.org/officeDocument/2006/relationships/image" Target="../media/image60.wmf"/><Relationship Id="rId7" Type="http://schemas.openxmlformats.org/officeDocument/2006/relationships/image" Target="../media/image56.wmf"/><Relationship Id="rId12" Type="http://schemas.openxmlformats.org/officeDocument/2006/relationships/oleObject" Target="../embeddings/oleObject69.bin"/><Relationship Id="rId17" Type="http://schemas.openxmlformats.org/officeDocument/2006/relationships/image" Target="../media/image58.wmf"/><Relationship Id="rId25" Type="http://schemas.openxmlformats.org/officeDocument/2006/relationships/image" Target="../media/image62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71.bin"/><Relationship Id="rId20" Type="http://schemas.openxmlformats.org/officeDocument/2006/relationships/oleObject" Target="../embeddings/oleObject73.bin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66.bin"/><Relationship Id="rId11" Type="http://schemas.openxmlformats.org/officeDocument/2006/relationships/image" Target="../media/image52.wmf"/><Relationship Id="rId24" Type="http://schemas.openxmlformats.org/officeDocument/2006/relationships/oleObject" Target="../embeddings/oleObject75.bin"/><Relationship Id="rId5" Type="http://schemas.openxmlformats.org/officeDocument/2006/relationships/image" Target="../media/image54.wmf"/><Relationship Id="rId15" Type="http://schemas.openxmlformats.org/officeDocument/2006/relationships/image" Target="../media/image55.wmf"/><Relationship Id="rId23" Type="http://schemas.openxmlformats.org/officeDocument/2006/relationships/image" Target="../media/image61.wmf"/><Relationship Id="rId10" Type="http://schemas.openxmlformats.org/officeDocument/2006/relationships/oleObject" Target="../embeddings/oleObject68.bin"/><Relationship Id="rId19" Type="http://schemas.openxmlformats.org/officeDocument/2006/relationships/image" Target="../media/image59.wmf"/><Relationship Id="rId4" Type="http://schemas.openxmlformats.org/officeDocument/2006/relationships/oleObject" Target="../embeddings/oleObject65.bin"/><Relationship Id="rId9" Type="http://schemas.openxmlformats.org/officeDocument/2006/relationships/image" Target="../media/image57.wmf"/><Relationship Id="rId14" Type="http://schemas.openxmlformats.org/officeDocument/2006/relationships/oleObject" Target="../embeddings/oleObject70.bin"/><Relationship Id="rId22" Type="http://schemas.openxmlformats.org/officeDocument/2006/relationships/oleObject" Target="../embeddings/oleObject74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8.bin"/><Relationship Id="rId3" Type="http://schemas.openxmlformats.org/officeDocument/2006/relationships/notesSlide" Target="../notesSlides/notesSlide21.xml"/><Relationship Id="rId7" Type="http://schemas.openxmlformats.org/officeDocument/2006/relationships/image" Target="../media/image6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77.bin"/><Relationship Id="rId5" Type="http://schemas.openxmlformats.org/officeDocument/2006/relationships/image" Target="../media/image63.wmf"/><Relationship Id="rId4" Type="http://schemas.openxmlformats.org/officeDocument/2006/relationships/oleObject" Target="../embeddings/oleObject76.bin"/><Relationship Id="rId9" Type="http://schemas.openxmlformats.org/officeDocument/2006/relationships/image" Target="../media/image65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1.bin"/><Relationship Id="rId3" Type="http://schemas.openxmlformats.org/officeDocument/2006/relationships/notesSlide" Target="../notesSlides/notesSlide22.xml"/><Relationship Id="rId7" Type="http://schemas.openxmlformats.org/officeDocument/2006/relationships/image" Target="../media/image6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80.bin"/><Relationship Id="rId5" Type="http://schemas.openxmlformats.org/officeDocument/2006/relationships/image" Target="../media/image66.wmf"/><Relationship Id="rId4" Type="http://schemas.openxmlformats.org/officeDocument/2006/relationships/oleObject" Target="../embeddings/oleObject79.bin"/><Relationship Id="rId9" Type="http://schemas.openxmlformats.org/officeDocument/2006/relationships/image" Target="../media/image68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47.wmf"/><Relationship Id="rId4" Type="http://schemas.openxmlformats.org/officeDocument/2006/relationships/oleObject" Target="../embeddings/oleObject82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7" Type="http://schemas.openxmlformats.org/officeDocument/2006/relationships/image" Target="../media/image7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84.bin"/><Relationship Id="rId5" Type="http://schemas.openxmlformats.org/officeDocument/2006/relationships/image" Target="../media/image69.wmf"/><Relationship Id="rId4" Type="http://schemas.openxmlformats.org/officeDocument/2006/relationships/oleObject" Target="../embeddings/oleObject83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71.wmf"/><Relationship Id="rId4" Type="http://schemas.openxmlformats.org/officeDocument/2006/relationships/oleObject" Target="../embeddings/oleObject85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27468" y="2157033"/>
            <a:ext cx="7772400" cy="1698625"/>
          </a:xfrm>
          <a:ln>
            <a:miter lim="800000"/>
            <a:headEnd/>
            <a:tailEnd/>
          </a:ln>
          <a:extLst/>
        </p:spPr>
        <p:txBody>
          <a:bodyPr/>
          <a:lstStyle/>
          <a:p>
            <a:pPr eaLnBrk="1" hangingPunct="1">
              <a:defRPr/>
            </a:pPr>
            <a:r>
              <a:rPr sz="1700" cap="none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MODULE 3</a:t>
            </a:r>
            <a:br>
              <a:rPr sz="1700" cap="none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sz="1700" cap="none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Machine </a:t>
            </a:r>
            <a:r>
              <a:rPr sz="1700" cap="none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asynchrone</a:t>
            </a:r>
            <a:r>
              <a:rPr sz="1700" cap="none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sz="1700" cap="none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sz="1700" cap="none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3.4. </a:t>
            </a:r>
            <a:r>
              <a:rPr sz="1700" cap="none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Commande</a:t>
            </a:r>
            <a:r>
              <a:rPr sz="1700" cap="none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sz="1700" cap="none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vectorielle</a:t>
            </a:r>
            <a:r>
              <a:rPr sz="1700" cap="none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à flux </a:t>
            </a:r>
            <a:r>
              <a:rPr sz="1700" cap="none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rotorique</a:t>
            </a:r>
            <a:r>
              <a:rPr sz="1700" cap="none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sz="1700" cap="none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orienté</a:t>
            </a:r>
            <a:r>
              <a:rPr sz="1700" cap="none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(CFO) </a:t>
            </a:r>
          </a:p>
        </p:txBody>
      </p:sp>
      <p:sp>
        <p:nvSpPr>
          <p:cNvPr id="233475" name="Rectangle 6"/>
          <p:cNvSpPr>
            <a:spLocks noChangeArrowheads="1"/>
          </p:cNvSpPr>
          <p:nvPr/>
        </p:nvSpPr>
        <p:spPr bwMode="auto">
          <a:xfrm>
            <a:off x="357188" y="257175"/>
            <a:ext cx="8429625" cy="6254750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920700" y="1042738"/>
            <a:ext cx="7906468" cy="673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45720" rIns="45720" anchor="ctr"/>
          <a:lstStyle/>
          <a:p>
            <a:pPr algn="r">
              <a:defRPr/>
            </a:pPr>
            <a:r>
              <a:rPr lang="fr-FR" b="1" cap="all" dirty="0" err="1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  <a:latin typeface="+mj-lt"/>
                <a:ea typeface="+mj-ea"/>
                <a:cs typeface="+mj-cs"/>
              </a:rPr>
              <a:t>CommAnde</a:t>
            </a:r>
            <a:r>
              <a:rPr lang="fr-FR" b="1" cap="all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  <a:latin typeface="+mj-lt"/>
                <a:ea typeface="+mj-ea"/>
                <a:cs typeface="+mj-cs"/>
              </a:rPr>
              <a:t> des machines </a:t>
            </a:r>
            <a:r>
              <a:rPr lang="fr-FR" b="1" cap="all" dirty="0" err="1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  <a:latin typeface="+mj-lt"/>
                <a:ea typeface="+mj-ea"/>
                <a:cs typeface="+mj-cs"/>
              </a:rPr>
              <a:t>electriques</a:t>
            </a:r>
            <a:endParaRPr lang="fr-FR" b="1" cap="all" dirty="0">
              <a:ln w="5000" cmpd="sng">
                <a:solidFill>
                  <a:schemeClr val="accent1">
                    <a:tint val="80000"/>
                    <a:shade val="99000"/>
                    <a:satMod val="50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63000"/>
                      <a:satMod val="255000"/>
                    </a:schemeClr>
                  </a:gs>
                  <a:gs pos="9000">
                    <a:schemeClr val="accent1">
                      <a:tint val="63000"/>
                      <a:satMod val="255000"/>
                    </a:schemeClr>
                  </a:gs>
                  <a:gs pos="53000">
                    <a:schemeClr val="accent1">
                      <a:shade val="60000"/>
                      <a:satMod val="100000"/>
                    </a:schemeClr>
                  </a:gs>
                  <a:gs pos="90000">
                    <a:schemeClr val="accent1">
                      <a:tint val="63000"/>
                      <a:satMod val="255000"/>
                    </a:schemeClr>
                  </a:gs>
                  <a:gs pos="100000">
                    <a:schemeClr val="accent1">
                      <a:tint val="63000"/>
                      <a:satMod val="255000"/>
                    </a:schemeClr>
                  </a:gs>
                </a:gsLst>
                <a:lin ang="5400000"/>
              </a:gradFill>
              <a:effectLst>
                <a:outerShdw blurRad="50800" dist="38100" dir="5400000" algn="t" rotWithShape="0">
                  <a:prstClr val="black">
                    <a:alpha val="50000"/>
                  </a:prst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233477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A7F4FD0-B78A-4FDE-9882-CBB7D8760BF3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1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fr-FR" sz="3600" smtClean="0">
                <a:latin typeface="Arial Narrow" panose="020B0606020202030204" pitchFamily="34" charset="0"/>
              </a:rPr>
              <a:t>Pourquoi CFO ?</a:t>
            </a:r>
          </a:p>
        </p:txBody>
      </p:sp>
      <p:sp>
        <p:nvSpPr>
          <p:cNvPr id="56329" name="Rectangle 9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892175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fr-FR" sz="2800" smtClean="0">
                <a:latin typeface="Arial Narrow" panose="020B0606020202030204" pitchFamily="34" charset="0"/>
              </a:rPr>
              <a:t>MAS est supérieure à la la machine DC par son poids, volume, inertie, prix, vitesse</a:t>
            </a:r>
          </a:p>
        </p:txBody>
      </p:sp>
      <p:sp>
        <p:nvSpPr>
          <p:cNvPr id="235524" name="Rectangle 14"/>
          <p:cNvSpPr>
            <a:spLocks noChangeArrowheads="1"/>
          </p:cNvSpPr>
          <p:nvPr/>
        </p:nvSpPr>
        <p:spPr bwMode="auto">
          <a:xfrm>
            <a:off x="357188" y="257175"/>
            <a:ext cx="8429625" cy="6254750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56335" name="Rectangle 15"/>
          <p:cNvSpPr>
            <a:spLocks noChangeArrowheads="1"/>
          </p:cNvSpPr>
          <p:nvPr/>
        </p:nvSpPr>
        <p:spPr bwMode="auto">
          <a:xfrm>
            <a:off x="430213" y="2811463"/>
            <a:ext cx="8229600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just" eaLnBrk="1" hangingPunct="1">
              <a:lnSpc>
                <a:spcPct val="90000"/>
              </a:lnSpc>
              <a:buClrTx/>
              <a:buSzTx/>
              <a:buFontTx/>
              <a:buChar char="•"/>
            </a:pPr>
            <a:r>
              <a:rPr lang="en-US" altLang="fr-FR" sz="2800">
                <a:latin typeface="Arial Narrow" panose="020B0606020202030204" pitchFamily="34" charset="0"/>
              </a:rPr>
              <a:t>La machine DC est supérieure à la MAS par sa commande facile:</a:t>
            </a:r>
          </a:p>
          <a:p>
            <a:pPr lvl="1" algn="just" eaLnBrk="1" hangingPunct="1">
              <a:lnSpc>
                <a:spcPct val="90000"/>
              </a:lnSpc>
              <a:buClrTx/>
              <a:buSzTx/>
              <a:buFontTx/>
              <a:buChar char="–"/>
            </a:pPr>
            <a:r>
              <a:rPr lang="en-US" altLang="fr-FR" sz="2400">
                <a:latin typeface="Arial Narrow" panose="020B0606020202030204" pitchFamily="34" charset="0"/>
              </a:rPr>
              <a:t>Performances élevées avec une commande simple dûe aux découplage entre le flux et le couple.</a:t>
            </a:r>
          </a:p>
        </p:txBody>
      </p:sp>
      <p:sp>
        <p:nvSpPr>
          <p:cNvPr id="56336" name="Rectangle 16"/>
          <p:cNvSpPr>
            <a:spLocks noChangeArrowheads="1"/>
          </p:cNvSpPr>
          <p:nvPr/>
        </p:nvSpPr>
        <p:spPr bwMode="auto">
          <a:xfrm>
            <a:off x="374650" y="4854575"/>
            <a:ext cx="8229600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just" eaLnBrk="1" hangingPunct="1">
              <a:lnSpc>
                <a:spcPct val="90000"/>
              </a:lnSpc>
              <a:buClrTx/>
              <a:buSzTx/>
              <a:buFontTx/>
              <a:buChar char="•"/>
            </a:pPr>
            <a:r>
              <a:rPr lang="en-US" altLang="fr-FR" sz="2800">
                <a:latin typeface="Arial Narrow" panose="020B0606020202030204" pitchFamily="34" charset="0"/>
              </a:rPr>
              <a:t>La CFO transforme la dynamique de la MAS pour devenir similaire à celle d’une machine DC– découplage du flux et du couple.</a:t>
            </a:r>
          </a:p>
        </p:txBody>
      </p:sp>
      <p:sp>
        <p:nvSpPr>
          <p:cNvPr id="235527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6CF0F28-705E-4745-A1FC-9BA14CB487BA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3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6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6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9" grpId="0" build="p"/>
      <p:bldP spid="56335" grpId="0"/>
      <p:bldP spid="5633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fr-FR" sz="2800" smtClean="0">
                <a:latin typeface="Arial Narrow" panose="020B0606020202030204" pitchFamily="34" charset="0"/>
              </a:rPr>
              <a:t>Principe de base d’une machine DC</a:t>
            </a:r>
          </a:p>
        </p:txBody>
      </p:sp>
      <p:sp>
        <p:nvSpPr>
          <p:cNvPr id="237571" name="Rectangle 8"/>
          <p:cNvSpPr>
            <a:spLocks noChangeArrowheads="1"/>
          </p:cNvSpPr>
          <p:nvPr/>
        </p:nvSpPr>
        <p:spPr bwMode="auto">
          <a:xfrm>
            <a:off x="357188" y="257175"/>
            <a:ext cx="8429625" cy="6254750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pSp>
        <p:nvGrpSpPr>
          <p:cNvPr id="237572" name="Group 23"/>
          <p:cNvGrpSpPr>
            <a:grpSpLocks/>
          </p:cNvGrpSpPr>
          <p:nvPr/>
        </p:nvGrpSpPr>
        <p:grpSpPr bwMode="auto">
          <a:xfrm>
            <a:off x="784225" y="1352550"/>
            <a:ext cx="5735638" cy="4984750"/>
            <a:chOff x="1384" y="640"/>
            <a:chExt cx="3613" cy="3140"/>
          </a:xfrm>
        </p:grpSpPr>
        <p:grpSp>
          <p:nvGrpSpPr>
            <p:cNvPr id="237591" name="Group 24"/>
            <p:cNvGrpSpPr>
              <a:grpSpLocks/>
            </p:cNvGrpSpPr>
            <p:nvPr/>
          </p:nvGrpSpPr>
          <p:grpSpPr bwMode="auto">
            <a:xfrm>
              <a:off x="1384" y="640"/>
              <a:ext cx="3515" cy="2881"/>
              <a:chOff x="1384" y="640"/>
              <a:chExt cx="3515" cy="2881"/>
            </a:xfrm>
          </p:grpSpPr>
          <p:sp>
            <p:nvSpPr>
              <p:cNvPr id="237594" name="Oval 25"/>
              <p:cNvSpPr>
                <a:spLocks noChangeAspect="1" noChangeArrowheads="1"/>
              </p:cNvSpPr>
              <p:nvPr/>
            </p:nvSpPr>
            <p:spPr bwMode="auto">
              <a:xfrm>
                <a:off x="2064" y="1392"/>
                <a:ext cx="1392" cy="134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595" name="Oval 26"/>
              <p:cNvSpPr>
                <a:spLocks noChangeAspect="1" noChangeArrowheads="1"/>
              </p:cNvSpPr>
              <p:nvPr/>
            </p:nvSpPr>
            <p:spPr bwMode="auto">
              <a:xfrm>
                <a:off x="1927" y="1220"/>
                <a:ext cx="1701" cy="1643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grpSp>
            <p:nvGrpSpPr>
              <p:cNvPr id="237596" name="Group 27"/>
              <p:cNvGrpSpPr>
                <a:grpSpLocks/>
              </p:cNvGrpSpPr>
              <p:nvPr/>
            </p:nvGrpSpPr>
            <p:grpSpPr bwMode="auto">
              <a:xfrm>
                <a:off x="1542" y="1185"/>
                <a:ext cx="658" cy="1293"/>
                <a:chOff x="1519" y="1185"/>
                <a:chExt cx="658" cy="1293"/>
              </a:xfrm>
            </p:grpSpPr>
            <p:sp>
              <p:nvSpPr>
                <p:cNvPr id="237653" name="Rectangle 28"/>
                <p:cNvSpPr>
                  <a:spLocks noChangeArrowheads="1"/>
                </p:cNvSpPr>
                <p:nvPr/>
              </p:nvSpPr>
              <p:spPr bwMode="auto">
                <a:xfrm>
                  <a:off x="1519" y="1638"/>
                  <a:ext cx="499" cy="840"/>
                </a:xfrm>
                <a:prstGeom prst="rect">
                  <a:avLst/>
                </a:prstGeom>
                <a:blipFill dpi="0" rotWithShape="1">
                  <a:blip r:embed="rId3"/>
                  <a:srcRect/>
                  <a:tile tx="0" ty="0" sx="100000" sy="100000" flip="none" algn="tl"/>
                </a:blip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237654" name="Rectangle 29"/>
                <p:cNvSpPr>
                  <a:spLocks noChangeArrowheads="1"/>
                </p:cNvSpPr>
                <p:nvPr/>
              </p:nvSpPr>
              <p:spPr bwMode="auto">
                <a:xfrm>
                  <a:off x="1678" y="1185"/>
                  <a:ext cx="499" cy="477"/>
                </a:xfrm>
                <a:prstGeom prst="rect">
                  <a:avLst/>
                </a:prstGeom>
                <a:blipFill dpi="0" rotWithShape="1">
                  <a:blip r:embed="rId3"/>
                  <a:srcRect/>
                  <a:tile tx="0" ty="0" sx="100000" sy="100000" flip="none" algn="tl"/>
                </a:blip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</p:grpSp>
          <p:sp>
            <p:nvSpPr>
              <p:cNvPr id="237597" name="Rectangle 30"/>
              <p:cNvSpPr>
                <a:spLocks noChangeArrowheads="1"/>
              </p:cNvSpPr>
              <p:nvPr/>
            </p:nvSpPr>
            <p:spPr bwMode="auto">
              <a:xfrm flipH="1">
                <a:off x="3470" y="1570"/>
                <a:ext cx="499" cy="840"/>
              </a:xfrm>
              <a:prstGeom prst="rect">
                <a:avLst/>
              </a:prstGeom>
              <a:blipFill dpi="0" rotWithShape="1">
                <a:blip r:embed="rId3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598" name="Rectangle 31"/>
              <p:cNvSpPr>
                <a:spLocks noChangeArrowheads="1"/>
              </p:cNvSpPr>
              <p:nvPr/>
            </p:nvSpPr>
            <p:spPr bwMode="auto">
              <a:xfrm flipH="1">
                <a:off x="3311" y="1161"/>
                <a:ext cx="499" cy="477"/>
              </a:xfrm>
              <a:prstGeom prst="rect">
                <a:avLst/>
              </a:prstGeom>
              <a:blipFill dpi="0" rotWithShape="1">
                <a:blip r:embed="rId3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599" name="Rectangle 32"/>
              <p:cNvSpPr>
                <a:spLocks noChangeArrowheads="1"/>
              </p:cNvSpPr>
              <p:nvPr/>
            </p:nvSpPr>
            <p:spPr bwMode="auto">
              <a:xfrm flipH="1">
                <a:off x="3379" y="2387"/>
                <a:ext cx="499" cy="477"/>
              </a:xfrm>
              <a:prstGeom prst="rect">
                <a:avLst/>
              </a:prstGeom>
              <a:blipFill dpi="0" rotWithShape="1">
                <a:blip r:embed="rId3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00" name="Rectangle 33"/>
              <p:cNvSpPr>
                <a:spLocks noChangeArrowheads="1"/>
              </p:cNvSpPr>
              <p:nvPr/>
            </p:nvSpPr>
            <p:spPr bwMode="auto">
              <a:xfrm flipH="1">
                <a:off x="1655" y="2454"/>
                <a:ext cx="499" cy="477"/>
              </a:xfrm>
              <a:prstGeom prst="rect">
                <a:avLst/>
              </a:prstGeom>
              <a:blipFill dpi="0" rotWithShape="1">
                <a:blip r:embed="rId3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01" name="Oval 34"/>
              <p:cNvSpPr>
                <a:spLocks noChangeAspect="1" noChangeArrowheads="1"/>
              </p:cNvSpPr>
              <p:nvPr/>
            </p:nvSpPr>
            <p:spPr bwMode="auto">
              <a:xfrm>
                <a:off x="1384" y="640"/>
                <a:ext cx="2857" cy="2759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02" name="Oval 35"/>
              <p:cNvSpPr>
                <a:spLocks noChangeAspect="1" noChangeArrowheads="1"/>
              </p:cNvSpPr>
              <p:nvPr/>
            </p:nvSpPr>
            <p:spPr bwMode="auto">
              <a:xfrm>
                <a:off x="1633" y="890"/>
                <a:ext cx="2336" cy="225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03" name="Freeform 36"/>
              <p:cNvSpPr>
                <a:spLocks/>
              </p:cNvSpPr>
              <p:nvPr/>
            </p:nvSpPr>
            <p:spPr bwMode="auto">
              <a:xfrm>
                <a:off x="2109" y="981"/>
                <a:ext cx="219" cy="453"/>
              </a:xfrm>
              <a:custGeom>
                <a:avLst/>
                <a:gdLst>
                  <a:gd name="T0" fmla="*/ 83 w 219"/>
                  <a:gd name="T1" fmla="*/ 453 h 453"/>
                  <a:gd name="T2" fmla="*/ 15 w 219"/>
                  <a:gd name="T3" fmla="*/ 317 h 453"/>
                  <a:gd name="T4" fmla="*/ 174 w 219"/>
                  <a:gd name="T5" fmla="*/ 90 h 453"/>
                  <a:gd name="T6" fmla="*/ 219 w 219"/>
                  <a:gd name="T7" fmla="*/ 0 h 45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9"/>
                  <a:gd name="T13" fmla="*/ 0 h 453"/>
                  <a:gd name="T14" fmla="*/ 219 w 219"/>
                  <a:gd name="T15" fmla="*/ 453 h 45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9" h="453">
                    <a:moveTo>
                      <a:pt x="83" y="453"/>
                    </a:moveTo>
                    <a:cubicBezTo>
                      <a:pt x="41" y="415"/>
                      <a:pt x="0" y="377"/>
                      <a:pt x="15" y="317"/>
                    </a:cubicBezTo>
                    <a:cubicBezTo>
                      <a:pt x="30" y="257"/>
                      <a:pt x="140" y="143"/>
                      <a:pt x="174" y="90"/>
                    </a:cubicBezTo>
                    <a:cubicBezTo>
                      <a:pt x="208" y="37"/>
                      <a:pt x="212" y="15"/>
                      <a:pt x="219" y="0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37604" name="Freeform 37"/>
              <p:cNvSpPr>
                <a:spLocks/>
              </p:cNvSpPr>
              <p:nvPr/>
            </p:nvSpPr>
            <p:spPr bwMode="auto">
              <a:xfrm flipH="1">
                <a:off x="3175" y="935"/>
                <a:ext cx="219" cy="453"/>
              </a:xfrm>
              <a:custGeom>
                <a:avLst/>
                <a:gdLst>
                  <a:gd name="T0" fmla="*/ 83 w 219"/>
                  <a:gd name="T1" fmla="*/ 453 h 453"/>
                  <a:gd name="T2" fmla="*/ 15 w 219"/>
                  <a:gd name="T3" fmla="*/ 317 h 453"/>
                  <a:gd name="T4" fmla="*/ 174 w 219"/>
                  <a:gd name="T5" fmla="*/ 90 h 453"/>
                  <a:gd name="T6" fmla="*/ 219 w 219"/>
                  <a:gd name="T7" fmla="*/ 0 h 45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9"/>
                  <a:gd name="T13" fmla="*/ 0 h 453"/>
                  <a:gd name="T14" fmla="*/ 219 w 219"/>
                  <a:gd name="T15" fmla="*/ 453 h 45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9" h="453">
                    <a:moveTo>
                      <a:pt x="83" y="453"/>
                    </a:moveTo>
                    <a:cubicBezTo>
                      <a:pt x="41" y="415"/>
                      <a:pt x="0" y="377"/>
                      <a:pt x="15" y="317"/>
                    </a:cubicBezTo>
                    <a:cubicBezTo>
                      <a:pt x="30" y="257"/>
                      <a:pt x="140" y="143"/>
                      <a:pt x="174" y="90"/>
                    </a:cubicBezTo>
                    <a:cubicBezTo>
                      <a:pt x="208" y="37"/>
                      <a:pt x="212" y="15"/>
                      <a:pt x="219" y="0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37605" name="Freeform 38"/>
              <p:cNvSpPr>
                <a:spLocks/>
              </p:cNvSpPr>
              <p:nvPr/>
            </p:nvSpPr>
            <p:spPr bwMode="auto">
              <a:xfrm flipV="1">
                <a:off x="2064" y="2591"/>
                <a:ext cx="219" cy="453"/>
              </a:xfrm>
              <a:custGeom>
                <a:avLst/>
                <a:gdLst>
                  <a:gd name="T0" fmla="*/ 83 w 219"/>
                  <a:gd name="T1" fmla="*/ 453 h 453"/>
                  <a:gd name="T2" fmla="*/ 15 w 219"/>
                  <a:gd name="T3" fmla="*/ 317 h 453"/>
                  <a:gd name="T4" fmla="*/ 174 w 219"/>
                  <a:gd name="T5" fmla="*/ 90 h 453"/>
                  <a:gd name="T6" fmla="*/ 219 w 219"/>
                  <a:gd name="T7" fmla="*/ 0 h 45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9"/>
                  <a:gd name="T13" fmla="*/ 0 h 453"/>
                  <a:gd name="T14" fmla="*/ 219 w 219"/>
                  <a:gd name="T15" fmla="*/ 453 h 45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9" h="453">
                    <a:moveTo>
                      <a:pt x="83" y="453"/>
                    </a:moveTo>
                    <a:cubicBezTo>
                      <a:pt x="41" y="415"/>
                      <a:pt x="0" y="377"/>
                      <a:pt x="15" y="317"/>
                    </a:cubicBezTo>
                    <a:cubicBezTo>
                      <a:pt x="30" y="257"/>
                      <a:pt x="140" y="143"/>
                      <a:pt x="174" y="90"/>
                    </a:cubicBezTo>
                    <a:cubicBezTo>
                      <a:pt x="208" y="37"/>
                      <a:pt x="212" y="15"/>
                      <a:pt x="219" y="0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37606" name="Freeform 39"/>
              <p:cNvSpPr>
                <a:spLocks/>
              </p:cNvSpPr>
              <p:nvPr/>
            </p:nvSpPr>
            <p:spPr bwMode="auto">
              <a:xfrm flipH="1" flipV="1">
                <a:off x="3251" y="2637"/>
                <a:ext cx="219" cy="453"/>
              </a:xfrm>
              <a:custGeom>
                <a:avLst/>
                <a:gdLst>
                  <a:gd name="T0" fmla="*/ 83 w 219"/>
                  <a:gd name="T1" fmla="*/ 453 h 453"/>
                  <a:gd name="T2" fmla="*/ 15 w 219"/>
                  <a:gd name="T3" fmla="*/ 317 h 453"/>
                  <a:gd name="T4" fmla="*/ 174 w 219"/>
                  <a:gd name="T5" fmla="*/ 90 h 453"/>
                  <a:gd name="T6" fmla="*/ 219 w 219"/>
                  <a:gd name="T7" fmla="*/ 0 h 45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9"/>
                  <a:gd name="T13" fmla="*/ 0 h 453"/>
                  <a:gd name="T14" fmla="*/ 219 w 219"/>
                  <a:gd name="T15" fmla="*/ 453 h 45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9" h="453">
                    <a:moveTo>
                      <a:pt x="83" y="453"/>
                    </a:moveTo>
                    <a:cubicBezTo>
                      <a:pt x="41" y="415"/>
                      <a:pt x="0" y="377"/>
                      <a:pt x="15" y="317"/>
                    </a:cubicBezTo>
                    <a:cubicBezTo>
                      <a:pt x="30" y="257"/>
                      <a:pt x="140" y="143"/>
                      <a:pt x="174" y="90"/>
                    </a:cubicBezTo>
                    <a:cubicBezTo>
                      <a:pt x="208" y="37"/>
                      <a:pt x="212" y="15"/>
                      <a:pt x="219" y="0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37607" name="Rectangle 40"/>
              <p:cNvSpPr>
                <a:spLocks noChangeArrowheads="1"/>
              </p:cNvSpPr>
              <p:nvPr/>
            </p:nvSpPr>
            <p:spPr bwMode="auto">
              <a:xfrm>
                <a:off x="2290" y="845"/>
                <a:ext cx="885" cy="158"/>
              </a:xfrm>
              <a:prstGeom prst="rect">
                <a:avLst/>
              </a:prstGeom>
              <a:blipFill dpi="0" rotWithShape="1">
                <a:blip r:embed="rId3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08" name="Rectangle 41"/>
              <p:cNvSpPr>
                <a:spLocks noChangeArrowheads="1"/>
              </p:cNvSpPr>
              <p:nvPr/>
            </p:nvSpPr>
            <p:spPr bwMode="auto">
              <a:xfrm>
                <a:off x="2290" y="3021"/>
                <a:ext cx="976" cy="160"/>
              </a:xfrm>
              <a:prstGeom prst="rect">
                <a:avLst/>
              </a:prstGeom>
              <a:blipFill dpi="0" rotWithShape="1">
                <a:blip r:embed="rId3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09" name="Oval 42"/>
              <p:cNvSpPr>
                <a:spLocks noChangeArrowheads="1"/>
              </p:cNvSpPr>
              <p:nvPr/>
            </p:nvSpPr>
            <p:spPr bwMode="auto">
              <a:xfrm>
                <a:off x="1996" y="2772"/>
                <a:ext cx="113" cy="91"/>
              </a:xfrm>
              <a:prstGeom prst="ellipse">
                <a:avLst/>
              </a:prstGeom>
              <a:solidFill>
                <a:srgbClr val="FBA3C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10" name="Oval 43"/>
              <p:cNvSpPr>
                <a:spLocks noChangeArrowheads="1"/>
              </p:cNvSpPr>
              <p:nvPr/>
            </p:nvSpPr>
            <p:spPr bwMode="auto">
              <a:xfrm>
                <a:off x="2086" y="1117"/>
                <a:ext cx="113" cy="91"/>
              </a:xfrm>
              <a:prstGeom prst="ellipse">
                <a:avLst/>
              </a:prstGeom>
              <a:solidFill>
                <a:srgbClr val="FBA3C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11" name="Oval 44"/>
              <p:cNvSpPr>
                <a:spLocks noChangeArrowheads="1"/>
              </p:cNvSpPr>
              <p:nvPr/>
            </p:nvSpPr>
            <p:spPr bwMode="auto">
              <a:xfrm>
                <a:off x="3266" y="1026"/>
                <a:ext cx="113" cy="91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12" name="Oval 45"/>
              <p:cNvSpPr>
                <a:spLocks noChangeArrowheads="1"/>
              </p:cNvSpPr>
              <p:nvPr/>
            </p:nvSpPr>
            <p:spPr bwMode="auto">
              <a:xfrm>
                <a:off x="3379" y="2840"/>
                <a:ext cx="113" cy="91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13" name="Oval 46"/>
              <p:cNvSpPr>
                <a:spLocks noChangeArrowheads="1"/>
              </p:cNvSpPr>
              <p:nvPr/>
            </p:nvSpPr>
            <p:spPr bwMode="auto">
              <a:xfrm>
                <a:off x="2676" y="1434"/>
                <a:ext cx="136" cy="13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14" name="Oval 47"/>
              <p:cNvSpPr>
                <a:spLocks noChangeArrowheads="1"/>
              </p:cNvSpPr>
              <p:nvPr/>
            </p:nvSpPr>
            <p:spPr bwMode="auto">
              <a:xfrm>
                <a:off x="2721" y="2568"/>
                <a:ext cx="136" cy="13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15" name="Oval 48"/>
              <p:cNvSpPr>
                <a:spLocks noChangeArrowheads="1"/>
              </p:cNvSpPr>
              <p:nvPr/>
            </p:nvSpPr>
            <p:spPr bwMode="auto">
              <a:xfrm>
                <a:off x="2540" y="2546"/>
                <a:ext cx="136" cy="13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16" name="Oval 49"/>
              <p:cNvSpPr>
                <a:spLocks noChangeArrowheads="1"/>
              </p:cNvSpPr>
              <p:nvPr/>
            </p:nvSpPr>
            <p:spPr bwMode="auto">
              <a:xfrm>
                <a:off x="2358" y="2478"/>
                <a:ext cx="136" cy="13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17" name="Oval 50"/>
              <p:cNvSpPr>
                <a:spLocks noChangeArrowheads="1"/>
              </p:cNvSpPr>
              <p:nvPr/>
            </p:nvSpPr>
            <p:spPr bwMode="auto">
              <a:xfrm>
                <a:off x="2222" y="2319"/>
                <a:ext cx="136" cy="13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18" name="Oval 51"/>
              <p:cNvSpPr>
                <a:spLocks noChangeArrowheads="1"/>
              </p:cNvSpPr>
              <p:nvPr/>
            </p:nvSpPr>
            <p:spPr bwMode="auto">
              <a:xfrm>
                <a:off x="3198" y="2273"/>
                <a:ext cx="136" cy="13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19" name="Oval 52"/>
              <p:cNvSpPr>
                <a:spLocks noChangeArrowheads="1"/>
              </p:cNvSpPr>
              <p:nvPr/>
            </p:nvSpPr>
            <p:spPr bwMode="auto">
              <a:xfrm>
                <a:off x="3084" y="2432"/>
                <a:ext cx="136" cy="13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20" name="Oval 53"/>
              <p:cNvSpPr>
                <a:spLocks noChangeArrowheads="1"/>
              </p:cNvSpPr>
              <p:nvPr/>
            </p:nvSpPr>
            <p:spPr bwMode="auto">
              <a:xfrm>
                <a:off x="2925" y="2523"/>
                <a:ext cx="136" cy="13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21" name="Oval 54"/>
              <p:cNvSpPr>
                <a:spLocks noChangeArrowheads="1"/>
              </p:cNvSpPr>
              <p:nvPr/>
            </p:nvSpPr>
            <p:spPr bwMode="auto">
              <a:xfrm>
                <a:off x="2132" y="2137"/>
                <a:ext cx="136" cy="13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22" name="Oval 55"/>
              <p:cNvSpPr>
                <a:spLocks noChangeArrowheads="1"/>
              </p:cNvSpPr>
              <p:nvPr/>
            </p:nvSpPr>
            <p:spPr bwMode="auto">
              <a:xfrm>
                <a:off x="2132" y="1956"/>
                <a:ext cx="136" cy="13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23" name="Oval 56"/>
              <p:cNvSpPr>
                <a:spLocks noChangeArrowheads="1"/>
              </p:cNvSpPr>
              <p:nvPr/>
            </p:nvSpPr>
            <p:spPr bwMode="auto">
              <a:xfrm>
                <a:off x="2177" y="1774"/>
                <a:ext cx="136" cy="13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24" name="Oval 57"/>
              <p:cNvSpPr>
                <a:spLocks noChangeArrowheads="1"/>
              </p:cNvSpPr>
              <p:nvPr/>
            </p:nvSpPr>
            <p:spPr bwMode="auto">
              <a:xfrm>
                <a:off x="2313" y="1593"/>
                <a:ext cx="136" cy="13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25" name="Oval 58"/>
              <p:cNvSpPr>
                <a:spLocks noChangeArrowheads="1"/>
              </p:cNvSpPr>
              <p:nvPr/>
            </p:nvSpPr>
            <p:spPr bwMode="auto">
              <a:xfrm>
                <a:off x="2449" y="1480"/>
                <a:ext cx="136" cy="13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26" name="Oval 59"/>
              <p:cNvSpPr>
                <a:spLocks noChangeArrowheads="1"/>
              </p:cNvSpPr>
              <p:nvPr/>
            </p:nvSpPr>
            <p:spPr bwMode="auto">
              <a:xfrm>
                <a:off x="2676" y="1434"/>
                <a:ext cx="136" cy="13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27" name="Oval 60"/>
              <p:cNvSpPr>
                <a:spLocks noChangeArrowheads="1"/>
              </p:cNvSpPr>
              <p:nvPr/>
            </p:nvSpPr>
            <p:spPr bwMode="auto">
              <a:xfrm>
                <a:off x="2449" y="1480"/>
                <a:ext cx="136" cy="13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28" name="Oval 61"/>
              <p:cNvSpPr>
                <a:spLocks noChangeArrowheads="1"/>
              </p:cNvSpPr>
              <p:nvPr/>
            </p:nvSpPr>
            <p:spPr bwMode="auto">
              <a:xfrm>
                <a:off x="2880" y="1457"/>
                <a:ext cx="136" cy="13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29" name="Oval 62"/>
              <p:cNvSpPr>
                <a:spLocks noChangeArrowheads="1"/>
              </p:cNvSpPr>
              <p:nvPr/>
            </p:nvSpPr>
            <p:spPr bwMode="auto">
              <a:xfrm>
                <a:off x="3061" y="1570"/>
                <a:ext cx="136" cy="13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30" name="Oval 63"/>
              <p:cNvSpPr>
                <a:spLocks noChangeArrowheads="1"/>
              </p:cNvSpPr>
              <p:nvPr/>
            </p:nvSpPr>
            <p:spPr bwMode="auto">
              <a:xfrm>
                <a:off x="3175" y="1752"/>
                <a:ext cx="136" cy="13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31" name="Oval 64"/>
              <p:cNvSpPr>
                <a:spLocks noChangeArrowheads="1"/>
              </p:cNvSpPr>
              <p:nvPr/>
            </p:nvSpPr>
            <p:spPr bwMode="auto">
              <a:xfrm>
                <a:off x="3243" y="1933"/>
                <a:ext cx="136" cy="13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32" name="Oval 65"/>
              <p:cNvSpPr>
                <a:spLocks noChangeArrowheads="1"/>
              </p:cNvSpPr>
              <p:nvPr/>
            </p:nvSpPr>
            <p:spPr bwMode="auto">
              <a:xfrm>
                <a:off x="3266" y="2115"/>
                <a:ext cx="136" cy="13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33" name="Oval 66"/>
              <p:cNvSpPr>
                <a:spLocks noChangeArrowheads="1"/>
              </p:cNvSpPr>
              <p:nvPr/>
            </p:nvSpPr>
            <p:spPr bwMode="auto">
              <a:xfrm>
                <a:off x="2222" y="1797"/>
                <a:ext cx="45" cy="6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34" name="Oval 67"/>
              <p:cNvSpPr>
                <a:spLocks noChangeArrowheads="1"/>
              </p:cNvSpPr>
              <p:nvPr/>
            </p:nvSpPr>
            <p:spPr bwMode="auto">
              <a:xfrm>
                <a:off x="2358" y="1638"/>
                <a:ext cx="45" cy="6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35" name="Oval 68"/>
              <p:cNvSpPr>
                <a:spLocks noChangeArrowheads="1"/>
              </p:cNvSpPr>
              <p:nvPr/>
            </p:nvSpPr>
            <p:spPr bwMode="auto">
              <a:xfrm>
                <a:off x="2494" y="1525"/>
                <a:ext cx="45" cy="6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36" name="Oval 69"/>
              <p:cNvSpPr>
                <a:spLocks noChangeArrowheads="1"/>
              </p:cNvSpPr>
              <p:nvPr/>
            </p:nvSpPr>
            <p:spPr bwMode="auto">
              <a:xfrm>
                <a:off x="2721" y="1480"/>
                <a:ext cx="45" cy="6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37" name="Oval 70"/>
              <p:cNvSpPr>
                <a:spLocks noChangeArrowheads="1"/>
              </p:cNvSpPr>
              <p:nvPr/>
            </p:nvSpPr>
            <p:spPr bwMode="auto">
              <a:xfrm>
                <a:off x="2925" y="1502"/>
                <a:ext cx="45" cy="6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38" name="Oval 71"/>
              <p:cNvSpPr>
                <a:spLocks noChangeArrowheads="1"/>
              </p:cNvSpPr>
              <p:nvPr/>
            </p:nvSpPr>
            <p:spPr bwMode="auto">
              <a:xfrm>
                <a:off x="3107" y="1616"/>
                <a:ext cx="45" cy="6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39" name="Oval 72"/>
              <p:cNvSpPr>
                <a:spLocks noChangeArrowheads="1"/>
              </p:cNvSpPr>
              <p:nvPr/>
            </p:nvSpPr>
            <p:spPr bwMode="auto">
              <a:xfrm>
                <a:off x="3220" y="1797"/>
                <a:ext cx="45" cy="6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40" name="Oval 73"/>
              <p:cNvSpPr>
                <a:spLocks noChangeArrowheads="1"/>
              </p:cNvSpPr>
              <p:nvPr/>
            </p:nvSpPr>
            <p:spPr bwMode="auto">
              <a:xfrm>
                <a:off x="3288" y="1979"/>
                <a:ext cx="45" cy="6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41" name="Oval 74"/>
              <p:cNvSpPr>
                <a:spLocks noChangeArrowheads="1"/>
              </p:cNvSpPr>
              <p:nvPr/>
            </p:nvSpPr>
            <p:spPr bwMode="auto">
              <a:xfrm>
                <a:off x="2177" y="1979"/>
                <a:ext cx="45" cy="6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42" name="Oval 75"/>
              <p:cNvSpPr>
                <a:spLocks noChangeArrowheads="1"/>
              </p:cNvSpPr>
              <p:nvPr/>
            </p:nvSpPr>
            <p:spPr bwMode="auto">
              <a:xfrm>
                <a:off x="3311" y="2160"/>
                <a:ext cx="45" cy="68"/>
              </a:xfrm>
              <a:prstGeom prst="ellipse">
                <a:avLst/>
              </a:prstGeom>
              <a:solidFill>
                <a:srgbClr val="FBA3C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43" name="Oval 76"/>
              <p:cNvSpPr>
                <a:spLocks noChangeArrowheads="1"/>
              </p:cNvSpPr>
              <p:nvPr/>
            </p:nvSpPr>
            <p:spPr bwMode="auto">
              <a:xfrm>
                <a:off x="2177" y="2183"/>
                <a:ext cx="45" cy="68"/>
              </a:xfrm>
              <a:prstGeom prst="ellipse">
                <a:avLst/>
              </a:prstGeom>
              <a:solidFill>
                <a:srgbClr val="FBA3C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44" name="Oval 77"/>
              <p:cNvSpPr>
                <a:spLocks noChangeArrowheads="1"/>
              </p:cNvSpPr>
              <p:nvPr/>
            </p:nvSpPr>
            <p:spPr bwMode="auto">
              <a:xfrm>
                <a:off x="3243" y="2319"/>
                <a:ext cx="45" cy="68"/>
              </a:xfrm>
              <a:prstGeom prst="ellipse">
                <a:avLst/>
              </a:prstGeom>
              <a:solidFill>
                <a:srgbClr val="FBA3C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45" name="Oval 78"/>
              <p:cNvSpPr>
                <a:spLocks noChangeArrowheads="1"/>
              </p:cNvSpPr>
              <p:nvPr/>
            </p:nvSpPr>
            <p:spPr bwMode="auto">
              <a:xfrm>
                <a:off x="3129" y="2455"/>
                <a:ext cx="45" cy="68"/>
              </a:xfrm>
              <a:prstGeom prst="ellipse">
                <a:avLst/>
              </a:prstGeom>
              <a:solidFill>
                <a:srgbClr val="FBA3C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46" name="Oval 79"/>
              <p:cNvSpPr>
                <a:spLocks noChangeArrowheads="1"/>
              </p:cNvSpPr>
              <p:nvPr/>
            </p:nvSpPr>
            <p:spPr bwMode="auto">
              <a:xfrm>
                <a:off x="2268" y="2364"/>
                <a:ext cx="45" cy="68"/>
              </a:xfrm>
              <a:prstGeom prst="ellipse">
                <a:avLst/>
              </a:prstGeom>
              <a:solidFill>
                <a:srgbClr val="FBA3C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47" name="Oval 80"/>
              <p:cNvSpPr>
                <a:spLocks noChangeArrowheads="1"/>
              </p:cNvSpPr>
              <p:nvPr/>
            </p:nvSpPr>
            <p:spPr bwMode="auto">
              <a:xfrm>
                <a:off x="2404" y="2523"/>
                <a:ext cx="45" cy="68"/>
              </a:xfrm>
              <a:prstGeom prst="ellipse">
                <a:avLst/>
              </a:prstGeom>
              <a:solidFill>
                <a:srgbClr val="FBA3C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48" name="Oval 81"/>
              <p:cNvSpPr>
                <a:spLocks noChangeArrowheads="1"/>
              </p:cNvSpPr>
              <p:nvPr/>
            </p:nvSpPr>
            <p:spPr bwMode="auto">
              <a:xfrm>
                <a:off x="2585" y="2591"/>
                <a:ext cx="45" cy="68"/>
              </a:xfrm>
              <a:prstGeom prst="ellipse">
                <a:avLst/>
              </a:prstGeom>
              <a:solidFill>
                <a:srgbClr val="FBA3C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49" name="Oval 82"/>
              <p:cNvSpPr>
                <a:spLocks noChangeArrowheads="1"/>
              </p:cNvSpPr>
              <p:nvPr/>
            </p:nvSpPr>
            <p:spPr bwMode="auto">
              <a:xfrm>
                <a:off x="2767" y="2614"/>
                <a:ext cx="45" cy="68"/>
              </a:xfrm>
              <a:prstGeom prst="ellipse">
                <a:avLst/>
              </a:prstGeom>
              <a:solidFill>
                <a:srgbClr val="FBA3C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50" name="Oval 83"/>
              <p:cNvSpPr>
                <a:spLocks noChangeArrowheads="1"/>
              </p:cNvSpPr>
              <p:nvPr/>
            </p:nvSpPr>
            <p:spPr bwMode="auto">
              <a:xfrm>
                <a:off x="2971" y="2568"/>
                <a:ext cx="45" cy="68"/>
              </a:xfrm>
              <a:prstGeom prst="ellipse">
                <a:avLst/>
              </a:prstGeom>
              <a:solidFill>
                <a:srgbClr val="FBA3C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51" name="Oval 84"/>
              <p:cNvSpPr>
                <a:spLocks noChangeArrowheads="1"/>
              </p:cNvSpPr>
              <p:nvPr/>
            </p:nvSpPr>
            <p:spPr bwMode="auto">
              <a:xfrm>
                <a:off x="3821" y="3308"/>
                <a:ext cx="113" cy="91"/>
              </a:xfrm>
              <a:prstGeom prst="ellipse">
                <a:avLst/>
              </a:prstGeom>
              <a:solidFill>
                <a:srgbClr val="FBA3C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7652" name="Text Box 85"/>
              <p:cNvSpPr txBox="1">
                <a:spLocks noChangeArrowheads="1"/>
              </p:cNvSpPr>
              <p:nvPr/>
            </p:nvSpPr>
            <p:spPr bwMode="auto">
              <a:xfrm>
                <a:off x="4047" y="3230"/>
                <a:ext cx="852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fr-FR" sz="2400">
                    <a:latin typeface="Arial Narrow" panose="020B0606020202030204" pitchFamily="34" charset="0"/>
                  </a:rPr>
                  <a:t>Courant in</a:t>
                </a:r>
              </a:p>
            </p:txBody>
          </p:sp>
        </p:grpSp>
        <p:sp>
          <p:nvSpPr>
            <p:cNvPr id="237592" name="Oval 86"/>
            <p:cNvSpPr>
              <a:spLocks noChangeArrowheads="1"/>
            </p:cNvSpPr>
            <p:nvPr/>
          </p:nvSpPr>
          <p:spPr bwMode="auto">
            <a:xfrm>
              <a:off x="3810" y="3575"/>
              <a:ext cx="113" cy="9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37593" name="Text Box 87"/>
            <p:cNvSpPr txBox="1">
              <a:spLocks noChangeArrowheads="1"/>
            </p:cNvSpPr>
            <p:nvPr/>
          </p:nvSpPr>
          <p:spPr bwMode="auto">
            <a:xfrm>
              <a:off x="4047" y="3489"/>
              <a:ext cx="95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Arial Narrow" panose="020B0606020202030204" pitchFamily="34" charset="0"/>
                </a:rPr>
                <a:t>Courant out</a:t>
              </a:r>
            </a:p>
          </p:txBody>
        </p:sp>
      </p:grpSp>
      <p:grpSp>
        <p:nvGrpSpPr>
          <p:cNvPr id="237573" name="Group 93"/>
          <p:cNvGrpSpPr>
            <a:grpSpLocks/>
          </p:cNvGrpSpPr>
          <p:nvPr/>
        </p:nvGrpSpPr>
        <p:grpSpPr bwMode="auto">
          <a:xfrm>
            <a:off x="1020763" y="1570038"/>
            <a:ext cx="4146550" cy="3965575"/>
            <a:chOff x="1493" y="777"/>
            <a:chExt cx="2612" cy="2498"/>
          </a:xfrm>
        </p:grpSpPr>
        <p:grpSp>
          <p:nvGrpSpPr>
            <p:cNvPr id="237584" name="Group 94"/>
            <p:cNvGrpSpPr>
              <a:grpSpLocks/>
            </p:cNvGrpSpPr>
            <p:nvPr/>
          </p:nvGrpSpPr>
          <p:grpSpPr bwMode="auto">
            <a:xfrm>
              <a:off x="1493" y="777"/>
              <a:ext cx="2612" cy="2498"/>
              <a:chOff x="1493" y="777"/>
              <a:chExt cx="2612" cy="2498"/>
            </a:xfrm>
          </p:grpSpPr>
          <p:sp>
            <p:nvSpPr>
              <p:cNvPr id="237587" name="Line 95"/>
              <p:cNvSpPr>
                <a:spLocks noChangeShapeType="1"/>
              </p:cNvSpPr>
              <p:nvPr/>
            </p:nvSpPr>
            <p:spPr bwMode="auto">
              <a:xfrm>
                <a:off x="2562" y="913"/>
                <a:ext cx="0" cy="22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37588" name="Line 96"/>
              <p:cNvSpPr>
                <a:spLocks noChangeShapeType="1"/>
              </p:cNvSpPr>
              <p:nvPr/>
            </p:nvSpPr>
            <p:spPr bwMode="auto">
              <a:xfrm>
                <a:off x="2948" y="913"/>
                <a:ext cx="0" cy="22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37589" name="Freeform 97"/>
              <p:cNvSpPr>
                <a:spLocks/>
              </p:cNvSpPr>
              <p:nvPr/>
            </p:nvSpPr>
            <p:spPr bwMode="auto">
              <a:xfrm>
                <a:off x="1493" y="799"/>
                <a:ext cx="1069" cy="2476"/>
              </a:xfrm>
              <a:custGeom>
                <a:avLst/>
                <a:gdLst>
                  <a:gd name="T0" fmla="*/ 1069 w 1069"/>
                  <a:gd name="T1" fmla="*/ 114 h 2476"/>
                  <a:gd name="T2" fmla="*/ 1001 w 1069"/>
                  <a:gd name="T3" fmla="*/ 0 h 2476"/>
                  <a:gd name="T4" fmla="*/ 661 w 1069"/>
                  <a:gd name="T5" fmla="*/ 114 h 2476"/>
                  <a:gd name="T6" fmla="*/ 412 w 1069"/>
                  <a:gd name="T7" fmla="*/ 272 h 2476"/>
                  <a:gd name="T8" fmla="*/ 162 w 1069"/>
                  <a:gd name="T9" fmla="*/ 590 h 2476"/>
                  <a:gd name="T10" fmla="*/ 26 w 1069"/>
                  <a:gd name="T11" fmla="*/ 907 h 2476"/>
                  <a:gd name="T12" fmla="*/ 4 w 1069"/>
                  <a:gd name="T13" fmla="*/ 1293 h 2476"/>
                  <a:gd name="T14" fmla="*/ 49 w 1069"/>
                  <a:gd name="T15" fmla="*/ 1542 h 2476"/>
                  <a:gd name="T16" fmla="*/ 185 w 1069"/>
                  <a:gd name="T17" fmla="*/ 1860 h 2476"/>
                  <a:gd name="T18" fmla="*/ 412 w 1069"/>
                  <a:gd name="T19" fmla="*/ 2132 h 2476"/>
                  <a:gd name="T20" fmla="*/ 707 w 1069"/>
                  <a:gd name="T21" fmla="*/ 2359 h 2476"/>
                  <a:gd name="T22" fmla="*/ 933 w 1069"/>
                  <a:gd name="T23" fmla="*/ 2450 h 2476"/>
                  <a:gd name="T24" fmla="*/ 1024 w 1069"/>
                  <a:gd name="T25" fmla="*/ 2472 h 2476"/>
                  <a:gd name="T26" fmla="*/ 1047 w 1069"/>
                  <a:gd name="T27" fmla="*/ 2427 h 2476"/>
                  <a:gd name="T28" fmla="*/ 1069 w 1069"/>
                  <a:gd name="T29" fmla="*/ 2336 h 247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069"/>
                  <a:gd name="T46" fmla="*/ 0 h 2476"/>
                  <a:gd name="T47" fmla="*/ 1069 w 1069"/>
                  <a:gd name="T48" fmla="*/ 2476 h 247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069" h="2476">
                    <a:moveTo>
                      <a:pt x="1069" y="114"/>
                    </a:moveTo>
                    <a:cubicBezTo>
                      <a:pt x="1069" y="57"/>
                      <a:pt x="1069" y="0"/>
                      <a:pt x="1001" y="0"/>
                    </a:cubicBezTo>
                    <a:cubicBezTo>
                      <a:pt x="933" y="0"/>
                      <a:pt x="759" y="69"/>
                      <a:pt x="661" y="114"/>
                    </a:cubicBezTo>
                    <a:cubicBezTo>
                      <a:pt x="563" y="159"/>
                      <a:pt x="495" y="193"/>
                      <a:pt x="412" y="272"/>
                    </a:cubicBezTo>
                    <a:cubicBezTo>
                      <a:pt x="329" y="351"/>
                      <a:pt x="226" y="484"/>
                      <a:pt x="162" y="590"/>
                    </a:cubicBezTo>
                    <a:cubicBezTo>
                      <a:pt x="98" y="696"/>
                      <a:pt x="52" y="790"/>
                      <a:pt x="26" y="907"/>
                    </a:cubicBezTo>
                    <a:cubicBezTo>
                      <a:pt x="0" y="1024"/>
                      <a:pt x="0" y="1187"/>
                      <a:pt x="4" y="1293"/>
                    </a:cubicBezTo>
                    <a:cubicBezTo>
                      <a:pt x="8" y="1399"/>
                      <a:pt x="19" y="1448"/>
                      <a:pt x="49" y="1542"/>
                    </a:cubicBezTo>
                    <a:cubicBezTo>
                      <a:pt x="79" y="1636"/>
                      <a:pt x="125" y="1762"/>
                      <a:pt x="185" y="1860"/>
                    </a:cubicBezTo>
                    <a:cubicBezTo>
                      <a:pt x="245" y="1958"/>
                      <a:pt x="325" y="2049"/>
                      <a:pt x="412" y="2132"/>
                    </a:cubicBezTo>
                    <a:cubicBezTo>
                      <a:pt x="499" y="2215"/>
                      <a:pt x="620" y="2306"/>
                      <a:pt x="707" y="2359"/>
                    </a:cubicBezTo>
                    <a:cubicBezTo>
                      <a:pt x="794" y="2412"/>
                      <a:pt x="880" y="2431"/>
                      <a:pt x="933" y="2450"/>
                    </a:cubicBezTo>
                    <a:cubicBezTo>
                      <a:pt x="986" y="2469"/>
                      <a:pt x="1005" y="2476"/>
                      <a:pt x="1024" y="2472"/>
                    </a:cubicBezTo>
                    <a:cubicBezTo>
                      <a:pt x="1043" y="2468"/>
                      <a:pt x="1040" y="2450"/>
                      <a:pt x="1047" y="2427"/>
                    </a:cubicBezTo>
                    <a:cubicBezTo>
                      <a:pt x="1054" y="2404"/>
                      <a:pt x="1061" y="2370"/>
                      <a:pt x="1069" y="2336"/>
                    </a:cubicBezTo>
                  </a:path>
                </a:pathLst>
              </a:custGeom>
              <a:noFill/>
              <a:ln w="9525" cap="flat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37590" name="Freeform 98"/>
              <p:cNvSpPr>
                <a:spLocks/>
              </p:cNvSpPr>
              <p:nvPr/>
            </p:nvSpPr>
            <p:spPr bwMode="auto">
              <a:xfrm flipH="1">
                <a:off x="2948" y="777"/>
                <a:ext cx="1157" cy="2476"/>
              </a:xfrm>
              <a:custGeom>
                <a:avLst/>
                <a:gdLst>
                  <a:gd name="T0" fmla="*/ 3236 w 1069"/>
                  <a:gd name="T1" fmla="*/ 114 h 2476"/>
                  <a:gd name="T2" fmla="*/ 3026 w 1069"/>
                  <a:gd name="T3" fmla="*/ 0 h 2476"/>
                  <a:gd name="T4" fmla="*/ 2003 w 1069"/>
                  <a:gd name="T5" fmla="*/ 114 h 2476"/>
                  <a:gd name="T6" fmla="*/ 1249 w 1069"/>
                  <a:gd name="T7" fmla="*/ 272 h 2476"/>
                  <a:gd name="T8" fmla="*/ 488 w 1069"/>
                  <a:gd name="T9" fmla="*/ 590 h 2476"/>
                  <a:gd name="T10" fmla="*/ 77 w 1069"/>
                  <a:gd name="T11" fmla="*/ 907 h 2476"/>
                  <a:gd name="T12" fmla="*/ 4 w 1069"/>
                  <a:gd name="T13" fmla="*/ 1293 h 2476"/>
                  <a:gd name="T14" fmla="*/ 150 w 1069"/>
                  <a:gd name="T15" fmla="*/ 1542 h 2476"/>
                  <a:gd name="T16" fmla="*/ 558 w 1069"/>
                  <a:gd name="T17" fmla="*/ 1860 h 2476"/>
                  <a:gd name="T18" fmla="*/ 1249 w 1069"/>
                  <a:gd name="T19" fmla="*/ 2132 h 2476"/>
                  <a:gd name="T20" fmla="*/ 2140 w 1069"/>
                  <a:gd name="T21" fmla="*/ 2359 h 2476"/>
                  <a:gd name="T22" fmla="*/ 2822 w 1069"/>
                  <a:gd name="T23" fmla="*/ 2450 h 2476"/>
                  <a:gd name="T24" fmla="*/ 3100 w 1069"/>
                  <a:gd name="T25" fmla="*/ 2472 h 2476"/>
                  <a:gd name="T26" fmla="*/ 3168 w 1069"/>
                  <a:gd name="T27" fmla="*/ 2427 h 2476"/>
                  <a:gd name="T28" fmla="*/ 3236 w 1069"/>
                  <a:gd name="T29" fmla="*/ 2336 h 247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069"/>
                  <a:gd name="T46" fmla="*/ 0 h 2476"/>
                  <a:gd name="T47" fmla="*/ 1069 w 1069"/>
                  <a:gd name="T48" fmla="*/ 2476 h 247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069" h="2476">
                    <a:moveTo>
                      <a:pt x="1069" y="114"/>
                    </a:moveTo>
                    <a:cubicBezTo>
                      <a:pt x="1069" y="57"/>
                      <a:pt x="1069" y="0"/>
                      <a:pt x="1001" y="0"/>
                    </a:cubicBezTo>
                    <a:cubicBezTo>
                      <a:pt x="933" y="0"/>
                      <a:pt x="759" y="69"/>
                      <a:pt x="661" y="114"/>
                    </a:cubicBezTo>
                    <a:cubicBezTo>
                      <a:pt x="563" y="159"/>
                      <a:pt x="495" y="193"/>
                      <a:pt x="412" y="272"/>
                    </a:cubicBezTo>
                    <a:cubicBezTo>
                      <a:pt x="329" y="351"/>
                      <a:pt x="226" y="484"/>
                      <a:pt x="162" y="590"/>
                    </a:cubicBezTo>
                    <a:cubicBezTo>
                      <a:pt x="98" y="696"/>
                      <a:pt x="52" y="790"/>
                      <a:pt x="26" y="907"/>
                    </a:cubicBezTo>
                    <a:cubicBezTo>
                      <a:pt x="0" y="1024"/>
                      <a:pt x="0" y="1187"/>
                      <a:pt x="4" y="1293"/>
                    </a:cubicBezTo>
                    <a:cubicBezTo>
                      <a:pt x="8" y="1399"/>
                      <a:pt x="19" y="1448"/>
                      <a:pt x="49" y="1542"/>
                    </a:cubicBezTo>
                    <a:cubicBezTo>
                      <a:pt x="79" y="1636"/>
                      <a:pt x="125" y="1762"/>
                      <a:pt x="185" y="1860"/>
                    </a:cubicBezTo>
                    <a:cubicBezTo>
                      <a:pt x="245" y="1958"/>
                      <a:pt x="325" y="2049"/>
                      <a:pt x="412" y="2132"/>
                    </a:cubicBezTo>
                    <a:cubicBezTo>
                      <a:pt x="499" y="2215"/>
                      <a:pt x="620" y="2306"/>
                      <a:pt x="707" y="2359"/>
                    </a:cubicBezTo>
                    <a:cubicBezTo>
                      <a:pt x="794" y="2412"/>
                      <a:pt x="880" y="2431"/>
                      <a:pt x="933" y="2450"/>
                    </a:cubicBezTo>
                    <a:cubicBezTo>
                      <a:pt x="986" y="2469"/>
                      <a:pt x="1005" y="2476"/>
                      <a:pt x="1024" y="2472"/>
                    </a:cubicBezTo>
                    <a:cubicBezTo>
                      <a:pt x="1043" y="2468"/>
                      <a:pt x="1040" y="2450"/>
                      <a:pt x="1047" y="2427"/>
                    </a:cubicBezTo>
                    <a:cubicBezTo>
                      <a:pt x="1054" y="2404"/>
                      <a:pt x="1061" y="2370"/>
                      <a:pt x="1069" y="2336"/>
                    </a:cubicBezTo>
                  </a:path>
                </a:pathLst>
              </a:custGeom>
              <a:noFill/>
              <a:ln w="9525" cap="flat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237585" name="Line 99"/>
            <p:cNvSpPr>
              <a:spLocks noChangeShapeType="1"/>
            </p:cNvSpPr>
            <p:nvPr/>
          </p:nvSpPr>
          <p:spPr bwMode="auto">
            <a:xfrm>
              <a:off x="2948" y="1820"/>
              <a:ext cx="0" cy="1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37586" name="Line 100"/>
            <p:cNvSpPr>
              <a:spLocks noChangeShapeType="1"/>
            </p:cNvSpPr>
            <p:nvPr/>
          </p:nvSpPr>
          <p:spPr bwMode="auto">
            <a:xfrm>
              <a:off x="2562" y="1820"/>
              <a:ext cx="0" cy="1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7" name="Group 112"/>
          <p:cNvGrpSpPr>
            <a:grpSpLocks/>
          </p:cNvGrpSpPr>
          <p:nvPr/>
        </p:nvGrpSpPr>
        <p:grpSpPr bwMode="auto">
          <a:xfrm>
            <a:off x="2913063" y="2897188"/>
            <a:ext cx="3144837" cy="908050"/>
            <a:chOff x="1835" y="1825"/>
            <a:chExt cx="1981" cy="572"/>
          </a:xfrm>
        </p:grpSpPr>
        <p:sp>
          <p:nvSpPr>
            <p:cNvPr id="237582" name="AutoShape 103"/>
            <p:cNvSpPr>
              <a:spLocks noChangeArrowheads="1"/>
            </p:cNvSpPr>
            <p:nvPr/>
          </p:nvSpPr>
          <p:spPr bwMode="auto">
            <a:xfrm>
              <a:off x="1835" y="2219"/>
              <a:ext cx="1792" cy="178"/>
            </a:xfrm>
            <a:prstGeom prst="rightArrow">
              <a:avLst>
                <a:gd name="adj1" fmla="val 50000"/>
                <a:gd name="adj2" fmla="val 251685"/>
              </a:avLst>
            </a:prstGeom>
            <a:solidFill>
              <a:srgbClr val="FF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37583" name="Text Box 104"/>
            <p:cNvSpPr txBox="1">
              <a:spLocks noChangeArrowheads="1"/>
            </p:cNvSpPr>
            <p:nvPr/>
          </p:nvSpPr>
          <p:spPr bwMode="auto">
            <a:xfrm>
              <a:off x="3351" y="1825"/>
              <a:ext cx="465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3600">
                  <a:latin typeface="Arial Narrow" panose="020B0606020202030204" pitchFamily="34" charset="0"/>
                  <a:sym typeface="Symbol" panose="05050102010706020507" pitchFamily="18" charset="2"/>
                </a:rPr>
                <a:t></a:t>
              </a:r>
              <a:r>
                <a:rPr lang="en-US" altLang="fr-FR" sz="3600" baseline="-25000">
                  <a:latin typeface="Arial Narrow" panose="020B0606020202030204" pitchFamily="34" charset="0"/>
                  <a:sym typeface="Symbol" panose="05050102010706020507" pitchFamily="18" charset="2"/>
                </a:rPr>
                <a:t>a</a:t>
              </a:r>
            </a:p>
          </p:txBody>
        </p:sp>
      </p:grpSp>
      <p:grpSp>
        <p:nvGrpSpPr>
          <p:cNvPr id="8" name="Group 113"/>
          <p:cNvGrpSpPr>
            <a:grpSpLocks/>
          </p:cNvGrpSpPr>
          <p:nvPr/>
        </p:nvGrpSpPr>
        <p:grpSpPr bwMode="auto">
          <a:xfrm>
            <a:off x="2847975" y="3643313"/>
            <a:ext cx="954088" cy="2655887"/>
            <a:chOff x="1794" y="2295"/>
            <a:chExt cx="601" cy="1673"/>
          </a:xfrm>
        </p:grpSpPr>
        <p:sp>
          <p:nvSpPr>
            <p:cNvPr id="237580" name="AutoShape 102"/>
            <p:cNvSpPr>
              <a:spLocks noChangeArrowheads="1"/>
            </p:cNvSpPr>
            <p:nvPr/>
          </p:nvSpPr>
          <p:spPr bwMode="auto">
            <a:xfrm>
              <a:off x="1794" y="2295"/>
              <a:ext cx="186" cy="1424"/>
            </a:xfrm>
            <a:prstGeom prst="downArrow">
              <a:avLst>
                <a:gd name="adj1" fmla="val 50000"/>
                <a:gd name="adj2" fmla="val 191398"/>
              </a:avLst>
            </a:prstGeom>
            <a:solidFill>
              <a:srgbClr val="FF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37581" name="Text Box 105"/>
            <p:cNvSpPr txBox="1">
              <a:spLocks noChangeArrowheads="1"/>
            </p:cNvSpPr>
            <p:nvPr/>
          </p:nvSpPr>
          <p:spPr bwMode="auto">
            <a:xfrm>
              <a:off x="1930" y="3564"/>
              <a:ext cx="465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3600">
                  <a:latin typeface="Arial Narrow" panose="020B0606020202030204" pitchFamily="34" charset="0"/>
                  <a:sym typeface="Symbol" panose="05050102010706020507" pitchFamily="18" charset="2"/>
                </a:rPr>
                <a:t></a:t>
              </a:r>
              <a:r>
                <a:rPr lang="en-US" altLang="fr-FR" sz="3600" baseline="-25000">
                  <a:latin typeface="Arial Narrow" panose="020B0606020202030204" pitchFamily="34" charset="0"/>
                  <a:sym typeface="Symbol" panose="05050102010706020507" pitchFamily="18" charset="2"/>
                </a:rPr>
                <a:t>f</a:t>
              </a:r>
            </a:p>
          </p:txBody>
        </p:sp>
      </p:grpSp>
      <p:sp>
        <p:nvSpPr>
          <p:cNvPr id="8300" name="Text Box 108"/>
          <p:cNvSpPr txBox="1">
            <a:spLocks noChangeArrowheads="1"/>
          </p:cNvSpPr>
          <p:nvPr/>
        </p:nvSpPr>
        <p:spPr bwMode="auto">
          <a:xfrm>
            <a:off x="5308600" y="1285875"/>
            <a:ext cx="3582988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En maintenant le flux constant, le couple peut être commandé par la commande du courant de l’induit</a:t>
            </a:r>
          </a:p>
        </p:txBody>
      </p:sp>
      <p:sp>
        <p:nvSpPr>
          <p:cNvPr id="8302" name="Text Box 110"/>
          <p:cNvSpPr txBox="1">
            <a:spLocks noChangeArrowheads="1"/>
          </p:cNvSpPr>
          <p:nvPr/>
        </p:nvSpPr>
        <p:spPr bwMode="auto">
          <a:xfrm>
            <a:off x="6049963" y="3829050"/>
            <a:ext cx="1682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800">
                <a:latin typeface="Arial Narrow" panose="020B0606020202030204" pitchFamily="34" charset="0"/>
              </a:rPr>
              <a:t>T</a:t>
            </a:r>
            <a:r>
              <a:rPr lang="en-US" altLang="fr-FR" sz="2800" baseline="-25000">
                <a:latin typeface="Arial Narrow" panose="020B0606020202030204" pitchFamily="34" charset="0"/>
              </a:rPr>
              <a:t>e</a:t>
            </a:r>
            <a:r>
              <a:rPr lang="en-US" altLang="fr-FR" sz="2800">
                <a:latin typeface="Arial Narrow" panose="020B0606020202030204" pitchFamily="34" charset="0"/>
              </a:rPr>
              <a:t> = k I</a:t>
            </a:r>
            <a:r>
              <a:rPr lang="en-US" altLang="fr-FR" sz="2800" baseline="-25000">
                <a:latin typeface="Arial Narrow" panose="020B0606020202030204" pitchFamily="34" charset="0"/>
              </a:rPr>
              <a:t>f </a:t>
            </a:r>
            <a:r>
              <a:rPr lang="en-US" altLang="fr-FR" sz="2800">
                <a:latin typeface="Arial Narrow" panose="020B0606020202030204" pitchFamily="34" charset="0"/>
              </a:rPr>
              <a:t>I</a:t>
            </a:r>
            <a:r>
              <a:rPr lang="en-US" altLang="fr-FR" sz="2800" baseline="-25000">
                <a:latin typeface="Arial Narrow" panose="020B0606020202030204" pitchFamily="34" charset="0"/>
              </a:rPr>
              <a:t>a</a:t>
            </a:r>
          </a:p>
        </p:txBody>
      </p:sp>
      <p:sp>
        <p:nvSpPr>
          <p:cNvPr id="237578" name="Espace réservé du numéro de diapositive 8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85B8617-6909-4898-8E83-108482DA250E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86" name="Espace réservé du pied de page 8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3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3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00" grpId="0"/>
      <p:bldP spid="830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fr-FR" sz="3600" smtClean="0">
                <a:latin typeface="Arial Narrow" panose="020B0606020202030204" pitchFamily="34" charset="0"/>
              </a:rPr>
              <a:t>Principe de base d’une machine AS</a:t>
            </a:r>
            <a:endParaRPr lang="en-US" altLang="fr-FR" sz="3600" smtClean="0"/>
          </a:p>
        </p:txBody>
      </p:sp>
      <p:sp>
        <p:nvSpPr>
          <p:cNvPr id="239619" name="Rectangle 8"/>
          <p:cNvSpPr>
            <a:spLocks noChangeArrowheads="1"/>
          </p:cNvSpPr>
          <p:nvPr/>
        </p:nvSpPr>
        <p:spPr bwMode="auto">
          <a:xfrm>
            <a:off x="357188" y="257175"/>
            <a:ext cx="8429625" cy="6254750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pSp>
        <p:nvGrpSpPr>
          <p:cNvPr id="239620" name="Group 11"/>
          <p:cNvGrpSpPr>
            <a:grpSpLocks/>
          </p:cNvGrpSpPr>
          <p:nvPr/>
        </p:nvGrpSpPr>
        <p:grpSpPr bwMode="auto">
          <a:xfrm>
            <a:off x="1127125" y="1600200"/>
            <a:ext cx="3833813" cy="3475038"/>
            <a:chOff x="912" y="1008"/>
            <a:chExt cx="2415" cy="2189"/>
          </a:xfrm>
        </p:grpSpPr>
        <p:sp>
          <p:nvSpPr>
            <p:cNvPr id="239635" name="Oval 12"/>
            <p:cNvSpPr>
              <a:spLocks noChangeAspect="1" noChangeArrowheads="1"/>
            </p:cNvSpPr>
            <p:nvPr/>
          </p:nvSpPr>
          <p:spPr bwMode="auto">
            <a:xfrm>
              <a:off x="932" y="1235"/>
              <a:ext cx="1981" cy="195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39636" name="Oval 13"/>
            <p:cNvSpPr>
              <a:spLocks noChangeAspect="1" noChangeArrowheads="1"/>
            </p:cNvSpPr>
            <p:nvPr/>
          </p:nvSpPr>
          <p:spPr bwMode="auto">
            <a:xfrm>
              <a:off x="1208" y="1501"/>
              <a:ext cx="1449" cy="145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39637" name="Oval 14"/>
            <p:cNvSpPr>
              <a:spLocks noChangeAspect="1" noChangeArrowheads="1"/>
            </p:cNvSpPr>
            <p:nvPr/>
          </p:nvSpPr>
          <p:spPr bwMode="auto">
            <a:xfrm>
              <a:off x="1445" y="1734"/>
              <a:ext cx="968" cy="979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39638" name="Oval 15"/>
            <p:cNvSpPr>
              <a:spLocks noChangeAspect="1" noChangeArrowheads="1"/>
            </p:cNvSpPr>
            <p:nvPr/>
          </p:nvSpPr>
          <p:spPr bwMode="auto">
            <a:xfrm>
              <a:off x="1881" y="1335"/>
              <a:ext cx="134" cy="140"/>
            </a:xfrm>
            <a:prstGeom prst="ellipse">
              <a:avLst/>
            </a:prstGeom>
            <a:solidFill>
              <a:srgbClr val="FF66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39639" name="Oval 16"/>
            <p:cNvSpPr>
              <a:spLocks noChangeAspect="1" noChangeArrowheads="1"/>
            </p:cNvSpPr>
            <p:nvPr/>
          </p:nvSpPr>
          <p:spPr bwMode="auto">
            <a:xfrm>
              <a:off x="1888" y="2952"/>
              <a:ext cx="135" cy="14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39640" name="Oval 17"/>
            <p:cNvSpPr>
              <a:spLocks noChangeAspect="1" noChangeArrowheads="1"/>
            </p:cNvSpPr>
            <p:nvPr/>
          </p:nvSpPr>
          <p:spPr bwMode="auto">
            <a:xfrm>
              <a:off x="2548" y="2610"/>
              <a:ext cx="134" cy="139"/>
            </a:xfrm>
            <a:prstGeom prst="ellipse">
              <a:avLst/>
            </a:prstGeom>
            <a:solidFill>
              <a:srgbClr val="FF66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39641" name="Oval 18"/>
            <p:cNvSpPr>
              <a:spLocks noChangeAspect="1" noChangeArrowheads="1"/>
            </p:cNvSpPr>
            <p:nvPr/>
          </p:nvSpPr>
          <p:spPr bwMode="auto">
            <a:xfrm>
              <a:off x="1214" y="1635"/>
              <a:ext cx="135" cy="13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39642" name="Oval 19"/>
            <p:cNvSpPr>
              <a:spLocks noChangeAspect="1" noChangeArrowheads="1"/>
            </p:cNvSpPr>
            <p:nvPr/>
          </p:nvSpPr>
          <p:spPr bwMode="auto">
            <a:xfrm>
              <a:off x="1146" y="2610"/>
              <a:ext cx="135" cy="139"/>
            </a:xfrm>
            <a:prstGeom prst="ellipse">
              <a:avLst/>
            </a:prstGeom>
            <a:solidFill>
              <a:srgbClr val="FF66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39643" name="Oval 20"/>
            <p:cNvSpPr>
              <a:spLocks noChangeAspect="1" noChangeArrowheads="1"/>
            </p:cNvSpPr>
            <p:nvPr/>
          </p:nvSpPr>
          <p:spPr bwMode="auto">
            <a:xfrm>
              <a:off x="2535" y="1681"/>
              <a:ext cx="134" cy="14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grpSp>
          <p:nvGrpSpPr>
            <p:cNvPr id="239644" name="Group 21"/>
            <p:cNvGrpSpPr>
              <a:grpSpLocks noChangeAspect="1"/>
            </p:cNvGrpSpPr>
            <p:nvPr/>
          </p:nvGrpSpPr>
          <p:grpSpPr bwMode="auto">
            <a:xfrm>
              <a:off x="1887" y="1814"/>
              <a:ext cx="109" cy="833"/>
              <a:chOff x="7198" y="7688"/>
              <a:chExt cx="238" cy="1750"/>
            </a:xfrm>
          </p:grpSpPr>
          <p:sp>
            <p:nvSpPr>
              <p:cNvPr id="239665" name="Oval 22"/>
              <p:cNvSpPr>
                <a:spLocks noChangeAspect="1" noChangeArrowheads="1"/>
              </p:cNvSpPr>
              <p:nvPr/>
            </p:nvSpPr>
            <p:spPr bwMode="auto">
              <a:xfrm>
                <a:off x="7198" y="7688"/>
                <a:ext cx="182" cy="16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9666" name="Oval 23"/>
              <p:cNvSpPr>
                <a:spLocks noChangeAspect="1" noChangeArrowheads="1"/>
              </p:cNvSpPr>
              <p:nvPr/>
            </p:nvSpPr>
            <p:spPr bwMode="auto">
              <a:xfrm>
                <a:off x="7254" y="9270"/>
                <a:ext cx="182" cy="16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</p:grpSp>
        <p:grpSp>
          <p:nvGrpSpPr>
            <p:cNvPr id="239645" name="Group 24"/>
            <p:cNvGrpSpPr>
              <a:grpSpLocks noChangeAspect="1"/>
            </p:cNvGrpSpPr>
            <p:nvPr/>
          </p:nvGrpSpPr>
          <p:grpSpPr bwMode="auto">
            <a:xfrm rot="-8492043">
              <a:off x="1894" y="1821"/>
              <a:ext cx="109" cy="832"/>
              <a:chOff x="7198" y="7688"/>
              <a:chExt cx="238" cy="1750"/>
            </a:xfrm>
          </p:grpSpPr>
          <p:sp>
            <p:nvSpPr>
              <p:cNvPr id="239663" name="Oval 25"/>
              <p:cNvSpPr>
                <a:spLocks noChangeAspect="1" noChangeArrowheads="1"/>
              </p:cNvSpPr>
              <p:nvPr/>
            </p:nvSpPr>
            <p:spPr bwMode="auto">
              <a:xfrm>
                <a:off x="7198" y="7688"/>
                <a:ext cx="182" cy="16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9664" name="Oval 26"/>
              <p:cNvSpPr>
                <a:spLocks noChangeAspect="1" noChangeArrowheads="1"/>
              </p:cNvSpPr>
              <p:nvPr/>
            </p:nvSpPr>
            <p:spPr bwMode="auto">
              <a:xfrm>
                <a:off x="7254" y="9270"/>
                <a:ext cx="182" cy="16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</p:grpSp>
        <p:grpSp>
          <p:nvGrpSpPr>
            <p:cNvPr id="239646" name="Group 27"/>
            <p:cNvGrpSpPr>
              <a:grpSpLocks noChangeAspect="1"/>
            </p:cNvGrpSpPr>
            <p:nvPr/>
          </p:nvGrpSpPr>
          <p:grpSpPr bwMode="auto">
            <a:xfrm rot="8492043" flipH="1">
              <a:off x="1881" y="1808"/>
              <a:ext cx="109" cy="832"/>
              <a:chOff x="7198" y="7688"/>
              <a:chExt cx="238" cy="1750"/>
            </a:xfrm>
          </p:grpSpPr>
          <p:sp>
            <p:nvSpPr>
              <p:cNvPr id="239661" name="Oval 28"/>
              <p:cNvSpPr>
                <a:spLocks noChangeAspect="1" noChangeArrowheads="1"/>
              </p:cNvSpPr>
              <p:nvPr/>
            </p:nvSpPr>
            <p:spPr bwMode="auto">
              <a:xfrm>
                <a:off x="7198" y="7688"/>
                <a:ext cx="182" cy="16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9662" name="Oval 29"/>
              <p:cNvSpPr>
                <a:spLocks noChangeAspect="1" noChangeArrowheads="1"/>
              </p:cNvSpPr>
              <p:nvPr/>
            </p:nvSpPr>
            <p:spPr bwMode="auto">
              <a:xfrm>
                <a:off x="7254" y="9270"/>
                <a:ext cx="182" cy="16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</p:grpSp>
        <p:grpSp>
          <p:nvGrpSpPr>
            <p:cNvPr id="239647" name="Group 30"/>
            <p:cNvGrpSpPr>
              <a:grpSpLocks noChangeAspect="1"/>
            </p:cNvGrpSpPr>
            <p:nvPr/>
          </p:nvGrpSpPr>
          <p:grpSpPr bwMode="auto">
            <a:xfrm rot="6670571" flipH="1">
              <a:off x="1872" y="1823"/>
              <a:ext cx="113" cy="802"/>
              <a:chOff x="7198" y="7688"/>
              <a:chExt cx="238" cy="1750"/>
            </a:xfrm>
          </p:grpSpPr>
          <p:sp>
            <p:nvSpPr>
              <p:cNvPr id="239659" name="Oval 31"/>
              <p:cNvSpPr>
                <a:spLocks noChangeAspect="1" noChangeArrowheads="1"/>
              </p:cNvSpPr>
              <p:nvPr/>
            </p:nvSpPr>
            <p:spPr bwMode="auto">
              <a:xfrm>
                <a:off x="7198" y="7688"/>
                <a:ext cx="182" cy="16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9660" name="Oval 32"/>
              <p:cNvSpPr>
                <a:spLocks noChangeAspect="1" noChangeArrowheads="1"/>
              </p:cNvSpPr>
              <p:nvPr/>
            </p:nvSpPr>
            <p:spPr bwMode="auto">
              <a:xfrm>
                <a:off x="7254" y="9270"/>
                <a:ext cx="182" cy="16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</p:grpSp>
        <p:grpSp>
          <p:nvGrpSpPr>
            <p:cNvPr id="239648" name="Group 33"/>
            <p:cNvGrpSpPr>
              <a:grpSpLocks noChangeAspect="1"/>
            </p:cNvGrpSpPr>
            <p:nvPr/>
          </p:nvGrpSpPr>
          <p:grpSpPr bwMode="auto">
            <a:xfrm rot="-6670571">
              <a:off x="1879" y="1837"/>
              <a:ext cx="113" cy="801"/>
              <a:chOff x="7198" y="7688"/>
              <a:chExt cx="238" cy="1750"/>
            </a:xfrm>
          </p:grpSpPr>
          <p:sp>
            <p:nvSpPr>
              <p:cNvPr id="239657" name="Oval 34"/>
              <p:cNvSpPr>
                <a:spLocks noChangeAspect="1" noChangeArrowheads="1"/>
              </p:cNvSpPr>
              <p:nvPr/>
            </p:nvSpPr>
            <p:spPr bwMode="auto">
              <a:xfrm>
                <a:off x="7198" y="7688"/>
                <a:ext cx="182" cy="16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9658" name="Oval 35"/>
              <p:cNvSpPr>
                <a:spLocks noChangeAspect="1" noChangeArrowheads="1"/>
              </p:cNvSpPr>
              <p:nvPr/>
            </p:nvSpPr>
            <p:spPr bwMode="auto">
              <a:xfrm>
                <a:off x="7254" y="9270"/>
                <a:ext cx="182" cy="16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</p:grpSp>
        <p:grpSp>
          <p:nvGrpSpPr>
            <p:cNvPr id="239649" name="Group 36"/>
            <p:cNvGrpSpPr>
              <a:grpSpLocks noChangeAspect="1"/>
            </p:cNvGrpSpPr>
            <p:nvPr/>
          </p:nvGrpSpPr>
          <p:grpSpPr bwMode="auto">
            <a:xfrm rot="5294780" flipH="1">
              <a:off x="1866" y="1830"/>
              <a:ext cx="113" cy="801"/>
              <a:chOff x="7198" y="7688"/>
              <a:chExt cx="238" cy="1750"/>
            </a:xfrm>
          </p:grpSpPr>
          <p:sp>
            <p:nvSpPr>
              <p:cNvPr id="239655" name="Oval 37"/>
              <p:cNvSpPr>
                <a:spLocks noChangeAspect="1" noChangeArrowheads="1"/>
              </p:cNvSpPr>
              <p:nvPr/>
            </p:nvSpPr>
            <p:spPr bwMode="auto">
              <a:xfrm>
                <a:off x="7198" y="7688"/>
                <a:ext cx="182" cy="16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9656" name="Oval 38"/>
              <p:cNvSpPr>
                <a:spLocks noChangeAspect="1" noChangeArrowheads="1"/>
              </p:cNvSpPr>
              <p:nvPr/>
            </p:nvSpPr>
            <p:spPr bwMode="auto">
              <a:xfrm>
                <a:off x="7254" y="9270"/>
                <a:ext cx="182" cy="16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</p:grpSp>
        <p:sp>
          <p:nvSpPr>
            <p:cNvPr id="239650" name="Text Box 39"/>
            <p:cNvSpPr txBox="1">
              <a:spLocks noChangeAspect="1" noChangeArrowheads="1"/>
            </p:cNvSpPr>
            <p:nvPr/>
          </p:nvSpPr>
          <p:spPr bwMode="auto">
            <a:xfrm>
              <a:off x="1770" y="1008"/>
              <a:ext cx="591" cy="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39651" name="Text Box 40"/>
            <p:cNvSpPr txBox="1">
              <a:spLocks noChangeAspect="1" noChangeArrowheads="1"/>
            </p:cNvSpPr>
            <p:nvPr/>
          </p:nvSpPr>
          <p:spPr bwMode="auto">
            <a:xfrm>
              <a:off x="912" y="2614"/>
              <a:ext cx="591" cy="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39652" name="Text Box 41"/>
            <p:cNvSpPr txBox="1">
              <a:spLocks noChangeAspect="1" noChangeArrowheads="1"/>
            </p:cNvSpPr>
            <p:nvPr/>
          </p:nvSpPr>
          <p:spPr bwMode="auto">
            <a:xfrm>
              <a:off x="2736" y="1442"/>
              <a:ext cx="591" cy="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Times New Roman" panose="02020603050405020304" pitchFamily="18" charset="0"/>
                </a:rPr>
                <a:t>b’</a:t>
              </a:r>
            </a:p>
          </p:txBody>
        </p:sp>
        <p:sp>
          <p:nvSpPr>
            <p:cNvPr id="239653" name="Text Box 42"/>
            <p:cNvSpPr txBox="1">
              <a:spLocks noChangeAspect="1" noChangeArrowheads="1"/>
            </p:cNvSpPr>
            <p:nvPr/>
          </p:nvSpPr>
          <p:spPr bwMode="auto">
            <a:xfrm>
              <a:off x="927" y="1469"/>
              <a:ext cx="591" cy="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Times New Roman" panose="02020603050405020304" pitchFamily="18" charset="0"/>
                </a:rPr>
                <a:t>c’</a:t>
              </a:r>
            </a:p>
          </p:txBody>
        </p:sp>
        <p:sp>
          <p:nvSpPr>
            <p:cNvPr id="239654" name="Text Box 43"/>
            <p:cNvSpPr txBox="1">
              <a:spLocks noChangeAspect="1" noChangeArrowheads="1"/>
            </p:cNvSpPr>
            <p:nvPr/>
          </p:nvSpPr>
          <p:spPr bwMode="auto">
            <a:xfrm>
              <a:off x="2703" y="2734"/>
              <a:ext cx="591" cy="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Times New Roman" panose="02020603050405020304" pitchFamily="18" charset="0"/>
                </a:rPr>
                <a:t>c</a:t>
              </a:r>
            </a:p>
          </p:txBody>
        </p:sp>
      </p:grpSp>
      <p:sp>
        <p:nvSpPr>
          <p:cNvPr id="10290" name="Text Box 50"/>
          <p:cNvSpPr txBox="1">
            <a:spLocks noChangeArrowheads="1"/>
          </p:cNvSpPr>
          <p:nvPr/>
        </p:nvSpPr>
        <p:spPr bwMode="auto">
          <a:xfrm>
            <a:off x="5135563" y="1460500"/>
            <a:ext cx="344646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000">
                <a:latin typeface="Arial Narrow" panose="020B0606020202030204" pitchFamily="34" charset="0"/>
              </a:rPr>
              <a:t>Le courant statorique produit le flux statorique </a:t>
            </a:r>
            <a:endParaRPr lang="en-US" altLang="fr-FR" sz="2000">
              <a:latin typeface="Arial Narrow" panose="020B0606020202030204" pitchFamily="34" charset="0"/>
              <a:sym typeface="Symbol" panose="05050102010706020507" pitchFamily="18" charset="2"/>
            </a:endParaRPr>
          </a:p>
        </p:txBody>
      </p:sp>
      <p:grpSp>
        <p:nvGrpSpPr>
          <p:cNvPr id="9" name="Group 53"/>
          <p:cNvGrpSpPr>
            <a:grpSpLocks/>
          </p:cNvGrpSpPr>
          <p:nvPr/>
        </p:nvGrpSpPr>
        <p:grpSpPr bwMode="auto">
          <a:xfrm>
            <a:off x="1309688" y="1331913"/>
            <a:ext cx="1263650" cy="2397125"/>
            <a:chOff x="825" y="839"/>
            <a:chExt cx="796" cy="1510"/>
          </a:xfrm>
        </p:grpSpPr>
        <p:sp>
          <p:nvSpPr>
            <p:cNvPr id="239632" name="AutoShape 44"/>
            <p:cNvSpPr>
              <a:spLocks noChangeArrowheads="1"/>
            </p:cNvSpPr>
            <p:nvPr/>
          </p:nvSpPr>
          <p:spPr bwMode="auto">
            <a:xfrm rot="-7119991">
              <a:off x="722" y="1565"/>
              <a:ext cx="1349" cy="220"/>
            </a:xfrm>
            <a:prstGeom prst="rightArrow">
              <a:avLst>
                <a:gd name="adj1" fmla="val 50000"/>
                <a:gd name="adj2" fmla="val 153295"/>
              </a:avLst>
            </a:prstGeom>
            <a:solidFill>
              <a:srgbClr val="FF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39633" name="Text Box 46"/>
            <p:cNvSpPr txBox="1">
              <a:spLocks noChangeArrowheads="1"/>
            </p:cNvSpPr>
            <p:nvPr/>
          </p:nvSpPr>
          <p:spPr bwMode="auto">
            <a:xfrm>
              <a:off x="825" y="839"/>
              <a:ext cx="2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Arial Narrow" panose="020B0606020202030204" pitchFamily="34" charset="0"/>
                  <a:sym typeface="Symbol" panose="05050102010706020507" pitchFamily="18" charset="2"/>
                </a:rPr>
                <a:t></a:t>
              </a:r>
              <a:r>
                <a:rPr lang="en-US" altLang="fr-FR" sz="2400" baseline="-25000">
                  <a:latin typeface="Arial Narrow" panose="020B0606020202030204" pitchFamily="34" charset="0"/>
                  <a:sym typeface="Symbol" panose="05050102010706020507" pitchFamily="18" charset="2"/>
                </a:rPr>
                <a:t>s</a:t>
              </a:r>
            </a:p>
          </p:txBody>
        </p:sp>
        <p:sp>
          <p:nvSpPr>
            <p:cNvPr id="239634" name="Arc 51"/>
            <p:cNvSpPr>
              <a:spLocks/>
            </p:cNvSpPr>
            <p:nvPr/>
          </p:nvSpPr>
          <p:spPr bwMode="auto">
            <a:xfrm flipH="1">
              <a:off x="1256" y="1613"/>
              <a:ext cx="365" cy="24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10" name="Group 54"/>
          <p:cNvGrpSpPr>
            <a:grpSpLocks/>
          </p:cNvGrpSpPr>
          <p:nvPr/>
        </p:nvGrpSpPr>
        <p:grpSpPr bwMode="auto">
          <a:xfrm>
            <a:off x="3155950" y="1574800"/>
            <a:ext cx="1293813" cy="2279650"/>
            <a:chOff x="1988" y="992"/>
            <a:chExt cx="815" cy="1436"/>
          </a:xfrm>
        </p:grpSpPr>
        <p:sp>
          <p:nvSpPr>
            <p:cNvPr id="239629" name="AutoShape 45"/>
            <p:cNvSpPr>
              <a:spLocks noChangeArrowheads="1"/>
            </p:cNvSpPr>
            <p:nvPr/>
          </p:nvSpPr>
          <p:spPr bwMode="auto">
            <a:xfrm rot="-3055928">
              <a:off x="1423" y="1644"/>
              <a:ext cx="1349" cy="220"/>
            </a:xfrm>
            <a:prstGeom prst="rightArrow">
              <a:avLst>
                <a:gd name="adj1" fmla="val 50000"/>
                <a:gd name="adj2" fmla="val 153295"/>
              </a:avLst>
            </a:prstGeom>
            <a:solidFill>
              <a:srgbClr val="FF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39630" name="Text Box 48"/>
            <p:cNvSpPr txBox="1">
              <a:spLocks noChangeArrowheads="1"/>
            </p:cNvSpPr>
            <p:nvPr/>
          </p:nvSpPr>
          <p:spPr bwMode="auto">
            <a:xfrm>
              <a:off x="2544" y="992"/>
              <a:ext cx="25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Arial Narrow" panose="020B0606020202030204" pitchFamily="34" charset="0"/>
                  <a:sym typeface="Symbol" panose="05050102010706020507" pitchFamily="18" charset="2"/>
                </a:rPr>
                <a:t></a:t>
              </a:r>
              <a:r>
                <a:rPr lang="en-US" altLang="fr-FR" sz="2400" baseline="-25000">
                  <a:latin typeface="Arial Narrow" panose="020B0606020202030204" pitchFamily="34" charset="0"/>
                  <a:sym typeface="Symbol" panose="05050102010706020507" pitchFamily="18" charset="2"/>
                </a:rPr>
                <a:t>r</a:t>
              </a:r>
            </a:p>
          </p:txBody>
        </p:sp>
        <p:sp>
          <p:nvSpPr>
            <p:cNvPr id="239631" name="Arc 52"/>
            <p:cNvSpPr>
              <a:spLocks/>
            </p:cNvSpPr>
            <p:nvPr/>
          </p:nvSpPr>
          <p:spPr bwMode="auto">
            <a:xfrm rot="4908257" flipH="1">
              <a:off x="1947" y="1680"/>
              <a:ext cx="365" cy="24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1274" name="Text Box 1034"/>
          <p:cNvSpPr txBox="1">
            <a:spLocks noChangeArrowheads="1"/>
          </p:cNvSpPr>
          <p:nvPr/>
        </p:nvSpPr>
        <p:spPr bwMode="auto">
          <a:xfrm>
            <a:off x="5135563" y="3616325"/>
            <a:ext cx="344646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000">
                <a:latin typeface="Arial Narrow" panose="020B0606020202030204" pitchFamily="34" charset="0"/>
                <a:sym typeface="Symbol" panose="05050102010706020507" pitchFamily="18" charset="2"/>
              </a:rPr>
              <a:t>Interaction entre flux du stator et du rotor produit le couple</a:t>
            </a:r>
          </a:p>
        </p:txBody>
      </p:sp>
      <p:sp>
        <p:nvSpPr>
          <p:cNvPr id="11275" name="Text Box 1035"/>
          <p:cNvSpPr txBox="1">
            <a:spLocks noChangeArrowheads="1"/>
          </p:cNvSpPr>
          <p:nvPr/>
        </p:nvSpPr>
        <p:spPr bwMode="auto">
          <a:xfrm>
            <a:off x="5162550" y="4979988"/>
            <a:ext cx="3446463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000">
                <a:latin typeface="Arial Narrow" panose="020B0606020202030204" pitchFamily="34" charset="0"/>
                <a:sym typeface="Symbol" panose="05050102010706020507" pitchFamily="18" charset="2"/>
              </a:rPr>
              <a:t>L’angle spatial entre les deux flux </a:t>
            </a:r>
            <a:r>
              <a:rPr lang="en-US" altLang="fr-FR" sz="2000" b="1">
                <a:latin typeface="Arial Narrow" panose="020B0606020202030204" pitchFamily="34" charset="0"/>
                <a:sym typeface="Symbol" panose="05050102010706020507" pitchFamily="18" charset="2"/>
              </a:rPr>
              <a:t>varie selon la charge et la vitesse.</a:t>
            </a:r>
          </a:p>
        </p:txBody>
      </p:sp>
      <p:sp>
        <p:nvSpPr>
          <p:cNvPr id="11276" name="Text Box 1036"/>
          <p:cNvSpPr txBox="1">
            <a:spLocks noChangeArrowheads="1"/>
          </p:cNvSpPr>
          <p:nvPr/>
        </p:nvSpPr>
        <p:spPr bwMode="auto">
          <a:xfrm>
            <a:off x="5135563" y="2401888"/>
            <a:ext cx="359886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000">
                <a:latin typeface="Arial Narrow" panose="020B0606020202030204" pitchFamily="34" charset="0"/>
                <a:sym typeface="Symbol" panose="05050102010706020507" pitchFamily="18" charset="2"/>
              </a:rPr>
              <a:t>Le flux du stator produit le courant rotorique  produit le flux rotorique</a:t>
            </a:r>
          </a:p>
        </p:txBody>
      </p:sp>
      <p:sp>
        <p:nvSpPr>
          <p:cNvPr id="239627" name="Espace réservé du numéro de diapositive 48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BB15E3B-CED8-4821-8095-ED22C8AA3661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50" name="Espace réservé du pied de page 4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90" grpId="0"/>
      <p:bldP spid="11274" grpId="0"/>
      <p:bldP spid="11275" grpId="0"/>
      <p:bldP spid="1127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fr-FR" sz="2800" smtClean="0">
                <a:latin typeface="Arial Narrow" panose="020B0606020202030204" pitchFamily="34" charset="0"/>
              </a:rPr>
              <a:t>CFO d’un entrainment par MAS</a:t>
            </a:r>
          </a:p>
        </p:txBody>
      </p:sp>
      <p:sp>
        <p:nvSpPr>
          <p:cNvPr id="102403" name="Rectangle 3"/>
          <p:cNvSpPr>
            <a:spLocks noGrp="1" noChangeArrowheads="1"/>
          </p:cNvSpPr>
          <p:nvPr>
            <p:ph idx="1"/>
          </p:nvPr>
        </p:nvSpPr>
        <p:spPr>
          <a:xfrm>
            <a:off x="692150" y="1425575"/>
            <a:ext cx="4244975" cy="762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fr-FR" sz="2800" smtClean="0">
                <a:latin typeface="Arial Narrow" panose="020B0606020202030204" pitchFamily="34" charset="0"/>
              </a:rPr>
              <a:t>Equation du couple :</a:t>
            </a:r>
          </a:p>
        </p:txBody>
      </p:sp>
      <p:sp>
        <p:nvSpPr>
          <p:cNvPr id="241668" name="Rectangle 4"/>
          <p:cNvSpPr>
            <a:spLocks noChangeArrowheads="1"/>
          </p:cNvSpPr>
          <p:nvPr/>
        </p:nvSpPr>
        <p:spPr bwMode="auto">
          <a:xfrm>
            <a:off x="357188" y="257175"/>
            <a:ext cx="8429625" cy="6254750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41669" name="Rectangle 5"/>
          <p:cNvSpPr>
            <a:spLocks noChangeArrowheads="1"/>
          </p:cNvSpPr>
          <p:nvPr/>
        </p:nvSpPr>
        <p:spPr bwMode="auto">
          <a:xfrm>
            <a:off x="0" y="32575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aphicFrame>
        <p:nvGraphicFramePr>
          <p:cNvPr id="102406" name="Object 6"/>
          <p:cNvGraphicFramePr>
            <a:graphicFrameLocks noChangeAspect="1"/>
          </p:cNvGraphicFramePr>
          <p:nvPr/>
        </p:nvGraphicFramePr>
        <p:xfrm>
          <a:off x="3195638" y="2246313"/>
          <a:ext cx="2573337" cy="1011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708" name="Équation" r:id="rId4" imgW="876300" imgH="342900" progId="Equation.3">
                  <p:embed/>
                </p:oleObj>
              </mc:Choice>
              <mc:Fallback>
                <p:oleObj name="Équation" r:id="rId4" imgW="876300" imgH="3429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5638" y="2246313"/>
                        <a:ext cx="2573337" cy="1011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1671" name="Rectangle 7"/>
          <p:cNvSpPr>
            <a:spLocks noChangeArrowheads="1"/>
          </p:cNvSpPr>
          <p:nvPr/>
        </p:nvSpPr>
        <p:spPr bwMode="auto">
          <a:xfrm>
            <a:off x="0" y="3243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aphicFrame>
        <p:nvGraphicFramePr>
          <p:cNvPr id="102408" name="Object 8"/>
          <p:cNvGraphicFramePr>
            <a:graphicFrameLocks noChangeAspect="1"/>
          </p:cNvGraphicFramePr>
          <p:nvPr/>
        </p:nvGraphicFramePr>
        <p:xfrm>
          <a:off x="3101975" y="3640138"/>
          <a:ext cx="2897188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709" name="Équation" r:id="rId6" imgW="1066800" imgH="381000" progId="Equation.3">
                  <p:embed/>
                </p:oleObj>
              </mc:Choice>
              <mc:Fallback>
                <p:oleObj name="Équation" r:id="rId6" imgW="1066800" imgH="3810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1975" y="3640138"/>
                        <a:ext cx="2897188" cy="1047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09" name="Rectangle 9"/>
          <p:cNvSpPr>
            <a:spLocks noChangeArrowheads="1"/>
          </p:cNvSpPr>
          <p:nvPr/>
        </p:nvSpPr>
        <p:spPr bwMode="auto">
          <a:xfrm>
            <a:off x="615950" y="4560888"/>
            <a:ext cx="288607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fr-FR" sz="2800">
                <a:latin typeface="Arial Narrow" panose="020B0606020202030204" pitchFamily="34" charset="0"/>
              </a:rPr>
              <a:t>Dans le repère d-q:</a:t>
            </a:r>
          </a:p>
        </p:txBody>
      </p:sp>
      <p:sp>
        <p:nvSpPr>
          <p:cNvPr id="241674" name="Rectangle 11"/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aphicFrame>
        <p:nvGraphicFramePr>
          <p:cNvPr id="102410" name="Object 10"/>
          <p:cNvGraphicFramePr>
            <a:graphicFrameLocks noChangeAspect="1"/>
          </p:cNvGraphicFramePr>
          <p:nvPr/>
        </p:nvGraphicFramePr>
        <p:xfrm>
          <a:off x="2682875" y="5037138"/>
          <a:ext cx="4570413" cy="1116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710" name="Équation" r:id="rId8" imgW="1562100" imgH="381000" progId="Equation.3">
                  <p:embed/>
                </p:oleObj>
              </mc:Choice>
              <mc:Fallback>
                <p:oleObj name="Équation" r:id="rId8" imgW="1562100" imgH="3810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2875" y="5037138"/>
                        <a:ext cx="4570413" cy="1116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1676" name="Espace réservé du numéro de diapositive 1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F103478-2BCA-4655-AE7C-9EA58617A202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13" name="Espace réservé du pied de page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2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2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2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2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3" grpId="0" build="p"/>
      <p:bldP spid="10240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fr-FR" sz="3600" smtClean="0">
                <a:latin typeface="Arial Narrow" panose="020B0606020202030204" pitchFamily="34" charset="0"/>
              </a:rPr>
              <a:t>CFO d’un entrainment par MAS</a:t>
            </a:r>
            <a:endParaRPr lang="en-US" altLang="fr-FR" sz="3600" smtClean="0"/>
          </a:p>
        </p:txBody>
      </p:sp>
      <p:sp>
        <p:nvSpPr>
          <p:cNvPr id="243715" name="Rectangle 4"/>
          <p:cNvSpPr>
            <a:spLocks noChangeArrowheads="1"/>
          </p:cNvSpPr>
          <p:nvPr/>
        </p:nvSpPr>
        <p:spPr bwMode="auto">
          <a:xfrm>
            <a:off x="357188" y="257175"/>
            <a:ext cx="8429625" cy="6254750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43716" name="Rectangle 5"/>
          <p:cNvSpPr>
            <a:spLocks noChangeArrowheads="1"/>
          </p:cNvSpPr>
          <p:nvPr/>
        </p:nvSpPr>
        <p:spPr bwMode="auto">
          <a:xfrm>
            <a:off x="0" y="32575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43717" name="Rectangle 7"/>
          <p:cNvSpPr>
            <a:spLocks noChangeArrowheads="1"/>
          </p:cNvSpPr>
          <p:nvPr/>
        </p:nvSpPr>
        <p:spPr bwMode="auto">
          <a:xfrm>
            <a:off x="0" y="3243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04457" name="Rectangle 9"/>
          <p:cNvSpPr>
            <a:spLocks noChangeArrowheads="1"/>
          </p:cNvSpPr>
          <p:nvPr/>
        </p:nvSpPr>
        <p:spPr bwMode="auto">
          <a:xfrm>
            <a:off x="592138" y="1420813"/>
            <a:ext cx="346868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fr-FR" sz="2800">
                <a:latin typeface="Arial Narrow" panose="020B0606020202030204" pitchFamily="34" charset="0"/>
              </a:rPr>
              <a:t>Dans le repère d-q:</a:t>
            </a:r>
          </a:p>
        </p:txBody>
      </p:sp>
      <p:sp>
        <p:nvSpPr>
          <p:cNvPr id="243719" name="Rectangle 10"/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aphicFrame>
        <p:nvGraphicFramePr>
          <p:cNvPr id="104459" name="Object 11"/>
          <p:cNvGraphicFramePr>
            <a:graphicFrameLocks noChangeAspect="1"/>
          </p:cNvGraphicFramePr>
          <p:nvPr/>
        </p:nvGraphicFramePr>
        <p:xfrm>
          <a:off x="2682875" y="1909763"/>
          <a:ext cx="4570413" cy="1116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758" name="Équation" r:id="rId4" imgW="1562100" imgH="381000" progId="Equation.3">
                  <p:embed/>
                </p:oleObj>
              </mc:Choice>
              <mc:Fallback>
                <p:oleObj name="Équation" r:id="rId4" imgW="1562100" imgH="3810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2875" y="1909763"/>
                        <a:ext cx="4570413" cy="1116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461" name="Rectangle 13"/>
          <p:cNvSpPr>
            <a:spLocks noChangeArrowheads="1"/>
          </p:cNvSpPr>
          <p:nvPr/>
        </p:nvSpPr>
        <p:spPr bwMode="auto">
          <a:xfrm>
            <a:off x="600075" y="3778250"/>
            <a:ext cx="4005263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Choisir un repère tel que:</a:t>
            </a:r>
          </a:p>
        </p:txBody>
      </p:sp>
      <p:sp>
        <p:nvSpPr>
          <p:cNvPr id="243722" name="Rectangle 15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43723" name="Rectangle 17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aphicFrame>
        <p:nvGraphicFramePr>
          <p:cNvPr id="39939" name="Object 14"/>
          <p:cNvGraphicFramePr>
            <a:graphicFrameLocks noChangeAspect="1"/>
          </p:cNvGraphicFramePr>
          <p:nvPr/>
        </p:nvGraphicFramePr>
        <p:xfrm>
          <a:off x="1898650" y="4497388"/>
          <a:ext cx="1611313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759" name="Équation" r:id="rId6" imgW="571252" imgH="228501" progId="Equation.3">
                  <p:embed/>
                </p:oleObj>
              </mc:Choice>
              <mc:Fallback>
                <p:oleObj name="Équation" r:id="rId6" imgW="571252" imgH="228501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8650" y="4497388"/>
                        <a:ext cx="1611313" cy="65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0" name="Object 13"/>
          <p:cNvGraphicFramePr>
            <a:graphicFrameLocks noChangeAspect="1"/>
          </p:cNvGraphicFramePr>
          <p:nvPr/>
        </p:nvGraphicFramePr>
        <p:xfrm>
          <a:off x="5186363" y="4592638"/>
          <a:ext cx="1201737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760" name="Équation" r:id="rId8" imgW="457200" imgH="228600" progId="Equation.3">
                  <p:embed/>
                </p:oleObj>
              </mc:Choice>
              <mc:Fallback>
                <p:oleObj name="Équation" r:id="rId8" imgW="457200" imgH="2286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6363" y="4592638"/>
                        <a:ext cx="1201737" cy="604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3726" name="Espace réservé du numéro de diapositive 1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38A2461-5ADB-42A8-8554-25B9790FF33A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4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4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39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39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7" grpId="0"/>
      <p:bldP spid="10446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fr-FR" sz="3600" smtClean="0">
                <a:latin typeface="Arial Narrow" panose="020B0606020202030204" pitchFamily="34" charset="0"/>
              </a:rPr>
              <a:t>CFO d’un entrainment par MAS</a:t>
            </a:r>
            <a:endParaRPr lang="en-US" altLang="fr-FR" sz="3600" smtClean="0"/>
          </a:p>
        </p:txBody>
      </p:sp>
      <p:graphicFrame>
        <p:nvGraphicFramePr>
          <p:cNvPr id="129042" name="Object 18"/>
          <p:cNvGraphicFramePr>
            <a:graphicFrameLocks noGrp="1" noChangeAspect="1"/>
          </p:cNvGraphicFramePr>
          <p:nvPr>
            <p:ph sz="half" idx="1"/>
          </p:nvPr>
        </p:nvGraphicFramePr>
        <p:xfrm>
          <a:off x="674688" y="3835400"/>
          <a:ext cx="2974975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89" name="Équation" r:id="rId4" imgW="1562100" imgH="381000" progId="Equation.3">
                  <p:embed/>
                </p:oleObj>
              </mc:Choice>
              <mc:Fallback>
                <p:oleObj name="Équation" r:id="rId4" imgW="1562100" imgH="3810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688" y="3835400"/>
                        <a:ext cx="2974975" cy="725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764" name="Rectangle 3"/>
          <p:cNvSpPr>
            <a:spLocks noChangeArrowheads="1"/>
          </p:cNvSpPr>
          <p:nvPr/>
        </p:nvSpPr>
        <p:spPr bwMode="auto">
          <a:xfrm>
            <a:off x="357188" y="257175"/>
            <a:ext cx="8429625" cy="6254750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45765" name="Rectangle 10"/>
          <p:cNvSpPr>
            <a:spLocks noChangeArrowheads="1"/>
          </p:cNvSpPr>
          <p:nvPr/>
        </p:nvSpPr>
        <p:spPr bwMode="auto">
          <a:xfrm>
            <a:off x="600075" y="1177925"/>
            <a:ext cx="4005263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Choisir un repère tel que:</a:t>
            </a:r>
          </a:p>
        </p:txBody>
      </p:sp>
      <p:graphicFrame>
        <p:nvGraphicFramePr>
          <p:cNvPr id="245766" name="Object 11"/>
          <p:cNvGraphicFramePr>
            <a:graphicFrameLocks noChangeAspect="1"/>
          </p:cNvGraphicFramePr>
          <p:nvPr/>
        </p:nvGraphicFramePr>
        <p:xfrm>
          <a:off x="1916113" y="1897063"/>
          <a:ext cx="1574800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90" name="Equation" r:id="rId6" imgW="558800" imgH="228600" progId="Equation.3">
                  <p:embed/>
                </p:oleObj>
              </mc:Choice>
              <mc:Fallback>
                <p:oleObj name="Equation" r:id="rId6" imgW="558800" imgH="2286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6113" y="1897063"/>
                        <a:ext cx="1574800" cy="65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767" name="Object 12"/>
          <p:cNvGraphicFramePr>
            <a:graphicFrameLocks noChangeAspect="1"/>
          </p:cNvGraphicFramePr>
          <p:nvPr/>
        </p:nvGraphicFramePr>
        <p:xfrm>
          <a:off x="5202238" y="1992313"/>
          <a:ext cx="1168400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91" name="Equation" r:id="rId8" imgW="444307" imgH="228501" progId="Equation.3">
                  <p:embed/>
                </p:oleObj>
              </mc:Choice>
              <mc:Fallback>
                <p:oleObj name="Equation" r:id="rId8" imgW="444307" imgH="228501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2238" y="1992313"/>
                        <a:ext cx="1168400" cy="604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044" name="Line 20"/>
          <p:cNvSpPr>
            <a:spLocks noChangeAspect="1" noChangeShapeType="1"/>
          </p:cNvSpPr>
          <p:nvPr/>
        </p:nvSpPr>
        <p:spPr bwMode="auto">
          <a:xfrm flipH="1">
            <a:off x="4995863" y="4052888"/>
            <a:ext cx="1117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4929188" y="2886075"/>
            <a:ext cx="387350" cy="2922588"/>
            <a:chOff x="3105" y="1818"/>
            <a:chExt cx="244" cy="1841"/>
          </a:xfrm>
        </p:grpSpPr>
        <p:sp>
          <p:nvSpPr>
            <p:cNvPr id="245797" name="Line 15"/>
            <p:cNvSpPr>
              <a:spLocks noChangeShapeType="1"/>
            </p:cNvSpPr>
            <p:nvPr/>
          </p:nvSpPr>
          <p:spPr bwMode="auto">
            <a:xfrm flipV="1">
              <a:off x="3152" y="2009"/>
              <a:ext cx="0" cy="16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45798" name="Text Box 21"/>
            <p:cNvSpPr txBox="1">
              <a:spLocks noChangeArrowheads="1"/>
            </p:cNvSpPr>
            <p:nvPr/>
          </p:nvSpPr>
          <p:spPr bwMode="auto">
            <a:xfrm>
              <a:off x="3105" y="1818"/>
              <a:ext cx="24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Arial Narrow" panose="020B0606020202030204" pitchFamily="34" charset="0"/>
                </a:rPr>
                <a:t>q</a:t>
              </a:r>
              <a:r>
                <a:rPr lang="en-US" altLang="fr-FR" sz="2400" baseline="30000">
                  <a:latin typeface="Arial Narrow" panose="020B0606020202030204" pitchFamily="34" charset="0"/>
                </a:rPr>
                <a:t>s</a:t>
              </a:r>
              <a:endParaRPr lang="en-US" altLang="fr-FR" sz="2400">
                <a:latin typeface="Arial Narrow" panose="020B0606020202030204" pitchFamily="34" charset="0"/>
              </a:endParaRPr>
            </a:p>
          </p:txBody>
        </p:sp>
      </p:grpSp>
      <p:grpSp>
        <p:nvGrpSpPr>
          <p:cNvPr id="3" name="Group 27"/>
          <p:cNvGrpSpPr>
            <a:grpSpLocks/>
          </p:cNvGrpSpPr>
          <p:nvPr/>
        </p:nvGrpSpPr>
        <p:grpSpPr bwMode="auto">
          <a:xfrm>
            <a:off x="5003800" y="5808663"/>
            <a:ext cx="3111500" cy="377825"/>
            <a:chOff x="3152" y="3659"/>
            <a:chExt cx="1960" cy="238"/>
          </a:xfrm>
        </p:grpSpPr>
        <p:sp>
          <p:nvSpPr>
            <p:cNvPr id="245795" name="Line 16"/>
            <p:cNvSpPr>
              <a:spLocks noChangeShapeType="1"/>
            </p:cNvSpPr>
            <p:nvPr/>
          </p:nvSpPr>
          <p:spPr bwMode="auto">
            <a:xfrm>
              <a:off x="3152" y="3659"/>
              <a:ext cx="182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45796" name="Text Box 22"/>
            <p:cNvSpPr txBox="1">
              <a:spLocks noChangeArrowheads="1"/>
            </p:cNvSpPr>
            <p:nvPr/>
          </p:nvSpPr>
          <p:spPr bwMode="auto">
            <a:xfrm>
              <a:off x="4868" y="3666"/>
              <a:ext cx="24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Arial Narrow" panose="020B0606020202030204" pitchFamily="34" charset="0"/>
                </a:rPr>
                <a:t>d</a:t>
              </a:r>
              <a:r>
                <a:rPr lang="en-US" altLang="fr-FR" sz="2400" baseline="30000">
                  <a:latin typeface="Arial Narrow" panose="020B0606020202030204" pitchFamily="34" charset="0"/>
                </a:rPr>
                <a:t>s</a:t>
              </a:r>
              <a:endParaRPr lang="en-US" altLang="fr-FR" sz="2400">
                <a:latin typeface="Arial Narrow" panose="020B0606020202030204" pitchFamily="34" charset="0"/>
              </a:endParaRPr>
            </a:p>
          </p:txBody>
        </p:sp>
      </p:grpSp>
      <p:sp>
        <p:nvSpPr>
          <p:cNvPr id="129047" name="Line 23"/>
          <p:cNvSpPr>
            <a:spLocks noChangeAspect="1" noChangeShapeType="1"/>
          </p:cNvSpPr>
          <p:nvPr/>
        </p:nvSpPr>
        <p:spPr bwMode="auto">
          <a:xfrm>
            <a:off x="6142038" y="4040188"/>
            <a:ext cx="0" cy="17875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29048" name="Line 24"/>
          <p:cNvSpPr>
            <a:spLocks noChangeAspect="1" noChangeShapeType="1"/>
          </p:cNvSpPr>
          <p:nvPr/>
        </p:nvSpPr>
        <p:spPr bwMode="auto">
          <a:xfrm>
            <a:off x="6892925" y="4818063"/>
            <a:ext cx="0" cy="10223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29049" name="Line 25"/>
          <p:cNvSpPr>
            <a:spLocks noChangeAspect="1" noChangeShapeType="1"/>
          </p:cNvSpPr>
          <p:nvPr/>
        </p:nvSpPr>
        <p:spPr bwMode="auto">
          <a:xfrm flipH="1">
            <a:off x="4954588" y="4816475"/>
            <a:ext cx="192405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grpSp>
        <p:nvGrpSpPr>
          <p:cNvPr id="4" name="Group 45"/>
          <p:cNvGrpSpPr>
            <a:grpSpLocks/>
          </p:cNvGrpSpPr>
          <p:nvPr/>
        </p:nvGrpSpPr>
        <p:grpSpPr bwMode="auto">
          <a:xfrm>
            <a:off x="5003800" y="3675063"/>
            <a:ext cx="1444625" cy="2146300"/>
            <a:chOff x="3152" y="2315"/>
            <a:chExt cx="910" cy="1352"/>
          </a:xfrm>
        </p:grpSpPr>
        <p:sp>
          <p:nvSpPr>
            <p:cNvPr id="245793" name="Line 13"/>
            <p:cNvSpPr>
              <a:spLocks noChangeShapeType="1"/>
            </p:cNvSpPr>
            <p:nvPr/>
          </p:nvSpPr>
          <p:spPr bwMode="auto">
            <a:xfrm flipV="1">
              <a:off x="3152" y="2550"/>
              <a:ext cx="713" cy="111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aphicFrame>
          <p:nvGraphicFramePr>
            <p:cNvPr id="245794" name="Object 29"/>
            <p:cNvGraphicFramePr>
              <a:graphicFrameLocks noChangeAspect="1"/>
            </p:cNvGraphicFramePr>
            <p:nvPr/>
          </p:nvGraphicFramePr>
          <p:xfrm>
            <a:off x="3872" y="2315"/>
            <a:ext cx="190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892" name="Equation" r:id="rId10" imgW="139639" imgH="241195" progId="Equation.3">
                    <p:embed/>
                  </p:oleObj>
                </mc:Choice>
                <mc:Fallback>
                  <p:oleObj name="Equation" r:id="rId10" imgW="139639" imgH="241195" progId="Equation.3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72" y="2315"/>
                          <a:ext cx="190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46"/>
          <p:cNvGrpSpPr>
            <a:grpSpLocks/>
          </p:cNvGrpSpPr>
          <p:nvPr/>
        </p:nvGrpSpPr>
        <p:grpSpPr bwMode="auto">
          <a:xfrm>
            <a:off x="5018088" y="4465638"/>
            <a:ext cx="2217737" cy="1327150"/>
            <a:chOff x="3161" y="2813"/>
            <a:chExt cx="1397" cy="836"/>
          </a:xfrm>
        </p:grpSpPr>
        <p:sp>
          <p:nvSpPr>
            <p:cNvPr id="245791" name="Line 17"/>
            <p:cNvSpPr>
              <a:spLocks noChangeShapeType="1"/>
            </p:cNvSpPr>
            <p:nvPr/>
          </p:nvSpPr>
          <p:spPr bwMode="auto">
            <a:xfrm flipV="1">
              <a:off x="3161" y="3030"/>
              <a:ext cx="1195" cy="61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aphicFrame>
          <p:nvGraphicFramePr>
            <p:cNvPr id="245792" name="Object 31"/>
            <p:cNvGraphicFramePr>
              <a:graphicFrameLocks noChangeAspect="1"/>
            </p:cNvGraphicFramePr>
            <p:nvPr/>
          </p:nvGraphicFramePr>
          <p:xfrm>
            <a:off x="4344" y="2813"/>
            <a:ext cx="214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893" name="Equation" r:id="rId12" imgW="203112" imgH="228501" progId="Equation.3">
                    <p:embed/>
                  </p:oleObj>
                </mc:Choice>
                <mc:Fallback>
                  <p:oleObj name="Equation" r:id="rId12" imgW="203112" imgH="228501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44" y="2813"/>
                          <a:ext cx="214" cy="2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39"/>
          <p:cNvGrpSpPr>
            <a:grpSpLocks/>
          </p:cNvGrpSpPr>
          <p:nvPr/>
        </p:nvGrpSpPr>
        <p:grpSpPr bwMode="auto">
          <a:xfrm>
            <a:off x="4525963" y="3989388"/>
            <a:ext cx="409575" cy="1838325"/>
            <a:chOff x="2179" y="2504"/>
            <a:chExt cx="258" cy="1158"/>
          </a:xfrm>
        </p:grpSpPr>
        <p:sp>
          <p:nvSpPr>
            <p:cNvPr id="245789" name="Line 32"/>
            <p:cNvSpPr>
              <a:spLocks noChangeShapeType="1"/>
            </p:cNvSpPr>
            <p:nvPr/>
          </p:nvSpPr>
          <p:spPr bwMode="auto">
            <a:xfrm flipV="1">
              <a:off x="2437" y="2553"/>
              <a:ext cx="0" cy="11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aphicFrame>
          <p:nvGraphicFramePr>
            <p:cNvPr id="245790" name="Object 34"/>
            <p:cNvGraphicFramePr>
              <a:graphicFrameLocks noChangeAspect="1"/>
            </p:cNvGraphicFramePr>
            <p:nvPr/>
          </p:nvGraphicFramePr>
          <p:xfrm>
            <a:off x="2179" y="2504"/>
            <a:ext cx="219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894" name="Equation" r:id="rId14" imgW="203112" imgH="241195" progId="Equation.3">
                    <p:embed/>
                  </p:oleObj>
                </mc:Choice>
                <mc:Fallback>
                  <p:oleObj name="Equation" r:id="rId14" imgW="203112" imgH="241195" progId="Equation.3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79" y="2504"/>
                          <a:ext cx="219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38"/>
          <p:cNvGrpSpPr>
            <a:grpSpLocks/>
          </p:cNvGrpSpPr>
          <p:nvPr/>
        </p:nvGrpSpPr>
        <p:grpSpPr bwMode="auto">
          <a:xfrm>
            <a:off x="4548188" y="4684713"/>
            <a:ext cx="434975" cy="1141412"/>
            <a:chOff x="2452" y="2951"/>
            <a:chExt cx="274" cy="719"/>
          </a:xfrm>
        </p:grpSpPr>
        <p:sp>
          <p:nvSpPr>
            <p:cNvPr id="245787" name="Line 33"/>
            <p:cNvSpPr>
              <a:spLocks noChangeAspect="1" noChangeShapeType="1"/>
            </p:cNvSpPr>
            <p:nvPr/>
          </p:nvSpPr>
          <p:spPr bwMode="auto">
            <a:xfrm flipV="1">
              <a:off x="2716" y="3025"/>
              <a:ext cx="0" cy="6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aphicFrame>
          <p:nvGraphicFramePr>
            <p:cNvPr id="245788" name="Object 36"/>
            <p:cNvGraphicFramePr>
              <a:graphicFrameLocks noChangeAspect="1"/>
            </p:cNvGraphicFramePr>
            <p:nvPr/>
          </p:nvGraphicFramePr>
          <p:xfrm>
            <a:off x="2452" y="2951"/>
            <a:ext cx="274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895" name="Equation" r:id="rId16" imgW="253890" imgH="241195" progId="Equation.3">
                    <p:embed/>
                  </p:oleObj>
                </mc:Choice>
                <mc:Fallback>
                  <p:oleObj name="Equation" r:id="rId16" imgW="253890" imgH="241195" progId="Equation.3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52" y="2951"/>
                          <a:ext cx="274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44"/>
          <p:cNvGrpSpPr>
            <a:grpSpLocks/>
          </p:cNvGrpSpPr>
          <p:nvPr/>
        </p:nvGrpSpPr>
        <p:grpSpPr bwMode="auto">
          <a:xfrm>
            <a:off x="5008563" y="5826125"/>
            <a:ext cx="1171575" cy="388938"/>
            <a:chOff x="3155" y="3688"/>
            <a:chExt cx="738" cy="245"/>
          </a:xfrm>
        </p:grpSpPr>
        <p:graphicFrame>
          <p:nvGraphicFramePr>
            <p:cNvPr id="245785" name="Object 35"/>
            <p:cNvGraphicFramePr>
              <a:graphicFrameLocks noChangeAspect="1"/>
            </p:cNvGraphicFramePr>
            <p:nvPr/>
          </p:nvGraphicFramePr>
          <p:xfrm>
            <a:off x="3674" y="3688"/>
            <a:ext cx="219" cy="2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896" name="Equation" r:id="rId18" imgW="203112" imgH="228501" progId="Equation.3">
                    <p:embed/>
                  </p:oleObj>
                </mc:Choice>
                <mc:Fallback>
                  <p:oleObj name="Equation" r:id="rId18" imgW="203112" imgH="228501" progId="Equation.3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74" y="3688"/>
                          <a:ext cx="219" cy="2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786" name="Line 40"/>
            <p:cNvSpPr>
              <a:spLocks noChangeAspect="1" noChangeShapeType="1"/>
            </p:cNvSpPr>
            <p:nvPr/>
          </p:nvSpPr>
          <p:spPr bwMode="auto">
            <a:xfrm>
              <a:off x="3155" y="3696"/>
              <a:ext cx="71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9" name="Group 43"/>
          <p:cNvGrpSpPr>
            <a:grpSpLocks/>
          </p:cNvGrpSpPr>
          <p:nvPr/>
        </p:nvGrpSpPr>
        <p:grpSpPr bwMode="auto">
          <a:xfrm>
            <a:off x="5021263" y="5864225"/>
            <a:ext cx="1871662" cy="419100"/>
            <a:chOff x="3851" y="1804"/>
            <a:chExt cx="1179" cy="264"/>
          </a:xfrm>
        </p:grpSpPr>
        <p:graphicFrame>
          <p:nvGraphicFramePr>
            <p:cNvPr id="245783" name="Object 37"/>
            <p:cNvGraphicFramePr>
              <a:graphicFrameLocks noChangeAspect="1"/>
            </p:cNvGraphicFramePr>
            <p:nvPr/>
          </p:nvGraphicFramePr>
          <p:xfrm>
            <a:off x="4756" y="1823"/>
            <a:ext cx="274" cy="2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897" name="Equation" r:id="rId20" imgW="253890" imgH="228501" progId="Equation.3">
                    <p:embed/>
                  </p:oleObj>
                </mc:Choice>
                <mc:Fallback>
                  <p:oleObj name="Equation" r:id="rId20" imgW="253890" imgH="228501" progId="Equation.3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6" y="1823"/>
                          <a:ext cx="274" cy="2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784" name="Line 42"/>
            <p:cNvSpPr>
              <a:spLocks noChangeAspect="1" noChangeShapeType="1"/>
            </p:cNvSpPr>
            <p:nvPr/>
          </p:nvSpPr>
          <p:spPr bwMode="auto">
            <a:xfrm>
              <a:off x="3851" y="1804"/>
              <a:ext cx="117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29071" name="Text Box 47"/>
          <p:cNvSpPr txBox="1">
            <a:spLocks noChangeArrowheads="1"/>
          </p:cNvSpPr>
          <p:nvPr/>
        </p:nvSpPr>
        <p:spPr bwMode="auto">
          <a:xfrm>
            <a:off x="590550" y="3157538"/>
            <a:ext cx="30892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Vu du repère lié au stator:</a:t>
            </a:r>
          </a:p>
        </p:txBody>
      </p:sp>
      <p:sp>
        <p:nvSpPr>
          <p:cNvPr id="245781" name="Espace réservé du numéro de diapositive 3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9285188-4F42-43CB-9FD1-DAB50BA25568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38" name="Espace réservé du pied de page 3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9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9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129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29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129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129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44" grpId="0" animBg="1"/>
      <p:bldP spid="129047" grpId="0" animBg="1"/>
      <p:bldP spid="129048" grpId="0" animBg="1"/>
      <p:bldP spid="129049" grpId="0" animBg="1"/>
      <p:bldP spid="12907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178" name="Object 58"/>
          <p:cNvGraphicFramePr>
            <a:graphicFrameLocks noGrp="1" noChangeAspect="1"/>
          </p:cNvGraphicFramePr>
          <p:nvPr>
            <p:ph sz="half" idx="1"/>
          </p:nvPr>
        </p:nvGraphicFramePr>
        <p:xfrm>
          <a:off x="484188" y="4454525"/>
          <a:ext cx="1963737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924" name="Équation" r:id="rId4" imgW="1016000" imgH="381000" progId="Equation.3">
                  <p:embed/>
                </p:oleObj>
              </mc:Choice>
              <mc:Fallback>
                <p:oleObj name="Équation" r:id="rId4" imgW="1016000" imgH="381000" progId="Equation.3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188" y="4454525"/>
                        <a:ext cx="1963737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7811" name="Object 21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6148388" y="3667125"/>
          <a:ext cx="298450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925" name="Equation" r:id="rId6" imgW="139639" imgH="241195" progId="Equation.3">
                  <p:embed/>
                </p:oleObj>
              </mc:Choice>
              <mc:Fallback>
                <p:oleObj name="Equation" r:id="rId6" imgW="139639" imgH="241195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8388" y="3667125"/>
                        <a:ext cx="298450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83" name="Object 63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506413" y="4414838"/>
          <a:ext cx="3136900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926" name="Équation" r:id="rId8" imgW="1562100" imgH="381000" progId="Equation.3">
                  <p:embed/>
                </p:oleObj>
              </mc:Choice>
              <mc:Fallback>
                <p:oleObj name="Équation" r:id="rId8" imgW="1562100" imgH="381000" progId="Equation.3">
                  <p:embed/>
                  <p:pic>
                    <p:nvPicPr>
                      <p:cNvPr id="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413" y="4414838"/>
                        <a:ext cx="3136900" cy="765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7813" name="Rectangle 4"/>
          <p:cNvSpPr>
            <a:spLocks noChangeArrowheads="1"/>
          </p:cNvSpPr>
          <p:nvPr/>
        </p:nvSpPr>
        <p:spPr bwMode="auto">
          <a:xfrm>
            <a:off x="357188" y="257175"/>
            <a:ext cx="8429625" cy="6254750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aphicFrame>
        <p:nvGraphicFramePr>
          <p:cNvPr id="247814" name="Object 6"/>
          <p:cNvGraphicFramePr>
            <a:graphicFrameLocks noChangeAspect="1"/>
          </p:cNvGraphicFramePr>
          <p:nvPr/>
        </p:nvGraphicFramePr>
        <p:xfrm>
          <a:off x="1916113" y="1897063"/>
          <a:ext cx="1574800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927" name="Equation" r:id="rId10" imgW="558800" imgH="228600" progId="Equation.3">
                  <p:embed/>
                </p:oleObj>
              </mc:Choice>
              <mc:Fallback>
                <p:oleObj name="Equation" r:id="rId10" imgW="5588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6113" y="1897063"/>
                        <a:ext cx="1574800" cy="65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7815" name="Object 7"/>
          <p:cNvGraphicFramePr>
            <a:graphicFrameLocks noChangeAspect="1"/>
          </p:cNvGraphicFramePr>
          <p:nvPr/>
        </p:nvGraphicFramePr>
        <p:xfrm>
          <a:off x="5202238" y="1992313"/>
          <a:ext cx="1168400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928" name="Equation" r:id="rId12" imgW="444307" imgH="228501" progId="Equation.3">
                  <p:embed/>
                </p:oleObj>
              </mc:Choice>
              <mc:Fallback>
                <p:oleObj name="Equation" r:id="rId12" imgW="444307" imgH="228501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2238" y="1992313"/>
                        <a:ext cx="1168400" cy="604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7816" name="Line 10"/>
          <p:cNvSpPr>
            <a:spLocks noChangeShapeType="1"/>
          </p:cNvSpPr>
          <p:nvPr/>
        </p:nvSpPr>
        <p:spPr bwMode="auto">
          <a:xfrm flipV="1">
            <a:off x="5003800" y="3189288"/>
            <a:ext cx="0" cy="2619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47817" name="Text Box 11"/>
          <p:cNvSpPr txBox="1">
            <a:spLocks noChangeArrowheads="1"/>
          </p:cNvSpPr>
          <p:nvPr/>
        </p:nvSpPr>
        <p:spPr bwMode="auto">
          <a:xfrm>
            <a:off x="4929188" y="2886075"/>
            <a:ext cx="38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q</a:t>
            </a:r>
            <a:r>
              <a:rPr lang="en-US" altLang="fr-FR" sz="2400" baseline="30000">
                <a:latin typeface="Arial Narrow" panose="020B0606020202030204" pitchFamily="34" charset="0"/>
              </a:rPr>
              <a:t>s</a:t>
            </a:r>
            <a:endParaRPr lang="en-US" altLang="fr-FR" sz="2400">
              <a:latin typeface="Arial Narrow" panose="020B0606020202030204" pitchFamily="34" charset="0"/>
            </a:endParaRPr>
          </a:p>
        </p:txBody>
      </p:sp>
      <p:grpSp>
        <p:nvGrpSpPr>
          <p:cNvPr id="247818" name="Group 12"/>
          <p:cNvGrpSpPr>
            <a:grpSpLocks/>
          </p:cNvGrpSpPr>
          <p:nvPr/>
        </p:nvGrpSpPr>
        <p:grpSpPr bwMode="auto">
          <a:xfrm>
            <a:off x="5003800" y="5808663"/>
            <a:ext cx="3111500" cy="377825"/>
            <a:chOff x="3152" y="3659"/>
            <a:chExt cx="1960" cy="238"/>
          </a:xfrm>
        </p:grpSpPr>
        <p:sp>
          <p:nvSpPr>
            <p:cNvPr id="247842" name="Line 13"/>
            <p:cNvSpPr>
              <a:spLocks noChangeShapeType="1"/>
            </p:cNvSpPr>
            <p:nvPr/>
          </p:nvSpPr>
          <p:spPr bwMode="auto">
            <a:xfrm>
              <a:off x="3152" y="3659"/>
              <a:ext cx="182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47843" name="Text Box 14"/>
            <p:cNvSpPr txBox="1">
              <a:spLocks noChangeArrowheads="1"/>
            </p:cNvSpPr>
            <p:nvPr/>
          </p:nvSpPr>
          <p:spPr bwMode="auto">
            <a:xfrm>
              <a:off x="4868" y="3666"/>
              <a:ext cx="24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Arial Narrow" panose="020B0606020202030204" pitchFamily="34" charset="0"/>
                </a:rPr>
                <a:t>d</a:t>
              </a:r>
              <a:r>
                <a:rPr lang="en-US" altLang="fr-FR" sz="2400" baseline="30000">
                  <a:latin typeface="Arial Narrow" panose="020B0606020202030204" pitchFamily="34" charset="0"/>
                </a:rPr>
                <a:t>s</a:t>
              </a:r>
              <a:endParaRPr lang="en-US" altLang="fr-FR" sz="2400">
                <a:latin typeface="Arial Narrow" panose="020B0606020202030204" pitchFamily="34" charset="0"/>
              </a:endParaRPr>
            </a:p>
          </p:txBody>
        </p:sp>
      </p:grpSp>
      <p:sp>
        <p:nvSpPr>
          <p:cNvPr id="247819" name="Line 20"/>
          <p:cNvSpPr>
            <a:spLocks noChangeShapeType="1"/>
          </p:cNvSpPr>
          <p:nvPr/>
        </p:nvSpPr>
        <p:spPr bwMode="auto">
          <a:xfrm flipV="1">
            <a:off x="5003800" y="4048125"/>
            <a:ext cx="1131888" cy="177323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grpSp>
        <p:nvGrpSpPr>
          <p:cNvPr id="247820" name="Group 22"/>
          <p:cNvGrpSpPr>
            <a:grpSpLocks/>
          </p:cNvGrpSpPr>
          <p:nvPr/>
        </p:nvGrpSpPr>
        <p:grpSpPr bwMode="auto">
          <a:xfrm>
            <a:off x="5018088" y="4465638"/>
            <a:ext cx="2217737" cy="1327150"/>
            <a:chOff x="3161" y="2813"/>
            <a:chExt cx="1397" cy="836"/>
          </a:xfrm>
        </p:grpSpPr>
        <p:sp>
          <p:nvSpPr>
            <p:cNvPr id="247840" name="Line 23"/>
            <p:cNvSpPr>
              <a:spLocks noChangeShapeType="1"/>
            </p:cNvSpPr>
            <p:nvPr/>
          </p:nvSpPr>
          <p:spPr bwMode="auto">
            <a:xfrm flipV="1">
              <a:off x="3161" y="3030"/>
              <a:ext cx="1195" cy="61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aphicFrame>
          <p:nvGraphicFramePr>
            <p:cNvPr id="247841" name="Object 24"/>
            <p:cNvGraphicFramePr>
              <a:graphicFrameLocks noChangeAspect="1"/>
            </p:cNvGraphicFramePr>
            <p:nvPr/>
          </p:nvGraphicFramePr>
          <p:xfrm>
            <a:off x="4344" y="2813"/>
            <a:ext cx="214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929" name="Equation" r:id="rId14" imgW="203112" imgH="228501" progId="Equation.3">
                    <p:embed/>
                  </p:oleObj>
                </mc:Choice>
                <mc:Fallback>
                  <p:oleObj name="Equation" r:id="rId14" imgW="203112" imgH="228501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44" y="2813"/>
                          <a:ext cx="214" cy="2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47"/>
          <p:cNvGrpSpPr>
            <a:grpSpLocks/>
          </p:cNvGrpSpPr>
          <p:nvPr/>
        </p:nvGrpSpPr>
        <p:grpSpPr bwMode="auto">
          <a:xfrm>
            <a:off x="4860925" y="4318000"/>
            <a:ext cx="3228975" cy="814388"/>
            <a:chOff x="3062" y="2720"/>
            <a:chExt cx="2034" cy="513"/>
          </a:xfrm>
        </p:grpSpPr>
        <p:sp>
          <p:nvSpPr>
            <p:cNvPr id="247838" name="Line 42"/>
            <p:cNvSpPr>
              <a:spLocks noChangeShapeType="1"/>
            </p:cNvSpPr>
            <p:nvPr/>
          </p:nvSpPr>
          <p:spPr bwMode="auto">
            <a:xfrm rot="-1619988">
              <a:off x="3062" y="3233"/>
              <a:ext cx="182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47839" name="Text Box 43"/>
            <p:cNvSpPr txBox="1">
              <a:spLocks noChangeArrowheads="1"/>
            </p:cNvSpPr>
            <p:nvPr/>
          </p:nvSpPr>
          <p:spPr bwMode="auto">
            <a:xfrm>
              <a:off x="4768" y="2720"/>
              <a:ext cx="32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Arial Narrow" panose="020B0606020202030204" pitchFamily="34" charset="0"/>
                </a:rPr>
                <a:t>d</a:t>
              </a:r>
              <a:r>
                <a:rPr lang="en-US" altLang="fr-FR" sz="2400" baseline="30000">
                  <a:latin typeface="Arial Narrow" panose="020B0606020202030204" pitchFamily="34" charset="0"/>
                  <a:sym typeface="Symbol" panose="05050102010706020507" pitchFamily="18" charset="2"/>
                </a:rPr>
                <a:t>r</a:t>
              </a:r>
              <a:endParaRPr lang="en-US" altLang="fr-FR" sz="2400">
                <a:latin typeface="Arial Narrow" panose="020B0606020202030204" pitchFamily="34" charset="0"/>
                <a:sym typeface="Symbol" panose="05050102010706020507" pitchFamily="18" charset="2"/>
              </a:endParaRPr>
            </a:p>
          </p:txBody>
        </p:sp>
      </p:grpSp>
      <p:grpSp>
        <p:nvGrpSpPr>
          <p:cNvPr id="5" name="Group 46"/>
          <p:cNvGrpSpPr>
            <a:grpSpLocks/>
          </p:cNvGrpSpPr>
          <p:nvPr/>
        </p:nvGrpSpPr>
        <p:grpSpPr bwMode="auto">
          <a:xfrm>
            <a:off x="3311525" y="3311525"/>
            <a:ext cx="1112838" cy="2619375"/>
            <a:chOff x="2086" y="2086"/>
            <a:chExt cx="701" cy="1650"/>
          </a:xfrm>
        </p:grpSpPr>
        <p:sp>
          <p:nvSpPr>
            <p:cNvPr id="247836" name="Line 39"/>
            <p:cNvSpPr>
              <a:spLocks noChangeShapeType="1"/>
            </p:cNvSpPr>
            <p:nvPr/>
          </p:nvSpPr>
          <p:spPr bwMode="auto">
            <a:xfrm rot="19980012" flipV="1">
              <a:off x="2787" y="2086"/>
              <a:ext cx="0" cy="16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47837" name="Text Box 45"/>
            <p:cNvSpPr txBox="1">
              <a:spLocks noChangeArrowheads="1"/>
            </p:cNvSpPr>
            <p:nvPr/>
          </p:nvSpPr>
          <p:spPr bwMode="auto">
            <a:xfrm>
              <a:off x="2086" y="2101"/>
              <a:ext cx="32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Arial Narrow" panose="020B0606020202030204" pitchFamily="34" charset="0"/>
                </a:rPr>
                <a:t>q</a:t>
              </a:r>
              <a:r>
                <a:rPr lang="en-US" altLang="fr-FR" sz="2400" baseline="30000">
                  <a:latin typeface="Arial Narrow" panose="020B0606020202030204" pitchFamily="34" charset="0"/>
                  <a:sym typeface="Symbol" panose="05050102010706020507" pitchFamily="18" charset="2"/>
                </a:rPr>
                <a:t>r</a:t>
              </a:r>
              <a:endParaRPr lang="en-US" altLang="fr-FR" sz="2400">
                <a:latin typeface="Arial Narrow" panose="020B0606020202030204" pitchFamily="34" charset="0"/>
                <a:sym typeface="Symbol" panose="05050102010706020507" pitchFamily="18" charset="2"/>
              </a:endParaRPr>
            </a:p>
          </p:txBody>
        </p:sp>
      </p:grpSp>
      <p:sp>
        <p:nvSpPr>
          <p:cNvPr id="133168" name="Line 48"/>
          <p:cNvSpPr>
            <a:spLocks noChangeAspect="1" noChangeShapeType="1"/>
          </p:cNvSpPr>
          <p:nvPr/>
        </p:nvSpPr>
        <p:spPr bwMode="auto">
          <a:xfrm flipH="1">
            <a:off x="4556125" y="4024313"/>
            <a:ext cx="1543050" cy="80168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33169" name="Line 49"/>
          <p:cNvSpPr>
            <a:spLocks noChangeShapeType="1"/>
          </p:cNvSpPr>
          <p:nvPr/>
        </p:nvSpPr>
        <p:spPr bwMode="auto">
          <a:xfrm>
            <a:off x="6115050" y="4054475"/>
            <a:ext cx="504825" cy="9683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grpSp>
        <p:nvGrpSpPr>
          <p:cNvPr id="6" name="Group 57"/>
          <p:cNvGrpSpPr>
            <a:grpSpLocks/>
          </p:cNvGrpSpPr>
          <p:nvPr/>
        </p:nvGrpSpPr>
        <p:grpSpPr bwMode="auto">
          <a:xfrm>
            <a:off x="5038725" y="4979988"/>
            <a:ext cx="1789113" cy="833437"/>
            <a:chOff x="3156" y="3299"/>
            <a:chExt cx="1127" cy="525"/>
          </a:xfrm>
        </p:grpSpPr>
        <p:sp>
          <p:nvSpPr>
            <p:cNvPr id="247834" name="Line 50"/>
            <p:cNvSpPr>
              <a:spLocks noChangeShapeType="1"/>
            </p:cNvSpPr>
            <p:nvPr/>
          </p:nvSpPr>
          <p:spPr bwMode="auto">
            <a:xfrm flipV="1">
              <a:off x="3156" y="3299"/>
              <a:ext cx="1014" cy="5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aphicFrame>
          <p:nvGraphicFramePr>
            <p:cNvPr id="247835" name="Object 52"/>
            <p:cNvGraphicFramePr>
              <a:graphicFrameLocks noChangeAspect="1"/>
            </p:cNvGraphicFramePr>
            <p:nvPr/>
          </p:nvGraphicFramePr>
          <p:xfrm>
            <a:off x="4034" y="3364"/>
            <a:ext cx="249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930" name="Equation" r:id="rId16" imgW="215713" imgH="241091" progId="Equation.3">
                    <p:embed/>
                  </p:oleObj>
                </mc:Choice>
                <mc:Fallback>
                  <p:oleObj name="Equation" r:id="rId16" imgW="215713" imgH="241091" progId="Equation.3">
                    <p:embed/>
                    <p:pic>
                      <p:nvPicPr>
                        <p:cNvPr id="0" name="Object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4" y="3364"/>
                          <a:ext cx="249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56"/>
          <p:cNvGrpSpPr>
            <a:grpSpLocks/>
          </p:cNvGrpSpPr>
          <p:nvPr/>
        </p:nvGrpSpPr>
        <p:grpSpPr bwMode="auto">
          <a:xfrm>
            <a:off x="4235450" y="4884738"/>
            <a:ext cx="760413" cy="914400"/>
            <a:chOff x="2650" y="3086"/>
            <a:chExt cx="479" cy="576"/>
          </a:xfrm>
        </p:grpSpPr>
        <p:sp>
          <p:nvSpPr>
            <p:cNvPr id="247832" name="Line 54"/>
            <p:cNvSpPr>
              <a:spLocks noChangeShapeType="1"/>
            </p:cNvSpPr>
            <p:nvPr/>
          </p:nvSpPr>
          <p:spPr bwMode="auto">
            <a:xfrm flipH="1" flipV="1">
              <a:off x="2837" y="3086"/>
              <a:ext cx="292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aphicFrame>
          <p:nvGraphicFramePr>
            <p:cNvPr id="247833" name="Object 55"/>
            <p:cNvGraphicFramePr>
              <a:graphicFrameLocks noChangeAspect="1"/>
            </p:cNvGraphicFramePr>
            <p:nvPr/>
          </p:nvGraphicFramePr>
          <p:xfrm>
            <a:off x="2650" y="3134"/>
            <a:ext cx="249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931" name="Equation" r:id="rId18" imgW="215713" imgH="253780" progId="Equation.3">
                    <p:embed/>
                  </p:oleObj>
                </mc:Choice>
                <mc:Fallback>
                  <p:oleObj name="Equation" r:id="rId18" imgW="215713" imgH="253780" progId="Equation.3">
                    <p:embed/>
                    <p:pic>
                      <p:nvPicPr>
                        <p:cNvPr id="0" name="Object 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50" y="3134"/>
                          <a:ext cx="249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3186" name="Text Box 66"/>
          <p:cNvSpPr txBox="1">
            <a:spLocks noChangeArrowheads="1"/>
          </p:cNvSpPr>
          <p:nvPr/>
        </p:nvSpPr>
        <p:spPr bwMode="auto">
          <a:xfrm>
            <a:off x="696913" y="3157538"/>
            <a:ext cx="20859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Repère tournant:</a:t>
            </a:r>
          </a:p>
        </p:txBody>
      </p:sp>
      <p:sp>
        <p:nvSpPr>
          <p:cNvPr id="35" name="Rectangle 2"/>
          <p:cNvSpPr txBox="1">
            <a:spLocks noChangeArrowheads="1"/>
          </p:cNvSpPr>
          <p:nvPr/>
        </p:nvSpPr>
        <p:spPr bwMode="auto">
          <a:xfrm>
            <a:off x="457200" y="274638"/>
            <a:ext cx="7467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45720" rIns="45720" anchor="ctr"/>
          <a:lstStyle/>
          <a:p>
            <a:pPr eaLnBrk="1" hangingPunct="1">
              <a:defRPr/>
            </a:pPr>
            <a:r>
              <a:rPr lang="en-US" sz="3600" dirty="0">
                <a:ea typeface="+mj-ea"/>
                <a:cs typeface="+mj-cs"/>
              </a:rPr>
              <a:t>CFO d’un entrainment par MAS</a:t>
            </a:r>
            <a:endParaRPr lang="en-US" sz="3600" dirty="0">
              <a:latin typeface="+mj-lt"/>
              <a:ea typeface="+mj-ea"/>
              <a:cs typeface="+mj-cs"/>
            </a:endParaRPr>
          </a:p>
        </p:txBody>
      </p:sp>
      <p:sp>
        <p:nvSpPr>
          <p:cNvPr id="247829" name="Rectangle 10"/>
          <p:cNvSpPr>
            <a:spLocks noChangeArrowheads="1"/>
          </p:cNvSpPr>
          <p:nvPr/>
        </p:nvSpPr>
        <p:spPr bwMode="auto">
          <a:xfrm>
            <a:off x="600075" y="1177925"/>
            <a:ext cx="4005263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Choisir un repère tel que:</a:t>
            </a:r>
          </a:p>
        </p:txBody>
      </p:sp>
      <p:sp>
        <p:nvSpPr>
          <p:cNvPr id="247830" name="Espace réservé du numéro de diapositive 3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A70346A-5695-4801-9531-63F72889B961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38" name="Espace réservé du pied de page 3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33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33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33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331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33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68" grpId="0" animBg="1"/>
      <p:bldP spid="133169" grpId="0" animBg="1"/>
      <p:bldP spid="13318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fr-FR" sz="3600" smtClean="0">
                <a:latin typeface="Arial Narrow" panose="020B0606020202030204" pitchFamily="34" charset="0"/>
              </a:rPr>
              <a:t>CFO d’un entrainment par MAS</a:t>
            </a:r>
            <a:endParaRPr lang="en-US" altLang="fr-FR" sz="3600" smtClean="0"/>
          </a:p>
        </p:txBody>
      </p:sp>
      <p:sp>
        <p:nvSpPr>
          <p:cNvPr id="249859" name="Rectangle 3"/>
          <p:cNvSpPr>
            <a:spLocks noChangeArrowheads="1"/>
          </p:cNvSpPr>
          <p:nvPr/>
        </p:nvSpPr>
        <p:spPr bwMode="auto">
          <a:xfrm>
            <a:off x="357188" y="257175"/>
            <a:ext cx="8429625" cy="6254750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08581" name="Rectangle 37"/>
          <p:cNvSpPr>
            <a:spLocks noChangeArrowheads="1"/>
          </p:cNvSpPr>
          <p:nvPr/>
        </p:nvSpPr>
        <p:spPr bwMode="auto">
          <a:xfrm>
            <a:off x="504825" y="1290638"/>
            <a:ext cx="8102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fr-FR" sz="2000">
                <a:latin typeface="Arial Narrow" panose="020B0606020202030204" pitchFamily="34" charset="0"/>
              </a:rPr>
              <a:t>Pour implanter la CFO du flux rotorique, il y a besoin de connaitre la position du flux rotorique:</a:t>
            </a:r>
          </a:p>
        </p:txBody>
      </p:sp>
      <p:sp>
        <p:nvSpPr>
          <p:cNvPr id="108582" name="Rectangle 38"/>
          <p:cNvSpPr>
            <a:spLocks noChangeArrowheads="1"/>
          </p:cNvSpPr>
          <p:nvPr/>
        </p:nvSpPr>
        <p:spPr bwMode="auto">
          <a:xfrm>
            <a:off x="1087438" y="1844675"/>
            <a:ext cx="38560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fr-FR" sz="2000">
                <a:solidFill>
                  <a:srgbClr val="FF3300"/>
                </a:solidFill>
                <a:latin typeface="Arial Narrow" panose="020B0606020202030204" pitchFamily="34" charset="0"/>
              </a:rPr>
              <a:t>(i)	CFO indirecte</a:t>
            </a:r>
          </a:p>
        </p:txBody>
      </p:sp>
      <p:graphicFrame>
        <p:nvGraphicFramePr>
          <p:cNvPr id="108589" name="Object 45"/>
          <p:cNvGraphicFramePr>
            <a:graphicFrameLocks noChangeAspect="1"/>
          </p:cNvGraphicFramePr>
          <p:nvPr/>
        </p:nvGraphicFramePr>
        <p:xfrm>
          <a:off x="2246313" y="4695825"/>
          <a:ext cx="4611687" cy="74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917" name="Equation" r:id="rId4" imgW="2425700" imgH="393700" progId="Equation.3">
                  <p:embed/>
                </p:oleObj>
              </mc:Choice>
              <mc:Fallback>
                <p:oleObj name="Equation" r:id="rId4" imgW="2425700" imgH="393700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6313" y="4695825"/>
                        <a:ext cx="4611687" cy="741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5"/>
          <p:cNvGrpSpPr>
            <a:grpSpLocks/>
          </p:cNvGrpSpPr>
          <p:nvPr/>
        </p:nvGrpSpPr>
        <p:grpSpPr bwMode="auto">
          <a:xfrm>
            <a:off x="944563" y="5400675"/>
            <a:ext cx="6811962" cy="1096963"/>
            <a:chOff x="595" y="3235"/>
            <a:chExt cx="4291" cy="691"/>
          </a:xfrm>
        </p:grpSpPr>
        <p:graphicFrame>
          <p:nvGraphicFramePr>
            <p:cNvPr id="249875" name="Object 47"/>
            <p:cNvGraphicFramePr>
              <a:graphicFrameLocks noChangeAspect="1"/>
            </p:cNvGraphicFramePr>
            <p:nvPr/>
          </p:nvGraphicFramePr>
          <p:xfrm>
            <a:off x="1031" y="3350"/>
            <a:ext cx="3623" cy="5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9918" name="Équation" r:id="rId6" imgW="2603500" imgH="393700" progId="Equation.3">
                    <p:embed/>
                  </p:oleObj>
                </mc:Choice>
                <mc:Fallback>
                  <p:oleObj name="Équation" r:id="rId6" imgW="2603500" imgH="393700" progId="Equation.3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1" y="3350"/>
                          <a:ext cx="3623" cy="5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9876" name="Rectangle 49"/>
            <p:cNvSpPr>
              <a:spLocks noChangeArrowheads="1"/>
            </p:cNvSpPr>
            <p:nvPr/>
          </p:nvSpPr>
          <p:spPr bwMode="auto">
            <a:xfrm>
              <a:off x="595" y="3235"/>
              <a:ext cx="4291" cy="69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</p:grpSp>
      <p:sp>
        <p:nvSpPr>
          <p:cNvPr id="108594" name="Text Box 50"/>
          <p:cNvSpPr txBox="1">
            <a:spLocks noChangeArrowheads="1"/>
          </p:cNvSpPr>
          <p:nvPr/>
        </p:nvSpPr>
        <p:spPr bwMode="auto">
          <a:xfrm>
            <a:off x="465138" y="2338388"/>
            <a:ext cx="8116887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La vitesse de synchronisme est obtenue par l’addition de la vitesse de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glissement à celle du rotor</a:t>
            </a:r>
            <a:endParaRPr lang="en-US" altLang="fr-FR" sz="2400" b="1">
              <a:latin typeface="Arial Narrow" panose="020B0606020202030204" pitchFamily="34" charset="0"/>
            </a:endParaRPr>
          </a:p>
        </p:txBody>
      </p:sp>
      <p:grpSp>
        <p:nvGrpSpPr>
          <p:cNvPr id="3" name="Group 53"/>
          <p:cNvGrpSpPr>
            <a:grpSpLocks/>
          </p:cNvGrpSpPr>
          <p:nvPr/>
        </p:nvGrpSpPr>
        <p:grpSpPr bwMode="auto">
          <a:xfrm>
            <a:off x="373063" y="3246438"/>
            <a:ext cx="4062412" cy="1387475"/>
            <a:chOff x="254" y="1747"/>
            <a:chExt cx="2559" cy="874"/>
          </a:xfrm>
        </p:grpSpPr>
        <p:sp>
          <p:nvSpPr>
            <p:cNvPr id="249872" name="Text Box 39"/>
            <p:cNvSpPr txBox="1">
              <a:spLocks noChangeArrowheads="1"/>
            </p:cNvSpPr>
            <p:nvPr/>
          </p:nvSpPr>
          <p:spPr bwMode="auto">
            <a:xfrm>
              <a:off x="254" y="1804"/>
              <a:ext cx="241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Arial Narrow" panose="020B0606020202030204" pitchFamily="34" charset="0"/>
                </a:rPr>
                <a:t>Equation de la tension rotorique:</a:t>
              </a:r>
            </a:p>
          </p:txBody>
        </p:sp>
        <p:graphicFrame>
          <p:nvGraphicFramePr>
            <p:cNvPr id="249873" name="Object 40"/>
            <p:cNvGraphicFramePr>
              <a:graphicFrameLocks noChangeAspect="1"/>
            </p:cNvGraphicFramePr>
            <p:nvPr/>
          </p:nvGraphicFramePr>
          <p:xfrm>
            <a:off x="330" y="2067"/>
            <a:ext cx="2164" cy="4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9919" name="Equation" r:id="rId8" imgW="1638300" imgH="368300" progId="Equation.3">
                    <p:embed/>
                  </p:oleObj>
                </mc:Choice>
                <mc:Fallback>
                  <p:oleObj name="Equation" r:id="rId8" imgW="1638300" imgH="368300" progId="Equation.3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0" y="2067"/>
                          <a:ext cx="2164" cy="4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9874" name="Rectangle 51"/>
            <p:cNvSpPr>
              <a:spLocks noChangeArrowheads="1"/>
            </p:cNvSpPr>
            <p:nvPr/>
          </p:nvSpPr>
          <p:spPr bwMode="auto">
            <a:xfrm>
              <a:off x="269" y="1747"/>
              <a:ext cx="2544" cy="87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</p:grpSp>
      <p:grpSp>
        <p:nvGrpSpPr>
          <p:cNvPr id="4" name="Group 54"/>
          <p:cNvGrpSpPr>
            <a:grpSpLocks/>
          </p:cNvGrpSpPr>
          <p:nvPr/>
        </p:nvGrpSpPr>
        <p:grpSpPr bwMode="auto">
          <a:xfrm>
            <a:off x="4633913" y="3246438"/>
            <a:ext cx="4059237" cy="1387475"/>
            <a:chOff x="2919" y="1747"/>
            <a:chExt cx="2557" cy="874"/>
          </a:xfrm>
        </p:grpSpPr>
        <p:graphicFrame>
          <p:nvGraphicFramePr>
            <p:cNvPr id="249869" name="Object 42"/>
            <p:cNvGraphicFramePr>
              <a:graphicFrameLocks noChangeAspect="1"/>
            </p:cNvGraphicFramePr>
            <p:nvPr/>
          </p:nvGraphicFramePr>
          <p:xfrm>
            <a:off x="3585" y="2128"/>
            <a:ext cx="1180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9920" name="Equation" r:id="rId10" imgW="939392" imgH="215806" progId="Equation.3">
                    <p:embed/>
                  </p:oleObj>
                </mc:Choice>
                <mc:Fallback>
                  <p:oleObj name="Equation" r:id="rId10" imgW="939392" imgH="215806" progId="Equation.3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85" y="2128"/>
                          <a:ext cx="1180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9870" name="Text Box 44"/>
            <p:cNvSpPr txBox="1">
              <a:spLocks noChangeArrowheads="1"/>
            </p:cNvSpPr>
            <p:nvPr/>
          </p:nvSpPr>
          <p:spPr bwMode="auto">
            <a:xfrm>
              <a:off x="3497" y="1838"/>
              <a:ext cx="197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Arial Narrow" panose="020B0606020202030204" pitchFamily="34" charset="0"/>
                </a:rPr>
                <a:t>Equation du flux rotorique:</a:t>
              </a:r>
            </a:p>
          </p:txBody>
        </p:sp>
        <p:sp>
          <p:nvSpPr>
            <p:cNvPr id="249871" name="Rectangle 52"/>
            <p:cNvSpPr>
              <a:spLocks noChangeArrowheads="1"/>
            </p:cNvSpPr>
            <p:nvPr/>
          </p:nvSpPr>
          <p:spPr bwMode="auto">
            <a:xfrm>
              <a:off x="2919" y="1747"/>
              <a:ext cx="2544" cy="87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</p:grpSp>
      <p:sp>
        <p:nvSpPr>
          <p:cNvPr id="249867" name="Espace réservé du numéro de diapositive 18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24FD1EF-6A19-46DD-A60D-E1D0A964C442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20" name="Espace réservé du pied de page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8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8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8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81" grpId="0"/>
      <p:bldP spid="108582" grpId="0"/>
      <p:bldP spid="10859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fr-FR" sz="3600" smtClean="0">
                <a:latin typeface="Arial Narrow" panose="020B0606020202030204" pitchFamily="34" charset="0"/>
              </a:rPr>
              <a:t>CFO indirecte d’un entrainment par MAS</a:t>
            </a:r>
            <a:endParaRPr lang="en-US" altLang="fr-FR" sz="3600" smtClean="0"/>
          </a:p>
        </p:txBody>
      </p:sp>
      <p:sp>
        <p:nvSpPr>
          <p:cNvPr id="251907" name="Rectangle 3"/>
          <p:cNvSpPr>
            <a:spLocks noChangeArrowheads="1"/>
          </p:cNvSpPr>
          <p:nvPr/>
        </p:nvSpPr>
        <p:spPr bwMode="auto">
          <a:xfrm>
            <a:off x="357188" y="257175"/>
            <a:ext cx="8429625" cy="6254750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51908" name="Rectangle 4"/>
          <p:cNvSpPr>
            <a:spLocks noChangeArrowheads="1"/>
          </p:cNvSpPr>
          <p:nvPr/>
        </p:nvSpPr>
        <p:spPr bwMode="auto">
          <a:xfrm>
            <a:off x="0" y="32575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51909" name="Rectangle 5"/>
          <p:cNvSpPr>
            <a:spLocks noChangeArrowheads="1"/>
          </p:cNvSpPr>
          <p:nvPr/>
        </p:nvSpPr>
        <p:spPr bwMode="auto">
          <a:xfrm>
            <a:off x="0" y="3243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51910" name="Rectangle 6"/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51911" name="Rectangle 7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51912" name="Rectangle 8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51913" name="Rectangle 13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51914" name="Rectangle 16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51915" name="Rectangle 18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51916" name="Rectangle 22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51917" name="Rectangle 24"/>
          <p:cNvSpPr>
            <a:spLocks noChangeArrowheads="1"/>
          </p:cNvSpPr>
          <p:nvPr/>
        </p:nvSpPr>
        <p:spPr bwMode="auto">
          <a:xfrm>
            <a:off x="0" y="3243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639763" y="2774950"/>
            <a:ext cx="3675062" cy="2206625"/>
            <a:chOff x="403" y="1748"/>
            <a:chExt cx="2315" cy="1390"/>
          </a:xfrm>
        </p:grpSpPr>
        <p:graphicFrame>
          <p:nvGraphicFramePr>
            <p:cNvPr id="251928" name="Object 21"/>
            <p:cNvGraphicFramePr>
              <a:graphicFrameLocks noChangeAspect="1"/>
            </p:cNvGraphicFramePr>
            <p:nvPr/>
          </p:nvGraphicFramePr>
          <p:xfrm>
            <a:off x="403" y="2623"/>
            <a:ext cx="2173" cy="5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1961" name="Equation" r:id="rId4" imgW="1651000" imgH="393700" progId="Equation.3">
                    <p:embed/>
                  </p:oleObj>
                </mc:Choice>
                <mc:Fallback>
                  <p:oleObj name="Equation" r:id="rId4" imgW="1651000" imgH="393700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" y="2623"/>
                          <a:ext cx="2173" cy="5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1929" name="Line 25"/>
            <p:cNvSpPr>
              <a:spLocks noChangeShapeType="1"/>
            </p:cNvSpPr>
            <p:nvPr/>
          </p:nvSpPr>
          <p:spPr bwMode="auto">
            <a:xfrm flipH="1">
              <a:off x="1277" y="1748"/>
              <a:ext cx="433" cy="7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51930" name="Text Box 26"/>
            <p:cNvSpPr txBox="1">
              <a:spLocks noChangeArrowheads="1"/>
            </p:cNvSpPr>
            <p:nvPr/>
          </p:nvSpPr>
          <p:spPr bwMode="auto">
            <a:xfrm>
              <a:off x="1564" y="1972"/>
              <a:ext cx="115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Arial Narrow" panose="020B0606020202030204" pitchFamily="34" charset="0"/>
                </a:rPr>
                <a:t>Composante d</a:t>
              </a:r>
            </a:p>
          </p:txBody>
        </p:sp>
      </p:grpSp>
      <p:grpSp>
        <p:nvGrpSpPr>
          <p:cNvPr id="3" name="Group 31"/>
          <p:cNvGrpSpPr>
            <a:grpSpLocks/>
          </p:cNvGrpSpPr>
          <p:nvPr/>
        </p:nvGrpSpPr>
        <p:grpSpPr bwMode="auto">
          <a:xfrm>
            <a:off x="5211763" y="2759075"/>
            <a:ext cx="2659062" cy="2193925"/>
            <a:chOff x="3283" y="1738"/>
            <a:chExt cx="1675" cy="1382"/>
          </a:xfrm>
        </p:grpSpPr>
        <p:graphicFrame>
          <p:nvGraphicFramePr>
            <p:cNvPr id="251925" name="Object 23"/>
            <p:cNvGraphicFramePr>
              <a:graphicFrameLocks noChangeAspect="1"/>
            </p:cNvGraphicFramePr>
            <p:nvPr/>
          </p:nvGraphicFramePr>
          <p:xfrm>
            <a:off x="3302" y="2670"/>
            <a:ext cx="1637" cy="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1962" name="Équation" r:id="rId6" imgW="1397000" imgH="381000" progId="Equation.3">
                    <p:embed/>
                  </p:oleObj>
                </mc:Choice>
                <mc:Fallback>
                  <p:oleObj name="Équation" r:id="rId6" imgW="1397000" imgH="381000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02" y="2670"/>
                          <a:ext cx="1637" cy="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1926" name="Text Box 27"/>
            <p:cNvSpPr txBox="1">
              <a:spLocks noChangeArrowheads="1"/>
            </p:cNvSpPr>
            <p:nvPr/>
          </p:nvSpPr>
          <p:spPr bwMode="auto">
            <a:xfrm>
              <a:off x="3715" y="1943"/>
              <a:ext cx="124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Arial Narrow" panose="020B0606020202030204" pitchFamily="34" charset="0"/>
                </a:rPr>
                <a:t>Composante q </a:t>
              </a:r>
            </a:p>
          </p:txBody>
        </p:sp>
        <p:sp>
          <p:nvSpPr>
            <p:cNvPr id="251927" name="Line 28"/>
            <p:cNvSpPr>
              <a:spLocks noChangeShapeType="1"/>
            </p:cNvSpPr>
            <p:nvPr/>
          </p:nvSpPr>
          <p:spPr bwMode="auto">
            <a:xfrm>
              <a:off x="3283" y="1738"/>
              <a:ext cx="460" cy="7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4" name="Group 32"/>
          <p:cNvGrpSpPr>
            <a:grpSpLocks/>
          </p:cNvGrpSpPr>
          <p:nvPr/>
        </p:nvGrpSpPr>
        <p:grpSpPr bwMode="auto">
          <a:xfrm>
            <a:off x="944563" y="5135563"/>
            <a:ext cx="6811962" cy="1096962"/>
            <a:chOff x="595" y="3235"/>
            <a:chExt cx="4291" cy="691"/>
          </a:xfrm>
        </p:grpSpPr>
        <p:graphicFrame>
          <p:nvGraphicFramePr>
            <p:cNvPr id="251923" name="Object 33"/>
            <p:cNvGraphicFramePr>
              <a:graphicFrameLocks noChangeAspect="1"/>
            </p:cNvGraphicFramePr>
            <p:nvPr/>
          </p:nvGraphicFramePr>
          <p:xfrm>
            <a:off x="1031" y="3332"/>
            <a:ext cx="3623" cy="5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1963" name="Équation" r:id="rId8" imgW="2603500" imgH="393700" progId="Equation.3">
                    <p:embed/>
                  </p:oleObj>
                </mc:Choice>
                <mc:Fallback>
                  <p:oleObj name="Équation" r:id="rId8" imgW="2603500" imgH="393700" progId="Equation.3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1" y="3332"/>
                          <a:ext cx="3623" cy="5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1924" name="Rectangle 34"/>
            <p:cNvSpPr>
              <a:spLocks noChangeArrowheads="1"/>
            </p:cNvSpPr>
            <p:nvPr/>
          </p:nvSpPr>
          <p:spPr bwMode="auto">
            <a:xfrm>
              <a:off x="595" y="3235"/>
              <a:ext cx="4291" cy="69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</p:grpSp>
      <p:sp>
        <p:nvSpPr>
          <p:cNvPr id="251921" name="Espace réservé du numéro de diapositive 2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462F016-4FE1-4C27-A949-7258602B71BC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26" name="Espace réservé du pied de page 2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2.90472E-6 L -4.44444E-6 -0.50879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54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fr-FR" sz="3600" smtClean="0">
                <a:latin typeface="Arial Narrow" panose="020B0606020202030204" pitchFamily="34" charset="0"/>
              </a:rPr>
              <a:t>CFO indirecte d’un entrainment par MAS</a:t>
            </a:r>
            <a:endParaRPr lang="en-US" altLang="fr-FR" sz="3600" smtClean="0"/>
          </a:p>
        </p:txBody>
      </p:sp>
      <p:sp>
        <p:nvSpPr>
          <p:cNvPr id="253955" name="Rectangle 3"/>
          <p:cNvSpPr>
            <a:spLocks noChangeArrowheads="1"/>
          </p:cNvSpPr>
          <p:nvPr/>
        </p:nvSpPr>
        <p:spPr bwMode="auto">
          <a:xfrm>
            <a:off x="357188" y="257175"/>
            <a:ext cx="8429625" cy="6254750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53956" name="Rectangle 4"/>
          <p:cNvSpPr>
            <a:spLocks noChangeArrowheads="1"/>
          </p:cNvSpPr>
          <p:nvPr/>
        </p:nvSpPr>
        <p:spPr bwMode="auto">
          <a:xfrm>
            <a:off x="0" y="32575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53957" name="Rectangle 5"/>
          <p:cNvSpPr>
            <a:spLocks noChangeArrowheads="1"/>
          </p:cNvSpPr>
          <p:nvPr/>
        </p:nvSpPr>
        <p:spPr bwMode="auto">
          <a:xfrm>
            <a:off x="0" y="3243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53958" name="Rectangle 6"/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53959" name="Rectangle 7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53960" name="Rectangle 8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53961" name="Rectangle 9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53962" name="Rectangle 10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53963" name="Rectangle 11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53964" name="Rectangle 12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53965" name="Rectangle 13"/>
          <p:cNvSpPr>
            <a:spLocks noChangeArrowheads="1"/>
          </p:cNvSpPr>
          <p:nvPr/>
        </p:nvSpPr>
        <p:spPr bwMode="auto">
          <a:xfrm>
            <a:off x="0" y="3243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aphicFrame>
        <p:nvGraphicFramePr>
          <p:cNvPr id="253966" name="Object 15"/>
          <p:cNvGraphicFramePr>
            <a:graphicFrameLocks noChangeAspect="1"/>
          </p:cNvGraphicFramePr>
          <p:nvPr/>
        </p:nvGraphicFramePr>
        <p:xfrm>
          <a:off x="639763" y="4164013"/>
          <a:ext cx="3449637" cy="81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4041" name="Équation" r:id="rId4" imgW="1651000" imgH="393700" progId="Equation.3">
                  <p:embed/>
                </p:oleObj>
              </mc:Choice>
              <mc:Fallback>
                <p:oleObj name="Équation" r:id="rId4" imgW="1651000" imgH="3937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763" y="4164013"/>
                        <a:ext cx="3449637" cy="817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3967" name="Line 16"/>
          <p:cNvSpPr>
            <a:spLocks noChangeShapeType="1"/>
          </p:cNvSpPr>
          <p:nvPr/>
        </p:nvSpPr>
        <p:spPr bwMode="auto">
          <a:xfrm flipH="1">
            <a:off x="2027238" y="2774950"/>
            <a:ext cx="687387" cy="1249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53968" name="Text Box 17"/>
          <p:cNvSpPr txBox="1">
            <a:spLocks noChangeArrowheads="1"/>
          </p:cNvSpPr>
          <p:nvPr/>
        </p:nvSpPr>
        <p:spPr bwMode="auto">
          <a:xfrm>
            <a:off x="2482850" y="3130550"/>
            <a:ext cx="19732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Composante d </a:t>
            </a:r>
          </a:p>
        </p:txBody>
      </p:sp>
      <p:graphicFrame>
        <p:nvGraphicFramePr>
          <p:cNvPr id="253969" name="Object 19"/>
          <p:cNvGraphicFramePr>
            <a:graphicFrameLocks noChangeAspect="1"/>
          </p:cNvGraphicFramePr>
          <p:nvPr/>
        </p:nvGraphicFramePr>
        <p:xfrm>
          <a:off x="5241925" y="4238625"/>
          <a:ext cx="2598738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4042" name="Équation" r:id="rId6" imgW="1397000" imgH="381000" progId="Equation.3">
                  <p:embed/>
                </p:oleObj>
              </mc:Choice>
              <mc:Fallback>
                <p:oleObj name="Équation" r:id="rId6" imgW="1397000" imgH="3810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1925" y="4238625"/>
                        <a:ext cx="2598738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3970" name="Text Box 20"/>
          <p:cNvSpPr txBox="1">
            <a:spLocks noChangeArrowheads="1"/>
          </p:cNvSpPr>
          <p:nvPr/>
        </p:nvSpPr>
        <p:spPr bwMode="auto">
          <a:xfrm>
            <a:off x="5897563" y="3084513"/>
            <a:ext cx="18319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Composante q</a:t>
            </a:r>
          </a:p>
        </p:txBody>
      </p:sp>
      <p:sp>
        <p:nvSpPr>
          <p:cNvPr id="253971" name="Line 21"/>
          <p:cNvSpPr>
            <a:spLocks noChangeShapeType="1"/>
          </p:cNvSpPr>
          <p:nvPr/>
        </p:nvSpPr>
        <p:spPr bwMode="auto">
          <a:xfrm>
            <a:off x="5211763" y="2759075"/>
            <a:ext cx="730250" cy="1235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grpSp>
        <p:nvGrpSpPr>
          <p:cNvPr id="253972" name="Group 22"/>
          <p:cNvGrpSpPr>
            <a:grpSpLocks/>
          </p:cNvGrpSpPr>
          <p:nvPr/>
        </p:nvGrpSpPr>
        <p:grpSpPr bwMode="auto">
          <a:xfrm>
            <a:off x="944563" y="1649413"/>
            <a:ext cx="6811962" cy="1096962"/>
            <a:chOff x="595" y="3235"/>
            <a:chExt cx="4291" cy="691"/>
          </a:xfrm>
        </p:grpSpPr>
        <p:graphicFrame>
          <p:nvGraphicFramePr>
            <p:cNvPr id="253979" name="Object 23"/>
            <p:cNvGraphicFramePr>
              <a:graphicFrameLocks noChangeAspect="1"/>
            </p:cNvGraphicFramePr>
            <p:nvPr/>
          </p:nvGraphicFramePr>
          <p:xfrm>
            <a:off x="1031" y="3332"/>
            <a:ext cx="3623" cy="5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4043" name="Équation" r:id="rId8" imgW="2603500" imgH="393700" progId="Equation.3">
                    <p:embed/>
                  </p:oleObj>
                </mc:Choice>
                <mc:Fallback>
                  <p:oleObj name="Équation" r:id="rId8" imgW="2603500" imgH="393700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1" y="3332"/>
                          <a:ext cx="3623" cy="5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3980" name="Rectangle 24"/>
            <p:cNvSpPr>
              <a:spLocks noChangeArrowheads="1"/>
            </p:cNvSpPr>
            <p:nvPr/>
          </p:nvSpPr>
          <p:spPr bwMode="auto">
            <a:xfrm>
              <a:off x="595" y="3235"/>
              <a:ext cx="4291" cy="69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</p:grpSp>
      <p:sp>
        <p:nvSpPr>
          <p:cNvPr id="253973" name="Espace réservé du numéro de diapositive 2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540377B-5520-4C80-9526-E89347000B04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27" name="Espace réservé du pied de page 2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  <p:sp>
        <p:nvSpPr>
          <p:cNvPr id="253975" name="Espace réservé du contenu 2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altLang="fr-FR" dirty="0" smtClean="0"/>
          </a:p>
        </p:txBody>
      </p:sp>
      <p:graphicFrame>
        <p:nvGraphicFramePr>
          <p:cNvPr id="45084" name="Object 28"/>
          <p:cNvGraphicFramePr>
            <a:graphicFrameLocks noChangeAspect="1"/>
          </p:cNvGraphicFramePr>
          <p:nvPr/>
        </p:nvGraphicFramePr>
        <p:xfrm>
          <a:off x="1627188" y="5205413"/>
          <a:ext cx="1438275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4044" name="Equation" r:id="rId10" imgW="685800" imgH="457200" progId="Equation.3">
                  <p:embed/>
                </p:oleObj>
              </mc:Choice>
              <mc:Fallback>
                <p:oleObj name="Equation" r:id="rId10" imgW="685800" imgH="45720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7188" y="5205413"/>
                        <a:ext cx="1438275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85" name="Object 29"/>
          <p:cNvGraphicFramePr>
            <a:graphicFrameLocks noChangeAspect="1"/>
          </p:cNvGraphicFramePr>
          <p:nvPr/>
        </p:nvGraphicFramePr>
        <p:xfrm>
          <a:off x="4768850" y="5211763"/>
          <a:ext cx="1798638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4045" name="Equation" r:id="rId12" imgW="1143000" imgH="431800" progId="Equation.3">
                  <p:embed/>
                </p:oleObj>
              </mc:Choice>
              <mc:Fallback>
                <p:oleObj name="Equation" r:id="rId12" imgW="1143000" imgH="43180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8850" y="5211763"/>
                        <a:ext cx="1798638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86" name="Object 30"/>
          <p:cNvGraphicFramePr>
            <a:graphicFrameLocks noChangeAspect="1"/>
          </p:cNvGraphicFramePr>
          <p:nvPr/>
        </p:nvGraphicFramePr>
        <p:xfrm>
          <a:off x="6883400" y="5129213"/>
          <a:ext cx="1789113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4046" name="Equation" r:id="rId14" imgW="1092200" imgH="457200" progId="Equation.3">
                  <p:embed/>
                </p:oleObj>
              </mc:Choice>
              <mc:Fallback>
                <p:oleObj name="Equation" r:id="rId14" imgW="1092200" imgH="45720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3400" y="5129213"/>
                        <a:ext cx="1789113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5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9"/>
          <p:cNvGrpSpPr>
            <a:grpSpLocks/>
          </p:cNvGrpSpPr>
          <p:nvPr/>
        </p:nvGrpSpPr>
        <p:grpSpPr bwMode="auto">
          <a:xfrm>
            <a:off x="3343275" y="1009650"/>
            <a:ext cx="1588" cy="5311775"/>
            <a:chOff x="2106" y="636"/>
            <a:chExt cx="1" cy="3346"/>
          </a:xfrm>
        </p:grpSpPr>
        <p:sp>
          <p:nvSpPr>
            <p:cNvPr id="256060" name="Line 77"/>
            <p:cNvSpPr>
              <a:spLocks noChangeAspect="1" noChangeShapeType="1"/>
            </p:cNvSpPr>
            <p:nvPr/>
          </p:nvSpPr>
          <p:spPr bwMode="auto">
            <a:xfrm>
              <a:off x="2107" y="3087"/>
              <a:ext cx="0" cy="89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56061" name="Line 88"/>
            <p:cNvSpPr>
              <a:spLocks noChangeShapeType="1"/>
            </p:cNvSpPr>
            <p:nvPr/>
          </p:nvSpPr>
          <p:spPr bwMode="auto">
            <a:xfrm flipV="1">
              <a:off x="2106" y="636"/>
              <a:ext cx="0" cy="244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560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fr-FR" sz="3600" smtClean="0">
                <a:latin typeface="Arial Narrow" panose="020B0606020202030204" pitchFamily="34" charset="0"/>
              </a:rPr>
              <a:t>CFO indirecte d’un entrainment par MAS</a:t>
            </a:r>
            <a:endParaRPr lang="en-US" altLang="fr-FR" sz="3600" smtClean="0"/>
          </a:p>
        </p:txBody>
      </p:sp>
      <p:sp>
        <p:nvSpPr>
          <p:cNvPr id="256004" name="Rectangle 3"/>
          <p:cNvSpPr>
            <a:spLocks noChangeArrowheads="1"/>
          </p:cNvSpPr>
          <p:nvPr/>
        </p:nvSpPr>
        <p:spPr bwMode="auto">
          <a:xfrm>
            <a:off x="357188" y="257175"/>
            <a:ext cx="8429625" cy="6254750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56005" name="Rectangle 27"/>
          <p:cNvSpPr>
            <a:spLocks noChangeArrowheads="1"/>
          </p:cNvSpPr>
          <p:nvPr/>
        </p:nvSpPr>
        <p:spPr bwMode="auto">
          <a:xfrm>
            <a:off x="5688013" y="1604963"/>
            <a:ext cx="1006475" cy="16922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56006" name="Rectangle 28"/>
          <p:cNvSpPr>
            <a:spLocks noChangeArrowheads="1"/>
          </p:cNvSpPr>
          <p:nvPr/>
        </p:nvSpPr>
        <p:spPr bwMode="auto">
          <a:xfrm>
            <a:off x="4333875" y="1808163"/>
            <a:ext cx="792163" cy="12493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56007" name="Oval 29"/>
          <p:cNvSpPr>
            <a:spLocks noChangeArrowheads="1"/>
          </p:cNvSpPr>
          <p:nvPr/>
        </p:nvSpPr>
        <p:spPr bwMode="auto">
          <a:xfrm>
            <a:off x="7467600" y="2036763"/>
            <a:ext cx="868363" cy="8985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56008" name="Line 30"/>
          <p:cNvSpPr>
            <a:spLocks noChangeShapeType="1"/>
          </p:cNvSpPr>
          <p:nvPr/>
        </p:nvSpPr>
        <p:spPr bwMode="auto">
          <a:xfrm>
            <a:off x="655638" y="2006600"/>
            <a:ext cx="7762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56009" name="Line 31"/>
          <p:cNvSpPr>
            <a:spLocks noChangeShapeType="1"/>
          </p:cNvSpPr>
          <p:nvPr/>
        </p:nvSpPr>
        <p:spPr bwMode="auto">
          <a:xfrm>
            <a:off x="669925" y="2860675"/>
            <a:ext cx="7762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56010" name="Line 32"/>
          <p:cNvSpPr>
            <a:spLocks noChangeShapeType="1"/>
          </p:cNvSpPr>
          <p:nvPr/>
        </p:nvSpPr>
        <p:spPr bwMode="auto">
          <a:xfrm>
            <a:off x="2393950" y="2036763"/>
            <a:ext cx="5635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56011" name="Line 33"/>
          <p:cNvSpPr>
            <a:spLocks noChangeShapeType="1"/>
          </p:cNvSpPr>
          <p:nvPr/>
        </p:nvSpPr>
        <p:spPr bwMode="auto">
          <a:xfrm>
            <a:off x="2393950" y="2708275"/>
            <a:ext cx="5635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56012" name="Line 34"/>
          <p:cNvSpPr>
            <a:spLocks noChangeShapeType="1"/>
          </p:cNvSpPr>
          <p:nvPr/>
        </p:nvSpPr>
        <p:spPr bwMode="auto">
          <a:xfrm>
            <a:off x="3765550" y="2082800"/>
            <a:ext cx="5635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56013" name="Line 35"/>
          <p:cNvSpPr>
            <a:spLocks noChangeShapeType="1"/>
          </p:cNvSpPr>
          <p:nvPr/>
        </p:nvSpPr>
        <p:spPr bwMode="auto">
          <a:xfrm>
            <a:off x="3765550" y="2754313"/>
            <a:ext cx="5635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56014" name="Line 36"/>
          <p:cNvSpPr>
            <a:spLocks noChangeShapeType="1"/>
          </p:cNvSpPr>
          <p:nvPr/>
        </p:nvSpPr>
        <p:spPr bwMode="auto">
          <a:xfrm>
            <a:off x="5122863" y="2001838"/>
            <a:ext cx="5635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56015" name="Line 37"/>
          <p:cNvSpPr>
            <a:spLocks noChangeShapeType="1"/>
          </p:cNvSpPr>
          <p:nvPr/>
        </p:nvSpPr>
        <p:spPr bwMode="auto">
          <a:xfrm>
            <a:off x="5122863" y="2863850"/>
            <a:ext cx="5635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56016" name="Line 38"/>
          <p:cNvSpPr>
            <a:spLocks noChangeShapeType="1"/>
          </p:cNvSpPr>
          <p:nvPr/>
        </p:nvSpPr>
        <p:spPr bwMode="auto">
          <a:xfrm>
            <a:off x="5137150" y="2452688"/>
            <a:ext cx="5635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56017" name="Line 39"/>
          <p:cNvSpPr>
            <a:spLocks noChangeShapeType="1"/>
          </p:cNvSpPr>
          <p:nvPr/>
        </p:nvSpPr>
        <p:spPr bwMode="auto">
          <a:xfrm>
            <a:off x="6689725" y="2468563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56018" name="Line 40"/>
          <p:cNvSpPr>
            <a:spLocks noChangeShapeType="1"/>
          </p:cNvSpPr>
          <p:nvPr/>
        </p:nvSpPr>
        <p:spPr bwMode="auto">
          <a:xfrm>
            <a:off x="6689725" y="1960563"/>
            <a:ext cx="838200" cy="2587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56019" name="Line 41"/>
          <p:cNvSpPr>
            <a:spLocks noChangeShapeType="1"/>
          </p:cNvSpPr>
          <p:nvPr/>
        </p:nvSpPr>
        <p:spPr bwMode="auto">
          <a:xfrm flipV="1">
            <a:off x="6689725" y="2736850"/>
            <a:ext cx="854075" cy="260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56020" name="Text Box 42"/>
          <p:cNvSpPr txBox="1">
            <a:spLocks noChangeArrowheads="1"/>
          </p:cNvSpPr>
          <p:nvPr/>
        </p:nvSpPr>
        <p:spPr bwMode="auto">
          <a:xfrm>
            <a:off x="654050" y="1646238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T*</a:t>
            </a:r>
          </a:p>
        </p:txBody>
      </p:sp>
      <p:sp>
        <p:nvSpPr>
          <p:cNvPr id="256021" name="Text Box 43"/>
          <p:cNvSpPr txBox="1">
            <a:spLocks noChangeArrowheads="1"/>
          </p:cNvSpPr>
          <p:nvPr/>
        </p:nvSpPr>
        <p:spPr bwMode="auto">
          <a:xfrm>
            <a:off x="547688" y="2511425"/>
            <a:ext cx="4540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  <a:sym typeface="Symbol" panose="05050102010706020507" pitchFamily="18" charset="2"/>
              </a:rPr>
              <a:t></a:t>
            </a:r>
            <a:r>
              <a:rPr lang="en-US" altLang="fr-FR" sz="2400">
                <a:latin typeface="Arial Narrow" panose="020B0606020202030204" pitchFamily="34" charset="0"/>
              </a:rPr>
              <a:t>*</a:t>
            </a:r>
          </a:p>
        </p:txBody>
      </p:sp>
      <p:sp>
        <p:nvSpPr>
          <p:cNvPr id="256022" name="Oval 44"/>
          <p:cNvSpPr>
            <a:spLocks noChangeArrowheads="1"/>
          </p:cNvSpPr>
          <p:nvPr/>
        </p:nvSpPr>
        <p:spPr bwMode="auto">
          <a:xfrm>
            <a:off x="7864475" y="3154363"/>
            <a:ext cx="334963" cy="3206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56023" name="Line 45"/>
          <p:cNvSpPr>
            <a:spLocks noChangeShapeType="1"/>
          </p:cNvSpPr>
          <p:nvPr/>
        </p:nvSpPr>
        <p:spPr bwMode="auto">
          <a:xfrm>
            <a:off x="7864475" y="2667000"/>
            <a:ext cx="120650" cy="487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56024" name="Line 46"/>
          <p:cNvSpPr>
            <a:spLocks noChangeShapeType="1"/>
          </p:cNvSpPr>
          <p:nvPr/>
        </p:nvSpPr>
        <p:spPr bwMode="auto">
          <a:xfrm>
            <a:off x="7940675" y="2667000"/>
            <a:ext cx="120650" cy="487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56025" name="Line 48"/>
          <p:cNvSpPr>
            <a:spLocks noChangeAspect="1" noChangeShapeType="1"/>
          </p:cNvSpPr>
          <p:nvPr/>
        </p:nvSpPr>
        <p:spPr bwMode="auto">
          <a:xfrm>
            <a:off x="1874838" y="3479800"/>
            <a:ext cx="0" cy="971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56026" name="Line 49"/>
          <p:cNvSpPr>
            <a:spLocks noChangeAspect="1" noChangeShapeType="1"/>
          </p:cNvSpPr>
          <p:nvPr/>
        </p:nvSpPr>
        <p:spPr bwMode="auto">
          <a:xfrm>
            <a:off x="1874838" y="4465638"/>
            <a:ext cx="13096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56027" name="Line 50"/>
          <p:cNvSpPr>
            <a:spLocks noChangeAspect="1" noChangeShapeType="1"/>
          </p:cNvSpPr>
          <p:nvPr/>
        </p:nvSpPr>
        <p:spPr bwMode="auto">
          <a:xfrm>
            <a:off x="8032750" y="3506788"/>
            <a:ext cx="0" cy="960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56028" name="Line 51"/>
          <p:cNvSpPr>
            <a:spLocks noChangeAspect="1" noChangeShapeType="1"/>
          </p:cNvSpPr>
          <p:nvPr/>
        </p:nvSpPr>
        <p:spPr bwMode="auto">
          <a:xfrm>
            <a:off x="3522663" y="4465638"/>
            <a:ext cx="45386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56029" name="Oval 52"/>
          <p:cNvSpPr>
            <a:spLocks noChangeArrowheads="1"/>
          </p:cNvSpPr>
          <p:nvPr/>
        </p:nvSpPr>
        <p:spPr bwMode="auto">
          <a:xfrm>
            <a:off x="3159125" y="4327525"/>
            <a:ext cx="365125" cy="3206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56030" name="Line 53"/>
          <p:cNvSpPr>
            <a:spLocks noChangeShapeType="1"/>
          </p:cNvSpPr>
          <p:nvPr/>
        </p:nvSpPr>
        <p:spPr bwMode="auto">
          <a:xfrm flipV="1">
            <a:off x="3341688" y="3063875"/>
            <a:ext cx="0" cy="1249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56031" name="Text Box 54"/>
          <p:cNvSpPr txBox="1">
            <a:spLocks noChangeArrowheads="1"/>
          </p:cNvSpPr>
          <p:nvPr/>
        </p:nvSpPr>
        <p:spPr bwMode="auto">
          <a:xfrm>
            <a:off x="4495800" y="2185988"/>
            <a:ext cx="501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2/3</a:t>
            </a:r>
          </a:p>
        </p:txBody>
      </p:sp>
      <p:sp>
        <p:nvSpPr>
          <p:cNvPr id="256032" name="Rectangle 56"/>
          <p:cNvSpPr>
            <a:spLocks noChangeArrowheads="1"/>
          </p:cNvSpPr>
          <p:nvPr/>
        </p:nvSpPr>
        <p:spPr bwMode="auto">
          <a:xfrm>
            <a:off x="3108325" y="3581400"/>
            <a:ext cx="533400" cy="3968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56033" name="Text Box 57"/>
          <p:cNvSpPr txBox="1">
            <a:spLocks noChangeArrowheads="1"/>
          </p:cNvSpPr>
          <p:nvPr/>
        </p:nvSpPr>
        <p:spPr bwMode="auto">
          <a:xfrm>
            <a:off x="3109913" y="3603625"/>
            <a:ext cx="488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1/s</a:t>
            </a:r>
          </a:p>
        </p:txBody>
      </p:sp>
      <p:sp>
        <p:nvSpPr>
          <p:cNvPr id="256034" name="Text Box 58"/>
          <p:cNvSpPr txBox="1">
            <a:spLocks noChangeArrowheads="1"/>
          </p:cNvSpPr>
          <p:nvPr/>
        </p:nvSpPr>
        <p:spPr bwMode="auto">
          <a:xfrm>
            <a:off x="2524125" y="1676400"/>
            <a:ext cx="5429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400">
                <a:latin typeface="Arial Narrow" panose="020B0606020202030204" pitchFamily="34" charset="0"/>
              </a:rPr>
              <a:t>i</a:t>
            </a:r>
            <a:r>
              <a:rPr lang="en-US" altLang="fr-FR" sz="1400" baseline="30000">
                <a:latin typeface="Arial Narrow" panose="020B0606020202030204" pitchFamily="34" charset="0"/>
                <a:sym typeface="Symbol" panose="05050102010706020507" pitchFamily="18" charset="2"/>
              </a:rPr>
              <a:t>r</a:t>
            </a:r>
            <a:r>
              <a:rPr lang="en-US" altLang="fr-FR" sz="1400" baseline="-25000">
                <a:latin typeface="Arial Narrow" panose="020B0606020202030204" pitchFamily="34" charset="0"/>
              </a:rPr>
              <a:t>sq</a:t>
            </a:r>
            <a:r>
              <a:rPr lang="en-US" altLang="fr-FR" sz="1400">
                <a:latin typeface="Arial Narrow" panose="020B0606020202030204" pitchFamily="34" charset="0"/>
              </a:rPr>
              <a:t>*</a:t>
            </a:r>
          </a:p>
        </p:txBody>
      </p:sp>
      <p:sp>
        <p:nvSpPr>
          <p:cNvPr id="256035" name="Text Box 59"/>
          <p:cNvSpPr txBox="1">
            <a:spLocks noChangeArrowheads="1"/>
          </p:cNvSpPr>
          <p:nvPr/>
        </p:nvSpPr>
        <p:spPr bwMode="auto">
          <a:xfrm>
            <a:off x="2495550" y="2392363"/>
            <a:ext cx="5429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400">
                <a:latin typeface="Arial Narrow" panose="020B0606020202030204" pitchFamily="34" charset="0"/>
              </a:rPr>
              <a:t>i</a:t>
            </a:r>
            <a:r>
              <a:rPr lang="en-US" altLang="fr-FR" sz="1400" baseline="30000">
                <a:latin typeface="Arial Narrow" panose="020B0606020202030204" pitchFamily="34" charset="0"/>
                <a:sym typeface="Symbol" panose="05050102010706020507" pitchFamily="18" charset="2"/>
              </a:rPr>
              <a:t>r</a:t>
            </a:r>
            <a:r>
              <a:rPr lang="en-US" altLang="fr-FR" sz="1400" baseline="-25000">
                <a:latin typeface="Arial Narrow" panose="020B0606020202030204" pitchFamily="34" charset="0"/>
              </a:rPr>
              <a:t>sd</a:t>
            </a:r>
            <a:r>
              <a:rPr lang="en-US" altLang="fr-FR" sz="1400">
                <a:latin typeface="Arial Narrow" panose="020B0606020202030204" pitchFamily="34" charset="0"/>
              </a:rPr>
              <a:t>*</a:t>
            </a:r>
          </a:p>
        </p:txBody>
      </p:sp>
      <p:sp>
        <p:nvSpPr>
          <p:cNvPr id="256036" name="Text Box 60"/>
          <p:cNvSpPr txBox="1">
            <a:spLocks noChangeArrowheads="1"/>
          </p:cNvSpPr>
          <p:nvPr/>
        </p:nvSpPr>
        <p:spPr bwMode="auto">
          <a:xfrm>
            <a:off x="3795713" y="1703388"/>
            <a:ext cx="4841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i</a:t>
            </a:r>
            <a:r>
              <a:rPr lang="en-US" altLang="fr-FR" sz="2400" baseline="-25000">
                <a:latin typeface="Arial Narrow" panose="020B0606020202030204" pitchFamily="34" charset="0"/>
              </a:rPr>
              <a:t>sq</a:t>
            </a:r>
            <a:r>
              <a:rPr lang="en-US" altLang="fr-FR" sz="2400">
                <a:latin typeface="Arial Narrow" panose="020B0606020202030204" pitchFamily="34" charset="0"/>
              </a:rPr>
              <a:t>*</a:t>
            </a:r>
          </a:p>
        </p:txBody>
      </p:sp>
      <p:sp>
        <p:nvSpPr>
          <p:cNvPr id="256037" name="Text Box 61"/>
          <p:cNvSpPr txBox="1">
            <a:spLocks noChangeArrowheads="1"/>
          </p:cNvSpPr>
          <p:nvPr/>
        </p:nvSpPr>
        <p:spPr bwMode="auto">
          <a:xfrm>
            <a:off x="3781425" y="2389188"/>
            <a:ext cx="4841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i</a:t>
            </a:r>
            <a:r>
              <a:rPr lang="en-US" altLang="fr-FR" sz="2400" baseline="-25000">
                <a:latin typeface="Arial Narrow" panose="020B0606020202030204" pitchFamily="34" charset="0"/>
              </a:rPr>
              <a:t>sd</a:t>
            </a:r>
            <a:r>
              <a:rPr lang="en-US" altLang="fr-FR" sz="2400">
                <a:latin typeface="Arial Narrow" panose="020B0606020202030204" pitchFamily="34" charset="0"/>
              </a:rPr>
              <a:t>*</a:t>
            </a:r>
          </a:p>
        </p:txBody>
      </p:sp>
      <p:sp>
        <p:nvSpPr>
          <p:cNvPr id="256038" name="Text Box 62"/>
          <p:cNvSpPr txBox="1">
            <a:spLocks noChangeArrowheads="1"/>
          </p:cNvSpPr>
          <p:nvPr/>
        </p:nvSpPr>
        <p:spPr bwMode="auto">
          <a:xfrm>
            <a:off x="5167313" y="1612900"/>
            <a:ext cx="4079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i</a:t>
            </a:r>
            <a:r>
              <a:rPr lang="en-US" altLang="fr-FR" sz="2400" baseline="-25000">
                <a:latin typeface="Arial Narrow" panose="020B0606020202030204" pitchFamily="34" charset="0"/>
              </a:rPr>
              <a:t>a</a:t>
            </a:r>
            <a:r>
              <a:rPr lang="en-US" altLang="fr-FR" sz="2400">
                <a:latin typeface="Arial Narrow" panose="020B0606020202030204" pitchFamily="34" charset="0"/>
              </a:rPr>
              <a:t>*</a:t>
            </a:r>
          </a:p>
        </p:txBody>
      </p:sp>
      <p:sp>
        <p:nvSpPr>
          <p:cNvPr id="256039" name="Text Box 63"/>
          <p:cNvSpPr txBox="1">
            <a:spLocks noChangeArrowheads="1"/>
          </p:cNvSpPr>
          <p:nvPr/>
        </p:nvSpPr>
        <p:spPr bwMode="auto">
          <a:xfrm>
            <a:off x="5183188" y="2084388"/>
            <a:ext cx="4079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i</a:t>
            </a:r>
            <a:r>
              <a:rPr lang="en-US" altLang="fr-FR" sz="2400" baseline="-25000">
                <a:latin typeface="Arial Narrow" panose="020B0606020202030204" pitchFamily="34" charset="0"/>
              </a:rPr>
              <a:t>b</a:t>
            </a:r>
            <a:r>
              <a:rPr lang="en-US" altLang="fr-FR" sz="2400">
                <a:latin typeface="Arial Narrow" panose="020B0606020202030204" pitchFamily="34" charset="0"/>
              </a:rPr>
              <a:t>*</a:t>
            </a:r>
          </a:p>
        </p:txBody>
      </p:sp>
      <p:sp>
        <p:nvSpPr>
          <p:cNvPr id="256040" name="Text Box 64"/>
          <p:cNvSpPr txBox="1">
            <a:spLocks noChangeArrowheads="1"/>
          </p:cNvSpPr>
          <p:nvPr/>
        </p:nvSpPr>
        <p:spPr bwMode="auto">
          <a:xfrm>
            <a:off x="5153025" y="2497138"/>
            <a:ext cx="400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i</a:t>
            </a:r>
            <a:r>
              <a:rPr lang="en-US" altLang="fr-FR" sz="2400" baseline="-25000">
                <a:latin typeface="Arial Narrow" panose="020B0606020202030204" pitchFamily="34" charset="0"/>
              </a:rPr>
              <a:t>c</a:t>
            </a:r>
            <a:r>
              <a:rPr lang="en-US" altLang="fr-FR" sz="2400">
                <a:latin typeface="Arial Narrow" panose="020B0606020202030204" pitchFamily="34" charset="0"/>
              </a:rPr>
              <a:t>*</a:t>
            </a:r>
          </a:p>
        </p:txBody>
      </p:sp>
      <p:sp>
        <p:nvSpPr>
          <p:cNvPr id="256041" name="Text Box 65"/>
          <p:cNvSpPr txBox="1">
            <a:spLocks noChangeArrowheads="1"/>
          </p:cNvSpPr>
          <p:nvPr/>
        </p:nvSpPr>
        <p:spPr bwMode="auto">
          <a:xfrm>
            <a:off x="5886450" y="1968500"/>
            <a:ext cx="592138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fr-FR" sz="2400">
              <a:latin typeface="Arial Narrow" panose="020B060602020203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VSI</a:t>
            </a:r>
            <a:endParaRPr lang="en-US" altLang="fr-FR" sz="2400">
              <a:latin typeface="Arial Narrow" panose="020B0606020202030204" pitchFamily="34" charset="0"/>
              <a:sym typeface="Symbol" panose="05050102010706020507" pitchFamily="18" charset="2"/>
            </a:endParaRPr>
          </a:p>
        </p:txBody>
      </p:sp>
      <p:sp>
        <p:nvSpPr>
          <p:cNvPr id="256042" name="Text Box 73"/>
          <p:cNvSpPr txBox="1">
            <a:spLocks noChangeArrowheads="1"/>
          </p:cNvSpPr>
          <p:nvPr/>
        </p:nvSpPr>
        <p:spPr bwMode="auto">
          <a:xfrm>
            <a:off x="2011363" y="4071938"/>
            <a:ext cx="6477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  <a:sym typeface="Symbol" panose="05050102010706020507" pitchFamily="18" charset="2"/>
              </a:rPr>
              <a:t></a:t>
            </a:r>
            <a:r>
              <a:rPr lang="en-US" altLang="fr-FR" sz="2400" baseline="-25000">
                <a:latin typeface="Arial Narrow" panose="020B0606020202030204" pitchFamily="34" charset="0"/>
                <a:sym typeface="Symbol" panose="05050102010706020507" pitchFamily="18" charset="2"/>
              </a:rPr>
              <a:t>glis</a:t>
            </a:r>
            <a:endParaRPr lang="en-US" altLang="fr-FR" sz="2400">
              <a:latin typeface="Arial Narrow" panose="020B0606020202030204" pitchFamily="34" charset="0"/>
              <a:sym typeface="Symbol" panose="05050102010706020507" pitchFamily="18" charset="2"/>
            </a:endParaRPr>
          </a:p>
        </p:txBody>
      </p:sp>
      <p:sp>
        <p:nvSpPr>
          <p:cNvPr id="256043" name="Text Box 74"/>
          <p:cNvSpPr txBox="1">
            <a:spLocks noChangeArrowheads="1"/>
          </p:cNvSpPr>
          <p:nvPr/>
        </p:nvSpPr>
        <p:spPr bwMode="auto">
          <a:xfrm>
            <a:off x="4373563" y="4102100"/>
            <a:ext cx="39211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  <a:sym typeface="Symbol" panose="05050102010706020507" pitchFamily="18" charset="2"/>
              </a:rPr>
              <a:t></a:t>
            </a:r>
            <a:r>
              <a:rPr lang="en-US" altLang="fr-FR" sz="2400" baseline="-25000">
                <a:latin typeface="Arial Narrow" panose="020B0606020202030204" pitchFamily="34" charset="0"/>
                <a:sym typeface="Symbol" panose="05050102010706020507" pitchFamily="18" charset="2"/>
              </a:rPr>
              <a:t>r</a:t>
            </a:r>
            <a:endParaRPr lang="en-US" altLang="fr-FR" sz="2400">
              <a:latin typeface="Arial Narrow" panose="020B0606020202030204" pitchFamily="34" charset="0"/>
              <a:sym typeface="Symbol" panose="05050102010706020507" pitchFamily="18" charset="2"/>
            </a:endParaRPr>
          </a:p>
        </p:txBody>
      </p:sp>
      <p:sp>
        <p:nvSpPr>
          <p:cNvPr id="256044" name="Text Box 75"/>
          <p:cNvSpPr txBox="1">
            <a:spLocks noChangeArrowheads="1"/>
          </p:cNvSpPr>
          <p:nvPr/>
        </p:nvSpPr>
        <p:spPr bwMode="auto">
          <a:xfrm>
            <a:off x="2838450" y="4383088"/>
            <a:ext cx="317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  <a:sym typeface="Symbol" panose="05050102010706020507" pitchFamily="18" charset="2"/>
              </a:rPr>
              <a:t>+</a:t>
            </a:r>
          </a:p>
        </p:txBody>
      </p:sp>
      <p:sp>
        <p:nvSpPr>
          <p:cNvPr id="256045" name="Text Box 76"/>
          <p:cNvSpPr txBox="1">
            <a:spLocks noChangeArrowheads="1"/>
          </p:cNvSpPr>
          <p:nvPr/>
        </p:nvSpPr>
        <p:spPr bwMode="auto">
          <a:xfrm>
            <a:off x="3494088" y="4411663"/>
            <a:ext cx="317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  <a:sym typeface="Symbol" panose="05050102010706020507" pitchFamily="18" charset="2"/>
              </a:rPr>
              <a:t>+</a:t>
            </a:r>
          </a:p>
        </p:txBody>
      </p:sp>
      <p:grpSp>
        <p:nvGrpSpPr>
          <p:cNvPr id="3" name="Group 84"/>
          <p:cNvGrpSpPr>
            <a:grpSpLocks/>
          </p:cNvGrpSpPr>
          <p:nvPr/>
        </p:nvGrpSpPr>
        <p:grpSpPr bwMode="auto">
          <a:xfrm>
            <a:off x="1574800" y="5199063"/>
            <a:ext cx="1741488" cy="839787"/>
            <a:chOff x="992" y="3275"/>
            <a:chExt cx="1097" cy="529"/>
          </a:xfrm>
        </p:grpSpPr>
        <p:sp>
          <p:nvSpPr>
            <p:cNvPr id="256058" name="AutoShape 78"/>
            <p:cNvSpPr>
              <a:spLocks noChangeArrowheads="1"/>
            </p:cNvSpPr>
            <p:nvPr/>
          </p:nvSpPr>
          <p:spPr bwMode="auto">
            <a:xfrm>
              <a:off x="1195" y="3275"/>
              <a:ext cx="894" cy="198"/>
            </a:xfrm>
            <a:prstGeom prst="leftArrow">
              <a:avLst>
                <a:gd name="adj1" fmla="val 50000"/>
                <a:gd name="adj2" fmla="val 112879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56059" name="Text Box 79"/>
            <p:cNvSpPr txBox="1">
              <a:spLocks noChangeArrowheads="1"/>
            </p:cNvSpPr>
            <p:nvPr/>
          </p:nvSpPr>
          <p:spPr bwMode="auto">
            <a:xfrm>
              <a:off x="992" y="3571"/>
              <a:ext cx="98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800">
                  <a:latin typeface="Arial Narrow" panose="020B0606020202030204" pitchFamily="34" charset="0"/>
                </a:rPr>
                <a:t>Repère tournant</a:t>
              </a:r>
            </a:p>
          </p:txBody>
        </p:sp>
      </p:grpSp>
      <p:grpSp>
        <p:nvGrpSpPr>
          <p:cNvPr id="4" name="Group 83"/>
          <p:cNvGrpSpPr>
            <a:grpSpLocks/>
          </p:cNvGrpSpPr>
          <p:nvPr/>
        </p:nvGrpSpPr>
        <p:grpSpPr bwMode="auto">
          <a:xfrm>
            <a:off x="3371850" y="5199063"/>
            <a:ext cx="1419225" cy="866775"/>
            <a:chOff x="2124" y="3275"/>
            <a:chExt cx="894" cy="546"/>
          </a:xfrm>
        </p:grpSpPr>
        <p:sp>
          <p:nvSpPr>
            <p:cNvPr id="256056" name="AutoShape 81"/>
            <p:cNvSpPr>
              <a:spLocks noChangeArrowheads="1"/>
            </p:cNvSpPr>
            <p:nvPr/>
          </p:nvSpPr>
          <p:spPr bwMode="auto">
            <a:xfrm flipH="1">
              <a:off x="2124" y="3275"/>
              <a:ext cx="894" cy="198"/>
            </a:xfrm>
            <a:prstGeom prst="leftArrow">
              <a:avLst>
                <a:gd name="adj1" fmla="val 50000"/>
                <a:gd name="adj2" fmla="val 112879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56057" name="Text Box 82"/>
            <p:cNvSpPr txBox="1">
              <a:spLocks noChangeArrowheads="1"/>
            </p:cNvSpPr>
            <p:nvPr/>
          </p:nvSpPr>
          <p:spPr bwMode="auto">
            <a:xfrm>
              <a:off x="2127" y="3588"/>
              <a:ext cx="72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800">
                  <a:latin typeface="Arial Narrow" panose="020B0606020202030204" pitchFamily="34" charset="0"/>
                </a:rPr>
                <a:t>Repère fixe</a:t>
              </a:r>
            </a:p>
          </p:txBody>
        </p:sp>
      </p:grpSp>
      <p:sp>
        <p:nvSpPr>
          <p:cNvPr id="256048" name="Rectangle 24"/>
          <p:cNvSpPr>
            <a:spLocks noChangeArrowheads="1"/>
          </p:cNvSpPr>
          <p:nvPr/>
        </p:nvSpPr>
        <p:spPr bwMode="auto">
          <a:xfrm>
            <a:off x="1417638" y="1671638"/>
            <a:ext cx="1123950" cy="1793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aphicFrame>
        <p:nvGraphicFramePr>
          <p:cNvPr id="112725" name="Object 85"/>
          <p:cNvGraphicFramePr>
            <a:graphicFrameLocks noChangeAspect="1"/>
          </p:cNvGraphicFramePr>
          <p:nvPr/>
        </p:nvGraphicFramePr>
        <p:xfrm>
          <a:off x="1604963" y="1738313"/>
          <a:ext cx="703262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92" name="Equation" r:id="rId4" imgW="685800" imgH="457200" progId="Equation.3">
                  <p:embed/>
                </p:oleObj>
              </mc:Choice>
              <mc:Fallback>
                <p:oleObj name="Equation" r:id="rId4" imgW="685800" imgH="457200" progId="Equation.3">
                  <p:embed/>
                  <p:pic>
                    <p:nvPicPr>
                      <p:cNvPr id="0" name="Object 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4963" y="1738313"/>
                        <a:ext cx="703262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27" name="Object 87"/>
          <p:cNvGraphicFramePr>
            <a:graphicFrameLocks noChangeAspect="1"/>
          </p:cNvGraphicFramePr>
          <p:nvPr/>
        </p:nvGraphicFramePr>
        <p:xfrm>
          <a:off x="1524000" y="2292350"/>
          <a:ext cx="901700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93" name="Équation" r:id="rId6" imgW="939392" imgH="393529" progId="Equation.3">
                  <p:embed/>
                </p:oleObj>
              </mc:Choice>
              <mc:Fallback>
                <p:oleObj name="Équation" r:id="rId6" imgW="939392" imgH="393529" progId="Equation.3">
                  <p:embed/>
                  <p:pic>
                    <p:nvPicPr>
                      <p:cNvPr id="0" name="Object 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2292350"/>
                        <a:ext cx="901700" cy="379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26" name="Object 86"/>
          <p:cNvGraphicFramePr>
            <a:graphicFrameLocks noChangeAspect="1"/>
          </p:cNvGraphicFramePr>
          <p:nvPr/>
        </p:nvGraphicFramePr>
        <p:xfrm>
          <a:off x="1430338" y="2898775"/>
          <a:ext cx="1074737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94" name="Equation" r:id="rId8" imgW="1143000" imgH="431800" progId="Equation.3">
                  <p:embed/>
                </p:oleObj>
              </mc:Choice>
              <mc:Fallback>
                <p:oleObj name="Equation" r:id="rId8" imgW="1143000" imgH="431800" progId="Equation.3">
                  <p:embed/>
                  <p:pic>
                    <p:nvPicPr>
                      <p:cNvPr id="0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0338" y="2898775"/>
                        <a:ext cx="1074737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52" name="Rectangle 25"/>
          <p:cNvSpPr>
            <a:spLocks noChangeArrowheads="1"/>
          </p:cNvSpPr>
          <p:nvPr/>
        </p:nvSpPr>
        <p:spPr bwMode="auto">
          <a:xfrm>
            <a:off x="2976563" y="1822450"/>
            <a:ext cx="792162" cy="1249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56053" name="Text Box 55"/>
          <p:cNvSpPr txBox="1">
            <a:spLocks noChangeArrowheads="1"/>
          </p:cNvSpPr>
          <p:nvPr/>
        </p:nvSpPr>
        <p:spPr bwMode="auto">
          <a:xfrm>
            <a:off x="3155950" y="2259013"/>
            <a:ext cx="6334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e</a:t>
            </a:r>
            <a:r>
              <a:rPr lang="en-US" altLang="fr-FR" sz="2400" baseline="30000">
                <a:latin typeface="Arial Narrow" panose="020B0606020202030204" pitchFamily="34" charset="0"/>
              </a:rPr>
              <a:t>j</a:t>
            </a:r>
            <a:r>
              <a:rPr lang="en-US" altLang="fr-FR" sz="2400" baseline="30000">
                <a:latin typeface="Arial Narrow" panose="020B0606020202030204" pitchFamily="34" charset="0"/>
                <a:sym typeface="Symbol" panose="05050102010706020507" pitchFamily="18" charset="2"/>
              </a:rPr>
              <a:t></a:t>
            </a:r>
          </a:p>
        </p:txBody>
      </p:sp>
      <p:sp>
        <p:nvSpPr>
          <p:cNvPr id="256054" name="Espace réservé du numéro de diapositive 59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D529C27-A1B2-49AF-8827-9DFE4EBD0A23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61" name="Espace réservé du pied de page 6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2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2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fr-FR" sz="3600" smtClean="0">
                <a:latin typeface="Arial Narrow" panose="020B0606020202030204" pitchFamily="34" charset="0"/>
              </a:rPr>
              <a:t>CFO d’un entrainment par MAS</a:t>
            </a:r>
            <a:endParaRPr lang="en-US" altLang="fr-FR" sz="3600" smtClean="0"/>
          </a:p>
        </p:txBody>
      </p:sp>
      <p:graphicFrame>
        <p:nvGraphicFramePr>
          <p:cNvPr id="114750" name="Object 62"/>
          <p:cNvGraphicFramePr>
            <a:graphicFrameLocks noGrp="1" noChangeAspect="1"/>
          </p:cNvGraphicFramePr>
          <p:nvPr>
            <p:ph sz="half" idx="1"/>
          </p:nvPr>
        </p:nvGraphicFramePr>
        <p:xfrm>
          <a:off x="1511300" y="3665538"/>
          <a:ext cx="1930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090" name="Équation" r:id="rId4" imgW="1930400" imgH="393700" progId="Equation.3">
                  <p:embed/>
                </p:oleObj>
              </mc:Choice>
              <mc:Fallback>
                <p:oleObj name="Équation" r:id="rId4" imgW="1930400" imgH="393700" progId="Equation.3">
                  <p:embed/>
                  <p:pic>
                    <p:nvPicPr>
                      <p:cNvPr id="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1300" y="3665538"/>
                        <a:ext cx="19304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760" name="Object 72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139825" y="4803775"/>
          <a:ext cx="1906588" cy="68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091" name="Équation" r:id="rId6" imgW="1066800" imgH="381000" progId="Equation.3">
                  <p:embed/>
                </p:oleObj>
              </mc:Choice>
              <mc:Fallback>
                <p:oleObj name="Équation" r:id="rId6" imgW="1066800" imgH="381000" progId="Equation.3">
                  <p:embed/>
                  <p:pic>
                    <p:nvPicPr>
                      <p:cNvPr id="0" name="Object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9825" y="4803775"/>
                        <a:ext cx="1906588" cy="681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8053" name="Rectangle 4"/>
          <p:cNvSpPr>
            <a:spLocks noChangeArrowheads="1"/>
          </p:cNvSpPr>
          <p:nvPr/>
        </p:nvSpPr>
        <p:spPr bwMode="auto">
          <a:xfrm>
            <a:off x="357188" y="257175"/>
            <a:ext cx="8429625" cy="6254750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58054" name="Rectangle 5"/>
          <p:cNvSpPr>
            <a:spLocks noChangeArrowheads="1"/>
          </p:cNvSpPr>
          <p:nvPr/>
        </p:nvSpPr>
        <p:spPr bwMode="auto">
          <a:xfrm>
            <a:off x="0" y="32575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58055" name="Rectangle 6"/>
          <p:cNvSpPr>
            <a:spLocks noChangeArrowheads="1"/>
          </p:cNvSpPr>
          <p:nvPr/>
        </p:nvSpPr>
        <p:spPr bwMode="auto">
          <a:xfrm>
            <a:off x="0" y="3243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58056" name="Rectangle 7"/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58057" name="Rectangle 8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58058" name="Rectangle 9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58059" name="Rectangle 50"/>
          <p:cNvSpPr>
            <a:spLocks noChangeArrowheads="1"/>
          </p:cNvSpPr>
          <p:nvPr/>
        </p:nvSpPr>
        <p:spPr bwMode="auto">
          <a:xfrm>
            <a:off x="0" y="3243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58060" name="Rectangle 52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58061" name="Rectangle 54"/>
          <p:cNvSpPr>
            <a:spLocks noChangeArrowheads="1"/>
          </p:cNvSpPr>
          <p:nvPr/>
        </p:nvSpPr>
        <p:spPr bwMode="auto">
          <a:xfrm>
            <a:off x="0" y="3243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14749" name="Rectangle 61"/>
          <p:cNvSpPr>
            <a:spLocks noChangeArrowheads="1"/>
          </p:cNvSpPr>
          <p:nvPr/>
        </p:nvSpPr>
        <p:spPr bwMode="auto">
          <a:xfrm>
            <a:off x="1087438" y="1543050"/>
            <a:ext cx="3856037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fr-FR" sz="2000">
                <a:solidFill>
                  <a:srgbClr val="FF3300"/>
                </a:solidFill>
                <a:latin typeface="Arial Narrow" panose="020B0606020202030204" pitchFamily="34" charset="0"/>
              </a:rPr>
              <a:t>(ii)	CFO directe</a:t>
            </a:r>
          </a:p>
        </p:txBody>
      </p:sp>
      <p:sp>
        <p:nvSpPr>
          <p:cNvPr id="114752" name="Text Box 64"/>
          <p:cNvSpPr txBox="1">
            <a:spLocks noChangeArrowheads="1"/>
          </p:cNvSpPr>
          <p:nvPr/>
        </p:nvSpPr>
        <p:spPr bwMode="auto">
          <a:xfrm>
            <a:off x="1035050" y="2890838"/>
            <a:ext cx="43386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Le flux du rotor peut être estimé par: </a:t>
            </a:r>
          </a:p>
        </p:txBody>
      </p:sp>
      <p:sp>
        <p:nvSpPr>
          <p:cNvPr id="114755" name="Text Box 67"/>
          <p:cNvSpPr txBox="1">
            <a:spLocks noChangeArrowheads="1"/>
          </p:cNvSpPr>
          <p:nvPr/>
        </p:nvSpPr>
        <p:spPr bwMode="auto">
          <a:xfrm>
            <a:off x="1076325" y="2147888"/>
            <a:ext cx="64785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000">
                <a:latin typeface="Arial Narrow" panose="020B0606020202030204" pitchFamily="34" charset="0"/>
              </a:rPr>
              <a:t>Le flux du rotor est estimé à partir des variables de sortie du moteur</a:t>
            </a:r>
          </a:p>
        </p:txBody>
      </p:sp>
      <p:grpSp>
        <p:nvGrpSpPr>
          <p:cNvPr id="2" name="Group 77"/>
          <p:cNvGrpSpPr>
            <a:grpSpLocks/>
          </p:cNvGrpSpPr>
          <p:nvPr/>
        </p:nvGrpSpPr>
        <p:grpSpPr bwMode="auto">
          <a:xfrm>
            <a:off x="5240338" y="3316288"/>
            <a:ext cx="3381375" cy="2143125"/>
            <a:chOff x="3301" y="2089"/>
            <a:chExt cx="2130" cy="1350"/>
          </a:xfrm>
        </p:grpSpPr>
        <p:sp>
          <p:nvSpPr>
            <p:cNvPr id="258068" name="AutoShape 75"/>
            <p:cNvSpPr>
              <a:spLocks/>
            </p:cNvSpPr>
            <p:nvPr/>
          </p:nvSpPr>
          <p:spPr bwMode="auto">
            <a:xfrm>
              <a:off x="3301" y="2089"/>
              <a:ext cx="430" cy="1350"/>
            </a:xfrm>
            <a:prstGeom prst="rightBrace">
              <a:avLst>
                <a:gd name="adj1" fmla="val 2616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58069" name="Text Box 76"/>
            <p:cNvSpPr txBox="1">
              <a:spLocks noChangeArrowheads="1"/>
            </p:cNvSpPr>
            <p:nvPr/>
          </p:nvSpPr>
          <p:spPr bwMode="auto">
            <a:xfrm>
              <a:off x="3733" y="2649"/>
              <a:ext cx="1698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 b="1">
                  <a:latin typeface="Arial Narrow" panose="020B0606020202030204" pitchFamily="34" charset="0"/>
                </a:rPr>
                <a:t>Exprimé dans le repère fixe</a:t>
              </a:r>
            </a:p>
          </p:txBody>
        </p:sp>
      </p:grpSp>
      <p:sp>
        <p:nvSpPr>
          <p:cNvPr id="258066" name="Espace réservé du numéro de diapositive 19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6342ECE-5DC6-4E1C-86BA-A97B3B992B19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21" name="Espace réservé du pied de page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4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4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4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4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4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749" grpId="0"/>
      <p:bldP spid="114752" grpId="0"/>
      <p:bldP spid="11475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fr-FR" sz="3600" smtClean="0">
                <a:latin typeface="Arial Narrow" panose="020B0606020202030204" pitchFamily="34" charset="0"/>
              </a:rPr>
              <a:t>CFO d’un entrainment par MAS</a:t>
            </a:r>
            <a:endParaRPr lang="en-US" altLang="fr-FR" sz="3600" smtClean="0"/>
          </a:p>
        </p:txBody>
      </p:sp>
      <p:graphicFrame>
        <p:nvGraphicFramePr>
          <p:cNvPr id="139267" name="Object 3"/>
          <p:cNvGraphicFramePr>
            <a:graphicFrameLocks noGrp="1" noChangeAspect="1"/>
          </p:cNvGraphicFramePr>
          <p:nvPr>
            <p:ph sz="half" idx="1"/>
          </p:nvPr>
        </p:nvGraphicFramePr>
        <p:xfrm>
          <a:off x="642938" y="2201863"/>
          <a:ext cx="3730625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182" name="Equation" r:id="rId4" imgW="2400300" imgH="457200" progId="Equation.3">
                  <p:embed/>
                </p:oleObj>
              </mc:Choice>
              <mc:Fallback>
                <p:oleObj name="Equation" r:id="rId4" imgW="2400300" imgH="457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38" y="2201863"/>
                        <a:ext cx="3730625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0100" name="Rectangle 4"/>
          <p:cNvSpPr>
            <a:spLocks noChangeArrowheads="1"/>
          </p:cNvSpPr>
          <p:nvPr/>
        </p:nvSpPr>
        <p:spPr bwMode="auto">
          <a:xfrm>
            <a:off x="357188" y="257175"/>
            <a:ext cx="8429625" cy="6254750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60101" name="Rectangle 13"/>
          <p:cNvSpPr>
            <a:spLocks noChangeArrowheads="1"/>
          </p:cNvSpPr>
          <p:nvPr/>
        </p:nvSpPr>
        <p:spPr bwMode="auto">
          <a:xfrm>
            <a:off x="1087438" y="1543050"/>
            <a:ext cx="3856037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fr-FR" sz="2000">
                <a:solidFill>
                  <a:srgbClr val="FF3300"/>
                </a:solidFill>
                <a:latin typeface="Arial Narrow" panose="020B0606020202030204" pitchFamily="34" charset="0"/>
              </a:rPr>
              <a:t>(ii)	 CFO directe</a:t>
            </a:r>
          </a:p>
        </p:txBody>
      </p:sp>
      <p:graphicFrame>
        <p:nvGraphicFramePr>
          <p:cNvPr id="139281" name="Object 17"/>
          <p:cNvGraphicFramePr>
            <a:graphicFrameLocks noChangeAspect="1"/>
          </p:cNvGraphicFramePr>
          <p:nvPr/>
        </p:nvGraphicFramePr>
        <p:xfrm>
          <a:off x="630238" y="3235325"/>
          <a:ext cx="7105650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183" name="Equation" r:id="rId6" imgW="4686300" imgH="457200" progId="Equation.3">
                  <p:embed/>
                </p:oleObj>
              </mc:Choice>
              <mc:Fallback>
                <p:oleObj name="Equation" r:id="rId6" imgW="4686300" imgH="4572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238" y="3235325"/>
                        <a:ext cx="7105650" cy="693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549275" y="4568825"/>
            <a:ext cx="8081963" cy="769938"/>
            <a:chOff x="346" y="2878"/>
            <a:chExt cx="5091" cy="485"/>
          </a:xfrm>
        </p:grpSpPr>
        <p:graphicFrame>
          <p:nvGraphicFramePr>
            <p:cNvPr id="260115" name="Object 18"/>
            <p:cNvGraphicFramePr>
              <a:graphicFrameLocks noChangeAspect="1"/>
            </p:cNvGraphicFramePr>
            <p:nvPr/>
          </p:nvGraphicFramePr>
          <p:xfrm>
            <a:off x="346" y="2902"/>
            <a:ext cx="2448" cy="4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0184" name="Equation" r:id="rId8" imgW="2565400" imgH="482600" progId="Equation.3">
                    <p:embed/>
                  </p:oleObj>
                </mc:Choice>
                <mc:Fallback>
                  <p:oleObj name="Equation" r:id="rId8" imgW="2565400" imgH="48260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6" y="2902"/>
                          <a:ext cx="2448" cy="4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0116" name="Object 20"/>
            <p:cNvGraphicFramePr>
              <a:graphicFrameLocks noChangeAspect="1"/>
            </p:cNvGraphicFramePr>
            <p:nvPr/>
          </p:nvGraphicFramePr>
          <p:xfrm>
            <a:off x="3082" y="2878"/>
            <a:ext cx="2355" cy="4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0185" name="Equation" r:id="rId10" imgW="2565400" imgH="482600" progId="Equation.3">
                    <p:embed/>
                  </p:oleObj>
                </mc:Choice>
                <mc:Fallback>
                  <p:oleObj name="Equation" r:id="rId10" imgW="2565400" imgH="482600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82" y="2878"/>
                          <a:ext cx="2355" cy="4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28"/>
          <p:cNvGrpSpPr>
            <a:grpSpLocks/>
          </p:cNvGrpSpPr>
          <p:nvPr/>
        </p:nvGrpSpPr>
        <p:grpSpPr bwMode="auto">
          <a:xfrm>
            <a:off x="831850" y="3970338"/>
            <a:ext cx="6688138" cy="504825"/>
            <a:chOff x="524" y="2501"/>
            <a:chExt cx="4213" cy="318"/>
          </a:xfrm>
        </p:grpSpPr>
        <p:grpSp>
          <p:nvGrpSpPr>
            <p:cNvPr id="260109" name="Group 27"/>
            <p:cNvGrpSpPr>
              <a:grpSpLocks/>
            </p:cNvGrpSpPr>
            <p:nvPr/>
          </p:nvGrpSpPr>
          <p:grpSpPr bwMode="auto">
            <a:xfrm>
              <a:off x="524" y="2501"/>
              <a:ext cx="4213" cy="318"/>
              <a:chOff x="524" y="2501"/>
              <a:chExt cx="4213" cy="318"/>
            </a:xfrm>
          </p:grpSpPr>
          <p:sp>
            <p:nvSpPr>
              <p:cNvPr id="260112" name="Line 22"/>
              <p:cNvSpPr>
                <a:spLocks noChangeShapeType="1"/>
              </p:cNvSpPr>
              <p:nvPr/>
            </p:nvSpPr>
            <p:spPr bwMode="auto">
              <a:xfrm flipH="1">
                <a:off x="1797" y="2501"/>
                <a:ext cx="353" cy="31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60113" name="Line 23"/>
              <p:cNvSpPr>
                <a:spLocks noChangeShapeType="1"/>
              </p:cNvSpPr>
              <p:nvPr/>
            </p:nvSpPr>
            <p:spPr bwMode="auto">
              <a:xfrm>
                <a:off x="3361" y="2518"/>
                <a:ext cx="301" cy="30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60114" name="Line 24"/>
              <p:cNvSpPr>
                <a:spLocks noChangeShapeType="1"/>
              </p:cNvSpPr>
              <p:nvPr/>
            </p:nvSpPr>
            <p:spPr bwMode="auto">
              <a:xfrm>
                <a:off x="524" y="2502"/>
                <a:ext cx="421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260110" name="Text Box 25"/>
            <p:cNvSpPr txBox="1">
              <a:spLocks noChangeArrowheads="1"/>
            </p:cNvSpPr>
            <p:nvPr/>
          </p:nvSpPr>
          <p:spPr bwMode="auto">
            <a:xfrm>
              <a:off x="1997" y="256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Arial Narrow" panose="020B0606020202030204" pitchFamily="34" charset="0"/>
                </a:rPr>
                <a:t>d</a:t>
              </a:r>
            </a:p>
          </p:txBody>
        </p:sp>
        <p:sp>
          <p:nvSpPr>
            <p:cNvPr id="260111" name="Text Box 26"/>
            <p:cNvSpPr txBox="1">
              <a:spLocks noChangeArrowheads="1"/>
            </p:cNvSpPr>
            <p:nvPr/>
          </p:nvSpPr>
          <p:spPr bwMode="auto">
            <a:xfrm>
              <a:off x="3501" y="251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Arial Narrow" panose="020B0606020202030204" pitchFamily="34" charset="0"/>
                </a:rPr>
                <a:t>q</a:t>
              </a:r>
            </a:p>
          </p:txBody>
        </p:sp>
      </p:grpSp>
      <p:graphicFrame>
        <p:nvGraphicFramePr>
          <p:cNvPr id="139295" name="Object 31"/>
          <p:cNvGraphicFramePr>
            <a:graphicFrameLocks noChangeAspect="1"/>
          </p:cNvGraphicFramePr>
          <p:nvPr/>
        </p:nvGraphicFramePr>
        <p:xfrm>
          <a:off x="4956175" y="5715000"/>
          <a:ext cx="1966913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186" name="Equation" r:id="rId12" imgW="1294838" imgH="304668" progId="Equation.3">
                  <p:embed/>
                </p:oleObj>
              </mc:Choice>
              <mc:Fallback>
                <p:oleObj name="Equation" r:id="rId12" imgW="1294838" imgH="304668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6175" y="5715000"/>
                        <a:ext cx="1966913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0107" name="Espace réservé du numéro de diapositive 18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CA5299C-0F43-40D7-8452-EFB25F17ED0A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20" name="Espace réservé du pied de page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2492375" y="5696482"/>
                <a:ext cx="1470467" cy="5117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th</m:t>
                      </m:r>
                      <m:d>
                        <m:dPr>
                          <m:ctrlPr>
                            <a:rPr lang="en-US" sz="1600" b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Ψ</m:t>
                              </m:r>
                            </m:sub>
                          </m:sSub>
                        </m:e>
                      </m:d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b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Ψ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rq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600" b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Ψ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rd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2375" y="5696482"/>
                <a:ext cx="1470467" cy="51174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9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9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3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92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392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fr-FR" sz="3600" smtClean="0">
                <a:latin typeface="Arial Narrow" panose="020B0606020202030204" pitchFamily="34" charset="0"/>
              </a:rPr>
              <a:t>CFO d’un entrainment par MAS</a:t>
            </a:r>
            <a:endParaRPr lang="en-US" altLang="fr-FR" sz="3600" smtClean="0"/>
          </a:p>
        </p:txBody>
      </p:sp>
      <p:graphicFrame>
        <p:nvGraphicFramePr>
          <p:cNvPr id="116797" name="Object 61"/>
          <p:cNvGraphicFramePr>
            <a:graphicFrameLocks noGrp="1" noChangeAspect="1"/>
          </p:cNvGraphicFramePr>
          <p:nvPr>
            <p:ph sz="half" idx="1"/>
          </p:nvPr>
        </p:nvGraphicFramePr>
        <p:xfrm>
          <a:off x="1320800" y="3665538"/>
          <a:ext cx="1930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246" name="Equation" r:id="rId4" imgW="1930400" imgH="393700" progId="Equation.3">
                  <p:embed/>
                </p:oleObj>
              </mc:Choice>
              <mc:Fallback>
                <p:oleObj name="Equation" r:id="rId4" imgW="1930400" imgH="393700" progId="Equation.3">
                  <p:embed/>
                  <p:pic>
                    <p:nvPicPr>
                      <p:cNvPr id="0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0800" y="3665538"/>
                        <a:ext cx="19304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826" name="Object 90"/>
          <p:cNvGraphicFramePr>
            <a:graphicFrameLocks noGrp="1" noChangeAspect="1"/>
          </p:cNvGraphicFramePr>
          <p:nvPr>
            <p:ph sz="half" idx="2"/>
          </p:nvPr>
        </p:nvGraphicFramePr>
        <p:xfrm>
          <a:off x="4941888" y="4792663"/>
          <a:ext cx="12096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247" name="Équation" r:id="rId6" imgW="1066800" imgH="381000" progId="Equation.3">
                  <p:embed/>
                </p:oleObj>
              </mc:Choice>
              <mc:Fallback>
                <p:oleObj name="Équation" r:id="rId6" imgW="1066800" imgH="381000" progId="Equation.3">
                  <p:embed/>
                  <p:pic>
                    <p:nvPicPr>
                      <p:cNvPr id="0" name="Object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1888" y="4792663"/>
                        <a:ext cx="120967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2149" name="Rectangle 4"/>
          <p:cNvSpPr>
            <a:spLocks noChangeArrowheads="1"/>
          </p:cNvSpPr>
          <p:nvPr/>
        </p:nvSpPr>
        <p:spPr bwMode="auto">
          <a:xfrm>
            <a:off x="357188" y="257175"/>
            <a:ext cx="8429625" cy="6254750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62150" name="Rectangle 5"/>
          <p:cNvSpPr>
            <a:spLocks noChangeArrowheads="1"/>
          </p:cNvSpPr>
          <p:nvPr/>
        </p:nvSpPr>
        <p:spPr bwMode="auto">
          <a:xfrm>
            <a:off x="0" y="32575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62151" name="Rectangle 6"/>
          <p:cNvSpPr>
            <a:spLocks noChangeArrowheads="1"/>
          </p:cNvSpPr>
          <p:nvPr/>
        </p:nvSpPr>
        <p:spPr bwMode="auto">
          <a:xfrm>
            <a:off x="0" y="3243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62152" name="Rectangle 7"/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62153" name="Rectangle 8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62154" name="Rectangle 9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62155" name="Rectangle 11"/>
          <p:cNvSpPr>
            <a:spLocks noChangeArrowheads="1"/>
          </p:cNvSpPr>
          <p:nvPr/>
        </p:nvSpPr>
        <p:spPr bwMode="auto">
          <a:xfrm>
            <a:off x="2976563" y="1822450"/>
            <a:ext cx="792162" cy="1249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62156" name="Rectangle 12"/>
          <p:cNvSpPr>
            <a:spLocks noChangeArrowheads="1"/>
          </p:cNvSpPr>
          <p:nvPr/>
        </p:nvSpPr>
        <p:spPr bwMode="auto">
          <a:xfrm>
            <a:off x="5688013" y="1604963"/>
            <a:ext cx="1006475" cy="16922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62157" name="Rectangle 13"/>
          <p:cNvSpPr>
            <a:spLocks noChangeArrowheads="1"/>
          </p:cNvSpPr>
          <p:nvPr/>
        </p:nvSpPr>
        <p:spPr bwMode="auto">
          <a:xfrm>
            <a:off x="4333875" y="1808163"/>
            <a:ext cx="792163" cy="12493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62158" name="Oval 14"/>
          <p:cNvSpPr>
            <a:spLocks noChangeArrowheads="1"/>
          </p:cNvSpPr>
          <p:nvPr/>
        </p:nvSpPr>
        <p:spPr bwMode="auto">
          <a:xfrm>
            <a:off x="7467600" y="2036763"/>
            <a:ext cx="868363" cy="8985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62159" name="Line 15"/>
          <p:cNvSpPr>
            <a:spLocks noChangeShapeType="1"/>
          </p:cNvSpPr>
          <p:nvPr/>
        </p:nvSpPr>
        <p:spPr bwMode="auto">
          <a:xfrm>
            <a:off x="639763" y="2006600"/>
            <a:ext cx="7762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2160" name="Line 16"/>
          <p:cNvSpPr>
            <a:spLocks noChangeShapeType="1"/>
          </p:cNvSpPr>
          <p:nvPr/>
        </p:nvSpPr>
        <p:spPr bwMode="auto">
          <a:xfrm>
            <a:off x="669925" y="2749550"/>
            <a:ext cx="441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2161" name="Line 18"/>
          <p:cNvSpPr>
            <a:spLocks noChangeShapeType="1"/>
          </p:cNvSpPr>
          <p:nvPr/>
        </p:nvSpPr>
        <p:spPr bwMode="auto">
          <a:xfrm>
            <a:off x="2454275" y="2708275"/>
            <a:ext cx="5032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2162" name="Line 19"/>
          <p:cNvSpPr>
            <a:spLocks noChangeShapeType="1"/>
          </p:cNvSpPr>
          <p:nvPr/>
        </p:nvSpPr>
        <p:spPr bwMode="auto">
          <a:xfrm>
            <a:off x="3765550" y="2082800"/>
            <a:ext cx="5635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2163" name="Line 20"/>
          <p:cNvSpPr>
            <a:spLocks noChangeShapeType="1"/>
          </p:cNvSpPr>
          <p:nvPr/>
        </p:nvSpPr>
        <p:spPr bwMode="auto">
          <a:xfrm>
            <a:off x="3765550" y="2754313"/>
            <a:ext cx="5635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2164" name="Line 21"/>
          <p:cNvSpPr>
            <a:spLocks noChangeShapeType="1"/>
          </p:cNvSpPr>
          <p:nvPr/>
        </p:nvSpPr>
        <p:spPr bwMode="auto">
          <a:xfrm>
            <a:off x="5122863" y="2001838"/>
            <a:ext cx="5635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2165" name="Line 22"/>
          <p:cNvSpPr>
            <a:spLocks noChangeShapeType="1"/>
          </p:cNvSpPr>
          <p:nvPr/>
        </p:nvSpPr>
        <p:spPr bwMode="auto">
          <a:xfrm>
            <a:off x="5122863" y="2863850"/>
            <a:ext cx="5635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2166" name="Line 23"/>
          <p:cNvSpPr>
            <a:spLocks noChangeShapeType="1"/>
          </p:cNvSpPr>
          <p:nvPr/>
        </p:nvSpPr>
        <p:spPr bwMode="auto">
          <a:xfrm>
            <a:off x="5137150" y="2452688"/>
            <a:ext cx="5635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2167" name="Line 24"/>
          <p:cNvSpPr>
            <a:spLocks noChangeShapeType="1"/>
          </p:cNvSpPr>
          <p:nvPr/>
        </p:nvSpPr>
        <p:spPr bwMode="auto">
          <a:xfrm>
            <a:off x="6689725" y="2468563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2168" name="Line 25"/>
          <p:cNvSpPr>
            <a:spLocks noChangeShapeType="1"/>
          </p:cNvSpPr>
          <p:nvPr/>
        </p:nvSpPr>
        <p:spPr bwMode="auto">
          <a:xfrm>
            <a:off x="6689725" y="1960563"/>
            <a:ext cx="838200" cy="2587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2169" name="Line 26"/>
          <p:cNvSpPr>
            <a:spLocks noChangeShapeType="1"/>
          </p:cNvSpPr>
          <p:nvPr/>
        </p:nvSpPr>
        <p:spPr bwMode="auto">
          <a:xfrm flipV="1">
            <a:off x="6689725" y="2736850"/>
            <a:ext cx="854075" cy="260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2170" name="Text Box 27"/>
          <p:cNvSpPr txBox="1">
            <a:spLocks noChangeArrowheads="1"/>
          </p:cNvSpPr>
          <p:nvPr/>
        </p:nvSpPr>
        <p:spPr bwMode="auto">
          <a:xfrm>
            <a:off x="654050" y="1646238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T*</a:t>
            </a:r>
          </a:p>
        </p:txBody>
      </p:sp>
      <p:sp>
        <p:nvSpPr>
          <p:cNvPr id="262171" name="Text Box 28"/>
          <p:cNvSpPr txBox="1">
            <a:spLocks noChangeArrowheads="1"/>
          </p:cNvSpPr>
          <p:nvPr/>
        </p:nvSpPr>
        <p:spPr bwMode="auto">
          <a:xfrm>
            <a:off x="547688" y="2368550"/>
            <a:ext cx="5048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  <a:sym typeface="Symbol" panose="05050102010706020507" pitchFamily="18" charset="2"/>
              </a:rPr>
              <a:t></a:t>
            </a:r>
            <a:r>
              <a:rPr lang="en-US" altLang="fr-FR" sz="2400" baseline="-25000">
                <a:latin typeface="Arial Narrow" panose="020B0606020202030204" pitchFamily="34" charset="0"/>
                <a:sym typeface="Symbol" panose="05050102010706020507" pitchFamily="18" charset="2"/>
              </a:rPr>
              <a:t>r</a:t>
            </a:r>
            <a:r>
              <a:rPr lang="en-US" altLang="fr-FR" sz="2400">
                <a:latin typeface="Arial Narrow" panose="020B0606020202030204" pitchFamily="34" charset="0"/>
              </a:rPr>
              <a:t>*</a:t>
            </a:r>
          </a:p>
        </p:txBody>
      </p:sp>
      <p:sp>
        <p:nvSpPr>
          <p:cNvPr id="262172" name="Oval 29"/>
          <p:cNvSpPr>
            <a:spLocks noChangeArrowheads="1"/>
          </p:cNvSpPr>
          <p:nvPr/>
        </p:nvSpPr>
        <p:spPr bwMode="auto">
          <a:xfrm>
            <a:off x="7864475" y="3154363"/>
            <a:ext cx="334963" cy="32067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62173" name="Line 30"/>
          <p:cNvSpPr>
            <a:spLocks noChangeShapeType="1"/>
          </p:cNvSpPr>
          <p:nvPr/>
        </p:nvSpPr>
        <p:spPr bwMode="auto">
          <a:xfrm>
            <a:off x="7864475" y="2667000"/>
            <a:ext cx="120650" cy="487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2174" name="Line 31"/>
          <p:cNvSpPr>
            <a:spLocks noChangeShapeType="1"/>
          </p:cNvSpPr>
          <p:nvPr/>
        </p:nvSpPr>
        <p:spPr bwMode="auto">
          <a:xfrm>
            <a:off x="7940675" y="2667000"/>
            <a:ext cx="120650" cy="487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2175" name="Line 34"/>
          <p:cNvSpPr>
            <a:spLocks noChangeAspect="1" noChangeShapeType="1"/>
          </p:cNvSpPr>
          <p:nvPr/>
        </p:nvSpPr>
        <p:spPr bwMode="auto">
          <a:xfrm>
            <a:off x="8032750" y="3506788"/>
            <a:ext cx="0" cy="13223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2176" name="Line 35"/>
          <p:cNvSpPr>
            <a:spLocks noChangeAspect="1" noChangeShapeType="1"/>
          </p:cNvSpPr>
          <p:nvPr/>
        </p:nvSpPr>
        <p:spPr bwMode="auto">
          <a:xfrm>
            <a:off x="6888163" y="4835525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2177" name="Text Box 38"/>
          <p:cNvSpPr txBox="1">
            <a:spLocks noChangeArrowheads="1"/>
          </p:cNvSpPr>
          <p:nvPr/>
        </p:nvSpPr>
        <p:spPr bwMode="auto">
          <a:xfrm>
            <a:off x="4495800" y="2185988"/>
            <a:ext cx="501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2/3</a:t>
            </a:r>
          </a:p>
        </p:txBody>
      </p:sp>
      <p:sp>
        <p:nvSpPr>
          <p:cNvPr id="262178" name="Text Box 44"/>
          <p:cNvSpPr txBox="1">
            <a:spLocks noChangeArrowheads="1"/>
          </p:cNvSpPr>
          <p:nvPr/>
        </p:nvSpPr>
        <p:spPr bwMode="auto">
          <a:xfrm>
            <a:off x="3795713" y="1703388"/>
            <a:ext cx="4841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i</a:t>
            </a:r>
            <a:r>
              <a:rPr lang="en-US" altLang="fr-FR" sz="2400" baseline="-25000">
                <a:latin typeface="Arial Narrow" panose="020B0606020202030204" pitchFamily="34" charset="0"/>
              </a:rPr>
              <a:t>sq</a:t>
            </a:r>
            <a:r>
              <a:rPr lang="en-US" altLang="fr-FR" sz="2400">
                <a:latin typeface="Arial Narrow" panose="020B0606020202030204" pitchFamily="34" charset="0"/>
              </a:rPr>
              <a:t>*</a:t>
            </a:r>
          </a:p>
        </p:txBody>
      </p:sp>
      <p:sp>
        <p:nvSpPr>
          <p:cNvPr id="262179" name="Text Box 45"/>
          <p:cNvSpPr txBox="1">
            <a:spLocks noChangeArrowheads="1"/>
          </p:cNvSpPr>
          <p:nvPr/>
        </p:nvSpPr>
        <p:spPr bwMode="auto">
          <a:xfrm>
            <a:off x="3781425" y="2389188"/>
            <a:ext cx="4841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i</a:t>
            </a:r>
            <a:r>
              <a:rPr lang="en-US" altLang="fr-FR" sz="2400" baseline="-25000">
                <a:latin typeface="Arial Narrow" panose="020B0606020202030204" pitchFamily="34" charset="0"/>
              </a:rPr>
              <a:t>sd</a:t>
            </a:r>
            <a:r>
              <a:rPr lang="en-US" altLang="fr-FR" sz="2400">
                <a:latin typeface="Arial Narrow" panose="020B0606020202030204" pitchFamily="34" charset="0"/>
              </a:rPr>
              <a:t>*</a:t>
            </a:r>
          </a:p>
        </p:txBody>
      </p:sp>
      <p:sp>
        <p:nvSpPr>
          <p:cNvPr id="262180" name="Text Box 46"/>
          <p:cNvSpPr txBox="1">
            <a:spLocks noChangeArrowheads="1"/>
          </p:cNvSpPr>
          <p:nvPr/>
        </p:nvSpPr>
        <p:spPr bwMode="auto">
          <a:xfrm>
            <a:off x="5167313" y="1612900"/>
            <a:ext cx="4079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i</a:t>
            </a:r>
            <a:r>
              <a:rPr lang="en-US" altLang="fr-FR" sz="2400" baseline="-25000">
                <a:latin typeface="Arial Narrow" panose="020B0606020202030204" pitchFamily="34" charset="0"/>
              </a:rPr>
              <a:t>a</a:t>
            </a:r>
            <a:r>
              <a:rPr lang="en-US" altLang="fr-FR" sz="2400">
                <a:latin typeface="Arial Narrow" panose="020B0606020202030204" pitchFamily="34" charset="0"/>
              </a:rPr>
              <a:t>*</a:t>
            </a:r>
          </a:p>
        </p:txBody>
      </p:sp>
      <p:sp>
        <p:nvSpPr>
          <p:cNvPr id="262181" name="Text Box 47"/>
          <p:cNvSpPr txBox="1">
            <a:spLocks noChangeArrowheads="1"/>
          </p:cNvSpPr>
          <p:nvPr/>
        </p:nvSpPr>
        <p:spPr bwMode="auto">
          <a:xfrm>
            <a:off x="5183188" y="2084388"/>
            <a:ext cx="4079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i</a:t>
            </a:r>
            <a:r>
              <a:rPr lang="en-US" altLang="fr-FR" sz="2400" baseline="-25000">
                <a:latin typeface="Arial Narrow" panose="020B0606020202030204" pitchFamily="34" charset="0"/>
              </a:rPr>
              <a:t>b</a:t>
            </a:r>
            <a:r>
              <a:rPr lang="en-US" altLang="fr-FR" sz="2400">
                <a:latin typeface="Arial Narrow" panose="020B0606020202030204" pitchFamily="34" charset="0"/>
              </a:rPr>
              <a:t>*</a:t>
            </a:r>
          </a:p>
        </p:txBody>
      </p:sp>
      <p:sp>
        <p:nvSpPr>
          <p:cNvPr id="262182" name="Text Box 48"/>
          <p:cNvSpPr txBox="1">
            <a:spLocks noChangeArrowheads="1"/>
          </p:cNvSpPr>
          <p:nvPr/>
        </p:nvSpPr>
        <p:spPr bwMode="auto">
          <a:xfrm>
            <a:off x="5153025" y="2497138"/>
            <a:ext cx="400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i</a:t>
            </a:r>
            <a:r>
              <a:rPr lang="en-US" altLang="fr-FR" sz="2400" baseline="-25000">
                <a:latin typeface="Arial Narrow" panose="020B0606020202030204" pitchFamily="34" charset="0"/>
              </a:rPr>
              <a:t>c</a:t>
            </a:r>
            <a:r>
              <a:rPr lang="en-US" altLang="fr-FR" sz="2400">
                <a:latin typeface="Arial Narrow" panose="020B0606020202030204" pitchFamily="34" charset="0"/>
              </a:rPr>
              <a:t>*</a:t>
            </a:r>
          </a:p>
        </p:txBody>
      </p:sp>
      <p:sp>
        <p:nvSpPr>
          <p:cNvPr id="262183" name="Text Box 49"/>
          <p:cNvSpPr txBox="1">
            <a:spLocks noChangeArrowheads="1"/>
          </p:cNvSpPr>
          <p:nvPr/>
        </p:nvSpPr>
        <p:spPr bwMode="auto">
          <a:xfrm>
            <a:off x="5897563" y="2125663"/>
            <a:ext cx="5524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CC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VSI</a:t>
            </a:r>
            <a:endParaRPr lang="en-US" altLang="fr-FR" sz="2400">
              <a:latin typeface="Arial Narrow" panose="020B0606020202030204" pitchFamily="34" charset="0"/>
              <a:sym typeface="Symbol" panose="05050102010706020507" pitchFamily="18" charset="2"/>
            </a:endParaRPr>
          </a:p>
        </p:txBody>
      </p:sp>
      <p:sp>
        <p:nvSpPr>
          <p:cNvPr id="262184" name="Rectangle 50"/>
          <p:cNvSpPr>
            <a:spLocks noChangeArrowheads="1"/>
          </p:cNvSpPr>
          <p:nvPr/>
        </p:nvSpPr>
        <p:spPr bwMode="auto">
          <a:xfrm>
            <a:off x="0" y="3243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62185" name="Rectangle 52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62186" name="Rectangle 54"/>
          <p:cNvSpPr>
            <a:spLocks noChangeArrowheads="1"/>
          </p:cNvSpPr>
          <p:nvPr/>
        </p:nvSpPr>
        <p:spPr bwMode="auto">
          <a:xfrm>
            <a:off x="0" y="3243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62187" name="Rectangle 60"/>
          <p:cNvSpPr>
            <a:spLocks noChangeArrowheads="1"/>
          </p:cNvSpPr>
          <p:nvPr/>
        </p:nvSpPr>
        <p:spPr bwMode="auto">
          <a:xfrm>
            <a:off x="4129088" y="3902075"/>
            <a:ext cx="2759075" cy="144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62188" name="Line 66"/>
          <p:cNvSpPr>
            <a:spLocks noChangeAspect="1" noChangeShapeType="1"/>
          </p:cNvSpPr>
          <p:nvPr/>
        </p:nvSpPr>
        <p:spPr bwMode="auto">
          <a:xfrm flipV="1">
            <a:off x="1547813" y="2133600"/>
            <a:ext cx="0" cy="2392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2189" name="Oval 67"/>
          <p:cNvSpPr>
            <a:spLocks noChangeArrowheads="1"/>
          </p:cNvSpPr>
          <p:nvPr/>
        </p:nvSpPr>
        <p:spPr bwMode="auto">
          <a:xfrm>
            <a:off x="1428750" y="1868488"/>
            <a:ext cx="258763" cy="2730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62190" name="Oval 68"/>
          <p:cNvSpPr>
            <a:spLocks noChangeArrowheads="1"/>
          </p:cNvSpPr>
          <p:nvPr/>
        </p:nvSpPr>
        <p:spPr bwMode="auto">
          <a:xfrm>
            <a:off x="1122363" y="2641600"/>
            <a:ext cx="242887" cy="228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62191" name="Rectangle 69"/>
          <p:cNvSpPr>
            <a:spLocks noChangeArrowheads="1"/>
          </p:cNvSpPr>
          <p:nvPr/>
        </p:nvSpPr>
        <p:spPr bwMode="auto">
          <a:xfrm>
            <a:off x="1901825" y="1738313"/>
            <a:ext cx="549275" cy="5635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62192" name="Line 70"/>
          <p:cNvSpPr>
            <a:spLocks noChangeAspect="1" noChangeShapeType="1"/>
          </p:cNvSpPr>
          <p:nvPr/>
        </p:nvSpPr>
        <p:spPr bwMode="auto">
          <a:xfrm>
            <a:off x="1720850" y="2020888"/>
            <a:ext cx="1666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2193" name="Line 71"/>
          <p:cNvSpPr>
            <a:spLocks noChangeAspect="1" noChangeShapeType="1"/>
          </p:cNvSpPr>
          <p:nvPr/>
        </p:nvSpPr>
        <p:spPr bwMode="auto">
          <a:xfrm>
            <a:off x="2482850" y="2020888"/>
            <a:ext cx="4873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2194" name="Rectangle 72"/>
          <p:cNvSpPr>
            <a:spLocks noChangeArrowheads="1"/>
          </p:cNvSpPr>
          <p:nvPr/>
        </p:nvSpPr>
        <p:spPr bwMode="auto">
          <a:xfrm>
            <a:off x="1901825" y="2438400"/>
            <a:ext cx="549275" cy="5635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62195" name="Line 73"/>
          <p:cNvSpPr>
            <a:spLocks noChangeAspect="1" noChangeShapeType="1"/>
          </p:cNvSpPr>
          <p:nvPr/>
        </p:nvSpPr>
        <p:spPr bwMode="auto">
          <a:xfrm>
            <a:off x="1570038" y="4541838"/>
            <a:ext cx="25781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2196" name="Line 74"/>
          <p:cNvSpPr>
            <a:spLocks noChangeAspect="1" noChangeShapeType="1"/>
          </p:cNvSpPr>
          <p:nvPr/>
        </p:nvSpPr>
        <p:spPr bwMode="auto">
          <a:xfrm flipV="1">
            <a:off x="1241425" y="2889250"/>
            <a:ext cx="0" cy="2098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2197" name="Line 75"/>
          <p:cNvSpPr>
            <a:spLocks noChangeAspect="1" noChangeShapeType="1"/>
          </p:cNvSpPr>
          <p:nvPr/>
        </p:nvSpPr>
        <p:spPr bwMode="auto">
          <a:xfrm>
            <a:off x="1249363" y="4999038"/>
            <a:ext cx="28622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2198" name="Line 76"/>
          <p:cNvSpPr>
            <a:spLocks noChangeShapeType="1"/>
          </p:cNvSpPr>
          <p:nvPr/>
        </p:nvSpPr>
        <p:spPr bwMode="auto">
          <a:xfrm>
            <a:off x="1373188" y="2754313"/>
            <a:ext cx="5032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2199" name="Text Box 77"/>
          <p:cNvSpPr txBox="1">
            <a:spLocks noChangeArrowheads="1"/>
          </p:cNvSpPr>
          <p:nvPr/>
        </p:nvSpPr>
        <p:spPr bwMode="auto">
          <a:xfrm>
            <a:off x="1976438" y="1819275"/>
            <a:ext cx="488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TC</a:t>
            </a:r>
          </a:p>
        </p:txBody>
      </p:sp>
      <p:sp>
        <p:nvSpPr>
          <p:cNvPr id="262200" name="Text Box 78"/>
          <p:cNvSpPr txBox="1">
            <a:spLocks noChangeArrowheads="1"/>
          </p:cNvSpPr>
          <p:nvPr/>
        </p:nvSpPr>
        <p:spPr bwMode="auto">
          <a:xfrm>
            <a:off x="1946275" y="2581275"/>
            <a:ext cx="488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FC</a:t>
            </a:r>
          </a:p>
        </p:txBody>
      </p:sp>
      <p:sp>
        <p:nvSpPr>
          <p:cNvPr id="262201" name="Line 79"/>
          <p:cNvSpPr>
            <a:spLocks noChangeAspect="1" noChangeShapeType="1"/>
          </p:cNvSpPr>
          <p:nvPr/>
        </p:nvSpPr>
        <p:spPr bwMode="auto">
          <a:xfrm flipV="1">
            <a:off x="3376613" y="3071813"/>
            <a:ext cx="0" cy="1087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2202" name="Line 80"/>
          <p:cNvSpPr>
            <a:spLocks noChangeAspect="1" noChangeShapeType="1"/>
          </p:cNvSpPr>
          <p:nvPr/>
        </p:nvSpPr>
        <p:spPr bwMode="auto">
          <a:xfrm>
            <a:off x="3384550" y="4178300"/>
            <a:ext cx="736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2203" name="Text Box 81"/>
          <p:cNvSpPr txBox="1">
            <a:spLocks noChangeArrowheads="1"/>
          </p:cNvSpPr>
          <p:nvPr/>
        </p:nvSpPr>
        <p:spPr bwMode="auto">
          <a:xfrm>
            <a:off x="2424113" y="1719263"/>
            <a:ext cx="5429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400">
                <a:latin typeface="Arial Narrow" panose="020B0606020202030204" pitchFamily="34" charset="0"/>
              </a:rPr>
              <a:t>i</a:t>
            </a:r>
            <a:r>
              <a:rPr lang="en-US" altLang="fr-FR" sz="1400" baseline="30000">
                <a:latin typeface="Arial Narrow" panose="020B0606020202030204" pitchFamily="34" charset="0"/>
                <a:sym typeface="Symbol" panose="05050102010706020507" pitchFamily="18" charset="2"/>
              </a:rPr>
              <a:t>r</a:t>
            </a:r>
            <a:r>
              <a:rPr lang="en-US" altLang="fr-FR" sz="1400" baseline="-25000">
                <a:latin typeface="Arial Narrow" panose="020B0606020202030204" pitchFamily="34" charset="0"/>
              </a:rPr>
              <a:t>sq</a:t>
            </a:r>
            <a:r>
              <a:rPr lang="en-US" altLang="fr-FR" sz="1400">
                <a:latin typeface="Arial Narrow" panose="020B0606020202030204" pitchFamily="34" charset="0"/>
              </a:rPr>
              <a:t>*</a:t>
            </a:r>
          </a:p>
        </p:txBody>
      </p:sp>
      <p:sp>
        <p:nvSpPr>
          <p:cNvPr id="262204" name="Text Box 82"/>
          <p:cNvSpPr txBox="1">
            <a:spLocks noChangeArrowheads="1"/>
          </p:cNvSpPr>
          <p:nvPr/>
        </p:nvSpPr>
        <p:spPr bwMode="auto">
          <a:xfrm>
            <a:off x="2395538" y="2435225"/>
            <a:ext cx="5429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400">
                <a:latin typeface="Arial Narrow" panose="020B0606020202030204" pitchFamily="34" charset="0"/>
              </a:rPr>
              <a:t>i</a:t>
            </a:r>
            <a:r>
              <a:rPr lang="en-US" altLang="fr-FR" sz="1400" baseline="30000">
                <a:latin typeface="Arial Narrow" panose="020B0606020202030204" pitchFamily="34" charset="0"/>
                <a:sym typeface="Symbol" panose="05050102010706020507" pitchFamily="18" charset="2"/>
              </a:rPr>
              <a:t>r</a:t>
            </a:r>
            <a:r>
              <a:rPr lang="en-US" altLang="fr-FR" sz="1400" baseline="-25000">
                <a:latin typeface="Arial Narrow" panose="020B0606020202030204" pitchFamily="34" charset="0"/>
              </a:rPr>
              <a:t>sd</a:t>
            </a:r>
            <a:r>
              <a:rPr lang="en-US" altLang="fr-FR" sz="1400">
                <a:latin typeface="Arial Narrow" panose="020B0606020202030204" pitchFamily="34" charset="0"/>
              </a:rPr>
              <a:t>*</a:t>
            </a:r>
          </a:p>
        </p:txBody>
      </p:sp>
      <p:sp>
        <p:nvSpPr>
          <p:cNvPr id="262205" name="Text Box 83"/>
          <p:cNvSpPr txBox="1">
            <a:spLocks noChangeArrowheads="1"/>
          </p:cNvSpPr>
          <p:nvPr/>
        </p:nvSpPr>
        <p:spPr bwMode="auto">
          <a:xfrm>
            <a:off x="3155950" y="2259013"/>
            <a:ext cx="5445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e</a:t>
            </a:r>
            <a:r>
              <a:rPr lang="en-US" altLang="fr-FR" sz="2400" baseline="30000">
                <a:latin typeface="Arial Narrow" panose="020B0606020202030204" pitchFamily="34" charset="0"/>
              </a:rPr>
              <a:t>j</a:t>
            </a:r>
            <a:r>
              <a:rPr lang="en-US" altLang="fr-FR" sz="2400" baseline="30000">
                <a:latin typeface="Arial Narrow" panose="020B0606020202030204" pitchFamily="34" charset="0"/>
                <a:sym typeface="Symbol" panose="05050102010706020507" pitchFamily="18" charset="2"/>
              </a:rPr>
              <a:t></a:t>
            </a:r>
            <a:endParaRPr lang="en-US" altLang="fr-FR" sz="2400">
              <a:latin typeface="Arial Narrow" panose="020B0606020202030204" pitchFamily="34" charset="0"/>
              <a:sym typeface="Symbol" panose="05050102010706020507" pitchFamily="18" charset="2"/>
            </a:endParaRPr>
          </a:p>
        </p:txBody>
      </p:sp>
      <p:sp>
        <p:nvSpPr>
          <p:cNvPr id="262206" name="Text Box 84"/>
          <p:cNvSpPr txBox="1">
            <a:spLocks noChangeArrowheads="1"/>
          </p:cNvSpPr>
          <p:nvPr/>
        </p:nvSpPr>
        <p:spPr bwMode="auto">
          <a:xfrm>
            <a:off x="3319463" y="3359150"/>
            <a:ext cx="4238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  <a:sym typeface="Symbol" panose="05050102010706020507" pitchFamily="18" charset="2"/>
              </a:rPr>
              <a:t></a:t>
            </a:r>
            <a:r>
              <a:rPr lang="en-US" altLang="fr-FR" sz="2400" baseline="-25000">
                <a:latin typeface="Arial Narrow" panose="020B0606020202030204" pitchFamily="34" charset="0"/>
                <a:sym typeface="Symbol" panose="05050102010706020507" pitchFamily="18" charset="2"/>
              </a:rPr>
              <a:t></a:t>
            </a:r>
          </a:p>
        </p:txBody>
      </p:sp>
      <p:sp>
        <p:nvSpPr>
          <p:cNvPr id="262207" name="Text Box 85"/>
          <p:cNvSpPr txBox="1">
            <a:spLocks noChangeArrowheads="1"/>
          </p:cNvSpPr>
          <p:nvPr/>
        </p:nvSpPr>
        <p:spPr bwMode="auto">
          <a:xfrm>
            <a:off x="1517650" y="3306763"/>
            <a:ext cx="4079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  <a:sym typeface="Symbol" panose="05050102010706020507" pitchFamily="18" charset="2"/>
              </a:rPr>
              <a:t>T</a:t>
            </a:r>
            <a:r>
              <a:rPr lang="en-US" altLang="fr-FR" sz="2400" baseline="-25000">
                <a:latin typeface="Arial Narrow" panose="020B0606020202030204" pitchFamily="34" charset="0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262208" name="Text Box 86"/>
          <p:cNvSpPr txBox="1">
            <a:spLocks noChangeArrowheads="1"/>
          </p:cNvSpPr>
          <p:nvPr/>
        </p:nvSpPr>
        <p:spPr bwMode="auto">
          <a:xfrm>
            <a:off x="876300" y="3003550"/>
            <a:ext cx="4159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  <a:sym typeface="Symbol" panose="05050102010706020507" pitchFamily="18" charset="2"/>
              </a:rPr>
              <a:t></a:t>
            </a:r>
            <a:r>
              <a:rPr lang="en-US" altLang="fr-FR" sz="2400" baseline="-25000">
                <a:latin typeface="Arial Narrow" panose="020B0606020202030204" pitchFamily="34" charset="0"/>
                <a:sym typeface="Symbol" panose="05050102010706020507" pitchFamily="18" charset="2"/>
              </a:rPr>
              <a:t>r</a:t>
            </a:r>
          </a:p>
        </p:txBody>
      </p:sp>
      <p:sp>
        <p:nvSpPr>
          <p:cNvPr id="262209" name="Oval 92"/>
          <p:cNvSpPr>
            <a:spLocks noChangeArrowheads="1"/>
          </p:cNvSpPr>
          <p:nvPr/>
        </p:nvSpPr>
        <p:spPr bwMode="auto">
          <a:xfrm>
            <a:off x="7086600" y="2057400"/>
            <a:ext cx="57150" cy="571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62210" name="Oval 93"/>
          <p:cNvSpPr>
            <a:spLocks noChangeArrowheads="1"/>
          </p:cNvSpPr>
          <p:nvPr/>
        </p:nvSpPr>
        <p:spPr bwMode="auto">
          <a:xfrm>
            <a:off x="7226300" y="2425700"/>
            <a:ext cx="57150" cy="571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62211" name="Line 94"/>
          <p:cNvSpPr>
            <a:spLocks noChangeAspect="1" noChangeShapeType="1"/>
          </p:cNvSpPr>
          <p:nvPr/>
        </p:nvSpPr>
        <p:spPr bwMode="auto">
          <a:xfrm>
            <a:off x="7118350" y="2108200"/>
            <a:ext cx="0" cy="1949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2212" name="Line 95"/>
          <p:cNvSpPr>
            <a:spLocks noChangeAspect="1" noChangeShapeType="1"/>
          </p:cNvSpPr>
          <p:nvPr/>
        </p:nvSpPr>
        <p:spPr bwMode="auto">
          <a:xfrm>
            <a:off x="7258050" y="2444750"/>
            <a:ext cx="0" cy="2051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2213" name="Line 96"/>
          <p:cNvSpPr>
            <a:spLocks noChangeAspect="1" noChangeShapeType="1"/>
          </p:cNvSpPr>
          <p:nvPr/>
        </p:nvSpPr>
        <p:spPr bwMode="auto">
          <a:xfrm>
            <a:off x="6894513" y="4498975"/>
            <a:ext cx="361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2214" name="Line 97"/>
          <p:cNvSpPr>
            <a:spLocks noChangeAspect="1" noChangeShapeType="1"/>
          </p:cNvSpPr>
          <p:nvPr/>
        </p:nvSpPr>
        <p:spPr bwMode="auto">
          <a:xfrm>
            <a:off x="6888163" y="4060825"/>
            <a:ext cx="222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grpSp>
        <p:nvGrpSpPr>
          <p:cNvPr id="2" name="Group 98"/>
          <p:cNvGrpSpPr>
            <a:grpSpLocks/>
          </p:cNvGrpSpPr>
          <p:nvPr/>
        </p:nvGrpSpPr>
        <p:grpSpPr bwMode="auto">
          <a:xfrm>
            <a:off x="3371850" y="1009650"/>
            <a:ext cx="1588" cy="5311775"/>
            <a:chOff x="2106" y="636"/>
            <a:chExt cx="1" cy="3346"/>
          </a:xfrm>
        </p:grpSpPr>
        <p:sp>
          <p:nvSpPr>
            <p:cNvPr id="262224" name="Line 99"/>
            <p:cNvSpPr>
              <a:spLocks noChangeAspect="1" noChangeShapeType="1"/>
            </p:cNvSpPr>
            <p:nvPr/>
          </p:nvSpPr>
          <p:spPr bwMode="auto">
            <a:xfrm>
              <a:off x="2107" y="3087"/>
              <a:ext cx="0" cy="89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62225" name="Line 100"/>
            <p:cNvSpPr>
              <a:spLocks noChangeShapeType="1"/>
            </p:cNvSpPr>
            <p:nvPr/>
          </p:nvSpPr>
          <p:spPr bwMode="auto">
            <a:xfrm flipV="1">
              <a:off x="2106" y="636"/>
              <a:ext cx="0" cy="244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3" name="Group 101"/>
          <p:cNvGrpSpPr>
            <a:grpSpLocks/>
          </p:cNvGrpSpPr>
          <p:nvPr/>
        </p:nvGrpSpPr>
        <p:grpSpPr bwMode="auto">
          <a:xfrm>
            <a:off x="1603375" y="5499100"/>
            <a:ext cx="1741488" cy="839788"/>
            <a:chOff x="992" y="3275"/>
            <a:chExt cx="1097" cy="529"/>
          </a:xfrm>
        </p:grpSpPr>
        <p:sp>
          <p:nvSpPr>
            <p:cNvPr id="262222" name="AutoShape 102"/>
            <p:cNvSpPr>
              <a:spLocks noChangeArrowheads="1"/>
            </p:cNvSpPr>
            <p:nvPr/>
          </p:nvSpPr>
          <p:spPr bwMode="auto">
            <a:xfrm>
              <a:off x="1195" y="3275"/>
              <a:ext cx="894" cy="198"/>
            </a:xfrm>
            <a:prstGeom prst="leftArrow">
              <a:avLst>
                <a:gd name="adj1" fmla="val 50000"/>
                <a:gd name="adj2" fmla="val 112879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62223" name="Text Box 103"/>
            <p:cNvSpPr txBox="1">
              <a:spLocks noChangeArrowheads="1"/>
            </p:cNvSpPr>
            <p:nvPr/>
          </p:nvSpPr>
          <p:spPr bwMode="auto">
            <a:xfrm>
              <a:off x="992" y="3571"/>
              <a:ext cx="98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800">
                  <a:latin typeface="Arial Narrow" panose="020B0606020202030204" pitchFamily="34" charset="0"/>
                </a:rPr>
                <a:t>Repère tournant</a:t>
              </a:r>
            </a:p>
          </p:txBody>
        </p:sp>
      </p:grpSp>
      <p:grpSp>
        <p:nvGrpSpPr>
          <p:cNvPr id="4" name="Group 104"/>
          <p:cNvGrpSpPr>
            <a:grpSpLocks/>
          </p:cNvGrpSpPr>
          <p:nvPr/>
        </p:nvGrpSpPr>
        <p:grpSpPr bwMode="auto">
          <a:xfrm>
            <a:off x="3400425" y="5499100"/>
            <a:ext cx="1419225" cy="866775"/>
            <a:chOff x="2124" y="3275"/>
            <a:chExt cx="894" cy="546"/>
          </a:xfrm>
        </p:grpSpPr>
        <p:sp>
          <p:nvSpPr>
            <p:cNvPr id="262220" name="AutoShape 105"/>
            <p:cNvSpPr>
              <a:spLocks noChangeArrowheads="1"/>
            </p:cNvSpPr>
            <p:nvPr/>
          </p:nvSpPr>
          <p:spPr bwMode="auto">
            <a:xfrm flipH="1">
              <a:off x="2124" y="3275"/>
              <a:ext cx="894" cy="198"/>
            </a:xfrm>
            <a:prstGeom prst="leftArrow">
              <a:avLst>
                <a:gd name="adj1" fmla="val 50000"/>
                <a:gd name="adj2" fmla="val 112879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62221" name="Text Box 106"/>
            <p:cNvSpPr txBox="1">
              <a:spLocks noChangeArrowheads="1"/>
            </p:cNvSpPr>
            <p:nvPr/>
          </p:nvSpPr>
          <p:spPr bwMode="auto">
            <a:xfrm>
              <a:off x="2127" y="3588"/>
              <a:ext cx="72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800">
                  <a:latin typeface="Arial Narrow" panose="020B0606020202030204" pitchFamily="34" charset="0"/>
                </a:rPr>
                <a:t>Repère fixe</a:t>
              </a:r>
            </a:p>
          </p:txBody>
        </p:sp>
      </p:grpSp>
      <p:sp>
        <p:nvSpPr>
          <p:cNvPr id="262218" name="Espace réservé du numéro de diapositive 79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FD017F9-0955-4CB8-A842-E17612A7575A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81" name="Espace réservé du pied de page 8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6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6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827088" y="2157413"/>
            <a:ext cx="7772400" cy="1698625"/>
          </a:xfrm>
          <a:prstGeom prst="rect">
            <a:avLst/>
          </a:prstGeom>
        </p:spPr>
        <p:txBody>
          <a:bodyPr/>
          <a:lstStyle/>
          <a:p>
            <a:pPr algn="r" eaLnBrk="1" hangingPunct="1">
              <a:defRPr/>
            </a:pPr>
            <a:r>
              <a:rPr lang="fr-FR" sz="1700" b="1" dirty="0">
                <a:latin typeface="+mn-lt"/>
              </a:rPr>
              <a:t>MODULE 3</a:t>
            </a:r>
            <a:br>
              <a:rPr lang="fr-FR" sz="1700" b="1" dirty="0">
                <a:latin typeface="+mn-lt"/>
              </a:rPr>
            </a:br>
            <a:r>
              <a:rPr lang="fr-FR" sz="1700" b="1" dirty="0">
                <a:latin typeface="+mn-lt"/>
              </a:rPr>
              <a:t>Machine asynchrone</a:t>
            </a:r>
            <a:br>
              <a:rPr lang="fr-FR" sz="1700" b="1" dirty="0">
                <a:latin typeface="+mn-lt"/>
              </a:rPr>
            </a:br>
            <a:r>
              <a:rPr lang="fr-FR" sz="1700" b="1" dirty="0" smtClean="0">
                <a:latin typeface="+mn-lt"/>
              </a:rPr>
              <a:t>3.5. </a:t>
            </a:r>
            <a:r>
              <a:rPr lang="fr-FR" sz="1700" b="1" dirty="0">
                <a:latin typeface="+mn-lt"/>
              </a:rPr>
              <a:t>Commande vectorielle à flux </a:t>
            </a:r>
            <a:r>
              <a:rPr lang="fr-FR" sz="1700" b="1" dirty="0" err="1">
                <a:latin typeface="+mn-lt"/>
              </a:rPr>
              <a:t>statorique</a:t>
            </a:r>
            <a:r>
              <a:rPr lang="fr-FR" sz="1700" b="1" dirty="0">
                <a:latin typeface="+mn-lt"/>
              </a:rPr>
              <a:t> orienté (CFO) 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920700" y="1042738"/>
            <a:ext cx="7906468" cy="673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45720" rIns="45720" anchor="ctr"/>
          <a:lstStyle/>
          <a:p>
            <a:pPr algn="r">
              <a:defRPr/>
            </a:pPr>
            <a:r>
              <a:rPr lang="fr-FR" b="1" cap="all" dirty="0" err="1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  <a:latin typeface="+mj-lt"/>
                <a:ea typeface="+mj-ea"/>
                <a:cs typeface="+mj-cs"/>
              </a:rPr>
              <a:t>CommAnde</a:t>
            </a:r>
            <a:r>
              <a:rPr lang="fr-FR" b="1" cap="all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  <a:latin typeface="+mj-lt"/>
                <a:ea typeface="+mj-ea"/>
                <a:cs typeface="+mj-cs"/>
              </a:rPr>
              <a:t> des machines </a:t>
            </a:r>
            <a:r>
              <a:rPr lang="fr-FR" b="1" cap="all" dirty="0" err="1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  <a:latin typeface="+mj-lt"/>
                <a:ea typeface="+mj-ea"/>
                <a:cs typeface="+mj-cs"/>
              </a:rPr>
              <a:t>electriques</a:t>
            </a:r>
            <a:endParaRPr lang="fr-FR" b="1" cap="all" dirty="0">
              <a:ln w="5000" cmpd="sng">
                <a:solidFill>
                  <a:schemeClr val="accent1">
                    <a:tint val="80000"/>
                    <a:shade val="99000"/>
                    <a:satMod val="50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63000"/>
                      <a:satMod val="255000"/>
                    </a:schemeClr>
                  </a:gs>
                  <a:gs pos="9000">
                    <a:schemeClr val="accent1">
                      <a:tint val="63000"/>
                      <a:satMod val="255000"/>
                    </a:schemeClr>
                  </a:gs>
                  <a:gs pos="53000">
                    <a:schemeClr val="accent1">
                      <a:shade val="60000"/>
                      <a:satMod val="100000"/>
                    </a:schemeClr>
                  </a:gs>
                  <a:gs pos="90000">
                    <a:schemeClr val="accent1">
                      <a:tint val="63000"/>
                      <a:satMod val="255000"/>
                    </a:schemeClr>
                  </a:gs>
                  <a:gs pos="100000">
                    <a:schemeClr val="accent1">
                      <a:tint val="63000"/>
                      <a:satMod val="255000"/>
                    </a:schemeClr>
                  </a:gs>
                </a:gsLst>
                <a:lin ang="5400000"/>
              </a:gradFill>
              <a:effectLst>
                <a:outerShdw blurRad="50800" dist="38100" dir="5400000" algn="t" rotWithShape="0">
                  <a:prstClr val="black">
                    <a:alpha val="50000"/>
                  </a:prst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264196" name="Rectangle 4"/>
          <p:cNvSpPr>
            <a:spLocks noChangeArrowheads="1"/>
          </p:cNvSpPr>
          <p:nvPr/>
        </p:nvSpPr>
        <p:spPr bwMode="auto">
          <a:xfrm>
            <a:off x="357188" y="257175"/>
            <a:ext cx="8429625" cy="6254750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64197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BF894FC-D9B8-4026-B17E-4E04CF202EC7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2" name="Text Box 4"/>
          <p:cNvSpPr txBox="1">
            <a:spLocks noChangeArrowheads="1"/>
          </p:cNvSpPr>
          <p:nvPr/>
        </p:nvSpPr>
        <p:spPr bwMode="auto">
          <a:xfrm>
            <a:off x="762000" y="1455738"/>
            <a:ext cx="7772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Deux méthodes pour l’estimation du flux rotorique dans une CFO:</a:t>
            </a:r>
          </a:p>
        </p:txBody>
      </p:sp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762000" y="2133600"/>
            <a:ext cx="1981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000" b="1" u="sng">
                <a:latin typeface="Arial Narrow" panose="020B0606020202030204" pitchFamily="34" charset="0"/>
              </a:rPr>
              <a:t>Modèle courant:</a:t>
            </a:r>
          </a:p>
        </p:txBody>
      </p:sp>
      <p:graphicFrame>
        <p:nvGraphicFramePr>
          <p:cNvPr id="5127" name="Object 2"/>
          <p:cNvGraphicFramePr>
            <a:graphicFrameLocks noChangeAspect="1"/>
          </p:cNvGraphicFramePr>
          <p:nvPr/>
        </p:nvGraphicFramePr>
        <p:xfrm>
          <a:off x="914400" y="2667000"/>
          <a:ext cx="2057400" cy="623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42" name="Equation" r:id="rId4" imgW="1384300" imgH="419100" progId="Equation.3">
                  <p:embed/>
                </p:oleObj>
              </mc:Choice>
              <mc:Fallback>
                <p:oleObj name="Equation" r:id="rId4" imgW="1384300" imgH="4191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667000"/>
                        <a:ext cx="2057400" cy="623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8" name="Object 3"/>
          <p:cNvGraphicFramePr>
            <a:graphicFrameLocks noChangeAspect="1"/>
          </p:cNvGraphicFramePr>
          <p:nvPr/>
        </p:nvGraphicFramePr>
        <p:xfrm>
          <a:off x="914400" y="3497263"/>
          <a:ext cx="1524000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43" name="Equation" r:id="rId6" imgW="939392" imgH="241195" progId="Equation.3">
                  <p:embed/>
                </p:oleObj>
              </mc:Choice>
              <mc:Fallback>
                <p:oleObj name="Equation" r:id="rId6" imgW="939392" imgH="24119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497263"/>
                        <a:ext cx="1524000" cy="38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9" name="Object 4"/>
          <p:cNvGraphicFramePr>
            <a:graphicFrameLocks noChangeAspect="1"/>
          </p:cNvGraphicFramePr>
          <p:nvPr/>
        </p:nvGraphicFramePr>
        <p:xfrm>
          <a:off x="838200" y="4114800"/>
          <a:ext cx="3213100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44" name="Equation" r:id="rId8" imgW="2019300" imgH="457200" progId="Equation.3">
                  <p:embed/>
                </p:oleObj>
              </mc:Choice>
              <mc:Fallback>
                <p:oleObj name="Equation" r:id="rId8" imgW="2019300" imgH="457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4114800"/>
                        <a:ext cx="3213100" cy="72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47" name="Text Box 10"/>
          <p:cNvSpPr txBox="1">
            <a:spLocks noChangeArrowheads="1"/>
          </p:cNvSpPr>
          <p:nvPr/>
        </p:nvSpPr>
        <p:spPr bwMode="auto">
          <a:xfrm>
            <a:off x="2162175" y="457200"/>
            <a:ext cx="52784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 b="1">
                <a:latin typeface="Arial Narrow" panose="020B0606020202030204" pitchFamily="34" charset="0"/>
              </a:rPr>
              <a:t>Commande directe à flux rotorique orienté</a:t>
            </a:r>
          </a:p>
        </p:txBody>
      </p:sp>
      <p:sp>
        <p:nvSpPr>
          <p:cNvPr id="5132" name="Text Box 12"/>
          <p:cNvSpPr txBox="1">
            <a:spLocks noChangeArrowheads="1"/>
          </p:cNvSpPr>
          <p:nvPr/>
        </p:nvSpPr>
        <p:spPr bwMode="auto">
          <a:xfrm>
            <a:off x="5334000" y="2133600"/>
            <a:ext cx="1981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000" b="1" u="sng">
                <a:latin typeface="Arial Narrow" panose="020B0606020202030204" pitchFamily="34" charset="0"/>
              </a:rPr>
              <a:t>Modèle tension:</a:t>
            </a:r>
          </a:p>
        </p:txBody>
      </p:sp>
      <p:graphicFrame>
        <p:nvGraphicFramePr>
          <p:cNvPr id="5133" name="Object 5"/>
          <p:cNvGraphicFramePr>
            <a:graphicFrameLocks noChangeAspect="1"/>
          </p:cNvGraphicFramePr>
          <p:nvPr/>
        </p:nvGraphicFramePr>
        <p:xfrm>
          <a:off x="5410200" y="2743200"/>
          <a:ext cx="1828800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45" name="Equation" r:id="rId10" imgW="1155199" imgH="355446" progId="Equation.3">
                  <p:embed/>
                </p:oleObj>
              </mc:Choice>
              <mc:Fallback>
                <p:oleObj name="Equation" r:id="rId10" imgW="1155199" imgH="355446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2743200"/>
                        <a:ext cx="1828800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4" name="Object 6"/>
          <p:cNvGraphicFramePr>
            <a:graphicFrameLocks noChangeAspect="1"/>
          </p:cNvGraphicFramePr>
          <p:nvPr/>
        </p:nvGraphicFramePr>
        <p:xfrm>
          <a:off x="5410200" y="3733800"/>
          <a:ext cx="158750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46" name="Equation" r:id="rId12" imgW="952087" imgH="241195" progId="Equation.3">
                  <p:embed/>
                </p:oleObj>
              </mc:Choice>
              <mc:Fallback>
                <p:oleObj name="Equation" r:id="rId12" imgW="952087" imgH="24119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3733800"/>
                        <a:ext cx="1587500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5" name="Object 7"/>
          <p:cNvGraphicFramePr>
            <a:graphicFrameLocks noChangeAspect="1"/>
          </p:cNvGraphicFramePr>
          <p:nvPr/>
        </p:nvGraphicFramePr>
        <p:xfrm>
          <a:off x="5410200" y="4495800"/>
          <a:ext cx="1593850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47" name="Equation" r:id="rId14" imgW="939392" imgH="241195" progId="Equation.3">
                  <p:embed/>
                </p:oleObj>
              </mc:Choice>
              <mc:Fallback>
                <p:oleObj name="Equation" r:id="rId14" imgW="939392" imgH="24119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4495800"/>
                        <a:ext cx="1593850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8" name="Line 18"/>
          <p:cNvSpPr>
            <a:spLocks noChangeShapeType="1"/>
          </p:cNvSpPr>
          <p:nvPr/>
        </p:nvSpPr>
        <p:spPr bwMode="auto">
          <a:xfrm>
            <a:off x="4572000" y="2057400"/>
            <a:ext cx="0" cy="426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609600" y="4953000"/>
            <a:ext cx="3810000" cy="1143000"/>
            <a:chOff x="384" y="3120"/>
            <a:chExt cx="2400" cy="720"/>
          </a:xfrm>
        </p:grpSpPr>
        <p:graphicFrame>
          <p:nvGraphicFramePr>
            <p:cNvPr id="266260" name="Object 9"/>
            <p:cNvGraphicFramePr>
              <a:graphicFrameLocks noChangeAspect="1"/>
            </p:cNvGraphicFramePr>
            <p:nvPr/>
          </p:nvGraphicFramePr>
          <p:xfrm>
            <a:off x="528" y="3216"/>
            <a:ext cx="2155" cy="5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348" name="Equation" r:id="rId16" imgW="2057400" imgH="482600" progId="Equation.3">
                    <p:embed/>
                  </p:oleObj>
                </mc:Choice>
                <mc:Fallback>
                  <p:oleObj name="Equation" r:id="rId16" imgW="2057400" imgH="4826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" y="3216"/>
                          <a:ext cx="2155" cy="5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261" name="Rectangle 19"/>
            <p:cNvSpPr>
              <a:spLocks noChangeArrowheads="1"/>
            </p:cNvSpPr>
            <p:nvPr/>
          </p:nvSpPr>
          <p:spPr bwMode="auto">
            <a:xfrm>
              <a:off x="384" y="3120"/>
              <a:ext cx="2400" cy="720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</p:grpSp>
      <p:grpSp>
        <p:nvGrpSpPr>
          <p:cNvPr id="3" name="Group 22"/>
          <p:cNvGrpSpPr>
            <a:grpSpLocks/>
          </p:cNvGrpSpPr>
          <p:nvPr/>
        </p:nvGrpSpPr>
        <p:grpSpPr bwMode="auto">
          <a:xfrm>
            <a:off x="4876800" y="5029200"/>
            <a:ext cx="2895600" cy="1143000"/>
            <a:chOff x="3072" y="3168"/>
            <a:chExt cx="1824" cy="720"/>
          </a:xfrm>
        </p:grpSpPr>
        <p:graphicFrame>
          <p:nvGraphicFramePr>
            <p:cNvPr id="266258" name="Object 8"/>
            <p:cNvGraphicFramePr>
              <a:graphicFrameLocks noChangeAspect="1"/>
            </p:cNvGraphicFramePr>
            <p:nvPr/>
          </p:nvGraphicFramePr>
          <p:xfrm>
            <a:off x="3360" y="3264"/>
            <a:ext cx="1392" cy="4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349" name="Equation" r:id="rId18" imgW="1231366" imgH="431613" progId="Equation.3">
                    <p:embed/>
                  </p:oleObj>
                </mc:Choice>
                <mc:Fallback>
                  <p:oleObj name="Equation" r:id="rId18" imgW="1231366" imgH="431613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0" y="3264"/>
                          <a:ext cx="1392" cy="4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259" name="Rectangle 20"/>
            <p:cNvSpPr>
              <a:spLocks noChangeArrowheads="1"/>
            </p:cNvSpPr>
            <p:nvPr/>
          </p:nvSpPr>
          <p:spPr bwMode="auto">
            <a:xfrm>
              <a:off x="3072" y="3168"/>
              <a:ext cx="1824" cy="720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</p:grpSp>
      <p:sp>
        <p:nvSpPr>
          <p:cNvPr id="266255" name="Rectangle 4"/>
          <p:cNvSpPr>
            <a:spLocks noChangeArrowheads="1"/>
          </p:cNvSpPr>
          <p:nvPr/>
        </p:nvSpPr>
        <p:spPr bwMode="auto">
          <a:xfrm>
            <a:off x="373063" y="252413"/>
            <a:ext cx="8429625" cy="6254750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66256" name="Espace réservé du numéro de diapositive 19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EBA1DDD-E2A8-4F31-90B6-11B0B54A878C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21" name="Espace réservé du pied de page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6" grpId="0"/>
      <p:bldP spid="5132" grpId="0"/>
      <p:bldP spid="513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1143000" y="1524000"/>
            <a:ext cx="64008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fr-FR" sz="2400">
                <a:latin typeface="Arial Narrow" panose="020B0606020202030204" pitchFamily="34" charset="0"/>
              </a:rPr>
              <a:t>Les deux méthodes sont sensibles aux variations des paramètres</a:t>
            </a:r>
          </a:p>
        </p:txBody>
      </p:sp>
      <p:sp>
        <p:nvSpPr>
          <p:cNvPr id="268291" name="Text Box 7"/>
          <p:cNvSpPr txBox="1">
            <a:spLocks noChangeArrowheads="1"/>
          </p:cNvSpPr>
          <p:nvPr/>
        </p:nvSpPr>
        <p:spPr bwMode="auto">
          <a:xfrm>
            <a:off x="2667000" y="457200"/>
            <a:ext cx="44497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 b="1">
                <a:latin typeface="Arial Narrow" panose="020B0606020202030204" pitchFamily="34" charset="0"/>
              </a:rPr>
              <a:t>Commande à flux rotorique orienté </a:t>
            </a:r>
          </a:p>
        </p:txBody>
      </p:sp>
      <p:sp>
        <p:nvSpPr>
          <p:cNvPr id="7181" name="Text Box 13"/>
          <p:cNvSpPr txBox="1">
            <a:spLocks noChangeArrowheads="1"/>
          </p:cNvSpPr>
          <p:nvPr/>
        </p:nvSpPr>
        <p:spPr bwMode="auto">
          <a:xfrm>
            <a:off x="1143000" y="2362200"/>
            <a:ext cx="64008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fr-FR" sz="2400">
                <a:latin typeface="Arial Narrow" panose="020B0606020202030204" pitchFamily="34" charset="0"/>
              </a:rPr>
              <a:t>Pour améliorer la commande, un signal de réaction plus précis est indispensable</a:t>
            </a:r>
          </a:p>
        </p:txBody>
      </p:sp>
      <p:sp>
        <p:nvSpPr>
          <p:cNvPr id="7182" name="Text Box 14"/>
          <p:cNvSpPr txBox="1">
            <a:spLocks noChangeArrowheads="1"/>
          </p:cNvSpPr>
          <p:nvPr/>
        </p:nvSpPr>
        <p:spPr bwMode="auto">
          <a:xfrm>
            <a:off x="1143000" y="3505200"/>
            <a:ext cx="64008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fr-FR" sz="2400">
                <a:latin typeface="Arial Narrow" panose="020B0606020202030204" pitchFamily="34" charset="0"/>
              </a:rPr>
              <a:t>Ceci mène à la commande directe à flux statorique orienté </a:t>
            </a:r>
          </a:p>
        </p:txBody>
      </p:sp>
      <p:sp>
        <p:nvSpPr>
          <p:cNvPr id="268294" name="Rectangle 4"/>
          <p:cNvSpPr>
            <a:spLocks noChangeArrowheads="1"/>
          </p:cNvSpPr>
          <p:nvPr/>
        </p:nvSpPr>
        <p:spPr bwMode="auto">
          <a:xfrm>
            <a:off x="357188" y="257175"/>
            <a:ext cx="8429625" cy="6254750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68295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55D86A7-501A-4173-A393-46356021D9BD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/>
      <p:bldP spid="7181" grpId="0"/>
      <p:bldP spid="718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Text Box 2"/>
          <p:cNvSpPr txBox="1">
            <a:spLocks noChangeArrowheads="1"/>
          </p:cNvSpPr>
          <p:nvPr/>
        </p:nvSpPr>
        <p:spPr bwMode="auto">
          <a:xfrm>
            <a:off x="1143000" y="1524000"/>
            <a:ext cx="70104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fr-FR" sz="2400">
                <a:latin typeface="Arial Narrow" panose="020B0606020202030204" pitchFamily="34" charset="0"/>
              </a:rPr>
              <a:t>toutes les grandeurs sont exprimées dans un repère lié au flux statorique</a:t>
            </a:r>
          </a:p>
        </p:txBody>
      </p:sp>
      <p:sp>
        <p:nvSpPr>
          <p:cNvPr id="270339" name="Text Box 3"/>
          <p:cNvSpPr txBox="1">
            <a:spLocks noChangeArrowheads="1"/>
          </p:cNvSpPr>
          <p:nvPr/>
        </p:nvSpPr>
        <p:spPr bwMode="auto">
          <a:xfrm>
            <a:off x="2667000" y="457200"/>
            <a:ext cx="54625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 b="1">
                <a:latin typeface="Arial Narrow" panose="020B0606020202030204" pitchFamily="34" charset="0"/>
              </a:rPr>
              <a:t>Commande directe à flux statorique orienté </a:t>
            </a:r>
          </a:p>
        </p:txBody>
      </p:sp>
      <p:sp>
        <p:nvSpPr>
          <p:cNvPr id="9231" name="Line 15"/>
          <p:cNvSpPr>
            <a:spLocks noChangeAspect="1" noChangeShapeType="1"/>
          </p:cNvSpPr>
          <p:nvPr/>
        </p:nvSpPr>
        <p:spPr bwMode="auto">
          <a:xfrm>
            <a:off x="4772025" y="3487738"/>
            <a:ext cx="511175" cy="91440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9232" name="Line 16"/>
          <p:cNvSpPr>
            <a:spLocks noChangeAspect="1" noChangeShapeType="1"/>
          </p:cNvSpPr>
          <p:nvPr/>
        </p:nvSpPr>
        <p:spPr bwMode="auto">
          <a:xfrm flipH="1">
            <a:off x="2847975" y="3487738"/>
            <a:ext cx="1924050" cy="1116012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grpSp>
        <p:nvGrpSpPr>
          <p:cNvPr id="2" name="Group 45"/>
          <p:cNvGrpSpPr>
            <a:grpSpLocks/>
          </p:cNvGrpSpPr>
          <p:nvPr/>
        </p:nvGrpSpPr>
        <p:grpSpPr bwMode="auto">
          <a:xfrm>
            <a:off x="3109913" y="3514725"/>
            <a:ext cx="3748087" cy="1152525"/>
            <a:chOff x="1959" y="2214"/>
            <a:chExt cx="2361" cy="726"/>
          </a:xfrm>
        </p:grpSpPr>
        <p:sp>
          <p:nvSpPr>
            <p:cNvPr id="270367" name="Line 9"/>
            <p:cNvSpPr>
              <a:spLocks noChangeAspect="1" noChangeShapeType="1"/>
            </p:cNvSpPr>
            <p:nvPr/>
          </p:nvSpPr>
          <p:spPr bwMode="auto">
            <a:xfrm rot="-1764076">
              <a:off x="1959" y="2940"/>
              <a:ext cx="204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aphicFrame>
          <p:nvGraphicFramePr>
            <p:cNvPr id="270368" name="Object 9"/>
            <p:cNvGraphicFramePr>
              <a:graphicFrameLocks noChangeAspect="1"/>
            </p:cNvGraphicFramePr>
            <p:nvPr/>
          </p:nvGraphicFramePr>
          <p:xfrm>
            <a:off x="3906" y="2214"/>
            <a:ext cx="414" cy="3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0449" name="Equation" r:id="rId4" imgW="228600" imgH="241300" progId="Equation.3">
                    <p:embed/>
                  </p:oleObj>
                </mc:Choice>
                <mc:Fallback>
                  <p:oleObj name="Equation" r:id="rId4" imgW="228600" imgH="2413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06" y="2214"/>
                          <a:ext cx="414" cy="3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44"/>
          <p:cNvGrpSpPr>
            <a:grpSpLocks/>
          </p:cNvGrpSpPr>
          <p:nvPr/>
        </p:nvGrpSpPr>
        <p:grpSpPr bwMode="auto">
          <a:xfrm>
            <a:off x="1447800" y="2752725"/>
            <a:ext cx="1206500" cy="2882900"/>
            <a:chOff x="912" y="1734"/>
            <a:chExt cx="760" cy="1816"/>
          </a:xfrm>
        </p:grpSpPr>
        <p:sp>
          <p:nvSpPr>
            <p:cNvPr id="270365" name="Line 8"/>
            <p:cNvSpPr>
              <a:spLocks noChangeAspect="1" noChangeShapeType="1"/>
            </p:cNvSpPr>
            <p:nvPr/>
          </p:nvSpPr>
          <p:spPr bwMode="auto">
            <a:xfrm rot="-1764076">
              <a:off x="1672" y="1845"/>
              <a:ext cx="0" cy="170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aphicFrame>
          <p:nvGraphicFramePr>
            <p:cNvPr id="270366" name="Object 8"/>
            <p:cNvGraphicFramePr>
              <a:graphicFrameLocks noChangeAspect="1"/>
            </p:cNvGraphicFramePr>
            <p:nvPr/>
          </p:nvGraphicFramePr>
          <p:xfrm>
            <a:off x="912" y="1734"/>
            <a:ext cx="384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0450" name="Equation" r:id="rId6" imgW="228600" imgH="241300" progId="Equation.3">
                    <p:embed/>
                  </p:oleObj>
                </mc:Choice>
                <mc:Fallback>
                  <p:oleObj name="Equation" r:id="rId6" imgW="228600" imgH="2413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" y="1734"/>
                          <a:ext cx="384" cy="3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43"/>
          <p:cNvGrpSpPr>
            <a:grpSpLocks/>
          </p:cNvGrpSpPr>
          <p:nvPr/>
        </p:nvGrpSpPr>
        <p:grpSpPr bwMode="auto">
          <a:xfrm>
            <a:off x="3319463" y="4979988"/>
            <a:ext cx="3690937" cy="482600"/>
            <a:chOff x="2091" y="3137"/>
            <a:chExt cx="2325" cy="304"/>
          </a:xfrm>
        </p:grpSpPr>
        <p:sp>
          <p:nvSpPr>
            <p:cNvPr id="270363" name="Line 11"/>
            <p:cNvSpPr>
              <a:spLocks noChangeAspect="1" noChangeShapeType="1"/>
            </p:cNvSpPr>
            <p:nvPr/>
          </p:nvSpPr>
          <p:spPr bwMode="auto">
            <a:xfrm rot="8631" flipV="1">
              <a:off x="2091" y="3430"/>
              <a:ext cx="2061" cy="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aphicFrame>
          <p:nvGraphicFramePr>
            <p:cNvPr id="270364" name="Object 7"/>
            <p:cNvGraphicFramePr>
              <a:graphicFrameLocks noChangeAspect="1"/>
            </p:cNvGraphicFramePr>
            <p:nvPr/>
          </p:nvGraphicFramePr>
          <p:xfrm>
            <a:off x="4108" y="3137"/>
            <a:ext cx="308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0451" name="Equation" r:id="rId8" imgW="165028" imgH="228501" progId="Equation.3">
                    <p:embed/>
                  </p:oleObj>
                </mc:Choice>
                <mc:Fallback>
                  <p:oleObj name="Equation" r:id="rId8" imgW="165028" imgH="228501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08" y="3137"/>
                          <a:ext cx="308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42"/>
          <p:cNvGrpSpPr>
            <a:grpSpLocks/>
          </p:cNvGrpSpPr>
          <p:nvPr/>
        </p:nvGrpSpPr>
        <p:grpSpPr bwMode="auto">
          <a:xfrm>
            <a:off x="2921000" y="2438400"/>
            <a:ext cx="431800" cy="3019425"/>
            <a:chOff x="1840" y="1536"/>
            <a:chExt cx="272" cy="1902"/>
          </a:xfrm>
        </p:grpSpPr>
        <p:sp>
          <p:nvSpPr>
            <p:cNvPr id="270361" name="Line 10"/>
            <p:cNvSpPr>
              <a:spLocks noChangeAspect="1" noChangeShapeType="1"/>
            </p:cNvSpPr>
            <p:nvPr/>
          </p:nvSpPr>
          <p:spPr bwMode="auto">
            <a:xfrm rot="8631">
              <a:off x="2084" y="1723"/>
              <a:ext cx="11" cy="171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aphicFrame>
          <p:nvGraphicFramePr>
            <p:cNvPr id="270362" name="Object 6"/>
            <p:cNvGraphicFramePr>
              <a:graphicFrameLocks noChangeAspect="1"/>
            </p:cNvGraphicFramePr>
            <p:nvPr/>
          </p:nvGraphicFramePr>
          <p:xfrm>
            <a:off x="1840" y="1536"/>
            <a:ext cx="272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0452" name="Equation" r:id="rId10" imgW="165028" imgH="228501" progId="Equation.3">
                    <p:embed/>
                  </p:oleObj>
                </mc:Choice>
                <mc:Fallback>
                  <p:oleObj name="Equation" r:id="rId10" imgW="165028" imgH="228501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40" y="1536"/>
                          <a:ext cx="272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46"/>
          <p:cNvGrpSpPr>
            <a:grpSpLocks/>
          </p:cNvGrpSpPr>
          <p:nvPr/>
        </p:nvGrpSpPr>
        <p:grpSpPr bwMode="auto">
          <a:xfrm>
            <a:off x="3319463" y="4298950"/>
            <a:ext cx="2439987" cy="1117600"/>
            <a:chOff x="2091" y="2708"/>
            <a:chExt cx="1537" cy="704"/>
          </a:xfrm>
        </p:grpSpPr>
        <p:graphicFrame>
          <p:nvGraphicFramePr>
            <p:cNvPr id="270359" name="Object 5"/>
            <p:cNvGraphicFramePr>
              <a:graphicFrameLocks noChangeAspect="1"/>
            </p:cNvGraphicFramePr>
            <p:nvPr/>
          </p:nvGraphicFramePr>
          <p:xfrm>
            <a:off x="3312" y="2784"/>
            <a:ext cx="316" cy="3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0453" name="Equation" r:id="rId12" imgW="177646" imgH="241091" progId="Equation.3">
                    <p:embed/>
                  </p:oleObj>
                </mc:Choice>
                <mc:Fallback>
                  <p:oleObj name="Equation" r:id="rId12" imgW="177646" imgH="241091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2784"/>
                          <a:ext cx="316" cy="3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0360" name="Line 30"/>
            <p:cNvSpPr>
              <a:spLocks noChangeAspect="1" noChangeShapeType="1"/>
            </p:cNvSpPr>
            <p:nvPr/>
          </p:nvSpPr>
          <p:spPr bwMode="auto">
            <a:xfrm flipV="1">
              <a:off x="2091" y="2708"/>
              <a:ext cx="1237" cy="70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7" name="Group 47"/>
          <p:cNvGrpSpPr>
            <a:grpSpLocks/>
          </p:cNvGrpSpPr>
          <p:nvPr/>
        </p:nvGrpSpPr>
        <p:grpSpPr bwMode="auto">
          <a:xfrm>
            <a:off x="2209800" y="4267200"/>
            <a:ext cx="1109663" cy="1149350"/>
            <a:chOff x="1392" y="2688"/>
            <a:chExt cx="699" cy="724"/>
          </a:xfrm>
        </p:grpSpPr>
        <p:graphicFrame>
          <p:nvGraphicFramePr>
            <p:cNvPr id="270357" name="Object 4"/>
            <p:cNvGraphicFramePr>
              <a:graphicFrameLocks noChangeAspect="1"/>
            </p:cNvGraphicFramePr>
            <p:nvPr/>
          </p:nvGraphicFramePr>
          <p:xfrm>
            <a:off x="1392" y="2688"/>
            <a:ext cx="314" cy="3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0454" name="Equation" r:id="rId14" imgW="177569" imgH="253670" progId="Equation.3">
                    <p:embed/>
                  </p:oleObj>
                </mc:Choice>
                <mc:Fallback>
                  <p:oleObj name="Equation" r:id="rId14" imgW="177569" imgH="25367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2688"/>
                          <a:ext cx="314" cy="3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0358" name="Line 31"/>
            <p:cNvSpPr>
              <a:spLocks noChangeAspect="1" noChangeShapeType="1"/>
            </p:cNvSpPr>
            <p:nvPr/>
          </p:nvSpPr>
          <p:spPr bwMode="auto">
            <a:xfrm flipH="1" flipV="1">
              <a:off x="1795" y="2882"/>
              <a:ext cx="296" cy="5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8" name="Group 40"/>
          <p:cNvGrpSpPr>
            <a:grpSpLocks/>
          </p:cNvGrpSpPr>
          <p:nvPr/>
        </p:nvGrpSpPr>
        <p:grpSpPr bwMode="auto">
          <a:xfrm>
            <a:off x="3324225" y="2971800"/>
            <a:ext cx="1924050" cy="2492375"/>
            <a:chOff x="2094" y="1872"/>
            <a:chExt cx="1212" cy="1570"/>
          </a:xfrm>
        </p:grpSpPr>
        <p:sp>
          <p:nvSpPr>
            <p:cNvPr id="270355" name="Line 12"/>
            <p:cNvSpPr>
              <a:spLocks noChangeAspect="1" noChangeShapeType="1"/>
            </p:cNvSpPr>
            <p:nvPr/>
          </p:nvSpPr>
          <p:spPr bwMode="auto">
            <a:xfrm flipV="1">
              <a:off x="2094" y="2185"/>
              <a:ext cx="912" cy="125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aphicFrame>
          <p:nvGraphicFramePr>
            <p:cNvPr id="270356" name="Object 3"/>
            <p:cNvGraphicFramePr>
              <a:graphicFrameLocks noChangeAspect="1"/>
            </p:cNvGraphicFramePr>
            <p:nvPr/>
          </p:nvGraphicFramePr>
          <p:xfrm>
            <a:off x="3058" y="1872"/>
            <a:ext cx="248" cy="3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0455" name="Equation" r:id="rId16" imgW="139639" imgH="241195" progId="Equation.3">
                    <p:embed/>
                  </p:oleObj>
                </mc:Choice>
                <mc:Fallback>
                  <p:oleObj name="Equation" r:id="rId16" imgW="139639" imgH="241195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58" y="1872"/>
                          <a:ext cx="248" cy="3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Group 41"/>
          <p:cNvGrpSpPr>
            <a:grpSpLocks/>
          </p:cNvGrpSpPr>
          <p:nvPr/>
        </p:nvGrpSpPr>
        <p:grpSpPr bwMode="auto">
          <a:xfrm>
            <a:off x="3324225" y="3581400"/>
            <a:ext cx="2541588" cy="1882775"/>
            <a:chOff x="2094" y="2256"/>
            <a:chExt cx="1601" cy="1186"/>
          </a:xfrm>
        </p:grpSpPr>
        <p:sp>
          <p:nvSpPr>
            <p:cNvPr id="270353" name="Line 17"/>
            <p:cNvSpPr>
              <a:spLocks noChangeAspect="1" noChangeShapeType="1"/>
            </p:cNvSpPr>
            <p:nvPr/>
          </p:nvSpPr>
          <p:spPr bwMode="auto">
            <a:xfrm flipV="1">
              <a:off x="2094" y="2589"/>
              <a:ext cx="1522" cy="85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aphicFrame>
          <p:nvGraphicFramePr>
            <p:cNvPr id="270354" name="Object 2"/>
            <p:cNvGraphicFramePr>
              <a:graphicFrameLocks noChangeAspect="1"/>
            </p:cNvGraphicFramePr>
            <p:nvPr/>
          </p:nvGraphicFramePr>
          <p:xfrm>
            <a:off x="3312" y="2256"/>
            <a:ext cx="383" cy="3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0456" name="Equation" r:id="rId18" imgW="215713" imgH="241091" progId="Equation.3">
                    <p:embed/>
                  </p:oleObj>
                </mc:Choice>
                <mc:Fallback>
                  <p:oleObj name="Equation" r:id="rId18" imgW="215713" imgH="241091" progId="Equation.3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2256"/>
                          <a:ext cx="383" cy="3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70350" name="Rectangle 4"/>
          <p:cNvSpPr>
            <a:spLocks noChangeArrowheads="1"/>
          </p:cNvSpPr>
          <p:nvPr/>
        </p:nvSpPr>
        <p:spPr bwMode="auto">
          <a:xfrm>
            <a:off x="357188" y="257175"/>
            <a:ext cx="8429625" cy="6254750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70351" name="Espace réservé du numéro de diapositive 30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D4D6DB3-81E0-4C47-BB0A-0B2998DD7EF5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32" name="Espace réservé du pied de page 3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9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9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31" grpId="0" animBg="1"/>
      <p:bldP spid="923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Text Box 3"/>
          <p:cNvSpPr txBox="1">
            <a:spLocks noChangeArrowheads="1"/>
          </p:cNvSpPr>
          <p:nvPr/>
        </p:nvSpPr>
        <p:spPr bwMode="auto">
          <a:xfrm>
            <a:off x="2667000" y="457200"/>
            <a:ext cx="54625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 b="1">
                <a:latin typeface="Arial Narrow" panose="020B0606020202030204" pitchFamily="34" charset="0"/>
              </a:rPr>
              <a:t>Commande directe à flux statorique orienté </a:t>
            </a:r>
          </a:p>
        </p:txBody>
      </p:sp>
      <p:grpSp>
        <p:nvGrpSpPr>
          <p:cNvPr id="2" name="Group 31"/>
          <p:cNvGrpSpPr>
            <a:grpSpLocks/>
          </p:cNvGrpSpPr>
          <p:nvPr/>
        </p:nvGrpSpPr>
        <p:grpSpPr bwMode="auto">
          <a:xfrm>
            <a:off x="1728788" y="1384300"/>
            <a:ext cx="5508625" cy="3132138"/>
            <a:chOff x="912" y="1536"/>
            <a:chExt cx="3504" cy="2014"/>
          </a:xfrm>
        </p:grpSpPr>
        <p:graphicFrame>
          <p:nvGraphicFramePr>
            <p:cNvPr id="272397" name="Object 5"/>
            <p:cNvGraphicFramePr>
              <a:graphicFrameLocks noChangeAspect="1"/>
            </p:cNvGraphicFramePr>
            <p:nvPr/>
          </p:nvGraphicFramePr>
          <p:xfrm>
            <a:off x="4108" y="3137"/>
            <a:ext cx="308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2526" name="Equation" r:id="rId4" imgW="165028" imgH="228501" progId="Equation.3">
                    <p:embed/>
                  </p:oleObj>
                </mc:Choice>
                <mc:Fallback>
                  <p:oleObj name="Equation" r:id="rId4" imgW="165028" imgH="228501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08" y="3137"/>
                          <a:ext cx="308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72398" name="Group 30"/>
            <p:cNvGrpSpPr>
              <a:grpSpLocks/>
            </p:cNvGrpSpPr>
            <p:nvPr/>
          </p:nvGrpSpPr>
          <p:grpSpPr bwMode="auto">
            <a:xfrm>
              <a:off x="912" y="1536"/>
              <a:ext cx="3408" cy="2014"/>
              <a:chOff x="912" y="1536"/>
              <a:chExt cx="3408" cy="2014"/>
            </a:xfrm>
          </p:grpSpPr>
          <p:sp>
            <p:nvSpPr>
              <p:cNvPr id="272399" name="Line 5"/>
              <p:cNvSpPr>
                <a:spLocks noChangeAspect="1" noChangeShapeType="1"/>
              </p:cNvSpPr>
              <p:nvPr/>
            </p:nvSpPr>
            <p:spPr bwMode="auto">
              <a:xfrm rot="-1764076">
                <a:off x="1672" y="1845"/>
                <a:ext cx="0" cy="170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triangl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72400" name="Line 6"/>
              <p:cNvSpPr>
                <a:spLocks noChangeAspect="1" noChangeShapeType="1"/>
              </p:cNvSpPr>
              <p:nvPr/>
            </p:nvSpPr>
            <p:spPr bwMode="auto">
              <a:xfrm rot="-1764076">
                <a:off x="1959" y="2940"/>
                <a:ext cx="204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72401" name="Line 7"/>
              <p:cNvSpPr>
                <a:spLocks noChangeAspect="1" noChangeShapeType="1"/>
              </p:cNvSpPr>
              <p:nvPr/>
            </p:nvSpPr>
            <p:spPr bwMode="auto">
              <a:xfrm rot="8631">
                <a:off x="2084" y="1723"/>
                <a:ext cx="11" cy="171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triangl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72402" name="Line 8"/>
              <p:cNvSpPr>
                <a:spLocks noChangeAspect="1" noChangeShapeType="1"/>
              </p:cNvSpPr>
              <p:nvPr/>
            </p:nvSpPr>
            <p:spPr bwMode="auto">
              <a:xfrm rot="8631" flipV="1">
                <a:off x="2091" y="3430"/>
                <a:ext cx="2061" cy="1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72403" name="Line 9"/>
              <p:cNvSpPr>
                <a:spLocks noChangeAspect="1" noChangeShapeType="1"/>
              </p:cNvSpPr>
              <p:nvPr/>
            </p:nvSpPr>
            <p:spPr bwMode="auto">
              <a:xfrm flipV="1">
                <a:off x="2094" y="2185"/>
                <a:ext cx="912" cy="125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72404" name="Line 12"/>
              <p:cNvSpPr>
                <a:spLocks noChangeAspect="1" noChangeShapeType="1"/>
              </p:cNvSpPr>
              <p:nvPr/>
            </p:nvSpPr>
            <p:spPr bwMode="auto">
              <a:xfrm>
                <a:off x="3006" y="2197"/>
                <a:ext cx="322" cy="576"/>
              </a:xfrm>
              <a:prstGeom prst="line">
                <a:avLst/>
              </a:prstGeom>
              <a:noFill/>
              <a:ln w="9525" cap="rnd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72405" name="Line 13"/>
              <p:cNvSpPr>
                <a:spLocks noChangeAspect="1" noChangeShapeType="1"/>
              </p:cNvSpPr>
              <p:nvPr/>
            </p:nvSpPr>
            <p:spPr bwMode="auto">
              <a:xfrm flipH="1">
                <a:off x="1794" y="2197"/>
                <a:ext cx="1212" cy="703"/>
              </a:xfrm>
              <a:prstGeom prst="line">
                <a:avLst/>
              </a:prstGeom>
              <a:noFill/>
              <a:ln w="9525" cap="rnd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72406" name="Line 14"/>
              <p:cNvSpPr>
                <a:spLocks noChangeAspect="1" noChangeShapeType="1"/>
              </p:cNvSpPr>
              <p:nvPr/>
            </p:nvSpPr>
            <p:spPr bwMode="auto">
              <a:xfrm flipV="1">
                <a:off x="2094" y="2589"/>
                <a:ext cx="1522" cy="85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graphicFrame>
            <p:nvGraphicFramePr>
              <p:cNvPr id="272407" name="Object 6"/>
              <p:cNvGraphicFramePr>
                <a:graphicFrameLocks noChangeAspect="1"/>
              </p:cNvGraphicFramePr>
              <p:nvPr/>
            </p:nvGraphicFramePr>
            <p:xfrm>
              <a:off x="3312" y="2784"/>
              <a:ext cx="316" cy="35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2527" name="Equation" r:id="rId6" imgW="177646" imgH="241091" progId="Equation.3">
                      <p:embed/>
                    </p:oleObj>
                  </mc:Choice>
                  <mc:Fallback>
                    <p:oleObj name="Equation" r:id="rId6" imgW="177646" imgH="241091" progId="Equation.3">
                      <p:embed/>
                      <p:pic>
                        <p:nvPicPr>
                          <p:cNvPr id="0" name="Object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12" y="2784"/>
                            <a:ext cx="316" cy="35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2408" name="Object 7"/>
              <p:cNvGraphicFramePr>
                <a:graphicFrameLocks noChangeAspect="1"/>
              </p:cNvGraphicFramePr>
              <p:nvPr/>
            </p:nvGraphicFramePr>
            <p:xfrm>
              <a:off x="1392" y="2688"/>
              <a:ext cx="314" cy="36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2528" name="Equation" r:id="rId8" imgW="177569" imgH="253670" progId="Equation.3">
                      <p:embed/>
                    </p:oleObj>
                  </mc:Choice>
                  <mc:Fallback>
                    <p:oleObj name="Equation" r:id="rId8" imgW="177569" imgH="253670" progId="Equation.3">
                      <p:embed/>
                      <p:pic>
                        <p:nvPicPr>
                          <p:cNvPr id="0" name="Object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92" y="2688"/>
                            <a:ext cx="314" cy="36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2409" name="Object 8"/>
              <p:cNvGraphicFramePr>
                <a:graphicFrameLocks noChangeAspect="1"/>
              </p:cNvGraphicFramePr>
              <p:nvPr/>
            </p:nvGraphicFramePr>
            <p:xfrm>
              <a:off x="3906" y="2214"/>
              <a:ext cx="414" cy="33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2529" name="Equation" r:id="rId10" imgW="228600" imgH="241300" progId="Equation.3">
                      <p:embed/>
                    </p:oleObj>
                  </mc:Choice>
                  <mc:Fallback>
                    <p:oleObj name="Equation" r:id="rId10" imgW="228600" imgH="241300" progId="Equation.3">
                      <p:embed/>
                      <p:pic>
                        <p:nvPicPr>
                          <p:cNvPr id="0" name="Object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06" y="2214"/>
                            <a:ext cx="414" cy="33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2410" name="Object 9"/>
              <p:cNvGraphicFramePr>
                <a:graphicFrameLocks noChangeAspect="1"/>
              </p:cNvGraphicFramePr>
              <p:nvPr/>
            </p:nvGraphicFramePr>
            <p:xfrm>
              <a:off x="912" y="1734"/>
              <a:ext cx="384" cy="31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2530" name="Equation" r:id="rId12" imgW="228600" imgH="241300" progId="Equation.3">
                      <p:embed/>
                    </p:oleObj>
                  </mc:Choice>
                  <mc:Fallback>
                    <p:oleObj name="Equation" r:id="rId12" imgW="228600" imgH="241300" progId="Equation.3">
                      <p:embed/>
                      <p:pic>
                        <p:nvPicPr>
                          <p:cNvPr id="0" name="Object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12" y="1734"/>
                            <a:ext cx="384" cy="31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2411" name="Object 10"/>
              <p:cNvGraphicFramePr>
                <a:graphicFrameLocks noChangeAspect="1"/>
              </p:cNvGraphicFramePr>
              <p:nvPr/>
            </p:nvGraphicFramePr>
            <p:xfrm>
              <a:off x="1840" y="1536"/>
              <a:ext cx="272" cy="2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2531" name="Equation" r:id="rId14" imgW="165028" imgH="228501" progId="Equation.3">
                      <p:embed/>
                    </p:oleObj>
                  </mc:Choice>
                  <mc:Fallback>
                    <p:oleObj name="Equation" r:id="rId14" imgW="165028" imgH="228501" progId="Equation.3">
                      <p:embed/>
                      <p:pic>
                        <p:nvPicPr>
                          <p:cNvPr id="0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40" y="1536"/>
                            <a:ext cx="272" cy="25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72412" name="Line 21"/>
              <p:cNvSpPr>
                <a:spLocks noChangeAspect="1" noChangeShapeType="1"/>
              </p:cNvSpPr>
              <p:nvPr/>
            </p:nvSpPr>
            <p:spPr bwMode="auto">
              <a:xfrm flipV="1">
                <a:off x="2091" y="2708"/>
                <a:ext cx="1237" cy="70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72413" name="Line 22"/>
              <p:cNvSpPr>
                <a:spLocks noChangeAspect="1" noChangeShapeType="1"/>
              </p:cNvSpPr>
              <p:nvPr/>
            </p:nvSpPr>
            <p:spPr bwMode="auto">
              <a:xfrm flipH="1" flipV="1">
                <a:off x="1795" y="2882"/>
                <a:ext cx="296" cy="53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graphicFrame>
            <p:nvGraphicFramePr>
              <p:cNvPr id="272414" name="Object 11"/>
              <p:cNvGraphicFramePr>
                <a:graphicFrameLocks noChangeAspect="1"/>
              </p:cNvGraphicFramePr>
              <p:nvPr/>
            </p:nvGraphicFramePr>
            <p:xfrm>
              <a:off x="3058" y="1872"/>
              <a:ext cx="248" cy="35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2532" name="Equation" r:id="rId16" imgW="139639" imgH="241195" progId="Equation.3">
                      <p:embed/>
                    </p:oleObj>
                  </mc:Choice>
                  <mc:Fallback>
                    <p:oleObj name="Equation" r:id="rId16" imgW="139639" imgH="241195" progId="Equation.3">
                      <p:embed/>
                      <p:pic>
                        <p:nvPicPr>
                          <p:cNvPr id="0" name="Object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58" y="1872"/>
                            <a:ext cx="248" cy="35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2415" name="Object 12"/>
              <p:cNvGraphicFramePr>
                <a:graphicFrameLocks noChangeAspect="1"/>
              </p:cNvGraphicFramePr>
              <p:nvPr/>
            </p:nvGraphicFramePr>
            <p:xfrm>
              <a:off x="3312" y="2256"/>
              <a:ext cx="383" cy="35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2533" name="Equation" r:id="rId18" imgW="215713" imgH="241091" progId="Equation.3">
                      <p:embed/>
                    </p:oleObj>
                  </mc:Choice>
                  <mc:Fallback>
                    <p:oleObj name="Equation" r:id="rId18" imgW="215713" imgH="241091" progId="Equation.3">
                      <p:embed/>
                      <p:pic>
                        <p:nvPicPr>
                          <p:cNvPr id="0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12" y="2256"/>
                            <a:ext cx="383" cy="35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17433" name="Object 2"/>
          <p:cNvGraphicFramePr>
            <a:graphicFrameLocks noChangeAspect="1"/>
          </p:cNvGraphicFramePr>
          <p:nvPr/>
        </p:nvGraphicFramePr>
        <p:xfrm>
          <a:off x="6370638" y="2784475"/>
          <a:ext cx="1728787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534" name="Équation" r:id="rId20" imgW="876300" imgH="342900" progId="Equation.3">
                  <p:embed/>
                </p:oleObj>
              </mc:Choice>
              <mc:Fallback>
                <p:oleObj name="Équation" r:id="rId20" imgW="876300" imgH="3429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0638" y="2784475"/>
                        <a:ext cx="1728787" cy="55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34" name="Object 3"/>
          <p:cNvGraphicFramePr>
            <a:graphicFrameLocks noChangeAspect="1"/>
          </p:cNvGraphicFramePr>
          <p:nvPr/>
        </p:nvGraphicFramePr>
        <p:xfrm>
          <a:off x="5967413" y="3776663"/>
          <a:ext cx="2709862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535" name="Équation" r:id="rId22" imgW="1295400" imgH="342900" progId="Equation.3">
                  <p:embed/>
                </p:oleObj>
              </mc:Choice>
              <mc:Fallback>
                <p:oleObj name="Équation" r:id="rId22" imgW="1295400" imgH="3429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7413" y="3776663"/>
                        <a:ext cx="2709862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27"/>
          <p:cNvGrpSpPr>
            <a:grpSpLocks/>
          </p:cNvGrpSpPr>
          <p:nvPr/>
        </p:nvGrpSpPr>
        <p:grpSpPr bwMode="auto">
          <a:xfrm>
            <a:off x="4389438" y="5410200"/>
            <a:ext cx="2209800" cy="1066800"/>
            <a:chOff x="3696" y="2880"/>
            <a:chExt cx="1392" cy="672"/>
          </a:xfrm>
        </p:grpSpPr>
        <p:graphicFrame>
          <p:nvGraphicFramePr>
            <p:cNvPr id="272395" name="Object 4"/>
            <p:cNvGraphicFramePr>
              <a:graphicFrameLocks noChangeAspect="1"/>
            </p:cNvGraphicFramePr>
            <p:nvPr/>
          </p:nvGraphicFramePr>
          <p:xfrm>
            <a:off x="3796" y="3005"/>
            <a:ext cx="1142" cy="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2536" name="Équation" r:id="rId24" imgW="825500" imgH="342900" progId="Equation.3">
                    <p:embed/>
                  </p:oleObj>
                </mc:Choice>
                <mc:Fallback>
                  <p:oleObj name="Équation" r:id="rId24" imgW="825500" imgH="3429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6" y="3005"/>
                          <a:ext cx="1142" cy="3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2396" name="Rectangle 29"/>
            <p:cNvSpPr>
              <a:spLocks noChangeArrowheads="1"/>
            </p:cNvSpPr>
            <p:nvPr/>
          </p:nvSpPr>
          <p:spPr bwMode="auto">
            <a:xfrm>
              <a:off x="3696" y="2880"/>
              <a:ext cx="1392" cy="672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</p:grpSp>
      <p:sp>
        <p:nvSpPr>
          <p:cNvPr id="17440" name="Text Box 32"/>
          <p:cNvSpPr txBox="1">
            <a:spLocks noChangeArrowheads="1"/>
          </p:cNvSpPr>
          <p:nvPr/>
        </p:nvSpPr>
        <p:spPr bwMode="auto">
          <a:xfrm>
            <a:off x="3841750" y="4865688"/>
            <a:ext cx="3276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Puisque </a:t>
            </a:r>
            <a:r>
              <a:rPr lang="en-US" altLang="fr-FR" sz="2400">
                <a:latin typeface="Arial Narrow" panose="020B0606020202030204" pitchFamily="34" charset="0"/>
                <a:sym typeface="Symbol" panose="05050102010706020507" pitchFamily="18" charset="2"/>
              </a:rPr>
              <a:t></a:t>
            </a:r>
            <a:r>
              <a:rPr lang="en-US" altLang="fr-FR" sz="2400" baseline="-25000">
                <a:latin typeface="Arial Narrow" panose="020B0606020202030204" pitchFamily="34" charset="0"/>
                <a:sym typeface="Symbol" panose="05050102010706020507" pitchFamily="18" charset="2"/>
              </a:rPr>
              <a:t>sq</a:t>
            </a:r>
            <a:r>
              <a:rPr lang="en-US" altLang="fr-FR" sz="2400">
                <a:latin typeface="Arial Narrow" panose="020B0606020202030204" pitchFamily="34" charset="0"/>
                <a:sym typeface="Symbol" panose="05050102010706020507" pitchFamily="18" charset="2"/>
              </a:rPr>
              <a:t>= 0 et </a:t>
            </a:r>
            <a:r>
              <a:rPr lang="en-US" altLang="fr-FR" sz="2400" baseline="-25000">
                <a:latin typeface="Arial Narrow" panose="020B0606020202030204" pitchFamily="34" charset="0"/>
                <a:sym typeface="Symbol" panose="05050102010706020507" pitchFamily="18" charset="2"/>
              </a:rPr>
              <a:t>sd</a:t>
            </a:r>
            <a:r>
              <a:rPr lang="en-US" altLang="fr-FR" sz="2400">
                <a:latin typeface="Arial Narrow" panose="020B0606020202030204" pitchFamily="34" charset="0"/>
                <a:sym typeface="Symbol" panose="05050102010706020507" pitchFamily="18" charset="2"/>
              </a:rPr>
              <a:t>= </a:t>
            </a:r>
            <a:r>
              <a:rPr lang="en-US" altLang="fr-FR" sz="2400" baseline="-25000">
                <a:latin typeface="Arial Narrow" panose="020B0606020202030204" pitchFamily="34" charset="0"/>
                <a:sym typeface="Symbol" panose="05050102010706020507" pitchFamily="18" charset="2"/>
              </a:rPr>
              <a:t>s</a:t>
            </a:r>
            <a:endParaRPr lang="en-US" altLang="fr-FR" sz="2400">
              <a:latin typeface="Arial Narrow" panose="020B0606020202030204" pitchFamily="34" charset="0"/>
              <a:sym typeface="Symbol" panose="05050102010706020507" pitchFamily="18" charset="2"/>
            </a:endParaRPr>
          </a:p>
        </p:txBody>
      </p:sp>
      <p:sp>
        <p:nvSpPr>
          <p:cNvPr id="272392" name="Rectangle 4"/>
          <p:cNvSpPr>
            <a:spLocks noChangeArrowheads="1"/>
          </p:cNvSpPr>
          <p:nvPr/>
        </p:nvSpPr>
        <p:spPr bwMode="auto">
          <a:xfrm>
            <a:off x="357188" y="257175"/>
            <a:ext cx="8429625" cy="6254750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72393" name="Espace réservé du numéro de diapositive 30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2DFBDCC-6353-4A72-978A-120306273533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32" name="Espace réservé du pied de page 3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1.26735E-6 L -0.15833 -1.26735E-6 " pathEditMode="relative" ptsTypes="AA">
                                      <p:cBhvr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7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7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4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1143000" y="1524000"/>
            <a:ext cx="70104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fr-FR" sz="2400">
                <a:latin typeface="Arial Narrow" panose="020B0606020202030204" pitchFamily="34" charset="0"/>
              </a:rPr>
              <a:t>Il y a un couplage entre le courant produisant le couple et le flux:</a:t>
            </a:r>
          </a:p>
        </p:txBody>
      </p:sp>
      <p:sp>
        <p:nvSpPr>
          <p:cNvPr id="274435" name="Text Box 3"/>
          <p:cNvSpPr txBox="1">
            <a:spLocks noChangeArrowheads="1"/>
          </p:cNvSpPr>
          <p:nvPr/>
        </p:nvSpPr>
        <p:spPr bwMode="auto">
          <a:xfrm>
            <a:off x="2667000" y="457200"/>
            <a:ext cx="54625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 b="1">
                <a:latin typeface="Arial Narrow" panose="020B0606020202030204" pitchFamily="34" charset="0"/>
              </a:rPr>
              <a:t>Commande directe à flux statorique orienté </a:t>
            </a:r>
          </a:p>
        </p:txBody>
      </p:sp>
      <p:graphicFrame>
        <p:nvGraphicFramePr>
          <p:cNvPr id="19486" name="Object 2"/>
          <p:cNvGraphicFramePr>
            <a:graphicFrameLocks noChangeAspect="1"/>
          </p:cNvGraphicFramePr>
          <p:nvPr/>
        </p:nvGraphicFramePr>
        <p:xfrm>
          <a:off x="2862263" y="2743200"/>
          <a:ext cx="2960687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4472" name="Équation" r:id="rId4" imgW="1524000" imgH="355600" progId="Equation.3">
                  <p:embed/>
                </p:oleObj>
              </mc:Choice>
              <mc:Fallback>
                <p:oleObj name="Équation" r:id="rId4" imgW="1524000" imgH="355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2263" y="2743200"/>
                        <a:ext cx="2960687" cy="68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88" name="Object 3"/>
          <p:cNvGraphicFramePr>
            <a:graphicFrameLocks noChangeAspect="1"/>
          </p:cNvGraphicFramePr>
          <p:nvPr/>
        </p:nvGraphicFramePr>
        <p:xfrm>
          <a:off x="1503363" y="4022725"/>
          <a:ext cx="639127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4473" name="Équation" r:id="rId6" imgW="2501900" imgH="355600" progId="Equation.3">
                  <p:embed/>
                </p:oleObj>
              </mc:Choice>
              <mc:Fallback>
                <p:oleObj name="Équation" r:id="rId6" imgW="2501900" imgH="355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3363" y="4022725"/>
                        <a:ext cx="6391275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89" name="Object 4"/>
          <p:cNvGraphicFramePr>
            <a:graphicFrameLocks noChangeAspect="1"/>
          </p:cNvGraphicFramePr>
          <p:nvPr/>
        </p:nvGraphicFramePr>
        <p:xfrm>
          <a:off x="400050" y="5222875"/>
          <a:ext cx="803910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4474" name="Équation" r:id="rId8" imgW="4597400" imgH="419100" progId="Equation.3">
                  <p:embed/>
                </p:oleObj>
              </mc:Choice>
              <mc:Fallback>
                <p:oleObj name="Équation" r:id="rId8" imgW="4597400" imgH="419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050" y="5222875"/>
                        <a:ext cx="8039100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4439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2EAC06B-09E9-4876-A81F-0C3C4365DF44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  <p:sp>
        <p:nvSpPr>
          <p:cNvPr id="274441" name="Rectangle 4"/>
          <p:cNvSpPr>
            <a:spLocks noChangeArrowheads="1"/>
          </p:cNvSpPr>
          <p:nvPr/>
        </p:nvSpPr>
        <p:spPr bwMode="auto">
          <a:xfrm>
            <a:off x="357188" y="257175"/>
            <a:ext cx="8429625" cy="6254750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2" name="Text Box 3"/>
          <p:cNvSpPr txBox="1">
            <a:spLocks noChangeArrowheads="1"/>
          </p:cNvSpPr>
          <p:nvPr/>
        </p:nvSpPr>
        <p:spPr bwMode="auto">
          <a:xfrm>
            <a:off x="2667000" y="457200"/>
            <a:ext cx="54625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 b="1">
                <a:latin typeface="Arial Narrow" panose="020B0606020202030204" pitchFamily="34" charset="0"/>
              </a:rPr>
              <a:t>Commande directe à flux statorique orienté </a:t>
            </a:r>
          </a:p>
        </p:txBody>
      </p:sp>
      <p:graphicFrame>
        <p:nvGraphicFramePr>
          <p:cNvPr id="21510" name="Object 2"/>
          <p:cNvGraphicFramePr>
            <a:graphicFrameLocks noChangeAspect="1"/>
          </p:cNvGraphicFramePr>
          <p:nvPr/>
        </p:nvGraphicFramePr>
        <p:xfrm>
          <a:off x="400050" y="5222875"/>
          <a:ext cx="803910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27" name="Équation" r:id="rId4" imgW="4597400" imgH="419100" progId="Equation.3">
                  <p:embed/>
                </p:oleObj>
              </mc:Choice>
              <mc:Fallback>
                <p:oleObj name="Équation" r:id="rId4" imgW="4597400" imgH="4191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050" y="5222875"/>
                        <a:ext cx="8039100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330200" y="2133600"/>
            <a:ext cx="3821113" cy="1733550"/>
            <a:chOff x="208" y="1344"/>
            <a:chExt cx="2407" cy="1092"/>
          </a:xfrm>
        </p:grpSpPr>
        <p:graphicFrame>
          <p:nvGraphicFramePr>
            <p:cNvPr id="276494" name="Object 4"/>
            <p:cNvGraphicFramePr>
              <a:graphicFrameLocks noChangeAspect="1"/>
            </p:cNvGraphicFramePr>
            <p:nvPr/>
          </p:nvGraphicFramePr>
          <p:xfrm>
            <a:off x="208" y="2220"/>
            <a:ext cx="2407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528" name="Équation" r:id="rId6" imgW="2159000" imgH="228600" progId="Equation.3">
                    <p:embed/>
                  </p:oleObj>
                </mc:Choice>
                <mc:Fallback>
                  <p:oleObj name="Équation" r:id="rId6" imgW="2159000" imgH="2286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8" y="2220"/>
                          <a:ext cx="2407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495" name="Line 9"/>
            <p:cNvSpPr>
              <a:spLocks noChangeShapeType="1"/>
            </p:cNvSpPr>
            <p:nvPr/>
          </p:nvSpPr>
          <p:spPr bwMode="auto">
            <a:xfrm flipH="1">
              <a:off x="1488" y="1344"/>
              <a:ext cx="624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76496" name="Text Box 11"/>
            <p:cNvSpPr txBox="1">
              <a:spLocks noChangeArrowheads="1"/>
            </p:cNvSpPr>
            <p:nvPr/>
          </p:nvSpPr>
          <p:spPr bwMode="auto">
            <a:xfrm>
              <a:off x="1632" y="1536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Arial Narrow" panose="020B0606020202030204" pitchFamily="34" charset="0"/>
                </a:rPr>
                <a:t>q</a:t>
              </a:r>
            </a:p>
          </p:txBody>
        </p:sp>
      </p:grpSp>
      <p:grpSp>
        <p:nvGrpSpPr>
          <p:cNvPr id="3" name="Group 16"/>
          <p:cNvGrpSpPr>
            <a:grpSpLocks/>
          </p:cNvGrpSpPr>
          <p:nvPr/>
        </p:nvGrpSpPr>
        <p:grpSpPr bwMode="auto">
          <a:xfrm>
            <a:off x="4878388" y="2133600"/>
            <a:ext cx="3843337" cy="1682750"/>
            <a:chOff x="3073" y="1344"/>
            <a:chExt cx="2421" cy="1060"/>
          </a:xfrm>
        </p:grpSpPr>
        <p:graphicFrame>
          <p:nvGraphicFramePr>
            <p:cNvPr id="276491" name="Object 3"/>
            <p:cNvGraphicFramePr>
              <a:graphicFrameLocks noChangeAspect="1"/>
            </p:cNvGraphicFramePr>
            <p:nvPr/>
          </p:nvGraphicFramePr>
          <p:xfrm>
            <a:off x="3073" y="2218"/>
            <a:ext cx="2421" cy="1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529" name="Équation" r:id="rId8" imgW="2501900" imgH="228600" progId="Equation.3">
                    <p:embed/>
                  </p:oleObj>
                </mc:Choice>
                <mc:Fallback>
                  <p:oleObj name="Équation" r:id="rId8" imgW="2501900" imgH="22860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3" y="2218"/>
                          <a:ext cx="2421" cy="1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492" name="Line 10"/>
            <p:cNvSpPr>
              <a:spLocks noChangeShapeType="1"/>
            </p:cNvSpPr>
            <p:nvPr/>
          </p:nvSpPr>
          <p:spPr bwMode="auto">
            <a:xfrm>
              <a:off x="3600" y="1344"/>
              <a:ext cx="528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76493" name="Text Box 12"/>
            <p:cNvSpPr txBox="1">
              <a:spLocks noChangeArrowheads="1"/>
            </p:cNvSpPr>
            <p:nvPr/>
          </p:nvSpPr>
          <p:spPr bwMode="auto">
            <a:xfrm>
              <a:off x="3792" y="148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Arial Narrow" panose="020B0606020202030204" pitchFamily="34" charset="0"/>
                </a:rPr>
                <a:t>d</a:t>
              </a:r>
            </a:p>
          </p:txBody>
        </p:sp>
      </p:grpSp>
      <p:sp>
        <p:nvSpPr>
          <p:cNvPr id="21521" name="Text Box 17"/>
          <p:cNvSpPr txBox="1">
            <a:spLocks noChangeArrowheads="1"/>
          </p:cNvSpPr>
          <p:nvPr/>
        </p:nvSpPr>
        <p:spPr bwMode="auto">
          <a:xfrm>
            <a:off x="1828800" y="4191000"/>
            <a:ext cx="59928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Il y a un couplage entre i</a:t>
            </a:r>
            <a:r>
              <a:rPr lang="en-US" altLang="fr-FR" sz="2400" baseline="-25000">
                <a:latin typeface="Arial Narrow" panose="020B0606020202030204" pitchFamily="34" charset="0"/>
              </a:rPr>
              <a:t>qs</a:t>
            </a:r>
            <a:r>
              <a:rPr lang="en-US" altLang="fr-FR" sz="2400">
                <a:latin typeface="Arial Narrow" panose="020B0606020202030204" pitchFamily="34" charset="0"/>
              </a:rPr>
              <a:t> et </a:t>
            </a:r>
            <a:r>
              <a:rPr lang="en-US" altLang="fr-FR" sz="2400">
                <a:latin typeface="Arial Narrow" panose="020B0606020202030204" pitchFamily="34" charset="0"/>
                <a:sym typeface="Symbol" panose="05050102010706020507" pitchFamily="18" charset="2"/>
              </a:rPr>
              <a:t></a:t>
            </a:r>
            <a:r>
              <a:rPr lang="en-US" altLang="fr-FR" sz="2400" baseline="-25000">
                <a:latin typeface="Arial Narrow" panose="020B0606020202030204" pitchFamily="34" charset="0"/>
                <a:sym typeface="Symbol" panose="05050102010706020507" pitchFamily="18" charset="2"/>
              </a:rPr>
              <a:t>s</a:t>
            </a:r>
            <a:r>
              <a:rPr lang="en-US" altLang="fr-FR" sz="2400">
                <a:latin typeface="Arial Narrow" panose="020B0606020202030204" pitchFamily="34" charset="0"/>
              </a:rPr>
              <a:t> </a:t>
            </a:r>
          </a:p>
        </p:txBody>
      </p:sp>
      <p:sp>
        <p:nvSpPr>
          <p:cNvPr id="21522" name="Text Box 18"/>
          <p:cNvSpPr txBox="1">
            <a:spLocks noChangeArrowheads="1"/>
          </p:cNvSpPr>
          <p:nvPr/>
        </p:nvSpPr>
        <p:spPr bwMode="auto">
          <a:xfrm>
            <a:off x="2362200" y="4724400"/>
            <a:ext cx="6080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  <a:sym typeface="Symbol" panose="05050102010706020507" pitchFamily="18" charset="2"/>
              </a:rPr>
              <a:t> Toute variation de i</a:t>
            </a:r>
            <a:r>
              <a:rPr lang="en-US" altLang="fr-FR" sz="2400" baseline="-25000">
                <a:latin typeface="Arial Narrow" panose="020B0606020202030204" pitchFamily="34" charset="0"/>
                <a:sym typeface="Symbol" panose="05050102010706020507" pitchFamily="18" charset="2"/>
              </a:rPr>
              <a:t>sq</a:t>
            </a:r>
            <a:r>
              <a:rPr lang="en-US" altLang="fr-FR" sz="2400">
                <a:latin typeface="Arial Narrow" panose="020B0606020202030204" pitchFamily="34" charset="0"/>
                <a:sym typeface="Symbol" panose="05050102010706020507" pitchFamily="18" charset="2"/>
              </a:rPr>
              <a:t> crée une variation de </a:t>
            </a:r>
            <a:r>
              <a:rPr lang="en-US" altLang="fr-FR" sz="2400" baseline="-25000">
                <a:latin typeface="Arial Narrow" panose="020B0606020202030204" pitchFamily="34" charset="0"/>
                <a:sym typeface="Symbol" panose="05050102010706020507" pitchFamily="18" charset="2"/>
              </a:rPr>
              <a:t>s</a:t>
            </a:r>
            <a:endParaRPr lang="en-US" altLang="fr-FR" sz="2400">
              <a:latin typeface="Arial Narrow" panose="020B0606020202030204" pitchFamily="34" charset="0"/>
              <a:sym typeface="Symbol" panose="05050102010706020507" pitchFamily="18" charset="2"/>
            </a:endParaRPr>
          </a:p>
        </p:txBody>
      </p:sp>
      <p:sp>
        <p:nvSpPr>
          <p:cNvPr id="276488" name="Rectangle 4"/>
          <p:cNvSpPr>
            <a:spLocks noChangeArrowheads="1"/>
          </p:cNvSpPr>
          <p:nvPr/>
        </p:nvSpPr>
        <p:spPr bwMode="auto">
          <a:xfrm>
            <a:off x="357188" y="257175"/>
            <a:ext cx="8429625" cy="6254750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76489" name="Espace réservé du numéro de diapositive 1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1FDD8D6-281B-4583-B88A-D5E1F52352E0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16" name="Espace réservé du pied de page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66667E-6 7.40741E-7 L 6.66667E-6 -0.53333 " pathEditMode="relative" ptsTypes="AA">
                                      <p:cBhvr>
                                        <p:cTn id="6" dur="500" fill="hold"/>
                                        <p:tgtEl>
                                          <p:spTgt spid="215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1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1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21" grpId="0"/>
      <p:bldP spid="2152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1143000" y="1143000"/>
            <a:ext cx="701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fr-FR" sz="2400">
                <a:latin typeface="Arial Narrow" panose="020B0606020202030204" pitchFamily="34" charset="0"/>
              </a:rPr>
              <a:t>Comment estimer le flux statorique?</a:t>
            </a:r>
          </a:p>
        </p:txBody>
      </p:sp>
      <p:sp>
        <p:nvSpPr>
          <p:cNvPr id="278531" name="Text Box 3"/>
          <p:cNvSpPr txBox="1">
            <a:spLocks noChangeArrowheads="1"/>
          </p:cNvSpPr>
          <p:nvPr/>
        </p:nvSpPr>
        <p:spPr bwMode="auto">
          <a:xfrm>
            <a:off x="2667000" y="457200"/>
            <a:ext cx="59578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 b="1">
                <a:latin typeface="Arial Narrow" panose="020B0606020202030204" pitchFamily="34" charset="0"/>
              </a:rPr>
              <a:t>Commande directe à flux statorique orienté</a:t>
            </a:r>
          </a:p>
        </p:txBody>
      </p:sp>
      <p:graphicFrame>
        <p:nvGraphicFramePr>
          <p:cNvPr id="13342" name="Object 2"/>
          <p:cNvGraphicFramePr>
            <a:graphicFrameLocks noChangeAspect="1"/>
          </p:cNvGraphicFramePr>
          <p:nvPr/>
        </p:nvGraphicFramePr>
        <p:xfrm>
          <a:off x="3276600" y="2362200"/>
          <a:ext cx="2438400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548" name="Equation" r:id="rId4" imgW="1155199" imgH="355446" progId="Equation.3">
                  <p:embed/>
                </p:oleObj>
              </mc:Choice>
              <mc:Fallback>
                <p:oleObj name="Equation" r:id="rId4" imgW="1155199" imgH="355446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2362200"/>
                        <a:ext cx="2438400" cy="75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43" name="Text Box 31"/>
          <p:cNvSpPr txBox="1">
            <a:spLocks noChangeArrowheads="1"/>
          </p:cNvSpPr>
          <p:nvPr/>
        </p:nvSpPr>
        <p:spPr bwMode="auto">
          <a:xfrm>
            <a:off x="3048000" y="3429000"/>
            <a:ext cx="37512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Seulement R</a:t>
            </a:r>
            <a:r>
              <a:rPr lang="en-US" altLang="fr-FR" sz="2400" baseline="-25000">
                <a:latin typeface="Arial Narrow" panose="020B0606020202030204" pitchFamily="34" charset="0"/>
              </a:rPr>
              <a:t>s</a:t>
            </a:r>
            <a:r>
              <a:rPr lang="en-US" altLang="fr-FR" sz="2400">
                <a:latin typeface="Arial Narrow" panose="020B0606020202030204" pitchFamily="34" charset="0"/>
              </a:rPr>
              <a:t> est demandée  !</a:t>
            </a:r>
            <a:r>
              <a:rPr lang="en-US" altLang="fr-FR" sz="2000">
                <a:latin typeface="Arial Narrow" panose="020B0606020202030204" pitchFamily="34" charset="0"/>
              </a:rPr>
              <a:t> </a:t>
            </a:r>
          </a:p>
        </p:txBody>
      </p:sp>
      <p:sp>
        <p:nvSpPr>
          <p:cNvPr id="13346" name="Text Box 34"/>
          <p:cNvSpPr txBox="1">
            <a:spLocks noChangeArrowheads="1"/>
          </p:cNvSpPr>
          <p:nvPr/>
        </p:nvSpPr>
        <p:spPr bwMode="auto">
          <a:xfrm>
            <a:off x="2514600" y="4343400"/>
            <a:ext cx="4114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fr-FR" sz="2400">
                <a:latin typeface="Arial Narrow" panose="020B0606020202030204" pitchFamily="34" charset="0"/>
              </a:rPr>
              <a:t> v</a:t>
            </a:r>
            <a:r>
              <a:rPr lang="en-US" altLang="fr-FR" sz="2400" baseline="-25000">
                <a:latin typeface="Arial Narrow" panose="020B0606020202030204" pitchFamily="34" charset="0"/>
              </a:rPr>
              <a:t>s</a:t>
            </a:r>
            <a:r>
              <a:rPr lang="en-US" altLang="fr-FR" sz="2400">
                <a:latin typeface="Arial Narrow" panose="020B0606020202030204" pitchFamily="34" charset="0"/>
              </a:rPr>
              <a:t> et i</a:t>
            </a:r>
            <a:r>
              <a:rPr lang="en-US" altLang="fr-FR" sz="2400" baseline="-25000">
                <a:latin typeface="Arial Narrow" panose="020B0606020202030204" pitchFamily="34" charset="0"/>
              </a:rPr>
              <a:t>s</a:t>
            </a:r>
            <a:r>
              <a:rPr lang="en-US" altLang="fr-FR" sz="2400">
                <a:latin typeface="Arial Narrow" panose="020B0606020202030204" pitchFamily="34" charset="0"/>
              </a:rPr>
              <a:t> sont mésurés</a:t>
            </a:r>
          </a:p>
        </p:txBody>
      </p:sp>
      <p:sp>
        <p:nvSpPr>
          <p:cNvPr id="278535" name="Rectangle 4"/>
          <p:cNvSpPr>
            <a:spLocks noChangeArrowheads="1"/>
          </p:cNvSpPr>
          <p:nvPr/>
        </p:nvSpPr>
        <p:spPr bwMode="auto">
          <a:xfrm>
            <a:off x="357188" y="257175"/>
            <a:ext cx="8429625" cy="6254750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78536" name="Espace réservé du numéro de diapositive 7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64029C0-1356-42B8-9C0F-EFB51FA2F8CA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9" name="Espace réservé du pied de page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3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3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  <p:bldP spid="13343" grpId="0"/>
      <p:bldP spid="1334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78" name="Text Box 2"/>
          <p:cNvSpPr txBox="1">
            <a:spLocks noChangeArrowheads="1"/>
          </p:cNvSpPr>
          <p:nvPr/>
        </p:nvSpPr>
        <p:spPr bwMode="auto">
          <a:xfrm>
            <a:off x="1143000" y="1143000"/>
            <a:ext cx="701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fr-FR" sz="2400">
                <a:latin typeface="Arial Narrow" panose="020B0606020202030204" pitchFamily="34" charset="0"/>
              </a:rPr>
              <a:t>Comment estimer le flux statorique?</a:t>
            </a:r>
          </a:p>
        </p:txBody>
      </p:sp>
      <p:sp>
        <p:nvSpPr>
          <p:cNvPr id="280579" name="Text Box 3"/>
          <p:cNvSpPr txBox="1">
            <a:spLocks noChangeArrowheads="1"/>
          </p:cNvSpPr>
          <p:nvPr/>
        </p:nvSpPr>
        <p:spPr bwMode="auto">
          <a:xfrm>
            <a:off x="2667000" y="457200"/>
            <a:ext cx="53927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 b="1">
                <a:latin typeface="Arial Narrow" panose="020B0606020202030204" pitchFamily="34" charset="0"/>
              </a:rPr>
              <a:t>Commande directe à flux statorique orienté</a:t>
            </a:r>
          </a:p>
        </p:txBody>
      </p:sp>
      <p:grpSp>
        <p:nvGrpSpPr>
          <p:cNvPr id="2" name="Group 42"/>
          <p:cNvGrpSpPr>
            <a:grpSpLocks/>
          </p:cNvGrpSpPr>
          <p:nvPr/>
        </p:nvGrpSpPr>
        <p:grpSpPr bwMode="auto">
          <a:xfrm>
            <a:off x="2019300" y="1603375"/>
            <a:ext cx="5432425" cy="1981200"/>
            <a:chOff x="1152" y="2880"/>
            <a:chExt cx="2928" cy="1248"/>
          </a:xfrm>
        </p:grpSpPr>
        <p:sp>
          <p:nvSpPr>
            <p:cNvPr id="280587" name="Oval 43"/>
            <p:cNvSpPr>
              <a:spLocks noChangeArrowheads="1"/>
            </p:cNvSpPr>
            <p:nvPr/>
          </p:nvSpPr>
          <p:spPr bwMode="auto">
            <a:xfrm>
              <a:off x="2016" y="3024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80588" name="Oval 44"/>
            <p:cNvSpPr>
              <a:spLocks noChangeArrowheads="1"/>
            </p:cNvSpPr>
            <p:nvPr/>
          </p:nvSpPr>
          <p:spPr bwMode="auto">
            <a:xfrm>
              <a:off x="2352" y="3840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80589" name="Line 45"/>
            <p:cNvSpPr>
              <a:spLocks noChangeShapeType="1"/>
            </p:cNvSpPr>
            <p:nvPr/>
          </p:nvSpPr>
          <p:spPr bwMode="auto">
            <a:xfrm>
              <a:off x="1584" y="3120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0590" name="Line 46"/>
            <p:cNvSpPr>
              <a:spLocks noChangeShapeType="1"/>
            </p:cNvSpPr>
            <p:nvPr/>
          </p:nvSpPr>
          <p:spPr bwMode="auto">
            <a:xfrm>
              <a:off x="1632" y="3936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0591" name="Rectangle 47"/>
            <p:cNvSpPr>
              <a:spLocks noChangeArrowheads="1"/>
            </p:cNvSpPr>
            <p:nvPr/>
          </p:nvSpPr>
          <p:spPr bwMode="auto">
            <a:xfrm>
              <a:off x="1632" y="3312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80592" name="Rectangle 48"/>
            <p:cNvSpPr>
              <a:spLocks noChangeArrowheads="1"/>
            </p:cNvSpPr>
            <p:nvPr/>
          </p:nvSpPr>
          <p:spPr bwMode="auto">
            <a:xfrm>
              <a:off x="2064" y="3600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80593" name="Line 49"/>
            <p:cNvSpPr>
              <a:spLocks noChangeShapeType="1"/>
            </p:cNvSpPr>
            <p:nvPr/>
          </p:nvSpPr>
          <p:spPr bwMode="auto">
            <a:xfrm>
              <a:off x="1344" y="3408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0594" name="Line 50"/>
            <p:cNvSpPr>
              <a:spLocks noChangeShapeType="1"/>
            </p:cNvSpPr>
            <p:nvPr/>
          </p:nvSpPr>
          <p:spPr bwMode="auto">
            <a:xfrm>
              <a:off x="1584" y="3696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0595" name="Line 51"/>
            <p:cNvSpPr>
              <a:spLocks noChangeShapeType="1"/>
            </p:cNvSpPr>
            <p:nvPr/>
          </p:nvSpPr>
          <p:spPr bwMode="auto">
            <a:xfrm>
              <a:off x="1872" y="340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0596" name="Line 52"/>
            <p:cNvSpPr>
              <a:spLocks noChangeShapeType="1"/>
            </p:cNvSpPr>
            <p:nvPr/>
          </p:nvSpPr>
          <p:spPr bwMode="auto">
            <a:xfrm flipV="1">
              <a:off x="2112" y="321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0597" name="Line 53"/>
            <p:cNvSpPr>
              <a:spLocks noChangeShapeType="1"/>
            </p:cNvSpPr>
            <p:nvPr/>
          </p:nvSpPr>
          <p:spPr bwMode="auto">
            <a:xfrm>
              <a:off x="2304" y="3696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0598" name="Line 54"/>
            <p:cNvSpPr>
              <a:spLocks noChangeShapeType="1"/>
            </p:cNvSpPr>
            <p:nvPr/>
          </p:nvSpPr>
          <p:spPr bwMode="auto">
            <a:xfrm>
              <a:off x="2448" y="369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pSp>
          <p:nvGrpSpPr>
            <p:cNvPr id="280599" name="Group 55"/>
            <p:cNvGrpSpPr>
              <a:grpSpLocks/>
            </p:cNvGrpSpPr>
            <p:nvPr/>
          </p:nvGrpSpPr>
          <p:grpSpPr bwMode="auto">
            <a:xfrm>
              <a:off x="2928" y="2928"/>
              <a:ext cx="288" cy="384"/>
              <a:chOff x="2592" y="2832"/>
              <a:chExt cx="288" cy="384"/>
            </a:xfrm>
          </p:grpSpPr>
          <p:sp>
            <p:nvSpPr>
              <p:cNvPr id="280619" name="Rectangle 56"/>
              <p:cNvSpPr>
                <a:spLocks noChangeArrowheads="1"/>
              </p:cNvSpPr>
              <p:nvPr/>
            </p:nvSpPr>
            <p:spPr bwMode="auto">
              <a:xfrm>
                <a:off x="2592" y="2832"/>
                <a:ext cx="288" cy="38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graphicFrame>
            <p:nvGraphicFramePr>
              <p:cNvPr id="280620" name="Object 3"/>
              <p:cNvGraphicFramePr>
                <a:graphicFrameLocks noChangeAspect="1"/>
              </p:cNvGraphicFramePr>
              <p:nvPr/>
            </p:nvGraphicFramePr>
            <p:xfrm>
              <a:off x="2640" y="2832"/>
              <a:ext cx="233" cy="3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0641" name="Equation" r:id="rId4" imgW="215713" imgH="355292" progId="Equation.3">
                      <p:embed/>
                    </p:oleObj>
                  </mc:Choice>
                  <mc:Fallback>
                    <p:oleObj name="Equation" r:id="rId4" imgW="215713" imgH="355292" progId="Equation.3">
                      <p:embed/>
                      <p:pic>
                        <p:nvPicPr>
                          <p:cNvPr id="0" name="Object 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40" y="2832"/>
                            <a:ext cx="233" cy="3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80600" name="Group 58"/>
            <p:cNvGrpSpPr>
              <a:grpSpLocks/>
            </p:cNvGrpSpPr>
            <p:nvPr/>
          </p:nvGrpSpPr>
          <p:grpSpPr bwMode="auto">
            <a:xfrm>
              <a:off x="2928" y="3744"/>
              <a:ext cx="288" cy="384"/>
              <a:chOff x="2592" y="2832"/>
              <a:chExt cx="288" cy="384"/>
            </a:xfrm>
          </p:grpSpPr>
          <p:sp>
            <p:nvSpPr>
              <p:cNvPr id="280617" name="Rectangle 59"/>
              <p:cNvSpPr>
                <a:spLocks noChangeArrowheads="1"/>
              </p:cNvSpPr>
              <p:nvPr/>
            </p:nvSpPr>
            <p:spPr bwMode="auto">
              <a:xfrm>
                <a:off x="2592" y="2832"/>
                <a:ext cx="288" cy="38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graphicFrame>
            <p:nvGraphicFramePr>
              <p:cNvPr id="280618" name="Object 2"/>
              <p:cNvGraphicFramePr>
                <a:graphicFrameLocks noChangeAspect="1"/>
              </p:cNvGraphicFramePr>
              <p:nvPr/>
            </p:nvGraphicFramePr>
            <p:xfrm>
              <a:off x="2640" y="2832"/>
              <a:ext cx="233" cy="3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0642" name="Equation" r:id="rId6" imgW="215713" imgH="355292" progId="Equation.3">
                      <p:embed/>
                    </p:oleObj>
                  </mc:Choice>
                  <mc:Fallback>
                    <p:oleObj name="Equation" r:id="rId6" imgW="215713" imgH="355292" progId="Equation.3">
                      <p:embed/>
                      <p:pic>
                        <p:nvPicPr>
                          <p:cNvPr id="0" name="Object 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40" y="2832"/>
                            <a:ext cx="233" cy="3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80601" name="Line 61"/>
            <p:cNvSpPr>
              <a:spLocks noChangeShapeType="1"/>
            </p:cNvSpPr>
            <p:nvPr/>
          </p:nvSpPr>
          <p:spPr bwMode="auto">
            <a:xfrm>
              <a:off x="2208" y="3120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0602" name="Line 62"/>
            <p:cNvSpPr>
              <a:spLocks noChangeShapeType="1"/>
            </p:cNvSpPr>
            <p:nvPr/>
          </p:nvSpPr>
          <p:spPr bwMode="auto">
            <a:xfrm>
              <a:off x="2544" y="3936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0603" name="Line 63"/>
            <p:cNvSpPr>
              <a:spLocks noChangeShapeType="1"/>
            </p:cNvSpPr>
            <p:nvPr/>
          </p:nvSpPr>
          <p:spPr bwMode="auto">
            <a:xfrm>
              <a:off x="3216" y="3120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0604" name="Line 64"/>
            <p:cNvSpPr>
              <a:spLocks noChangeShapeType="1"/>
            </p:cNvSpPr>
            <p:nvPr/>
          </p:nvSpPr>
          <p:spPr bwMode="auto">
            <a:xfrm>
              <a:off x="3216" y="3936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0605" name="Text Box 65"/>
            <p:cNvSpPr txBox="1">
              <a:spLocks noChangeArrowheads="1"/>
            </p:cNvSpPr>
            <p:nvPr/>
          </p:nvSpPr>
          <p:spPr bwMode="auto">
            <a:xfrm>
              <a:off x="1344" y="2880"/>
              <a:ext cx="24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Arial Narrow" panose="020B0606020202030204" pitchFamily="34" charset="0"/>
                </a:rPr>
                <a:t>v</a:t>
              </a:r>
              <a:r>
                <a:rPr lang="en-US" altLang="fr-FR" sz="2400" baseline="-25000">
                  <a:latin typeface="Arial Narrow" panose="020B0606020202030204" pitchFamily="34" charset="0"/>
                </a:rPr>
                <a:t>d</a:t>
              </a:r>
            </a:p>
          </p:txBody>
        </p:sp>
        <p:sp>
          <p:nvSpPr>
            <p:cNvPr id="280606" name="Text Box 66"/>
            <p:cNvSpPr txBox="1">
              <a:spLocks noChangeArrowheads="1"/>
            </p:cNvSpPr>
            <p:nvPr/>
          </p:nvSpPr>
          <p:spPr bwMode="auto">
            <a:xfrm>
              <a:off x="1344" y="3552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Arial Narrow" panose="020B0606020202030204" pitchFamily="34" charset="0"/>
                </a:rPr>
                <a:t>i</a:t>
              </a:r>
              <a:r>
                <a:rPr lang="en-US" altLang="fr-FR" sz="2400" baseline="-25000">
                  <a:latin typeface="Arial Narrow" panose="020B0606020202030204" pitchFamily="34" charset="0"/>
                </a:rPr>
                <a:t>q</a:t>
              </a:r>
            </a:p>
          </p:txBody>
        </p:sp>
        <p:sp>
          <p:nvSpPr>
            <p:cNvPr id="280607" name="Text Box 67"/>
            <p:cNvSpPr txBox="1">
              <a:spLocks noChangeArrowheads="1"/>
            </p:cNvSpPr>
            <p:nvPr/>
          </p:nvSpPr>
          <p:spPr bwMode="auto">
            <a:xfrm>
              <a:off x="1392" y="3792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Arial Narrow" panose="020B0606020202030204" pitchFamily="34" charset="0"/>
                </a:rPr>
                <a:t>v</a:t>
              </a:r>
              <a:r>
                <a:rPr lang="en-US" altLang="fr-FR" sz="2400" baseline="-25000">
                  <a:latin typeface="Arial Narrow" panose="020B0606020202030204" pitchFamily="34" charset="0"/>
                </a:rPr>
                <a:t>q</a:t>
              </a:r>
            </a:p>
          </p:txBody>
        </p:sp>
        <p:sp>
          <p:nvSpPr>
            <p:cNvPr id="280608" name="Text Box 68"/>
            <p:cNvSpPr txBox="1">
              <a:spLocks noChangeArrowheads="1"/>
            </p:cNvSpPr>
            <p:nvPr/>
          </p:nvSpPr>
          <p:spPr bwMode="auto">
            <a:xfrm>
              <a:off x="1152" y="3264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Arial Narrow" panose="020B0606020202030204" pitchFamily="34" charset="0"/>
                </a:rPr>
                <a:t>i</a:t>
              </a:r>
              <a:r>
                <a:rPr lang="en-US" altLang="fr-FR" sz="2400" baseline="-25000">
                  <a:latin typeface="Arial Narrow" panose="020B0606020202030204" pitchFamily="34" charset="0"/>
                </a:rPr>
                <a:t>d</a:t>
              </a:r>
            </a:p>
          </p:txBody>
        </p:sp>
        <p:sp>
          <p:nvSpPr>
            <p:cNvPr id="280609" name="Text Box 69"/>
            <p:cNvSpPr txBox="1">
              <a:spLocks noChangeArrowheads="1"/>
            </p:cNvSpPr>
            <p:nvPr/>
          </p:nvSpPr>
          <p:spPr bwMode="auto">
            <a:xfrm>
              <a:off x="1632" y="3264"/>
              <a:ext cx="2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Arial Narrow" panose="020B0606020202030204" pitchFamily="34" charset="0"/>
                </a:rPr>
                <a:t>R</a:t>
              </a:r>
              <a:r>
                <a:rPr lang="en-US" altLang="fr-FR" sz="2400" baseline="-25000">
                  <a:latin typeface="Arial Narrow" panose="020B0606020202030204" pitchFamily="34" charset="0"/>
                </a:rPr>
                <a:t>s</a:t>
              </a:r>
            </a:p>
          </p:txBody>
        </p:sp>
        <p:sp>
          <p:nvSpPr>
            <p:cNvPr id="280610" name="Text Box 70"/>
            <p:cNvSpPr txBox="1">
              <a:spLocks noChangeArrowheads="1"/>
            </p:cNvSpPr>
            <p:nvPr/>
          </p:nvSpPr>
          <p:spPr bwMode="auto">
            <a:xfrm>
              <a:off x="2064" y="3552"/>
              <a:ext cx="2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Arial Narrow" panose="020B0606020202030204" pitchFamily="34" charset="0"/>
                </a:rPr>
                <a:t>R</a:t>
              </a:r>
              <a:r>
                <a:rPr lang="en-US" altLang="fr-FR" sz="2400" baseline="-25000">
                  <a:latin typeface="Arial Narrow" panose="020B0606020202030204" pitchFamily="34" charset="0"/>
                </a:rPr>
                <a:t>s</a:t>
              </a:r>
            </a:p>
          </p:txBody>
        </p:sp>
        <p:sp>
          <p:nvSpPr>
            <p:cNvPr id="280611" name="Text Box 71"/>
            <p:cNvSpPr txBox="1">
              <a:spLocks noChangeArrowheads="1"/>
            </p:cNvSpPr>
            <p:nvPr/>
          </p:nvSpPr>
          <p:spPr bwMode="auto">
            <a:xfrm>
              <a:off x="1824" y="2928"/>
              <a:ext cx="2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Arial Narrow" panose="020B0606020202030204" pitchFamily="34" charset="0"/>
                </a:rPr>
                <a:t>+</a:t>
              </a:r>
            </a:p>
          </p:txBody>
        </p:sp>
        <p:sp>
          <p:nvSpPr>
            <p:cNvPr id="280612" name="Text Box 72"/>
            <p:cNvSpPr txBox="1">
              <a:spLocks noChangeArrowheads="1"/>
            </p:cNvSpPr>
            <p:nvPr/>
          </p:nvSpPr>
          <p:spPr bwMode="auto">
            <a:xfrm>
              <a:off x="2112" y="3120"/>
              <a:ext cx="19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Arial Narrow" panose="020B0606020202030204" pitchFamily="34" charset="0"/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280613" name="Text Box 73"/>
            <p:cNvSpPr txBox="1">
              <a:spLocks noChangeArrowheads="1"/>
            </p:cNvSpPr>
            <p:nvPr/>
          </p:nvSpPr>
          <p:spPr bwMode="auto">
            <a:xfrm>
              <a:off x="2208" y="3897"/>
              <a:ext cx="2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Arial Narrow" panose="020B0606020202030204" pitchFamily="34" charset="0"/>
                </a:rPr>
                <a:t>+</a:t>
              </a:r>
            </a:p>
          </p:txBody>
        </p:sp>
        <p:sp>
          <p:nvSpPr>
            <p:cNvPr id="280614" name="Text Box 74"/>
            <p:cNvSpPr txBox="1">
              <a:spLocks noChangeArrowheads="1"/>
            </p:cNvSpPr>
            <p:nvPr/>
          </p:nvSpPr>
          <p:spPr bwMode="auto">
            <a:xfrm>
              <a:off x="2448" y="3648"/>
              <a:ext cx="19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Arial Narrow" panose="020B0606020202030204" pitchFamily="34" charset="0"/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280615" name="Text Box 75"/>
            <p:cNvSpPr txBox="1">
              <a:spLocks noChangeArrowheads="1"/>
            </p:cNvSpPr>
            <p:nvPr/>
          </p:nvSpPr>
          <p:spPr bwMode="auto">
            <a:xfrm>
              <a:off x="3744" y="2926"/>
              <a:ext cx="31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Arial Narrow" panose="020B0606020202030204" pitchFamily="34" charset="0"/>
                  <a:sym typeface="Symbol" panose="05050102010706020507" pitchFamily="18" charset="2"/>
                </a:rPr>
                <a:t></a:t>
              </a:r>
              <a:r>
                <a:rPr lang="en-US" altLang="fr-FR" sz="2400" baseline="-25000">
                  <a:latin typeface="Arial Narrow" panose="020B0606020202030204" pitchFamily="34" charset="0"/>
                </a:rPr>
                <a:t>d</a:t>
              </a:r>
            </a:p>
          </p:txBody>
        </p:sp>
        <p:sp>
          <p:nvSpPr>
            <p:cNvPr id="280616" name="Text Box 76"/>
            <p:cNvSpPr txBox="1">
              <a:spLocks noChangeArrowheads="1"/>
            </p:cNvSpPr>
            <p:nvPr/>
          </p:nvSpPr>
          <p:spPr bwMode="auto">
            <a:xfrm>
              <a:off x="3744" y="3792"/>
              <a:ext cx="3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Arial Narrow" panose="020B0606020202030204" pitchFamily="34" charset="0"/>
                  <a:sym typeface="Symbol" panose="05050102010706020507" pitchFamily="18" charset="2"/>
                </a:rPr>
                <a:t></a:t>
              </a:r>
              <a:r>
                <a:rPr lang="en-US" altLang="fr-FR" sz="2400" baseline="-25000">
                  <a:latin typeface="Arial Narrow" panose="020B0606020202030204" pitchFamily="34" charset="0"/>
                </a:rPr>
                <a:t>q</a:t>
              </a:r>
            </a:p>
          </p:txBody>
        </p:sp>
      </p:grpSp>
      <p:sp>
        <p:nvSpPr>
          <p:cNvPr id="15437" name="Text Box 77"/>
          <p:cNvSpPr txBox="1">
            <a:spLocks noChangeArrowheads="1"/>
          </p:cNvSpPr>
          <p:nvPr/>
        </p:nvSpPr>
        <p:spPr bwMode="auto">
          <a:xfrm>
            <a:off x="1219200" y="4191000"/>
            <a:ext cx="419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Cependant, dans la pratique …….</a:t>
            </a:r>
          </a:p>
        </p:txBody>
      </p:sp>
      <p:sp>
        <p:nvSpPr>
          <p:cNvPr id="15438" name="Text Box 78"/>
          <p:cNvSpPr txBox="1">
            <a:spLocks noChangeArrowheads="1"/>
          </p:cNvSpPr>
          <p:nvPr/>
        </p:nvSpPr>
        <p:spPr bwMode="auto">
          <a:xfrm>
            <a:off x="1828800" y="4572000"/>
            <a:ext cx="5029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000">
                <a:latin typeface="Arial Narrow" panose="020B0606020202030204" pitchFamily="34" charset="0"/>
              </a:rPr>
              <a:t>DC offset – produit la saturation de l’intégrateur</a:t>
            </a:r>
          </a:p>
        </p:txBody>
      </p:sp>
      <p:sp>
        <p:nvSpPr>
          <p:cNvPr id="15439" name="Text Box 79"/>
          <p:cNvSpPr txBox="1">
            <a:spLocks noChangeArrowheads="1"/>
          </p:cNvSpPr>
          <p:nvPr/>
        </p:nvSpPr>
        <p:spPr bwMode="auto">
          <a:xfrm>
            <a:off x="1828800" y="5029200"/>
            <a:ext cx="5029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000">
                <a:latin typeface="Arial Narrow" panose="020B0606020202030204" pitchFamily="34" charset="0"/>
              </a:rPr>
              <a:t>Utiliser un filtre PB plutôt qu’un intégrateur pur</a:t>
            </a:r>
          </a:p>
        </p:txBody>
      </p:sp>
      <p:sp>
        <p:nvSpPr>
          <p:cNvPr id="280584" name="Rectangle 4"/>
          <p:cNvSpPr>
            <a:spLocks noChangeArrowheads="1"/>
          </p:cNvSpPr>
          <p:nvPr/>
        </p:nvSpPr>
        <p:spPr bwMode="auto">
          <a:xfrm>
            <a:off x="357188" y="257175"/>
            <a:ext cx="8429625" cy="6254750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80585" name="Espace réservé du numéro de diapositive 4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5419C18-722B-460B-AA2E-D2217224046A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45" name="Espace réservé du pied de page 4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5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5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5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37" grpId="0"/>
      <p:bldP spid="15438" grpId="0"/>
      <p:bldP spid="1543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9"/>
          <p:cNvGrpSpPr>
            <a:grpSpLocks/>
          </p:cNvGrpSpPr>
          <p:nvPr/>
        </p:nvGrpSpPr>
        <p:grpSpPr bwMode="auto">
          <a:xfrm>
            <a:off x="690563" y="1447800"/>
            <a:ext cx="7391400" cy="3060700"/>
            <a:chOff x="435" y="912"/>
            <a:chExt cx="4656" cy="1928"/>
          </a:xfrm>
        </p:grpSpPr>
        <p:sp>
          <p:nvSpPr>
            <p:cNvPr id="282645" name="Oval 5"/>
            <p:cNvSpPr>
              <a:spLocks noChangeAspect="1" noChangeArrowheads="1"/>
            </p:cNvSpPr>
            <p:nvPr/>
          </p:nvSpPr>
          <p:spPr bwMode="auto">
            <a:xfrm>
              <a:off x="4599" y="1330"/>
              <a:ext cx="492" cy="47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82646" name="Rectangle 6"/>
            <p:cNvSpPr>
              <a:spLocks noChangeAspect="1" noChangeArrowheads="1"/>
            </p:cNvSpPr>
            <p:nvPr/>
          </p:nvSpPr>
          <p:spPr bwMode="auto">
            <a:xfrm>
              <a:off x="3511" y="1063"/>
              <a:ext cx="569" cy="89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82647" name="Rectangle 7"/>
            <p:cNvSpPr>
              <a:spLocks noChangeAspect="1" noChangeArrowheads="1"/>
            </p:cNvSpPr>
            <p:nvPr/>
          </p:nvSpPr>
          <p:spPr bwMode="auto">
            <a:xfrm>
              <a:off x="2640" y="1056"/>
              <a:ext cx="569" cy="89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82648" name="Line 9"/>
            <p:cNvSpPr>
              <a:spLocks noChangeAspect="1" noChangeShapeType="1"/>
            </p:cNvSpPr>
            <p:nvPr/>
          </p:nvSpPr>
          <p:spPr bwMode="auto">
            <a:xfrm>
              <a:off x="1467" y="1154"/>
              <a:ext cx="116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2649" name="Rectangle 10"/>
            <p:cNvSpPr>
              <a:spLocks noChangeAspect="1" noChangeArrowheads="1"/>
            </p:cNvSpPr>
            <p:nvPr/>
          </p:nvSpPr>
          <p:spPr bwMode="auto">
            <a:xfrm>
              <a:off x="1502" y="1682"/>
              <a:ext cx="562" cy="30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82650" name="Line 12"/>
            <p:cNvSpPr>
              <a:spLocks noChangeAspect="1" noChangeShapeType="1"/>
            </p:cNvSpPr>
            <p:nvPr/>
          </p:nvSpPr>
          <p:spPr bwMode="auto">
            <a:xfrm>
              <a:off x="4080" y="1555"/>
              <a:ext cx="51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2651" name="Line 13"/>
            <p:cNvSpPr>
              <a:spLocks noChangeAspect="1" noChangeShapeType="1"/>
            </p:cNvSpPr>
            <p:nvPr/>
          </p:nvSpPr>
          <p:spPr bwMode="auto">
            <a:xfrm>
              <a:off x="4080" y="1239"/>
              <a:ext cx="540" cy="2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2652" name="Line 14"/>
            <p:cNvSpPr>
              <a:spLocks noChangeAspect="1" noChangeShapeType="1"/>
            </p:cNvSpPr>
            <p:nvPr/>
          </p:nvSpPr>
          <p:spPr bwMode="auto">
            <a:xfrm flipV="1">
              <a:off x="4073" y="1674"/>
              <a:ext cx="547" cy="17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2653" name="Line 15"/>
            <p:cNvSpPr>
              <a:spLocks noChangeAspect="1" noChangeShapeType="1"/>
            </p:cNvSpPr>
            <p:nvPr/>
          </p:nvSpPr>
          <p:spPr bwMode="auto">
            <a:xfrm>
              <a:off x="3209" y="1239"/>
              <a:ext cx="29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2654" name="Line 16"/>
            <p:cNvSpPr>
              <a:spLocks noChangeAspect="1" noChangeShapeType="1"/>
            </p:cNvSpPr>
            <p:nvPr/>
          </p:nvSpPr>
          <p:spPr bwMode="auto">
            <a:xfrm>
              <a:off x="3223" y="1499"/>
              <a:ext cx="29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2655" name="Line 17"/>
            <p:cNvSpPr>
              <a:spLocks noChangeAspect="1" noChangeShapeType="1"/>
            </p:cNvSpPr>
            <p:nvPr/>
          </p:nvSpPr>
          <p:spPr bwMode="auto">
            <a:xfrm>
              <a:off x="3223" y="1773"/>
              <a:ext cx="29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2656" name="Line 19"/>
            <p:cNvSpPr>
              <a:spLocks noChangeAspect="1" noChangeShapeType="1"/>
            </p:cNvSpPr>
            <p:nvPr/>
          </p:nvSpPr>
          <p:spPr bwMode="auto">
            <a:xfrm>
              <a:off x="2064" y="1815"/>
              <a:ext cx="57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2657" name="Line 21"/>
            <p:cNvSpPr>
              <a:spLocks noChangeAspect="1" noChangeShapeType="1"/>
            </p:cNvSpPr>
            <p:nvPr/>
          </p:nvSpPr>
          <p:spPr bwMode="auto">
            <a:xfrm>
              <a:off x="653" y="1807"/>
              <a:ext cx="43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2658" name="Line 22"/>
            <p:cNvSpPr>
              <a:spLocks noChangeAspect="1" noChangeShapeType="1"/>
            </p:cNvSpPr>
            <p:nvPr/>
          </p:nvSpPr>
          <p:spPr bwMode="auto">
            <a:xfrm flipV="1">
              <a:off x="1299" y="1302"/>
              <a:ext cx="0" cy="25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2659" name="Line 23"/>
            <p:cNvSpPr>
              <a:spLocks noChangeAspect="1" noChangeShapeType="1"/>
            </p:cNvSpPr>
            <p:nvPr/>
          </p:nvSpPr>
          <p:spPr bwMode="auto">
            <a:xfrm>
              <a:off x="597" y="1147"/>
              <a:ext cx="51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2660" name="Text Box 24"/>
            <p:cNvSpPr txBox="1">
              <a:spLocks noChangeAspect="1" noChangeArrowheads="1"/>
            </p:cNvSpPr>
            <p:nvPr/>
          </p:nvSpPr>
          <p:spPr bwMode="auto">
            <a:xfrm>
              <a:off x="2668" y="1210"/>
              <a:ext cx="541" cy="6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400">
                  <a:latin typeface="Arial Narrow" panose="020B0606020202030204" pitchFamily="34" charset="0"/>
                </a:rPr>
                <a:t>2 </a:t>
              </a:r>
              <a:r>
                <a:rPr lang="en-US" altLang="fr-FR" sz="1400">
                  <a:latin typeface="Arial Narrow" panose="020B0606020202030204" pitchFamily="34" charset="0"/>
                  <a:sym typeface="Symbol" panose="05050102010706020507" pitchFamily="18" charset="2"/>
                </a:rPr>
                <a:t></a:t>
              </a:r>
              <a:r>
                <a:rPr lang="en-US" altLang="fr-FR" sz="1400">
                  <a:latin typeface="Arial Narrow" panose="020B0606020202030204" pitchFamily="34" charset="0"/>
                </a:rPr>
                <a:t> 3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fr-FR" sz="1400">
                <a:latin typeface="Arial Narrow" panose="020B0606020202030204" pitchFamily="34" charset="0"/>
              </a:endParaRP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fr-FR" sz="1400">
                <a:latin typeface="Arial Narrow" panose="020B0606020202030204" pitchFamily="34" charset="0"/>
              </a:endParaRP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400">
                  <a:latin typeface="Arial Narrow" panose="020B0606020202030204" pitchFamily="34" charset="0"/>
                </a:rPr>
                <a:t>e</a:t>
              </a:r>
              <a:r>
                <a:rPr lang="en-US" altLang="fr-FR" sz="1400" baseline="30000">
                  <a:latin typeface="Arial Narrow" panose="020B0606020202030204" pitchFamily="34" charset="0"/>
                </a:rPr>
                <a:t>j</a:t>
              </a:r>
              <a:r>
                <a:rPr lang="en-US" altLang="fr-FR" sz="1400" baseline="30000">
                  <a:latin typeface="Arial Narrow" panose="020B0606020202030204" pitchFamily="34" charset="0"/>
                  <a:sym typeface="Symbol" panose="05050102010706020507" pitchFamily="18" charset="2"/>
                </a:rPr>
                <a:t></a:t>
              </a:r>
              <a:r>
                <a:rPr lang="en-US" altLang="fr-FR" sz="1400" baseline="30000">
                  <a:latin typeface="Arial Narrow" panose="020B0606020202030204" pitchFamily="34" charset="0"/>
                </a:rPr>
                <a:t>s</a:t>
              </a:r>
              <a:endParaRPr lang="en-US" altLang="fr-FR" sz="1400">
                <a:latin typeface="Arial Narrow" panose="020B0606020202030204" pitchFamily="34" charset="0"/>
              </a:endParaRPr>
            </a:p>
          </p:txBody>
        </p:sp>
        <p:sp>
          <p:nvSpPr>
            <p:cNvPr id="282661" name="Text Box 25"/>
            <p:cNvSpPr txBox="1">
              <a:spLocks noChangeAspect="1" noChangeArrowheads="1"/>
            </p:cNvSpPr>
            <p:nvPr/>
          </p:nvSpPr>
          <p:spPr bwMode="auto">
            <a:xfrm>
              <a:off x="480" y="912"/>
              <a:ext cx="351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600">
                  <a:latin typeface="Arial Narrow" panose="020B0606020202030204" pitchFamily="34" charset="0"/>
                </a:rPr>
                <a:t>T</a:t>
              </a:r>
              <a:r>
                <a:rPr lang="en-US" altLang="fr-FR" sz="1600" baseline="-25000">
                  <a:latin typeface="Arial Narrow" panose="020B0606020202030204" pitchFamily="34" charset="0"/>
                </a:rPr>
                <a:t>ref</a:t>
              </a:r>
              <a:endParaRPr lang="en-US" altLang="fr-FR" sz="1600">
                <a:latin typeface="Arial Narrow" panose="020B0606020202030204" pitchFamily="34" charset="0"/>
              </a:endParaRPr>
            </a:p>
          </p:txBody>
        </p:sp>
        <p:sp>
          <p:nvSpPr>
            <p:cNvPr id="282662" name="Text Box 26"/>
            <p:cNvSpPr txBox="1">
              <a:spLocks noChangeAspect="1" noChangeArrowheads="1"/>
            </p:cNvSpPr>
            <p:nvPr/>
          </p:nvSpPr>
          <p:spPr bwMode="auto">
            <a:xfrm>
              <a:off x="435" y="1738"/>
              <a:ext cx="351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Arial Narrow" panose="020B0606020202030204" pitchFamily="34" charset="0"/>
                  <a:sym typeface="Symbol" panose="05050102010706020507" pitchFamily="18" charset="2"/>
                </a:rPr>
                <a:t></a:t>
              </a:r>
              <a:r>
                <a:rPr lang="en-US" altLang="fr-FR" sz="2400" baseline="-25000">
                  <a:latin typeface="Arial Narrow" panose="020B0606020202030204" pitchFamily="34" charset="0"/>
                </a:rPr>
                <a:t>ref</a:t>
              </a:r>
              <a:endParaRPr lang="en-US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82663" name="Text Box 27"/>
            <p:cNvSpPr txBox="1">
              <a:spLocks noChangeAspect="1" noChangeArrowheads="1"/>
            </p:cNvSpPr>
            <p:nvPr/>
          </p:nvSpPr>
          <p:spPr bwMode="auto">
            <a:xfrm>
              <a:off x="1488" y="1680"/>
              <a:ext cx="54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200">
                  <a:latin typeface="Arial Narrow" panose="020B0606020202030204" pitchFamily="34" charset="0"/>
                </a:rPr>
                <a:t>flux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200">
                  <a:latin typeface="Arial Narrow" panose="020B0606020202030204" pitchFamily="34" charset="0"/>
                </a:rPr>
                <a:t>regulator</a:t>
              </a:r>
            </a:p>
          </p:txBody>
        </p:sp>
        <p:sp>
          <p:nvSpPr>
            <p:cNvPr id="282664" name="Oval 28"/>
            <p:cNvSpPr>
              <a:spLocks noChangeAspect="1" noChangeArrowheads="1"/>
            </p:cNvSpPr>
            <p:nvPr/>
          </p:nvSpPr>
          <p:spPr bwMode="auto">
            <a:xfrm>
              <a:off x="1102" y="1731"/>
              <a:ext cx="141" cy="14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82665" name="Line 29"/>
            <p:cNvSpPr>
              <a:spLocks noChangeAspect="1" noChangeShapeType="1"/>
            </p:cNvSpPr>
            <p:nvPr/>
          </p:nvSpPr>
          <p:spPr bwMode="auto">
            <a:xfrm>
              <a:off x="1250" y="1807"/>
              <a:ext cx="25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2666" name="Rectangle 30"/>
            <p:cNvSpPr>
              <a:spLocks noChangeAspect="1" noChangeArrowheads="1"/>
            </p:cNvSpPr>
            <p:nvPr/>
          </p:nvSpPr>
          <p:spPr bwMode="auto">
            <a:xfrm>
              <a:off x="3504" y="2339"/>
              <a:ext cx="555" cy="50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82667" name="Line 34"/>
            <p:cNvSpPr>
              <a:spLocks noChangeAspect="1" noChangeShapeType="1"/>
            </p:cNvSpPr>
            <p:nvPr/>
          </p:nvSpPr>
          <p:spPr bwMode="auto">
            <a:xfrm>
              <a:off x="4241" y="2110"/>
              <a:ext cx="0" cy="41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2668" name="Line 35"/>
            <p:cNvSpPr>
              <a:spLocks noChangeAspect="1" noChangeShapeType="1"/>
            </p:cNvSpPr>
            <p:nvPr/>
          </p:nvSpPr>
          <p:spPr bwMode="auto">
            <a:xfrm flipH="1">
              <a:off x="4059" y="2524"/>
              <a:ext cx="18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2669" name="Line 36"/>
            <p:cNvSpPr>
              <a:spLocks noChangeAspect="1" noChangeShapeType="1"/>
            </p:cNvSpPr>
            <p:nvPr/>
          </p:nvSpPr>
          <p:spPr bwMode="auto">
            <a:xfrm flipH="1">
              <a:off x="4354" y="2124"/>
              <a:ext cx="7" cy="5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2670" name="Line 37"/>
            <p:cNvSpPr>
              <a:spLocks noChangeAspect="1" noChangeShapeType="1"/>
            </p:cNvSpPr>
            <p:nvPr/>
          </p:nvSpPr>
          <p:spPr bwMode="auto">
            <a:xfrm flipH="1">
              <a:off x="4059" y="2685"/>
              <a:ext cx="29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2671" name="AutoShape 38"/>
            <p:cNvSpPr>
              <a:spLocks noChangeAspect="1"/>
            </p:cNvSpPr>
            <p:nvPr/>
          </p:nvSpPr>
          <p:spPr bwMode="auto">
            <a:xfrm rot="5400000">
              <a:off x="4256" y="1870"/>
              <a:ext cx="98" cy="309"/>
            </a:xfrm>
            <a:prstGeom prst="rightBrace">
              <a:avLst>
                <a:gd name="adj1" fmla="val 26276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82672" name="Line 39"/>
            <p:cNvSpPr>
              <a:spLocks noChangeAspect="1" noChangeShapeType="1"/>
            </p:cNvSpPr>
            <p:nvPr/>
          </p:nvSpPr>
          <p:spPr bwMode="auto">
            <a:xfrm flipV="1">
              <a:off x="2963" y="1955"/>
              <a:ext cx="0" cy="54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2673" name="Line 40"/>
            <p:cNvSpPr>
              <a:spLocks noChangeAspect="1" noChangeShapeType="1"/>
            </p:cNvSpPr>
            <p:nvPr/>
          </p:nvSpPr>
          <p:spPr bwMode="auto">
            <a:xfrm>
              <a:off x="2963" y="2503"/>
              <a:ext cx="54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2674" name="Line 41"/>
            <p:cNvSpPr>
              <a:spLocks noChangeAspect="1" noChangeShapeType="1"/>
            </p:cNvSpPr>
            <p:nvPr/>
          </p:nvSpPr>
          <p:spPr bwMode="auto">
            <a:xfrm flipV="1">
              <a:off x="1179" y="1878"/>
              <a:ext cx="0" cy="81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2675" name="Line 42"/>
            <p:cNvSpPr>
              <a:spLocks noChangeAspect="1" noChangeShapeType="1"/>
            </p:cNvSpPr>
            <p:nvPr/>
          </p:nvSpPr>
          <p:spPr bwMode="auto">
            <a:xfrm>
              <a:off x="1179" y="2692"/>
              <a:ext cx="23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2676" name="Text Box 47"/>
            <p:cNvSpPr txBox="1">
              <a:spLocks noChangeAspect="1" noChangeArrowheads="1"/>
            </p:cNvSpPr>
            <p:nvPr/>
          </p:nvSpPr>
          <p:spPr bwMode="auto">
            <a:xfrm>
              <a:off x="955" y="1639"/>
              <a:ext cx="196" cy="1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200">
                  <a:latin typeface="Arial Narrow" panose="020B0606020202030204" pitchFamily="34" charset="0"/>
                </a:rPr>
                <a:t>+</a:t>
              </a:r>
              <a:endParaRPr lang="en-US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82677" name="Text Box 48"/>
            <p:cNvSpPr txBox="1">
              <a:spLocks noChangeAspect="1" noChangeArrowheads="1"/>
            </p:cNvSpPr>
            <p:nvPr/>
          </p:nvSpPr>
          <p:spPr bwMode="auto">
            <a:xfrm>
              <a:off x="1215" y="1829"/>
              <a:ext cx="196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200">
                  <a:latin typeface="Arial Narrow" panose="020B0606020202030204" pitchFamily="34" charset="0"/>
                  <a:sym typeface="Symbol" panose="05050102010706020507" pitchFamily="18" charset="2"/>
                </a:rPr>
                <a:t></a:t>
              </a:r>
              <a:endParaRPr lang="en-US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82678" name="Text Box 49"/>
            <p:cNvSpPr txBox="1">
              <a:spLocks noChangeAspect="1" noChangeArrowheads="1"/>
            </p:cNvSpPr>
            <p:nvPr/>
          </p:nvSpPr>
          <p:spPr bwMode="auto">
            <a:xfrm>
              <a:off x="4368" y="2089"/>
              <a:ext cx="351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200">
                  <a:latin typeface="Arial Narrow" panose="020B0606020202030204" pitchFamily="34" charset="0"/>
                </a:rPr>
                <a:t>i</a:t>
              </a:r>
              <a:r>
                <a:rPr lang="en-US" altLang="fr-FR" sz="1200" baseline="-25000">
                  <a:latin typeface="Arial Narrow" panose="020B0606020202030204" pitchFamily="34" charset="0"/>
                </a:rPr>
                <a:t>s</a:t>
              </a:r>
              <a:endParaRPr lang="en-US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82679" name="Line 50"/>
            <p:cNvSpPr>
              <a:spLocks noChangeAspect="1" noChangeShapeType="1"/>
            </p:cNvSpPr>
            <p:nvPr/>
          </p:nvSpPr>
          <p:spPr bwMode="auto">
            <a:xfrm>
              <a:off x="4438" y="2124"/>
              <a:ext cx="4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pSp>
          <p:nvGrpSpPr>
            <p:cNvPr id="282680" name="Group 51"/>
            <p:cNvGrpSpPr>
              <a:grpSpLocks noChangeAspect="1"/>
            </p:cNvGrpSpPr>
            <p:nvPr/>
          </p:nvGrpSpPr>
          <p:grpSpPr bwMode="auto">
            <a:xfrm>
              <a:off x="3967" y="2075"/>
              <a:ext cx="352" cy="253"/>
              <a:chOff x="8666" y="10792"/>
              <a:chExt cx="700" cy="504"/>
            </a:xfrm>
          </p:grpSpPr>
          <p:sp>
            <p:nvSpPr>
              <p:cNvPr id="282692" name="Text Box 52"/>
              <p:cNvSpPr txBox="1">
                <a:spLocks noChangeAspect="1" noChangeArrowheads="1"/>
              </p:cNvSpPr>
              <p:nvPr/>
            </p:nvSpPr>
            <p:spPr bwMode="auto">
              <a:xfrm>
                <a:off x="8666" y="10792"/>
                <a:ext cx="700" cy="5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fr-FR" sz="1200">
                    <a:latin typeface="Arial Narrow" panose="020B0606020202030204" pitchFamily="34" charset="0"/>
                  </a:rPr>
                  <a:t>v</a:t>
                </a:r>
                <a:r>
                  <a:rPr lang="en-US" altLang="fr-FR" sz="1200" baseline="-25000">
                    <a:latin typeface="Arial Narrow" panose="020B0606020202030204" pitchFamily="34" charset="0"/>
                  </a:rPr>
                  <a:t>s</a:t>
                </a:r>
                <a:endParaRPr lang="en-US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82693" name="Line 53"/>
              <p:cNvSpPr>
                <a:spLocks noChangeAspect="1" noChangeShapeType="1"/>
              </p:cNvSpPr>
              <p:nvPr/>
            </p:nvSpPr>
            <p:spPr bwMode="auto">
              <a:xfrm>
                <a:off x="8834" y="10904"/>
                <a:ext cx="8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282681" name="Text Box 57"/>
            <p:cNvSpPr txBox="1">
              <a:spLocks noChangeAspect="1" noChangeArrowheads="1"/>
            </p:cNvSpPr>
            <p:nvPr/>
          </p:nvSpPr>
          <p:spPr bwMode="auto">
            <a:xfrm>
              <a:off x="2928" y="2082"/>
              <a:ext cx="351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200">
                  <a:latin typeface="Arial Narrow" panose="020B0606020202030204" pitchFamily="34" charset="0"/>
                  <a:sym typeface="Symbol" panose="05050102010706020507" pitchFamily="18" charset="2"/>
                </a:rPr>
                <a:t></a:t>
              </a:r>
              <a:r>
                <a:rPr lang="en-US" altLang="fr-FR" sz="1200" baseline="-25000">
                  <a:latin typeface="Arial Narrow" panose="020B0606020202030204" pitchFamily="34" charset="0"/>
                </a:rPr>
                <a:t>s</a:t>
              </a:r>
              <a:endParaRPr lang="en-US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82682" name="Text Box 58"/>
            <p:cNvSpPr txBox="1">
              <a:spLocks noChangeAspect="1" noChangeArrowheads="1"/>
            </p:cNvSpPr>
            <p:nvPr/>
          </p:nvSpPr>
          <p:spPr bwMode="auto">
            <a:xfrm>
              <a:off x="2496" y="2448"/>
              <a:ext cx="407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600">
                  <a:latin typeface="Arial Narrow" panose="020B0606020202030204" pitchFamily="34" charset="0"/>
                </a:rPr>
                <a:t>|</a:t>
              </a:r>
              <a:r>
                <a:rPr lang="en-US" altLang="fr-FR" sz="1600">
                  <a:latin typeface="Arial Narrow" panose="020B0606020202030204" pitchFamily="34" charset="0"/>
                  <a:sym typeface="Symbol" panose="05050102010706020507" pitchFamily="18" charset="2"/>
                </a:rPr>
                <a:t></a:t>
              </a:r>
              <a:r>
                <a:rPr lang="en-US" altLang="fr-FR" sz="1600" baseline="-25000">
                  <a:latin typeface="Arial Narrow" panose="020B0606020202030204" pitchFamily="34" charset="0"/>
                </a:rPr>
                <a:t>s</a:t>
              </a:r>
              <a:r>
                <a:rPr lang="en-US" altLang="fr-FR" sz="1600">
                  <a:latin typeface="Arial Narrow" panose="020B0606020202030204" pitchFamily="34" charset="0"/>
                </a:rPr>
                <a:t>|</a:t>
              </a:r>
            </a:p>
          </p:txBody>
        </p:sp>
        <p:sp>
          <p:nvSpPr>
            <p:cNvPr id="282683" name="Text Box 59"/>
            <p:cNvSpPr txBox="1">
              <a:spLocks noChangeAspect="1" noChangeArrowheads="1"/>
            </p:cNvSpPr>
            <p:nvPr/>
          </p:nvSpPr>
          <p:spPr bwMode="auto">
            <a:xfrm>
              <a:off x="3456" y="2400"/>
              <a:ext cx="623" cy="3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400">
                  <a:latin typeface="Arial Narrow" panose="020B0606020202030204" pitchFamily="34" charset="0"/>
                </a:rPr>
                <a:t>stator flux estimator</a:t>
              </a:r>
            </a:p>
          </p:txBody>
        </p:sp>
        <p:sp>
          <p:nvSpPr>
            <p:cNvPr id="282684" name="Line 61"/>
            <p:cNvSpPr>
              <a:spLocks noChangeAspect="1" noChangeShapeType="1"/>
            </p:cNvSpPr>
            <p:nvPr/>
          </p:nvSpPr>
          <p:spPr bwMode="auto">
            <a:xfrm flipH="1">
              <a:off x="884" y="1562"/>
              <a:ext cx="41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2685" name="Line 62"/>
            <p:cNvSpPr>
              <a:spLocks noChangeAspect="1" noChangeShapeType="1"/>
            </p:cNvSpPr>
            <p:nvPr/>
          </p:nvSpPr>
          <p:spPr bwMode="auto">
            <a:xfrm flipV="1">
              <a:off x="898" y="1562"/>
              <a:ext cx="0" cy="24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2686" name="Oval 63"/>
            <p:cNvSpPr>
              <a:spLocks noChangeAspect="1" noChangeArrowheads="1"/>
            </p:cNvSpPr>
            <p:nvPr/>
          </p:nvSpPr>
          <p:spPr bwMode="auto">
            <a:xfrm>
              <a:off x="884" y="1787"/>
              <a:ext cx="29" cy="28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82687" name="Text Box 66"/>
            <p:cNvSpPr txBox="1">
              <a:spLocks noChangeAspect="1" noChangeArrowheads="1"/>
            </p:cNvSpPr>
            <p:nvPr/>
          </p:nvSpPr>
          <p:spPr bwMode="auto">
            <a:xfrm>
              <a:off x="2352" y="912"/>
              <a:ext cx="351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600">
                  <a:latin typeface="Arial Narrow" panose="020B0606020202030204" pitchFamily="34" charset="0"/>
                </a:rPr>
                <a:t>i</a:t>
              </a:r>
              <a:r>
                <a:rPr lang="en-US" altLang="fr-FR" sz="1600" baseline="-25000">
                  <a:latin typeface="Arial Narrow" panose="020B0606020202030204" pitchFamily="34" charset="0"/>
                </a:rPr>
                <a:t>sq</a:t>
              </a:r>
              <a:endParaRPr lang="en-US" altLang="fr-FR" sz="1600">
                <a:latin typeface="Arial Narrow" panose="020B0606020202030204" pitchFamily="34" charset="0"/>
              </a:endParaRPr>
            </a:p>
          </p:txBody>
        </p:sp>
        <p:sp>
          <p:nvSpPr>
            <p:cNvPr id="282688" name="Text Box 67"/>
            <p:cNvSpPr txBox="1">
              <a:spLocks noChangeAspect="1" noChangeArrowheads="1"/>
            </p:cNvSpPr>
            <p:nvPr/>
          </p:nvSpPr>
          <p:spPr bwMode="auto">
            <a:xfrm>
              <a:off x="3456" y="1288"/>
              <a:ext cx="651" cy="3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400">
                  <a:latin typeface="Arial Narrow" panose="020B0606020202030204" pitchFamily="34" charset="0"/>
                </a:rPr>
                <a:t>current controlled VSI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fr-FR" sz="1400">
                <a:latin typeface="Arial Narrow" panose="020B0606020202030204" pitchFamily="34" charset="0"/>
              </a:endParaRPr>
            </a:p>
          </p:txBody>
        </p:sp>
        <p:sp>
          <p:nvSpPr>
            <p:cNvPr id="282689" name="Text Box 68"/>
            <p:cNvSpPr txBox="1">
              <a:spLocks noChangeAspect="1" noChangeArrowheads="1"/>
            </p:cNvSpPr>
            <p:nvPr/>
          </p:nvSpPr>
          <p:spPr bwMode="auto">
            <a:xfrm>
              <a:off x="4635" y="1464"/>
              <a:ext cx="428" cy="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Arial Narrow" panose="020B0606020202030204" pitchFamily="34" charset="0"/>
                </a:rPr>
                <a:t>IM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82690" name="Rectangle 8"/>
            <p:cNvSpPr>
              <a:spLocks noChangeAspect="1" noChangeArrowheads="1"/>
            </p:cNvSpPr>
            <p:nvPr/>
          </p:nvSpPr>
          <p:spPr bwMode="auto">
            <a:xfrm>
              <a:off x="1104" y="912"/>
              <a:ext cx="468" cy="39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graphicFrame>
          <p:nvGraphicFramePr>
            <p:cNvPr id="282691" name="Object 2"/>
            <p:cNvGraphicFramePr>
              <a:graphicFrameLocks noChangeAspect="1"/>
            </p:cNvGraphicFramePr>
            <p:nvPr/>
          </p:nvGraphicFramePr>
          <p:xfrm>
            <a:off x="1104" y="1008"/>
            <a:ext cx="432" cy="1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2704" name="Equation" r:id="rId4" imgW="901309" imgH="393529" progId="Equation.3">
                    <p:embed/>
                  </p:oleObj>
                </mc:Choice>
                <mc:Fallback>
                  <p:oleObj name="Equation" r:id="rId4" imgW="901309" imgH="393529" progId="Equation.3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4" y="1008"/>
                          <a:ext cx="432" cy="1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88"/>
          <p:cNvGrpSpPr>
            <a:grpSpLocks/>
          </p:cNvGrpSpPr>
          <p:nvPr/>
        </p:nvGrpSpPr>
        <p:grpSpPr bwMode="auto">
          <a:xfrm>
            <a:off x="2643188" y="1828800"/>
            <a:ext cx="1724025" cy="1147763"/>
            <a:chOff x="1665" y="1152"/>
            <a:chExt cx="1086" cy="723"/>
          </a:xfrm>
        </p:grpSpPr>
        <p:grpSp>
          <p:nvGrpSpPr>
            <p:cNvPr id="282633" name="Group 84"/>
            <p:cNvGrpSpPr>
              <a:grpSpLocks/>
            </p:cNvGrpSpPr>
            <p:nvPr/>
          </p:nvGrpSpPr>
          <p:grpSpPr bwMode="auto">
            <a:xfrm>
              <a:off x="1665" y="1152"/>
              <a:ext cx="1086" cy="723"/>
              <a:chOff x="1665" y="1152"/>
              <a:chExt cx="1086" cy="723"/>
            </a:xfrm>
          </p:grpSpPr>
          <p:sp>
            <p:nvSpPr>
              <p:cNvPr id="282635" name="Text Box 65"/>
              <p:cNvSpPr txBox="1">
                <a:spLocks noChangeAspect="1" noChangeArrowheads="1"/>
              </p:cNvSpPr>
              <p:nvPr/>
            </p:nvSpPr>
            <p:spPr bwMode="auto">
              <a:xfrm>
                <a:off x="2400" y="1584"/>
                <a:ext cx="351" cy="2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fr-FR" sz="1600">
                    <a:latin typeface="Arial Narrow" panose="020B0606020202030204" pitchFamily="34" charset="0"/>
                  </a:rPr>
                  <a:t>i</a:t>
                </a:r>
                <a:r>
                  <a:rPr lang="en-US" altLang="fr-FR" sz="1600" baseline="-25000">
                    <a:latin typeface="Arial Narrow" panose="020B0606020202030204" pitchFamily="34" charset="0"/>
                  </a:rPr>
                  <a:t>sd</a:t>
                </a:r>
                <a:endParaRPr lang="en-US" altLang="fr-FR" sz="16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82636" name="Rectangle 72"/>
              <p:cNvSpPr>
                <a:spLocks noChangeArrowheads="1"/>
              </p:cNvSpPr>
              <p:nvPr/>
            </p:nvSpPr>
            <p:spPr bwMode="auto">
              <a:xfrm>
                <a:off x="2016" y="1248"/>
                <a:ext cx="528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82637" name="Oval 73"/>
              <p:cNvSpPr>
                <a:spLocks noChangeAspect="1" noChangeArrowheads="1"/>
              </p:cNvSpPr>
              <p:nvPr/>
            </p:nvSpPr>
            <p:spPr bwMode="auto">
              <a:xfrm>
                <a:off x="2256" y="1728"/>
                <a:ext cx="141" cy="147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82638" name="Line 75"/>
              <p:cNvSpPr>
                <a:spLocks noChangeShapeType="1"/>
              </p:cNvSpPr>
              <p:nvPr/>
            </p:nvSpPr>
            <p:spPr bwMode="auto">
              <a:xfrm>
                <a:off x="2304" y="1584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82639" name="Line 78"/>
              <p:cNvSpPr>
                <a:spLocks noChangeShapeType="1"/>
              </p:cNvSpPr>
              <p:nvPr/>
            </p:nvSpPr>
            <p:spPr bwMode="auto">
              <a:xfrm>
                <a:off x="2168" y="1816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82640" name="Line 79"/>
              <p:cNvSpPr>
                <a:spLocks noChangeShapeType="1"/>
              </p:cNvSpPr>
              <p:nvPr/>
            </p:nvSpPr>
            <p:spPr bwMode="auto">
              <a:xfrm>
                <a:off x="2304" y="1152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82641" name="Line 80"/>
              <p:cNvSpPr>
                <a:spLocks noChangeShapeType="1"/>
              </p:cNvSpPr>
              <p:nvPr/>
            </p:nvSpPr>
            <p:spPr bwMode="auto">
              <a:xfrm>
                <a:off x="1872" y="1296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82642" name="Line 81"/>
              <p:cNvSpPr>
                <a:spLocks noChangeShapeType="1"/>
              </p:cNvSpPr>
              <p:nvPr/>
            </p:nvSpPr>
            <p:spPr bwMode="auto">
              <a:xfrm>
                <a:off x="1872" y="1440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82643" name="Text Box 82"/>
              <p:cNvSpPr txBox="1">
                <a:spLocks noChangeAspect="1" noChangeArrowheads="1"/>
              </p:cNvSpPr>
              <p:nvPr/>
            </p:nvSpPr>
            <p:spPr bwMode="auto">
              <a:xfrm>
                <a:off x="1680" y="1152"/>
                <a:ext cx="351" cy="2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fr-FR" sz="1600">
                    <a:latin typeface="Arial Narrow" panose="020B0606020202030204" pitchFamily="34" charset="0"/>
                  </a:rPr>
                  <a:t>i</a:t>
                </a:r>
                <a:r>
                  <a:rPr lang="en-US" altLang="fr-FR" sz="1600" baseline="-25000">
                    <a:latin typeface="Arial Narrow" panose="020B0606020202030204" pitchFamily="34" charset="0"/>
                  </a:rPr>
                  <a:t>sd</a:t>
                </a:r>
                <a:endParaRPr lang="en-US" altLang="fr-FR" sz="16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82644" name="Text Box 83"/>
              <p:cNvSpPr txBox="1">
                <a:spLocks noChangeAspect="1" noChangeArrowheads="1"/>
              </p:cNvSpPr>
              <p:nvPr/>
            </p:nvSpPr>
            <p:spPr bwMode="auto">
              <a:xfrm>
                <a:off x="1665" y="1344"/>
                <a:ext cx="351" cy="2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fr-FR" sz="2400">
                    <a:latin typeface="Arial Narrow" panose="020B0606020202030204" pitchFamily="34" charset="0"/>
                    <a:sym typeface="Symbol" panose="05050102010706020507" pitchFamily="18" charset="2"/>
                  </a:rPr>
                  <a:t></a:t>
                </a:r>
                <a:r>
                  <a:rPr lang="en-US" altLang="fr-FR" sz="2400" baseline="-25000">
                    <a:latin typeface="Arial Narrow" panose="020B0606020202030204" pitchFamily="34" charset="0"/>
                  </a:rPr>
                  <a:t>s</a:t>
                </a:r>
                <a:endParaRPr lang="en-US" altLang="fr-FR" sz="2400">
                  <a:latin typeface="Arial Narrow" panose="020B0606020202030204" pitchFamily="34" charset="0"/>
                </a:endParaRPr>
              </a:p>
            </p:txBody>
          </p:sp>
        </p:grpSp>
        <p:sp>
          <p:nvSpPr>
            <p:cNvPr id="282634" name="Text Box 87"/>
            <p:cNvSpPr txBox="1">
              <a:spLocks noChangeAspect="1" noChangeArrowheads="1"/>
            </p:cNvSpPr>
            <p:nvPr/>
          </p:nvSpPr>
          <p:spPr bwMode="auto">
            <a:xfrm>
              <a:off x="2016" y="1332"/>
              <a:ext cx="57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200" b="1">
                  <a:latin typeface="Arial Narrow" panose="020B0606020202030204" pitchFamily="34" charset="0"/>
                </a:rPr>
                <a:t>decoupler</a:t>
              </a:r>
            </a:p>
          </p:txBody>
        </p:sp>
      </p:grpSp>
      <p:sp>
        <p:nvSpPr>
          <p:cNvPr id="282628" name="Text Box 90"/>
          <p:cNvSpPr txBox="1">
            <a:spLocks noChangeArrowheads="1"/>
          </p:cNvSpPr>
          <p:nvPr/>
        </p:nvSpPr>
        <p:spPr bwMode="auto">
          <a:xfrm>
            <a:off x="2667000" y="457200"/>
            <a:ext cx="53927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 b="1">
                <a:latin typeface="Arial Narrow" panose="020B0606020202030204" pitchFamily="34" charset="0"/>
              </a:rPr>
              <a:t>Commande directe à flux statorique orienté</a:t>
            </a:r>
          </a:p>
        </p:txBody>
      </p:sp>
      <p:sp>
        <p:nvSpPr>
          <p:cNvPr id="282629" name="Text Box 91"/>
          <p:cNvSpPr txBox="1">
            <a:spLocks noChangeArrowheads="1"/>
          </p:cNvSpPr>
          <p:nvPr/>
        </p:nvSpPr>
        <p:spPr bwMode="auto">
          <a:xfrm>
            <a:off x="3581400" y="838200"/>
            <a:ext cx="19113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 b="1">
                <a:latin typeface="Arial Narrow" panose="020B0606020202030204" pitchFamily="34" charset="0"/>
              </a:rPr>
              <a:t> - diagramme -</a:t>
            </a:r>
          </a:p>
        </p:txBody>
      </p:sp>
      <p:sp>
        <p:nvSpPr>
          <p:cNvPr id="282630" name="Rectangle 4"/>
          <p:cNvSpPr>
            <a:spLocks noChangeArrowheads="1"/>
          </p:cNvSpPr>
          <p:nvPr/>
        </p:nvSpPr>
        <p:spPr bwMode="auto">
          <a:xfrm>
            <a:off x="357188" y="257175"/>
            <a:ext cx="8429625" cy="6254750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82631" name="Espace réservé du numéro de diapositive 69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207B712-90C2-4DCD-904D-A80A1A668FC0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71" name="Espace réservé du pied de page 7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chnique">
  <a:themeElements>
    <a:clrScheme name="Technique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echnique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5770</TotalTime>
  <Words>953</Words>
  <Application>Microsoft Office PowerPoint</Application>
  <PresentationFormat>On-screen Show (4:3)</PresentationFormat>
  <Paragraphs>250</Paragraphs>
  <Slides>25</Slides>
  <Notes>25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6" baseType="lpstr">
      <vt:lpstr>Arial</vt:lpstr>
      <vt:lpstr>Arial Narrow</vt:lpstr>
      <vt:lpstr>Book Antiqua</vt:lpstr>
      <vt:lpstr>Cambria Math</vt:lpstr>
      <vt:lpstr>Lucida Sans</vt:lpstr>
      <vt:lpstr>Symbol</vt:lpstr>
      <vt:lpstr>Times New Roman</vt:lpstr>
      <vt:lpstr>Wingdings 2</vt:lpstr>
      <vt:lpstr>Technique</vt:lpstr>
      <vt:lpstr>Équation</vt:lpstr>
      <vt:lpstr>Equation</vt:lpstr>
      <vt:lpstr>MODULE 3 Machine asynchrone 3.4. Commande vectorielle à flux rotorique orienté (CFO) </vt:lpstr>
      <vt:lpstr>Pourquoi CFO ?</vt:lpstr>
      <vt:lpstr>Principe de base d’une machine DC</vt:lpstr>
      <vt:lpstr>Principe de base d’une machine AS</vt:lpstr>
      <vt:lpstr>CFO d’un entrainment par MAS</vt:lpstr>
      <vt:lpstr>CFO d’un entrainment par MAS</vt:lpstr>
      <vt:lpstr>CFO d’un entrainment par MAS</vt:lpstr>
      <vt:lpstr>PowerPoint Presentation</vt:lpstr>
      <vt:lpstr>CFO d’un entrainment par MAS</vt:lpstr>
      <vt:lpstr>CFO indirecte d’un entrainment par MAS</vt:lpstr>
      <vt:lpstr>CFO indirecte d’un entrainment par MAS</vt:lpstr>
      <vt:lpstr>CFO indirecte d’un entrainment par MAS</vt:lpstr>
      <vt:lpstr>CFO d’un entrainment par MAS</vt:lpstr>
      <vt:lpstr>CFO d’un entrainment par MAS</vt:lpstr>
      <vt:lpstr>CFO d’un entrainment par MAS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UTM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INDUCTION MOTOR (squirrel cage)</dc:title>
  <dc:creator>Dr Nik Rumzi Nik Idris</dc:creator>
  <cp:lastModifiedBy>ali nejmi</cp:lastModifiedBy>
  <cp:revision>240</cp:revision>
  <dcterms:created xsi:type="dcterms:W3CDTF">2005-09-05T13:15:16Z</dcterms:created>
  <dcterms:modified xsi:type="dcterms:W3CDTF">2020-01-07T10:35:17Z</dcterms:modified>
</cp:coreProperties>
</file>