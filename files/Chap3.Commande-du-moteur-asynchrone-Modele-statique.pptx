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Narrow" panose="020B0606020202030204" pitchFamily="34" charset="0"/>
        <a:ea typeface="+mn-ea"/>
        <a:cs typeface="+mn-cs"/>
      </a:defRPr>
    </a:lvl5pPr>
    <a:lvl6pPr marL="2286000" algn="l" defTabSz="914400" rtl="0" eaLnBrk="1" latinLnBrk="0" hangingPunct="1">
      <a:defRPr sz="2400" kern="1200">
        <a:solidFill>
          <a:schemeClr val="tx1"/>
        </a:solidFill>
        <a:latin typeface="Arial Narrow" panose="020B0606020202030204" pitchFamily="34" charset="0"/>
        <a:ea typeface="+mn-ea"/>
        <a:cs typeface="+mn-cs"/>
      </a:defRPr>
    </a:lvl6pPr>
    <a:lvl7pPr marL="2743200" algn="l" defTabSz="914400" rtl="0" eaLnBrk="1" latinLnBrk="0" hangingPunct="1">
      <a:defRPr sz="2400" kern="1200">
        <a:solidFill>
          <a:schemeClr val="tx1"/>
        </a:solidFill>
        <a:latin typeface="Arial Narrow" panose="020B0606020202030204" pitchFamily="34" charset="0"/>
        <a:ea typeface="+mn-ea"/>
        <a:cs typeface="+mn-cs"/>
      </a:defRPr>
    </a:lvl7pPr>
    <a:lvl8pPr marL="3200400" algn="l" defTabSz="914400" rtl="0" eaLnBrk="1" latinLnBrk="0" hangingPunct="1">
      <a:defRPr sz="2400" kern="1200">
        <a:solidFill>
          <a:schemeClr val="tx1"/>
        </a:solidFill>
        <a:latin typeface="Arial Narrow" panose="020B0606020202030204" pitchFamily="34" charset="0"/>
        <a:ea typeface="+mn-ea"/>
        <a:cs typeface="+mn-cs"/>
      </a:defRPr>
    </a:lvl8pPr>
    <a:lvl9pPr marL="3657600" algn="l" defTabSz="914400" rtl="0" eaLnBrk="1" latinLnBrk="0" hangingPunct="1">
      <a:defRPr sz="2400" kern="1200">
        <a:solidFill>
          <a:schemeClr val="tx1"/>
        </a:solidFill>
        <a:latin typeface="Arial Narrow" panose="020B0606020202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099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5" autoAdjust="0"/>
    <p:restoredTop sz="94667" autoAdjust="0"/>
  </p:normalViewPr>
  <p:slideViewPr>
    <p:cSldViewPr>
      <p:cViewPr varScale="1">
        <p:scale>
          <a:sx n="104" d="100"/>
          <a:sy n="104" d="100"/>
        </p:scale>
        <p:origin x="1518" y="102"/>
      </p:cViewPr>
      <p:guideLst>
        <p:guide orient="horz" pos="2160"/>
        <p:guide pos="2880"/>
      </p:guideLst>
    </p:cSldViewPr>
  </p:slideViewPr>
  <p:outlineViewPr>
    <p:cViewPr>
      <p:scale>
        <a:sx n="33" d="100"/>
        <a:sy n="33" d="100"/>
      </p:scale>
      <p:origin x="0" y="3510"/>
    </p:cViewPr>
  </p:outlineViewPr>
  <p:notesTextViewPr>
    <p:cViewPr>
      <p:scale>
        <a:sx n="100" d="100"/>
        <a:sy n="100" d="100"/>
      </p:scale>
      <p:origin x="0" y="0"/>
    </p:cViewPr>
  </p:notesTextViewPr>
  <p:sorterViewPr>
    <p:cViewPr>
      <p:scale>
        <a:sx n="130" d="100"/>
        <a:sy n="130"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 Id="rId5" Type="http://schemas.openxmlformats.org/officeDocument/2006/relationships/image" Target="../media/image23.wmf"/><Relationship Id="rId4" Type="http://schemas.openxmlformats.org/officeDocument/2006/relationships/image" Target="../media/image2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3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4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34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defRPr>
            </a:lvl1pPr>
          </a:lstStyle>
          <a:p>
            <a:pPr>
              <a:defRPr/>
            </a:pPr>
            <a:endParaRPr lang="en-US"/>
          </a:p>
        </p:txBody>
      </p:sp>
      <p:sp>
        <p:nvSpPr>
          <p:cNvPr id="1434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atin typeface="Times New Roman" panose="02020603050405020304" pitchFamily="18" charset="0"/>
              </a:defRPr>
            </a:lvl1pPr>
          </a:lstStyle>
          <a:p>
            <a:pPr>
              <a:defRPr/>
            </a:pPr>
            <a:fld id="{D5A34F86-553D-40EA-817E-91AD903857DE}" type="slidenum">
              <a:rPr lang="en-US" altLang="fr-FR"/>
              <a:pPr>
                <a:defRPr/>
              </a:pPr>
              <a:t>‹#›</a:t>
            </a:fld>
            <a:endParaRPr lang="en-US" altLang="fr-FR"/>
          </a:p>
        </p:txBody>
      </p:sp>
    </p:spTree>
    <p:extLst>
      <p:ext uri="{BB962C8B-B14F-4D97-AF65-F5344CB8AC3E}">
        <p14:creationId xmlns:p14="http://schemas.microsoft.com/office/powerpoint/2010/main" val="8216506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4C94979-62D5-4CB7-AE4A-5ABE1809F403}" type="slidenum">
              <a:rPr lang="en-US" altLang="fr-FR"/>
              <a:pPr>
                <a:spcBef>
                  <a:spcPct val="0"/>
                </a:spcBef>
              </a:pPr>
              <a:t>1</a:t>
            </a:fld>
            <a:endParaRPr lang="en-US" altLang="fr-FR"/>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90986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35EA76E-9ECF-4940-AD4C-3B3AFC2977DB}" type="slidenum">
              <a:rPr lang="en-US" altLang="fr-FR"/>
              <a:pPr>
                <a:spcBef>
                  <a:spcPct val="0"/>
                </a:spcBef>
              </a:pPr>
              <a:t>2</a:t>
            </a:fld>
            <a:endParaRPr lang="en-US" altLang="fr-F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92373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680932C-3C3B-4E0B-96FA-06315A1E9E60}" type="slidenum">
              <a:rPr lang="en-US" altLang="fr-FR"/>
              <a:pPr>
                <a:spcBef>
                  <a:spcPct val="0"/>
                </a:spcBef>
              </a:pPr>
              <a:t>3</a:t>
            </a:fld>
            <a:endParaRPr lang="en-US" altLang="fr-F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715734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Espace réservé de l'image des diapositives 1"/>
          <p:cNvSpPr>
            <a:spLocks noGrp="1" noRot="1" noChangeAspect="1" noTextEdit="1"/>
          </p:cNvSpPr>
          <p:nvPr>
            <p:ph type="sldImg"/>
          </p:nvPr>
        </p:nvSpPr>
        <p:spPr>
          <a:ln/>
        </p:spPr>
      </p:sp>
      <p:sp>
        <p:nvSpPr>
          <p:cNvPr id="1741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1741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4EC12D1-D491-42CB-9C95-2516A3D692FB}" type="slidenum">
              <a:rPr lang="en-US" altLang="fr-FR"/>
              <a:pPr>
                <a:spcBef>
                  <a:spcPct val="0"/>
                </a:spcBef>
              </a:pPr>
              <a:t>4</a:t>
            </a:fld>
            <a:endParaRPr lang="en-US" altLang="fr-FR"/>
          </a:p>
        </p:txBody>
      </p:sp>
    </p:spTree>
    <p:extLst>
      <p:ext uri="{BB962C8B-B14F-4D97-AF65-F5344CB8AC3E}">
        <p14:creationId xmlns:p14="http://schemas.microsoft.com/office/powerpoint/2010/main" val="8376866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4606C54-42DD-4505-AA7C-47968B24D694}" type="slidenum">
              <a:rPr lang="en-US" altLang="fr-FR"/>
              <a:pPr>
                <a:spcBef>
                  <a:spcPct val="0"/>
                </a:spcBef>
              </a:pPr>
              <a:t>5</a:t>
            </a:fld>
            <a:endParaRPr lang="en-US" altLang="fr-F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725674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5CB566E-1B5D-4996-A9C4-0A9E3F393BDF}" type="slidenum">
              <a:rPr lang="en-US" altLang="fr-FR"/>
              <a:pPr>
                <a:spcBef>
                  <a:spcPct val="0"/>
                </a:spcBef>
              </a:pPr>
              <a:t>6</a:t>
            </a:fld>
            <a:endParaRPr lang="en-US" altLang="fr-F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626393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73FEFAE-5C5D-45AF-B73C-EE6C56339976}" type="slidenum">
              <a:rPr lang="en-US" altLang="fr-FR"/>
              <a:pPr>
                <a:spcBef>
                  <a:spcPct val="0"/>
                </a:spcBef>
              </a:pPr>
              <a:t>7</a:t>
            </a:fld>
            <a:endParaRPr lang="en-US" altLang="fr-F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198643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Espace réservé de l'image des diapositives 1"/>
          <p:cNvSpPr>
            <a:spLocks noGrp="1" noRot="1" noChangeAspect="1" noTextEdit="1"/>
          </p:cNvSpPr>
          <p:nvPr>
            <p:ph type="sldImg"/>
          </p:nvPr>
        </p:nvSpPr>
        <p:spPr>
          <a:ln/>
        </p:spPr>
      </p:sp>
      <p:sp>
        <p:nvSpPr>
          <p:cNvPr id="2560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2560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9716573-FA03-4527-B698-15C056794325}" type="slidenum">
              <a:rPr lang="en-US" altLang="fr-FR"/>
              <a:pPr>
                <a:spcBef>
                  <a:spcPct val="0"/>
                </a:spcBef>
              </a:pPr>
              <a:t>8</a:t>
            </a:fld>
            <a:endParaRPr lang="en-US" altLang="fr-FR"/>
          </a:p>
        </p:txBody>
      </p:sp>
    </p:spTree>
    <p:extLst>
      <p:ext uri="{BB962C8B-B14F-4D97-AF65-F5344CB8AC3E}">
        <p14:creationId xmlns:p14="http://schemas.microsoft.com/office/powerpoint/2010/main" val="1800452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F1581F9-3872-4556-9FC8-99025A9D34AB}" type="slidenum">
              <a:rPr lang="en-US" altLang="fr-FR"/>
              <a:pPr>
                <a:spcBef>
                  <a:spcPct val="0"/>
                </a:spcBef>
              </a:pPr>
              <a:t>9</a:t>
            </a:fld>
            <a:endParaRPr lang="en-US" altLang="fr-F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55369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D74D5D1-0213-486C-AD7F-017C9BED7F9F}" type="slidenum">
              <a:rPr lang="en-US" altLang="fr-FR"/>
              <a:pPr>
                <a:spcBef>
                  <a:spcPct val="0"/>
                </a:spcBef>
              </a:pPr>
              <a:t>10</a:t>
            </a:fld>
            <a:endParaRPr lang="en-US" altLang="fr-F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823115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145DDB-B5D9-441A-B512-BCBA42F91859}" type="slidenum">
              <a:rPr lang="en-US" altLang="fr-FR"/>
              <a:pPr>
                <a:spcBef>
                  <a:spcPct val="0"/>
                </a:spcBef>
              </a:pPr>
              <a:t>11</a:t>
            </a:fld>
            <a:endParaRPr lang="en-US" altLang="fr-F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692026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03BD9C-6722-4870-8D5B-9B9BFF66C5FA}" type="slidenum">
              <a:rPr lang="en-US" altLang="fr-FR"/>
              <a:pPr>
                <a:spcBef>
                  <a:spcPct val="0"/>
                </a:spcBef>
              </a:pPr>
              <a:t>12</a:t>
            </a:fld>
            <a:endParaRPr lang="en-US" altLang="fr-F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104483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DF4E3AB-E71B-49AE-A4BB-7CB529575DC1}" type="slidenum">
              <a:rPr lang="en-US" altLang="fr-FR"/>
              <a:pPr>
                <a:spcBef>
                  <a:spcPct val="0"/>
                </a:spcBef>
              </a:pPr>
              <a:t>13</a:t>
            </a:fld>
            <a:endParaRPr lang="en-US" altLang="fr-F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698222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24EC79-C75F-4F89-B2E7-6B072656AB1D}" type="slidenum">
              <a:rPr lang="en-US" altLang="fr-FR"/>
              <a:pPr>
                <a:spcBef>
                  <a:spcPct val="0"/>
                </a:spcBef>
              </a:pPr>
              <a:t>14</a:t>
            </a:fld>
            <a:endParaRPr lang="en-US" altLang="fr-F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1327089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F1FDD8F-6011-443D-8E49-E8EF9C4AEF15}" type="slidenum">
              <a:rPr lang="en-US" altLang="fr-FR"/>
              <a:pPr>
                <a:spcBef>
                  <a:spcPct val="0"/>
                </a:spcBef>
              </a:pPr>
              <a:t>15</a:t>
            </a:fld>
            <a:endParaRPr lang="en-US" altLang="fr-F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615779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e l'image des diapositives 1"/>
          <p:cNvSpPr>
            <a:spLocks noGrp="1" noRot="1" noChangeAspect="1" noTextEdit="1"/>
          </p:cNvSpPr>
          <p:nvPr>
            <p:ph type="sldImg"/>
          </p:nvPr>
        </p:nvSpPr>
        <p:spPr>
          <a:ln/>
        </p:spPr>
      </p:sp>
      <p:sp>
        <p:nvSpPr>
          <p:cNvPr id="4198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4198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7DF711B-D64A-4AF8-80B3-291BA1D97366}" type="slidenum">
              <a:rPr lang="en-US" altLang="fr-FR"/>
              <a:pPr>
                <a:spcBef>
                  <a:spcPct val="0"/>
                </a:spcBef>
              </a:pPr>
              <a:t>16</a:t>
            </a:fld>
            <a:endParaRPr lang="en-US" altLang="fr-FR"/>
          </a:p>
        </p:txBody>
      </p:sp>
    </p:spTree>
    <p:extLst>
      <p:ext uri="{BB962C8B-B14F-4D97-AF65-F5344CB8AC3E}">
        <p14:creationId xmlns:p14="http://schemas.microsoft.com/office/powerpoint/2010/main" val="35228853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E8277D-2693-4F55-98FB-ECC28DB4FFD2}" type="slidenum">
              <a:rPr lang="en-US" altLang="fr-FR"/>
              <a:pPr>
                <a:spcBef>
                  <a:spcPct val="0"/>
                </a:spcBef>
              </a:pPr>
              <a:t>17</a:t>
            </a:fld>
            <a:endParaRPr lang="en-US" altLang="fr-F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720061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A7444CF-5195-47E8-919C-65C91378AB58}" type="slidenum">
              <a:rPr lang="en-US" altLang="fr-FR"/>
              <a:pPr>
                <a:spcBef>
                  <a:spcPct val="0"/>
                </a:spcBef>
              </a:pPr>
              <a:t>18</a:t>
            </a:fld>
            <a:endParaRPr lang="en-US" altLang="fr-F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8831041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2A8BCFD-6DE2-4255-BBF0-F81BF853EB60}" type="slidenum">
              <a:rPr lang="en-US" altLang="fr-FR"/>
              <a:pPr>
                <a:spcBef>
                  <a:spcPct val="0"/>
                </a:spcBef>
              </a:pPr>
              <a:t>19</a:t>
            </a:fld>
            <a:endParaRPr lang="en-US" altLang="fr-F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471640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a:ln/>
        </p:spPr>
      </p:sp>
      <p:sp>
        <p:nvSpPr>
          <p:cNvPr id="5017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5018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2EBA486-3E7E-4E07-B9DB-770975030317}" type="slidenum">
              <a:rPr lang="en-US" altLang="fr-FR"/>
              <a:pPr>
                <a:spcBef>
                  <a:spcPct val="0"/>
                </a:spcBef>
              </a:pPr>
              <a:t>20</a:t>
            </a:fld>
            <a:endParaRPr lang="en-US" altLang="fr-FR"/>
          </a:p>
        </p:txBody>
      </p:sp>
    </p:spTree>
    <p:extLst>
      <p:ext uri="{BB962C8B-B14F-4D97-AF65-F5344CB8AC3E}">
        <p14:creationId xmlns:p14="http://schemas.microsoft.com/office/powerpoint/2010/main" val="6505153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p:cNvSpPr>
            <a:spLocks noGrp="1" noRot="1" noChangeAspect="1" noTextEdit="1"/>
          </p:cNvSpPr>
          <p:nvPr>
            <p:ph type="sldImg"/>
          </p:nvPr>
        </p:nvSpPr>
        <p:spPr>
          <a:ln/>
        </p:spPr>
      </p:sp>
      <p:sp>
        <p:nvSpPr>
          <p:cNvPr id="5222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5222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07AA5D4-E011-4202-B608-CC3B947BC2B1}" type="slidenum">
              <a:rPr lang="en-US" altLang="fr-FR"/>
              <a:pPr>
                <a:spcBef>
                  <a:spcPct val="0"/>
                </a:spcBef>
              </a:pPr>
              <a:t>21</a:t>
            </a:fld>
            <a:endParaRPr lang="en-US" altLang="fr-FR"/>
          </a:p>
        </p:txBody>
      </p:sp>
    </p:spTree>
    <p:extLst>
      <p:ext uri="{BB962C8B-B14F-4D97-AF65-F5344CB8AC3E}">
        <p14:creationId xmlns:p14="http://schemas.microsoft.com/office/powerpoint/2010/main" val="821606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Espace réservé de l'image des diapositives 1"/>
          <p:cNvSpPr>
            <a:spLocks noGrp="1" noRot="1" noChangeAspect="1" noTextEdit="1"/>
          </p:cNvSpPr>
          <p:nvPr>
            <p:ph type="sldImg"/>
          </p:nvPr>
        </p:nvSpPr>
        <p:spPr>
          <a:ln/>
        </p:spPr>
      </p:sp>
      <p:sp>
        <p:nvSpPr>
          <p:cNvPr id="5427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5427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BBEBE3B-04F0-4051-B549-9D6B7E016CFB}" type="slidenum">
              <a:rPr lang="en-US" altLang="fr-FR"/>
              <a:pPr>
                <a:spcBef>
                  <a:spcPct val="0"/>
                </a:spcBef>
              </a:pPr>
              <a:t>22</a:t>
            </a:fld>
            <a:endParaRPr lang="en-US" altLang="fr-FR"/>
          </a:p>
        </p:txBody>
      </p:sp>
    </p:spTree>
    <p:extLst>
      <p:ext uri="{BB962C8B-B14F-4D97-AF65-F5344CB8AC3E}">
        <p14:creationId xmlns:p14="http://schemas.microsoft.com/office/powerpoint/2010/main" val="126696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ce réservé de l'image des diapositives 1"/>
          <p:cNvSpPr>
            <a:spLocks noGrp="1" noRot="1" noChangeAspect="1" noTextEdit="1"/>
          </p:cNvSpPr>
          <p:nvPr>
            <p:ph type="sldImg"/>
          </p:nvPr>
        </p:nvSpPr>
        <p:spPr>
          <a:ln/>
        </p:spPr>
      </p:sp>
      <p:sp>
        <p:nvSpPr>
          <p:cNvPr id="5632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5632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D1DFDC3-881F-4FC1-81F4-5107858A44E3}" type="slidenum">
              <a:rPr lang="en-US" altLang="fr-FR"/>
              <a:pPr>
                <a:spcBef>
                  <a:spcPct val="0"/>
                </a:spcBef>
              </a:pPr>
              <a:t>23</a:t>
            </a:fld>
            <a:endParaRPr lang="en-US" altLang="fr-FR"/>
          </a:p>
        </p:txBody>
      </p:sp>
    </p:spTree>
    <p:extLst>
      <p:ext uri="{BB962C8B-B14F-4D97-AF65-F5344CB8AC3E}">
        <p14:creationId xmlns:p14="http://schemas.microsoft.com/office/powerpoint/2010/main" val="7307862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ce réservé de l'image des diapositives 1"/>
          <p:cNvSpPr>
            <a:spLocks noGrp="1" noRot="1" noChangeAspect="1" noTextEdit="1"/>
          </p:cNvSpPr>
          <p:nvPr>
            <p:ph type="sldImg"/>
          </p:nvPr>
        </p:nvSpPr>
        <p:spPr>
          <a:ln/>
        </p:spPr>
      </p:sp>
      <p:sp>
        <p:nvSpPr>
          <p:cNvPr id="5837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5837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3822E5D-C2D5-42FD-AC59-D62D42471950}" type="slidenum">
              <a:rPr lang="en-US" altLang="fr-FR"/>
              <a:pPr>
                <a:spcBef>
                  <a:spcPct val="0"/>
                </a:spcBef>
              </a:pPr>
              <a:t>24</a:t>
            </a:fld>
            <a:endParaRPr lang="en-US" altLang="fr-FR"/>
          </a:p>
        </p:txBody>
      </p:sp>
    </p:spTree>
    <p:extLst>
      <p:ext uri="{BB962C8B-B14F-4D97-AF65-F5344CB8AC3E}">
        <p14:creationId xmlns:p14="http://schemas.microsoft.com/office/powerpoint/2010/main" val="308918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Espace réservé de l'image des diapositives 1"/>
          <p:cNvSpPr>
            <a:spLocks noGrp="1" noRot="1" noChangeAspect="1" noTextEdit="1"/>
          </p:cNvSpPr>
          <p:nvPr>
            <p:ph type="sldImg"/>
          </p:nvPr>
        </p:nvSpPr>
        <p:spPr>
          <a:ln/>
        </p:spPr>
      </p:sp>
      <p:sp>
        <p:nvSpPr>
          <p:cNvPr id="6041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6042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76736E6-0458-4573-B5A0-C6A590C18C27}" type="slidenum">
              <a:rPr lang="en-US" altLang="fr-FR"/>
              <a:pPr>
                <a:spcBef>
                  <a:spcPct val="0"/>
                </a:spcBef>
              </a:pPr>
              <a:t>25</a:t>
            </a:fld>
            <a:endParaRPr lang="en-US" altLang="fr-FR"/>
          </a:p>
        </p:txBody>
      </p:sp>
    </p:spTree>
    <p:extLst>
      <p:ext uri="{BB962C8B-B14F-4D97-AF65-F5344CB8AC3E}">
        <p14:creationId xmlns:p14="http://schemas.microsoft.com/office/powerpoint/2010/main" val="17017844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ce réservé de l'image des diapositives 1"/>
          <p:cNvSpPr>
            <a:spLocks noGrp="1" noRot="1" noChangeAspect="1" noTextEdit="1"/>
          </p:cNvSpPr>
          <p:nvPr>
            <p:ph type="sldImg"/>
          </p:nvPr>
        </p:nvSpPr>
        <p:spPr>
          <a:ln/>
        </p:spPr>
      </p:sp>
      <p:sp>
        <p:nvSpPr>
          <p:cNvPr id="6246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6246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365528-2CBD-4A0B-A8ED-2CF059AC16C9}" type="slidenum">
              <a:rPr lang="en-US" altLang="fr-FR"/>
              <a:pPr>
                <a:spcBef>
                  <a:spcPct val="0"/>
                </a:spcBef>
              </a:pPr>
              <a:t>26</a:t>
            </a:fld>
            <a:endParaRPr lang="en-US" altLang="fr-FR"/>
          </a:p>
        </p:txBody>
      </p:sp>
    </p:spTree>
    <p:extLst>
      <p:ext uri="{BB962C8B-B14F-4D97-AF65-F5344CB8AC3E}">
        <p14:creationId xmlns:p14="http://schemas.microsoft.com/office/powerpoint/2010/main" val="3797991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ce réservé de l'image des diapositives 1"/>
          <p:cNvSpPr>
            <a:spLocks noGrp="1" noRot="1" noChangeAspect="1" noTextEdit="1"/>
          </p:cNvSpPr>
          <p:nvPr>
            <p:ph type="sldImg"/>
          </p:nvPr>
        </p:nvSpPr>
        <p:spPr>
          <a:ln/>
        </p:spPr>
      </p:sp>
      <p:sp>
        <p:nvSpPr>
          <p:cNvPr id="6451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6451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EB0BAAF-83B1-433C-9C76-1A0926302A8D}" type="slidenum">
              <a:rPr lang="en-US" altLang="fr-FR"/>
              <a:pPr>
                <a:spcBef>
                  <a:spcPct val="0"/>
                </a:spcBef>
              </a:pPr>
              <a:t>27</a:t>
            </a:fld>
            <a:endParaRPr lang="en-US" altLang="fr-FR"/>
          </a:p>
        </p:txBody>
      </p:sp>
    </p:spTree>
    <p:extLst>
      <p:ext uri="{BB962C8B-B14F-4D97-AF65-F5344CB8AC3E}">
        <p14:creationId xmlns:p14="http://schemas.microsoft.com/office/powerpoint/2010/main" val="3890489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ce réservé de l'image des diapositives 1"/>
          <p:cNvSpPr>
            <a:spLocks noGrp="1" noRot="1" noChangeAspect="1" noTextEdit="1"/>
          </p:cNvSpPr>
          <p:nvPr>
            <p:ph type="sldImg"/>
          </p:nvPr>
        </p:nvSpPr>
        <p:spPr>
          <a:ln/>
        </p:spPr>
      </p:sp>
      <p:sp>
        <p:nvSpPr>
          <p:cNvPr id="6656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6656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41D1548-2349-4A5F-A385-B628DDC6BDB8}" type="slidenum">
              <a:rPr lang="en-US" altLang="fr-FR"/>
              <a:pPr>
                <a:spcBef>
                  <a:spcPct val="0"/>
                </a:spcBef>
              </a:pPr>
              <a:t>28</a:t>
            </a:fld>
            <a:endParaRPr lang="en-US" altLang="fr-FR"/>
          </a:p>
        </p:txBody>
      </p:sp>
    </p:spTree>
    <p:extLst>
      <p:ext uri="{BB962C8B-B14F-4D97-AF65-F5344CB8AC3E}">
        <p14:creationId xmlns:p14="http://schemas.microsoft.com/office/powerpoint/2010/main" val="37144127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ce réservé de l'image des diapositives 1"/>
          <p:cNvSpPr>
            <a:spLocks noGrp="1" noRot="1" noChangeAspect="1" noTextEdit="1"/>
          </p:cNvSpPr>
          <p:nvPr>
            <p:ph type="sldImg"/>
          </p:nvPr>
        </p:nvSpPr>
        <p:spPr>
          <a:ln/>
        </p:spPr>
      </p:sp>
      <p:sp>
        <p:nvSpPr>
          <p:cNvPr id="6861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6861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5972449-3E9D-4DB1-ADE5-8CF89F19C4C8}" type="slidenum">
              <a:rPr lang="en-US" altLang="fr-FR"/>
              <a:pPr>
                <a:spcBef>
                  <a:spcPct val="0"/>
                </a:spcBef>
              </a:pPr>
              <a:t>29</a:t>
            </a:fld>
            <a:endParaRPr lang="en-US" altLang="fr-FR"/>
          </a:p>
        </p:txBody>
      </p:sp>
    </p:spTree>
    <p:extLst>
      <p:ext uri="{BB962C8B-B14F-4D97-AF65-F5344CB8AC3E}">
        <p14:creationId xmlns:p14="http://schemas.microsoft.com/office/powerpoint/2010/main" val="3304895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p:cNvSpPr>
            <a:spLocks noGrp="1" noRot="1" noChangeAspect="1" noTextEdit="1"/>
          </p:cNvSpPr>
          <p:nvPr>
            <p:ph type="sldImg"/>
          </p:nvPr>
        </p:nvSpPr>
        <p:spPr>
          <a:ln/>
        </p:spPr>
      </p:sp>
      <p:sp>
        <p:nvSpPr>
          <p:cNvPr id="7065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7066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A49170-8DA7-45E9-8217-9FCB942F7971}" type="slidenum">
              <a:rPr lang="en-US" altLang="fr-FR"/>
              <a:pPr>
                <a:spcBef>
                  <a:spcPct val="0"/>
                </a:spcBef>
              </a:pPr>
              <a:t>30</a:t>
            </a:fld>
            <a:endParaRPr lang="en-US" altLang="fr-FR"/>
          </a:p>
        </p:txBody>
      </p:sp>
    </p:spTree>
    <p:extLst>
      <p:ext uri="{BB962C8B-B14F-4D97-AF65-F5344CB8AC3E}">
        <p14:creationId xmlns:p14="http://schemas.microsoft.com/office/powerpoint/2010/main" val="16175944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e l'image des diapositives 1"/>
          <p:cNvSpPr>
            <a:spLocks noGrp="1" noRot="1" noChangeAspect="1" noTextEdit="1"/>
          </p:cNvSpPr>
          <p:nvPr>
            <p:ph type="sldImg"/>
          </p:nvPr>
        </p:nvSpPr>
        <p:spPr>
          <a:ln/>
        </p:spPr>
      </p:sp>
      <p:sp>
        <p:nvSpPr>
          <p:cNvPr id="7270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7270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9BE2DF-E687-49D4-AAD9-AD3C72EEB7BE}" type="slidenum">
              <a:rPr lang="en-US" altLang="fr-FR"/>
              <a:pPr>
                <a:spcBef>
                  <a:spcPct val="0"/>
                </a:spcBef>
              </a:pPr>
              <a:t>31</a:t>
            </a:fld>
            <a:endParaRPr lang="en-US" altLang="fr-FR"/>
          </a:p>
        </p:txBody>
      </p:sp>
    </p:spTree>
    <p:extLst>
      <p:ext uri="{BB962C8B-B14F-4D97-AF65-F5344CB8AC3E}">
        <p14:creationId xmlns:p14="http://schemas.microsoft.com/office/powerpoint/2010/main" val="1301099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ce réservé de l'image des diapositives 1"/>
          <p:cNvSpPr>
            <a:spLocks noGrp="1" noRot="1" noChangeAspect="1" noTextEdit="1"/>
          </p:cNvSpPr>
          <p:nvPr>
            <p:ph type="sldImg"/>
          </p:nvPr>
        </p:nvSpPr>
        <p:spPr>
          <a:ln/>
        </p:spPr>
      </p:sp>
      <p:sp>
        <p:nvSpPr>
          <p:cNvPr id="74755"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74756"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7A0BC7F-0B80-495F-8171-A66ECB42E937}" type="slidenum">
              <a:rPr lang="en-US" altLang="fr-FR"/>
              <a:pPr>
                <a:spcBef>
                  <a:spcPct val="0"/>
                </a:spcBef>
              </a:pPr>
              <a:t>32</a:t>
            </a:fld>
            <a:endParaRPr lang="en-US" altLang="fr-FR"/>
          </a:p>
        </p:txBody>
      </p:sp>
    </p:spTree>
    <p:extLst>
      <p:ext uri="{BB962C8B-B14F-4D97-AF65-F5344CB8AC3E}">
        <p14:creationId xmlns:p14="http://schemas.microsoft.com/office/powerpoint/2010/main" val="429471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ce réservé de l'image des diapositives 1"/>
          <p:cNvSpPr>
            <a:spLocks noGrp="1" noRot="1" noChangeAspect="1" noTextEdit="1"/>
          </p:cNvSpPr>
          <p:nvPr>
            <p:ph type="sldImg"/>
          </p:nvPr>
        </p:nvSpPr>
        <p:spPr>
          <a:ln/>
        </p:spPr>
      </p:sp>
      <p:sp>
        <p:nvSpPr>
          <p:cNvPr id="76803"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76804"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9FD42A-89EF-4163-B628-4DF21F5BE724}" type="slidenum">
              <a:rPr lang="en-US" altLang="fr-FR"/>
              <a:pPr>
                <a:spcBef>
                  <a:spcPct val="0"/>
                </a:spcBef>
              </a:pPr>
              <a:t>33</a:t>
            </a:fld>
            <a:endParaRPr lang="en-US" altLang="fr-FR"/>
          </a:p>
        </p:txBody>
      </p:sp>
    </p:spTree>
    <p:extLst>
      <p:ext uri="{BB962C8B-B14F-4D97-AF65-F5344CB8AC3E}">
        <p14:creationId xmlns:p14="http://schemas.microsoft.com/office/powerpoint/2010/main" val="25712018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ce réservé de l'image des diapositives 1"/>
          <p:cNvSpPr>
            <a:spLocks noGrp="1" noRot="1" noChangeAspect="1" noTextEdit="1"/>
          </p:cNvSpPr>
          <p:nvPr>
            <p:ph type="sldImg"/>
          </p:nvPr>
        </p:nvSpPr>
        <p:spPr>
          <a:ln/>
        </p:spPr>
      </p:sp>
      <p:sp>
        <p:nvSpPr>
          <p:cNvPr id="78851"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78852"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1ABA18-B593-4904-A855-33B379256E68}" type="slidenum">
              <a:rPr lang="en-US" altLang="fr-FR"/>
              <a:pPr>
                <a:spcBef>
                  <a:spcPct val="0"/>
                </a:spcBef>
              </a:pPr>
              <a:t>34</a:t>
            </a:fld>
            <a:endParaRPr lang="en-US" altLang="fr-FR"/>
          </a:p>
        </p:txBody>
      </p:sp>
    </p:spTree>
    <p:extLst>
      <p:ext uri="{BB962C8B-B14F-4D97-AF65-F5344CB8AC3E}">
        <p14:creationId xmlns:p14="http://schemas.microsoft.com/office/powerpoint/2010/main" val="22745545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ce réservé de l'image des diapositives 1"/>
          <p:cNvSpPr>
            <a:spLocks noGrp="1" noRot="1" noChangeAspect="1" noTextEdit="1"/>
          </p:cNvSpPr>
          <p:nvPr>
            <p:ph type="sldImg"/>
          </p:nvPr>
        </p:nvSpPr>
        <p:spPr>
          <a:ln/>
        </p:spPr>
      </p:sp>
      <p:sp>
        <p:nvSpPr>
          <p:cNvPr id="80899"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80900"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D23645-A8F7-46B0-8D9F-44422F39702A}" type="slidenum">
              <a:rPr lang="en-US" altLang="fr-FR"/>
              <a:pPr>
                <a:spcBef>
                  <a:spcPct val="0"/>
                </a:spcBef>
              </a:pPr>
              <a:t>35</a:t>
            </a:fld>
            <a:endParaRPr lang="en-US" altLang="fr-FR"/>
          </a:p>
        </p:txBody>
      </p:sp>
    </p:spTree>
    <p:extLst>
      <p:ext uri="{BB962C8B-B14F-4D97-AF65-F5344CB8AC3E}">
        <p14:creationId xmlns:p14="http://schemas.microsoft.com/office/powerpoint/2010/main" val="28049850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a:ln/>
        </p:spPr>
      </p:sp>
      <p:sp>
        <p:nvSpPr>
          <p:cNvPr id="82947" name="Espace réservé des commentaires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
        <p:nvSpPr>
          <p:cNvPr id="82948" name="Espace réservé du numéro de diapositive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A32469F-E07A-446D-B811-BB21227C0069}" type="slidenum">
              <a:rPr lang="en-US" altLang="fr-FR"/>
              <a:pPr>
                <a:spcBef>
                  <a:spcPct val="0"/>
                </a:spcBef>
              </a:pPr>
              <a:t>36</a:t>
            </a:fld>
            <a:endParaRPr lang="en-US" altLang="fr-FR"/>
          </a:p>
        </p:txBody>
      </p:sp>
    </p:spTree>
    <p:extLst>
      <p:ext uri="{BB962C8B-B14F-4D97-AF65-F5344CB8AC3E}">
        <p14:creationId xmlns:p14="http://schemas.microsoft.com/office/powerpoint/2010/main" val="33416586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1EDF1F4-4B19-4489-BF98-7F0B67250F66}" type="slidenum">
              <a:rPr lang="en-US" altLang="fr-FR"/>
              <a:pPr>
                <a:spcBef>
                  <a:spcPct val="0"/>
                </a:spcBef>
              </a:pPr>
              <a:t>37</a:t>
            </a:fld>
            <a:endParaRPr lang="en-US" altLang="fr-F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18585901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DC68097-F9F3-4D23-AC3E-DB0FDCF4FC0F}" type="slidenum">
              <a:rPr lang="en-US" altLang="fr-FR"/>
              <a:pPr>
                <a:spcBef>
                  <a:spcPct val="0"/>
                </a:spcBef>
              </a:pPr>
              <a:t>38</a:t>
            </a:fld>
            <a:endParaRPr lang="en-US" altLang="fr-F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4575945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F9D39BB-3C18-4F8F-8775-6F4233A0E708}" type="slidenum">
              <a:rPr lang="en-US" altLang="fr-FR"/>
              <a:pPr>
                <a:spcBef>
                  <a:spcPct val="0"/>
                </a:spcBef>
              </a:pPr>
              <a:t>39</a:t>
            </a:fld>
            <a:endParaRPr lang="en-US" altLang="fr-F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2291007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6DD8F0-57DE-48EC-9B6A-66B404CD147A}" type="slidenum">
              <a:rPr lang="en-US" altLang="fr-FR"/>
              <a:pPr>
                <a:spcBef>
                  <a:spcPct val="0"/>
                </a:spcBef>
              </a:pPr>
              <a:t>40</a:t>
            </a:fld>
            <a:endParaRPr lang="en-US" altLang="fr-F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3515363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FEB405-C874-4C72-BC80-062287DD9448}" type="slidenum">
              <a:rPr lang="en-US" altLang="fr-FR"/>
              <a:pPr>
                <a:spcBef>
                  <a:spcPct val="0"/>
                </a:spcBef>
              </a:pPr>
              <a:t>41</a:t>
            </a:fld>
            <a:endParaRPr lang="en-US" altLang="fr-F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tLang="fr-FR"/>
          </a:p>
        </p:txBody>
      </p:sp>
    </p:spTree>
    <p:extLst>
      <p:ext uri="{BB962C8B-B14F-4D97-AF65-F5344CB8AC3E}">
        <p14:creationId xmlns:p14="http://schemas.microsoft.com/office/powerpoint/2010/main" val="2595819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en-US"/>
          </a:p>
        </p:txBody>
      </p:sp>
      <p:sp>
        <p:nvSpPr>
          <p:cNvPr id="7" name="Espace réservé du pied de page 18"/>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26"/>
          <p:cNvSpPr>
            <a:spLocks noGrp="1"/>
          </p:cNvSpPr>
          <p:nvPr>
            <p:ph type="sldNum" sz="quarter" idx="12"/>
          </p:nvPr>
        </p:nvSpPr>
        <p:spPr/>
        <p:txBody>
          <a:bodyPr/>
          <a:lstStyle>
            <a:lvl1pPr>
              <a:defRPr smtClean="0"/>
            </a:lvl1pPr>
          </a:lstStyle>
          <a:p>
            <a:pPr>
              <a:defRPr/>
            </a:pPr>
            <a:fld id="{FE6F1B31-C1BD-460B-8DFE-62BF6FFF9229}" type="slidenum">
              <a:rPr lang="en-US" altLang="fr-FR"/>
              <a:pPr>
                <a:defRPr/>
              </a:pPr>
              <a:t>‹#›</a:t>
            </a:fld>
            <a:endParaRPr lang="en-US" altLang="fr-FR"/>
          </a:p>
        </p:txBody>
      </p:sp>
    </p:spTree>
    <p:extLst>
      <p:ext uri="{BB962C8B-B14F-4D97-AF65-F5344CB8AC3E}">
        <p14:creationId xmlns:p14="http://schemas.microsoft.com/office/powerpoint/2010/main" val="423244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a:t>Cliquez pour modifier le style du titre</a:t>
            </a:r>
            <a:endParaRPr lang="en-US"/>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5E10157E-CE96-41DC-9694-A2D66CED317E}" type="slidenum">
              <a:rPr lang="en-US" altLang="fr-FR"/>
              <a:pPr>
                <a:defRPr/>
              </a:pPr>
              <a:t>‹#›</a:t>
            </a:fld>
            <a:endParaRPr lang="en-US" altLang="fr-FR"/>
          </a:p>
        </p:txBody>
      </p:sp>
    </p:spTree>
    <p:extLst>
      <p:ext uri="{BB962C8B-B14F-4D97-AF65-F5344CB8AC3E}">
        <p14:creationId xmlns:p14="http://schemas.microsoft.com/office/powerpoint/2010/main" val="4135304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en-US"/>
          </a:p>
        </p:txBody>
      </p:sp>
      <p:sp>
        <p:nvSpPr>
          <p:cNvPr id="7" name="Espace réservé du pied de page 4"/>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8" name="Espace réservé du numéro de diapositive 5"/>
          <p:cNvSpPr>
            <a:spLocks noGrp="1"/>
          </p:cNvSpPr>
          <p:nvPr>
            <p:ph type="sldNum" sz="quarter" idx="12"/>
          </p:nvPr>
        </p:nvSpPr>
        <p:spPr/>
        <p:txBody>
          <a:bodyPr/>
          <a:lstStyle>
            <a:lvl1pPr>
              <a:defRPr smtClean="0"/>
            </a:lvl1pPr>
          </a:lstStyle>
          <a:p>
            <a:pPr>
              <a:defRPr/>
            </a:pPr>
            <a:fld id="{DAEE3183-C548-4CA9-B721-B4E01355CD34}" type="slidenum">
              <a:rPr lang="en-US" altLang="fr-FR"/>
              <a:pPr>
                <a:defRPr/>
              </a:pPr>
              <a:t>‹#›</a:t>
            </a:fld>
            <a:endParaRPr lang="en-US" altLang="fr-FR"/>
          </a:p>
        </p:txBody>
      </p:sp>
    </p:spTree>
    <p:extLst>
      <p:ext uri="{BB962C8B-B14F-4D97-AF65-F5344CB8AC3E}">
        <p14:creationId xmlns:p14="http://schemas.microsoft.com/office/powerpoint/2010/main" val="2965889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60F74F6C-95CE-4D72-ADAB-C675903B11C1}" type="slidenum">
              <a:rPr lang="en-US" altLang="fr-FR"/>
              <a:pPr>
                <a:defRPr/>
              </a:pPr>
              <a:t>‹#›</a:t>
            </a:fld>
            <a:endParaRPr lang="en-US" altLang="fr-FR"/>
          </a:p>
        </p:txBody>
      </p:sp>
    </p:spTree>
    <p:extLst>
      <p:ext uri="{BB962C8B-B14F-4D97-AF65-F5344CB8AC3E}">
        <p14:creationId xmlns:p14="http://schemas.microsoft.com/office/powerpoint/2010/main" val="102982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en-US"/>
          </a:p>
        </p:txBody>
      </p:sp>
      <p:sp>
        <p:nvSpPr>
          <p:cNvPr id="8"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9" name="Espace réservé du numéro de diapositive 17"/>
          <p:cNvSpPr>
            <a:spLocks noGrp="1"/>
          </p:cNvSpPr>
          <p:nvPr>
            <p:ph type="sldNum" sz="quarter" idx="12"/>
          </p:nvPr>
        </p:nvSpPr>
        <p:spPr/>
        <p:txBody>
          <a:bodyPr/>
          <a:lstStyle>
            <a:lvl1pPr>
              <a:defRPr/>
            </a:lvl1pPr>
          </a:lstStyle>
          <a:p>
            <a:pPr>
              <a:defRPr/>
            </a:pPr>
            <a:fld id="{61615275-0BDA-4653-9575-80C8EDC29E66}" type="slidenum">
              <a:rPr lang="en-US" altLang="fr-FR"/>
              <a:pPr>
                <a:defRPr/>
              </a:pPr>
              <a:t>‹#›</a:t>
            </a:fld>
            <a:endParaRPr lang="en-US" altLang="fr-FR"/>
          </a:p>
        </p:txBody>
      </p:sp>
    </p:spTree>
    <p:extLst>
      <p:ext uri="{BB962C8B-B14F-4D97-AF65-F5344CB8AC3E}">
        <p14:creationId xmlns:p14="http://schemas.microsoft.com/office/powerpoint/2010/main" val="1065746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en-US"/>
          </a:p>
        </p:txBody>
      </p:sp>
      <p:sp>
        <p:nvSpPr>
          <p:cNvPr id="4"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5" name="Espace réservé du numéro de diapositive 17"/>
          <p:cNvSpPr>
            <a:spLocks noGrp="1"/>
          </p:cNvSpPr>
          <p:nvPr>
            <p:ph type="sldNum" sz="quarter" idx="12"/>
          </p:nvPr>
        </p:nvSpPr>
        <p:spPr/>
        <p:txBody>
          <a:bodyPr/>
          <a:lstStyle>
            <a:lvl1pPr>
              <a:defRPr/>
            </a:lvl1pPr>
          </a:lstStyle>
          <a:p>
            <a:pPr>
              <a:defRPr/>
            </a:pPr>
            <a:fld id="{259BAC0D-3F57-4931-B53E-46D163BB20D6}" type="slidenum">
              <a:rPr lang="en-US" altLang="fr-FR"/>
              <a:pPr>
                <a:defRPr/>
              </a:pPr>
              <a:t>‹#›</a:t>
            </a:fld>
            <a:endParaRPr lang="en-US" altLang="fr-FR"/>
          </a:p>
        </p:txBody>
      </p:sp>
    </p:spTree>
    <p:extLst>
      <p:ext uri="{BB962C8B-B14F-4D97-AF65-F5344CB8AC3E}">
        <p14:creationId xmlns:p14="http://schemas.microsoft.com/office/powerpoint/2010/main" val="1520220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en-US"/>
          </a:p>
        </p:txBody>
      </p:sp>
      <p:sp>
        <p:nvSpPr>
          <p:cNvPr id="3"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4" name="Espace réservé du numéro de diapositive 17"/>
          <p:cNvSpPr>
            <a:spLocks noGrp="1"/>
          </p:cNvSpPr>
          <p:nvPr>
            <p:ph type="sldNum" sz="quarter" idx="12"/>
          </p:nvPr>
        </p:nvSpPr>
        <p:spPr/>
        <p:txBody>
          <a:bodyPr/>
          <a:lstStyle>
            <a:lvl1pPr>
              <a:defRPr/>
            </a:lvl1pPr>
          </a:lstStyle>
          <a:p>
            <a:pPr>
              <a:defRPr/>
            </a:pPr>
            <a:fld id="{9CB1655F-D14C-44F4-9E47-7A6E41570238}" type="slidenum">
              <a:rPr lang="en-US" altLang="fr-FR"/>
              <a:pPr>
                <a:defRPr/>
              </a:pPr>
              <a:t>‹#›</a:t>
            </a:fld>
            <a:endParaRPr lang="en-US" altLang="fr-FR"/>
          </a:p>
        </p:txBody>
      </p:sp>
    </p:spTree>
    <p:extLst>
      <p:ext uri="{BB962C8B-B14F-4D97-AF65-F5344CB8AC3E}">
        <p14:creationId xmlns:p14="http://schemas.microsoft.com/office/powerpoint/2010/main" val="187289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en-US"/>
          </a:p>
        </p:txBody>
      </p:sp>
      <p:sp>
        <p:nvSpPr>
          <p:cNvPr id="6" name="Espace réservé du pied de page 5"/>
          <p:cNvSpPr>
            <a:spLocks noGrp="1"/>
          </p:cNvSpPr>
          <p:nvPr>
            <p:ph type="ftr" sz="quarter" idx="11"/>
          </p:nvPr>
        </p:nvSpPr>
        <p:spPr/>
        <p:txBody>
          <a:bodyPr/>
          <a:lstStyle>
            <a:lvl1pPr>
              <a:defRPr smtClean="0"/>
            </a:lvl1pPr>
          </a:lstStyle>
          <a:p>
            <a:pPr>
              <a:defRPr/>
            </a:pPr>
            <a:r>
              <a:rPr lang="en-US"/>
              <a:t>Commande des machines Mach asyn   Ali NEJMI</a:t>
            </a:r>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smtClean="0"/>
            </a:lvl1pPr>
          </a:lstStyle>
          <a:p>
            <a:pPr>
              <a:defRPr/>
            </a:pPr>
            <a:fld id="{C5EBC5CA-A7C6-4DEA-97FB-A1B526FD0A24}" type="slidenum">
              <a:rPr lang="en-US" altLang="fr-FR"/>
              <a:pPr>
                <a:defRPr/>
              </a:pPr>
              <a:t>‹#›</a:t>
            </a:fld>
            <a:endParaRPr lang="en-US" altLang="fr-FR"/>
          </a:p>
        </p:txBody>
      </p:sp>
    </p:spTree>
    <p:extLst>
      <p:ext uri="{BB962C8B-B14F-4D97-AF65-F5344CB8AC3E}">
        <p14:creationId xmlns:p14="http://schemas.microsoft.com/office/powerpoint/2010/main" val="1861975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7" name="Espace réservé du numéro de diapositive 17"/>
          <p:cNvSpPr>
            <a:spLocks noGrp="1"/>
          </p:cNvSpPr>
          <p:nvPr>
            <p:ph type="sldNum" sz="quarter" idx="12"/>
          </p:nvPr>
        </p:nvSpPr>
        <p:spPr/>
        <p:txBody>
          <a:bodyPr/>
          <a:lstStyle>
            <a:lvl1pPr>
              <a:defRPr/>
            </a:lvl1pPr>
          </a:lstStyle>
          <a:p>
            <a:pPr>
              <a:defRPr/>
            </a:pPr>
            <a:fld id="{93C0FEC7-5E2D-484F-8B46-3C71F2B4A7DA}" type="slidenum">
              <a:rPr lang="en-US" altLang="fr-FR"/>
              <a:pPr>
                <a:defRPr/>
              </a:pPr>
              <a:t>‹#›</a:t>
            </a:fld>
            <a:endParaRPr lang="en-US" altLang="fr-FR"/>
          </a:p>
        </p:txBody>
      </p:sp>
    </p:spTree>
    <p:extLst>
      <p:ext uri="{BB962C8B-B14F-4D97-AF65-F5344CB8AC3E}">
        <p14:creationId xmlns:p14="http://schemas.microsoft.com/office/powerpoint/2010/main" val="1184704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85D103FC-4823-4A47-9251-EAA19161FDAB}" type="slidenum">
              <a:rPr lang="en-US" altLang="fr-FR"/>
              <a:pPr>
                <a:defRPr/>
              </a:pPr>
              <a:t>‹#›</a:t>
            </a:fld>
            <a:endParaRPr lang="en-US" altLang="fr-FR"/>
          </a:p>
        </p:txBody>
      </p:sp>
    </p:spTree>
    <p:extLst>
      <p:ext uri="{BB962C8B-B14F-4D97-AF65-F5344CB8AC3E}">
        <p14:creationId xmlns:p14="http://schemas.microsoft.com/office/powerpoint/2010/main" val="460132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en-US"/>
              <a:t>Commande des machines Mach asyn   Ali NEJMI</a:t>
            </a:r>
          </a:p>
        </p:txBody>
      </p:sp>
      <p:sp>
        <p:nvSpPr>
          <p:cNvPr id="6" name="Espace réservé du numéro de diapositive 17"/>
          <p:cNvSpPr>
            <a:spLocks noGrp="1"/>
          </p:cNvSpPr>
          <p:nvPr>
            <p:ph type="sldNum" sz="quarter" idx="12"/>
          </p:nvPr>
        </p:nvSpPr>
        <p:spPr/>
        <p:txBody>
          <a:bodyPr/>
          <a:lstStyle>
            <a:lvl1pPr>
              <a:defRPr/>
            </a:lvl1pPr>
          </a:lstStyle>
          <a:p>
            <a:pPr>
              <a:defRPr/>
            </a:pPr>
            <a:fld id="{B62A23C4-EB8F-499C-BE44-B38F6F899CC3}" type="slidenum">
              <a:rPr lang="en-US" altLang="fr-FR"/>
              <a:pPr>
                <a:defRPr/>
              </a:pPr>
              <a:t>‹#›</a:t>
            </a:fld>
            <a:endParaRPr lang="en-US" altLang="fr-FR"/>
          </a:p>
        </p:txBody>
      </p:sp>
    </p:spTree>
    <p:extLst>
      <p:ext uri="{BB962C8B-B14F-4D97-AF65-F5344CB8AC3E}">
        <p14:creationId xmlns:p14="http://schemas.microsoft.com/office/powerpoint/2010/main" val="26006642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u">
    <p:spTree>
      <p:nvGrpSpPr>
        <p:cNvPr id="1" name=""/>
        <p:cNvGrpSpPr/>
        <p:nvPr/>
      </p:nvGrpSpPr>
      <p:grpSpPr>
        <a:xfrm>
          <a:off x="0" y="0"/>
          <a:ext cx="0" cy="0"/>
          <a:chOff x="0" y="0"/>
          <a:chExt cx="0" cy="0"/>
        </a:xfrm>
      </p:grpSpPr>
      <p:sp>
        <p:nvSpPr>
          <p:cNvPr id="2" name="Espace réservé du contenu 1"/>
          <p:cNvSpPr>
            <a:spLocks noGrp="1"/>
          </p:cNvSpPr>
          <p:nvPr>
            <p:ph/>
          </p:nvPr>
        </p:nvSpPr>
        <p:spPr>
          <a:xfrm>
            <a:off x="685800" y="609600"/>
            <a:ext cx="7772400" cy="54864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e la date 2"/>
          <p:cNvSpPr>
            <a:spLocks noGrp="1"/>
          </p:cNvSpPr>
          <p:nvPr>
            <p:ph type="dt" sz="half" idx="10"/>
          </p:nvPr>
        </p:nvSpPr>
        <p:spPr>
          <a:xfrm>
            <a:off x="685800" y="6248400"/>
            <a:ext cx="1905000" cy="457200"/>
          </a:xfrm>
        </p:spPr>
        <p:txBody>
          <a:bodyPr/>
          <a:lstStyle>
            <a:lvl1pPr>
              <a:defRPr/>
            </a:lvl1pPr>
          </a:lstStyle>
          <a:p>
            <a:pPr>
              <a:defRPr/>
            </a:pPr>
            <a:endParaRPr lang="en-US"/>
          </a:p>
        </p:txBody>
      </p:sp>
      <p:sp>
        <p:nvSpPr>
          <p:cNvPr id="4" name="Espace réservé du pied de page 3"/>
          <p:cNvSpPr>
            <a:spLocks noGrp="1"/>
          </p:cNvSpPr>
          <p:nvPr>
            <p:ph type="ftr" sz="quarter" idx="11"/>
          </p:nvPr>
        </p:nvSpPr>
        <p:spPr>
          <a:xfrm>
            <a:off x="3124200" y="6248400"/>
            <a:ext cx="2895600" cy="457200"/>
          </a:xfrm>
        </p:spPr>
        <p:txBody>
          <a:bodyPr/>
          <a:lstStyle>
            <a:lvl1pPr>
              <a:defRPr smtClean="0"/>
            </a:lvl1pPr>
          </a:lstStyle>
          <a:p>
            <a:pPr>
              <a:defRPr/>
            </a:pPr>
            <a:r>
              <a:rPr lang="en-US"/>
              <a:t>Commande des machines Mach asyn   Ali NEJMI</a:t>
            </a:r>
          </a:p>
        </p:txBody>
      </p:sp>
      <p:sp>
        <p:nvSpPr>
          <p:cNvPr id="5" name="Espace réservé du numéro de diapositive 4"/>
          <p:cNvSpPr>
            <a:spLocks noGrp="1"/>
          </p:cNvSpPr>
          <p:nvPr>
            <p:ph type="sldNum" sz="quarter" idx="12"/>
          </p:nvPr>
        </p:nvSpPr>
        <p:spPr>
          <a:xfrm>
            <a:off x="6553200" y="6248400"/>
            <a:ext cx="1905000" cy="457200"/>
          </a:xfrm>
        </p:spPr>
        <p:txBody>
          <a:bodyPr/>
          <a:lstStyle>
            <a:lvl1pPr>
              <a:defRPr smtClean="0"/>
            </a:lvl1pPr>
          </a:lstStyle>
          <a:p>
            <a:pPr>
              <a:defRPr/>
            </a:pPr>
            <a:fld id="{257980D5-22D2-4C77-91CC-8B7BF95E4CE4}" type="slidenum">
              <a:rPr lang="en-US" altLang="fr-FR"/>
              <a:pPr>
                <a:defRPr/>
              </a:pPr>
              <a:t>‹#›</a:t>
            </a:fld>
            <a:endParaRPr lang="en-US" altLang="fr-FR"/>
          </a:p>
        </p:txBody>
      </p:sp>
    </p:spTree>
    <p:extLst>
      <p:ext uri="{BB962C8B-B14F-4D97-AF65-F5344CB8AC3E}">
        <p14:creationId xmlns:p14="http://schemas.microsoft.com/office/powerpoint/2010/main" val="768918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a:t>Cliquez pour modifier le style du titre</a:t>
            </a:r>
            <a:endParaRPr lang="en-US" altLang="fr-FR"/>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pitchFamily="34" charset="0"/>
                <a:cs typeface="Arial" pitchFamily="34" charset="0"/>
              </a:defRPr>
            </a:lvl1pPr>
          </a:lstStyle>
          <a:p>
            <a:pPr>
              <a:defRPr/>
            </a:pPr>
            <a:endParaRPr lang="en-US"/>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smtClean="0">
                <a:solidFill>
                  <a:schemeClr val="tx2">
                    <a:shade val="50000"/>
                  </a:schemeClr>
                </a:solidFill>
                <a:latin typeface="Arial" pitchFamily="34" charset="0"/>
                <a:cs typeface="Arial" pitchFamily="34" charset="0"/>
              </a:defRPr>
            </a:lvl1pPr>
          </a:lstStyle>
          <a:p>
            <a:pPr>
              <a:defRPr/>
            </a:pPr>
            <a:r>
              <a:rPr lang="en-US"/>
              <a:t>Commande des machines Mach asyn   Ali NEJMI</a:t>
            </a:r>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smtClean="0">
                <a:solidFill>
                  <a:srgbClr val="292929"/>
                </a:solidFill>
                <a:latin typeface="Arial" panose="020B0604020202020204" pitchFamily="34" charset="0"/>
                <a:cs typeface="Arial" panose="020B0604020202020204" pitchFamily="34" charset="0"/>
              </a:defRPr>
            </a:lvl1pPr>
          </a:lstStyle>
          <a:p>
            <a:pPr>
              <a:defRPr/>
            </a:pPr>
            <a:fld id="{8190C74C-B9D8-47DD-A058-8CC26F08CC7D}" type="slidenum">
              <a:rPr lang="en-US" altLang="fr-FR"/>
              <a:pPr>
                <a:defRPr/>
              </a:pPr>
              <a:t>‹#›</a:t>
            </a:fld>
            <a:endParaRPr lang="en-US" altLang="fr-FR"/>
          </a:p>
        </p:txBody>
      </p:sp>
    </p:spTree>
  </p:cSld>
  <p:clrMap bg1="lt1" tx1="dk1" bg2="lt2" tx2="dk2" accent1="accent1" accent2="accent2" accent3="accent3" accent4="accent4" accent5="accent5" accent6="accent6" hlink="hlink" folHlink="folHlink"/>
  <p:sldLayoutIdLst>
    <p:sldLayoutId id="2147484191" r:id="rId1"/>
    <p:sldLayoutId id="2147484183" r:id="rId2"/>
    <p:sldLayoutId id="2147484192" r:id="rId3"/>
    <p:sldLayoutId id="2147484184" r:id="rId4"/>
    <p:sldLayoutId id="2147484185" r:id="rId5"/>
    <p:sldLayoutId id="2147484186" r:id="rId6"/>
    <p:sldLayoutId id="2147484187" r:id="rId7"/>
    <p:sldLayoutId id="2147484193" r:id="rId8"/>
    <p:sldLayoutId id="2147484188" r:id="rId9"/>
    <p:sldLayoutId id="2147484189" r:id="rId10"/>
    <p:sldLayoutId id="2147484190" r:id="rId11"/>
    <p:sldLayoutId id="2147484194" r:id="rId12"/>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ejmi@yahoo.f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vmlDrawing" Target="../drawings/vmlDrawing2.vml"/><Relationship Id="rId5" Type="http://schemas.openxmlformats.org/officeDocument/2006/relationships/image" Target="../media/image3.png"/><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wmf"/><Relationship Id="rId4" Type="http://schemas.openxmlformats.org/officeDocument/2006/relationships/oleObject" Target="../embeddings/oleObject3.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7.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6.wmf"/><Relationship Id="rId4" Type="http://schemas.openxmlformats.org/officeDocument/2006/relationships/oleObject" Target="../embeddings/oleObject4.bin"/></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8.bin"/><Relationship Id="rId5" Type="http://schemas.openxmlformats.org/officeDocument/2006/relationships/image" Target="../media/image11.wmf"/><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0.bin"/><Relationship Id="rId5" Type="http://schemas.openxmlformats.org/officeDocument/2006/relationships/image" Target="../media/image13.wmf"/><Relationship Id="rId4" Type="http://schemas.openxmlformats.org/officeDocument/2006/relationships/oleObject" Target="../embeddings/oleObject9.bin"/></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notesSlide" Target="../notesSlides/notesSlide21.xml"/><Relationship Id="rId7"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16.wmf"/><Relationship Id="rId4" Type="http://schemas.openxmlformats.org/officeDocument/2006/relationships/oleObject" Target="../embeddings/oleObject11.bin"/><Relationship Id="rId9" Type="http://schemas.openxmlformats.org/officeDocument/2006/relationships/image" Target="../media/image1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2.wmf"/><Relationship Id="rId3" Type="http://schemas.openxmlformats.org/officeDocument/2006/relationships/notesSlide" Target="../notesSlides/notesSlide22.xml"/><Relationship Id="rId7" Type="http://schemas.openxmlformats.org/officeDocument/2006/relationships/image" Target="../media/image20.wmf"/><Relationship Id="rId12"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15.bin"/><Relationship Id="rId11" Type="http://schemas.openxmlformats.org/officeDocument/2006/relationships/image" Target="../media/image1.jpeg"/><Relationship Id="rId5" Type="http://schemas.openxmlformats.org/officeDocument/2006/relationships/image" Target="../media/image19.wmf"/><Relationship Id="rId15" Type="http://schemas.openxmlformats.org/officeDocument/2006/relationships/image" Target="../media/image23.wmf"/><Relationship Id="rId10" Type="http://schemas.openxmlformats.org/officeDocument/2006/relationships/image" Target="../media/image24.png"/><Relationship Id="rId4" Type="http://schemas.openxmlformats.org/officeDocument/2006/relationships/oleObject" Target="../embeddings/oleObject14.bin"/><Relationship Id="rId9" Type="http://schemas.openxmlformats.org/officeDocument/2006/relationships/image" Target="../media/image21.wmf"/><Relationship Id="rId14" Type="http://schemas.openxmlformats.org/officeDocument/2006/relationships/oleObject" Target="../embeddings/oleObject18.bin"/></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9.png"/><Relationship Id="rId5" Type="http://schemas.openxmlformats.org/officeDocument/2006/relationships/image" Target="../media/image38.wmf"/><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847725" y="1822450"/>
            <a:ext cx="7772400" cy="1143000"/>
          </a:xfrm>
        </p:spPr>
        <p:txBody>
          <a:bodyPr/>
          <a:lstStyle/>
          <a:p>
            <a:pPr algn="ctr">
              <a:lnSpc>
                <a:spcPct val="80000"/>
              </a:lnSpc>
              <a:spcBef>
                <a:spcPct val="20000"/>
              </a:spcBef>
              <a:defRPr/>
            </a:pPr>
            <a:r>
              <a:rPr lang="en-US" sz="1700" b="1" dirty="0">
                <a:latin typeface="+mn-lt"/>
                <a:ea typeface="+mn-ea"/>
                <a:cs typeface="+mn-cs"/>
              </a:rPr>
              <a:t>MODULE</a:t>
            </a:r>
            <a:br>
              <a:rPr lang="en-US" sz="1700" b="1" dirty="0">
                <a:latin typeface="+mn-lt"/>
                <a:ea typeface="+mn-ea"/>
                <a:cs typeface="+mn-cs"/>
              </a:rPr>
            </a:br>
            <a:r>
              <a:rPr lang="en-US" sz="1700" b="1" dirty="0">
                <a:latin typeface="+mn-lt"/>
                <a:ea typeface="+mn-ea"/>
                <a:cs typeface="+mn-cs"/>
              </a:rPr>
              <a:t>Machine </a:t>
            </a:r>
            <a:r>
              <a:rPr lang="en-US" sz="1700" b="1" dirty="0" err="1">
                <a:latin typeface="+mn-lt"/>
                <a:ea typeface="+mn-ea"/>
                <a:cs typeface="+mn-cs"/>
              </a:rPr>
              <a:t>asynchrone</a:t>
            </a:r>
            <a:br>
              <a:rPr lang="en-US" sz="1700" b="1" dirty="0">
                <a:latin typeface="+mn-lt"/>
                <a:ea typeface="+mn-ea"/>
                <a:cs typeface="+mn-cs"/>
              </a:rPr>
            </a:br>
            <a:r>
              <a:rPr lang="en-US" sz="1700" b="1" dirty="0" err="1">
                <a:latin typeface="+mn-lt"/>
                <a:ea typeface="+mn-ea"/>
                <a:cs typeface="+mn-cs"/>
              </a:rPr>
              <a:t>Modèle</a:t>
            </a:r>
            <a:r>
              <a:rPr lang="en-US" sz="1700" b="1" dirty="0">
                <a:latin typeface="+mn-lt"/>
                <a:ea typeface="+mn-ea"/>
                <a:cs typeface="+mn-cs"/>
              </a:rPr>
              <a:t> </a:t>
            </a:r>
            <a:r>
              <a:rPr lang="en-US" sz="1700" b="1" dirty="0" err="1">
                <a:latin typeface="+mn-lt"/>
                <a:ea typeface="+mn-ea"/>
                <a:cs typeface="+mn-cs"/>
              </a:rPr>
              <a:t>statique</a:t>
            </a:r>
            <a:r>
              <a:rPr lang="en-US" sz="1700" b="1" dirty="0">
                <a:latin typeface="+mn-lt"/>
                <a:ea typeface="+mn-ea"/>
                <a:cs typeface="+mn-cs"/>
              </a:rPr>
              <a:t> </a:t>
            </a:r>
            <a:br>
              <a:rPr lang="en-US" sz="5400" b="1" cap="small" dirty="0"/>
            </a:br>
            <a:endParaRPr lang="en-US" b="1" dirty="0"/>
          </a:p>
        </p:txBody>
      </p:sp>
      <p:sp>
        <p:nvSpPr>
          <p:cNvPr id="10243" name="Rectangle 4"/>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 name="Rectangle 2"/>
          <p:cNvSpPr txBox="1">
            <a:spLocks noChangeArrowheads="1"/>
          </p:cNvSpPr>
          <p:nvPr/>
        </p:nvSpPr>
        <p:spPr bwMode="auto">
          <a:xfrm>
            <a:off x="920700" y="1042738"/>
            <a:ext cx="7906468" cy="673768"/>
          </a:xfrm>
          <a:prstGeom prst="rect">
            <a:avLst/>
          </a:prstGeom>
          <a:noFill/>
          <a:ln w="9525">
            <a:noFill/>
            <a:miter lim="800000"/>
            <a:headEnd/>
            <a:tailEnd/>
          </a:ln>
        </p:spPr>
        <p:txBody>
          <a:bodyPr lIns="45720" rIns="45720" anchor="ctr"/>
          <a:lstStyle/>
          <a:p>
            <a:pPr algn="r">
              <a:defRPr/>
            </a:pP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CommAnde</a:t>
            </a:r>
            <a:r>
              <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 des machines </a:t>
            </a:r>
            <a:r>
              <a:rPr lang="fr-FR"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electriques</a:t>
            </a:r>
            <a:endParaRPr lang="fr-FR"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endParaRPr>
          </a:p>
        </p:txBody>
      </p:sp>
      <p:sp>
        <p:nvSpPr>
          <p:cNvPr id="10245" name="Rectangle 4"/>
          <p:cNvSpPr>
            <a:spLocks noChangeArrowheads="1"/>
          </p:cNvSpPr>
          <p:nvPr/>
        </p:nvSpPr>
        <p:spPr bwMode="auto">
          <a:xfrm>
            <a:off x="2420938" y="3609975"/>
            <a:ext cx="4572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lnSpc>
                <a:spcPct val="80000"/>
              </a:lnSpc>
              <a:spcBef>
                <a:spcPct val="0"/>
              </a:spcBef>
              <a:buClrTx/>
              <a:buSzTx/>
              <a:buFontTx/>
              <a:buNone/>
            </a:pPr>
            <a:r>
              <a:rPr lang="en-US" altLang="fr-FR" sz="1600" dirty="0">
                <a:latin typeface="Arial Narrow" panose="020B0606020202030204" pitchFamily="34" charset="0"/>
              </a:rPr>
              <a:t>Ali NEJMI</a:t>
            </a:r>
          </a:p>
          <a:p>
            <a:pPr algn="ctr" eaLnBrk="1" hangingPunct="1">
              <a:lnSpc>
                <a:spcPct val="80000"/>
              </a:lnSpc>
              <a:spcBef>
                <a:spcPct val="0"/>
              </a:spcBef>
              <a:buClrTx/>
              <a:buSzTx/>
              <a:buFontTx/>
              <a:buNone/>
            </a:pPr>
            <a:r>
              <a:rPr lang="en-US" altLang="fr-FR" sz="1600" dirty="0">
                <a:latin typeface="Arial Narrow" panose="020B0606020202030204" pitchFamily="34" charset="0"/>
              </a:rPr>
              <a:t>Version.2023</a:t>
            </a:r>
          </a:p>
        </p:txBody>
      </p:sp>
      <p:sp>
        <p:nvSpPr>
          <p:cNvPr id="10246" name="ZoneTexte 6"/>
          <p:cNvSpPr txBox="1">
            <a:spLocks noChangeArrowheads="1"/>
          </p:cNvSpPr>
          <p:nvPr/>
        </p:nvSpPr>
        <p:spPr bwMode="auto">
          <a:xfrm>
            <a:off x="547688" y="4724400"/>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Narrow" panose="020B0606020202030204" pitchFamily="34" charset="0"/>
                <a:hlinkClick r:id="rId3"/>
              </a:rPr>
              <a:t>alinejmi@yahoo.fr</a:t>
            </a:r>
            <a:r>
              <a:rPr lang="fr-FR" altLang="fr-FR" sz="1400" i="1">
                <a:solidFill>
                  <a:srgbClr val="FF0000"/>
                </a:solidFill>
                <a:latin typeface="Arial Narrow" panose="020B0606020202030204" pitchFamily="34" charset="0"/>
              </a:rPr>
              <a:t>  (Email principal) ; </a:t>
            </a:r>
          </a:p>
        </p:txBody>
      </p:sp>
      <p:sp>
        <p:nvSpPr>
          <p:cNvPr id="10247" name="Sous-titre 2"/>
          <p:cNvSpPr txBox="1">
            <a:spLocks/>
          </p:cNvSpPr>
          <p:nvPr/>
        </p:nvSpPr>
        <p:spPr bwMode="auto">
          <a:xfrm>
            <a:off x="319088" y="5562600"/>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a:solidFill>
                <a:srgbClr val="FF0000"/>
              </a:solidFill>
              <a:latin typeface="Bradley Hand ITC" panose="03070402050302030203" pitchFamily="66" charset="0"/>
            </a:endParaRPr>
          </a:p>
        </p:txBody>
      </p:sp>
      <p:sp>
        <p:nvSpPr>
          <p:cNvPr id="10248"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C53C9E6-10E7-4528-8EE9-5B06E144F737}" type="slidenum">
              <a:rPr lang="en-US" altLang="fr-FR" sz="1000">
                <a:solidFill>
                  <a:srgbClr val="292929"/>
                </a:solidFill>
                <a:latin typeface="Arial" panose="020B0604020202020204" pitchFamily="34" charset="0"/>
              </a:rPr>
              <a:pPr>
                <a:spcBef>
                  <a:spcPct val="0"/>
                </a:spcBef>
                <a:buClrTx/>
                <a:buSzTx/>
                <a:buFontTx/>
                <a:buNone/>
              </a:pPr>
              <a:t>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851917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6"/>
          <p:cNvSpPr>
            <a:spLocks noGrp="1" noChangeArrowheads="1"/>
          </p:cNvSpPr>
          <p:nvPr>
            <p:ph idx="1"/>
          </p:nvPr>
        </p:nvSpPr>
        <p:spPr>
          <a:xfrm>
            <a:off x="2209800" y="228600"/>
            <a:ext cx="4572000" cy="457200"/>
          </a:xfrm>
        </p:spPr>
        <p:txBody>
          <a:bodyPr/>
          <a:lstStyle/>
          <a:p>
            <a:pPr algn="ctr">
              <a:buFontTx/>
              <a:buNone/>
            </a:pPr>
            <a:r>
              <a:rPr lang="en-US" altLang="fr-FR" sz="2400" b="1">
                <a:latin typeface="Arial Narrow" panose="020B0606020202030204" pitchFamily="34" charset="0"/>
              </a:rPr>
              <a:t>Construction </a:t>
            </a:r>
          </a:p>
        </p:txBody>
      </p:sp>
      <p:sp>
        <p:nvSpPr>
          <p:cNvPr id="12291" name="Rectangle 3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2" name="Oval 2"/>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3" name="Oval 3"/>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4" name="Oval 4"/>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295" name="Text Box 29"/>
          <p:cNvSpPr txBox="1">
            <a:spLocks noChangeArrowheads="1"/>
          </p:cNvSpPr>
          <p:nvPr/>
        </p:nvSpPr>
        <p:spPr bwMode="auto">
          <a:xfrm>
            <a:off x="4038600" y="1190625"/>
            <a:ext cx="4572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sp>
        <p:nvSpPr>
          <p:cNvPr id="12296" name="Text Box 30"/>
          <p:cNvSpPr txBox="1">
            <a:spLocks noChangeArrowheads="1"/>
          </p:cNvSpPr>
          <p:nvPr/>
        </p:nvSpPr>
        <p:spPr bwMode="auto">
          <a:xfrm>
            <a:off x="3276600" y="34004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b</a:t>
            </a:r>
          </a:p>
        </p:txBody>
      </p:sp>
      <p:sp>
        <p:nvSpPr>
          <p:cNvPr id="12297" name="Text Box 31"/>
          <p:cNvSpPr txBox="1">
            <a:spLocks noChangeArrowheads="1"/>
          </p:cNvSpPr>
          <p:nvPr/>
        </p:nvSpPr>
        <p:spPr bwMode="auto">
          <a:xfrm>
            <a:off x="5526088" y="2038350"/>
            <a:ext cx="3889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b’</a:t>
            </a:r>
          </a:p>
        </p:txBody>
      </p:sp>
      <p:sp>
        <p:nvSpPr>
          <p:cNvPr id="12298" name="Text Box 32"/>
          <p:cNvSpPr txBox="1">
            <a:spLocks noChangeArrowheads="1"/>
          </p:cNvSpPr>
          <p:nvPr/>
        </p:nvSpPr>
        <p:spPr bwMode="auto">
          <a:xfrm>
            <a:off x="3251200" y="1625600"/>
            <a:ext cx="4413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c’</a:t>
            </a:r>
          </a:p>
        </p:txBody>
      </p:sp>
      <p:sp>
        <p:nvSpPr>
          <p:cNvPr id="12299" name="Text Box 33"/>
          <p:cNvSpPr txBox="1">
            <a:spLocks noChangeArrowheads="1"/>
          </p:cNvSpPr>
          <p:nvPr/>
        </p:nvSpPr>
        <p:spPr bwMode="auto">
          <a:xfrm>
            <a:off x="5384800" y="3324225"/>
            <a:ext cx="44132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c</a:t>
            </a:r>
          </a:p>
        </p:txBody>
      </p:sp>
      <p:sp>
        <p:nvSpPr>
          <p:cNvPr id="12300" name="Text Box 34"/>
          <p:cNvSpPr txBox="1">
            <a:spLocks noChangeArrowheads="1"/>
          </p:cNvSpPr>
          <p:nvPr/>
        </p:nvSpPr>
        <p:spPr bwMode="auto">
          <a:xfrm>
            <a:off x="4495800" y="3857625"/>
            <a:ext cx="381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grpSp>
        <p:nvGrpSpPr>
          <p:cNvPr id="12301" name="Group 42"/>
          <p:cNvGrpSpPr>
            <a:grpSpLocks/>
          </p:cNvGrpSpPr>
          <p:nvPr/>
        </p:nvGrpSpPr>
        <p:grpSpPr bwMode="auto">
          <a:xfrm>
            <a:off x="4329113" y="1352550"/>
            <a:ext cx="228600" cy="244475"/>
            <a:chOff x="1776" y="528"/>
            <a:chExt cx="144" cy="154"/>
          </a:xfrm>
        </p:grpSpPr>
        <p:grpSp>
          <p:nvGrpSpPr>
            <p:cNvPr id="12373" name="Group 41"/>
            <p:cNvGrpSpPr>
              <a:grpSpLocks/>
            </p:cNvGrpSpPr>
            <p:nvPr/>
          </p:nvGrpSpPr>
          <p:grpSpPr bwMode="auto">
            <a:xfrm>
              <a:off x="1776" y="528"/>
              <a:ext cx="144" cy="154"/>
              <a:chOff x="2512" y="920"/>
              <a:chExt cx="144" cy="154"/>
            </a:xfrm>
          </p:grpSpPr>
          <p:sp>
            <p:nvSpPr>
              <p:cNvPr id="12375" name="Rectangle 38"/>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6" name="Rectangle 40"/>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74" name="Oval 5"/>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2" name="Group 48"/>
          <p:cNvGrpSpPr>
            <a:grpSpLocks/>
          </p:cNvGrpSpPr>
          <p:nvPr/>
        </p:nvGrpSpPr>
        <p:grpSpPr bwMode="auto">
          <a:xfrm>
            <a:off x="4314825" y="3806825"/>
            <a:ext cx="228600" cy="304800"/>
            <a:chOff x="4128" y="1488"/>
            <a:chExt cx="144" cy="192"/>
          </a:xfrm>
        </p:grpSpPr>
        <p:sp>
          <p:nvSpPr>
            <p:cNvPr id="12370" name="Rectangle 4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1" name="Rectangle 4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72" name="Oval 4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3" name="Group 49"/>
          <p:cNvGrpSpPr>
            <a:grpSpLocks/>
          </p:cNvGrpSpPr>
          <p:nvPr/>
        </p:nvGrpSpPr>
        <p:grpSpPr bwMode="auto">
          <a:xfrm rot="-7593647">
            <a:off x="5305425" y="1885950"/>
            <a:ext cx="228600" cy="304800"/>
            <a:chOff x="4128" y="1488"/>
            <a:chExt cx="144" cy="192"/>
          </a:xfrm>
        </p:grpSpPr>
        <p:sp>
          <p:nvSpPr>
            <p:cNvPr id="12367" name="Rectangle 50"/>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8" name="Rectangle 51"/>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9" name="Oval 52"/>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4" name="Group 53"/>
          <p:cNvGrpSpPr>
            <a:grpSpLocks/>
          </p:cNvGrpSpPr>
          <p:nvPr/>
        </p:nvGrpSpPr>
        <p:grpSpPr bwMode="auto">
          <a:xfrm rot="3277053">
            <a:off x="3238500" y="3209925"/>
            <a:ext cx="228600" cy="304800"/>
            <a:chOff x="4128" y="1488"/>
            <a:chExt cx="144" cy="192"/>
          </a:xfrm>
        </p:grpSpPr>
        <p:sp>
          <p:nvSpPr>
            <p:cNvPr id="12364" name="Rectangle 54"/>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5" name="Rectangle 55"/>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6" name="Oval 56"/>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5" name="Group 57"/>
          <p:cNvGrpSpPr>
            <a:grpSpLocks/>
          </p:cNvGrpSpPr>
          <p:nvPr/>
        </p:nvGrpSpPr>
        <p:grpSpPr bwMode="auto">
          <a:xfrm rot="-3717561">
            <a:off x="5419725" y="3141663"/>
            <a:ext cx="228600" cy="304800"/>
            <a:chOff x="4128" y="1488"/>
            <a:chExt cx="144" cy="192"/>
          </a:xfrm>
        </p:grpSpPr>
        <p:sp>
          <p:nvSpPr>
            <p:cNvPr id="12361" name="Rectangle 58"/>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2" name="Rectangle 59"/>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3" name="Oval 60"/>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2306" name="Group 61"/>
          <p:cNvGrpSpPr>
            <a:grpSpLocks/>
          </p:cNvGrpSpPr>
          <p:nvPr/>
        </p:nvGrpSpPr>
        <p:grpSpPr bwMode="auto">
          <a:xfrm rot="7255122">
            <a:off x="3238500" y="1914525"/>
            <a:ext cx="228600" cy="304800"/>
            <a:chOff x="4128" y="1488"/>
            <a:chExt cx="144" cy="192"/>
          </a:xfrm>
        </p:grpSpPr>
        <p:sp>
          <p:nvSpPr>
            <p:cNvPr id="12358" name="Rectangle 62"/>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59" name="Rectangle 63"/>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60" name="Oval 64"/>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07" name="Oval 103"/>
          <p:cNvSpPr>
            <a:spLocks noChangeAspect="1" noChangeArrowheads="1"/>
          </p:cNvSpPr>
          <p:nvPr/>
        </p:nvSpPr>
        <p:spPr bwMode="auto">
          <a:xfrm rot="16011782" flipH="1">
            <a:off x="4341018" y="17264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08" name="Oval 115"/>
          <p:cNvSpPr>
            <a:spLocks noChangeAspect="1" noChangeArrowheads="1"/>
          </p:cNvSpPr>
          <p:nvPr/>
        </p:nvSpPr>
        <p:spPr bwMode="auto">
          <a:xfrm rot="16011782" flipH="1">
            <a:off x="4664869" y="1778794"/>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09" name="Oval 116"/>
          <p:cNvSpPr>
            <a:spLocks noChangeAspect="1" noChangeArrowheads="1"/>
          </p:cNvSpPr>
          <p:nvPr/>
        </p:nvSpPr>
        <p:spPr bwMode="auto">
          <a:xfrm rot="16011782" flipH="1">
            <a:off x="4055269" y="17883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0" name="Oval 117"/>
          <p:cNvSpPr>
            <a:spLocks noChangeAspect="1" noChangeArrowheads="1"/>
          </p:cNvSpPr>
          <p:nvPr/>
        </p:nvSpPr>
        <p:spPr bwMode="auto">
          <a:xfrm rot="16011782" flipH="1">
            <a:off x="3812381" y="19264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1" name="Oval 118"/>
          <p:cNvSpPr>
            <a:spLocks noChangeAspect="1" noChangeArrowheads="1"/>
          </p:cNvSpPr>
          <p:nvPr/>
        </p:nvSpPr>
        <p:spPr bwMode="auto">
          <a:xfrm rot="16011782" flipH="1">
            <a:off x="3612356" y="21455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2" name="Oval 119"/>
          <p:cNvSpPr>
            <a:spLocks noChangeAspect="1" noChangeArrowheads="1"/>
          </p:cNvSpPr>
          <p:nvPr/>
        </p:nvSpPr>
        <p:spPr bwMode="auto">
          <a:xfrm rot="16011782" flipH="1">
            <a:off x="3493294" y="23979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3" name="Oval 120"/>
          <p:cNvSpPr>
            <a:spLocks noChangeAspect="1" noChangeArrowheads="1"/>
          </p:cNvSpPr>
          <p:nvPr/>
        </p:nvSpPr>
        <p:spPr bwMode="auto">
          <a:xfrm rot="16011782" flipH="1">
            <a:off x="3431382" y="2712244"/>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4" name="Oval 121"/>
          <p:cNvSpPr>
            <a:spLocks noChangeAspect="1" noChangeArrowheads="1"/>
          </p:cNvSpPr>
          <p:nvPr/>
        </p:nvSpPr>
        <p:spPr bwMode="auto">
          <a:xfrm rot="16011782" flipH="1">
            <a:off x="3488532" y="30265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5" name="Oval 122"/>
          <p:cNvSpPr>
            <a:spLocks noChangeAspect="1" noChangeArrowheads="1"/>
          </p:cNvSpPr>
          <p:nvPr/>
        </p:nvSpPr>
        <p:spPr bwMode="auto">
          <a:xfrm rot="16011782" flipH="1">
            <a:off x="3650456" y="327898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6" name="Oval 123"/>
          <p:cNvSpPr>
            <a:spLocks noChangeAspect="1" noChangeArrowheads="1"/>
          </p:cNvSpPr>
          <p:nvPr/>
        </p:nvSpPr>
        <p:spPr bwMode="auto">
          <a:xfrm rot="16011782" flipH="1">
            <a:off x="3883818" y="34790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7" name="Oval 124"/>
          <p:cNvSpPr>
            <a:spLocks noChangeAspect="1" noChangeArrowheads="1"/>
          </p:cNvSpPr>
          <p:nvPr/>
        </p:nvSpPr>
        <p:spPr bwMode="auto">
          <a:xfrm rot="16011782" flipH="1">
            <a:off x="4169568" y="35933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8" name="Oval 125"/>
          <p:cNvSpPr>
            <a:spLocks noChangeAspect="1" noChangeArrowheads="1"/>
          </p:cNvSpPr>
          <p:nvPr/>
        </p:nvSpPr>
        <p:spPr bwMode="auto">
          <a:xfrm rot="16011782" flipH="1">
            <a:off x="4493418" y="36028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19" name="Oval 126"/>
          <p:cNvSpPr>
            <a:spLocks noChangeAspect="1" noChangeArrowheads="1"/>
          </p:cNvSpPr>
          <p:nvPr/>
        </p:nvSpPr>
        <p:spPr bwMode="auto">
          <a:xfrm rot="16011782" flipH="1">
            <a:off x="4788693" y="352663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0" name="Oval 127"/>
          <p:cNvSpPr>
            <a:spLocks noChangeAspect="1" noChangeArrowheads="1"/>
          </p:cNvSpPr>
          <p:nvPr/>
        </p:nvSpPr>
        <p:spPr bwMode="auto">
          <a:xfrm rot="16011782" flipH="1">
            <a:off x="5026818" y="330755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1" name="Oval 128"/>
          <p:cNvSpPr>
            <a:spLocks noChangeAspect="1" noChangeArrowheads="1"/>
          </p:cNvSpPr>
          <p:nvPr/>
        </p:nvSpPr>
        <p:spPr bwMode="auto">
          <a:xfrm rot="16011782" flipH="1">
            <a:off x="5198269" y="30646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2" name="Oval 129"/>
          <p:cNvSpPr>
            <a:spLocks noChangeAspect="1" noChangeArrowheads="1"/>
          </p:cNvSpPr>
          <p:nvPr/>
        </p:nvSpPr>
        <p:spPr bwMode="auto">
          <a:xfrm rot="16011782" flipH="1">
            <a:off x="5288756" y="2793207"/>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3" name="Oval 130"/>
          <p:cNvSpPr>
            <a:spLocks noChangeAspect="1" noChangeArrowheads="1"/>
          </p:cNvSpPr>
          <p:nvPr/>
        </p:nvSpPr>
        <p:spPr bwMode="auto">
          <a:xfrm rot="16011782" flipH="1">
            <a:off x="5283994" y="247411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4" name="Oval 131"/>
          <p:cNvSpPr>
            <a:spLocks noChangeAspect="1" noChangeArrowheads="1"/>
          </p:cNvSpPr>
          <p:nvPr/>
        </p:nvSpPr>
        <p:spPr bwMode="auto">
          <a:xfrm rot="16011782" flipH="1">
            <a:off x="5145882" y="2188369"/>
            <a:ext cx="131762"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5" name="Oval 132"/>
          <p:cNvSpPr>
            <a:spLocks noChangeAspect="1" noChangeArrowheads="1"/>
          </p:cNvSpPr>
          <p:nvPr/>
        </p:nvSpPr>
        <p:spPr bwMode="auto">
          <a:xfrm rot="16011782" flipH="1">
            <a:off x="4960143" y="1945482"/>
            <a:ext cx="131763" cy="12700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6" name="Oval 133"/>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7" name="Oval 134"/>
          <p:cNvSpPr>
            <a:spLocks noChangeArrowheads="1"/>
          </p:cNvSpPr>
          <p:nvPr/>
        </p:nvSpPr>
        <p:spPr bwMode="auto">
          <a:xfrm flipH="1" flipV="1">
            <a:off x="3302000" y="336073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28" name="Oval 135"/>
          <p:cNvSpPr>
            <a:spLocks noChangeArrowheads="1"/>
          </p:cNvSpPr>
          <p:nvPr/>
        </p:nvSpPr>
        <p:spPr bwMode="auto">
          <a:xfrm flipH="1" flipV="1">
            <a:off x="5551488" y="3292475"/>
            <a:ext cx="36512" cy="3651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2329" name="Group 138"/>
          <p:cNvGrpSpPr>
            <a:grpSpLocks/>
          </p:cNvGrpSpPr>
          <p:nvPr/>
        </p:nvGrpSpPr>
        <p:grpSpPr bwMode="auto">
          <a:xfrm>
            <a:off x="5416550" y="1981200"/>
            <a:ext cx="71438" cy="73025"/>
            <a:chOff x="1247" y="1933"/>
            <a:chExt cx="45" cy="46"/>
          </a:xfrm>
        </p:grpSpPr>
        <p:sp>
          <p:nvSpPr>
            <p:cNvPr id="12356" name="Line 136"/>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7" name="Line 137"/>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2330" name="Group 139"/>
          <p:cNvGrpSpPr>
            <a:grpSpLocks/>
          </p:cNvGrpSpPr>
          <p:nvPr/>
        </p:nvGrpSpPr>
        <p:grpSpPr bwMode="auto">
          <a:xfrm>
            <a:off x="3287713" y="2011363"/>
            <a:ext cx="71437" cy="73025"/>
            <a:chOff x="1247" y="1933"/>
            <a:chExt cx="45" cy="46"/>
          </a:xfrm>
        </p:grpSpPr>
        <p:sp>
          <p:nvSpPr>
            <p:cNvPr id="12354" name="Line 140"/>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5" name="Line 141"/>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2331" name="Group 142"/>
          <p:cNvGrpSpPr>
            <a:grpSpLocks/>
          </p:cNvGrpSpPr>
          <p:nvPr/>
        </p:nvGrpSpPr>
        <p:grpSpPr bwMode="auto">
          <a:xfrm>
            <a:off x="4391025" y="3965575"/>
            <a:ext cx="71438" cy="73025"/>
            <a:chOff x="1247" y="1933"/>
            <a:chExt cx="45" cy="46"/>
          </a:xfrm>
        </p:grpSpPr>
        <p:sp>
          <p:nvSpPr>
            <p:cNvPr id="12352" name="Line 143"/>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353" name="Line 144"/>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2332" name="Text Box 146"/>
          <p:cNvSpPr txBox="1">
            <a:spLocks noChangeArrowheads="1"/>
          </p:cNvSpPr>
          <p:nvPr/>
        </p:nvSpPr>
        <p:spPr bwMode="auto">
          <a:xfrm>
            <a:off x="2376488" y="5084763"/>
            <a:ext cx="40782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Stator – Enroulement 3-phasé </a:t>
            </a:r>
          </a:p>
          <a:p>
            <a:pPr eaLnBrk="1" hangingPunct="1">
              <a:spcBef>
                <a:spcPct val="0"/>
              </a:spcBef>
              <a:buClrTx/>
              <a:buSzTx/>
              <a:buFontTx/>
              <a:buNone/>
            </a:pPr>
            <a:r>
              <a:rPr lang="en-US" altLang="fr-FR" sz="2400">
                <a:latin typeface="Arial Narrow" panose="020B0606020202030204" pitchFamily="34" charset="0"/>
              </a:rPr>
              <a:t>Rotor – cage d’écureil / bobiné </a:t>
            </a:r>
          </a:p>
        </p:txBody>
      </p:sp>
      <p:grpSp>
        <p:nvGrpSpPr>
          <p:cNvPr id="12" name="Group 242"/>
          <p:cNvGrpSpPr>
            <a:grpSpLocks/>
          </p:cNvGrpSpPr>
          <p:nvPr/>
        </p:nvGrpSpPr>
        <p:grpSpPr bwMode="auto">
          <a:xfrm>
            <a:off x="2411413" y="657225"/>
            <a:ext cx="4221162" cy="4254500"/>
            <a:chOff x="1519" y="414"/>
            <a:chExt cx="2659" cy="2680"/>
          </a:xfrm>
        </p:grpSpPr>
        <p:grpSp>
          <p:nvGrpSpPr>
            <p:cNvPr id="12336" name="Group 241"/>
            <p:cNvGrpSpPr>
              <a:grpSpLocks/>
            </p:cNvGrpSpPr>
            <p:nvPr/>
          </p:nvGrpSpPr>
          <p:grpSpPr bwMode="auto">
            <a:xfrm>
              <a:off x="1519" y="527"/>
              <a:ext cx="2659" cy="2567"/>
              <a:chOff x="1519" y="527"/>
              <a:chExt cx="2659" cy="2567"/>
            </a:xfrm>
          </p:grpSpPr>
          <p:grpSp>
            <p:nvGrpSpPr>
              <p:cNvPr id="12340" name="Group 240"/>
              <p:cNvGrpSpPr>
                <a:grpSpLocks/>
              </p:cNvGrpSpPr>
              <p:nvPr/>
            </p:nvGrpSpPr>
            <p:grpSpPr bwMode="auto">
              <a:xfrm>
                <a:off x="1587" y="527"/>
                <a:ext cx="2381" cy="2345"/>
                <a:chOff x="1587" y="527"/>
                <a:chExt cx="2381" cy="2345"/>
              </a:xfrm>
            </p:grpSpPr>
            <p:grpSp>
              <p:nvGrpSpPr>
                <p:cNvPr id="12344" name="Group 239"/>
                <p:cNvGrpSpPr>
                  <a:grpSpLocks/>
                </p:cNvGrpSpPr>
                <p:nvPr/>
              </p:nvGrpSpPr>
              <p:grpSpPr bwMode="auto">
                <a:xfrm>
                  <a:off x="1587" y="527"/>
                  <a:ext cx="2381" cy="2345"/>
                  <a:chOff x="1587" y="527"/>
                  <a:chExt cx="2381" cy="2345"/>
                </a:xfrm>
              </p:grpSpPr>
              <p:sp>
                <p:nvSpPr>
                  <p:cNvPr id="12347" name="Oval 219"/>
                  <p:cNvSpPr>
                    <a:spLocks noChangeAspect="1" noChangeArrowheads="1"/>
                  </p:cNvSpPr>
                  <p:nvPr/>
                </p:nvSpPr>
                <p:spPr bwMode="auto">
                  <a:xfrm flipH="1">
                    <a:off x="1587" y="527"/>
                    <a:ext cx="2381" cy="2345"/>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48" name="Line 228"/>
                  <p:cNvSpPr>
                    <a:spLocks noChangeShapeType="1"/>
                  </p:cNvSpPr>
                  <p:nvPr/>
                </p:nvSpPr>
                <p:spPr bwMode="auto">
                  <a:xfrm flipH="1">
                    <a:off x="3855" y="2160"/>
                    <a:ext cx="23" cy="68"/>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49" name="Line 231"/>
                  <p:cNvSpPr>
                    <a:spLocks noChangeShapeType="1"/>
                  </p:cNvSpPr>
                  <p:nvPr/>
                </p:nvSpPr>
                <p:spPr bwMode="auto">
                  <a:xfrm flipH="1" flipV="1">
                    <a:off x="1814" y="2387"/>
                    <a:ext cx="23" cy="22"/>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50" name="Line 233"/>
                  <p:cNvSpPr>
                    <a:spLocks noChangeShapeType="1"/>
                  </p:cNvSpPr>
                  <p:nvPr/>
                </p:nvSpPr>
                <p:spPr bwMode="auto">
                  <a:xfrm>
                    <a:off x="1746" y="2273"/>
                    <a:ext cx="23" cy="46"/>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51" name="Line 235"/>
                  <p:cNvSpPr>
                    <a:spLocks noChangeShapeType="1"/>
                  </p:cNvSpPr>
                  <p:nvPr/>
                </p:nvSpPr>
                <p:spPr bwMode="auto">
                  <a:xfrm flipV="1">
                    <a:off x="3787" y="2296"/>
                    <a:ext cx="23" cy="2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12345" name="Line 226"/>
                <p:cNvSpPr>
                  <a:spLocks noChangeShapeType="1"/>
                </p:cNvSpPr>
                <p:nvPr/>
              </p:nvSpPr>
              <p:spPr bwMode="auto">
                <a:xfrm>
                  <a:off x="2699" y="527"/>
                  <a:ext cx="45"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sp>
              <p:nvSpPr>
                <p:cNvPr id="12346" name="Line 234"/>
                <p:cNvSpPr>
                  <a:spLocks noChangeShapeType="1"/>
                </p:cNvSpPr>
                <p:nvPr/>
              </p:nvSpPr>
              <p:spPr bwMode="auto">
                <a:xfrm flipH="1">
                  <a:off x="2857" y="527"/>
                  <a:ext cx="46" cy="0"/>
                </a:xfrm>
                <a:prstGeom prst="line">
                  <a:avLst/>
                </a:prstGeom>
                <a:noFill/>
                <a:ln w="952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fr-FR"/>
                </a:p>
              </p:txBody>
            </p:sp>
          </p:grpSp>
          <p:sp>
            <p:nvSpPr>
              <p:cNvPr id="12341" name="Text Box 236"/>
              <p:cNvSpPr txBox="1">
                <a:spLocks noChangeArrowheads="1"/>
              </p:cNvSpPr>
              <p:nvPr/>
            </p:nvSpPr>
            <p:spPr bwMode="auto">
              <a:xfrm>
                <a:off x="3820" y="788"/>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sp>
            <p:nvSpPr>
              <p:cNvPr id="12342" name="Text Box 237"/>
              <p:cNvSpPr txBox="1">
                <a:spLocks noChangeArrowheads="1"/>
              </p:cNvSpPr>
              <p:nvPr/>
            </p:nvSpPr>
            <p:spPr bwMode="auto">
              <a:xfrm>
                <a:off x="1519" y="822"/>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sp>
            <p:nvSpPr>
              <p:cNvPr id="12343" name="Text Box 238"/>
              <p:cNvSpPr txBox="1">
                <a:spLocks noChangeArrowheads="1"/>
              </p:cNvSpPr>
              <p:nvPr/>
            </p:nvSpPr>
            <p:spPr bwMode="auto">
              <a:xfrm>
                <a:off x="2653" y="2863"/>
                <a:ext cx="35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120</a:t>
                </a:r>
                <a:r>
                  <a:rPr lang="en-US" altLang="fr-FR" sz="1800" baseline="30000">
                    <a:latin typeface="Arial Narrow" panose="020B0606020202030204" pitchFamily="34" charset="0"/>
                  </a:rPr>
                  <a:t>o</a:t>
                </a:r>
                <a:endParaRPr lang="en-US" altLang="fr-FR" sz="1800">
                  <a:latin typeface="Arial Narrow" panose="020B0606020202030204" pitchFamily="34" charset="0"/>
                </a:endParaRPr>
              </a:p>
            </p:txBody>
          </p:sp>
        </p:grpSp>
        <p:sp>
          <p:nvSpPr>
            <p:cNvPr id="12337" name="Rectangle 223"/>
            <p:cNvSpPr>
              <a:spLocks noChangeArrowheads="1"/>
            </p:cNvSpPr>
            <p:nvPr/>
          </p:nvSpPr>
          <p:spPr bwMode="auto">
            <a:xfrm>
              <a:off x="2744" y="414"/>
              <a:ext cx="113"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38" name="Rectangle 224"/>
            <p:cNvSpPr>
              <a:spLocks noChangeArrowheads="1"/>
            </p:cNvSpPr>
            <p:nvPr/>
          </p:nvSpPr>
          <p:spPr bwMode="auto">
            <a:xfrm rot="-3677644">
              <a:off x="3753" y="2080"/>
              <a:ext cx="90"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2339" name="Rectangle 225"/>
            <p:cNvSpPr>
              <a:spLocks noChangeArrowheads="1"/>
            </p:cNvSpPr>
            <p:nvPr/>
          </p:nvSpPr>
          <p:spPr bwMode="auto">
            <a:xfrm rot="-7323251">
              <a:off x="1735" y="2216"/>
              <a:ext cx="90" cy="295"/>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2334" name="Espace réservé du numéro de diapositive 9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840D099-38A9-4B80-8104-E65F7D8F41EC}" type="slidenum">
              <a:rPr lang="en-US" altLang="fr-FR" sz="1000">
                <a:solidFill>
                  <a:srgbClr val="292929"/>
                </a:solidFill>
                <a:latin typeface="Arial" panose="020B0604020202020204" pitchFamily="34" charset="0"/>
              </a:rPr>
              <a:pPr>
                <a:spcBef>
                  <a:spcPct val="0"/>
                </a:spcBef>
                <a:buClrTx/>
                <a:buSzTx/>
                <a:buFontTx/>
                <a:buNone/>
              </a:pPr>
              <a:t>2</a:t>
            </a:fld>
            <a:endParaRPr lang="en-US" altLang="fr-FR" sz="1000">
              <a:solidFill>
                <a:srgbClr val="292929"/>
              </a:solidFill>
              <a:latin typeface="Arial" panose="020B0604020202020204" pitchFamily="34" charset="0"/>
            </a:endParaRPr>
          </a:p>
        </p:txBody>
      </p:sp>
      <p:sp>
        <p:nvSpPr>
          <p:cNvPr id="92" name="Espace réservé du pied de page 9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8730016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idx="1"/>
          </p:nvPr>
        </p:nvSpPr>
        <p:spPr>
          <a:xfrm>
            <a:off x="2209800" y="228600"/>
            <a:ext cx="4572000" cy="457200"/>
          </a:xfrm>
        </p:spPr>
        <p:txBody>
          <a:bodyPr/>
          <a:lstStyle/>
          <a:p>
            <a:pPr algn="ctr">
              <a:buFontTx/>
              <a:buNone/>
            </a:pPr>
            <a:r>
              <a:rPr lang="en-US" altLang="fr-FR" sz="2400" b="1">
                <a:latin typeface="Arial Narrow" panose="020B0606020202030204" pitchFamily="34" charset="0"/>
              </a:rPr>
              <a:t>Construction </a:t>
            </a:r>
          </a:p>
        </p:txBody>
      </p:sp>
      <p:sp>
        <p:nvSpPr>
          <p:cNvPr id="14339"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0" name="Oval 5"/>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1" name="Oval 6"/>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2" name="Oval 7"/>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43" name="Text Box 8"/>
          <p:cNvSpPr txBox="1">
            <a:spLocks noChangeArrowheads="1"/>
          </p:cNvSpPr>
          <p:nvPr/>
        </p:nvSpPr>
        <p:spPr bwMode="auto">
          <a:xfrm>
            <a:off x="4038600" y="1190625"/>
            <a:ext cx="4572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sp>
        <p:nvSpPr>
          <p:cNvPr id="14344" name="Text Box 13"/>
          <p:cNvSpPr txBox="1">
            <a:spLocks noChangeArrowheads="1"/>
          </p:cNvSpPr>
          <p:nvPr/>
        </p:nvSpPr>
        <p:spPr bwMode="auto">
          <a:xfrm>
            <a:off x="4495800" y="3857625"/>
            <a:ext cx="3810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1800">
                <a:latin typeface="Arial Narrow" panose="020B0606020202030204" pitchFamily="34" charset="0"/>
              </a:rPr>
              <a:t>a’</a:t>
            </a:r>
          </a:p>
        </p:txBody>
      </p:sp>
      <p:grpSp>
        <p:nvGrpSpPr>
          <p:cNvPr id="14345" name="Group 14"/>
          <p:cNvGrpSpPr>
            <a:grpSpLocks/>
          </p:cNvGrpSpPr>
          <p:nvPr/>
        </p:nvGrpSpPr>
        <p:grpSpPr bwMode="auto">
          <a:xfrm>
            <a:off x="4329113" y="1352550"/>
            <a:ext cx="228600" cy="244475"/>
            <a:chOff x="1776" y="528"/>
            <a:chExt cx="144" cy="154"/>
          </a:xfrm>
        </p:grpSpPr>
        <p:grpSp>
          <p:nvGrpSpPr>
            <p:cNvPr id="14433" name="Group 15"/>
            <p:cNvGrpSpPr>
              <a:grpSpLocks/>
            </p:cNvGrpSpPr>
            <p:nvPr/>
          </p:nvGrpSpPr>
          <p:grpSpPr bwMode="auto">
            <a:xfrm>
              <a:off x="1776" y="528"/>
              <a:ext cx="144" cy="154"/>
              <a:chOff x="2512" y="920"/>
              <a:chExt cx="144" cy="154"/>
            </a:xfrm>
          </p:grpSpPr>
          <p:sp>
            <p:nvSpPr>
              <p:cNvPr id="14435" name="Rectangle 16"/>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6" name="Rectangle 17"/>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434" name="Oval 18"/>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46" name="Group 19"/>
          <p:cNvGrpSpPr>
            <a:grpSpLocks/>
          </p:cNvGrpSpPr>
          <p:nvPr/>
        </p:nvGrpSpPr>
        <p:grpSpPr bwMode="auto">
          <a:xfrm>
            <a:off x="4314825" y="3806825"/>
            <a:ext cx="228600" cy="304800"/>
            <a:chOff x="4128" y="1488"/>
            <a:chExt cx="144" cy="192"/>
          </a:xfrm>
        </p:grpSpPr>
        <p:sp>
          <p:nvSpPr>
            <p:cNvPr id="14430" name="Rectangle 20"/>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1" name="Rectangle 21"/>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32" name="Oval 22"/>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347" name="Oval 58"/>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4348" name="Group 67"/>
          <p:cNvGrpSpPr>
            <a:grpSpLocks/>
          </p:cNvGrpSpPr>
          <p:nvPr/>
        </p:nvGrpSpPr>
        <p:grpSpPr bwMode="auto">
          <a:xfrm>
            <a:off x="4391025" y="3965575"/>
            <a:ext cx="71438" cy="73025"/>
            <a:chOff x="1247" y="1933"/>
            <a:chExt cx="45" cy="46"/>
          </a:xfrm>
        </p:grpSpPr>
        <p:sp>
          <p:nvSpPr>
            <p:cNvPr id="14428" name="Line 68"/>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29" name="Line 69"/>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6" name="Group 173"/>
          <p:cNvGrpSpPr>
            <a:grpSpLocks/>
          </p:cNvGrpSpPr>
          <p:nvPr/>
        </p:nvGrpSpPr>
        <p:grpSpPr bwMode="auto">
          <a:xfrm>
            <a:off x="3455988" y="1198563"/>
            <a:ext cx="1979612" cy="3021012"/>
            <a:chOff x="2177" y="755"/>
            <a:chExt cx="1247" cy="1903"/>
          </a:xfrm>
        </p:grpSpPr>
        <p:sp>
          <p:nvSpPr>
            <p:cNvPr id="14416" name="Oval 73"/>
            <p:cNvSpPr>
              <a:spLocks noChangeArrowheads="1"/>
            </p:cNvSpPr>
            <p:nvPr/>
          </p:nvSpPr>
          <p:spPr bwMode="auto">
            <a:xfrm>
              <a:off x="2313" y="783"/>
              <a:ext cx="930" cy="61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7" name="Oval 74"/>
            <p:cNvSpPr>
              <a:spLocks noChangeArrowheads="1"/>
            </p:cNvSpPr>
            <p:nvPr/>
          </p:nvSpPr>
          <p:spPr bwMode="auto">
            <a:xfrm>
              <a:off x="2205" y="755"/>
              <a:ext cx="1219" cy="861"/>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8" name="Oval 75"/>
            <p:cNvSpPr>
              <a:spLocks noChangeArrowheads="1"/>
            </p:cNvSpPr>
            <p:nvPr/>
          </p:nvSpPr>
          <p:spPr bwMode="auto">
            <a:xfrm>
              <a:off x="2540" y="2200"/>
              <a:ext cx="476" cy="408"/>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9" name="Oval 76"/>
            <p:cNvSpPr>
              <a:spLocks noChangeArrowheads="1"/>
            </p:cNvSpPr>
            <p:nvPr/>
          </p:nvSpPr>
          <p:spPr bwMode="auto">
            <a:xfrm>
              <a:off x="2313" y="2024"/>
              <a:ext cx="930" cy="612"/>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0" name="Oval 77"/>
            <p:cNvSpPr>
              <a:spLocks noChangeArrowheads="1"/>
            </p:cNvSpPr>
            <p:nvPr/>
          </p:nvSpPr>
          <p:spPr bwMode="auto">
            <a:xfrm>
              <a:off x="2177" y="1797"/>
              <a:ext cx="1179" cy="861"/>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1" name="Oval 78"/>
            <p:cNvSpPr>
              <a:spLocks noChangeArrowheads="1"/>
            </p:cNvSpPr>
            <p:nvPr/>
          </p:nvSpPr>
          <p:spPr bwMode="auto">
            <a:xfrm>
              <a:off x="2540" y="822"/>
              <a:ext cx="476" cy="408"/>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22" name="Line 79"/>
            <p:cNvSpPr>
              <a:spLocks noChangeShapeType="1"/>
            </p:cNvSpPr>
            <p:nvPr/>
          </p:nvSpPr>
          <p:spPr bwMode="auto">
            <a:xfrm>
              <a:off x="2744" y="1230"/>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3" name="Line 80"/>
            <p:cNvSpPr>
              <a:spLocks noChangeShapeType="1"/>
            </p:cNvSpPr>
            <p:nvPr/>
          </p:nvSpPr>
          <p:spPr bwMode="auto">
            <a:xfrm>
              <a:off x="2744" y="1389"/>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4" name="Line 81"/>
            <p:cNvSpPr>
              <a:spLocks noChangeShapeType="1"/>
            </p:cNvSpPr>
            <p:nvPr/>
          </p:nvSpPr>
          <p:spPr bwMode="auto">
            <a:xfrm>
              <a:off x="2744" y="1616"/>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5" name="Line 82"/>
            <p:cNvSpPr>
              <a:spLocks noChangeShapeType="1"/>
            </p:cNvSpPr>
            <p:nvPr/>
          </p:nvSpPr>
          <p:spPr bwMode="auto">
            <a:xfrm>
              <a:off x="2789" y="1797"/>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6" name="Line 83"/>
            <p:cNvSpPr>
              <a:spLocks noChangeShapeType="1"/>
            </p:cNvSpPr>
            <p:nvPr/>
          </p:nvSpPr>
          <p:spPr bwMode="auto">
            <a:xfrm>
              <a:off x="2789" y="2024"/>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427" name="Line 84"/>
            <p:cNvSpPr>
              <a:spLocks noChangeShapeType="1"/>
            </p:cNvSpPr>
            <p:nvPr/>
          </p:nvSpPr>
          <p:spPr bwMode="auto">
            <a:xfrm>
              <a:off x="2789" y="2205"/>
              <a:ext cx="4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14350" name="Text Box 85"/>
          <p:cNvSpPr txBox="1">
            <a:spLocks noChangeArrowheads="1"/>
          </p:cNvSpPr>
          <p:nvPr/>
        </p:nvSpPr>
        <p:spPr bwMode="auto">
          <a:xfrm>
            <a:off x="431800" y="1062038"/>
            <a:ext cx="3190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Narrow" panose="020B0606020202030204" pitchFamily="34" charset="0"/>
              </a:rPr>
              <a:t>Bobine à N spires traversée par  </a:t>
            </a:r>
            <a:r>
              <a:rPr lang="en-US" altLang="fr-FR" sz="1800" b="1" i="1">
                <a:latin typeface="Arial Narrow" panose="020B0606020202030204" pitchFamily="34" charset="0"/>
              </a:rPr>
              <a:t>i</a:t>
            </a:r>
          </a:p>
        </p:txBody>
      </p:sp>
      <p:sp>
        <p:nvSpPr>
          <p:cNvPr id="58454" name="Text Box 86"/>
          <p:cNvSpPr txBox="1">
            <a:spLocks noChangeArrowheads="1"/>
          </p:cNvSpPr>
          <p:nvPr/>
        </p:nvSpPr>
        <p:spPr bwMode="auto">
          <a:xfrm>
            <a:off x="5724525" y="1101725"/>
            <a:ext cx="28733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Narrow" panose="020B0606020202030204" pitchFamily="34" charset="0"/>
              </a:rPr>
              <a:t>Perméabilité du fer &gt;&gt; </a:t>
            </a:r>
            <a:r>
              <a:rPr lang="en-US" altLang="fr-FR" sz="1800" b="1">
                <a:latin typeface="Arial Narrow" panose="020B0606020202030204" pitchFamily="34" charset="0"/>
                <a:sym typeface="Symbol" panose="05050102010706020507" pitchFamily="18" charset="2"/>
              </a:rPr>
              <a:t></a:t>
            </a:r>
            <a:r>
              <a:rPr lang="en-US" altLang="fr-FR" sz="1800" b="1" baseline="-25000">
                <a:latin typeface="Arial Narrow" panose="020B0606020202030204" pitchFamily="34" charset="0"/>
                <a:sym typeface="Symbol" panose="05050102010706020507" pitchFamily="18" charset="2"/>
              </a:rPr>
              <a:t>o</a:t>
            </a:r>
          </a:p>
          <a:p>
            <a:pPr eaLnBrk="1" hangingPunct="1">
              <a:spcBef>
                <a:spcPct val="0"/>
              </a:spcBef>
              <a:buClrTx/>
              <a:buSzTx/>
              <a:buFontTx/>
              <a:buNone/>
            </a:pPr>
            <a:r>
              <a:rPr lang="en-US" altLang="fr-FR" sz="1800" b="1" baseline="-25000">
                <a:latin typeface="Arial Narrow" panose="020B0606020202030204" pitchFamily="34" charset="0"/>
                <a:sym typeface="Symbol" panose="05050102010706020507" pitchFamily="18" charset="2"/>
              </a:rPr>
              <a:t>   </a:t>
            </a:r>
            <a:r>
              <a:rPr lang="en-US" altLang="fr-FR" sz="1800" b="1">
                <a:latin typeface="Arial Narrow" panose="020B0606020202030204" pitchFamily="34" charset="0"/>
                <a:cs typeface="Times New Roman" panose="02020603050405020304" pitchFamily="18" charset="0"/>
                <a:sym typeface="Symbol" panose="05050102010706020507" pitchFamily="18" charset="2"/>
              </a:rPr>
              <a:t>→ toute la chute de la FMM</a:t>
            </a:r>
          </a:p>
          <a:p>
            <a:pPr eaLnBrk="1" hangingPunct="1">
              <a:spcBef>
                <a:spcPct val="0"/>
              </a:spcBef>
              <a:buClrTx/>
              <a:buSzTx/>
              <a:buFontTx/>
              <a:buNone/>
            </a:pPr>
            <a:r>
              <a:rPr lang="en-US" altLang="fr-FR" sz="1800" b="1">
                <a:latin typeface="Arial Narrow" panose="020B0606020202030204" pitchFamily="34" charset="0"/>
                <a:cs typeface="Times New Roman" panose="02020603050405020304" pitchFamily="18" charset="0"/>
                <a:sym typeface="Symbol" panose="05050102010706020507" pitchFamily="18" charset="2"/>
              </a:rPr>
              <a:t>       </a:t>
            </a:r>
            <a:r>
              <a:rPr lang="en-US" altLang="fr-FR" sz="1800" b="1">
                <a:latin typeface="Arial Narrow" panose="020B0606020202030204" pitchFamily="34" charset="0"/>
                <a:sym typeface="Symbol" panose="05050102010706020507" pitchFamily="18" charset="2"/>
              </a:rPr>
              <a:t>apparaît dans l’entrefer</a:t>
            </a:r>
          </a:p>
        </p:txBody>
      </p:sp>
      <p:grpSp>
        <p:nvGrpSpPr>
          <p:cNvPr id="7" name="Group 174"/>
          <p:cNvGrpSpPr>
            <a:grpSpLocks/>
          </p:cNvGrpSpPr>
          <p:nvPr/>
        </p:nvGrpSpPr>
        <p:grpSpPr bwMode="auto">
          <a:xfrm>
            <a:off x="4392613" y="1952625"/>
            <a:ext cx="2627312" cy="755650"/>
            <a:chOff x="2767" y="1230"/>
            <a:chExt cx="1655" cy="476"/>
          </a:xfrm>
        </p:grpSpPr>
        <p:sp>
          <p:nvSpPr>
            <p:cNvPr id="14413" name="Line 132"/>
            <p:cNvSpPr>
              <a:spLocks noChangeShapeType="1"/>
            </p:cNvSpPr>
            <p:nvPr/>
          </p:nvSpPr>
          <p:spPr bwMode="auto">
            <a:xfrm>
              <a:off x="2767" y="1706"/>
              <a:ext cx="1655"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14414" name="Freeform 136"/>
            <p:cNvSpPr>
              <a:spLocks/>
            </p:cNvSpPr>
            <p:nvPr/>
          </p:nvSpPr>
          <p:spPr bwMode="auto">
            <a:xfrm>
              <a:off x="4014" y="1389"/>
              <a:ext cx="99" cy="295"/>
            </a:xfrm>
            <a:custGeom>
              <a:avLst/>
              <a:gdLst>
                <a:gd name="T0" fmla="*/ 91 w 99"/>
                <a:gd name="T1" fmla="*/ 295 h 295"/>
                <a:gd name="T2" fmla="*/ 91 w 99"/>
                <a:gd name="T3" fmla="*/ 181 h 295"/>
                <a:gd name="T4" fmla="*/ 45 w 99"/>
                <a:gd name="T5" fmla="*/ 45 h 295"/>
                <a:gd name="T6" fmla="*/ 0 w 99"/>
                <a:gd name="T7" fmla="*/ 0 h 295"/>
                <a:gd name="T8" fmla="*/ 0 60000 65536"/>
                <a:gd name="T9" fmla="*/ 0 60000 65536"/>
                <a:gd name="T10" fmla="*/ 0 60000 65536"/>
                <a:gd name="T11" fmla="*/ 0 60000 65536"/>
                <a:gd name="T12" fmla="*/ 0 w 99"/>
                <a:gd name="T13" fmla="*/ 0 h 295"/>
                <a:gd name="T14" fmla="*/ 99 w 99"/>
                <a:gd name="T15" fmla="*/ 295 h 295"/>
              </a:gdLst>
              <a:ahLst/>
              <a:cxnLst>
                <a:cxn ang="T8">
                  <a:pos x="T0" y="T1"/>
                </a:cxn>
                <a:cxn ang="T9">
                  <a:pos x="T2" y="T3"/>
                </a:cxn>
                <a:cxn ang="T10">
                  <a:pos x="T4" y="T5"/>
                </a:cxn>
                <a:cxn ang="T11">
                  <a:pos x="T6" y="T7"/>
                </a:cxn>
              </a:cxnLst>
              <a:rect l="T12" t="T13" r="T14" b="T15"/>
              <a:pathLst>
                <a:path w="99" h="295">
                  <a:moveTo>
                    <a:pt x="91" y="295"/>
                  </a:moveTo>
                  <a:cubicBezTo>
                    <a:pt x="95" y="259"/>
                    <a:pt x="99" y="223"/>
                    <a:pt x="91" y="181"/>
                  </a:cubicBezTo>
                  <a:cubicBezTo>
                    <a:pt x="83" y="139"/>
                    <a:pt x="60" y="75"/>
                    <a:pt x="45" y="45"/>
                  </a:cubicBezTo>
                  <a:cubicBezTo>
                    <a:pt x="30" y="15"/>
                    <a:pt x="15" y="7"/>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415" name="Text Box 137"/>
            <p:cNvSpPr txBox="1">
              <a:spLocks noChangeArrowheads="1"/>
            </p:cNvSpPr>
            <p:nvPr/>
          </p:nvSpPr>
          <p:spPr bwMode="auto">
            <a:xfrm>
              <a:off x="4037" y="1230"/>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grpSp>
      <p:grpSp>
        <p:nvGrpSpPr>
          <p:cNvPr id="8" name="Group 175"/>
          <p:cNvGrpSpPr>
            <a:grpSpLocks/>
          </p:cNvGrpSpPr>
          <p:nvPr/>
        </p:nvGrpSpPr>
        <p:grpSpPr bwMode="auto">
          <a:xfrm>
            <a:off x="1150938" y="4400550"/>
            <a:ext cx="6829425" cy="2052638"/>
            <a:chOff x="725" y="2772"/>
            <a:chExt cx="4302" cy="1293"/>
          </a:xfrm>
        </p:grpSpPr>
        <p:sp>
          <p:nvSpPr>
            <p:cNvPr id="14360" name="Rectangle 87"/>
            <p:cNvSpPr>
              <a:spLocks noChangeArrowheads="1"/>
            </p:cNvSpPr>
            <p:nvPr/>
          </p:nvSpPr>
          <p:spPr bwMode="auto">
            <a:xfrm>
              <a:off x="1224" y="3793"/>
              <a:ext cx="3765" cy="272"/>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61" name="Line 88"/>
            <p:cNvSpPr>
              <a:spLocks noChangeShapeType="1"/>
            </p:cNvSpPr>
            <p:nvPr/>
          </p:nvSpPr>
          <p:spPr bwMode="auto">
            <a:xfrm>
              <a:off x="1246" y="3793"/>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2" name="Line 89"/>
            <p:cNvSpPr>
              <a:spLocks noChangeShapeType="1"/>
            </p:cNvSpPr>
            <p:nvPr/>
          </p:nvSpPr>
          <p:spPr bwMode="auto">
            <a:xfrm>
              <a:off x="1246" y="4065"/>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4363" name="Group 107"/>
            <p:cNvGrpSpPr>
              <a:grpSpLocks/>
            </p:cNvGrpSpPr>
            <p:nvPr/>
          </p:nvGrpSpPr>
          <p:grpSpPr bwMode="auto">
            <a:xfrm>
              <a:off x="3447" y="3760"/>
              <a:ext cx="144" cy="192"/>
              <a:chOff x="1360" y="2931"/>
              <a:chExt cx="144" cy="192"/>
            </a:xfrm>
          </p:grpSpPr>
          <p:grpSp>
            <p:nvGrpSpPr>
              <p:cNvPr id="14408" name="Group 90"/>
              <p:cNvGrpSpPr>
                <a:grpSpLocks/>
              </p:cNvGrpSpPr>
              <p:nvPr/>
            </p:nvGrpSpPr>
            <p:grpSpPr bwMode="auto">
              <a:xfrm>
                <a:off x="1360" y="2931"/>
                <a:ext cx="144" cy="192"/>
                <a:chOff x="4128" y="1488"/>
                <a:chExt cx="144" cy="192"/>
              </a:xfrm>
            </p:grpSpPr>
            <p:sp>
              <p:nvSpPr>
                <p:cNvPr id="14410" name="Rectangle 9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1" name="Rectangle 9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12" name="Oval 9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409" name="Oval 97"/>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64" name="Group 106"/>
            <p:cNvGrpSpPr>
              <a:grpSpLocks/>
            </p:cNvGrpSpPr>
            <p:nvPr/>
          </p:nvGrpSpPr>
          <p:grpSpPr bwMode="auto">
            <a:xfrm>
              <a:off x="2192" y="3747"/>
              <a:ext cx="144" cy="192"/>
              <a:chOff x="2008" y="2981"/>
              <a:chExt cx="144" cy="192"/>
            </a:xfrm>
          </p:grpSpPr>
          <p:grpSp>
            <p:nvGrpSpPr>
              <p:cNvPr id="14401" name="Group 98"/>
              <p:cNvGrpSpPr>
                <a:grpSpLocks/>
              </p:cNvGrpSpPr>
              <p:nvPr/>
            </p:nvGrpSpPr>
            <p:grpSpPr bwMode="auto">
              <a:xfrm>
                <a:off x="2008" y="2981"/>
                <a:ext cx="144" cy="192"/>
                <a:chOff x="4128" y="1488"/>
                <a:chExt cx="144" cy="192"/>
              </a:xfrm>
            </p:grpSpPr>
            <p:sp>
              <p:nvSpPr>
                <p:cNvPr id="14405" name="Rectangle 9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6" name="Rectangle 10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7" name="Oval 10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402" name="Group 103"/>
              <p:cNvGrpSpPr>
                <a:grpSpLocks/>
              </p:cNvGrpSpPr>
              <p:nvPr/>
            </p:nvGrpSpPr>
            <p:grpSpPr bwMode="auto">
              <a:xfrm>
                <a:off x="2057" y="3084"/>
                <a:ext cx="45" cy="46"/>
                <a:chOff x="1247" y="1933"/>
                <a:chExt cx="45" cy="46"/>
              </a:xfrm>
            </p:grpSpPr>
            <p:sp>
              <p:nvSpPr>
                <p:cNvPr id="14403" name="Line 104"/>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404" name="Line 105"/>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4365" name="Line 109"/>
            <p:cNvSpPr>
              <a:spLocks noChangeShapeType="1"/>
            </p:cNvSpPr>
            <p:nvPr/>
          </p:nvSpPr>
          <p:spPr bwMode="auto">
            <a:xfrm flipV="1">
              <a:off x="2880" y="2772"/>
              <a:ext cx="0" cy="9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66" name="Line 110"/>
            <p:cNvSpPr>
              <a:spLocks noChangeShapeType="1"/>
            </p:cNvSpPr>
            <p:nvPr/>
          </p:nvSpPr>
          <p:spPr bwMode="auto">
            <a:xfrm>
              <a:off x="1270" y="3226"/>
              <a:ext cx="360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67" name="Line 112"/>
            <p:cNvSpPr>
              <a:spLocks noChangeShapeType="1"/>
            </p:cNvSpPr>
            <p:nvPr/>
          </p:nvSpPr>
          <p:spPr bwMode="auto">
            <a:xfrm>
              <a:off x="2245" y="2954"/>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8" name="Line 113"/>
            <p:cNvSpPr>
              <a:spLocks noChangeAspect="1" noChangeShapeType="1"/>
            </p:cNvSpPr>
            <p:nvPr/>
          </p:nvSpPr>
          <p:spPr bwMode="auto">
            <a:xfrm>
              <a:off x="2245" y="2954"/>
              <a:ext cx="0"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69" name="Line 114"/>
            <p:cNvSpPr>
              <a:spLocks noChangeAspect="1" noChangeShapeType="1"/>
            </p:cNvSpPr>
            <p:nvPr/>
          </p:nvSpPr>
          <p:spPr bwMode="auto">
            <a:xfrm>
              <a:off x="3515" y="2954"/>
              <a:ext cx="0" cy="5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0" name="Line 115"/>
            <p:cNvSpPr>
              <a:spLocks noChangeShapeType="1"/>
            </p:cNvSpPr>
            <p:nvPr/>
          </p:nvSpPr>
          <p:spPr bwMode="auto">
            <a:xfrm>
              <a:off x="1315" y="3521"/>
              <a:ext cx="9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1" name="Line 116"/>
            <p:cNvSpPr>
              <a:spLocks noChangeShapeType="1"/>
            </p:cNvSpPr>
            <p:nvPr/>
          </p:nvSpPr>
          <p:spPr bwMode="auto">
            <a:xfrm>
              <a:off x="3515" y="3498"/>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4372" name="Group 123"/>
            <p:cNvGrpSpPr>
              <a:grpSpLocks/>
            </p:cNvGrpSpPr>
            <p:nvPr/>
          </p:nvGrpSpPr>
          <p:grpSpPr bwMode="auto">
            <a:xfrm>
              <a:off x="4717" y="3748"/>
              <a:ext cx="144" cy="192"/>
              <a:chOff x="2008" y="2981"/>
              <a:chExt cx="144" cy="192"/>
            </a:xfrm>
          </p:grpSpPr>
          <p:grpSp>
            <p:nvGrpSpPr>
              <p:cNvPr id="14394" name="Group 124"/>
              <p:cNvGrpSpPr>
                <a:grpSpLocks/>
              </p:cNvGrpSpPr>
              <p:nvPr/>
            </p:nvGrpSpPr>
            <p:grpSpPr bwMode="auto">
              <a:xfrm>
                <a:off x="2008" y="2981"/>
                <a:ext cx="144" cy="192"/>
                <a:chOff x="4128" y="1488"/>
                <a:chExt cx="144" cy="192"/>
              </a:xfrm>
            </p:grpSpPr>
            <p:sp>
              <p:nvSpPr>
                <p:cNvPr id="14398" name="Rectangle 12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399" name="Rectangle 12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4400" name="Oval 12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4395" name="Group 128"/>
              <p:cNvGrpSpPr>
                <a:grpSpLocks/>
              </p:cNvGrpSpPr>
              <p:nvPr/>
            </p:nvGrpSpPr>
            <p:grpSpPr bwMode="auto">
              <a:xfrm>
                <a:off x="2057" y="3084"/>
                <a:ext cx="45" cy="46"/>
                <a:chOff x="1247" y="1933"/>
                <a:chExt cx="45" cy="46"/>
              </a:xfrm>
            </p:grpSpPr>
            <p:sp>
              <p:nvSpPr>
                <p:cNvPr id="14396" name="Line 129"/>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97" name="Line 130"/>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4373" name="Line 131"/>
            <p:cNvSpPr>
              <a:spLocks noChangeAspect="1" noChangeShapeType="1"/>
            </p:cNvSpPr>
            <p:nvPr/>
          </p:nvSpPr>
          <p:spPr bwMode="auto">
            <a:xfrm>
              <a:off x="4785" y="2931"/>
              <a:ext cx="0" cy="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74" name="Text Box 138"/>
            <p:cNvSpPr txBox="1">
              <a:spLocks noChangeArrowheads="1"/>
            </p:cNvSpPr>
            <p:nvPr/>
          </p:nvSpPr>
          <p:spPr bwMode="auto">
            <a:xfrm>
              <a:off x="4853" y="3181"/>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4375" name="Text Box 139"/>
            <p:cNvSpPr txBox="1">
              <a:spLocks noChangeArrowheads="1"/>
            </p:cNvSpPr>
            <p:nvPr/>
          </p:nvSpPr>
          <p:spPr bwMode="auto">
            <a:xfrm>
              <a:off x="4032" y="3158"/>
              <a:ext cx="1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4376" name="Text Box 140"/>
            <p:cNvSpPr txBox="1">
              <a:spLocks noChangeArrowheads="1"/>
            </p:cNvSpPr>
            <p:nvPr/>
          </p:nvSpPr>
          <p:spPr bwMode="auto">
            <a:xfrm>
              <a:off x="3379" y="3181"/>
              <a:ext cx="2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4377" name="Text Box 141"/>
            <p:cNvSpPr txBox="1">
              <a:spLocks noChangeArrowheads="1"/>
            </p:cNvSpPr>
            <p:nvPr/>
          </p:nvSpPr>
          <p:spPr bwMode="auto">
            <a:xfrm>
              <a:off x="2104" y="3203"/>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4378" name="Text Box 142"/>
            <p:cNvSpPr txBox="1">
              <a:spLocks noChangeArrowheads="1"/>
            </p:cNvSpPr>
            <p:nvPr/>
          </p:nvSpPr>
          <p:spPr bwMode="auto">
            <a:xfrm>
              <a:off x="1451" y="3181"/>
              <a:ext cx="2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4379" name="Group 166"/>
            <p:cNvGrpSpPr>
              <a:grpSpLocks/>
            </p:cNvGrpSpPr>
            <p:nvPr/>
          </p:nvGrpSpPr>
          <p:grpSpPr bwMode="auto">
            <a:xfrm>
              <a:off x="725" y="2818"/>
              <a:ext cx="4060" cy="839"/>
              <a:chOff x="725" y="2818"/>
              <a:chExt cx="4060" cy="839"/>
            </a:xfrm>
          </p:grpSpPr>
          <p:grpSp>
            <p:nvGrpSpPr>
              <p:cNvPr id="14384" name="Group 158"/>
              <p:cNvGrpSpPr>
                <a:grpSpLocks/>
              </p:cNvGrpSpPr>
              <p:nvPr/>
            </p:nvGrpSpPr>
            <p:grpSpPr bwMode="auto">
              <a:xfrm>
                <a:off x="2245" y="2886"/>
                <a:ext cx="1270" cy="340"/>
                <a:chOff x="250" y="1525"/>
                <a:chExt cx="1224" cy="522"/>
              </a:xfrm>
            </p:grpSpPr>
            <p:sp>
              <p:nvSpPr>
                <p:cNvPr id="14392" name="Freeform 15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93" name="Freeform 15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385" name="Group 159"/>
              <p:cNvGrpSpPr>
                <a:grpSpLocks/>
              </p:cNvGrpSpPr>
              <p:nvPr/>
            </p:nvGrpSpPr>
            <p:grpSpPr bwMode="auto">
              <a:xfrm flipV="1">
                <a:off x="3515" y="3226"/>
                <a:ext cx="1270" cy="340"/>
                <a:chOff x="250" y="1525"/>
                <a:chExt cx="1224" cy="522"/>
              </a:xfrm>
            </p:grpSpPr>
            <p:sp>
              <p:nvSpPr>
                <p:cNvPr id="14390" name="Freeform 160"/>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91" name="Freeform 161"/>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4386" name="Group 162"/>
              <p:cNvGrpSpPr>
                <a:grpSpLocks/>
              </p:cNvGrpSpPr>
              <p:nvPr/>
            </p:nvGrpSpPr>
            <p:grpSpPr bwMode="auto">
              <a:xfrm flipV="1">
                <a:off x="952" y="3249"/>
                <a:ext cx="1270" cy="340"/>
                <a:chOff x="250" y="1525"/>
                <a:chExt cx="1224" cy="522"/>
              </a:xfrm>
            </p:grpSpPr>
            <p:sp>
              <p:nvSpPr>
                <p:cNvPr id="14388" name="Freeform 16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4389" name="Freeform 16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4387" name="Rectangle 165"/>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4380" name="Text Box 168"/>
            <p:cNvSpPr txBox="1">
              <a:spLocks noChangeArrowheads="1"/>
            </p:cNvSpPr>
            <p:nvPr/>
          </p:nvSpPr>
          <p:spPr bwMode="auto">
            <a:xfrm>
              <a:off x="816" y="2818"/>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4381" name="Text Box 170"/>
            <p:cNvSpPr txBox="1">
              <a:spLocks noChangeArrowheads="1"/>
            </p:cNvSpPr>
            <p:nvPr/>
          </p:nvSpPr>
          <p:spPr bwMode="auto">
            <a:xfrm>
              <a:off x="793" y="3385"/>
              <a:ext cx="3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4382" name="Line 171"/>
            <p:cNvSpPr>
              <a:spLocks noChangeShapeType="1"/>
            </p:cNvSpPr>
            <p:nvPr/>
          </p:nvSpPr>
          <p:spPr bwMode="auto">
            <a:xfrm flipH="1">
              <a:off x="1156" y="2954"/>
              <a:ext cx="106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4383" name="Line 172"/>
            <p:cNvSpPr>
              <a:spLocks noChangeShapeType="1"/>
            </p:cNvSpPr>
            <p:nvPr/>
          </p:nvSpPr>
          <p:spPr bwMode="auto">
            <a:xfrm flipH="1">
              <a:off x="1156" y="3521"/>
              <a:ext cx="2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99" name="ZoneTexte 98"/>
          <p:cNvSpPr txBox="1">
            <a:spLocks noChangeArrowheads="1"/>
          </p:cNvSpPr>
          <p:nvPr/>
        </p:nvSpPr>
        <p:spPr bwMode="auto">
          <a:xfrm>
            <a:off x="665163" y="3867150"/>
            <a:ext cx="2154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Répartition spatiale de la FMM</a:t>
            </a:r>
          </a:p>
        </p:txBody>
      </p:sp>
      <p:sp>
        <p:nvSpPr>
          <p:cNvPr id="14355" name="ZoneTexte 99"/>
          <p:cNvSpPr txBox="1">
            <a:spLocks noChangeArrowheads="1"/>
          </p:cNvSpPr>
          <p:nvPr/>
        </p:nvSpPr>
        <p:spPr bwMode="auto">
          <a:xfrm>
            <a:off x="2819400" y="2406650"/>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Sud</a:t>
            </a:r>
          </a:p>
        </p:txBody>
      </p:sp>
      <p:sp>
        <p:nvSpPr>
          <p:cNvPr id="14356" name="ZoneTexte 100"/>
          <p:cNvSpPr txBox="1">
            <a:spLocks noChangeArrowheads="1"/>
          </p:cNvSpPr>
          <p:nvPr/>
        </p:nvSpPr>
        <p:spPr bwMode="auto">
          <a:xfrm>
            <a:off x="5484813" y="2297113"/>
            <a:ext cx="547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Nord</a:t>
            </a:r>
          </a:p>
        </p:txBody>
      </p:sp>
      <p:sp>
        <p:nvSpPr>
          <p:cNvPr id="102" name="ZoneTexte 101"/>
          <p:cNvSpPr txBox="1">
            <a:spLocks noChangeArrowheads="1"/>
          </p:cNvSpPr>
          <p:nvPr/>
        </p:nvSpPr>
        <p:spPr bwMode="auto">
          <a:xfrm>
            <a:off x="6507163" y="2698750"/>
            <a:ext cx="21542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Axe de la bobine</a:t>
            </a:r>
          </a:p>
        </p:txBody>
      </p:sp>
      <p:sp>
        <p:nvSpPr>
          <p:cNvPr id="14358" name="Espace réservé du numéro de diapositive 10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5DA2F14-D5DF-456C-B197-6ABFE6A28D9A}" type="slidenum">
              <a:rPr lang="en-US" altLang="fr-FR" sz="1000">
                <a:solidFill>
                  <a:srgbClr val="292929"/>
                </a:solidFill>
                <a:latin typeface="Arial" panose="020B0604020202020204" pitchFamily="34" charset="0"/>
              </a:rPr>
              <a:pPr>
                <a:spcBef>
                  <a:spcPct val="0"/>
                </a:spcBef>
                <a:buClrTx/>
                <a:buSzTx/>
                <a:buFontTx/>
                <a:buNone/>
              </a:pPr>
              <a:t>3</a:t>
            </a:fld>
            <a:endParaRPr lang="en-US" altLang="fr-FR" sz="1000">
              <a:solidFill>
                <a:srgbClr val="292929"/>
              </a:solidFill>
              <a:latin typeface="Arial" panose="020B0604020202020204" pitchFamily="34" charset="0"/>
            </a:endParaRPr>
          </a:p>
        </p:txBody>
      </p:sp>
      <p:sp>
        <p:nvSpPr>
          <p:cNvPr id="103" name="Espace réservé du pied de page 10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2141524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8454"/>
                                        </p:tgtEl>
                                        <p:attrNameLst>
                                          <p:attrName>style.visibility</p:attrName>
                                        </p:attrNameLst>
                                      </p:cBhvr>
                                      <p:to>
                                        <p:strVal val="visible"/>
                                      </p:to>
                                    </p:set>
                                    <p:anim calcmode="lin" valueType="num">
                                      <p:cBhvr>
                                        <p:cTn id="12" dur="500" fill="hold"/>
                                        <p:tgtEl>
                                          <p:spTgt spid="58454"/>
                                        </p:tgtEl>
                                        <p:attrNameLst>
                                          <p:attrName>ppt_w</p:attrName>
                                        </p:attrNameLst>
                                      </p:cBhvr>
                                      <p:tavLst>
                                        <p:tav tm="0">
                                          <p:val>
                                            <p:fltVal val="0"/>
                                          </p:val>
                                        </p:tav>
                                        <p:tav tm="100000">
                                          <p:val>
                                            <p:strVal val="#ppt_w"/>
                                          </p:val>
                                        </p:tav>
                                      </p:tavLst>
                                    </p:anim>
                                    <p:anim calcmode="lin" valueType="num">
                                      <p:cBhvr>
                                        <p:cTn id="13" dur="500" fill="hold"/>
                                        <p:tgtEl>
                                          <p:spTgt spid="58454"/>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02"/>
                                        </p:tgtEl>
                                        <p:attrNameLst>
                                          <p:attrName>style.visibility</p:attrName>
                                        </p:attrNameLst>
                                      </p:cBhvr>
                                      <p:to>
                                        <p:strVal val="visible"/>
                                      </p:to>
                                    </p:set>
                                    <p:animEffect transition="in" filter="checkerboard(across)">
                                      <p:cBhvr>
                                        <p:cTn id="23" dur="500"/>
                                        <p:tgtEl>
                                          <p:spTgt spid="10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99"/>
                                        </p:tgtEl>
                                        <p:attrNameLst>
                                          <p:attrName>style.visibility</p:attrName>
                                        </p:attrNameLst>
                                      </p:cBhvr>
                                      <p:to>
                                        <p:strVal val="visible"/>
                                      </p:to>
                                    </p:set>
                                    <p:animEffect transition="in" filter="checkerboard(across)">
                                      <p:cBhvr>
                                        <p:cTn id="28" dur="500"/>
                                        <p:tgtEl>
                                          <p:spTgt spid="9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54" grpId="0"/>
      <p:bldP spid="99" grpId="0"/>
      <p:bldP spid="10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6387" name="Group 175"/>
          <p:cNvGrpSpPr>
            <a:grpSpLocks/>
          </p:cNvGrpSpPr>
          <p:nvPr/>
        </p:nvGrpSpPr>
        <p:grpSpPr bwMode="auto">
          <a:xfrm>
            <a:off x="1285875" y="1266825"/>
            <a:ext cx="6829425" cy="2052638"/>
            <a:chOff x="725" y="2772"/>
            <a:chExt cx="4302" cy="1293"/>
          </a:xfrm>
        </p:grpSpPr>
        <p:sp>
          <p:nvSpPr>
            <p:cNvPr id="16392" name="Rectangle 87"/>
            <p:cNvSpPr>
              <a:spLocks noChangeArrowheads="1"/>
            </p:cNvSpPr>
            <p:nvPr/>
          </p:nvSpPr>
          <p:spPr bwMode="auto">
            <a:xfrm>
              <a:off x="1224" y="3793"/>
              <a:ext cx="3765" cy="272"/>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393" name="Line 88"/>
            <p:cNvSpPr>
              <a:spLocks noChangeShapeType="1"/>
            </p:cNvSpPr>
            <p:nvPr/>
          </p:nvSpPr>
          <p:spPr bwMode="auto">
            <a:xfrm>
              <a:off x="1246" y="3793"/>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394" name="Line 89"/>
            <p:cNvSpPr>
              <a:spLocks noChangeShapeType="1"/>
            </p:cNvSpPr>
            <p:nvPr/>
          </p:nvSpPr>
          <p:spPr bwMode="auto">
            <a:xfrm>
              <a:off x="1246" y="4065"/>
              <a:ext cx="367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6395" name="Group 107"/>
            <p:cNvGrpSpPr>
              <a:grpSpLocks/>
            </p:cNvGrpSpPr>
            <p:nvPr/>
          </p:nvGrpSpPr>
          <p:grpSpPr bwMode="auto">
            <a:xfrm>
              <a:off x="3447" y="3760"/>
              <a:ext cx="144" cy="192"/>
              <a:chOff x="1360" y="2931"/>
              <a:chExt cx="144" cy="192"/>
            </a:xfrm>
          </p:grpSpPr>
          <p:grpSp>
            <p:nvGrpSpPr>
              <p:cNvPr id="16440" name="Group 90"/>
              <p:cNvGrpSpPr>
                <a:grpSpLocks/>
              </p:cNvGrpSpPr>
              <p:nvPr/>
            </p:nvGrpSpPr>
            <p:grpSpPr bwMode="auto">
              <a:xfrm>
                <a:off x="1360" y="2931"/>
                <a:ext cx="144" cy="192"/>
                <a:chOff x="4128" y="1488"/>
                <a:chExt cx="144" cy="192"/>
              </a:xfrm>
            </p:grpSpPr>
            <p:sp>
              <p:nvSpPr>
                <p:cNvPr id="16442" name="Rectangle 9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43" name="Rectangle 9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44" name="Oval 9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6441" name="Oval 97"/>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396" name="Group 106"/>
            <p:cNvGrpSpPr>
              <a:grpSpLocks/>
            </p:cNvGrpSpPr>
            <p:nvPr/>
          </p:nvGrpSpPr>
          <p:grpSpPr bwMode="auto">
            <a:xfrm>
              <a:off x="2192" y="3747"/>
              <a:ext cx="144" cy="192"/>
              <a:chOff x="2008" y="2981"/>
              <a:chExt cx="144" cy="192"/>
            </a:xfrm>
          </p:grpSpPr>
          <p:grpSp>
            <p:nvGrpSpPr>
              <p:cNvPr id="16433" name="Group 98"/>
              <p:cNvGrpSpPr>
                <a:grpSpLocks/>
              </p:cNvGrpSpPr>
              <p:nvPr/>
            </p:nvGrpSpPr>
            <p:grpSpPr bwMode="auto">
              <a:xfrm>
                <a:off x="2008" y="2981"/>
                <a:ext cx="144" cy="192"/>
                <a:chOff x="4128" y="1488"/>
                <a:chExt cx="144" cy="192"/>
              </a:xfrm>
            </p:grpSpPr>
            <p:sp>
              <p:nvSpPr>
                <p:cNvPr id="16437" name="Rectangle 9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8" name="Rectangle 10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9" name="Oval 10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434" name="Group 103"/>
              <p:cNvGrpSpPr>
                <a:grpSpLocks/>
              </p:cNvGrpSpPr>
              <p:nvPr/>
            </p:nvGrpSpPr>
            <p:grpSpPr bwMode="auto">
              <a:xfrm>
                <a:off x="2057" y="3084"/>
                <a:ext cx="45" cy="46"/>
                <a:chOff x="1247" y="1933"/>
                <a:chExt cx="45" cy="46"/>
              </a:xfrm>
            </p:grpSpPr>
            <p:sp>
              <p:nvSpPr>
                <p:cNvPr id="16435" name="Line 104"/>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36" name="Line 105"/>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6397" name="Line 109"/>
            <p:cNvSpPr>
              <a:spLocks noChangeShapeType="1"/>
            </p:cNvSpPr>
            <p:nvPr/>
          </p:nvSpPr>
          <p:spPr bwMode="auto">
            <a:xfrm flipV="1">
              <a:off x="2880" y="2772"/>
              <a:ext cx="0" cy="93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398" name="Line 110"/>
            <p:cNvSpPr>
              <a:spLocks noChangeShapeType="1"/>
            </p:cNvSpPr>
            <p:nvPr/>
          </p:nvSpPr>
          <p:spPr bwMode="auto">
            <a:xfrm>
              <a:off x="1270" y="3226"/>
              <a:ext cx="360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399" name="Line 112"/>
            <p:cNvSpPr>
              <a:spLocks noChangeShapeType="1"/>
            </p:cNvSpPr>
            <p:nvPr/>
          </p:nvSpPr>
          <p:spPr bwMode="auto">
            <a:xfrm>
              <a:off x="2245" y="2954"/>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0" name="Line 113"/>
            <p:cNvSpPr>
              <a:spLocks noChangeAspect="1" noChangeShapeType="1"/>
            </p:cNvSpPr>
            <p:nvPr/>
          </p:nvSpPr>
          <p:spPr bwMode="auto">
            <a:xfrm>
              <a:off x="2245" y="2954"/>
              <a:ext cx="0" cy="5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1" name="Line 114"/>
            <p:cNvSpPr>
              <a:spLocks noChangeAspect="1" noChangeShapeType="1"/>
            </p:cNvSpPr>
            <p:nvPr/>
          </p:nvSpPr>
          <p:spPr bwMode="auto">
            <a:xfrm>
              <a:off x="3515" y="2954"/>
              <a:ext cx="0" cy="5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2" name="Line 115"/>
            <p:cNvSpPr>
              <a:spLocks noChangeShapeType="1"/>
            </p:cNvSpPr>
            <p:nvPr/>
          </p:nvSpPr>
          <p:spPr bwMode="auto">
            <a:xfrm>
              <a:off x="1315" y="3521"/>
              <a:ext cx="93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3" name="Line 116"/>
            <p:cNvSpPr>
              <a:spLocks noChangeShapeType="1"/>
            </p:cNvSpPr>
            <p:nvPr/>
          </p:nvSpPr>
          <p:spPr bwMode="auto">
            <a:xfrm>
              <a:off x="3515" y="3498"/>
              <a:ext cx="127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6404" name="Group 123"/>
            <p:cNvGrpSpPr>
              <a:grpSpLocks/>
            </p:cNvGrpSpPr>
            <p:nvPr/>
          </p:nvGrpSpPr>
          <p:grpSpPr bwMode="auto">
            <a:xfrm>
              <a:off x="4717" y="3748"/>
              <a:ext cx="144" cy="192"/>
              <a:chOff x="2008" y="2981"/>
              <a:chExt cx="144" cy="192"/>
            </a:xfrm>
          </p:grpSpPr>
          <p:grpSp>
            <p:nvGrpSpPr>
              <p:cNvPr id="16426" name="Group 124"/>
              <p:cNvGrpSpPr>
                <a:grpSpLocks/>
              </p:cNvGrpSpPr>
              <p:nvPr/>
            </p:nvGrpSpPr>
            <p:grpSpPr bwMode="auto">
              <a:xfrm>
                <a:off x="2008" y="2981"/>
                <a:ext cx="144" cy="192"/>
                <a:chOff x="4128" y="1488"/>
                <a:chExt cx="144" cy="192"/>
              </a:xfrm>
            </p:grpSpPr>
            <p:sp>
              <p:nvSpPr>
                <p:cNvPr id="16430" name="Rectangle 12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1" name="Rectangle 12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6432" name="Oval 12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6427" name="Group 128"/>
              <p:cNvGrpSpPr>
                <a:grpSpLocks/>
              </p:cNvGrpSpPr>
              <p:nvPr/>
            </p:nvGrpSpPr>
            <p:grpSpPr bwMode="auto">
              <a:xfrm>
                <a:off x="2057" y="3084"/>
                <a:ext cx="45" cy="46"/>
                <a:chOff x="1247" y="1933"/>
                <a:chExt cx="45" cy="46"/>
              </a:xfrm>
            </p:grpSpPr>
            <p:sp>
              <p:nvSpPr>
                <p:cNvPr id="16428" name="Line 129"/>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29" name="Line 130"/>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6405" name="Line 131"/>
            <p:cNvSpPr>
              <a:spLocks noChangeAspect="1" noChangeShapeType="1"/>
            </p:cNvSpPr>
            <p:nvPr/>
          </p:nvSpPr>
          <p:spPr bwMode="auto">
            <a:xfrm>
              <a:off x="4785" y="2931"/>
              <a:ext cx="0" cy="5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6" name="Text Box 138"/>
            <p:cNvSpPr txBox="1">
              <a:spLocks noChangeArrowheads="1"/>
            </p:cNvSpPr>
            <p:nvPr/>
          </p:nvSpPr>
          <p:spPr bwMode="auto">
            <a:xfrm>
              <a:off x="4853" y="3181"/>
              <a:ext cx="17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6407" name="Text Box 139"/>
            <p:cNvSpPr txBox="1">
              <a:spLocks noChangeArrowheads="1"/>
            </p:cNvSpPr>
            <p:nvPr/>
          </p:nvSpPr>
          <p:spPr bwMode="auto">
            <a:xfrm>
              <a:off x="4032" y="3158"/>
              <a:ext cx="1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6408" name="Text Box 140"/>
            <p:cNvSpPr txBox="1">
              <a:spLocks noChangeArrowheads="1"/>
            </p:cNvSpPr>
            <p:nvPr/>
          </p:nvSpPr>
          <p:spPr bwMode="auto">
            <a:xfrm>
              <a:off x="3379" y="3181"/>
              <a:ext cx="2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6409" name="Text Box 141"/>
            <p:cNvSpPr txBox="1">
              <a:spLocks noChangeArrowheads="1"/>
            </p:cNvSpPr>
            <p:nvPr/>
          </p:nvSpPr>
          <p:spPr bwMode="auto">
            <a:xfrm>
              <a:off x="2104" y="3203"/>
              <a:ext cx="3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6410" name="Text Box 142"/>
            <p:cNvSpPr txBox="1">
              <a:spLocks noChangeArrowheads="1"/>
            </p:cNvSpPr>
            <p:nvPr/>
          </p:nvSpPr>
          <p:spPr bwMode="auto">
            <a:xfrm>
              <a:off x="1451" y="3181"/>
              <a:ext cx="22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6411" name="Group 166"/>
            <p:cNvGrpSpPr>
              <a:grpSpLocks/>
            </p:cNvGrpSpPr>
            <p:nvPr/>
          </p:nvGrpSpPr>
          <p:grpSpPr bwMode="auto">
            <a:xfrm>
              <a:off x="725" y="2818"/>
              <a:ext cx="4060" cy="839"/>
              <a:chOff x="725" y="2818"/>
              <a:chExt cx="4060" cy="839"/>
            </a:xfrm>
          </p:grpSpPr>
          <p:grpSp>
            <p:nvGrpSpPr>
              <p:cNvPr id="16416" name="Group 158"/>
              <p:cNvGrpSpPr>
                <a:grpSpLocks/>
              </p:cNvGrpSpPr>
              <p:nvPr/>
            </p:nvGrpSpPr>
            <p:grpSpPr bwMode="auto">
              <a:xfrm>
                <a:off x="2245" y="2886"/>
                <a:ext cx="1270" cy="340"/>
                <a:chOff x="250" y="1525"/>
                <a:chExt cx="1224" cy="522"/>
              </a:xfrm>
            </p:grpSpPr>
            <p:sp>
              <p:nvSpPr>
                <p:cNvPr id="16424" name="Freeform 15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5" name="Freeform 15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6417" name="Group 159"/>
              <p:cNvGrpSpPr>
                <a:grpSpLocks/>
              </p:cNvGrpSpPr>
              <p:nvPr/>
            </p:nvGrpSpPr>
            <p:grpSpPr bwMode="auto">
              <a:xfrm flipV="1">
                <a:off x="3515" y="3226"/>
                <a:ext cx="1270" cy="340"/>
                <a:chOff x="250" y="1525"/>
                <a:chExt cx="1224" cy="522"/>
              </a:xfrm>
            </p:grpSpPr>
            <p:sp>
              <p:nvSpPr>
                <p:cNvPr id="16422" name="Freeform 160"/>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3" name="Freeform 161"/>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6418" name="Group 162"/>
              <p:cNvGrpSpPr>
                <a:grpSpLocks/>
              </p:cNvGrpSpPr>
              <p:nvPr/>
            </p:nvGrpSpPr>
            <p:grpSpPr bwMode="auto">
              <a:xfrm flipV="1">
                <a:off x="952" y="3249"/>
                <a:ext cx="1270" cy="340"/>
                <a:chOff x="250" y="1525"/>
                <a:chExt cx="1224" cy="522"/>
              </a:xfrm>
            </p:grpSpPr>
            <p:sp>
              <p:nvSpPr>
                <p:cNvPr id="16420" name="Freeform 16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6421" name="Freeform 16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6419" name="Rectangle 165"/>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6412" name="Text Box 168"/>
            <p:cNvSpPr txBox="1">
              <a:spLocks noChangeArrowheads="1"/>
            </p:cNvSpPr>
            <p:nvPr/>
          </p:nvSpPr>
          <p:spPr bwMode="auto">
            <a:xfrm>
              <a:off x="816" y="2818"/>
              <a:ext cx="36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6413" name="Text Box 170"/>
            <p:cNvSpPr txBox="1">
              <a:spLocks noChangeArrowheads="1"/>
            </p:cNvSpPr>
            <p:nvPr/>
          </p:nvSpPr>
          <p:spPr bwMode="auto">
            <a:xfrm>
              <a:off x="793" y="3385"/>
              <a:ext cx="39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-N</a:t>
              </a:r>
              <a:r>
                <a:rPr lang="en-US" altLang="fr-FR" sz="1600" i="1">
                  <a:latin typeface="Arial Narrow" panose="020B0606020202030204" pitchFamily="34" charset="0"/>
                </a:rPr>
                <a:t>i</a:t>
              </a:r>
              <a:r>
                <a:rPr lang="en-US" altLang="fr-FR" sz="1600">
                  <a:latin typeface="Arial Narrow" panose="020B0606020202030204" pitchFamily="34" charset="0"/>
                </a:rPr>
                <a:t> / 2</a:t>
              </a:r>
            </a:p>
          </p:txBody>
        </p:sp>
        <p:sp>
          <p:nvSpPr>
            <p:cNvPr id="16414" name="Line 171"/>
            <p:cNvSpPr>
              <a:spLocks noChangeShapeType="1"/>
            </p:cNvSpPr>
            <p:nvPr/>
          </p:nvSpPr>
          <p:spPr bwMode="auto">
            <a:xfrm flipH="1">
              <a:off x="1156" y="2954"/>
              <a:ext cx="106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6415" name="Line 172"/>
            <p:cNvSpPr>
              <a:spLocks noChangeShapeType="1"/>
            </p:cNvSpPr>
            <p:nvPr/>
          </p:nvSpPr>
          <p:spPr bwMode="auto">
            <a:xfrm flipH="1">
              <a:off x="1156" y="3521"/>
              <a:ext cx="20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6388" name="Rectangle 2"/>
          <p:cNvSpPr txBox="1">
            <a:spLocks noChangeArrowheads="1"/>
          </p:cNvSpPr>
          <p:nvPr/>
        </p:nvSpPr>
        <p:spPr bwMode="auto">
          <a:xfrm>
            <a:off x="2209800" y="22860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19100" indent="-3825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a:buFontTx/>
              <a:buNone/>
            </a:pPr>
            <a:r>
              <a:rPr lang="en-US" altLang="fr-FR" sz="2400" b="1">
                <a:latin typeface="Arial Narrow" panose="020B0606020202030204" pitchFamily="34" charset="0"/>
              </a:rPr>
              <a:t>Construction </a:t>
            </a:r>
          </a:p>
        </p:txBody>
      </p:sp>
      <p:sp>
        <p:nvSpPr>
          <p:cNvPr id="16389" name="ZoneTexte 59"/>
          <p:cNvSpPr txBox="1">
            <a:spLocks noChangeArrowheads="1"/>
          </p:cNvSpPr>
          <p:nvPr/>
        </p:nvSpPr>
        <p:spPr bwMode="auto">
          <a:xfrm>
            <a:off x="1030288" y="4232275"/>
            <a:ext cx="737552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La décomposition en série de Fourier donne une composante fondamentale:</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el-GR" altLang="fr-FR" sz="2400">
                <a:latin typeface="Calibri" panose="020F0502020204030204" pitchFamily="34" charset="0"/>
              </a:rPr>
              <a:t>ε</a:t>
            </a:r>
            <a:r>
              <a:rPr lang="fr-FR" altLang="fr-FR" sz="2400" baseline="-25000">
                <a:latin typeface="Calibri" panose="020F0502020204030204" pitchFamily="34" charset="0"/>
              </a:rPr>
              <a:t>1</a:t>
            </a:r>
            <a:r>
              <a:rPr lang="fr-FR" altLang="fr-FR" sz="2400">
                <a:latin typeface="Calibri" panose="020F0502020204030204" pitchFamily="34" charset="0"/>
              </a:rPr>
              <a:t> = (2/</a:t>
            </a:r>
            <a:r>
              <a:rPr lang="el-GR" altLang="fr-FR" sz="2400">
                <a:latin typeface="Calibri" panose="020F0502020204030204" pitchFamily="34" charset="0"/>
              </a:rPr>
              <a:t>π</a:t>
            </a:r>
            <a:r>
              <a:rPr lang="fr-FR" altLang="fr-FR" sz="2400">
                <a:latin typeface="Calibri" panose="020F0502020204030204" pitchFamily="34" charset="0"/>
              </a:rPr>
              <a:t>).N.</a:t>
            </a:r>
            <a:r>
              <a:rPr lang="fr-FR" altLang="fr-FR" sz="2400" i="1">
                <a:latin typeface="Calibri" panose="020F0502020204030204" pitchFamily="34" charset="0"/>
              </a:rPr>
              <a:t>i</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a:t>
            </a:r>
            <a:endParaRPr lang="fr-FR" altLang="fr-FR" sz="24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a:t>
            </a:r>
          </a:p>
        </p:txBody>
      </p:sp>
      <p:sp>
        <p:nvSpPr>
          <p:cNvPr id="16390" name="Espace réservé du numéro de diapositive 6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31068D-D48C-4F9A-88BE-87771C21CC18}" type="slidenum">
              <a:rPr lang="en-US" altLang="fr-FR" sz="1000">
                <a:solidFill>
                  <a:srgbClr val="292929"/>
                </a:solidFill>
                <a:latin typeface="Arial" panose="020B0604020202020204" pitchFamily="34" charset="0"/>
              </a:rPr>
              <a:pPr>
                <a:spcBef>
                  <a:spcPct val="0"/>
                </a:spcBef>
                <a:buClrTx/>
                <a:buSzTx/>
                <a:buFontTx/>
                <a:buNone/>
              </a:pPr>
              <a:t>4</a:t>
            </a:fld>
            <a:endParaRPr lang="en-US" altLang="fr-FR" sz="1000">
              <a:solidFill>
                <a:srgbClr val="292929"/>
              </a:solidFill>
              <a:latin typeface="Arial" panose="020B0604020202020204" pitchFamily="34" charset="0"/>
            </a:endParaRPr>
          </a:p>
        </p:txBody>
      </p:sp>
      <p:sp>
        <p:nvSpPr>
          <p:cNvPr id="62" name="Espace réservé du pied de page 6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6749792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idx="1"/>
          </p:nvPr>
        </p:nvSpPr>
        <p:spPr>
          <a:xfrm>
            <a:off x="2209800" y="228600"/>
            <a:ext cx="4572000" cy="457200"/>
          </a:xfrm>
        </p:spPr>
        <p:txBody>
          <a:bodyPr/>
          <a:lstStyle/>
          <a:p>
            <a:pPr algn="ctr">
              <a:buFontTx/>
              <a:buNone/>
            </a:pPr>
            <a:r>
              <a:rPr lang="en-US" altLang="fr-FR" sz="2400" b="1">
                <a:latin typeface="Arial Narrow" panose="020B0606020202030204" pitchFamily="34" charset="0"/>
              </a:rPr>
              <a:t>Construction </a:t>
            </a:r>
          </a:p>
        </p:txBody>
      </p:sp>
      <p:sp>
        <p:nvSpPr>
          <p:cNvPr id="18435"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6" name="Oval 4"/>
          <p:cNvSpPr>
            <a:spLocks noChangeAspect="1" noChangeArrowheads="1"/>
          </p:cNvSpPr>
          <p:nvPr/>
        </p:nvSpPr>
        <p:spPr bwMode="auto">
          <a:xfrm>
            <a:off x="2843213" y="1160463"/>
            <a:ext cx="3144837" cy="3097212"/>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7" name="Oval 5"/>
          <p:cNvSpPr>
            <a:spLocks noChangeAspect="1" noChangeArrowheads="1"/>
          </p:cNvSpPr>
          <p:nvPr/>
        </p:nvSpPr>
        <p:spPr bwMode="auto">
          <a:xfrm>
            <a:off x="3281363" y="1582738"/>
            <a:ext cx="2300287" cy="230505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38" name="Oval 6"/>
          <p:cNvSpPr>
            <a:spLocks noChangeAspect="1" noChangeArrowheads="1"/>
          </p:cNvSpPr>
          <p:nvPr/>
        </p:nvSpPr>
        <p:spPr bwMode="auto">
          <a:xfrm>
            <a:off x="3390900" y="1685925"/>
            <a:ext cx="2090738" cy="21145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8439" name="Group 9"/>
          <p:cNvGrpSpPr>
            <a:grpSpLocks/>
          </p:cNvGrpSpPr>
          <p:nvPr/>
        </p:nvGrpSpPr>
        <p:grpSpPr bwMode="auto">
          <a:xfrm>
            <a:off x="4329113" y="1352550"/>
            <a:ext cx="228600" cy="244475"/>
            <a:chOff x="1776" y="528"/>
            <a:chExt cx="144" cy="154"/>
          </a:xfrm>
        </p:grpSpPr>
        <p:grpSp>
          <p:nvGrpSpPr>
            <p:cNvPr id="18597" name="Group 10"/>
            <p:cNvGrpSpPr>
              <a:grpSpLocks/>
            </p:cNvGrpSpPr>
            <p:nvPr/>
          </p:nvGrpSpPr>
          <p:grpSpPr bwMode="auto">
            <a:xfrm>
              <a:off x="1776" y="528"/>
              <a:ext cx="144" cy="154"/>
              <a:chOff x="2512" y="920"/>
              <a:chExt cx="144" cy="154"/>
            </a:xfrm>
          </p:grpSpPr>
          <p:sp>
            <p:nvSpPr>
              <p:cNvPr id="18599" name="Rectangle 11"/>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600" name="Rectangle 12"/>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98" name="Oval 13"/>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40" name="Group 14"/>
          <p:cNvGrpSpPr>
            <a:grpSpLocks/>
          </p:cNvGrpSpPr>
          <p:nvPr/>
        </p:nvGrpSpPr>
        <p:grpSpPr bwMode="auto">
          <a:xfrm>
            <a:off x="4314825" y="3806825"/>
            <a:ext cx="228600" cy="304800"/>
            <a:chOff x="4128" y="1488"/>
            <a:chExt cx="144" cy="192"/>
          </a:xfrm>
        </p:grpSpPr>
        <p:sp>
          <p:nvSpPr>
            <p:cNvPr id="18594" name="Rectangle 1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5" name="Rectangle 1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6" name="Oval 1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441" name="Oval 18"/>
          <p:cNvSpPr>
            <a:spLocks noChangeArrowheads="1"/>
          </p:cNvSpPr>
          <p:nvPr/>
        </p:nvSpPr>
        <p:spPr bwMode="auto">
          <a:xfrm flipH="1" flipV="1">
            <a:off x="4425950" y="1487488"/>
            <a:ext cx="36513" cy="36512"/>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18442" name="Group 19"/>
          <p:cNvGrpSpPr>
            <a:grpSpLocks/>
          </p:cNvGrpSpPr>
          <p:nvPr/>
        </p:nvGrpSpPr>
        <p:grpSpPr bwMode="auto">
          <a:xfrm>
            <a:off x="4391025" y="3965575"/>
            <a:ext cx="71438" cy="73025"/>
            <a:chOff x="1247" y="1933"/>
            <a:chExt cx="45" cy="46"/>
          </a:xfrm>
        </p:grpSpPr>
        <p:sp>
          <p:nvSpPr>
            <p:cNvPr id="18592" name="Line 20"/>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93" name="Line 21"/>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8443" name="Text Box 34"/>
          <p:cNvSpPr txBox="1">
            <a:spLocks noChangeArrowheads="1"/>
          </p:cNvSpPr>
          <p:nvPr/>
        </p:nvSpPr>
        <p:spPr bwMode="auto">
          <a:xfrm>
            <a:off x="358775" y="681038"/>
            <a:ext cx="38639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b="1">
                <a:latin typeface="Arial Narrow" panose="020B0606020202030204" pitchFamily="34" charset="0"/>
              </a:rPr>
              <a:t>Enroulement distribué  :</a:t>
            </a:r>
          </a:p>
          <a:p>
            <a:pPr eaLnBrk="1" hangingPunct="1">
              <a:spcBef>
                <a:spcPct val="0"/>
              </a:spcBef>
              <a:buClrTx/>
              <a:buSzTx/>
              <a:buFontTx/>
              <a:buNone/>
            </a:pPr>
            <a:r>
              <a:rPr lang="en-US" altLang="fr-FR" sz="1600" b="1">
                <a:latin typeface="Arial Narrow" panose="020B0606020202030204" pitchFamily="34" charset="0"/>
              </a:rPr>
              <a:t>  – </a:t>
            </a:r>
            <a:r>
              <a:rPr lang="fr-FR" altLang="fr-FR" sz="1600" b="1">
                <a:latin typeface="Arial Narrow" panose="020B0606020202030204" pitchFamily="34" charset="0"/>
              </a:rPr>
              <a:t>bobines réparties dans plusieurs encoches</a:t>
            </a:r>
            <a:endParaRPr lang="en-US" altLang="fr-FR" sz="1600" b="1">
              <a:latin typeface="Arial Narrow" panose="020B0606020202030204" pitchFamily="34" charset="0"/>
            </a:endParaRPr>
          </a:p>
          <a:p>
            <a:pPr eaLnBrk="1" hangingPunct="1">
              <a:spcBef>
                <a:spcPct val="0"/>
              </a:spcBef>
              <a:buClrTx/>
              <a:buSzTx/>
              <a:buFontTx/>
              <a:buNone/>
            </a:pPr>
            <a:endParaRPr lang="en-US" altLang="fr-FR" sz="1600" b="1">
              <a:latin typeface="Arial Narrow" panose="020B0606020202030204" pitchFamily="34" charset="0"/>
            </a:endParaRPr>
          </a:p>
          <a:p>
            <a:pPr eaLnBrk="1" hangingPunct="1">
              <a:spcBef>
                <a:spcPct val="0"/>
              </a:spcBef>
              <a:buClrTx/>
              <a:buSzTx/>
              <a:buFontTx/>
              <a:buNone/>
            </a:pPr>
            <a:r>
              <a:rPr lang="en-US" altLang="fr-FR" sz="1600" b="1">
                <a:latin typeface="Arial Narrow" panose="020B0606020202030204" pitchFamily="34" charset="0"/>
              </a:rPr>
              <a:t>N</a:t>
            </a:r>
            <a:r>
              <a:rPr lang="en-US" altLang="fr-FR" sz="1600" b="1" baseline="-25000">
                <a:latin typeface="Arial Narrow" panose="020B0606020202030204" pitchFamily="34" charset="0"/>
              </a:rPr>
              <a:t>c</a:t>
            </a:r>
            <a:r>
              <a:rPr lang="en-US" altLang="fr-FR" sz="1600" b="1">
                <a:latin typeface="Arial Narrow" panose="020B0606020202030204" pitchFamily="34" charset="0"/>
              </a:rPr>
              <a:t> spires /encoche</a:t>
            </a:r>
          </a:p>
          <a:p>
            <a:pPr eaLnBrk="1" hangingPunct="1">
              <a:spcBef>
                <a:spcPct val="0"/>
              </a:spcBef>
              <a:buClrTx/>
              <a:buSzTx/>
              <a:buFontTx/>
              <a:buNone/>
            </a:pPr>
            <a:endParaRPr lang="en-US" altLang="fr-FR" sz="1600" b="1">
              <a:latin typeface="Arial Narrow" panose="020B0606020202030204" pitchFamily="34" charset="0"/>
            </a:endParaRPr>
          </a:p>
        </p:txBody>
      </p:sp>
      <p:sp>
        <p:nvSpPr>
          <p:cNvPr id="18444" name="Rectangle 36"/>
          <p:cNvSpPr>
            <a:spLocks noChangeArrowheads="1"/>
          </p:cNvSpPr>
          <p:nvPr/>
        </p:nvSpPr>
        <p:spPr bwMode="auto">
          <a:xfrm>
            <a:off x="1943100" y="6021388"/>
            <a:ext cx="5976938" cy="431800"/>
          </a:xfrm>
          <a:prstGeom prst="rect">
            <a:avLst/>
          </a:prstGeom>
          <a:solidFill>
            <a:srgbClr val="B2B2B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45" name="Line 37"/>
          <p:cNvSpPr>
            <a:spLocks noChangeShapeType="1"/>
          </p:cNvSpPr>
          <p:nvPr/>
        </p:nvSpPr>
        <p:spPr bwMode="auto">
          <a:xfrm>
            <a:off x="1978025" y="6021388"/>
            <a:ext cx="5832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46" name="Line 38"/>
          <p:cNvSpPr>
            <a:spLocks noChangeShapeType="1"/>
          </p:cNvSpPr>
          <p:nvPr/>
        </p:nvSpPr>
        <p:spPr bwMode="auto">
          <a:xfrm>
            <a:off x="1978025" y="6453188"/>
            <a:ext cx="5832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47" name="Group 39"/>
          <p:cNvGrpSpPr>
            <a:grpSpLocks/>
          </p:cNvGrpSpPr>
          <p:nvPr/>
        </p:nvGrpSpPr>
        <p:grpSpPr bwMode="auto">
          <a:xfrm>
            <a:off x="5472113" y="5949950"/>
            <a:ext cx="228600" cy="304800"/>
            <a:chOff x="1360" y="2931"/>
            <a:chExt cx="144" cy="192"/>
          </a:xfrm>
        </p:grpSpPr>
        <p:grpSp>
          <p:nvGrpSpPr>
            <p:cNvPr id="18587" name="Group 40"/>
            <p:cNvGrpSpPr>
              <a:grpSpLocks/>
            </p:cNvGrpSpPr>
            <p:nvPr/>
          </p:nvGrpSpPr>
          <p:grpSpPr bwMode="auto">
            <a:xfrm>
              <a:off x="1360" y="2931"/>
              <a:ext cx="144" cy="192"/>
              <a:chOff x="4128" y="1488"/>
              <a:chExt cx="144" cy="192"/>
            </a:xfrm>
          </p:grpSpPr>
          <p:sp>
            <p:nvSpPr>
              <p:cNvPr id="18589" name="Rectangle 4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0" name="Rectangle 4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91" name="Oval 4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88" name="Oval 44"/>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48" name="Group 45"/>
          <p:cNvGrpSpPr>
            <a:grpSpLocks/>
          </p:cNvGrpSpPr>
          <p:nvPr/>
        </p:nvGrpSpPr>
        <p:grpSpPr bwMode="auto">
          <a:xfrm>
            <a:off x="3479800" y="5948363"/>
            <a:ext cx="228600" cy="304800"/>
            <a:chOff x="2008" y="2981"/>
            <a:chExt cx="144" cy="192"/>
          </a:xfrm>
        </p:grpSpPr>
        <p:grpSp>
          <p:nvGrpSpPr>
            <p:cNvPr id="18580" name="Group 46"/>
            <p:cNvGrpSpPr>
              <a:grpSpLocks/>
            </p:cNvGrpSpPr>
            <p:nvPr/>
          </p:nvGrpSpPr>
          <p:grpSpPr bwMode="auto">
            <a:xfrm>
              <a:off x="2008" y="2981"/>
              <a:ext cx="144" cy="192"/>
              <a:chOff x="4128" y="1488"/>
              <a:chExt cx="144" cy="192"/>
            </a:xfrm>
          </p:grpSpPr>
          <p:sp>
            <p:nvSpPr>
              <p:cNvPr id="18584" name="Rectangle 47"/>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85" name="Rectangle 48"/>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86" name="Oval 49"/>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81" name="Group 50"/>
            <p:cNvGrpSpPr>
              <a:grpSpLocks/>
            </p:cNvGrpSpPr>
            <p:nvPr/>
          </p:nvGrpSpPr>
          <p:grpSpPr bwMode="auto">
            <a:xfrm>
              <a:off x="2057" y="3084"/>
              <a:ext cx="45" cy="46"/>
              <a:chOff x="1247" y="1933"/>
              <a:chExt cx="45" cy="46"/>
            </a:xfrm>
          </p:grpSpPr>
          <p:sp>
            <p:nvSpPr>
              <p:cNvPr id="18582" name="Line 5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83" name="Line 5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8449" name="Line 53"/>
          <p:cNvSpPr>
            <a:spLocks noChangeShapeType="1"/>
          </p:cNvSpPr>
          <p:nvPr/>
        </p:nvSpPr>
        <p:spPr bwMode="auto">
          <a:xfrm flipV="1">
            <a:off x="4572000" y="4400550"/>
            <a:ext cx="0" cy="14763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50" name="Line 54"/>
          <p:cNvSpPr>
            <a:spLocks noChangeShapeType="1"/>
          </p:cNvSpPr>
          <p:nvPr/>
        </p:nvSpPr>
        <p:spPr bwMode="auto">
          <a:xfrm>
            <a:off x="2016125" y="5121275"/>
            <a:ext cx="57245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51" name="Line 55"/>
          <p:cNvSpPr>
            <a:spLocks noChangeShapeType="1"/>
          </p:cNvSpPr>
          <p:nvPr/>
        </p:nvSpPr>
        <p:spPr bwMode="auto">
          <a:xfrm>
            <a:off x="3995738" y="4689475"/>
            <a:ext cx="1189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52" name="Line 57"/>
          <p:cNvSpPr>
            <a:spLocks noChangeAspect="1" noChangeShapeType="1"/>
          </p:cNvSpPr>
          <p:nvPr/>
        </p:nvSpPr>
        <p:spPr bwMode="auto">
          <a:xfrm>
            <a:off x="5184775" y="4689475"/>
            <a:ext cx="0"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53" name="Line 58"/>
          <p:cNvSpPr>
            <a:spLocks noChangeAspect="1" noChangeShapeType="1"/>
          </p:cNvSpPr>
          <p:nvPr/>
        </p:nvSpPr>
        <p:spPr bwMode="auto">
          <a:xfrm>
            <a:off x="5184775" y="4976813"/>
            <a:ext cx="395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54" name="Group 60"/>
          <p:cNvGrpSpPr>
            <a:grpSpLocks/>
          </p:cNvGrpSpPr>
          <p:nvPr/>
        </p:nvGrpSpPr>
        <p:grpSpPr bwMode="auto">
          <a:xfrm>
            <a:off x="7488238" y="5949950"/>
            <a:ext cx="228600" cy="304800"/>
            <a:chOff x="2008" y="2981"/>
            <a:chExt cx="144" cy="192"/>
          </a:xfrm>
        </p:grpSpPr>
        <p:grpSp>
          <p:nvGrpSpPr>
            <p:cNvPr id="18573" name="Group 61"/>
            <p:cNvGrpSpPr>
              <a:grpSpLocks/>
            </p:cNvGrpSpPr>
            <p:nvPr/>
          </p:nvGrpSpPr>
          <p:grpSpPr bwMode="auto">
            <a:xfrm>
              <a:off x="2008" y="2981"/>
              <a:ext cx="144" cy="192"/>
              <a:chOff x="4128" y="1488"/>
              <a:chExt cx="144" cy="192"/>
            </a:xfrm>
          </p:grpSpPr>
          <p:sp>
            <p:nvSpPr>
              <p:cNvPr id="18577" name="Rectangle 62"/>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8" name="Rectangle 63"/>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9" name="Oval 64"/>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74" name="Group 65"/>
            <p:cNvGrpSpPr>
              <a:grpSpLocks/>
            </p:cNvGrpSpPr>
            <p:nvPr/>
          </p:nvGrpSpPr>
          <p:grpSpPr bwMode="auto">
            <a:xfrm>
              <a:off x="2057" y="3084"/>
              <a:ext cx="45" cy="46"/>
              <a:chOff x="1247" y="1933"/>
              <a:chExt cx="45" cy="46"/>
            </a:xfrm>
          </p:grpSpPr>
          <p:sp>
            <p:nvSpPr>
              <p:cNvPr id="18575" name="Line 66"/>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76" name="Line 67"/>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55" name="Group 75"/>
          <p:cNvGrpSpPr>
            <a:grpSpLocks/>
          </p:cNvGrpSpPr>
          <p:nvPr/>
        </p:nvGrpSpPr>
        <p:grpSpPr bwMode="auto">
          <a:xfrm rot="987558">
            <a:off x="4811713" y="1455738"/>
            <a:ext cx="228600" cy="244475"/>
            <a:chOff x="1073" y="1395"/>
            <a:chExt cx="144" cy="154"/>
          </a:xfrm>
        </p:grpSpPr>
        <p:grpSp>
          <p:nvGrpSpPr>
            <p:cNvPr id="18567" name="Group 69"/>
            <p:cNvGrpSpPr>
              <a:grpSpLocks/>
            </p:cNvGrpSpPr>
            <p:nvPr/>
          </p:nvGrpSpPr>
          <p:grpSpPr bwMode="auto">
            <a:xfrm>
              <a:off x="1073" y="1395"/>
              <a:ext cx="144" cy="154"/>
              <a:chOff x="1776" y="528"/>
              <a:chExt cx="144" cy="154"/>
            </a:xfrm>
          </p:grpSpPr>
          <p:grpSp>
            <p:nvGrpSpPr>
              <p:cNvPr id="18569" name="Group 70"/>
              <p:cNvGrpSpPr>
                <a:grpSpLocks/>
              </p:cNvGrpSpPr>
              <p:nvPr/>
            </p:nvGrpSpPr>
            <p:grpSpPr bwMode="auto">
              <a:xfrm>
                <a:off x="1776" y="528"/>
                <a:ext cx="144" cy="154"/>
                <a:chOff x="2512" y="920"/>
                <a:chExt cx="144" cy="154"/>
              </a:xfrm>
            </p:grpSpPr>
            <p:sp>
              <p:nvSpPr>
                <p:cNvPr id="18571" name="Rectangle 71"/>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72" name="Rectangle 72"/>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70" name="Oval 73"/>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8" name="Oval 74"/>
            <p:cNvSpPr>
              <a:spLocks noChangeArrowheads="1"/>
            </p:cNvSpPr>
            <p:nvPr/>
          </p:nvSpPr>
          <p:spPr bwMode="auto">
            <a:xfrm flipH="1" flipV="1">
              <a:off x="1134" y="148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6" name="Group 76"/>
          <p:cNvGrpSpPr>
            <a:grpSpLocks/>
          </p:cNvGrpSpPr>
          <p:nvPr/>
        </p:nvGrpSpPr>
        <p:grpSpPr bwMode="auto">
          <a:xfrm rot="-1381149">
            <a:off x="3838575" y="1455738"/>
            <a:ext cx="228600" cy="244475"/>
            <a:chOff x="1073" y="1395"/>
            <a:chExt cx="144" cy="154"/>
          </a:xfrm>
        </p:grpSpPr>
        <p:grpSp>
          <p:nvGrpSpPr>
            <p:cNvPr id="18561" name="Group 77"/>
            <p:cNvGrpSpPr>
              <a:grpSpLocks/>
            </p:cNvGrpSpPr>
            <p:nvPr/>
          </p:nvGrpSpPr>
          <p:grpSpPr bwMode="auto">
            <a:xfrm>
              <a:off x="1073" y="1395"/>
              <a:ext cx="144" cy="154"/>
              <a:chOff x="1776" y="528"/>
              <a:chExt cx="144" cy="154"/>
            </a:xfrm>
          </p:grpSpPr>
          <p:grpSp>
            <p:nvGrpSpPr>
              <p:cNvPr id="18563" name="Group 78"/>
              <p:cNvGrpSpPr>
                <a:grpSpLocks/>
              </p:cNvGrpSpPr>
              <p:nvPr/>
            </p:nvGrpSpPr>
            <p:grpSpPr bwMode="auto">
              <a:xfrm>
                <a:off x="1776" y="528"/>
                <a:ext cx="144" cy="154"/>
                <a:chOff x="2512" y="920"/>
                <a:chExt cx="144" cy="154"/>
              </a:xfrm>
            </p:grpSpPr>
            <p:sp>
              <p:nvSpPr>
                <p:cNvPr id="18565" name="Rectangle 79"/>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66" name="Rectangle 80"/>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4" name="Oval 81"/>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62" name="Oval 82"/>
            <p:cNvSpPr>
              <a:spLocks noChangeArrowheads="1"/>
            </p:cNvSpPr>
            <p:nvPr/>
          </p:nvSpPr>
          <p:spPr bwMode="auto">
            <a:xfrm flipH="1" flipV="1">
              <a:off x="1134" y="148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7" name="Group 84"/>
          <p:cNvGrpSpPr>
            <a:grpSpLocks/>
          </p:cNvGrpSpPr>
          <p:nvPr/>
        </p:nvGrpSpPr>
        <p:grpSpPr bwMode="auto">
          <a:xfrm rot="20612442" flipV="1">
            <a:off x="4775200" y="3760788"/>
            <a:ext cx="228600" cy="244475"/>
            <a:chOff x="1776" y="528"/>
            <a:chExt cx="144" cy="154"/>
          </a:xfrm>
        </p:grpSpPr>
        <p:grpSp>
          <p:nvGrpSpPr>
            <p:cNvPr id="18557" name="Group 85"/>
            <p:cNvGrpSpPr>
              <a:grpSpLocks/>
            </p:cNvGrpSpPr>
            <p:nvPr/>
          </p:nvGrpSpPr>
          <p:grpSpPr bwMode="auto">
            <a:xfrm>
              <a:off x="1776" y="528"/>
              <a:ext cx="144" cy="154"/>
              <a:chOff x="2512" y="920"/>
              <a:chExt cx="144" cy="154"/>
            </a:xfrm>
          </p:grpSpPr>
          <p:sp>
            <p:nvSpPr>
              <p:cNvPr id="18559" name="Rectangle 86"/>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60" name="Rectangle 87"/>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58" name="Oval 88"/>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8" name="Group 91"/>
          <p:cNvGrpSpPr>
            <a:grpSpLocks/>
          </p:cNvGrpSpPr>
          <p:nvPr/>
        </p:nvGrpSpPr>
        <p:grpSpPr bwMode="auto">
          <a:xfrm rot="1381149" flipV="1">
            <a:off x="3802063" y="3760788"/>
            <a:ext cx="228600" cy="244475"/>
            <a:chOff x="1776" y="528"/>
            <a:chExt cx="144" cy="154"/>
          </a:xfrm>
        </p:grpSpPr>
        <p:grpSp>
          <p:nvGrpSpPr>
            <p:cNvPr id="18553" name="Group 92"/>
            <p:cNvGrpSpPr>
              <a:grpSpLocks/>
            </p:cNvGrpSpPr>
            <p:nvPr/>
          </p:nvGrpSpPr>
          <p:grpSpPr bwMode="auto">
            <a:xfrm>
              <a:off x="1776" y="528"/>
              <a:ext cx="144" cy="154"/>
              <a:chOff x="2512" y="920"/>
              <a:chExt cx="144" cy="154"/>
            </a:xfrm>
          </p:grpSpPr>
          <p:sp>
            <p:nvSpPr>
              <p:cNvPr id="18555" name="Rectangle 93"/>
              <p:cNvSpPr>
                <a:spLocks noChangeArrowheads="1"/>
              </p:cNvSpPr>
              <p:nvPr/>
            </p:nvSpPr>
            <p:spPr bwMode="auto">
              <a:xfrm>
                <a:off x="2512" y="920"/>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56" name="Rectangle 94"/>
              <p:cNvSpPr>
                <a:spLocks noChangeArrowheads="1"/>
              </p:cNvSpPr>
              <p:nvPr/>
            </p:nvSpPr>
            <p:spPr bwMode="auto">
              <a:xfrm>
                <a:off x="2517" y="100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54" name="Oval 95"/>
            <p:cNvSpPr>
              <a:spLocks noChangeAspect="1" noChangeArrowheads="1"/>
            </p:cNvSpPr>
            <p:nvPr/>
          </p:nvSpPr>
          <p:spPr bwMode="auto">
            <a:xfrm>
              <a:off x="1815" y="585"/>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59" name="Group 97"/>
          <p:cNvGrpSpPr>
            <a:grpSpLocks/>
          </p:cNvGrpSpPr>
          <p:nvPr/>
        </p:nvGrpSpPr>
        <p:grpSpPr bwMode="auto">
          <a:xfrm>
            <a:off x="4854575" y="3814763"/>
            <a:ext cx="71438" cy="73025"/>
            <a:chOff x="1247" y="1933"/>
            <a:chExt cx="45" cy="46"/>
          </a:xfrm>
        </p:grpSpPr>
        <p:sp>
          <p:nvSpPr>
            <p:cNvPr id="18551" name="Line 98"/>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52" name="Line 99"/>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18460" name="Group 100"/>
          <p:cNvGrpSpPr>
            <a:grpSpLocks/>
          </p:cNvGrpSpPr>
          <p:nvPr/>
        </p:nvGrpSpPr>
        <p:grpSpPr bwMode="auto">
          <a:xfrm>
            <a:off x="3897313" y="3824288"/>
            <a:ext cx="71437" cy="73025"/>
            <a:chOff x="1247" y="1933"/>
            <a:chExt cx="45" cy="46"/>
          </a:xfrm>
        </p:grpSpPr>
        <p:sp>
          <p:nvSpPr>
            <p:cNvPr id="18549" name="Line 10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50" name="Line 10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8461" name="Line 122"/>
          <p:cNvSpPr>
            <a:spLocks noChangeAspect="1" noChangeShapeType="1"/>
          </p:cNvSpPr>
          <p:nvPr/>
        </p:nvSpPr>
        <p:spPr bwMode="auto">
          <a:xfrm>
            <a:off x="5580063"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2" name="Line 123"/>
          <p:cNvSpPr>
            <a:spLocks noChangeAspect="1" noChangeShapeType="1"/>
          </p:cNvSpPr>
          <p:nvPr/>
        </p:nvSpPr>
        <p:spPr bwMode="auto">
          <a:xfrm>
            <a:off x="5580063" y="5300663"/>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3" name="Line 124"/>
          <p:cNvSpPr>
            <a:spLocks noChangeAspect="1" noChangeShapeType="1"/>
          </p:cNvSpPr>
          <p:nvPr/>
        </p:nvSpPr>
        <p:spPr bwMode="auto">
          <a:xfrm>
            <a:off x="5976938"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4" name="Line 125"/>
          <p:cNvSpPr>
            <a:spLocks noChangeAspect="1" noChangeShapeType="1"/>
          </p:cNvSpPr>
          <p:nvPr/>
        </p:nvSpPr>
        <p:spPr bwMode="auto">
          <a:xfrm>
            <a:off x="7164388"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5" name="Line 126"/>
          <p:cNvSpPr>
            <a:spLocks noChangeAspect="1" noChangeShapeType="1"/>
          </p:cNvSpPr>
          <p:nvPr/>
        </p:nvSpPr>
        <p:spPr bwMode="auto">
          <a:xfrm>
            <a:off x="7164388" y="5300663"/>
            <a:ext cx="431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6" name="Line 129"/>
          <p:cNvSpPr>
            <a:spLocks noChangeShapeType="1"/>
          </p:cNvSpPr>
          <p:nvPr/>
        </p:nvSpPr>
        <p:spPr bwMode="auto">
          <a:xfrm>
            <a:off x="5976938" y="5589588"/>
            <a:ext cx="11874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7" name="Line 130"/>
          <p:cNvSpPr>
            <a:spLocks noChangeAspect="1" noChangeShapeType="1"/>
          </p:cNvSpPr>
          <p:nvPr/>
        </p:nvSpPr>
        <p:spPr bwMode="auto">
          <a:xfrm>
            <a:off x="7596188"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8" name="Line 131"/>
          <p:cNvSpPr>
            <a:spLocks noChangeAspect="1" noChangeShapeType="1"/>
          </p:cNvSpPr>
          <p:nvPr/>
        </p:nvSpPr>
        <p:spPr bwMode="auto">
          <a:xfrm>
            <a:off x="3995738" y="4689475"/>
            <a:ext cx="0" cy="2873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69" name="Line 132"/>
          <p:cNvSpPr>
            <a:spLocks noChangeAspect="1" noChangeShapeType="1"/>
          </p:cNvSpPr>
          <p:nvPr/>
        </p:nvSpPr>
        <p:spPr bwMode="auto">
          <a:xfrm>
            <a:off x="3600450" y="4976813"/>
            <a:ext cx="39528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0" name="Line 133"/>
          <p:cNvSpPr>
            <a:spLocks noChangeAspect="1" noChangeShapeType="1"/>
          </p:cNvSpPr>
          <p:nvPr/>
        </p:nvSpPr>
        <p:spPr bwMode="auto">
          <a:xfrm>
            <a:off x="3600450" y="4976813"/>
            <a:ext cx="0" cy="323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1" name="Line 134"/>
          <p:cNvSpPr>
            <a:spLocks noChangeAspect="1" noChangeShapeType="1"/>
          </p:cNvSpPr>
          <p:nvPr/>
        </p:nvSpPr>
        <p:spPr bwMode="auto">
          <a:xfrm>
            <a:off x="3203575" y="5300663"/>
            <a:ext cx="396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2" name="Line 135"/>
          <p:cNvSpPr>
            <a:spLocks noChangeAspect="1" noChangeShapeType="1"/>
          </p:cNvSpPr>
          <p:nvPr/>
        </p:nvSpPr>
        <p:spPr bwMode="auto">
          <a:xfrm>
            <a:off x="3203575" y="5300663"/>
            <a:ext cx="0" cy="2873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473" name="Line 136"/>
          <p:cNvSpPr>
            <a:spLocks noChangeShapeType="1"/>
          </p:cNvSpPr>
          <p:nvPr/>
        </p:nvSpPr>
        <p:spPr bwMode="auto">
          <a:xfrm>
            <a:off x="2268538" y="5589588"/>
            <a:ext cx="9350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18474" name="Group 137"/>
          <p:cNvGrpSpPr>
            <a:grpSpLocks/>
          </p:cNvGrpSpPr>
          <p:nvPr/>
        </p:nvGrpSpPr>
        <p:grpSpPr bwMode="auto">
          <a:xfrm>
            <a:off x="5867400" y="5949950"/>
            <a:ext cx="228600" cy="304800"/>
            <a:chOff x="1360" y="2931"/>
            <a:chExt cx="144" cy="192"/>
          </a:xfrm>
        </p:grpSpPr>
        <p:grpSp>
          <p:nvGrpSpPr>
            <p:cNvPr id="18544" name="Group 138"/>
            <p:cNvGrpSpPr>
              <a:grpSpLocks/>
            </p:cNvGrpSpPr>
            <p:nvPr/>
          </p:nvGrpSpPr>
          <p:grpSpPr bwMode="auto">
            <a:xfrm>
              <a:off x="1360" y="2931"/>
              <a:ext cx="144" cy="192"/>
              <a:chOff x="4128" y="1488"/>
              <a:chExt cx="144" cy="192"/>
            </a:xfrm>
          </p:grpSpPr>
          <p:sp>
            <p:nvSpPr>
              <p:cNvPr id="18546" name="Rectangle 13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7" name="Rectangle 14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8" name="Oval 14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45" name="Oval 142"/>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75" name="Group 143"/>
          <p:cNvGrpSpPr>
            <a:grpSpLocks/>
          </p:cNvGrpSpPr>
          <p:nvPr/>
        </p:nvGrpSpPr>
        <p:grpSpPr bwMode="auto">
          <a:xfrm>
            <a:off x="5064125" y="5949950"/>
            <a:ext cx="228600" cy="304800"/>
            <a:chOff x="1360" y="2931"/>
            <a:chExt cx="144" cy="192"/>
          </a:xfrm>
        </p:grpSpPr>
        <p:grpSp>
          <p:nvGrpSpPr>
            <p:cNvPr id="18539" name="Group 144"/>
            <p:cNvGrpSpPr>
              <a:grpSpLocks/>
            </p:cNvGrpSpPr>
            <p:nvPr/>
          </p:nvGrpSpPr>
          <p:grpSpPr bwMode="auto">
            <a:xfrm>
              <a:off x="1360" y="2931"/>
              <a:ext cx="144" cy="192"/>
              <a:chOff x="4128" y="1488"/>
              <a:chExt cx="144" cy="192"/>
            </a:xfrm>
          </p:grpSpPr>
          <p:sp>
            <p:nvSpPr>
              <p:cNvPr id="18541" name="Rectangle 145"/>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2" name="Rectangle 146"/>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43" name="Oval 147"/>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540" name="Oval 148"/>
            <p:cNvSpPr>
              <a:spLocks noChangeArrowheads="1"/>
            </p:cNvSpPr>
            <p:nvPr/>
          </p:nvSpPr>
          <p:spPr bwMode="auto">
            <a:xfrm flipH="1" flipV="1">
              <a:off x="1416" y="3040"/>
              <a:ext cx="23" cy="23"/>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476" name="Group 149"/>
          <p:cNvGrpSpPr>
            <a:grpSpLocks/>
          </p:cNvGrpSpPr>
          <p:nvPr/>
        </p:nvGrpSpPr>
        <p:grpSpPr bwMode="auto">
          <a:xfrm>
            <a:off x="3887788" y="5949950"/>
            <a:ext cx="228600" cy="304800"/>
            <a:chOff x="2008" y="2981"/>
            <a:chExt cx="144" cy="192"/>
          </a:xfrm>
        </p:grpSpPr>
        <p:grpSp>
          <p:nvGrpSpPr>
            <p:cNvPr id="18532" name="Group 150"/>
            <p:cNvGrpSpPr>
              <a:grpSpLocks/>
            </p:cNvGrpSpPr>
            <p:nvPr/>
          </p:nvGrpSpPr>
          <p:grpSpPr bwMode="auto">
            <a:xfrm>
              <a:off x="2008" y="2981"/>
              <a:ext cx="144" cy="192"/>
              <a:chOff x="4128" y="1488"/>
              <a:chExt cx="144" cy="192"/>
            </a:xfrm>
          </p:grpSpPr>
          <p:sp>
            <p:nvSpPr>
              <p:cNvPr id="18536" name="Rectangle 151"/>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7" name="Rectangle 152"/>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8" name="Oval 153"/>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33" name="Group 154"/>
            <p:cNvGrpSpPr>
              <a:grpSpLocks/>
            </p:cNvGrpSpPr>
            <p:nvPr/>
          </p:nvGrpSpPr>
          <p:grpSpPr bwMode="auto">
            <a:xfrm>
              <a:off x="2057" y="3084"/>
              <a:ext cx="45" cy="46"/>
              <a:chOff x="1247" y="1933"/>
              <a:chExt cx="45" cy="46"/>
            </a:xfrm>
          </p:grpSpPr>
          <p:sp>
            <p:nvSpPr>
              <p:cNvPr id="18534" name="Line 155"/>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35" name="Line 156"/>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77" name="Group 157"/>
          <p:cNvGrpSpPr>
            <a:grpSpLocks/>
          </p:cNvGrpSpPr>
          <p:nvPr/>
        </p:nvGrpSpPr>
        <p:grpSpPr bwMode="auto">
          <a:xfrm>
            <a:off x="3059113" y="5949950"/>
            <a:ext cx="228600" cy="304800"/>
            <a:chOff x="2008" y="2981"/>
            <a:chExt cx="144" cy="192"/>
          </a:xfrm>
        </p:grpSpPr>
        <p:grpSp>
          <p:nvGrpSpPr>
            <p:cNvPr id="18525" name="Group 158"/>
            <p:cNvGrpSpPr>
              <a:grpSpLocks/>
            </p:cNvGrpSpPr>
            <p:nvPr/>
          </p:nvGrpSpPr>
          <p:grpSpPr bwMode="auto">
            <a:xfrm>
              <a:off x="2008" y="2981"/>
              <a:ext cx="144" cy="192"/>
              <a:chOff x="4128" y="1488"/>
              <a:chExt cx="144" cy="192"/>
            </a:xfrm>
          </p:grpSpPr>
          <p:sp>
            <p:nvSpPr>
              <p:cNvPr id="18529" name="Rectangle 159"/>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0" name="Rectangle 160"/>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31" name="Oval 161"/>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26" name="Group 162"/>
            <p:cNvGrpSpPr>
              <a:grpSpLocks/>
            </p:cNvGrpSpPr>
            <p:nvPr/>
          </p:nvGrpSpPr>
          <p:grpSpPr bwMode="auto">
            <a:xfrm>
              <a:off x="2057" y="3084"/>
              <a:ext cx="45" cy="46"/>
              <a:chOff x="1247" y="1933"/>
              <a:chExt cx="45" cy="46"/>
            </a:xfrm>
          </p:grpSpPr>
          <p:sp>
            <p:nvSpPr>
              <p:cNvPr id="18527" name="Line 163"/>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28" name="Line 164"/>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grpSp>
        <p:nvGrpSpPr>
          <p:cNvPr id="18478" name="Group 165"/>
          <p:cNvGrpSpPr>
            <a:grpSpLocks/>
          </p:cNvGrpSpPr>
          <p:nvPr/>
        </p:nvGrpSpPr>
        <p:grpSpPr bwMode="auto">
          <a:xfrm>
            <a:off x="7092950" y="5949950"/>
            <a:ext cx="228600" cy="304800"/>
            <a:chOff x="2008" y="2981"/>
            <a:chExt cx="144" cy="192"/>
          </a:xfrm>
        </p:grpSpPr>
        <p:grpSp>
          <p:nvGrpSpPr>
            <p:cNvPr id="18518" name="Group 166"/>
            <p:cNvGrpSpPr>
              <a:grpSpLocks/>
            </p:cNvGrpSpPr>
            <p:nvPr/>
          </p:nvGrpSpPr>
          <p:grpSpPr bwMode="auto">
            <a:xfrm>
              <a:off x="2008" y="2981"/>
              <a:ext cx="144" cy="192"/>
              <a:chOff x="4128" y="1488"/>
              <a:chExt cx="144" cy="192"/>
            </a:xfrm>
          </p:grpSpPr>
          <p:sp>
            <p:nvSpPr>
              <p:cNvPr id="18522" name="Rectangle 167"/>
              <p:cNvSpPr>
                <a:spLocks noChangeArrowheads="1"/>
              </p:cNvSpPr>
              <p:nvPr/>
            </p:nvSpPr>
            <p:spPr bwMode="auto">
              <a:xfrm>
                <a:off x="4128" y="1536"/>
                <a:ext cx="144" cy="144"/>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23" name="Rectangle 168"/>
              <p:cNvSpPr>
                <a:spLocks noChangeArrowheads="1"/>
              </p:cNvSpPr>
              <p:nvPr/>
            </p:nvSpPr>
            <p:spPr bwMode="auto">
              <a:xfrm>
                <a:off x="4133" y="1488"/>
                <a:ext cx="132" cy="6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524" name="Oval 169"/>
              <p:cNvSpPr>
                <a:spLocks noChangeAspect="1" noChangeArrowheads="1"/>
              </p:cNvSpPr>
              <p:nvPr/>
            </p:nvSpPr>
            <p:spPr bwMode="auto">
              <a:xfrm>
                <a:off x="4162" y="1570"/>
                <a:ext cx="74" cy="77"/>
              </a:xfrm>
              <a:prstGeom prst="ellipse">
                <a:avLst/>
              </a:prstGeom>
              <a:solidFill>
                <a:srgbClr val="FF660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grpSp>
          <p:nvGrpSpPr>
            <p:cNvPr id="18519" name="Group 170"/>
            <p:cNvGrpSpPr>
              <a:grpSpLocks/>
            </p:cNvGrpSpPr>
            <p:nvPr/>
          </p:nvGrpSpPr>
          <p:grpSpPr bwMode="auto">
            <a:xfrm>
              <a:off x="2057" y="3084"/>
              <a:ext cx="45" cy="46"/>
              <a:chOff x="1247" y="1933"/>
              <a:chExt cx="45" cy="46"/>
            </a:xfrm>
          </p:grpSpPr>
          <p:sp>
            <p:nvSpPr>
              <p:cNvPr id="18520" name="Line 171"/>
              <p:cNvSpPr>
                <a:spLocks noChangeShapeType="1"/>
              </p:cNvSpPr>
              <p:nvPr/>
            </p:nvSpPr>
            <p:spPr bwMode="auto">
              <a:xfrm>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8521" name="Line 172"/>
              <p:cNvSpPr>
                <a:spLocks noChangeShapeType="1"/>
              </p:cNvSpPr>
              <p:nvPr/>
            </p:nvSpPr>
            <p:spPr bwMode="auto">
              <a:xfrm flipH="1">
                <a:off x="1247" y="1933"/>
                <a:ext cx="45"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18479" name="Line 173"/>
          <p:cNvSpPr>
            <a:spLocks noChangeShapeType="1"/>
          </p:cNvSpPr>
          <p:nvPr/>
        </p:nvSpPr>
        <p:spPr bwMode="auto">
          <a:xfrm>
            <a:off x="4392613" y="2708275"/>
            <a:ext cx="2627312" cy="0"/>
          </a:xfrm>
          <a:prstGeom prst="line">
            <a:avLst/>
          </a:prstGeom>
          <a:noFill/>
          <a:ln w="2857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18480" name="Freeform 174"/>
          <p:cNvSpPr>
            <a:spLocks/>
          </p:cNvSpPr>
          <p:nvPr/>
        </p:nvSpPr>
        <p:spPr bwMode="auto">
          <a:xfrm>
            <a:off x="6372225" y="2205038"/>
            <a:ext cx="157163" cy="468312"/>
          </a:xfrm>
          <a:custGeom>
            <a:avLst/>
            <a:gdLst>
              <a:gd name="T0" fmla="*/ 2147483646 w 99"/>
              <a:gd name="T1" fmla="*/ 2147483646 h 295"/>
              <a:gd name="T2" fmla="*/ 2147483646 w 99"/>
              <a:gd name="T3" fmla="*/ 2147483646 h 295"/>
              <a:gd name="T4" fmla="*/ 2147483646 w 99"/>
              <a:gd name="T5" fmla="*/ 2147483646 h 295"/>
              <a:gd name="T6" fmla="*/ 0 w 99"/>
              <a:gd name="T7" fmla="*/ 0 h 295"/>
              <a:gd name="T8" fmla="*/ 0 60000 65536"/>
              <a:gd name="T9" fmla="*/ 0 60000 65536"/>
              <a:gd name="T10" fmla="*/ 0 60000 65536"/>
              <a:gd name="T11" fmla="*/ 0 60000 65536"/>
              <a:gd name="T12" fmla="*/ 0 w 99"/>
              <a:gd name="T13" fmla="*/ 0 h 295"/>
              <a:gd name="T14" fmla="*/ 99 w 99"/>
              <a:gd name="T15" fmla="*/ 295 h 295"/>
            </a:gdLst>
            <a:ahLst/>
            <a:cxnLst>
              <a:cxn ang="T8">
                <a:pos x="T0" y="T1"/>
              </a:cxn>
              <a:cxn ang="T9">
                <a:pos x="T2" y="T3"/>
              </a:cxn>
              <a:cxn ang="T10">
                <a:pos x="T4" y="T5"/>
              </a:cxn>
              <a:cxn ang="T11">
                <a:pos x="T6" y="T7"/>
              </a:cxn>
            </a:cxnLst>
            <a:rect l="T12" t="T13" r="T14" b="T15"/>
            <a:pathLst>
              <a:path w="99" h="295">
                <a:moveTo>
                  <a:pt x="91" y="295"/>
                </a:moveTo>
                <a:cubicBezTo>
                  <a:pt x="95" y="259"/>
                  <a:pt x="99" y="223"/>
                  <a:pt x="91" y="181"/>
                </a:cubicBezTo>
                <a:cubicBezTo>
                  <a:pt x="83" y="139"/>
                  <a:pt x="60" y="75"/>
                  <a:pt x="45" y="45"/>
                </a:cubicBezTo>
                <a:cubicBezTo>
                  <a:pt x="30" y="15"/>
                  <a:pt x="15" y="7"/>
                  <a:pt x="0" y="0"/>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481" name="Text Box 175"/>
          <p:cNvSpPr txBox="1">
            <a:spLocks noChangeArrowheads="1"/>
          </p:cNvSpPr>
          <p:nvPr/>
        </p:nvSpPr>
        <p:spPr bwMode="auto">
          <a:xfrm>
            <a:off x="6408738" y="1952625"/>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8482" name="Text Box 176"/>
          <p:cNvSpPr txBox="1">
            <a:spLocks noChangeArrowheads="1"/>
          </p:cNvSpPr>
          <p:nvPr/>
        </p:nvSpPr>
        <p:spPr bwMode="auto">
          <a:xfrm>
            <a:off x="7704138" y="5049838"/>
            <a:ext cx="2762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Narrow" panose="020B0606020202030204" pitchFamily="34" charset="0"/>
                <a:sym typeface="Symbol" panose="05050102010706020507" pitchFamily="18" charset="2"/>
              </a:rPr>
              <a:t></a:t>
            </a:r>
          </a:p>
        </p:txBody>
      </p:sp>
      <p:sp>
        <p:nvSpPr>
          <p:cNvPr id="18483" name="Text Box 177"/>
          <p:cNvSpPr txBox="1">
            <a:spLocks noChangeArrowheads="1"/>
          </p:cNvSpPr>
          <p:nvPr/>
        </p:nvSpPr>
        <p:spPr bwMode="auto">
          <a:xfrm>
            <a:off x="6400800" y="5013325"/>
            <a:ext cx="295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18484" name="Text Box 178"/>
          <p:cNvSpPr txBox="1">
            <a:spLocks noChangeArrowheads="1"/>
          </p:cNvSpPr>
          <p:nvPr/>
        </p:nvSpPr>
        <p:spPr bwMode="auto">
          <a:xfrm>
            <a:off x="5364163" y="5049838"/>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8485" name="Text Box 179"/>
          <p:cNvSpPr txBox="1">
            <a:spLocks noChangeArrowheads="1"/>
          </p:cNvSpPr>
          <p:nvPr/>
        </p:nvSpPr>
        <p:spPr bwMode="auto">
          <a:xfrm>
            <a:off x="3348038" y="5037138"/>
            <a:ext cx="5222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18486" name="Text Box 180"/>
          <p:cNvSpPr txBox="1">
            <a:spLocks noChangeArrowheads="1"/>
          </p:cNvSpPr>
          <p:nvPr/>
        </p:nvSpPr>
        <p:spPr bwMode="auto">
          <a:xfrm>
            <a:off x="2303463" y="5049838"/>
            <a:ext cx="3635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grpSp>
        <p:nvGrpSpPr>
          <p:cNvPr id="18487" name="Group 181"/>
          <p:cNvGrpSpPr>
            <a:grpSpLocks/>
          </p:cNvGrpSpPr>
          <p:nvPr/>
        </p:nvGrpSpPr>
        <p:grpSpPr bwMode="auto">
          <a:xfrm>
            <a:off x="1150938" y="4508500"/>
            <a:ext cx="6445250" cy="1260475"/>
            <a:chOff x="725" y="2818"/>
            <a:chExt cx="4060" cy="839"/>
          </a:xfrm>
        </p:grpSpPr>
        <p:grpSp>
          <p:nvGrpSpPr>
            <p:cNvPr id="18508" name="Group 182"/>
            <p:cNvGrpSpPr>
              <a:grpSpLocks/>
            </p:cNvGrpSpPr>
            <p:nvPr/>
          </p:nvGrpSpPr>
          <p:grpSpPr bwMode="auto">
            <a:xfrm>
              <a:off x="2245" y="2886"/>
              <a:ext cx="1270" cy="340"/>
              <a:chOff x="250" y="1525"/>
              <a:chExt cx="1224" cy="522"/>
            </a:xfrm>
          </p:grpSpPr>
          <p:sp>
            <p:nvSpPr>
              <p:cNvPr id="18516" name="Freeform 183"/>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7" name="Freeform 184"/>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8509" name="Group 185"/>
            <p:cNvGrpSpPr>
              <a:grpSpLocks/>
            </p:cNvGrpSpPr>
            <p:nvPr/>
          </p:nvGrpSpPr>
          <p:grpSpPr bwMode="auto">
            <a:xfrm flipV="1">
              <a:off x="3515" y="3226"/>
              <a:ext cx="1270" cy="340"/>
              <a:chOff x="250" y="1525"/>
              <a:chExt cx="1224" cy="522"/>
            </a:xfrm>
          </p:grpSpPr>
          <p:sp>
            <p:nvSpPr>
              <p:cNvPr id="18514" name="Freeform 186"/>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5" name="Freeform 187"/>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8510" name="Group 188"/>
            <p:cNvGrpSpPr>
              <a:grpSpLocks/>
            </p:cNvGrpSpPr>
            <p:nvPr/>
          </p:nvGrpSpPr>
          <p:grpSpPr bwMode="auto">
            <a:xfrm flipV="1">
              <a:off x="952" y="3249"/>
              <a:ext cx="1270" cy="340"/>
              <a:chOff x="250" y="1525"/>
              <a:chExt cx="1224" cy="522"/>
            </a:xfrm>
          </p:grpSpPr>
          <p:sp>
            <p:nvSpPr>
              <p:cNvPr id="18512" name="Freeform 189"/>
              <p:cNvSpPr>
                <a:spLocks/>
              </p:cNvSpPr>
              <p:nvPr/>
            </p:nvSpPr>
            <p:spPr bwMode="auto">
              <a:xfrm>
                <a:off x="862"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8513" name="Freeform 190"/>
              <p:cNvSpPr>
                <a:spLocks/>
              </p:cNvSpPr>
              <p:nvPr/>
            </p:nvSpPr>
            <p:spPr bwMode="auto">
              <a:xfrm flipH="1">
                <a:off x="250" y="1525"/>
                <a:ext cx="612" cy="522"/>
              </a:xfrm>
              <a:custGeom>
                <a:avLst/>
                <a:gdLst>
                  <a:gd name="T0" fmla="*/ 0 w 612"/>
                  <a:gd name="T1" fmla="*/ 0 h 522"/>
                  <a:gd name="T2" fmla="*/ 136 w 612"/>
                  <a:gd name="T3" fmla="*/ 23 h 522"/>
                  <a:gd name="T4" fmla="*/ 227 w 612"/>
                  <a:gd name="T5" fmla="*/ 68 h 522"/>
                  <a:gd name="T6" fmla="*/ 363 w 612"/>
                  <a:gd name="T7" fmla="*/ 182 h 522"/>
                  <a:gd name="T8" fmla="*/ 476 w 612"/>
                  <a:gd name="T9" fmla="*/ 318 h 522"/>
                  <a:gd name="T10" fmla="*/ 612 w 612"/>
                  <a:gd name="T11" fmla="*/ 522 h 522"/>
                  <a:gd name="T12" fmla="*/ 0 60000 65536"/>
                  <a:gd name="T13" fmla="*/ 0 60000 65536"/>
                  <a:gd name="T14" fmla="*/ 0 60000 65536"/>
                  <a:gd name="T15" fmla="*/ 0 60000 65536"/>
                  <a:gd name="T16" fmla="*/ 0 60000 65536"/>
                  <a:gd name="T17" fmla="*/ 0 60000 65536"/>
                  <a:gd name="T18" fmla="*/ 0 w 612"/>
                  <a:gd name="T19" fmla="*/ 0 h 522"/>
                  <a:gd name="T20" fmla="*/ 612 w 612"/>
                  <a:gd name="T21" fmla="*/ 522 h 522"/>
                </a:gdLst>
                <a:ahLst/>
                <a:cxnLst>
                  <a:cxn ang="T12">
                    <a:pos x="T0" y="T1"/>
                  </a:cxn>
                  <a:cxn ang="T13">
                    <a:pos x="T2" y="T3"/>
                  </a:cxn>
                  <a:cxn ang="T14">
                    <a:pos x="T4" y="T5"/>
                  </a:cxn>
                  <a:cxn ang="T15">
                    <a:pos x="T6" y="T7"/>
                  </a:cxn>
                  <a:cxn ang="T16">
                    <a:pos x="T8" y="T9"/>
                  </a:cxn>
                  <a:cxn ang="T17">
                    <a:pos x="T10" y="T11"/>
                  </a:cxn>
                </a:cxnLst>
                <a:rect l="T18" t="T19" r="T20" b="T21"/>
                <a:pathLst>
                  <a:path w="612" h="522">
                    <a:moveTo>
                      <a:pt x="0" y="0"/>
                    </a:moveTo>
                    <a:cubicBezTo>
                      <a:pt x="49" y="6"/>
                      <a:pt x="98" y="12"/>
                      <a:pt x="136" y="23"/>
                    </a:cubicBezTo>
                    <a:cubicBezTo>
                      <a:pt x="174" y="34"/>
                      <a:pt x="189" y="42"/>
                      <a:pt x="227" y="68"/>
                    </a:cubicBezTo>
                    <a:cubicBezTo>
                      <a:pt x="265" y="94"/>
                      <a:pt x="322" y="140"/>
                      <a:pt x="363" y="182"/>
                    </a:cubicBezTo>
                    <a:cubicBezTo>
                      <a:pt x="404" y="224"/>
                      <a:pt x="435" y="261"/>
                      <a:pt x="476" y="318"/>
                    </a:cubicBezTo>
                    <a:cubicBezTo>
                      <a:pt x="517" y="375"/>
                      <a:pt x="582" y="484"/>
                      <a:pt x="612" y="522"/>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sp>
          <p:nvSpPr>
            <p:cNvPr id="18511" name="Rectangle 191"/>
            <p:cNvSpPr>
              <a:spLocks noChangeArrowheads="1"/>
            </p:cNvSpPr>
            <p:nvPr/>
          </p:nvSpPr>
          <p:spPr bwMode="auto">
            <a:xfrm>
              <a:off x="725" y="2818"/>
              <a:ext cx="590" cy="839"/>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sp>
        <p:nvSpPr>
          <p:cNvPr id="18488" name="Oval 192"/>
          <p:cNvSpPr>
            <a:spLocks noChangeArrowheads="1"/>
          </p:cNvSpPr>
          <p:nvPr/>
        </p:nvSpPr>
        <p:spPr bwMode="auto">
          <a:xfrm>
            <a:off x="3671888" y="1243013"/>
            <a:ext cx="1476375" cy="97155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89" name="Oval 193"/>
          <p:cNvSpPr>
            <a:spLocks noChangeArrowheads="1"/>
          </p:cNvSpPr>
          <p:nvPr/>
        </p:nvSpPr>
        <p:spPr bwMode="auto">
          <a:xfrm>
            <a:off x="3500438" y="1198563"/>
            <a:ext cx="1935162" cy="136683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0" name="Oval 194"/>
          <p:cNvSpPr>
            <a:spLocks noChangeArrowheads="1"/>
          </p:cNvSpPr>
          <p:nvPr/>
        </p:nvSpPr>
        <p:spPr bwMode="auto">
          <a:xfrm>
            <a:off x="4032250" y="1304925"/>
            <a:ext cx="755650" cy="6477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1" name="Oval 195"/>
          <p:cNvSpPr>
            <a:spLocks noChangeArrowheads="1"/>
          </p:cNvSpPr>
          <p:nvPr/>
        </p:nvSpPr>
        <p:spPr bwMode="auto">
          <a:xfrm>
            <a:off x="4032250" y="3492500"/>
            <a:ext cx="755650" cy="6477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2" name="Oval 196"/>
          <p:cNvSpPr>
            <a:spLocks noChangeArrowheads="1"/>
          </p:cNvSpPr>
          <p:nvPr/>
        </p:nvSpPr>
        <p:spPr bwMode="auto">
          <a:xfrm>
            <a:off x="3671888" y="3213100"/>
            <a:ext cx="1476375" cy="97155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3" name="Oval 197"/>
          <p:cNvSpPr>
            <a:spLocks noChangeArrowheads="1"/>
          </p:cNvSpPr>
          <p:nvPr/>
        </p:nvSpPr>
        <p:spPr bwMode="auto">
          <a:xfrm>
            <a:off x="3455988" y="2852738"/>
            <a:ext cx="1871662" cy="1366837"/>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18494" name="Line 198"/>
          <p:cNvSpPr>
            <a:spLocks noChangeShapeType="1"/>
          </p:cNvSpPr>
          <p:nvPr/>
        </p:nvSpPr>
        <p:spPr bwMode="auto">
          <a:xfrm>
            <a:off x="4356100" y="1952625"/>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5" name="Line 199"/>
          <p:cNvSpPr>
            <a:spLocks noChangeShapeType="1"/>
          </p:cNvSpPr>
          <p:nvPr/>
        </p:nvSpPr>
        <p:spPr bwMode="auto">
          <a:xfrm>
            <a:off x="4356100" y="2205038"/>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6" name="Line 200"/>
          <p:cNvSpPr>
            <a:spLocks noChangeShapeType="1"/>
          </p:cNvSpPr>
          <p:nvPr/>
        </p:nvSpPr>
        <p:spPr bwMode="auto">
          <a:xfrm>
            <a:off x="4356100" y="2565400"/>
            <a:ext cx="7143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7" name="Line 201"/>
          <p:cNvSpPr>
            <a:spLocks noChangeShapeType="1"/>
          </p:cNvSpPr>
          <p:nvPr/>
        </p:nvSpPr>
        <p:spPr bwMode="auto">
          <a:xfrm>
            <a:off x="4427538" y="2852738"/>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8" name="Line 202"/>
          <p:cNvSpPr>
            <a:spLocks noChangeShapeType="1"/>
          </p:cNvSpPr>
          <p:nvPr/>
        </p:nvSpPr>
        <p:spPr bwMode="auto">
          <a:xfrm>
            <a:off x="4427538" y="3213100"/>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499" name="Line 203"/>
          <p:cNvSpPr>
            <a:spLocks noChangeShapeType="1"/>
          </p:cNvSpPr>
          <p:nvPr/>
        </p:nvSpPr>
        <p:spPr bwMode="auto">
          <a:xfrm>
            <a:off x="4427538" y="3500438"/>
            <a:ext cx="714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8500" name="Line 213"/>
          <p:cNvSpPr>
            <a:spLocks noChangeAspect="1" noChangeShapeType="1"/>
          </p:cNvSpPr>
          <p:nvPr/>
        </p:nvSpPr>
        <p:spPr bwMode="auto">
          <a:xfrm>
            <a:off x="2016125" y="4689475"/>
            <a:ext cx="1944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8501" name="Line 214"/>
          <p:cNvSpPr>
            <a:spLocks noChangeAspect="1" noChangeShapeType="1"/>
          </p:cNvSpPr>
          <p:nvPr/>
        </p:nvSpPr>
        <p:spPr bwMode="auto">
          <a:xfrm>
            <a:off x="1692275" y="4976813"/>
            <a:ext cx="194468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18502" name="Text Box 215"/>
          <p:cNvSpPr txBox="1">
            <a:spLocks noChangeArrowheads="1"/>
          </p:cNvSpPr>
          <p:nvPr/>
        </p:nvSpPr>
        <p:spPr bwMode="auto">
          <a:xfrm>
            <a:off x="1331913" y="4473575"/>
            <a:ext cx="8461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(3N</a:t>
            </a:r>
            <a:r>
              <a:rPr lang="en-US" altLang="fr-FR" sz="1600" baseline="-25000">
                <a:latin typeface="Arial Narrow" panose="020B0606020202030204" pitchFamily="34" charset="0"/>
                <a:sym typeface="Symbol" panose="05050102010706020507" pitchFamily="18" charset="2"/>
              </a:rPr>
              <a:t>c</a:t>
            </a:r>
            <a:r>
              <a:rPr lang="en-US" altLang="fr-FR" sz="1600">
                <a:latin typeface="Arial Narrow" panose="020B0606020202030204" pitchFamily="34" charset="0"/>
                <a:sym typeface="Symbol" panose="05050102010706020507" pitchFamily="18" charset="2"/>
              </a:rPr>
              <a:t>i)/2</a:t>
            </a:r>
          </a:p>
        </p:txBody>
      </p:sp>
      <p:sp>
        <p:nvSpPr>
          <p:cNvPr id="18503" name="Text Box 216"/>
          <p:cNvSpPr txBox="1">
            <a:spLocks noChangeArrowheads="1"/>
          </p:cNvSpPr>
          <p:nvPr/>
        </p:nvSpPr>
        <p:spPr bwMode="auto">
          <a:xfrm>
            <a:off x="971550" y="4833938"/>
            <a:ext cx="7445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(N</a:t>
            </a:r>
            <a:r>
              <a:rPr lang="en-US" altLang="fr-FR" sz="1600" baseline="-25000">
                <a:latin typeface="Arial Narrow" panose="020B0606020202030204" pitchFamily="34" charset="0"/>
                <a:sym typeface="Symbol" panose="05050102010706020507" pitchFamily="18" charset="2"/>
              </a:rPr>
              <a:t>c</a:t>
            </a:r>
            <a:r>
              <a:rPr lang="en-US" altLang="fr-FR" sz="1600">
                <a:latin typeface="Arial Narrow" panose="020B0606020202030204" pitchFamily="34" charset="0"/>
                <a:sym typeface="Symbol" panose="05050102010706020507" pitchFamily="18" charset="2"/>
              </a:rPr>
              <a:t>i)/2</a:t>
            </a:r>
          </a:p>
        </p:txBody>
      </p:sp>
      <p:sp>
        <p:nvSpPr>
          <p:cNvPr id="18504" name="ZoneTexte 168"/>
          <p:cNvSpPr txBox="1">
            <a:spLocks noChangeArrowheads="1"/>
          </p:cNvSpPr>
          <p:nvPr/>
        </p:nvSpPr>
        <p:spPr bwMode="auto">
          <a:xfrm>
            <a:off x="5484813" y="2333625"/>
            <a:ext cx="5476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Nord</a:t>
            </a:r>
          </a:p>
        </p:txBody>
      </p:sp>
      <p:sp>
        <p:nvSpPr>
          <p:cNvPr id="18505" name="ZoneTexte 169"/>
          <p:cNvSpPr txBox="1">
            <a:spLocks noChangeArrowheads="1"/>
          </p:cNvSpPr>
          <p:nvPr/>
        </p:nvSpPr>
        <p:spPr bwMode="auto">
          <a:xfrm>
            <a:off x="2819400" y="2406650"/>
            <a:ext cx="5476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Sud</a:t>
            </a:r>
          </a:p>
        </p:txBody>
      </p:sp>
      <p:sp>
        <p:nvSpPr>
          <p:cNvPr id="18506" name="Espace réservé du numéro de diapositive 16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A189700-B2E4-447E-9A6D-C0E937DBAF38}" type="slidenum">
              <a:rPr lang="en-US" altLang="fr-FR" sz="1000">
                <a:solidFill>
                  <a:srgbClr val="292929"/>
                </a:solidFill>
                <a:latin typeface="Arial" panose="020B0604020202020204" pitchFamily="34" charset="0"/>
              </a:rPr>
              <a:pPr>
                <a:spcBef>
                  <a:spcPct val="0"/>
                </a:spcBef>
                <a:buClrTx/>
                <a:buSzTx/>
                <a:buFontTx/>
                <a:buNone/>
              </a:pPr>
              <a:t>5</a:t>
            </a:fld>
            <a:endParaRPr lang="en-US" altLang="fr-FR" sz="1000">
              <a:solidFill>
                <a:srgbClr val="292929"/>
              </a:solidFill>
              <a:latin typeface="Arial" panose="020B0604020202020204" pitchFamily="34" charset="0"/>
            </a:endParaRPr>
          </a:p>
        </p:txBody>
      </p:sp>
      <p:sp>
        <p:nvSpPr>
          <p:cNvPr id="170" name="Espace réservé du pied de page 16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54014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idx="1"/>
          </p:nvPr>
        </p:nvSpPr>
        <p:spPr>
          <a:xfrm>
            <a:off x="2209800" y="228600"/>
            <a:ext cx="4572000" cy="457200"/>
          </a:xfrm>
        </p:spPr>
        <p:txBody>
          <a:bodyPr/>
          <a:lstStyle/>
          <a:p>
            <a:pPr algn="ctr">
              <a:buFontTx/>
              <a:buNone/>
            </a:pPr>
            <a:r>
              <a:rPr lang="en-US" altLang="fr-FR" sz="2400" b="1">
                <a:latin typeface="Arial Narrow" panose="020B0606020202030204" pitchFamily="34" charset="0"/>
              </a:rPr>
              <a:t>Construction </a:t>
            </a:r>
          </a:p>
        </p:txBody>
      </p:sp>
      <p:sp>
        <p:nvSpPr>
          <p:cNvPr id="20483"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0484" name="Text Box 169"/>
          <p:cNvSpPr txBox="1">
            <a:spLocks noChangeArrowheads="1"/>
          </p:cNvSpPr>
          <p:nvPr/>
        </p:nvSpPr>
        <p:spPr bwMode="auto">
          <a:xfrm>
            <a:off x="647700" y="939800"/>
            <a:ext cx="29337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rPr>
              <a:t>Enroulement distribué </a:t>
            </a:r>
          </a:p>
        </p:txBody>
      </p:sp>
      <p:sp>
        <p:nvSpPr>
          <p:cNvPr id="20485" name="Text Box 170"/>
          <p:cNvSpPr txBox="1">
            <a:spLocks noChangeArrowheads="1"/>
          </p:cNvSpPr>
          <p:nvPr/>
        </p:nvSpPr>
        <p:spPr bwMode="auto">
          <a:xfrm>
            <a:off x="1258888" y="1700213"/>
            <a:ext cx="648176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La FMM résultante  est la somme des contributions des FMM de chaque spire</a:t>
            </a:r>
          </a:p>
        </p:txBody>
      </p:sp>
      <p:sp>
        <p:nvSpPr>
          <p:cNvPr id="20486" name="Text Box 171"/>
          <p:cNvSpPr txBox="1">
            <a:spLocks noChangeArrowheads="1"/>
          </p:cNvSpPr>
          <p:nvPr/>
        </p:nvSpPr>
        <p:spPr bwMode="auto">
          <a:xfrm>
            <a:off x="1295400" y="2673350"/>
            <a:ext cx="64817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rPr>
              <a:t>Considérons seulement  les composantes spatiales fondamentales , </a:t>
            </a:r>
          </a:p>
        </p:txBody>
      </p:sp>
      <p:grpSp>
        <p:nvGrpSpPr>
          <p:cNvPr id="3" name="Group 191"/>
          <p:cNvGrpSpPr>
            <a:grpSpLocks/>
          </p:cNvGrpSpPr>
          <p:nvPr/>
        </p:nvGrpSpPr>
        <p:grpSpPr bwMode="auto">
          <a:xfrm>
            <a:off x="3889375" y="4122738"/>
            <a:ext cx="936625" cy="433387"/>
            <a:chOff x="3492" y="3225"/>
            <a:chExt cx="590" cy="273"/>
          </a:xfrm>
        </p:grpSpPr>
        <p:sp>
          <p:nvSpPr>
            <p:cNvPr id="20495" name="Line 175"/>
            <p:cNvSpPr>
              <a:spLocks noChangeShapeType="1"/>
            </p:cNvSpPr>
            <p:nvPr/>
          </p:nvSpPr>
          <p:spPr bwMode="auto">
            <a:xfrm>
              <a:off x="3515" y="3361"/>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6" name="Line 182"/>
            <p:cNvSpPr>
              <a:spLocks noChangeShapeType="1"/>
            </p:cNvSpPr>
            <p:nvPr/>
          </p:nvSpPr>
          <p:spPr bwMode="auto">
            <a:xfrm rot="-1358773">
              <a:off x="3492" y="3225"/>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7" name="Line 186"/>
            <p:cNvSpPr>
              <a:spLocks noChangeShapeType="1"/>
            </p:cNvSpPr>
            <p:nvPr/>
          </p:nvSpPr>
          <p:spPr bwMode="auto">
            <a:xfrm rot="1358773" flipV="1">
              <a:off x="3492" y="3498"/>
              <a:ext cx="567"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4" name="Group 195"/>
          <p:cNvGrpSpPr>
            <a:grpSpLocks/>
          </p:cNvGrpSpPr>
          <p:nvPr/>
        </p:nvGrpSpPr>
        <p:grpSpPr bwMode="auto">
          <a:xfrm>
            <a:off x="3924300" y="4013200"/>
            <a:ext cx="2592388" cy="180975"/>
            <a:chOff x="3538" y="3293"/>
            <a:chExt cx="1633" cy="114"/>
          </a:xfrm>
        </p:grpSpPr>
        <p:sp>
          <p:nvSpPr>
            <p:cNvPr id="20492" name="Line 185"/>
            <p:cNvSpPr>
              <a:spLocks noChangeShapeType="1"/>
            </p:cNvSpPr>
            <p:nvPr/>
          </p:nvSpPr>
          <p:spPr bwMode="auto">
            <a:xfrm rot="-1358773">
              <a:off x="4083" y="3293"/>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3" name="Line 187"/>
            <p:cNvSpPr>
              <a:spLocks noChangeShapeType="1"/>
            </p:cNvSpPr>
            <p:nvPr/>
          </p:nvSpPr>
          <p:spPr bwMode="auto">
            <a:xfrm rot="1358773" flipV="1">
              <a:off x="4604" y="3317"/>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4" name="Line 192"/>
            <p:cNvSpPr>
              <a:spLocks noChangeShapeType="1"/>
            </p:cNvSpPr>
            <p:nvPr/>
          </p:nvSpPr>
          <p:spPr bwMode="auto">
            <a:xfrm>
              <a:off x="3538" y="3407"/>
              <a:ext cx="567" cy="0"/>
            </a:xfrm>
            <a:prstGeom prst="line">
              <a:avLst/>
            </a:prstGeom>
            <a:noFill/>
            <a:ln w="5715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64708" name="Line 196"/>
          <p:cNvSpPr>
            <a:spLocks noChangeShapeType="1"/>
          </p:cNvSpPr>
          <p:nvPr/>
        </p:nvSpPr>
        <p:spPr bwMode="auto">
          <a:xfrm>
            <a:off x="3924300" y="4338638"/>
            <a:ext cx="2592388" cy="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490"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C119838-D4AE-45B0-8066-44A24249D14A}" type="slidenum">
              <a:rPr lang="en-US" altLang="fr-FR" sz="1000">
                <a:solidFill>
                  <a:srgbClr val="292929"/>
                </a:solidFill>
                <a:latin typeface="Arial" panose="020B0604020202020204" pitchFamily="34" charset="0"/>
              </a:rPr>
              <a:pPr>
                <a:spcBef>
                  <a:spcPct val="0"/>
                </a:spcBef>
                <a:buClrTx/>
                <a:buSzTx/>
                <a:buFontTx/>
                <a:buNone/>
              </a:pPr>
              <a:t>6</a:t>
            </a:fld>
            <a:endParaRPr lang="en-US" altLang="fr-FR" sz="1000">
              <a:solidFill>
                <a:srgbClr val="292929"/>
              </a:solidFill>
              <a:latin typeface="Arial" panose="020B0604020202020204" pitchFamily="34" charset="0"/>
            </a:endParaRPr>
          </a:p>
        </p:txBody>
      </p:sp>
      <p:sp>
        <p:nvSpPr>
          <p:cNvPr id="28" name="Espace réservé du pied de page 2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570356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nodeType="clickEffect">
                                  <p:stCondLst>
                                    <p:cond delay="0"/>
                                  </p:stCondLst>
                                  <p:childTnLst>
                                    <p:animEffect transition="out" filter="fade">
                                      <p:cBhvr>
                                        <p:cTn id="16" dur="2000"/>
                                        <p:tgtEl>
                                          <p:spTgt spid="4"/>
                                        </p:tgtEl>
                                      </p:cBhvr>
                                    </p:animEffect>
                                    <p:set>
                                      <p:cBhvr>
                                        <p:cTn id="17" dur="1" fill="hold">
                                          <p:stCondLst>
                                            <p:cond delay="1999"/>
                                          </p:stCondLst>
                                        </p:cTn>
                                        <p:tgtEl>
                                          <p:spTgt spid="4"/>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64708"/>
                                        </p:tgtEl>
                                        <p:attrNameLst>
                                          <p:attrName>style.visibility</p:attrName>
                                        </p:attrNameLst>
                                      </p:cBhvr>
                                      <p:to>
                                        <p:strVal val="visible"/>
                                      </p:to>
                                    </p:set>
                                    <p:animEffect transition="in" filter="fade">
                                      <p:cBhvr>
                                        <p:cTn id="20" dur="2000"/>
                                        <p:tgtEl>
                                          <p:spTgt spid="64708"/>
                                        </p:tgtEl>
                                      </p:cBhvr>
                                    </p:animEffect>
                                  </p:childTnLst>
                                </p:cTn>
                              </p:par>
                            </p:childTnLst>
                          </p:cTn>
                        </p:par>
                        <p:par>
                          <p:cTn id="21" fill="hold" nodeType="afterGroup">
                            <p:stCondLst>
                              <p:cond delay="2000"/>
                            </p:stCondLst>
                            <p:childTnLst>
                              <p:par>
                                <p:cTn id="22" presetID="10" presetClass="exit" presetSubtype="0" fill="hold" nodeType="afterEffect">
                                  <p:stCondLst>
                                    <p:cond delay="0"/>
                                  </p:stCondLst>
                                  <p:childTnLst>
                                    <p:animEffect transition="out" filter="fade">
                                      <p:cBhvr>
                                        <p:cTn id="23" dur="2000"/>
                                        <p:tgtEl>
                                          <p:spTgt spid="3"/>
                                        </p:tgtEl>
                                      </p:cBhvr>
                                    </p:animEffect>
                                    <p:set>
                                      <p:cBhvr>
                                        <p:cTn id="24" dur="1" fill="hold">
                                          <p:stCondLst>
                                            <p:cond delay="1999"/>
                                          </p:stCondLst>
                                        </p:cTn>
                                        <p:tgtEl>
                                          <p:spTgt spid="3"/>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0" presetClass="path" presetSubtype="0" accel="50000" decel="50000" fill="hold" grpId="1" nodeType="clickEffect">
                                  <p:stCondLst>
                                    <p:cond delay="0"/>
                                  </p:stCondLst>
                                  <p:childTnLst>
                                    <p:animMotion origin="layout" path="M 6.66667E-6 -2.22222E-6 L -0.14166 0.12593 " pathEditMode="relative" ptsTypes="AA">
                                      <p:cBhvr>
                                        <p:cTn id="28" dur="2000" fill="hold"/>
                                        <p:tgtEl>
                                          <p:spTgt spid="6470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08" grpId="0" animBg="1"/>
      <p:bldP spid="64708"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idx="1"/>
          </p:nvPr>
        </p:nvSpPr>
        <p:spPr>
          <a:xfrm>
            <a:off x="1431925" y="304800"/>
            <a:ext cx="6499225" cy="762000"/>
          </a:xfrm>
        </p:spPr>
        <p:txBody>
          <a:bodyPr/>
          <a:lstStyle/>
          <a:p>
            <a:pPr algn="ctr">
              <a:buFontTx/>
              <a:buNone/>
            </a:pPr>
            <a:r>
              <a:rPr lang="en-US" altLang="fr-FR" sz="2400" b="1">
                <a:latin typeface="Arial Narrow" panose="020B0606020202030204" pitchFamily="34" charset="0"/>
              </a:rPr>
              <a:t>Phase a – enroulement à distribution sinusoïdale </a:t>
            </a:r>
          </a:p>
        </p:txBody>
      </p:sp>
      <p:sp>
        <p:nvSpPr>
          <p:cNvPr id="22531"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2" name="Oval 4"/>
          <p:cNvSpPr>
            <a:spLocks noChangeAspect="1" noChangeArrowheads="1"/>
          </p:cNvSpPr>
          <p:nvPr/>
        </p:nvSpPr>
        <p:spPr bwMode="auto">
          <a:xfrm>
            <a:off x="2514600" y="838200"/>
            <a:ext cx="3810000" cy="3752850"/>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3" name="Oval 5"/>
          <p:cNvSpPr>
            <a:spLocks noChangeAspect="1" noChangeArrowheads="1"/>
          </p:cNvSpPr>
          <p:nvPr/>
        </p:nvSpPr>
        <p:spPr bwMode="auto">
          <a:xfrm>
            <a:off x="3238500" y="1574800"/>
            <a:ext cx="2300288" cy="2305050"/>
          </a:xfrm>
          <a:prstGeom prst="ellipse">
            <a:avLst/>
          </a:prstGeom>
          <a:gradFill rotWithShape="1">
            <a:gsLst>
              <a:gs pos="0">
                <a:srgbClr val="FFFF99"/>
              </a:gs>
              <a:gs pos="50000">
                <a:srgbClr val="FC2C59"/>
              </a:gs>
              <a:gs pos="100000">
                <a:srgbClr val="FFFF99"/>
              </a:gs>
            </a:gsLst>
            <a:lin ang="5400000" scaled="1"/>
          </a:gra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4" name="Oval 6"/>
          <p:cNvSpPr>
            <a:spLocks noChangeAspect="1" noChangeArrowheads="1"/>
          </p:cNvSpPr>
          <p:nvPr/>
        </p:nvSpPr>
        <p:spPr bwMode="auto">
          <a:xfrm>
            <a:off x="3416300" y="1739900"/>
            <a:ext cx="1943100" cy="1965325"/>
          </a:xfrm>
          <a:prstGeom prst="ellipse">
            <a:avLst/>
          </a:prstGeom>
          <a:solidFill>
            <a:srgbClr val="C0C0C0"/>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5" name="Line 7"/>
          <p:cNvSpPr>
            <a:spLocks noChangeShapeType="1"/>
          </p:cNvSpPr>
          <p:nvPr/>
        </p:nvSpPr>
        <p:spPr bwMode="auto">
          <a:xfrm>
            <a:off x="3429000" y="25146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36" name="Line 8"/>
          <p:cNvSpPr>
            <a:spLocks noChangeShapeType="1"/>
          </p:cNvSpPr>
          <p:nvPr/>
        </p:nvSpPr>
        <p:spPr bwMode="auto">
          <a:xfrm>
            <a:off x="3429000" y="2819400"/>
            <a:ext cx="1905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37" name="Oval 9"/>
          <p:cNvSpPr>
            <a:spLocks noChangeArrowheads="1"/>
          </p:cNvSpPr>
          <p:nvPr/>
        </p:nvSpPr>
        <p:spPr bwMode="auto">
          <a:xfrm>
            <a:off x="2971800" y="1143000"/>
            <a:ext cx="2819400" cy="31242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8" name="Rectangle 10"/>
          <p:cNvSpPr>
            <a:spLocks noChangeArrowheads="1"/>
          </p:cNvSpPr>
          <p:nvPr/>
        </p:nvSpPr>
        <p:spPr bwMode="auto">
          <a:xfrm>
            <a:off x="2857500" y="2241550"/>
            <a:ext cx="342900" cy="819150"/>
          </a:xfrm>
          <a:prstGeom prst="rect">
            <a:avLst/>
          </a:prstGeom>
          <a:solidFill>
            <a:srgbClr val="C0C0C0"/>
          </a:solidFill>
          <a:ln w="9525">
            <a:solidFill>
              <a:srgbClr val="C0C0C0"/>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39" name="Rectangle 11"/>
          <p:cNvSpPr>
            <a:spLocks noChangeArrowheads="1"/>
          </p:cNvSpPr>
          <p:nvPr/>
        </p:nvSpPr>
        <p:spPr bwMode="auto">
          <a:xfrm>
            <a:off x="5575300" y="2317750"/>
            <a:ext cx="228600" cy="711200"/>
          </a:xfrm>
          <a:prstGeom prst="rect">
            <a:avLst/>
          </a:prstGeom>
          <a:solidFill>
            <a:srgbClr val="C0C0C0"/>
          </a:solidFill>
          <a:ln w="9525">
            <a:solidFill>
              <a:srgbClr val="C0C0C0"/>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40" name="Freeform 12"/>
          <p:cNvSpPr>
            <a:spLocks/>
          </p:cNvSpPr>
          <p:nvPr/>
        </p:nvSpPr>
        <p:spPr bwMode="auto">
          <a:xfrm>
            <a:off x="5340350" y="2286000"/>
            <a:ext cx="444500" cy="223838"/>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1" name="Freeform 13"/>
          <p:cNvSpPr>
            <a:spLocks/>
          </p:cNvSpPr>
          <p:nvPr/>
        </p:nvSpPr>
        <p:spPr bwMode="auto">
          <a:xfrm flipH="1">
            <a:off x="2990850" y="2222500"/>
            <a:ext cx="444500" cy="287338"/>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2" name="Freeform 14"/>
          <p:cNvSpPr>
            <a:spLocks/>
          </p:cNvSpPr>
          <p:nvPr/>
        </p:nvSpPr>
        <p:spPr bwMode="auto">
          <a:xfrm flipH="1" flipV="1">
            <a:off x="3003550" y="2819400"/>
            <a:ext cx="393700" cy="317500"/>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3" name="Freeform 15"/>
          <p:cNvSpPr>
            <a:spLocks/>
          </p:cNvSpPr>
          <p:nvPr/>
        </p:nvSpPr>
        <p:spPr bwMode="auto">
          <a:xfrm flipV="1">
            <a:off x="5353050" y="2819400"/>
            <a:ext cx="431800" cy="241300"/>
          </a:xfrm>
          <a:custGeom>
            <a:avLst/>
            <a:gdLst>
              <a:gd name="T0" fmla="*/ 2147483646 w 208"/>
              <a:gd name="T1" fmla="*/ 0 h 141"/>
              <a:gd name="T2" fmla="*/ 2147483646 w 208"/>
              <a:gd name="T3" fmla="*/ 2147483646 h 141"/>
              <a:gd name="T4" fmla="*/ 2147483646 w 208"/>
              <a:gd name="T5" fmla="*/ 2147483646 h 141"/>
              <a:gd name="T6" fmla="*/ 0 w 208"/>
              <a:gd name="T7" fmla="*/ 2147483646 h 141"/>
              <a:gd name="T8" fmla="*/ 0 60000 65536"/>
              <a:gd name="T9" fmla="*/ 0 60000 65536"/>
              <a:gd name="T10" fmla="*/ 0 60000 65536"/>
              <a:gd name="T11" fmla="*/ 0 60000 65536"/>
              <a:gd name="T12" fmla="*/ 0 w 208"/>
              <a:gd name="T13" fmla="*/ 0 h 141"/>
              <a:gd name="T14" fmla="*/ 208 w 208"/>
              <a:gd name="T15" fmla="*/ 141 h 141"/>
            </a:gdLst>
            <a:ahLst/>
            <a:cxnLst>
              <a:cxn ang="T8">
                <a:pos x="T0" y="T1"/>
              </a:cxn>
              <a:cxn ang="T9">
                <a:pos x="T2" y="T3"/>
              </a:cxn>
              <a:cxn ang="T10">
                <a:pos x="T4" y="T5"/>
              </a:cxn>
              <a:cxn ang="T11">
                <a:pos x="T6" y="T7"/>
              </a:cxn>
            </a:cxnLst>
            <a:rect l="T12" t="T13" r="T14" b="T15"/>
            <a:pathLst>
              <a:path w="208" h="141">
                <a:moveTo>
                  <a:pt x="188" y="0"/>
                </a:moveTo>
                <a:cubicBezTo>
                  <a:pt x="198" y="21"/>
                  <a:pt x="208" y="43"/>
                  <a:pt x="196" y="64"/>
                </a:cubicBezTo>
                <a:cubicBezTo>
                  <a:pt x="184" y="85"/>
                  <a:pt x="149" y="115"/>
                  <a:pt x="116" y="128"/>
                </a:cubicBezTo>
                <a:cubicBezTo>
                  <a:pt x="83" y="141"/>
                  <a:pt x="19" y="138"/>
                  <a:pt x="0" y="140"/>
                </a:cubicBezTo>
              </a:path>
            </a:pathLst>
          </a:custGeom>
          <a:noFill/>
          <a:ln w="9525" cap="flat">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44" name="Line 16"/>
          <p:cNvSpPr>
            <a:spLocks noChangeShapeType="1"/>
          </p:cNvSpPr>
          <p:nvPr/>
        </p:nvSpPr>
        <p:spPr bwMode="auto">
          <a:xfrm>
            <a:off x="4495800" y="2667000"/>
            <a:ext cx="2514600" cy="0"/>
          </a:xfrm>
          <a:prstGeom prst="line">
            <a:avLst/>
          </a:prstGeom>
          <a:noFill/>
          <a:ln w="571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22545" name="Line 17"/>
          <p:cNvSpPr>
            <a:spLocks noChangeShapeType="1"/>
          </p:cNvSpPr>
          <p:nvPr/>
        </p:nvSpPr>
        <p:spPr bwMode="auto">
          <a:xfrm>
            <a:off x="5378450" y="250190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6" name="Line 18"/>
          <p:cNvSpPr>
            <a:spLocks noChangeShapeType="1"/>
          </p:cNvSpPr>
          <p:nvPr/>
        </p:nvSpPr>
        <p:spPr bwMode="auto">
          <a:xfrm>
            <a:off x="5410200" y="281940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7" name="Line 19"/>
          <p:cNvSpPr>
            <a:spLocks noChangeShapeType="1"/>
          </p:cNvSpPr>
          <p:nvPr/>
        </p:nvSpPr>
        <p:spPr bwMode="auto">
          <a:xfrm>
            <a:off x="3276600" y="250825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8" name="Line 20"/>
          <p:cNvSpPr>
            <a:spLocks noChangeShapeType="1"/>
          </p:cNvSpPr>
          <p:nvPr/>
        </p:nvSpPr>
        <p:spPr bwMode="auto">
          <a:xfrm>
            <a:off x="3308350" y="2825750"/>
            <a:ext cx="127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49" name="Oval 21"/>
          <p:cNvSpPr>
            <a:spLocks noChangeArrowheads="1"/>
          </p:cNvSpPr>
          <p:nvPr/>
        </p:nvSpPr>
        <p:spPr bwMode="auto">
          <a:xfrm>
            <a:off x="4241800" y="3898900"/>
            <a:ext cx="3048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0" name="Oval 22"/>
          <p:cNvSpPr>
            <a:spLocks noChangeArrowheads="1"/>
          </p:cNvSpPr>
          <p:nvPr/>
        </p:nvSpPr>
        <p:spPr bwMode="auto">
          <a:xfrm>
            <a:off x="3911600" y="13335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1" name="Oval 23"/>
          <p:cNvSpPr>
            <a:spLocks noChangeArrowheads="1"/>
          </p:cNvSpPr>
          <p:nvPr/>
        </p:nvSpPr>
        <p:spPr bwMode="auto">
          <a:xfrm>
            <a:off x="3733800" y="14986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2" name="Oval 24"/>
          <p:cNvSpPr>
            <a:spLocks noChangeArrowheads="1"/>
          </p:cNvSpPr>
          <p:nvPr/>
        </p:nvSpPr>
        <p:spPr bwMode="auto">
          <a:xfrm>
            <a:off x="3556000" y="15875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3" name="Oval 25"/>
          <p:cNvSpPr>
            <a:spLocks noChangeArrowheads="1"/>
          </p:cNvSpPr>
          <p:nvPr/>
        </p:nvSpPr>
        <p:spPr bwMode="auto">
          <a:xfrm flipH="1">
            <a:off x="4254500" y="1219200"/>
            <a:ext cx="304800" cy="3048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4" name="Oval 26"/>
          <p:cNvSpPr>
            <a:spLocks noChangeArrowheads="1"/>
          </p:cNvSpPr>
          <p:nvPr/>
        </p:nvSpPr>
        <p:spPr bwMode="auto">
          <a:xfrm flipH="1">
            <a:off x="4737100" y="13462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5" name="Oval 27"/>
          <p:cNvSpPr>
            <a:spLocks noChangeArrowheads="1"/>
          </p:cNvSpPr>
          <p:nvPr/>
        </p:nvSpPr>
        <p:spPr bwMode="auto">
          <a:xfrm flipH="1">
            <a:off x="5003800" y="15367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6" name="Oval 28"/>
          <p:cNvSpPr>
            <a:spLocks noChangeArrowheads="1"/>
          </p:cNvSpPr>
          <p:nvPr/>
        </p:nvSpPr>
        <p:spPr bwMode="auto">
          <a:xfrm flipH="1">
            <a:off x="5194300" y="16891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7" name="Oval 29"/>
          <p:cNvSpPr>
            <a:spLocks noChangeArrowheads="1"/>
          </p:cNvSpPr>
          <p:nvPr/>
        </p:nvSpPr>
        <p:spPr bwMode="auto">
          <a:xfrm flipV="1">
            <a:off x="3886200" y="38862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8" name="Oval 30"/>
          <p:cNvSpPr>
            <a:spLocks noChangeArrowheads="1"/>
          </p:cNvSpPr>
          <p:nvPr/>
        </p:nvSpPr>
        <p:spPr bwMode="auto">
          <a:xfrm flipV="1">
            <a:off x="3657600" y="38100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59" name="Oval 31"/>
          <p:cNvSpPr>
            <a:spLocks noChangeArrowheads="1"/>
          </p:cNvSpPr>
          <p:nvPr/>
        </p:nvSpPr>
        <p:spPr bwMode="auto">
          <a:xfrm flipV="1">
            <a:off x="3467100" y="365760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0" name="Oval 32"/>
          <p:cNvSpPr>
            <a:spLocks noChangeArrowheads="1"/>
          </p:cNvSpPr>
          <p:nvPr/>
        </p:nvSpPr>
        <p:spPr bwMode="auto">
          <a:xfrm flipH="1" flipV="1">
            <a:off x="4660900" y="3873500"/>
            <a:ext cx="228600" cy="2286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1" name="Oval 33"/>
          <p:cNvSpPr>
            <a:spLocks noChangeArrowheads="1"/>
          </p:cNvSpPr>
          <p:nvPr/>
        </p:nvSpPr>
        <p:spPr bwMode="auto">
          <a:xfrm flipH="1" flipV="1">
            <a:off x="4965700" y="3810000"/>
            <a:ext cx="152400" cy="152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2" name="Oval 34"/>
          <p:cNvSpPr>
            <a:spLocks noChangeArrowheads="1"/>
          </p:cNvSpPr>
          <p:nvPr/>
        </p:nvSpPr>
        <p:spPr bwMode="auto">
          <a:xfrm flipH="1" flipV="1">
            <a:off x="5168900" y="3702050"/>
            <a:ext cx="114300" cy="1143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2563" name="Line 35"/>
          <p:cNvSpPr>
            <a:spLocks noChangeShapeType="1"/>
          </p:cNvSpPr>
          <p:nvPr/>
        </p:nvSpPr>
        <p:spPr bwMode="auto">
          <a:xfrm>
            <a:off x="4495800" y="2667000"/>
            <a:ext cx="3505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64" name="Line 36"/>
          <p:cNvSpPr>
            <a:spLocks noChangeShapeType="1"/>
          </p:cNvSpPr>
          <p:nvPr/>
        </p:nvSpPr>
        <p:spPr bwMode="auto">
          <a:xfrm flipV="1">
            <a:off x="4495800" y="1371600"/>
            <a:ext cx="3429000" cy="12954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22565" name="Freeform 37"/>
          <p:cNvSpPr>
            <a:spLocks/>
          </p:cNvSpPr>
          <p:nvPr/>
        </p:nvSpPr>
        <p:spPr bwMode="auto">
          <a:xfrm>
            <a:off x="7137400" y="1663700"/>
            <a:ext cx="177800" cy="1003300"/>
          </a:xfrm>
          <a:custGeom>
            <a:avLst/>
            <a:gdLst>
              <a:gd name="T0" fmla="*/ 2147483646 w 171"/>
              <a:gd name="T1" fmla="*/ 2147483646 h 632"/>
              <a:gd name="T2" fmla="*/ 2147483646 w 171"/>
              <a:gd name="T3" fmla="*/ 2147483646 h 632"/>
              <a:gd name="T4" fmla="*/ 0 w 171"/>
              <a:gd name="T5" fmla="*/ 0 h 632"/>
              <a:gd name="T6" fmla="*/ 0 60000 65536"/>
              <a:gd name="T7" fmla="*/ 0 60000 65536"/>
              <a:gd name="T8" fmla="*/ 0 60000 65536"/>
              <a:gd name="T9" fmla="*/ 0 w 171"/>
              <a:gd name="T10" fmla="*/ 0 h 632"/>
              <a:gd name="T11" fmla="*/ 171 w 171"/>
              <a:gd name="T12" fmla="*/ 632 h 632"/>
            </a:gdLst>
            <a:ahLst/>
            <a:cxnLst>
              <a:cxn ang="T6">
                <a:pos x="T0" y="T1"/>
              </a:cxn>
              <a:cxn ang="T7">
                <a:pos x="T2" y="T3"/>
              </a:cxn>
              <a:cxn ang="T8">
                <a:pos x="T4" y="T5"/>
              </a:cxn>
            </a:cxnLst>
            <a:rect l="T9" t="T10" r="T11" b="T12"/>
            <a:pathLst>
              <a:path w="171" h="632">
                <a:moveTo>
                  <a:pt x="160" y="632"/>
                </a:moveTo>
                <a:cubicBezTo>
                  <a:pt x="165" y="548"/>
                  <a:pt x="171" y="465"/>
                  <a:pt x="144" y="360"/>
                </a:cubicBezTo>
                <a:cubicBezTo>
                  <a:pt x="117" y="255"/>
                  <a:pt x="29" y="59"/>
                  <a:pt x="0" y="0"/>
                </a:cubicBezTo>
              </a:path>
            </a:pathLst>
          </a:custGeom>
          <a:noFill/>
          <a:ln w="9525">
            <a:solidFill>
              <a:schemeClr val="tx1"/>
            </a:solidFill>
            <a:round/>
            <a:headEnd type="none" w="med" len="med"/>
            <a:tailEnd type="triangle" w="lg"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66" name="Text Box 38"/>
          <p:cNvSpPr txBox="1">
            <a:spLocks noChangeArrowheads="1"/>
          </p:cNvSpPr>
          <p:nvPr/>
        </p:nvSpPr>
        <p:spPr bwMode="auto">
          <a:xfrm>
            <a:off x="7299325" y="1711325"/>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a:t>
            </a:r>
          </a:p>
        </p:txBody>
      </p:sp>
      <p:sp>
        <p:nvSpPr>
          <p:cNvPr id="22567" name="Oval 39"/>
          <p:cNvSpPr>
            <a:spLocks noChangeArrowheads="1"/>
          </p:cNvSpPr>
          <p:nvPr/>
        </p:nvSpPr>
        <p:spPr bwMode="auto">
          <a:xfrm>
            <a:off x="4368800" y="1346200"/>
            <a:ext cx="76200" cy="76200"/>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22568" name="Group 40"/>
          <p:cNvGrpSpPr>
            <a:grpSpLocks/>
          </p:cNvGrpSpPr>
          <p:nvPr/>
        </p:nvGrpSpPr>
        <p:grpSpPr bwMode="auto">
          <a:xfrm>
            <a:off x="4332288" y="3987800"/>
            <a:ext cx="117475" cy="130175"/>
            <a:chOff x="2894" y="3166"/>
            <a:chExt cx="74" cy="82"/>
          </a:xfrm>
        </p:grpSpPr>
        <p:sp>
          <p:nvSpPr>
            <p:cNvPr id="22584" name="Line 41"/>
            <p:cNvSpPr>
              <a:spLocks noChangeShapeType="1"/>
            </p:cNvSpPr>
            <p:nvPr/>
          </p:nvSpPr>
          <p:spPr bwMode="auto">
            <a:xfrm>
              <a:off x="2894" y="3166"/>
              <a:ext cx="74" cy="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5" name="Line 42"/>
            <p:cNvSpPr>
              <a:spLocks noChangeShapeType="1"/>
            </p:cNvSpPr>
            <p:nvPr/>
          </p:nvSpPr>
          <p:spPr bwMode="auto">
            <a:xfrm flipH="1">
              <a:off x="2896" y="3168"/>
              <a:ext cx="72" cy="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2569" name="Freeform 43"/>
          <p:cNvSpPr>
            <a:spLocks noChangeAspect="1"/>
          </p:cNvSpPr>
          <p:nvPr/>
        </p:nvSpPr>
        <p:spPr bwMode="auto">
          <a:xfrm flipH="1">
            <a:off x="2141538" y="440055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0" name="Freeform 44"/>
          <p:cNvSpPr>
            <a:spLocks noChangeAspect="1"/>
          </p:cNvSpPr>
          <p:nvPr/>
        </p:nvSpPr>
        <p:spPr bwMode="auto">
          <a:xfrm flipV="1">
            <a:off x="3341688" y="5413375"/>
            <a:ext cx="1201737"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1" name="Freeform 45"/>
          <p:cNvSpPr>
            <a:spLocks noChangeAspect="1"/>
          </p:cNvSpPr>
          <p:nvPr/>
        </p:nvSpPr>
        <p:spPr bwMode="auto">
          <a:xfrm flipH="1" flipV="1">
            <a:off x="4543425" y="541337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2" name="Line 46"/>
          <p:cNvSpPr>
            <a:spLocks noChangeShapeType="1"/>
          </p:cNvSpPr>
          <p:nvPr/>
        </p:nvSpPr>
        <p:spPr bwMode="auto">
          <a:xfrm>
            <a:off x="2124075" y="5410200"/>
            <a:ext cx="5257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3" name="Text Box 47"/>
          <p:cNvSpPr txBox="1">
            <a:spLocks noChangeArrowheads="1"/>
          </p:cNvSpPr>
          <p:nvPr/>
        </p:nvSpPr>
        <p:spPr bwMode="auto">
          <a:xfrm>
            <a:off x="7381875" y="525780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2574" name="Line 48"/>
          <p:cNvSpPr>
            <a:spLocks noChangeShapeType="1"/>
          </p:cNvSpPr>
          <p:nvPr/>
        </p:nvSpPr>
        <p:spPr bwMode="auto">
          <a:xfrm flipV="1">
            <a:off x="2124075" y="3886200"/>
            <a:ext cx="0" cy="2514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5" name="Text Box 49"/>
          <p:cNvSpPr txBox="1">
            <a:spLocks noChangeArrowheads="1"/>
          </p:cNvSpPr>
          <p:nvPr/>
        </p:nvSpPr>
        <p:spPr bwMode="auto">
          <a:xfrm>
            <a:off x="6507163" y="4049713"/>
            <a:ext cx="2073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FMM dans l’entrefer</a:t>
            </a:r>
          </a:p>
        </p:txBody>
      </p:sp>
      <p:sp>
        <p:nvSpPr>
          <p:cNvPr id="22576" name="Text Box 50"/>
          <p:cNvSpPr txBox="1">
            <a:spLocks noChangeArrowheads="1"/>
          </p:cNvSpPr>
          <p:nvPr/>
        </p:nvSpPr>
        <p:spPr bwMode="auto">
          <a:xfrm>
            <a:off x="1438275" y="3810000"/>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a:latin typeface="Calibri" panose="020F0502020204030204" pitchFamily="34" charset="0"/>
              </a:rPr>
              <a:t>ε</a:t>
            </a:r>
            <a:r>
              <a:rPr lang="en-US" altLang="fr-FR" sz="1600">
                <a:latin typeface="Arial Narrow" panose="020B0606020202030204" pitchFamily="34" charset="0"/>
              </a:rPr>
              <a:t>(</a:t>
            </a: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2577" name="Freeform 51"/>
          <p:cNvSpPr>
            <a:spLocks noChangeAspect="1"/>
          </p:cNvSpPr>
          <p:nvPr/>
        </p:nvSpPr>
        <p:spPr bwMode="auto">
          <a:xfrm>
            <a:off x="5740400" y="439420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2578" name="Text Box 52"/>
          <p:cNvSpPr txBox="1">
            <a:spLocks noChangeArrowheads="1"/>
          </p:cNvSpPr>
          <p:nvPr/>
        </p:nvSpPr>
        <p:spPr bwMode="auto">
          <a:xfrm>
            <a:off x="4343400" y="5334000"/>
            <a:ext cx="296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22579" name="Text Box 53"/>
          <p:cNvSpPr txBox="1">
            <a:spLocks noChangeArrowheads="1"/>
          </p:cNvSpPr>
          <p:nvPr/>
        </p:nvSpPr>
        <p:spPr bwMode="auto">
          <a:xfrm>
            <a:off x="6756400" y="5410200"/>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22580" name="Line 54"/>
          <p:cNvSpPr>
            <a:spLocks noChangeShapeType="1"/>
          </p:cNvSpPr>
          <p:nvPr/>
        </p:nvSpPr>
        <p:spPr bwMode="auto">
          <a:xfrm>
            <a:off x="7010400" y="53340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1" name="Line 55"/>
          <p:cNvSpPr>
            <a:spLocks noChangeShapeType="1"/>
          </p:cNvSpPr>
          <p:nvPr/>
        </p:nvSpPr>
        <p:spPr bwMode="auto">
          <a:xfrm>
            <a:off x="4535488" y="5373688"/>
            <a:ext cx="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82" name="Espace réservé du numéro de diapositive 5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B95C590-B92D-4230-AA55-37068DA9B80F}" type="slidenum">
              <a:rPr lang="en-US" altLang="fr-FR" sz="1000">
                <a:solidFill>
                  <a:srgbClr val="292929"/>
                </a:solidFill>
                <a:latin typeface="Arial" panose="020B0604020202020204" pitchFamily="34" charset="0"/>
              </a:rPr>
              <a:pPr>
                <a:spcBef>
                  <a:spcPct val="0"/>
                </a:spcBef>
                <a:buClrTx/>
                <a:buSzTx/>
                <a:buFontTx/>
                <a:buNone/>
              </a:pPr>
              <a:t>7</a:t>
            </a:fld>
            <a:endParaRPr lang="en-US" altLang="fr-FR" sz="1000">
              <a:solidFill>
                <a:srgbClr val="292929"/>
              </a:solidFill>
              <a:latin typeface="Arial" panose="020B0604020202020204" pitchFamily="34" charset="0"/>
            </a:endParaRPr>
          </a:p>
        </p:txBody>
      </p:sp>
      <p:sp>
        <p:nvSpPr>
          <p:cNvPr id="61" name="Espace réservé du pied de page 6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27219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43"/>
          <p:cNvSpPr>
            <a:spLocks noChangeAspect="1"/>
          </p:cNvSpPr>
          <p:nvPr/>
        </p:nvSpPr>
        <p:spPr bwMode="auto">
          <a:xfrm flipH="1">
            <a:off x="1989138" y="147002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79" name="Freeform 44"/>
          <p:cNvSpPr>
            <a:spLocks noChangeAspect="1"/>
          </p:cNvSpPr>
          <p:nvPr/>
        </p:nvSpPr>
        <p:spPr bwMode="auto">
          <a:xfrm flipV="1">
            <a:off x="3189288" y="2482850"/>
            <a:ext cx="1201737"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0" name="Freeform 45"/>
          <p:cNvSpPr>
            <a:spLocks noChangeAspect="1"/>
          </p:cNvSpPr>
          <p:nvPr/>
        </p:nvSpPr>
        <p:spPr bwMode="auto">
          <a:xfrm flipH="1" flipV="1">
            <a:off x="4391025" y="2482850"/>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1" name="Line 46"/>
          <p:cNvSpPr>
            <a:spLocks noChangeShapeType="1"/>
          </p:cNvSpPr>
          <p:nvPr/>
        </p:nvSpPr>
        <p:spPr bwMode="auto">
          <a:xfrm>
            <a:off x="1971675" y="2479675"/>
            <a:ext cx="5257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82" name="Text Box 47"/>
          <p:cNvSpPr txBox="1">
            <a:spLocks noChangeArrowheads="1"/>
          </p:cNvSpPr>
          <p:nvPr/>
        </p:nvSpPr>
        <p:spPr bwMode="auto">
          <a:xfrm>
            <a:off x="7229475" y="2327275"/>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4583" name="Line 48"/>
          <p:cNvSpPr>
            <a:spLocks noChangeShapeType="1"/>
          </p:cNvSpPr>
          <p:nvPr/>
        </p:nvSpPr>
        <p:spPr bwMode="auto">
          <a:xfrm flipV="1">
            <a:off x="1971675" y="955675"/>
            <a:ext cx="0" cy="2514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84" name="Text Box 49"/>
          <p:cNvSpPr txBox="1">
            <a:spLocks noChangeArrowheads="1"/>
          </p:cNvSpPr>
          <p:nvPr/>
        </p:nvSpPr>
        <p:spPr bwMode="auto">
          <a:xfrm>
            <a:off x="6354763" y="1119188"/>
            <a:ext cx="2073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rPr>
              <a:t>FMM dans l’entrefer</a:t>
            </a:r>
          </a:p>
        </p:txBody>
      </p:sp>
      <p:sp>
        <p:nvSpPr>
          <p:cNvPr id="24585" name="Text Box 50"/>
          <p:cNvSpPr txBox="1">
            <a:spLocks noChangeArrowheads="1"/>
          </p:cNvSpPr>
          <p:nvPr/>
        </p:nvSpPr>
        <p:spPr bwMode="auto">
          <a:xfrm>
            <a:off x="1285875" y="879475"/>
            <a:ext cx="568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800">
                <a:latin typeface="Calibri" panose="020F0502020204030204" pitchFamily="34" charset="0"/>
              </a:rPr>
              <a:t>ε</a:t>
            </a:r>
            <a:r>
              <a:rPr lang="en-US" altLang="fr-FR" sz="1600">
                <a:latin typeface="Arial Narrow" panose="020B0606020202030204" pitchFamily="34" charset="0"/>
              </a:rPr>
              <a:t>(</a:t>
            </a:r>
            <a:r>
              <a:rPr lang="en-US" altLang="fr-FR" sz="1600">
                <a:latin typeface="Arial Narrow" panose="020B0606020202030204" pitchFamily="34" charset="0"/>
                <a:sym typeface="Symbol" panose="05050102010706020507" pitchFamily="18" charset="2"/>
              </a:rPr>
              <a:t>)</a:t>
            </a:r>
            <a:endParaRPr lang="en-US" altLang="fr-FR" sz="1600">
              <a:latin typeface="Arial Narrow" panose="020B0606020202030204" pitchFamily="34" charset="0"/>
            </a:endParaRPr>
          </a:p>
        </p:txBody>
      </p:sp>
      <p:sp>
        <p:nvSpPr>
          <p:cNvPr id="24586" name="Freeform 51"/>
          <p:cNvSpPr>
            <a:spLocks noChangeAspect="1"/>
          </p:cNvSpPr>
          <p:nvPr/>
        </p:nvSpPr>
        <p:spPr bwMode="auto">
          <a:xfrm>
            <a:off x="5588000" y="1463675"/>
            <a:ext cx="1200150" cy="1012825"/>
          </a:xfrm>
          <a:custGeom>
            <a:avLst/>
            <a:gdLst>
              <a:gd name="T0" fmla="*/ 0 w 720"/>
              <a:gd name="T1" fmla="*/ 2147483646 h 920"/>
              <a:gd name="T2" fmla="*/ 2147483646 w 720"/>
              <a:gd name="T3" fmla="*/ 2147483646 h 920"/>
              <a:gd name="T4" fmla="*/ 2147483646 w 720"/>
              <a:gd name="T5" fmla="*/ 2147483646 h 920"/>
              <a:gd name="T6" fmla="*/ 2147483646 w 720"/>
              <a:gd name="T7" fmla="*/ 2147483646 h 920"/>
              <a:gd name="T8" fmla="*/ 0 60000 65536"/>
              <a:gd name="T9" fmla="*/ 0 60000 65536"/>
              <a:gd name="T10" fmla="*/ 0 60000 65536"/>
              <a:gd name="T11" fmla="*/ 0 60000 65536"/>
              <a:gd name="T12" fmla="*/ 0 w 720"/>
              <a:gd name="T13" fmla="*/ 0 h 920"/>
              <a:gd name="T14" fmla="*/ 720 w 720"/>
              <a:gd name="T15" fmla="*/ 920 h 920"/>
            </a:gdLst>
            <a:ahLst/>
            <a:cxnLst>
              <a:cxn ang="T8">
                <a:pos x="T0" y="T1"/>
              </a:cxn>
              <a:cxn ang="T9">
                <a:pos x="T2" y="T3"/>
              </a:cxn>
              <a:cxn ang="T10">
                <a:pos x="T4" y="T5"/>
              </a:cxn>
              <a:cxn ang="T11">
                <a:pos x="T6" y="T7"/>
              </a:cxn>
            </a:cxnLst>
            <a:rect l="T12" t="T13" r="T14" b="T15"/>
            <a:pathLst>
              <a:path w="720" h="920">
                <a:moveTo>
                  <a:pt x="0" y="920"/>
                </a:moveTo>
                <a:cubicBezTo>
                  <a:pt x="120" y="704"/>
                  <a:pt x="240" y="488"/>
                  <a:pt x="336" y="344"/>
                </a:cubicBezTo>
                <a:cubicBezTo>
                  <a:pt x="432" y="200"/>
                  <a:pt x="512" y="112"/>
                  <a:pt x="576" y="56"/>
                </a:cubicBezTo>
                <a:cubicBezTo>
                  <a:pt x="640" y="0"/>
                  <a:pt x="680" y="4"/>
                  <a:pt x="720" y="8"/>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24587" name="Text Box 52"/>
          <p:cNvSpPr txBox="1">
            <a:spLocks noChangeArrowheads="1"/>
          </p:cNvSpPr>
          <p:nvPr/>
        </p:nvSpPr>
        <p:spPr bwMode="auto">
          <a:xfrm>
            <a:off x="4191000" y="2403475"/>
            <a:ext cx="296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a:t>
            </a:r>
          </a:p>
        </p:txBody>
      </p:sp>
      <p:sp>
        <p:nvSpPr>
          <p:cNvPr id="24588" name="Text Box 53"/>
          <p:cNvSpPr txBox="1">
            <a:spLocks noChangeArrowheads="1"/>
          </p:cNvSpPr>
          <p:nvPr/>
        </p:nvSpPr>
        <p:spPr bwMode="auto">
          <a:xfrm>
            <a:off x="6604000" y="2479675"/>
            <a:ext cx="3905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600">
                <a:latin typeface="Arial Narrow" panose="020B0606020202030204" pitchFamily="34" charset="0"/>
                <a:sym typeface="Symbol" panose="05050102010706020507" pitchFamily="18" charset="2"/>
              </a:rPr>
              <a:t>2</a:t>
            </a:r>
          </a:p>
        </p:txBody>
      </p:sp>
      <p:sp>
        <p:nvSpPr>
          <p:cNvPr id="24589" name="Line 54"/>
          <p:cNvSpPr>
            <a:spLocks noChangeShapeType="1"/>
          </p:cNvSpPr>
          <p:nvPr/>
        </p:nvSpPr>
        <p:spPr bwMode="auto">
          <a:xfrm>
            <a:off x="6858000" y="2403475"/>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90" name="Line 55"/>
          <p:cNvSpPr>
            <a:spLocks noChangeShapeType="1"/>
          </p:cNvSpPr>
          <p:nvPr/>
        </p:nvSpPr>
        <p:spPr bwMode="auto">
          <a:xfrm>
            <a:off x="4383088" y="2443163"/>
            <a:ext cx="0" cy="714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91" name="ZoneTexte 26"/>
          <p:cNvSpPr txBox="1">
            <a:spLocks noChangeArrowheads="1"/>
          </p:cNvSpPr>
          <p:nvPr/>
        </p:nvSpPr>
        <p:spPr bwMode="auto">
          <a:xfrm>
            <a:off x="1030288" y="4232275"/>
            <a:ext cx="7375525"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La décomposition en série de Fourier donne une composante fondamentale:</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el-GR" altLang="fr-FR" sz="2400">
                <a:latin typeface="Calibri" panose="020F0502020204030204" pitchFamily="34" charset="0"/>
              </a:rPr>
              <a:t>ε</a:t>
            </a:r>
            <a:r>
              <a:rPr lang="fr-FR" altLang="fr-FR" sz="2400" baseline="-25000">
                <a:latin typeface="Calibri" panose="020F0502020204030204" pitchFamily="34" charset="0"/>
              </a:rPr>
              <a:t>1</a:t>
            </a:r>
            <a:r>
              <a:rPr lang="fr-FR" altLang="fr-FR" sz="2400">
                <a:latin typeface="Calibri" panose="020F0502020204030204" pitchFamily="34" charset="0"/>
              </a:rPr>
              <a:t> = k.(2/</a:t>
            </a:r>
            <a:r>
              <a:rPr lang="el-GR" altLang="fr-FR" sz="2400">
                <a:latin typeface="Calibri" panose="020F0502020204030204" pitchFamily="34" charset="0"/>
              </a:rPr>
              <a:t>π</a:t>
            </a:r>
            <a:r>
              <a:rPr lang="fr-FR" altLang="fr-FR" sz="2400">
                <a:latin typeface="Calibri" panose="020F0502020204030204" pitchFamily="34" charset="0"/>
              </a:rPr>
              <a:t>).N.</a:t>
            </a:r>
            <a:r>
              <a:rPr lang="fr-FR" altLang="fr-FR" sz="2400" i="1">
                <a:latin typeface="Calibri" panose="020F0502020204030204" pitchFamily="34" charset="0"/>
              </a:rPr>
              <a:t>i</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 = </a:t>
            </a:r>
            <a:r>
              <a:rPr lang="el-GR" altLang="fr-FR" sz="2400">
                <a:latin typeface="Calibri" panose="020F0502020204030204" pitchFamily="34" charset="0"/>
              </a:rPr>
              <a:t>ε</a:t>
            </a:r>
            <a:r>
              <a:rPr lang="fr-FR" altLang="fr-FR" sz="2400" baseline="-25000">
                <a:latin typeface="Calibri" panose="020F0502020204030204" pitchFamily="34" charset="0"/>
              </a:rPr>
              <a:t>m</a:t>
            </a:r>
            <a:r>
              <a:rPr lang="fr-FR" altLang="fr-FR" sz="2400">
                <a:latin typeface="Calibri" panose="020F0502020204030204" pitchFamily="34" charset="0"/>
              </a:rPr>
              <a:t>.cos(</a:t>
            </a:r>
            <a:r>
              <a:rPr lang="el-GR" altLang="fr-FR" sz="2400">
                <a:latin typeface="Calibri" panose="020F0502020204030204" pitchFamily="34" charset="0"/>
              </a:rPr>
              <a:t>θ</a:t>
            </a:r>
            <a:r>
              <a:rPr lang="fr-FR" altLang="fr-FR" sz="2400">
                <a:latin typeface="Calibri" panose="020F0502020204030204" pitchFamily="34" charset="0"/>
              </a:rPr>
              <a:t>)</a:t>
            </a:r>
          </a:p>
          <a:p>
            <a:pPr eaLnBrk="1" hangingPunct="1">
              <a:spcBef>
                <a:spcPct val="0"/>
              </a:spcBef>
              <a:buClrTx/>
              <a:buSzTx/>
              <a:buFontTx/>
              <a:buNone/>
            </a:pPr>
            <a:endParaRPr lang="fr-FR" altLang="fr-FR" sz="2400">
              <a:latin typeface="Calibri" panose="020F0502020204030204" pitchFamily="34" charset="0"/>
            </a:endParaRPr>
          </a:p>
          <a:p>
            <a:pPr eaLnBrk="1" hangingPunct="1">
              <a:spcBef>
                <a:spcPct val="0"/>
              </a:spcBef>
              <a:buClrTx/>
              <a:buSzTx/>
              <a:buFontTx/>
              <a:buNone/>
            </a:pPr>
            <a:r>
              <a:rPr lang="fr-FR" altLang="fr-FR" sz="2400">
                <a:latin typeface="Calibri" panose="020F0502020204030204" pitchFamily="34" charset="0"/>
              </a:rPr>
              <a:t>  </a:t>
            </a:r>
            <a:r>
              <a:rPr lang="fr-FR" altLang="fr-FR" sz="2000">
                <a:latin typeface="Calibri" panose="020F0502020204030204" pitchFamily="34" charset="0"/>
              </a:rPr>
              <a:t>k étant le facteur de bobinage.</a:t>
            </a: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a:t>
            </a:r>
          </a:p>
        </p:txBody>
      </p:sp>
      <p:sp>
        <p:nvSpPr>
          <p:cNvPr id="24592" name="Rectangle 2"/>
          <p:cNvSpPr txBox="1">
            <a:spLocks noChangeArrowheads="1"/>
          </p:cNvSpPr>
          <p:nvPr/>
        </p:nvSpPr>
        <p:spPr bwMode="auto">
          <a:xfrm>
            <a:off x="1431925" y="304800"/>
            <a:ext cx="64992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19100" indent="-382588">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a:buFontTx/>
              <a:buNone/>
            </a:pPr>
            <a:r>
              <a:rPr lang="en-US" altLang="fr-FR" sz="2400" b="1">
                <a:latin typeface="Arial Narrow" panose="020B0606020202030204" pitchFamily="34" charset="0"/>
              </a:rPr>
              <a:t>Phase a – enroulement à distribution sinusoïdale </a:t>
            </a:r>
          </a:p>
        </p:txBody>
      </p:sp>
      <p:sp>
        <p:nvSpPr>
          <p:cNvPr id="24593" name="Rectangle 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4594" name="Espace réservé du numéro de diapositive 1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72A6EC2-D28C-4F9E-B527-D7477EC6FDC7}" type="slidenum">
              <a:rPr lang="en-US" altLang="fr-FR" sz="1000">
                <a:solidFill>
                  <a:srgbClr val="292929"/>
                </a:solidFill>
                <a:latin typeface="Arial" panose="020B0604020202020204" pitchFamily="34" charset="0"/>
              </a:rPr>
              <a:pPr>
                <a:spcBef>
                  <a:spcPct val="0"/>
                </a:spcBef>
                <a:buClrTx/>
                <a:buSzTx/>
                <a:buFontTx/>
                <a:buNone/>
              </a:pPr>
              <a:t>8</a:t>
            </a:fld>
            <a:endParaRPr lang="en-US" altLang="fr-FR" sz="1000">
              <a:solidFill>
                <a:srgbClr val="292929"/>
              </a:solidFill>
              <a:latin typeface="Arial" panose="020B0604020202020204" pitchFamily="34" charset="0"/>
            </a:endParaRPr>
          </a:p>
        </p:txBody>
      </p:sp>
      <p:sp>
        <p:nvSpPr>
          <p:cNvPr id="21" name="Espace réservé du pied de page 2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8046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17"/>
          <p:cNvSpPr>
            <a:spLocks noGrp="1" noChangeArrowheads="1"/>
          </p:cNvSpPr>
          <p:nvPr>
            <p:ph idx="1"/>
          </p:nvPr>
        </p:nvSpPr>
        <p:spPr>
          <a:xfrm>
            <a:off x="685800" y="873125"/>
            <a:ext cx="7772400" cy="2771775"/>
          </a:xfrm>
        </p:spPr>
        <p:txBody>
          <a:bodyPr/>
          <a:lstStyle/>
          <a:p>
            <a:pPr>
              <a:lnSpc>
                <a:spcPct val="80000"/>
              </a:lnSpc>
            </a:pPr>
            <a:r>
              <a:rPr lang="en-US" altLang="fr-FR" sz="2400">
                <a:latin typeface="Arial Narrow" panose="020B0606020202030204" pitchFamily="34" charset="0"/>
              </a:rPr>
              <a:t>L’enroulement sinusoïdale de chaque phase produit une FMM et un flux spatialement sinusoidaux.  </a:t>
            </a:r>
            <a:br>
              <a:rPr lang="en-US" altLang="fr-FR" sz="2400">
                <a:latin typeface="Arial Narrow" panose="020B0606020202030204" pitchFamily="34" charset="0"/>
              </a:rPr>
            </a:br>
            <a:endParaRPr lang="en-US" altLang="fr-FR" sz="2400">
              <a:latin typeface="Arial Narrow" panose="020B0606020202030204" pitchFamily="34" charset="0"/>
            </a:endParaRPr>
          </a:p>
          <a:p>
            <a:pPr>
              <a:lnSpc>
                <a:spcPct val="80000"/>
              </a:lnSpc>
            </a:pPr>
            <a:r>
              <a:rPr lang="en-US" altLang="fr-FR" sz="2400">
                <a:latin typeface="Arial Narrow" panose="020B0606020202030204" pitchFamily="34" charset="0"/>
              </a:rPr>
              <a:t>Un courant sinusoidal (fréquence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sym typeface="Symbol" panose="05050102010706020507" pitchFamily="18" charset="2"/>
              </a:rPr>
              <a:t>s</a:t>
            </a:r>
            <a:r>
              <a:rPr lang="en-US" altLang="fr-FR" sz="2400">
                <a:latin typeface="Arial Narrow" panose="020B0606020202030204" pitchFamily="34" charset="0"/>
                <a:sym typeface="Symbol" panose="05050102010706020507" pitchFamily="18" charset="2"/>
              </a:rPr>
              <a:t>) dans une phase statorique </a:t>
            </a:r>
            <a:r>
              <a:rPr lang="en-US" altLang="fr-FR" sz="2400">
                <a:latin typeface="Arial Narrow" panose="020B0606020202030204" pitchFamily="34" charset="0"/>
              </a:rPr>
              <a:t> produit une FMM stationnaire sinusoïdale. </a:t>
            </a:r>
          </a:p>
          <a:p>
            <a:pPr>
              <a:lnSpc>
                <a:spcPct val="80000"/>
              </a:lnSpc>
            </a:pPr>
            <a:endParaRPr lang="en-US" altLang="fr-FR" sz="2400">
              <a:latin typeface="Arial Narrow" panose="020B0606020202030204" pitchFamily="34" charset="0"/>
            </a:endParaRPr>
          </a:p>
          <a:p>
            <a:pPr>
              <a:lnSpc>
                <a:spcPct val="80000"/>
              </a:lnSpc>
            </a:pPr>
            <a:r>
              <a:rPr lang="en-US" altLang="fr-FR" sz="2400">
                <a:latin typeface="Arial Narrow" panose="020B0606020202030204" pitchFamily="34" charset="0"/>
              </a:rPr>
              <a:t>La combinaison  des 3 ondes sinusoïdales stationnaires  produit une onde de la FMM  tournant  à: </a:t>
            </a:r>
          </a:p>
          <a:p>
            <a:pPr>
              <a:lnSpc>
                <a:spcPct val="80000"/>
              </a:lnSpc>
            </a:pPr>
            <a:endParaRPr lang="en-US" altLang="fr-FR" sz="2400">
              <a:latin typeface="Arial Narrow" panose="020B0606020202030204" pitchFamily="34" charset="0"/>
            </a:endParaRPr>
          </a:p>
        </p:txBody>
      </p:sp>
      <p:graphicFrame>
        <p:nvGraphicFramePr>
          <p:cNvPr id="26627" name="Object 118"/>
          <p:cNvGraphicFramePr>
            <a:graphicFrameLocks noChangeAspect="1"/>
          </p:cNvGraphicFramePr>
          <p:nvPr/>
        </p:nvGraphicFramePr>
        <p:xfrm>
          <a:off x="3535363" y="3868738"/>
          <a:ext cx="1538287" cy="1058862"/>
        </p:xfrm>
        <a:graphic>
          <a:graphicData uri="http://schemas.openxmlformats.org/presentationml/2006/ole">
            <mc:AlternateContent xmlns:mc="http://schemas.openxmlformats.org/markup-compatibility/2006">
              <mc:Choice xmlns:v="urn:schemas-microsoft-com:vml" Requires="v">
                <p:oleObj spid="_x0000_s283655" name="Équation" r:id="rId4" imgW="622030" imgH="431613" progId="Equation.3">
                  <p:embed/>
                </p:oleObj>
              </mc:Choice>
              <mc:Fallback>
                <p:oleObj name="Équation" r:id="rId4" imgW="622030" imgH="431613"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35363" y="3868738"/>
                        <a:ext cx="1538287"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8" name="Text Box 120"/>
          <p:cNvSpPr txBox="1">
            <a:spLocks noChangeArrowheads="1"/>
          </p:cNvSpPr>
          <p:nvPr/>
        </p:nvSpPr>
        <p:spPr bwMode="auto">
          <a:xfrm>
            <a:off x="1905000" y="5257800"/>
            <a:ext cx="35369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p : nombre de paires de pôles</a:t>
            </a:r>
          </a:p>
          <a:p>
            <a:pPr eaLnBrk="1" hangingPunct="1">
              <a:spcBef>
                <a:spcPct val="0"/>
              </a:spcBef>
              <a:buClrTx/>
              <a:buSzTx/>
              <a:buFontTx/>
              <a:buNone/>
            </a:pPr>
            <a:r>
              <a:rPr lang="en-US" altLang="fr-FR" sz="2400">
                <a:latin typeface="Arial Narrow" panose="020B0606020202030204" pitchFamily="34" charset="0"/>
                <a:sym typeface="Symbol" panose="05050102010706020507" pitchFamily="18" charset="2"/>
              </a:rPr>
              <a:t>f  – fréquence d’alimentation</a:t>
            </a:r>
            <a:endParaRPr lang="en-US" altLang="fr-FR" sz="2400">
              <a:latin typeface="Arial Narrow" panose="020B0606020202030204" pitchFamily="34" charset="0"/>
            </a:endParaRPr>
          </a:p>
        </p:txBody>
      </p:sp>
      <p:sp>
        <p:nvSpPr>
          <p:cNvPr id="26629" name="Rectangle 121"/>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6630" name="Text Box 122"/>
          <p:cNvSpPr txBox="1">
            <a:spLocks noChangeArrowheads="1"/>
          </p:cNvSpPr>
          <p:nvPr/>
        </p:nvSpPr>
        <p:spPr bwMode="auto">
          <a:xfrm>
            <a:off x="6019800" y="45720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endParaRPr lang="fr-FR" altLang="fr-FR" sz="2400">
              <a:latin typeface="Arial Narrow" panose="020B0606020202030204" pitchFamily="34" charset="0"/>
            </a:endParaRPr>
          </a:p>
        </p:txBody>
      </p:sp>
      <p:sp>
        <p:nvSpPr>
          <p:cNvPr id="26631"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42B811E-49C1-4B41-8987-C4F6F8C38692}" type="slidenum">
              <a:rPr lang="en-US" altLang="fr-FR" sz="1000">
                <a:solidFill>
                  <a:srgbClr val="292929"/>
                </a:solidFill>
                <a:latin typeface="Arial" panose="020B0604020202020204" pitchFamily="34" charset="0"/>
              </a:rPr>
              <a:pPr>
                <a:spcBef>
                  <a:spcPct val="0"/>
                </a:spcBef>
                <a:buClrTx/>
                <a:buSzTx/>
                <a:buFontTx/>
                <a:buNone/>
              </a:pPr>
              <a:t>9</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730787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28675" name="Text Box 7"/>
          <p:cNvSpPr txBox="1">
            <a:spLocks noChangeArrowheads="1"/>
          </p:cNvSpPr>
          <p:nvPr/>
        </p:nvSpPr>
        <p:spPr bwMode="auto">
          <a:xfrm>
            <a:off x="6019800" y="4572000"/>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endParaRPr lang="fr-FR" altLang="fr-FR" sz="2400">
              <a:latin typeface="Arial Narrow" panose="020B0606020202030204" pitchFamily="34" charset="0"/>
            </a:endParaRPr>
          </a:p>
        </p:txBody>
      </p:sp>
      <p:graphicFrame>
        <p:nvGraphicFramePr>
          <p:cNvPr id="28676" name="Object 16">
            <a:hlinkClick r:id="" action="ppaction://ole?verb=0"/>
          </p:cNvPr>
          <p:cNvGraphicFramePr>
            <a:graphicFrameLocks noGrp="1" noChangeAspect="1"/>
          </p:cNvGraphicFramePr>
          <p:nvPr>
            <p:ph/>
          </p:nvPr>
        </p:nvGraphicFramePr>
        <p:xfrm>
          <a:off x="2146300" y="361950"/>
          <a:ext cx="4849813" cy="4438650"/>
        </p:xfrm>
        <a:graphic>
          <a:graphicData uri="http://schemas.openxmlformats.org/presentationml/2006/ole">
            <mc:AlternateContent xmlns:mc="http://schemas.openxmlformats.org/markup-compatibility/2006">
              <mc:Choice xmlns:v="urn:schemas-microsoft-com:vml" Requires="v">
                <p:oleObj spid="_x0000_s284679" name="Video Clip" r:id="rId4" imgW="5172797" imgH="4734586" progId="AVIFile">
                  <p:embed/>
                </p:oleObj>
              </mc:Choice>
              <mc:Fallback>
                <p:oleObj name="Video Clip" r:id="rId4" imgW="5172797" imgH="4734586" progId="AVIFil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6300" y="361950"/>
                        <a:ext cx="4849813" cy="443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7" name="ZoneTexte 8"/>
          <p:cNvSpPr txBox="1">
            <a:spLocks noChangeArrowheads="1"/>
          </p:cNvSpPr>
          <p:nvPr/>
        </p:nvSpPr>
        <p:spPr bwMode="auto">
          <a:xfrm>
            <a:off x="2855913" y="393700"/>
            <a:ext cx="3286125"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cs typeface="Arial" panose="020B0604020202020204" pitchFamily="34" charset="0"/>
              </a:rPr>
              <a:t>Distribution spatiale de l’onde</a:t>
            </a:r>
          </a:p>
        </p:txBody>
      </p:sp>
      <p:sp>
        <p:nvSpPr>
          <p:cNvPr id="28678" name="ZoneTexte 8"/>
          <p:cNvSpPr txBox="1">
            <a:spLocks noChangeArrowheads="1"/>
          </p:cNvSpPr>
          <p:nvPr/>
        </p:nvSpPr>
        <p:spPr bwMode="auto">
          <a:xfrm>
            <a:off x="701675" y="5072063"/>
            <a:ext cx="75946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latin typeface="Arial Narrow" panose="020B0606020202030204" pitchFamily="34" charset="0"/>
              </a:rPr>
              <a:t>Théorème de Ferraris:</a:t>
            </a:r>
          </a:p>
          <a:p>
            <a:pPr algn="just" eaLnBrk="1" hangingPunct="1">
              <a:spcBef>
                <a:spcPct val="0"/>
              </a:spcBef>
              <a:buClrTx/>
              <a:buSzTx/>
              <a:buFontTx/>
              <a:buNone/>
            </a:pPr>
            <a:r>
              <a:rPr lang="fr-FR" altLang="fr-FR" sz="1800">
                <a:latin typeface="Arial Narrow" panose="020B0606020202030204" pitchFamily="34" charset="0"/>
              </a:rPr>
              <a:t>Un enroulement multipolaire, polyphasé parcouru par des courants sinusoïdaux polyphasés équilibrés crée dans l’entrefer une force magnétomotrice circulaire unique tournant dans l’espace lié à cet enroulement, à la vitesse angulaire  </a:t>
            </a:r>
            <a:r>
              <a:rPr lang="fr-FR" altLang="fr-FR" sz="1800">
                <a:latin typeface="Calibri" panose="020F0502020204030204" pitchFamily="34" charset="0"/>
              </a:rPr>
              <a:t>±</a:t>
            </a:r>
            <a:r>
              <a:rPr lang="el-GR" altLang="fr-FR" sz="1800">
                <a:latin typeface="Calibri" panose="020F0502020204030204" pitchFamily="34" charset="0"/>
              </a:rPr>
              <a:t>ω</a:t>
            </a:r>
            <a:r>
              <a:rPr lang="fr-FR" altLang="fr-FR" sz="1800">
                <a:latin typeface="Calibri" panose="020F0502020204030204" pitchFamily="34" charset="0"/>
              </a:rPr>
              <a:t>/p  (</a:t>
            </a:r>
            <a:r>
              <a:rPr lang="el-GR" altLang="fr-FR" sz="1800">
                <a:latin typeface="Calibri" panose="020F0502020204030204" pitchFamily="34" charset="0"/>
              </a:rPr>
              <a:t>ω</a:t>
            </a:r>
            <a:r>
              <a:rPr lang="fr-FR" altLang="fr-FR" sz="1800">
                <a:latin typeface="Calibri" panose="020F0502020204030204" pitchFamily="34" charset="0"/>
              </a:rPr>
              <a:t> </a:t>
            </a:r>
            <a:r>
              <a:rPr lang="fr-FR" altLang="fr-FR" sz="1800">
                <a:latin typeface="Arial Narrow" panose="020B0606020202030204" pitchFamily="34" charset="0"/>
              </a:rPr>
              <a:t>étant la pulsation des courants).</a:t>
            </a:r>
          </a:p>
          <a:p>
            <a:pPr algn="just" eaLnBrk="1" hangingPunct="1">
              <a:spcBef>
                <a:spcPct val="0"/>
              </a:spcBef>
              <a:buClrTx/>
              <a:buSzTx/>
              <a:buFontTx/>
              <a:buNone/>
            </a:pPr>
            <a:endParaRPr lang="fr-FR" altLang="fr-FR" sz="1800">
              <a:latin typeface="Arial Narrow" panose="020B0606020202030204" pitchFamily="34" charset="0"/>
            </a:endParaRPr>
          </a:p>
        </p:txBody>
      </p:sp>
      <p:sp>
        <p:nvSpPr>
          <p:cNvPr id="2867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D3FFE9-D2BA-4BBF-8F77-6C784C9B7E3E}" type="slidenum">
              <a:rPr lang="en-US" altLang="fr-FR" sz="1000">
                <a:solidFill>
                  <a:srgbClr val="292929"/>
                </a:solidFill>
                <a:latin typeface="Arial" panose="020B0604020202020204" pitchFamily="34" charset="0"/>
              </a:rPr>
              <a:pPr>
                <a:spcBef>
                  <a:spcPct val="0"/>
                </a:spcBef>
                <a:buClrTx/>
                <a:buSzTx/>
                <a:buFontTx/>
                <a:buNone/>
              </a:pPr>
              <a:t>10</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211398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026"/>
          <p:cNvSpPr>
            <a:spLocks noGrp="1" noChangeArrowheads="1"/>
          </p:cNvSpPr>
          <p:nvPr>
            <p:ph idx="1"/>
          </p:nvPr>
        </p:nvSpPr>
        <p:spPr>
          <a:xfrm>
            <a:off x="685800" y="609600"/>
            <a:ext cx="7772400" cy="1295400"/>
          </a:xfrm>
        </p:spPr>
        <p:txBody>
          <a:bodyPr/>
          <a:lstStyle/>
          <a:p>
            <a:pPr algn="just"/>
            <a:r>
              <a:rPr lang="en-US" altLang="fr-FR" sz="2400">
                <a:latin typeface="Arial Narrow" panose="020B0606020202030204" pitchFamily="34" charset="0"/>
              </a:rPr>
              <a:t>Flux induit tournant  produit:</a:t>
            </a:r>
          </a:p>
          <a:p>
            <a:pPr marL="914400" lvl="1" indent="-457200" algn="just">
              <a:buFontTx/>
              <a:buNone/>
            </a:pPr>
            <a:r>
              <a:rPr lang="en-US" altLang="fr-FR" sz="2000">
                <a:latin typeface="Arial Narrow" panose="020B0606020202030204" pitchFamily="34" charset="0"/>
              </a:rPr>
              <a:t>Fem dans les enroulement statorique (force contre électromotrice)</a:t>
            </a:r>
          </a:p>
          <a:p>
            <a:pPr marL="914400" lvl="1" indent="-457200" algn="just">
              <a:buFontTx/>
              <a:buNone/>
            </a:pPr>
            <a:r>
              <a:rPr lang="en-US" altLang="fr-FR" sz="2000">
                <a:latin typeface="Arial Narrow" panose="020B0606020202030204" pitchFamily="34" charset="0"/>
              </a:rPr>
              <a:t>Fem dans les enroulement rotorique </a:t>
            </a:r>
          </a:p>
          <a:p>
            <a:pPr marL="914400" lvl="1" indent="-457200" algn="just">
              <a:buFontTx/>
              <a:buNone/>
            </a:pPr>
            <a:r>
              <a:rPr lang="en-US" altLang="fr-FR" sz="2000">
                <a:latin typeface="Arial Narrow" panose="020B0606020202030204" pitchFamily="34" charset="0"/>
              </a:rPr>
              <a:t>Flux rotorique tournant à la vitesse synchrone </a:t>
            </a:r>
          </a:p>
        </p:txBody>
      </p:sp>
      <p:sp>
        <p:nvSpPr>
          <p:cNvPr id="30723" name="Rectangle 1030"/>
          <p:cNvSpPr>
            <a:spLocks noChangeArrowheads="1"/>
          </p:cNvSpPr>
          <p:nvPr/>
        </p:nvSpPr>
        <p:spPr bwMode="auto">
          <a:xfrm>
            <a:off x="685800" y="2209800"/>
            <a:ext cx="7772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a:buSzTx/>
              <a:buFont typeface="Arial" panose="020B0604020202020204" pitchFamily="34" charset="0"/>
              <a:buChar char="•"/>
            </a:pPr>
            <a:r>
              <a:rPr lang="en-US" altLang="fr-FR" sz="2400">
                <a:latin typeface="Arial Narrow" panose="020B0606020202030204" pitchFamily="34" charset="0"/>
              </a:rPr>
              <a:t>Le courant rotorique interagit avec le flux: production du couple</a:t>
            </a:r>
            <a:br>
              <a:rPr lang="en-US" altLang="fr-FR" sz="2400">
                <a:latin typeface="Arial Narrow" panose="020B0606020202030204" pitchFamily="34" charset="0"/>
              </a:rPr>
            </a:br>
            <a:endParaRPr lang="en-US" altLang="fr-FR" sz="2400">
              <a:latin typeface="Arial Narrow" panose="020B0606020202030204" pitchFamily="34" charset="0"/>
            </a:endParaRPr>
          </a:p>
          <a:p>
            <a:pPr algn="just">
              <a:buSzTx/>
              <a:buFontTx/>
              <a:buChar char="•"/>
            </a:pPr>
            <a:r>
              <a:rPr lang="en-US" altLang="fr-FR" sz="2400">
                <a:latin typeface="Arial Narrow" panose="020B0606020202030204" pitchFamily="34" charset="0"/>
              </a:rPr>
              <a:t>Le Rotor tourne souvent à une vitesse inférieure à la vitesse synchrone, i.e. à une vitesse glissante:</a:t>
            </a:r>
          </a:p>
          <a:p>
            <a:pPr algn="just">
              <a:buSzTx/>
              <a:buFontTx/>
              <a:buNone/>
            </a:pPr>
            <a:br>
              <a:rPr lang="en-US" altLang="fr-FR" sz="2400">
                <a:latin typeface="Arial Narrow" panose="020B0606020202030204" pitchFamily="34" charset="0"/>
              </a:rPr>
            </a:br>
            <a:r>
              <a:rPr lang="en-US" altLang="fr-FR" sz="2400">
                <a:latin typeface="Arial Narrow" panose="020B0606020202030204" pitchFamily="34" charset="0"/>
              </a:rPr>
              <a:t>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rPr>
              <a:t>gl</a:t>
            </a:r>
            <a:r>
              <a:rPr lang="en-US" altLang="fr-FR" sz="2400">
                <a:latin typeface="Arial Narrow" panose="020B0606020202030204" pitchFamily="34" charset="0"/>
              </a:rPr>
              <a: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sym typeface="Symbol" panose="05050102010706020507" pitchFamily="18" charset="2"/>
              </a:rPr>
              <a:t>s</a:t>
            </a:r>
            <a:r>
              <a:rPr lang="en-US" altLang="fr-FR" sz="2400">
                <a:latin typeface="Arial Narrow" panose="020B0606020202030204" pitchFamily="34" charset="0"/>
              </a:rPr>
              <a:t> – </a:t>
            </a:r>
            <a:r>
              <a:rPr lang="en-US" altLang="fr-FR" sz="2400">
                <a:latin typeface="Arial Narrow" panose="020B0606020202030204" pitchFamily="34" charset="0"/>
                <a:sym typeface="Symbol" panose="05050102010706020507" pitchFamily="18" charset="2"/>
              </a:rPr>
              <a:t></a:t>
            </a:r>
            <a:r>
              <a:rPr lang="en-US" altLang="fr-FR" sz="2400" baseline="-25000">
                <a:latin typeface="Arial Narrow" panose="020B0606020202030204" pitchFamily="34" charset="0"/>
              </a:rPr>
              <a:t>r</a:t>
            </a:r>
            <a:r>
              <a:rPr lang="en-US" altLang="fr-FR" sz="2400">
                <a:latin typeface="Arial Narrow" panose="020B0606020202030204" pitchFamily="34" charset="0"/>
              </a:rPr>
              <a:t> </a:t>
            </a:r>
          </a:p>
          <a:p>
            <a:pPr algn="just">
              <a:buSzTx/>
              <a:buFontTx/>
              <a:buChar char="•"/>
            </a:pPr>
            <a:r>
              <a:rPr lang="en-US" altLang="fr-FR" sz="2400">
                <a:latin typeface="Arial Narrow" panose="020B0606020202030204" pitchFamily="34" charset="0"/>
              </a:rPr>
              <a:t>Glissement: Rapport entre la vitesse synchrone et celle du rotor </a:t>
            </a:r>
          </a:p>
        </p:txBody>
      </p:sp>
      <p:graphicFrame>
        <p:nvGraphicFramePr>
          <p:cNvPr id="30724" name="Object 1031"/>
          <p:cNvGraphicFramePr>
            <a:graphicFrameLocks noChangeAspect="1"/>
          </p:cNvGraphicFramePr>
          <p:nvPr/>
        </p:nvGraphicFramePr>
        <p:xfrm>
          <a:off x="3503613" y="5327650"/>
          <a:ext cx="1452562" cy="800100"/>
        </p:xfrm>
        <a:graphic>
          <a:graphicData uri="http://schemas.openxmlformats.org/presentationml/2006/ole">
            <mc:AlternateContent xmlns:mc="http://schemas.openxmlformats.org/markup-compatibility/2006">
              <mc:Choice xmlns:v="urn:schemas-microsoft-com:vml" Requires="v">
                <p:oleObj spid="_x0000_s285703" name="Équation" r:id="rId4" imgW="622030" imgH="342751" progId="Equation.3">
                  <p:embed/>
                </p:oleObj>
              </mc:Choice>
              <mc:Fallback>
                <p:oleObj name="Équation" r:id="rId4" imgW="622030" imgH="34275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3" y="5327650"/>
                        <a:ext cx="14525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0725" name="Rectangle 1033"/>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0726"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557439A-4800-402C-9EBF-5686398F276B}" type="slidenum">
              <a:rPr lang="en-US" altLang="fr-FR" sz="1000">
                <a:solidFill>
                  <a:srgbClr val="292929"/>
                </a:solidFill>
                <a:latin typeface="Arial" panose="020B0604020202020204" pitchFamily="34" charset="0"/>
              </a:rPr>
              <a:pPr>
                <a:spcBef>
                  <a:spcPct val="0"/>
                </a:spcBef>
                <a:buClrTx/>
                <a:buSzTx/>
                <a:buFontTx/>
                <a:buNone/>
              </a:pPr>
              <a:t>11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50300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33"/>
          <p:cNvSpPr txBox="1">
            <a:spLocks noChangeArrowheads="1"/>
          </p:cNvSpPr>
          <p:nvPr/>
        </p:nvSpPr>
        <p:spPr bwMode="auto">
          <a:xfrm>
            <a:off x="1143000" y="533400"/>
            <a:ext cx="655320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Equation de la tension statorique:</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V</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R</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I</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j(2</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en-US" altLang="fr-FR" sz="2400">
                <a:latin typeface="Arial Narrow" panose="020B0606020202030204" pitchFamily="34" charset="0"/>
                <a:cs typeface="Times New Roman" panose="02020603050405020304" pitchFamily="18" charset="0"/>
              </a:rPr>
              <a:t>f)L</a:t>
            </a:r>
            <a:r>
              <a:rPr lang="en-US" altLang="fr-FR" sz="2400" baseline="-30000">
                <a:latin typeface="Arial Narrow" panose="020B0606020202030204" pitchFamily="34" charset="0"/>
                <a:cs typeface="Times New Roman" panose="02020603050405020304" pitchFamily="18" charset="0"/>
              </a:rPr>
              <a:t>ls</a:t>
            </a:r>
            <a:r>
              <a:rPr lang="en-US" altLang="fr-FR" sz="2400">
                <a:latin typeface="Arial Narrow" panose="020B0606020202030204" pitchFamily="34" charset="0"/>
                <a:cs typeface="Times New Roman" panose="02020603050405020304" pitchFamily="18" charset="0"/>
              </a:rPr>
              <a:t>I</a:t>
            </a:r>
            <a:r>
              <a:rPr lang="en-US" altLang="fr-FR" sz="2400" baseline="-25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E</a:t>
            </a:r>
            <a:r>
              <a:rPr lang="en-US" altLang="fr-FR" sz="2400" baseline="-30000">
                <a:latin typeface="Arial Narrow" panose="020B0606020202030204" pitchFamily="34" charset="0"/>
                <a:cs typeface="Times New Roman" panose="02020603050405020304" pitchFamily="18" charset="0"/>
              </a:rPr>
              <a:t>s</a:t>
            </a:r>
          </a:p>
          <a:p>
            <a:pPr eaLnBrk="1" hangingPunct="1">
              <a:spcBef>
                <a:spcPct val="0"/>
              </a:spcBef>
              <a:buClrTx/>
              <a:buSzTx/>
              <a:buFontTx/>
              <a:buNone/>
            </a:pPr>
            <a:endParaRPr lang="en-US" altLang="fr-FR" sz="2400" baseline="-30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E</a:t>
            </a:r>
            <a:r>
              <a:rPr lang="en-US" altLang="fr-FR" sz="2400" baseline="-25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fcem</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E</a:t>
            </a:r>
            <a:r>
              <a:rPr lang="en-US" altLang="fr-FR" sz="2400" baseline="-30000">
                <a:latin typeface="Arial Narrow" panose="020B0606020202030204" pitchFamily="34" charset="0"/>
                <a:cs typeface="Times New Roman" panose="02020603050405020304" pitchFamily="18" charset="0"/>
              </a:rPr>
              <a:t>s</a:t>
            </a:r>
            <a:r>
              <a:rPr lang="en-US" altLang="fr-FR" sz="2400">
                <a:latin typeface="Arial Narrow" panose="020B0606020202030204" pitchFamily="34" charset="0"/>
                <a:cs typeface="Times New Roman" panose="02020603050405020304" pitchFamily="18" charset="0"/>
              </a:rPr>
              <a:t> = k f </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en-US" altLang="fr-FR" sz="2400">
                <a:latin typeface="Arial Narrow" panose="020B0606020202030204" pitchFamily="34" charset="0"/>
              </a:rPr>
              <a:t> </a:t>
            </a:r>
          </a:p>
          <a:p>
            <a:pPr eaLnBrk="1" hangingPunct="1">
              <a:spcBef>
                <a:spcPct val="0"/>
              </a:spcBef>
              <a:buClrTx/>
              <a:buSzTx/>
              <a:buFontTx/>
              <a:buNone/>
            </a:pPr>
            <a:endParaRPr lang="en-US" altLang="fr-FR" sz="2400">
              <a:latin typeface="Arial Narrow" panose="020B0606020202030204" pitchFamily="34" charset="0"/>
            </a:endParaRPr>
          </a:p>
        </p:txBody>
      </p:sp>
      <p:sp>
        <p:nvSpPr>
          <p:cNvPr id="32771" name="Text Box 34"/>
          <p:cNvSpPr txBox="1">
            <a:spLocks noChangeArrowheads="1"/>
          </p:cNvSpPr>
          <p:nvPr/>
        </p:nvSpPr>
        <p:spPr bwMode="auto">
          <a:xfrm>
            <a:off x="1143000" y="3581400"/>
            <a:ext cx="73914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Equation de la tension rotorique:</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cs typeface="Times New Roman" panose="02020603050405020304" pitchFamily="18" charset="0"/>
              </a:rPr>
              <a:t>E</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 R</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I</a:t>
            </a:r>
            <a:r>
              <a:rPr lang="pt-BR" altLang="fr-FR" sz="2400" baseline="-25000">
                <a:latin typeface="Arial Narrow" panose="020B0606020202030204" pitchFamily="34" charset="0"/>
                <a:cs typeface="Times New Roman" panose="02020603050405020304" pitchFamily="18" charset="0"/>
              </a:rPr>
              <a:t>r</a:t>
            </a:r>
            <a:r>
              <a:rPr lang="pt-BR" altLang="fr-FR" sz="2400">
                <a:latin typeface="Arial Narrow" panose="020B0606020202030204" pitchFamily="34" charset="0"/>
                <a:cs typeface="Times New Roman" panose="02020603050405020304" pitchFamily="18" charset="0"/>
              </a:rPr>
              <a:t> + jg(2</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pt-BR" altLang="fr-FR" sz="2400">
                <a:latin typeface="Arial Narrow" panose="020B0606020202030204" pitchFamily="34" charset="0"/>
                <a:cs typeface="Times New Roman" panose="02020603050405020304" pitchFamily="18" charset="0"/>
              </a:rPr>
              <a:t>f)Ll</a:t>
            </a:r>
            <a:r>
              <a:rPr lang="pt-BR" altLang="fr-FR" sz="2400" baseline="-25000">
                <a:latin typeface="Arial Narrow" panose="020B0606020202030204" pitchFamily="34" charset="0"/>
                <a:cs typeface="Times New Roman" panose="02020603050405020304" pitchFamily="18" charset="0"/>
              </a:rPr>
              <a:t>r</a:t>
            </a: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rPr>
              <a:t>E</a:t>
            </a:r>
            <a:r>
              <a:rPr lang="pt-BR" altLang="fr-FR" sz="2400" baseline="-25000">
                <a:latin typeface="Arial Narrow" panose="020B0606020202030204" pitchFamily="34" charset="0"/>
              </a:rPr>
              <a:t>r</a:t>
            </a:r>
            <a:r>
              <a:rPr lang="pt-BR" altLang="fr-FR" sz="2400">
                <a:latin typeface="Arial Narrow" panose="020B0606020202030204" pitchFamily="34" charset="0"/>
              </a:rPr>
              <a:t> : fem induite au rotor</a:t>
            </a:r>
            <a:r>
              <a:rPr lang="en-US" altLang="fr-FR" sz="2400">
                <a:latin typeface="Arial Narrow" panose="020B0606020202030204" pitchFamily="34"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pt-BR" altLang="fr-FR" sz="2400">
                <a:latin typeface="Arial Narrow" panose="020B0606020202030204" pitchFamily="34" charset="0"/>
              </a:rPr>
              <a:t>E</a:t>
            </a:r>
            <a:r>
              <a:rPr lang="pt-BR" altLang="fr-FR" sz="2400" baseline="-25000">
                <a:latin typeface="Arial Narrow" panose="020B0606020202030204" pitchFamily="34" charset="0"/>
              </a:rPr>
              <a:t>r </a:t>
            </a:r>
            <a:r>
              <a:rPr lang="pt-BR" altLang="fr-FR" sz="2400">
                <a:latin typeface="Arial Narrow" panose="020B0606020202030204" pitchFamily="34" charset="0"/>
              </a:rPr>
              <a:t>/g = (R</a:t>
            </a:r>
            <a:r>
              <a:rPr lang="pt-BR" altLang="fr-FR" sz="2400" baseline="-25000">
                <a:latin typeface="Arial Narrow" panose="020B0606020202030204" pitchFamily="34" charset="0"/>
              </a:rPr>
              <a:t>r </a:t>
            </a:r>
            <a:r>
              <a:rPr lang="pt-BR" altLang="fr-FR" sz="2400">
                <a:latin typeface="Arial Narrow" panose="020B0606020202030204" pitchFamily="34" charset="0"/>
              </a:rPr>
              <a:t>/ g) I</a:t>
            </a:r>
            <a:r>
              <a:rPr lang="pt-BR" altLang="fr-FR" sz="2400" baseline="-25000">
                <a:latin typeface="Arial Narrow" panose="020B0606020202030204" pitchFamily="34" charset="0"/>
              </a:rPr>
              <a:t>r</a:t>
            </a:r>
            <a:r>
              <a:rPr lang="pt-BR" altLang="fr-FR" sz="2400">
                <a:latin typeface="Arial Narrow" panose="020B0606020202030204" pitchFamily="34" charset="0"/>
              </a:rPr>
              <a:t> + j(2</a:t>
            </a:r>
            <a:r>
              <a:rPr lang="en-US" altLang="fr-FR" sz="2400">
                <a:latin typeface="Arial Narrow" panose="020B0606020202030204" pitchFamily="34" charset="0"/>
                <a:sym typeface="Symbol" panose="05050102010706020507" pitchFamily="18" charset="2"/>
              </a:rPr>
              <a:t></a:t>
            </a:r>
            <a:r>
              <a:rPr lang="pt-BR" altLang="fr-FR" sz="2400">
                <a:latin typeface="Arial Narrow" panose="020B0606020202030204" pitchFamily="34" charset="0"/>
              </a:rPr>
              <a:t>f)Ll</a:t>
            </a:r>
            <a:r>
              <a:rPr lang="pt-BR" altLang="fr-FR" sz="2400" baseline="-25000">
                <a:latin typeface="Arial Narrow" panose="020B0606020202030204" pitchFamily="34" charset="0"/>
              </a:rPr>
              <a:t>r</a:t>
            </a:r>
            <a:r>
              <a:rPr lang="en-US" altLang="fr-FR" sz="2400">
                <a:latin typeface="Arial Narrow" panose="020B0606020202030204" pitchFamily="34" charset="0"/>
              </a:rPr>
              <a:t> </a:t>
            </a:r>
            <a:endParaRPr lang="en-US" altLang="fr-FR" sz="24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en-US" altLang="fr-FR" sz="2400">
                <a:latin typeface="Arial Narrow" panose="020B0606020202030204" pitchFamily="34" charset="0"/>
                <a:cs typeface="Times New Roman" panose="02020603050405020304" pitchFamily="18" charset="0"/>
              </a:rPr>
              <a:t>	</a:t>
            </a:r>
            <a:r>
              <a:rPr lang="en-US" altLang="fr-FR" sz="2400" baseline="-30000">
                <a:latin typeface="Bookman Old Style" panose="02050604050505020204" pitchFamily="18" charset="0"/>
                <a:cs typeface="Times New Roman" panose="02020603050405020304" pitchFamily="18" charset="0"/>
              </a:rPr>
              <a:t>	</a:t>
            </a:r>
            <a:r>
              <a:rPr lang="en-US" altLang="fr-FR" sz="2400">
                <a:latin typeface="Arial Narrow" panose="020B0606020202030204" pitchFamily="34" charset="0"/>
                <a:cs typeface="Times New Roman" panose="02020603050405020304" pitchFamily="18" charset="0"/>
              </a:rPr>
              <a:t> </a:t>
            </a:r>
          </a:p>
        </p:txBody>
      </p:sp>
      <p:sp>
        <p:nvSpPr>
          <p:cNvPr id="32772" name="Rectangle 35"/>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2773"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9E66B41-5486-4B7D-818D-C5BE13960634}" type="slidenum">
              <a:rPr lang="en-US" altLang="fr-FR" sz="1000">
                <a:solidFill>
                  <a:srgbClr val="292929"/>
                </a:solidFill>
                <a:latin typeface="Arial" panose="020B0604020202020204" pitchFamily="34" charset="0"/>
              </a:rPr>
              <a:pPr>
                <a:spcBef>
                  <a:spcPct val="0"/>
                </a:spcBef>
                <a:buClrTx/>
                <a:buSzTx/>
                <a:buFontTx/>
                <a:buNone/>
              </a:pPr>
              <a:t>12</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736859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7"/>
          <p:cNvPicPr>
            <a:picLocks noGrp="1" noChangeAspect="1" noChangeArrowheads="1"/>
          </p:cNvPicPr>
          <p:nvPr>
            <p:ph/>
          </p:nvPr>
        </p:nvPicPr>
        <p:blipFill>
          <a:blip r:embed="rId3">
            <a:grayscl/>
            <a:extLst>
              <a:ext uri="{28A0092B-C50C-407E-A947-70E740481C1C}">
                <a14:useLocalDpi xmlns:a14="http://schemas.microsoft.com/office/drawing/2010/main" val="0"/>
              </a:ext>
            </a:extLst>
          </a:blip>
          <a:srcRect/>
          <a:stretch>
            <a:fillRect/>
          </a:stretch>
        </p:blipFill>
        <p:spPr>
          <a:xfrm>
            <a:off x="914400" y="1447800"/>
            <a:ext cx="7239000" cy="1836738"/>
          </a:xfrm>
          <a:noFill/>
        </p:spPr>
      </p:pic>
      <p:sp>
        <p:nvSpPr>
          <p:cNvPr id="34819" name="Text Box 3"/>
          <p:cNvSpPr txBox="1">
            <a:spLocks noChangeArrowheads="1"/>
          </p:cNvSpPr>
          <p:nvPr/>
        </p:nvSpPr>
        <p:spPr bwMode="auto">
          <a:xfrm>
            <a:off x="2438400" y="457200"/>
            <a:ext cx="441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Circuit équivalent / phase</a:t>
            </a:r>
          </a:p>
        </p:txBody>
      </p:sp>
      <p:sp>
        <p:nvSpPr>
          <p:cNvPr id="34820" name="Text Box 10"/>
          <p:cNvSpPr txBox="1">
            <a:spLocks noChangeAspect="1" noChangeArrowheads="1"/>
          </p:cNvSpPr>
          <p:nvPr/>
        </p:nvSpPr>
        <p:spPr bwMode="auto">
          <a:xfrm>
            <a:off x="7162800" y="2286000"/>
            <a:ext cx="11239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34821" name="Text Box 6"/>
          <p:cNvSpPr txBox="1">
            <a:spLocks noChangeAspect="1" noChangeArrowheads="1"/>
          </p:cNvSpPr>
          <p:nvPr/>
        </p:nvSpPr>
        <p:spPr bwMode="auto">
          <a:xfrm>
            <a:off x="1219200" y="1600200"/>
            <a:ext cx="889000" cy="147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22" name="Text Box 7"/>
          <p:cNvSpPr txBox="1">
            <a:spLocks noChangeAspect="1" noChangeArrowheads="1"/>
          </p:cNvSpPr>
          <p:nvPr/>
        </p:nvSpPr>
        <p:spPr bwMode="auto">
          <a:xfrm>
            <a:off x="1752600" y="1143000"/>
            <a:ext cx="63182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34823" name="Text Box 8"/>
          <p:cNvSpPr txBox="1">
            <a:spLocks noChangeAspect="1" noChangeArrowheads="1"/>
          </p:cNvSpPr>
          <p:nvPr/>
        </p:nvSpPr>
        <p:spPr bwMode="auto">
          <a:xfrm>
            <a:off x="2667000" y="1066800"/>
            <a:ext cx="112395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34824" name="Text Box 9"/>
          <p:cNvSpPr txBox="1">
            <a:spLocks noChangeAspect="1" noChangeArrowheads="1"/>
          </p:cNvSpPr>
          <p:nvPr/>
        </p:nvSpPr>
        <p:spPr bwMode="auto">
          <a:xfrm>
            <a:off x="6781800" y="990600"/>
            <a:ext cx="1125538"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p>
        </p:txBody>
      </p:sp>
      <p:sp>
        <p:nvSpPr>
          <p:cNvPr id="34825" name="Text Box 13"/>
          <p:cNvSpPr txBox="1">
            <a:spLocks noChangeAspect="1" noChangeArrowheads="1"/>
          </p:cNvSpPr>
          <p:nvPr/>
        </p:nvSpPr>
        <p:spPr bwMode="auto">
          <a:xfrm>
            <a:off x="4800600" y="1600200"/>
            <a:ext cx="719138"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26" name="Line 14"/>
          <p:cNvSpPr>
            <a:spLocks noChangeAspect="1" noChangeShapeType="1"/>
          </p:cNvSpPr>
          <p:nvPr/>
        </p:nvSpPr>
        <p:spPr bwMode="auto">
          <a:xfrm flipV="1">
            <a:off x="3124200" y="1828800"/>
            <a:ext cx="38893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27" name="Text Box 15"/>
          <p:cNvSpPr txBox="1">
            <a:spLocks noChangeAspect="1" noChangeArrowheads="1"/>
          </p:cNvSpPr>
          <p:nvPr/>
        </p:nvSpPr>
        <p:spPr bwMode="auto">
          <a:xfrm>
            <a:off x="3200400" y="1752600"/>
            <a:ext cx="736600"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34828" name="Text Box 16"/>
          <p:cNvSpPr txBox="1">
            <a:spLocks noChangeAspect="1" noChangeArrowheads="1"/>
          </p:cNvSpPr>
          <p:nvPr/>
        </p:nvSpPr>
        <p:spPr bwMode="auto">
          <a:xfrm>
            <a:off x="7772400" y="1047750"/>
            <a:ext cx="6762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endParaRPr lang="en-US" altLang="fr-FR" sz="2400">
              <a:latin typeface="Arial Narrow" panose="020B0606020202030204" pitchFamily="34" charset="0"/>
            </a:endParaRPr>
          </a:p>
        </p:txBody>
      </p:sp>
      <p:sp>
        <p:nvSpPr>
          <p:cNvPr id="34829" name="Line 17"/>
          <p:cNvSpPr>
            <a:spLocks noChangeAspect="1" noChangeShapeType="1"/>
          </p:cNvSpPr>
          <p:nvPr/>
        </p:nvSpPr>
        <p:spPr bwMode="auto">
          <a:xfrm>
            <a:off x="7696200" y="1524000"/>
            <a:ext cx="3857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30" name="Line 18"/>
          <p:cNvSpPr>
            <a:spLocks noChangeAspect="1" noChangeShapeType="1"/>
          </p:cNvSpPr>
          <p:nvPr/>
        </p:nvSpPr>
        <p:spPr bwMode="auto">
          <a:xfrm>
            <a:off x="4114800" y="2514600"/>
            <a:ext cx="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4831" name="Text Box 19"/>
          <p:cNvSpPr txBox="1">
            <a:spLocks noChangeAspect="1" noChangeArrowheads="1"/>
          </p:cNvSpPr>
          <p:nvPr/>
        </p:nvSpPr>
        <p:spPr bwMode="auto">
          <a:xfrm>
            <a:off x="3733800" y="2514600"/>
            <a:ext cx="7620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34832" name="Text Box 20"/>
          <p:cNvSpPr txBox="1">
            <a:spLocks noChangeAspect="1" noChangeArrowheads="1"/>
          </p:cNvSpPr>
          <p:nvPr/>
        </p:nvSpPr>
        <p:spPr bwMode="auto">
          <a:xfrm>
            <a:off x="4419600" y="2325688"/>
            <a:ext cx="1123950" cy="72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sp>
        <p:nvSpPr>
          <p:cNvPr id="34833" name="Text Box 22"/>
          <p:cNvSpPr txBox="1">
            <a:spLocks noChangeArrowheads="1"/>
          </p:cNvSpPr>
          <p:nvPr/>
        </p:nvSpPr>
        <p:spPr bwMode="auto">
          <a:xfrm>
            <a:off x="1203325" y="3905250"/>
            <a:ext cx="3852863"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30000">
                <a:latin typeface="Arial Narrow" panose="020B0606020202030204" pitchFamily="34" charset="0"/>
                <a:cs typeface="Times New Roman" panose="02020603050405020304" pitchFamily="18" charset="0"/>
              </a:rPr>
              <a:t>s</a:t>
            </a:r>
            <a:r>
              <a:rPr lang="pt-BR" altLang="fr-FR" sz="2000">
                <a:latin typeface="Arial Narrow" panose="020B0606020202030204" pitchFamily="34" charset="0"/>
                <a:cs typeface="Times New Roman" panose="02020603050405020304" pitchFamily="18" charset="0"/>
              </a:rPr>
              <a:t> :	résistance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30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résistance rotorique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ls</a:t>
            </a:r>
            <a:r>
              <a:rPr lang="pt-BR" altLang="fr-FR" sz="2000">
                <a:latin typeface="Arial Narrow" panose="020B0606020202030204" pitchFamily="34" charset="0"/>
                <a:cs typeface="Times New Roman" panose="02020603050405020304" pitchFamily="18" charset="0"/>
              </a:rPr>
              <a:t> :	inductance de fuite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lr</a:t>
            </a:r>
            <a:r>
              <a:rPr lang="pt-BR" altLang="fr-FR" sz="2000">
                <a:latin typeface="Arial Narrow" panose="020B0606020202030204" pitchFamily="34" charset="0"/>
                <a:cs typeface="Times New Roman" panose="02020603050405020304" pitchFamily="18" charset="0"/>
              </a:rPr>
              <a:t> :	inductance de fuite rotorique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m</a:t>
            </a:r>
            <a:r>
              <a:rPr lang="pt-BR" altLang="fr-FR" sz="2000">
                <a:latin typeface="Arial Narrow" panose="020B0606020202030204" pitchFamily="34" charset="0"/>
                <a:cs typeface="Times New Roman" panose="02020603050405020304" pitchFamily="18" charset="0"/>
              </a:rPr>
              <a:t> :	inductance mutuelle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g :	glissement</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endParaRPr lang="en-US" altLang="fr-FR" sz="2000">
              <a:latin typeface="Arial Narrow" panose="020B0606020202030204" pitchFamily="34" charset="0"/>
            </a:endParaRPr>
          </a:p>
        </p:txBody>
      </p:sp>
      <p:sp>
        <p:nvSpPr>
          <p:cNvPr id="34834" name="Rectangle 26"/>
          <p:cNvSpPr>
            <a:spLocks noChangeArrowheads="1"/>
          </p:cNvSpPr>
          <p:nvPr/>
        </p:nvSpPr>
        <p:spPr bwMode="auto">
          <a:xfrm>
            <a:off x="300038"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4835" name="Text Box 29"/>
          <p:cNvSpPr txBox="1">
            <a:spLocks noChangeAspect="1" noChangeArrowheads="1"/>
          </p:cNvSpPr>
          <p:nvPr/>
        </p:nvSpPr>
        <p:spPr bwMode="auto">
          <a:xfrm>
            <a:off x="6062663" y="1600200"/>
            <a:ext cx="719137" cy="142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r</a:t>
            </a:r>
            <a:r>
              <a:rPr lang="en-US" altLang="fr-FR" sz="2000">
                <a:latin typeface="Arial Narrow" panose="020B0606020202030204" pitchFamily="34" charset="0"/>
              </a:rPr>
              <a:t>/g</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4836"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6D0350-F391-470F-8A5B-0B21C57749EA}" type="slidenum">
              <a:rPr lang="en-US" altLang="fr-FR" sz="1000">
                <a:solidFill>
                  <a:srgbClr val="292929"/>
                </a:solidFill>
                <a:latin typeface="Arial" panose="020B0604020202020204" pitchFamily="34" charset="0"/>
              </a:rPr>
              <a:pPr>
                <a:spcBef>
                  <a:spcPct val="0"/>
                </a:spcBef>
                <a:buClrTx/>
                <a:buSzTx/>
                <a:buFontTx/>
                <a:buNone/>
              </a:pPr>
              <a:t>13</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65687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1044"/>
          <p:cNvSpPr txBox="1">
            <a:spLocks noChangeArrowheads="1"/>
          </p:cNvSpPr>
          <p:nvPr/>
        </p:nvSpPr>
        <p:spPr bwMode="auto">
          <a:xfrm>
            <a:off x="976313" y="533400"/>
            <a:ext cx="65532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E</a:t>
            </a:r>
            <a:r>
              <a:rPr lang="en-US" altLang="fr-FR" sz="2000" baseline="-25000">
                <a:latin typeface="Arial" panose="020B0604020202020204" pitchFamily="34" charset="0"/>
                <a:cs typeface="Arial" panose="020B0604020202020204" pitchFamily="34" charset="0"/>
              </a:rPr>
              <a:t>s</a:t>
            </a:r>
            <a:r>
              <a:rPr lang="en-US" altLang="fr-FR" sz="2000">
                <a:latin typeface="Arial" panose="020B0604020202020204" pitchFamily="34" charset="0"/>
                <a:cs typeface="Arial" panose="020B0604020202020204" pitchFamily="34" charset="0"/>
              </a:rPr>
              <a:t> et E</a:t>
            </a:r>
            <a:r>
              <a:rPr lang="en-US" altLang="fr-FR" sz="2000" baseline="-25000">
                <a:latin typeface="Arial" panose="020B0604020202020204" pitchFamily="34" charset="0"/>
                <a:cs typeface="Arial" panose="020B0604020202020204" pitchFamily="34" charset="0"/>
              </a:rPr>
              <a:t>r</a:t>
            </a:r>
            <a:r>
              <a:rPr lang="en-US" altLang="fr-FR" sz="2000">
                <a:latin typeface="Arial" panose="020B0604020202020204" pitchFamily="34" charset="0"/>
                <a:cs typeface="Arial" panose="020B0604020202020204" pitchFamily="34" charset="0"/>
              </a:rPr>
              <a:t> sont liés par :</a:t>
            </a: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p>
          <a:p>
            <a:pPr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p:txBody>
      </p:sp>
      <p:sp>
        <p:nvSpPr>
          <p:cNvPr id="36867" name="Text Box 1045"/>
          <p:cNvSpPr txBox="1">
            <a:spLocks noChangeArrowheads="1"/>
          </p:cNvSpPr>
          <p:nvPr/>
        </p:nvSpPr>
        <p:spPr bwMode="auto">
          <a:xfrm>
            <a:off x="1066800" y="4419600"/>
            <a:ext cx="7391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en-US" altLang="fr-FR" sz="2000">
                <a:latin typeface="Arial" panose="020B0604020202020204" pitchFamily="34" charset="0"/>
                <a:cs typeface="Arial" panose="020B0604020202020204" pitchFamily="34" charset="0"/>
              </a:rPr>
              <a:t> L’équation de la tension rotorique devient:</a:t>
            </a:r>
          </a:p>
          <a:p>
            <a:pPr eaLnBrk="1" hangingPunct="1">
              <a:spcBef>
                <a:spcPct val="0"/>
              </a:spcBef>
              <a:buClrTx/>
              <a:buSzTx/>
              <a:buFont typeface="Symbol" panose="05050102010706020507" pitchFamily="18" charset="2"/>
              <a:buNone/>
            </a:pP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pt-BR" altLang="fr-FR" sz="2000">
                <a:latin typeface="Arial" panose="020B0604020202020204" pitchFamily="34" charset="0"/>
                <a:cs typeface="Arial" panose="020B0604020202020204" pitchFamily="34" charset="0"/>
              </a:rPr>
              <a:t>E</a:t>
            </a:r>
            <a:r>
              <a:rPr lang="pt-BR" altLang="fr-FR" sz="2000" baseline="-25000">
                <a:latin typeface="Arial" panose="020B0604020202020204" pitchFamily="34" charset="0"/>
                <a:cs typeface="Arial" panose="020B0604020202020204" pitchFamily="34" charset="0"/>
              </a:rPr>
              <a:t>s</a:t>
            </a:r>
            <a:r>
              <a:rPr lang="pt-BR" altLang="fr-FR" sz="2000">
                <a:latin typeface="Arial" panose="020B0604020202020204" pitchFamily="34" charset="0"/>
                <a:cs typeface="Arial" panose="020B0604020202020204" pitchFamily="34" charset="0"/>
              </a:rPr>
              <a:t> = (R</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 / g) I</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 + j(2</a:t>
            </a:r>
            <a:r>
              <a:rPr lang="en-US" altLang="fr-FR" sz="2000">
                <a:latin typeface="Arial" panose="020B0604020202020204" pitchFamily="34" charset="0"/>
                <a:cs typeface="Arial" panose="020B0604020202020204" pitchFamily="34" charset="0"/>
                <a:sym typeface="Symbol" panose="05050102010706020507" pitchFamily="18" charset="2"/>
              </a:rPr>
              <a:t></a:t>
            </a:r>
            <a:r>
              <a:rPr lang="pt-BR" altLang="fr-FR" sz="2000">
                <a:latin typeface="Arial" panose="020B0604020202020204" pitchFamily="34" charset="0"/>
                <a:cs typeface="Arial" panose="020B0604020202020204" pitchFamily="34" charset="0"/>
              </a:rPr>
              <a:t>f)L</a:t>
            </a:r>
            <a:r>
              <a:rPr lang="pt-BR" altLang="fr-FR" sz="2000" baseline="-25000">
                <a:latin typeface="Arial" panose="020B0604020202020204" pitchFamily="34" charset="0"/>
                <a:cs typeface="Arial" panose="020B0604020202020204" pitchFamily="34" charset="0"/>
              </a:rPr>
              <a:t>lr</a:t>
            </a:r>
            <a:r>
              <a:rPr lang="pt-BR" altLang="fr-FR" sz="2000">
                <a:latin typeface="Arial" panose="020B0604020202020204" pitchFamily="34" charset="0"/>
                <a:cs typeface="Arial" panose="020B0604020202020204" pitchFamily="34" charset="0"/>
              </a:rPr>
              <a:t>’ I</a:t>
            </a:r>
            <a:r>
              <a:rPr lang="pt-BR" altLang="fr-FR" sz="2000" baseline="-25000">
                <a:latin typeface="Arial" panose="020B0604020202020204" pitchFamily="34" charset="0"/>
                <a:cs typeface="Arial" panose="020B0604020202020204" pitchFamily="34" charset="0"/>
              </a:rPr>
              <a:t>r</a:t>
            </a:r>
            <a:r>
              <a:rPr lang="pt-BR" altLang="fr-FR" sz="2000">
                <a:latin typeface="Arial" panose="020B0604020202020204" pitchFamily="34" charset="0"/>
                <a:cs typeface="Arial" panose="020B0604020202020204" pitchFamily="34" charset="0"/>
              </a:rPr>
              <a:t>’</a:t>
            </a:r>
            <a:r>
              <a:rPr lang="en-US" altLang="fr-FR" sz="2000">
                <a:latin typeface="Arial" panose="020B0604020202020204" pitchFamily="34" charset="0"/>
                <a:cs typeface="Arial" panose="020B0604020202020204" pitchFamily="34" charset="0"/>
              </a:rPr>
              <a:t> </a:t>
            </a: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en-US" altLang="fr-FR" sz="2000" baseline="-30000">
                <a:latin typeface="Arial" panose="020B0604020202020204" pitchFamily="34" charset="0"/>
                <a:cs typeface="Arial" panose="020B0604020202020204" pitchFamily="34" charset="0"/>
              </a:rPr>
              <a:t>	</a:t>
            </a:r>
            <a:r>
              <a:rPr lang="en-US" altLang="fr-FR" sz="2000">
                <a:latin typeface="Arial" panose="020B0604020202020204" pitchFamily="34" charset="0"/>
                <a:cs typeface="Arial" panose="020B0604020202020204" pitchFamily="34" charset="0"/>
              </a:rPr>
              <a:t> </a:t>
            </a:r>
          </a:p>
        </p:txBody>
      </p:sp>
      <p:sp>
        <p:nvSpPr>
          <p:cNvPr id="36868" name="Rectangle 104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36869" name="Object 1047"/>
          <p:cNvGraphicFramePr>
            <a:graphicFrameLocks noGrp="1" noChangeAspect="1"/>
          </p:cNvGraphicFramePr>
          <p:nvPr>
            <p:ph/>
          </p:nvPr>
        </p:nvGraphicFramePr>
        <p:xfrm>
          <a:off x="2919413" y="1695450"/>
          <a:ext cx="941387" cy="769938"/>
        </p:xfrm>
        <a:graphic>
          <a:graphicData uri="http://schemas.openxmlformats.org/presentationml/2006/ole">
            <mc:AlternateContent xmlns:mc="http://schemas.openxmlformats.org/markup-compatibility/2006">
              <mc:Choice xmlns:v="urn:schemas-microsoft-com:vml" Requires="v">
                <p:oleObj spid="_x0000_s286732" name="Équation" r:id="rId4" imgW="418918" imgH="342751" progId="Equation.3">
                  <p:embed/>
                </p:oleObj>
              </mc:Choice>
              <mc:Fallback>
                <p:oleObj name="Équation" r:id="rId4" imgW="418918" imgH="34275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9413" y="1695450"/>
                        <a:ext cx="941387" cy="769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Text Box 1049"/>
          <p:cNvSpPr txBox="1">
            <a:spLocks noChangeArrowheads="1"/>
          </p:cNvSpPr>
          <p:nvPr/>
        </p:nvSpPr>
        <p:spPr bwMode="auto">
          <a:xfrm>
            <a:off x="4495800" y="1676400"/>
            <a:ext cx="420211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a:latin typeface="Arial" panose="020B0604020202020204" pitchFamily="34" charset="0"/>
                <a:cs typeface="Arial" panose="020B0604020202020204" pitchFamily="34" charset="0"/>
              </a:rPr>
              <a:t>Où </a:t>
            </a:r>
            <a:r>
              <a:rPr lang="en-US" altLang="fr-FR" sz="1800" b="1">
                <a:latin typeface="Arial" panose="020B0604020202020204" pitchFamily="34" charset="0"/>
                <a:cs typeface="Arial" panose="020B0604020202020204" pitchFamily="34" charset="0"/>
              </a:rPr>
              <a:t>a</a:t>
            </a:r>
            <a:r>
              <a:rPr lang="en-US" altLang="fr-FR" sz="1800">
                <a:latin typeface="Arial" panose="020B0604020202020204" pitchFamily="34" charset="0"/>
                <a:cs typeface="Arial" panose="020B0604020202020204" pitchFamily="34" charset="0"/>
              </a:rPr>
              <a:t> est le rapport de nombres de spires statorique et rotorique.</a:t>
            </a:r>
          </a:p>
          <a:p>
            <a:pPr algn="just" eaLnBrk="1" hangingPunct="1">
              <a:spcBef>
                <a:spcPct val="0"/>
              </a:spcBef>
              <a:buClrTx/>
              <a:buSzTx/>
              <a:buFontTx/>
              <a:buNone/>
            </a:pPr>
            <a:endParaRPr lang="en-US" altLang="fr-FR" sz="2000">
              <a:latin typeface="Arial" panose="020B0604020202020204" pitchFamily="34" charset="0"/>
              <a:cs typeface="Arial" panose="020B0604020202020204" pitchFamily="34" charset="0"/>
            </a:endParaRPr>
          </a:p>
        </p:txBody>
      </p:sp>
      <p:sp>
        <p:nvSpPr>
          <p:cNvPr id="36871" name="Text Box 1050"/>
          <p:cNvSpPr txBox="1">
            <a:spLocks noChangeArrowheads="1"/>
          </p:cNvSpPr>
          <p:nvPr/>
        </p:nvSpPr>
        <p:spPr bwMode="auto">
          <a:xfrm>
            <a:off x="990600" y="2667000"/>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000">
                <a:latin typeface="Arial" panose="020B0604020202020204" pitchFamily="34" charset="0"/>
                <a:cs typeface="Arial" panose="020B0604020202020204" pitchFamily="34" charset="0"/>
                <a:sym typeface="Symbol" panose="05050102010706020507" pitchFamily="18" charset="2"/>
              </a:rPr>
              <a:t>Les paramètres du rotor ramenés au stator sont:</a:t>
            </a:r>
            <a:endParaRPr lang="en-US" altLang="fr-FR" sz="2000">
              <a:latin typeface="Arial" panose="020B0604020202020204" pitchFamily="34" charset="0"/>
              <a:cs typeface="Arial" panose="020B0604020202020204" pitchFamily="34" charset="0"/>
            </a:endParaRPr>
          </a:p>
          <a:p>
            <a:pPr eaLnBrk="1" hangingPunct="1">
              <a:spcBef>
                <a:spcPct val="0"/>
              </a:spcBef>
              <a:buClrTx/>
              <a:buSzTx/>
              <a:buFontTx/>
              <a:buNone/>
            </a:pPr>
            <a:r>
              <a:rPr lang="en-US" altLang="fr-FR" sz="2000">
                <a:latin typeface="Arial" panose="020B0604020202020204" pitchFamily="34" charset="0"/>
                <a:cs typeface="Arial" panose="020B0604020202020204" pitchFamily="34" charset="0"/>
              </a:rPr>
              <a:t>		</a:t>
            </a:r>
            <a:r>
              <a:rPr lang="en-US" altLang="fr-FR" sz="2000" baseline="-30000">
                <a:latin typeface="Arial" panose="020B0604020202020204" pitchFamily="34" charset="0"/>
                <a:cs typeface="Arial" panose="020B0604020202020204" pitchFamily="34" charset="0"/>
              </a:rPr>
              <a:t>	</a:t>
            </a:r>
            <a:r>
              <a:rPr lang="en-US" altLang="fr-FR" sz="2000">
                <a:latin typeface="Arial" panose="020B0604020202020204" pitchFamily="34" charset="0"/>
                <a:cs typeface="Arial" panose="020B0604020202020204" pitchFamily="34" charset="0"/>
              </a:rPr>
              <a:t> </a:t>
            </a:r>
          </a:p>
        </p:txBody>
      </p:sp>
      <p:graphicFrame>
        <p:nvGraphicFramePr>
          <p:cNvPr id="36872" name="Object 1051"/>
          <p:cNvGraphicFramePr>
            <a:graphicFrameLocks noChangeAspect="1"/>
          </p:cNvGraphicFramePr>
          <p:nvPr/>
        </p:nvGraphicFramePr>
        <p:xfrm>
          <a:off x="2014538" y="3429000"/>
          <a:ext cx="4054475" cy="866775"/>
        </p:xfrm>
        <a:graphic>
          <a:graphicData uri="http://schemas.openxmlformats.org/presentationml/2006/ole">
            <mc:AlternateContent xmlns:mc="http://schemas.openxmlformats.org/markup-compatibility/2006">
              <mc:Choice xmlns:v="urn:schemas-microsoft-com:vml" Requires="v">
                <p:oleObj spid="_x0000_s286733" name="Equation" r:id="rId6" imgW="1663700" imgH="355600" progId="Equation.3">
                  <p:embed/>
                </p:oleObj>
              </mc:Choice>
              <mc:Fallback>
                <p:oleObj name="Equation" r:id="rId6" imgW="1663700" imgH="355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4538" y="3429000"/>
                        <a:ext cx="4054475"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3"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32E7EB8-8771-4B22-8F5A-D64D99D58A57}" type="slidenum">
              <a:rPr lang="en-US" altLang="fr-FR" sz="1000">
                <a:solidFill>
                  <a:srgbClr val="292929"/>
                </a:solidFill>
                <a:latin typeface="Arial" panose="020B0604020202020204" pitchFamily="34" charset="0"/>
              </a:rPr>
              <a:pPr>
                <a:spcBef>
                  <a:spcPct val="0"/>
                </a:spcBef>
                <a:buClrTx/>
                <a:buSzTx/>
                <a:buFontTx/>
                <a:buNone/>
              </a:pPr>
              <a:t>14</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1764964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052638" y="457200"/>
            <a:ext cx="57118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Circuit équivalent  / phase ramené au stator</a:t>
            </a:r>
          </a:p>
        </p:txBody>
      </p:sp>
      <p:grpSp>
        <p:nvGrpSpPr>
          <p:cNvPr id="38915" name="Group 3"/>
          <p:cNvGrpSpPr>
            <a:grpSpLocks/>
          </p:cNvGrpSpPr>
          <p:nvPr/>
        </p:nvGrpSpPr>
        <p:grpSpPr bwMode="auto">
          <a:xfrm>
            <a:off x="1219200" y="1219200"/>
            <a:ext cx="7600950" cy="2584450"/>
            <a:chOff x="768" y="768"/>
            <a:chExt cx="4788" cy="1628"/>
          </a:xfrm>
        </p:grpSpPr>
        <p:pic>
          <p:nvPicPr>
            <p:cNvPr id="38920" name="Picture 4"/>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1" name="Text Box 5"/>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38922" name="Text Box 6"/>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8923" name="Text Box 7"/>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38924" name="Text Box 8"/>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38925" name="Text Box 9"/>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38926" name="Text Box 10"/>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38927" name="Line 11"/>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28" name="Text Box 12"/>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38929" name="Text Box 13"/>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38930" name="Line 14"/>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31" name="Line 15"/>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8932" name="Text Box 16"/>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38933" name="Text Box 17"/>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38916" name="Text Box 18"/>
          <p:cNvSpPr txBox="1">
            <a:spLocks noChangeArrowheads="1"/>
          </p:cNvSpPr>
          <p:nvPr/>
        </p:nvSpPr>
        <p:spPr bwMode="auto">
          <a:xfrm>
            <a:off x="1203325" y="3905250"/>
            <a:ext cx="74945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25000">
                <a:latin typeface="Arial Narrow" panose="020B0606020202030204" pitchFamily="34" charset="0"/>
                <a:cs typeface="Times New Roman" panose="02020603050405020304" pitchFamily="18" charset="0"/>
              </a:rPr>
              <a:t>s</a:t>
            </a:r>
            <a:r>
              <a:rPr lang="pt-BR" altLang="fr-FR" sz="2000">
                <a:latin typeface="Arial Narrow" panose="020B0606020202030204" pitchFamily="34" charset="0"/>
                <a:cs typeface="Times New Roman" panose="02020603050405020304" pitchFamily="18" charset="0"/>
              </a:rPr>
              <a:t> :	Résistance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R</a:t>
            </a:r>
            <a:r>
              <a:rPr lang="pt-BR" altLang="fr-FR" sz="2000" baseline="-25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Résistance rotorique ramenée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ls</a:t>
            </a:r>
            <a:r>
              <a:rPr lang="pt-BR" altLang="fr-FR" sz="2000">
                <a:latin typeface="Arial Narrow" panose="020B0606020202030204" pitchFamily="34" charset="0"/>
                <a:cs typeface="Times New Roman" panose="02020603050405020304" pitchFamily="18" charset="0"/>
              </a:rPr>
              <a:t> –	Inductance de fuite statorique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lr</a:t>
            </a:r>
            <a:r>
              <a:rPr lang="pt-BR" altLang="fr-FR" sz="2000">
                <a:latin typeface="Arial Narrow" panose="020B0606020202030204" pitchFamily="34" charset="0"/>
                <a:cs typeface="Times New Roman" panose="02020603050405020304" pitchFamily="18" charset="0"/>
              </a:rPr>
              <a:t>’ –	Inductance de fuite statorique ramenée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L</a:t>
            </a:r>
            <a:r>
              <a:rPr lang="pt-BR" altLang="fr-FR" sz="2000" baseline="-30000">
                <a:latin typeface="Arial Narrow" panose="020B0606020202030204" pitchFamily="34" charset="0"/>
                <a:cs typeface="Times New Roman" panose="02020603050405020304" pitchFamily="18" charset="0"/>
              </a:rPr>
              <a:t>m</a:t>
            </a:r>
            <a:r>
              <a:rPr lang="pt-BR" altLang="fr-FR" sz="2000">
                <a:latin typeface="Arial Narrow" panose="020B0606020202030204" pitchFamily="34" charset="0"/>
                <a:cs typeface="Times New Roman" panose="02020603050405020304" pitchFamily="18" charset="0"/>
              </a:rPr>
              <a:t> –	Inductance mutuelle</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I</a:t>
            </a:r>
            <a:r>
              <a:rPr lang="pt-BR" altLang="fr-FR" sz="2000" baseline="-25000">
                <a:latin typeface="Arial Narrow" panose="020B0606020202030204" pitchFamily="34" charset="0"/>
                <a:cs typeface="Times New Roman" panose="02020603050405020304" pitchFamily="18" charset="0"/>
              </a:rPr>
              <a:t>r</a:t>
            </a:r>
            <a:r>
              <a:rPr lang="pt-BR" altLang="fr-FR" sz="2000">
                <a:latin typeface="Arial Narrow" panose="020B0606020202030204" pitchFamily="34" charset="0"/>
                <a:cs typeface="Times New Roman" panose="02020603050405020304" pitchFamily="18" charset="0"/>
              </a:rPr>
              <a:t>’   –	Courant rotorique ramené au stator</a:t>
            </a:r>
            <a:endParaRPr lang="en-US" altLang="fr-FR" sz="2000">
              <a:latin typeface="Arial Narrow" panose="020B0606020202030204" pitchFamily="34" charset="0"/>
              <a:cs typeface="Times New Roman" panose="02020603050405020304" pitchFamily="18" charset="0"/>
            </a:endParaRPr>
          </a:p>
          <a:p>
            <a:pPr eaLnBrk="1" hangingPunct="1">
              <a:spcBef>
                <a:spcPct val="0"/>
              </a:spcBef>
              <a:buClrTx/>
              <a:buSzTx/>
              <a:buFontTx/>
              <a:buNone/>
            </a:pPr>
            <a:endParaRPr lang="en-US" altLang="fr-FR" sz="2000">
              <a:latin typeface="Arial Narrow" panose="020B0606020202030204" pitchFamily="34" charset="0"/>
            </a:endParaRPr>
          </a:p>
        </p:txBody>
      </p:sp>
      <p:sp>
        <p:nvSpPr>
          <p:cNvPr id="38917"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38918"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428B55A-DDD3-4EE8-8A11-589AA96C51FE}" type="slidenum">
              <a:rPr lang="en-US" altLang="fr-FR" sz="1000">
                <a:solidFill>
                  <a:srgbClr val="292929"/>
                </a:solidFill>
                <a:latin typeface="Arial" panose="020B0604020202020204" pitchFamily="34" charset="0"/>
              </a:rPr>
              <a:pPr>
                <a:spcBef>
                  <a:spcPct val="0"/>
                </a:spcBef>
                <a:buClrTx/>
                <a:buSzTx/>
                <a:buFontTx/>
                <a:buNone/>
              </a:pPr>
              <a:t>15</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5373354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701675" y="836613"/>
            <a:ext cx="78867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Pour donner des ordres de grandeur aux éléments du schéma équivalent, on les compare à l’impédance nominale. Le schéma est vu depuis une phase du stator. On prend donc comme référence l’</a:t>
            </a:r>
            <a:r>
              <a:rPr lang="fr-FR" altLang="fr-FR" sz="2000" i="1">
                <a:latin typeface="Arial Narrow" panose="020B0606020202030204" pitchFamily="34" charset="0"/>
              </a:rPr>
              <a:t>impédance nominale de phase du stator en [</a:t>
            </a:r>
            <a:r>
              <a:rPr lang="fr-FR" altLang="fr-FR" sz="2000" i="1">
                <a:latin typeface="GreekC" pitchFamily="2" charset="0"/>
                <a:ea typeface="GreekC" pitchFamily="2" charset="0"/>
                <a:cs typeface="GreekC" pitchFamily="2" charset="0"/>
              </a:rPr>
              <a:t>W</a:t>
            </a:r>
            <a:r>
              <a:rPr lang="fr-FR" altLang="fr-FR" sz="2000" i="1">
                <a:latin typeface="Arial Narrow" panose="020B0606020202030204" pitchFamily="34" charset="0"/>
              </a:rPr>
              <a:t>/phase] :</a:t>
            </a:r>
          </a:p>
          <a:p>
            <a:pPr algn="just" eaLnBrk="1" hangingPunct="1">
              <a:spcBef>
                <a:spcPct val="0"/>
              </a:spcBef>
              <a:buClrTx/>
              <a:buSzTx/>
              <a:buFontTx/>
              <a:buNone/>
            </a:pPr>
            <a:r>
              <a:rPr lang="fr-FR" altLang="fr-FR" sz="2000">
                <a:latin typeface="Arial Narrow" panose="020B0606020202030204" pitchFamily="34" charset="0"/>
              </a:rPr>
              <a:t>                                                             Z</a:t>
            </a:r>
            <a:r>
              <a:rPr lang="fr-FR" altLang="fr-FR" sz="2000" baseline="-25000">
                <a:latin typeface="Arial Narrow" panose="020B0606020202030204" pitchFamily="34" charset="0"/>
              </a:rPr>
              <a:t>N</a:t>
            </a:r>
            <a:r>
              <a:rPr lang="fr-FR" altLang="fr-FR" sz="2000">
                <a:latin typeface="Arial Narrow" panose="020B0606020202030204" pitchFamily="34" charset="0"/>
              </a:rPr>
              <a:t> = V</a:t>
            </a:r>
            <a:r>
              <a:rPr lang="fr-FR" altLang="fr-FR" sz="2000" baseline="-25000">
                <a:latin typeface="Arial Narrow" panose="020B0606020202030204" pitchFamily="34" charset="0"/>
              </a:rPr>
              <a:t>N</a:t>
            </a:r>
            <a:r>
              <a:rPr lang="fr-FR" altLang="fr-FR" sz="2000">
                <a:latin typeface="Arial Narrow" panose="020B0606020202030204" pitchFamily="34" charset="0"/>
              </a:rPr>
              <a:t>/I</a:t>
            </a:r>
            <a:r>
              <a:rPr lang="fr-FR" altLang="fr-FR" sz="2000" baseline="-25000">
                <a:latin typeface="Arial Narrow" panose="020B0606020202030204" pitchFamily="34" charset="0"/>
              </a:rPr>
              <a:t>N</a:t>
            </a:r>
          </a:p>
          <a:p>
            <a:pPr algn="just" eaLnBrk="1" hangingPunct="1">
              <a:spcBef>
                <a:spcPct val="0"/>
              </a:spcBef>
              <a:buClrTx/>
              <a:buSzTx/>
              <a:buFontTx/>
              <a:buNone/>
            </a:pPr>
            <a:endParaRPr lang="fr-FR" altLang="fr-FR" sz="2000" i="1">
              <a:latin typeface="Arial Narrow" panose="020B0606020202030204" pitchFamily="34" charset="0"/>
            </a:endParaRPr>
          </a:p>
          <a:p>
            <a:pPr algn="just" eaLnBrk="1" hangingPunct="1">
              <a:spcBef>
                <a:spcPct val="0"/>
              </a:spcBef>
              <a:buClrTx/>
              <a:buSzTx/>
              <a:buFontTx/>
              <a:buNone/>
            </a:pPr>
            <a:r>
              <a:rPr lang="fr-FR" altLang="fr-FR" sz="2000">
                <a:latin typeface="Arial Narrow" panose="020B0606020202030204" pitchFamily="34" charset="0"/>
              </a:rPr>
              <a:t>où V</a:t>
            </a:r>
            <a:r>
              <a:rPr lang="fr-FR" altLang="fr-FR" sz="2000" baseline="-25000">
                <a:latin typeface="Arial Narrow" panose="020B0606020202030204" pitchFamily="34" charset="0"/>
              </a:rPr>
              <a:t>N</a:t>
            </a:r>
            <a:r>
              <a:rPr lang="fr-FR" altLang="fr-FR" sz="2000">
                <a:latin typeface="Arial Narrow" panose="020B0606020202030204" pitchFamily="34" charset="0"/>
              </a:rPr>
              <a:t> et I</a:t>
            </a:r>
            <a:r>
              <a:rPr lang="fr-FR" altLang="fr-FR" sz="2000" baseline="-25000">
                <a:latin typeface="Arial Narrow" panose="020B0606020202030204" pitchFamily="34" charset="0"/>
              </a:rPr>
              <a:t>N</a:t>
            </a:r>
            <a:r>
              <a:rPr lang="fr-FR" altLang="fr-FR" sz="2000">
                <a:latin typeface="Arial Narrow" panose="020B0606020202030204" pitchFamily="34" charset="0"/>
              </a:rPr>
              <a:t> sont respectivement la tension et le courant de phase nominale du stator.</a:t>
            </a:r>
          </a:p>
        </p:txBody>
      </p:sp>
      <p:grpSp>
        <p:nvGrpSpPr>
          <p:cNvPr id="40963" name="Groupe 10"/>
          <p:cNvGrpSpPr>
            <a:grpSpLocks/>
          </p:cNvGrpSpPr>
          <p:nvPr/>
        </p:nvGrpSpPr>
        <p:grpSpPr bwMode="auto">
          <a:xfrm>
            <a:off x="2673350" y="3536950"/>
            <a:ext cx="4271963" cy="2411413"/>
            <a:chOff x="2855889" y="3538539"/>
            <a:chExt cx="4271855" cy="2412000"/>
          </a:xfrm>
        </p:grpSpPr>
        <p:pic>
          <p:nvPicPr>
            <p:cNvPr id="40968"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55889" y="3538539"/>
              <a:ext cx="4271855" cy="241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9" name="ZoneTexte 7"/>
            <p:cNvSpPr txBox="1">
              <a:spLocks noChangeArrowheads="1"/>
            </p:cNvSpPr>
            <p:nvPr/>
          </p:nvSpPr>
          <p:spPr bwMode="auto">
            <a:xfrm>
              <a:off x="3111480" y="4268799"/>
              <a:ext cx="1095390"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ls</a:t>
              </a:r>
              <a:r>
                <a:rPr lang="fr-FR" altLang="fr-FR" sz="2000" b="1">
                  <a:latin typeface="Arial Narrow" panose="020B0606020202030204" pitchFamily="34" charset="0"/>
                </a:rPr>
                <a:t> et X’</a:t>
              </a:r>
              <a:r>
                <a:rPr lang="fr-FR" altLang="fr-FR" sz="2000" b="1" baseline="-25000">
                  <a:latin typeface="Arial Narrow" panose="020B0606020202030204" pitchFamily="34" charset="0"/>
                </a:rPr>
                <a:t>ls</a:t>
              </a:r>
            </a:p>
          </p:txBody>
        </p:sp>
        <p:sp>
          <p:nvSpPr>
            <p:cNvPr id="40970" name="ZoneTexte 8"/>
            <p:cNvSpPr txBox="1">
              <a:spLocks noChangeArrowheads="1"/>
            </p:cNvSpPr>
            <p:nvPr/>
          </p:nvSpPr>
          <p:spPr bwMode="auto">
            <a:xfrm>
              <a:off x="3403584" y="4853007"/>
              <a:ext cx="547695"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m</a:t>
              </a:r>
              <a:r>
                <a:rPr lang="fr-FR" altLang="fr-FR" sz="2000" b="1">
                  <a:latin typeface="Arial Narrow" panose="020B0606020202030204" pitchFamily="34" charset="0"/>
                </a:rPr>
                <a:t> </a:t>
              </a:r>
              <a:endParaRPr lang="fr-FR" altLang="fr-FR" sz="2000" b="1" baseline="-25000">
                <a:latin typeface="Arial Narrow" panose="020B0606020202030204" pitchFamily="34" charset="0"/>
              </a:endParaRPr>
            </a:p>
          </p:txBody>
        </p:sp>
        <p:sp>
          <p:nvSpPr>
            <p:cNvPr id="40971" name="ZoneTexte 9"/>
            <p:cNvSpPr txBox="1">
              <a:spLocks noChangeArrowheads="1"/>
            </p:cNvSpPr>
            <p:nvPr/>
          </p:nvSpPr>
          <p:spPr bwMode="auto">
            <a:xfrm>
              <a:off x="5740416" y="5400702"/>
              <a:ext cx="547695" cy="40011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X</a:t>
              </a:r>
              <a:r>
                <a:rPr lang="fr-FR" altLang="fr-FR" sz="2000" b="1" baseline="-25000">
                  <a:latin typeface="Arial Narrow" panose="020B0606020202030204" pitchFamily="34" charset="0"/>
                </a:rPr>
                <a:t>m</a:t>
              </a:r>
              <a:r>
                <a:rPr lang="fr-FR" altLang="fr-FR" sz="2000" b="1">
                  <a:latin typeface="Arial Narrow" panose="020B0606020202030204" pitchFamily="34" charset="0"/>
                </a:rPr>
                <a:t> </a:t>
              </a:r>
              <a:endParaRPr lang="fr-FR" altLang="fr-FR" sz="2000" b="1" baseline="-25000">
                <a:latin typeface="Arial Narrow" panose="020B0606020202030204" pitchFamily="34" charset="0"/>
              </a:endParaRPr>
            </a:p>
          </p:txBody>
        </p:sp>
      </p:grpSp>
      <p:sp>
        <p:nvSpPr>
          <p:cNvPr id="40964"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0965" name="Rectangle 12"/>
          <p:cNvSpPr>
            <a:spLocks noChangeArrowheads="1"/>
          </p:cNvSpPr>
          <p:nvPr/>
        </p:nvSpPr>
        <p:spPr bwMode="auto">
          <a:xfrm>
            <a:off x="847725" y="288925"/>
            <a:ext cx="21447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Ordres de grandeur</a:t>
            </a:r>
            <a:endParaRPr lang="fr-FR" altLang="fr-FR" sz="2000">
              <a:latin typeface="Arial Narrow" panose="020B0606020202030204" pitchFamily="34" charset="0"/>
            </a:endParaRPr>
          </a:p>
        </p:txBody>
      </p:sp>
      <p:sp>
        <p:nvSpPr>
          <p:cNvPr id="40966"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39B0FE2-7DEF-441D-A224-72A862F2CE16}" type="slidenum">
              <a:rPr lang="en-US" altLang="fr-FR" sz="1000">
                <a:solidFill>
                  <a:srgbClr val="292929"/>
                </a:solidFill>
                <a:latin typeface="Arial" panose="020B0604020202020204" pitchFamily="34" charset="0"/>
              </a:rPr>
              <a:pPr>
                <a:spcBef>
                  <a:spcPct val="0"/>
                </a:spcBef>
                <a:buClrTx/>
                <a:buSzTx/>
                <a:buFontTx/>
                <a:buNone/>
              </a:pPr>
              <a:t>16</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887917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3"/>
          <p:cNvSpPr txBox="1">
            <a:spLocks noChangeArrowheads="1"/>
          </p:cNvSpPr>
          <p:nvPr/>
        </p:nvSpPr>
        <p:spPr bwMode="auto">
          <a:xfrm>
            <a:off x="3124200" y="381000"/>
            <a:ext cx="3748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Arial" panose="020B0604020202020204" pitchFamily="34" charset="0"/>
              </a:rPr>
              <a:t>Puissance et couple</a:t>
            </a:r>
          </a:p>
        </p:txBody>
      </p:sp>
      <p:sp>
        <p:nvSpPr>
          <p:cNvPr id="43011" name="Text Box 18"/>
          <p:cNvSpPr txBox="1">
            <a:spLocks noChangeArrowheads="1"/>
          </p:cNvSpPr>
          <p:nvPr/>
        </p:nvSpPr>
        <p:spPr bwMode="auto">
          <a:xfrm>
            <a:off x="898525" y="1184275"/>
            <a:ext cx="77628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cs typeface="Arial" panose="020B0604020202020204" pitchFamily="34" charset="0"/>
              </a:rPr>
              <a:t>La puissance est transmise du stator au rotor via l’entrefer</a:t>
            </a:r>
            <a:r>
              <a:rPr lang="en-US" altLang="fr-FR" sz="2000">
                <a:latin typeface="Arial Narrow" panose="020B0606020202030204" pitchFamily="34" charset="0"/>
                <a:cs typeface="Arial" panose="020B0604020202020204" pitchFamily="34" charset="0"/>
              </a:rPr>
              <a:t>: </a:t>
            </a:r>
          </a:p>
          <a:p>
            <a:pPr eaLnBrk="1" hangingPunct="1">
              <a:spcBef>
                <a:spcPct val="0"/>
              </a:spcBef>
              <a:buClrTx/>
              <a:buSzTx/>
              <a:buFontTx/>
              <a:buNone/>
            </a:pPr>
            <a:r>
              <a:rPr lang="en-US" altLang="fr-FR" sz="2000">
                <a:latin typeface="Arial Narrow" panose="020B0606020202030204" pitchFamily="34" charset="0"/>
                <a:cs typeface="Arial" panose="020B0604020202020204" pitchFamily="34" charset="0"/>
              </a:rPr>
              <a:t>appelée puissance de l’entrefer (ou puissance transmise).</a:t>
            </a:r>
          </a:p>
        </p:txBody>
      </p:sp>
      <p:graphicFrame>
        <p:nvGraphicFramePr>
          <p:cNvPr id="43012" name="Object 19"/>
          <p:cNvGraphicFramePr>
            <a:graphicFrameLocks noChangeAspect="1"/>
          </p:cNvGraphicFramePr>
          <p:nvPr/>
        </p:nvGraphicFramePr>
        <p:xfrm>
          <a:off x="1436688" y="2386013"/>
          <a:ext cx="5129212" cy="633412"/>
        </p:xfrm>
        <a:graphic>
          <a:graphicData uri="http://schemas.openxmlformats.org/presentationml/2006/ole">
            <mc:AlternateContent xmlns:mc="http://schemas.openxmlformats.org/markup-compatibility/2006">
              <mc:Choice xmlns:v="urn:schemas-microsoft-com:vml" Requires="v">
                <p:oleObj spid="_x0000_s287751" name="Équation" r:id="rId4" imgW="2324100" imgH="330200" progId="Equation.3">
                  <p:embed/>
                </p:oleObj>
              </mc:Choice>
              <mc:Fallback>
                <p:oleObj name="Équation" r:id="rId4" imgW="2324100" imgH="330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36688" y="2386013"/>
                        <a:ext cx="5129212" cy="63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3" name="Line 20"/>
          <p:cNvSpPr>
            <a:spLocks noChangeShapeType="1"/>
          </p:cNvSpPr>
          <p:nvPr/>
        </p:nvSpPr>
        <p:spPr bwMode="auto">
          <a:xfrm>
            <a:off x="3581400" y="30480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4" name="Line 21"/>
          <p:cNvSpPr>
            <a:spLocks noChangeShapeType="1"/>
          </p:cNvSpPr>
          <p:nvPr/>
        </p:nvSpPr>
        <p:spPr bwMode="auto">
          <a:xfrm flipH="1">
            <a:off x="3733800" y="3048000"/>
            <a:ext cx="30480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5" name="Line 22"/>
          <p:cNvSpPr>
            <a:spLocks noChangeShapeType="1"/>
          </p:cNvSpPr>
          <p:nvPr/>
        </p:nvSpPr>
        <p:spPr bwMode="auto">
          <a:xfrm>
            <a:off x="5257800" y="3048000"/>
            <a:ext cx="1371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6" name="Line 23"/>
          <p:cNvSpPr>
            <a:spLocks noChangeShapeType="1"/>
          </p:cNvSpPr>
          <p:nvPr/>
        </p:nvSpPr>
        <p:spPr bwMode="auto">
          <a:xfrm>
            <a:off x="5715000" y="3048000"/>
            <a:ext cx="15240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3017" name="Text Box 24"/>
          <p:cNvSpPr txBox="1">
            <a:spLocks noChangeArrowheads="1"/>
          </p:cNvSpPr>
          <p:nvPr/>
        </p:nvSpPr>
        <p:spPr bwMode="auto">
          <a:xfrm>
            <a:off x="2971800" y="4038600"/>
            <a:ext cx="18446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cs typeface="Arial" panose="020B0604020202020204" pitchFamily="34" charset="0"/>
              </a:rPr>
              <a:t>Pertes dans les enroulement rotorique</a:t>
            </a:r>
          </a:p>
        </p:txBody>
      </p:sp>
      <p:sp>
        <p:nvSpPr>
          <p:cNvPr id="43018" name="Text Box 25"/>
          <p:cNvSpPr txBox="1">
            <a:spLocks noChangeArrowheads="1"/>
          </p:cNvSpPr>
          <p:nvPr/>
        </p:nvSpPr>
        <p:spPr bwMode="auto">
          <a:xfrm>
            <a:off x="5029200" y="4114800"/>
            <a:ext cx="27924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en-US" altLang="fr-FR" sz="1800">
                <a:latin typeface="Arial" panose="020B0604020202020204" pitchFamily="34" charset="0"/>
                <a:cs typeface="Arial" panose="020B0604020202020204" pitchFamily="34" charset="0"/>
              </a:rPr>
              <a:t>Convertie en puissance mécanique = (1–g)P</a:t>
            </a:r>
            <a:r>
              <a:rPr lang="en-US" altLang="fr-FR" sz="1800" baseline="-25000">
                <a:latin typeface="Arial" panose="020B0604020202020204" pitchFamily="34" charset="0"/>
                <a:cs typeface="Arial" panose="020B0604020202020204" pitchFamily="34" charset="0"/>
              </a:rPr>
              <a:t>tr</a:t>
            </a:r>
            <a:endParaRPr lang="en-US" altLang="fr-FR" sz="1800">
              <a:latin typeface="Arial" panose="020B0604020202020204" pitchFamily="34" charset="0"/>
              <a:cs typeface="Arial" panose="020B0604020202020204" pitchFamily="34" charset="0"/>
            </a:endParaRPr>
          </a:p>
        </p:txBody>
      </p:sp>
      <p:sp>
        <p:nvSpPr>
          <p:cNvPr id="43019" name="Rectangle 2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3020" name="Rectangle 15"/>
          <p:cNvSpPr>
            <a:spLocks noChangeArrowheads="1"/>
          </p:cNvSpPr>
          <p:nvPr/>
        </p:nvSpPr>
        <p:spPr bwMode="auto">
          <a:xfrm>
            <a:off x="811213" y="5389563"/>
            <a:ext cx="78136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 rendement rotorique croît lorsque le glissement diminue, donc lorsque la vitesse augmente. Un moteur asynchrone n’est alors </a:t>
            </a:r>
            <a:r>
              <a:rPr lang="fr-FR" altLang="fr-FR" sz="1800" i="1">
                <a:latin typeface="Arial Narrow" panose="020B0606020202030204" pitchFamily="34" charset="0"/>
              </a:rPr>
              <a:t>intéressant d’un point de vue énergétique que pour les faibles glissements.</a:t>
            </a:r>
            <a:endParaRPr lang="fr-FR" altLang="fr-FR" sz="1800">
              <a:latin typeface="Arial Narrow" panose="020B0606020202030204" pitchFamily="34" charset="0"/>
            </a:endParaRPr>
          </a:p>
        </p:txBody>
      </p:sp>
      <p:sp>
        <p:nvSpPr>
          <p:cNvPr id="43021" name="Espace réservé du numéro de diapositive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E88B98C-3ED1-4EB3-B5F6-D17DA76FF9B2}" type="slidenum">
              <a:rPr lang="en-US" altLang="fr-FR" sz="1000">
                <a:solidFill>
                  <a:srgbClr val="292929"/>
                </a:solidFill>
                <a:latin typeface="Arial" panose="020B0604020202020204" pitchFamily="34" charset="0"/>
              </a:rPr>
              <a:pPr>
                <a:spcBef>
                  <a:spcPct val="0"/>
                </a:spcBef>
                <a:buClrTx/>
                <a:buSzTx/>
                <a:buFontTx/>
                <a:buNone/>
              </a:pPr>
              <a:t>17</a:t>
            </a:fld>
            <a:endParaRPr lang="en-US" altLang="fr-FR" sz="1000">
              <a:solidFill>
                <a:srgbClr val="292929"/>
              </a:solidFill>
              <a:latin typeface="Arial" panose="020B0604020202020204" pitchFamily="34" charset="0"/>
            </a:endParaRPr>
          </a:p>
        </p:txBody>
      </p:sp>
      <p:sp>
        <p:nvSpPr>
          <p:cNvPr id="17" name="Espace réservé du pied de page 16"/>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493694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5059" name="Rectangle 11"/>
          <p:cNvSpPr>
            <a:spLocks noChangeArrowheads="1"/>
          </p:cNvSpPr>
          <p:nvPr/>
        </p:nvSpPr>
        <p:spPr bwMode="auto">
          <a:xfrm>
            <a:off x="838200" y="982663"/>
            <a:ext cx="60198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pt-BR" altLang="fr-FR" sz="2000">
                <a:latin typeface="Arial Narrow" panose="020B0606020202030204" pitchFamily="34" charset="0"/>
                <a:cs typeface="Times New Roman" panose="02020603050405020304" pitchFamily="18" charset="0"/>
              </a:rPr>
              <a:t>Puissance mécanique,</a:t>
            </a:r>
            <a:r>
              <a:rPr lang="pt-BR" altLang="fr-FR" sz="2400">
                <a:latin typeface="Courier New" panose="02070309020205020404" pitchFamily="49" charset="0"/>
                <a:cs typeface="Times New Roman" panose="02020603050405020304" pitchFamily="18" charset="0"/>
              </a:rPr>
              <a:t> </a:t>
            </a:r>
            <a:r>
              <a:rPr lang="pt-BR" altLang="fr-FR" sz="2400">
                <a:latin typeface="Arial Narrow" panose="020B0606020202030204" pitchFamily="34" charset="0"/>
                <a:cs typeface="Times New Roman" panose="02020603050405020304" pitchFamily="18" charset="0"/>
              </a:rPr>
              <a:t>P</a:t>
            </a:r>
            <a:r>
              <a:rPr lang="pt-BR" altLang="fr-FR" sz="2400" baseline="-30000">
                <a:latin typeface="Arial Narrow" panose="020B0606020202030204" pitchFamily="34" charset="0"/>
                <a:cs typeface="Times New Roman" panose="02020603050405020304" pitchFamily="18" charset="0"/>
              </a:rPr>
              <a:t>m</a:t>
            </a:r>
            <a:r>
              <a:rPr lang="pt-BR" altLang="fr-FR" sz="2400">
                <a:latin typeface="Arial Narrow" panose="020B0606020202030204" pitchFamily="34" charset="0"/>
                <a:cs typeface="Times New Roman" panose="02020603050405020304" pitchFamily="18" charset="0"/>
              </a:rPr>
              <a:t> = T</a:t>
            </a:r>
            <a:r>
              <a:rPr lang="pt-BR" altLang="fr-FR" sz="2400" baseline="-30000">
                <a:latin typeface="Arial Narrow" panose="020B0606020202030204" pitchFamily="34" charset="0"/>
                <a:cs typeface="Times New Roman" panose="02020603050405020304" pitchFamily="18" charset="0"/>
              </a:rPr>
              <a:t>em</a:t>
            </a:r>
            <a:r>
              <a:rPr lang="pt-BR" altLang="fr-FR" sz="2400">
                <a:latin typeface="Arial Narrow" panose="020B0606020202030204" pitchFamily="34" charset="0"/>
                <a:cs typeface="Times New Roman" panose="02020603050405020304" pitchFamily="18" charset="0"/>
              </a:rPr>
              <a:t> </a:t>
            </a:r>
            <a:r>
              <a:rPr lang="en-US" altLang="fr-FR" sz="2400">
                <a:latin typeface="Arial Narrow" panose="020B0606020202030204" pitchFamily="34" charset="0"/>
                <a:cs typeface="Times New Roman" panose="02020603050405020304" pitchFamily="18" charset="0"/>
                <a:sym typeface="Symbol" panose="05050102010706020507" pitchFamily="18" charset="2"/>
              </a:rPr>
              <a:t></a:t>
            </a:r>
            <a:r>
              <a:rPr lang="pt-BR" altLang="fr-FR" sz="2400" baseline="-30000">
                <a:latin typeface="Arial Narrow" panose="020B0606020202030204" pitchFamily="34" charset="0"/>
                <a:cs typeface="Times New Roman" panose="02020603050405020304" pitchFamily="18" charset="0"/>
              </a:rPr>
              <a:t>r</a:t>
            </a:r>
            <a:endParaRPr lang="en-US" altLang="fr-FR" sz="2400">
              <a:latin typeface="Arial Narrow" panose="020B0606020202030204" pitchFamily="34" charset="0"/>
              <a:cs typeface="Times New Roman" panose="02020603050405020304" pitchFamily="18" charset="0"/>
              <a:sym typeface="Symbol" panose="05050102010706020507" pitchFamily="18" charset="2"/>
            </a:endParaRPr>
          </a:p>
          <a:p>
            <a:pPr>
              <a:spcBef>
                <a:spcPct val="0"/>
              </a:spcBef>
              <a:buClrTx/>
              <a:buSzTx/>
              <a:buFontTx/>
              <a:buNone/>
            </a:pPr>
            <a:endParaRPr lang="en-US" altLang="fr-FR" sz="2400">
              <a:latin typeface="Arial Narrow" panose="020B0606020202030204" pitchFamily="34" charset="0"/>
              <a:cs typeface="Times New Roman" panose="02020603050405020304" pitchFamily="18" charset="0"/>
              <a:sym typeface="Symbol" panose="05050102010706020507" pitchFamily="18" charset="2"/>
            </a:endParaRPr>
          </a:p>
        </p:txBody>
      </p:sp>
      <p:sp>
        <p:nvSpPr>
          <p:cNvPr id="45060" name="Rectangle 12"/>
          <p:cNvSpPr>
            <a:spLocks noChangeArrowheads="1"/>
          </p:cNvSpPr>
          <p:nvPr/>
        </p:nvSpPr>
        <p:spPr bwMode="auto">
          <a:xfrm>
            <a:off x="914400" y="1639888"/>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pt-BR" altLang="fr-FR" sz="2400">
                <a:latin typeface="Bookman Old Style" panose="02050604050505020204" pitchFamily="18" charset="0"/>
                <a:cs typeface="Times New Roman" panose="02020603050405020304" pitchFamily="18" charset="0"/>
                <a:sym typeface="Symbol" panose="05050102010706020507" pitchFamily="18" charset="2"/>
              </a:rPr>
              <a:t> </a:t>
            </a:r>
            <a:r>
              <a:rPr lang="pt-BR" altLang="fr-FR" sz="2000">
                <a:latin typeface="Arial Narrow" panose="020B0606020202030204" pitchFamily="34" charset="0"/>
                <a:cs typeface="Times New Roman" panose="02020603050405020304" pitchFamily="18" charset="0"/>
                <a:sym typeface="Symbol" panose="05050102010706020507" pitchFamily="18" charset="2"/>
              </a:rPr>
              <a:t>Mais,      g</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r</a:t>
            </a:r>
            <a:r>
              <a:rPr lang="pt-BR" altLang="fr-FR" sz="2000">
                <a:latin typeface="Arial Narrow" panose="020B0606020202030204" pitchFamily="34" charset="0"/>
                <a:cs typeface="Times New Roman" panose="02020603050405020304" pitchFamily="18" charset="0"/>
                <a:sym typeface="Symbol" panose="05050102010706020507" pitchFamily="18" charset="2"/>
              </a:rPr>
              <a:t>		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r</a:t>
            </a:r>
            <a:r>
              <a:rPr lang="pt-BR" altLang="fr-FR" sz="2000">
                <a:latin typeface="Arial Narrow" panose="020B0606020202030204" pitchFamily="34" charset="0"/>
                <a:cs typeface="Times New Roman" panose="02020603050405020304" pitchFamily="18" charset="0"/>
                <a:sym typeface="Symbol" panose="05050102010706020507" pitchFamily="18" charset="2"/>
              </a:rPr>
              <a:t> = (1-g)</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r>
              <a:rPr lang="pt-BR" altLang="fr-FR" sz="2000">
                <a:latin typeface="Arial Narrow" panose="020B0606020202030204" pitchFamily="34" charset="0"/>
                <a:cs typeface="Times New Roman" panose="02020603050405020304" pitchFamily="18" charset="0"/>
                <a:sym typeface="Symbol" panose="05050102010706020507" pitchFamily="18" charset="2"/>
              </a:rPr>
              <a:t> </a:t>
            </a:r>
            <a:endParaRPr lang="en-US" altLang="fr-FR" sz="2000">
              <a:latin typeface="Arial Narrow" panose="020B0606020202030204" pitchFamily="34" charset="0"/>
              <a:cs typeface="Times New Roman" panose="02020603050405020304" pitchFamily="18" charset="0"/>
              <a:sym typeface="Symbol" panose="05050102010706020507" pitchFamily="18" charset="2"/>
            </a:endParaRPr>
          </a:p>
        </p:txBody>
      </p:sp>
      <p:sp>
        <p:nvSpPr>
          <p:cNvPr id="45061" name="Rectangle 13"/>
          <p:cNvSpPr>
            <a:spLocks noChangeArrowheads="1"/>
          </p:cNvSpPr>
          <p:nvPr/>
        </p:nvSpPr>
        <p:spPr bwMode="auto">
          <a:xfrm>
            <a:off x="914400" y="2297113"/>
            <a:ext cx="6934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pt-BR" altLang="fr-FR" sz="2400">
                <a:latin typeface="Bookman Old Style" panose="02050604050505020204" pitchFamily="18" charset="0"/>
                <a:cs typeface="Times New Roman" panose="02020603050405020304" pitchFamily="18" charset="0"/>
                <a:sym typeface="Symbol" panose="05050102010706020507" pitchFamily="18" charset="2"/>
              </a:rPr>
              <a:t>    </a:t>
            </a:r>
            <a:r>
              <a:rPr lang="pt-BR" altLang="fr-FR" sz="2000">
                <a:latin typeface="Arial Narrow" panose="020B0606020202030204" pitchFamily="34" charset="0"/>
                <a:cs typeface="Times New Roman" panose="02020603050405020304" pitchFamily="18" charset="0"/>
                <a:sym typeface="Symbol" panose="05050102010706020507" pitchFamily="18" charset="2"/>
              </a:rPr>
              <a:t>P</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tr</a:t>
            </a:r>
            <a:r>
              <a:rPr lang="pt-BR" altLang="fr-FR" sz="2000">
                <a:latin typeface="Arial Narrow" panose="020B0606020202030204" pitchFamily="34" charset="0"/>
                <a:cs typeface="Times New Roman" panose="02020603050405020304" pitchFamily="18" charset="0"/>
                <a:sym typeface="Symbol" panose="05050102010706020507" pitchFamily="18" charset="2"/>
              </a:rPr>
              <a:t> = 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em</a:t>
            </a:r>
            <a:r>
              <a:rPr lang="pt-BR" altLang="fr-FR" sz="2000">
                <a:latin typeface="Arial Narrow" panose="020B0606020202030204" pitchFamily="34" charset="0"/>
                <a:cs typeface="Times New Roman" panose="02020603050405020304" pitchFamily="18" charset="0"/>
                <a:sym typeface="Symbol" panose="05050102010706020507" pitchFamily="18" charset="2"/>
              </a:rPr>
              <a:t> </a:t>
            </a:r>
            <a:r>
              <a:rPr lang="en-US" altLang="fr-FR" sz="2000">
                <a:latin typeface="Arial Narrow" panose="020B0606020202030204" pitchFamily="34" charset="0"/>
                <a:cs typeface="Times New Roman" panose="02020603050405020304" pitchFamily="18" charset="0"/>
                <a:sym typeface="Symbol" panose="05050102010706020507" pitchFamily="18" charset="2"/>
              </a:rPr>
              <a:t></a:t>
            </a:r>
            <a:r>
              <a:rPr lang="pt-BR" altLang="fr-FR" sz="2000" baseline="-30000">
                <a:latin typeface="Arial Narrow" panose="020B0606020202030204" pitchFamily="34" charset="0"/>
                <a:cs typeface="Times New Roman" panose="02020603050405020304" pitchFamily="18" charset="0"/>
                <a:sym typeface="Symbol" panose="05050102010706020507" pitchFamily="18" charset="2"/>
              </a:rPr>
              <a:t>s</a:t>
            </a:r>
            <a:endParaRPr lang="en-US" altLang="fr-FR" sz="2000" baseline="-30000">
              <a:latin typeface="Arial Narrow" panose="020B0606020202030204" pitchFamily="34" charset="0"/>
              <a:cs typeface="Times New Roman" panose="02020603050405020304" pitchFamily="18" charset="0"/>
              <a:sym typeface="Symbol" panose="05050102010706020507" pitchFamily="18" charset="2"/>
            </a:endParaRPr>
          </a:p>
        </p:txBody>
      </p:sp>
      <p:graphicFrame>
        <p:nvGraphicFramePr>
          <p:cNvPr id="45062" name="Object 14"/>
          <p:cNvGraphicFramePr>
            <a:graphicFrameLocks noChangeAspect="1"/>
          </p:cNvGraphicFramePr>
          <p:nvPr/>
        </p:nvGraphicFramePr>
        <p:xfrm>
          <a:off x="3603625" y="2917825"/>
          <a:ext cx="1863725" cy="698500"/>
        </p:xfrm>
        <a:graphic>
          <a:graphicData uri="http://schemas.openxmlformats.org/presentationml/2006/ole">
            <mc:AlternateContent xmlns:mc="http://schemas.openxmlformats.org/markup-compatibility/2006">
              <mc:Choice xmlns:v="urn:schemas-microsoft-com:vml" Requires="v">
                <p:oleObj spid="_x0000_s288780" name="Équation" r:id="rId4" imgW="977900" imgH="368300" progId="Equation.3">
                  <p:embed/>
                </p:oleObj>
              </mc:Choice>
              <mc:Fallback>
                <p:oleObj name="Équation" r:id="rId4" imgW="977900" imgH="368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625" y="2917825"/>
                        <a:ext cx="1863725"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3" name="Text Box 16"/>
          <p:cNvSpPr txBox="1">
            <a:spLocks noChangeArrowheads="1"/>
          </p:cNvSpPr>
          <p:nvPr/>
        </p:nvSpPr>
        <p:spPr bwMode="auto">
          <a:xfrm>
            <a:off x="914400" y="3757613"/>
            <a:ext cx="4192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Par conséquent, le couple est donné par :</a:t>
            </a:r>
            <a:endParaRPr lang="en-US" altLang="fr-FR" sz="2000">
              <a:latin typeface="Arial Narrow" panose="020B0606020202030204" pitchFamily="34" charset="0"/>
            </a:endParaRPr>
          </a:p>
        </p:txBody>
      </p:sp>
      <p:graphicFrame>
        <p:nvGraphicFramePr>
          <p:cNvPr id="45064" name="Object 17"/>
          <p:cNvGraphicFramePr>
            <a:graphicFrameLocks noChangeAspect="1"/>
          </p:cNvGraphicFramePr>
          <p:nvPr/>
        </p:nvGraphicFramePr>
        <p:xfrm>
          <a:off x="2917825" y="4159250"/>
          <a:ext cx="4071938" cy="1247775"/>
        </p:xfrm>
        <a:graphic>
          <a:graphicData uri="http://schemas.openxmlformats.org/presentationml/2006/ole">
            <mc:AlternateContent xmlns:mc="http://schemas.openxmlformats.org/markup-compatibility/2006">
              <mc:Choice xmlns:v="urn:schemas-microsoft-com:vml" Requires="v">
                <p:oleObj spid="_x0000_s288781" name="Équation" r:id="rId6" imgW="1879600" imgH="571500" progId="Equation.3">
                  <p:embed/>
                </p:oleObj>
              </mc:Choice>
              <mc:Fallback>
                <p:oleObj name="Équation" r:id="rId6" imgW="1879600" imgH="571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7825" y="4159250"/>
                        <a:ext cx="4071938"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5" name="Rectangle 19"/>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5066" name="Rectangle 13"/>
          <p:cNvSpPr>
            <a:spLocks noChangeArrowheads="1"/>
          </p:cNvSpPr>
          <p:nvPr/>
        </p:nvSpPr>
        <p:spPr bwMode="auto">
          <a:xfrm>
            <a:off x="811213" y="5426075"/>
            <a:ext cx="78501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Pour le moteur asynchrone, le régime permanent correspond généralement à une valeur du couple de 60% (petites machines) à 40% (grandes puissances) du couple maximum. En d’autres termes, le couple maximum vaut:    </a:t>
            </a:r>
            <a:r>
              <a:rPr lang="fr-FR" altLang="fr-FR" sz="1800" b="1" u="sng">
                <a:solidFill>
                  <a:srgbClr val="FF0000"/>
                </a:solidFill>
                <a:latin typeface="Arial Narrow" panose="020B0606020202030204" pitchFamily="34" charset="0"/>
              </a:rPr>
              <a:t>T</a:t>
            </a:r>
            <a:r>
              <a:rPr lang="fr-FR" altLang="fr-FR" sz="1800" b="1" u="sng" baseline="-25000">
                <a:solidFill>
                  <a:srgbClr val="FF0000"/>
                </a:solidFill>
                <a:latin typeface="Arial Narrow" panose="020B0606020202030204" pitchFamily="34" charset="0"/>
              </a:rPr>
              <a:t>max</a:t>
            </a:r>
            <a:r>
              <a:rPr lang="fr-FR" altLang="fr-FR" sz="1800" b="1" u="sng">
                <a:solidFill>
                  <a:srgbClr val="FF0000"/>
                </a:solidFill>
                <a:latin typeface="Arial Narrow" panose="020B0606020202030204" pitchFamily="34" charset="0"/>
              </a:rPr>
              <a:t> = 1,7 à 2,5 T</a:t>
            </a:r>
            <a:r>
              <a:rPr lang="fr-FR" altLang="fr-FR" sz="1800" b="1" u="sng" baseline="-25000">
                <a:solidFill>
                  <a:srgbClr val="FF0000"/>
                </a:solidFill>
                <a:latin typeface="Arial Narrow" panose="020B0606020202030204" pitchFamily="34" charset="0"/>
              </a:rPr>
              <a:t>n</a:t>
            </a:r>
          </a:p>
        </p:txBody>
      </p:sp>
      <p:sp>
        <p:nvSpPr>
          <p:cNvPr id="45067" name="Espace réservé du numéro de diapositive 1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6107FD2-4EC2-4CD8-B04F-5D527AAE5655}" type="slidenum">
              <a:rPr lang="en-US" altLang="fr-FR" sz="1000">
                <a:solidFill>
                  <a:srgbClr val="292929"/>
                </a:solidFill>
                <a:latin typeface="Arial" panose="020B0604020202020204" pitchFamily="34" charset="0"/>
              </a:rPr>
              <a:pPr>
                <a:spcBef>
                  <a:spcPct val="0"/>
                </a:spcBef>
                <a:buClrTx/>
                <a:buSzTx/>
                <a:buFontTx/>
                <a:buNone/>
              </a:pPr>
              <a:t>18</a:t>
            </a:fld>
            <a:endParaRPr lang="en-US" altLang="fr-FR" sz="1000">
              <a:solidFill>
                <a:srgbClr val="292929"/>
              </a:solidFill>
              <a:latin typeface="Arial" panose="020B0604020202020204" pitchFamily="34" charset="0"/>
            </a:endParaRPr>
          </a:p>
        </p:txBody>
      </p:sp>
      <p:sp>
        <p:nvSpPr>
          <p:cNvPr id="15" name="Espace réservé du pied de page 1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759057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7107" name="Line 15"/>
          <p:cNvSpPr>
            <a:spLocks noChangeAspect="1" noChangeShapeType="1"/>
          </p:cNvSpPr>
          <p:nvPr/>
        </p:nvSpPr>
        <p:spPr bwMode="auto">
          <a:xfrm flipV="1">
            <a:off x="1085850" y="1217613"/>
            <a:ext cx="9525" cy="3602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08" name="Line 16"/>
          <p:cNvSpPr>
            <a:spLocks noChangeAspect="1" noChangeShapeType="1"/>
          </p:cNvSpPr>
          <p:nvPr/>
        </p:nvSpPr>
        <p:spPr bwMode="auto">
          <a:xfrm>
            <a:off x="1085850" y="4819650"/>
            <a:ext cx="5156200"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47109" name="Freeform 17"/>
          <p:cNvSpPr>
            <a:spLocks noChangeAspect="1"/>
          </p:cNvSpPr>
          <p:nvPr/>
        </p:nvSpPr>
        <p:spPr bwMode="auto">
          <a:xfrm>
            <a:off x="1079500" y="1858963"/>
            <a:ext cx="4203700" cy="2962275"/>
          </a:xfrm>
          <a:custGeom>
            <a:avLst/>
            <a:gdLst>
              <a:gd name="T0" fmla="*/ 0 w 7336"/>
              <a:gd name="T1" fmla="*/ 2147483646 h 5166"/>
              <a:gd name="T2" fmla="*/ 2147483646 w 7336"/>
              <a:gd name="T3" fmla="*/ 2147483646 h 5166"/>
              <a:gd name="T4" fmla="*/ 2147483646 w 7336"/>
              <a:gd name="T5" fmla="*/ 2147483646 h 5166"/>
              <a:gd name="T6" fmla="*/ 2147483646 w 7336"/>
              <a:gd name="T7" fmla="*/ 2147483646 h 5166"/>
              <a:gd name="T8" fmla="*/ 2147483646 w 7336"/>
              <a:gd name="T9" fmla="*/ 2147483646 h 5166"/>
              <a:gd name="T10" fmla="*/ 2147483646 w 7336"/>
              <a:gd name="T11" fmla="*/ 2147483646 h 5166"/>
              <a:gd name="T12" fmla="*/ 2147483646 w 7336"/>
              <a:gd name="T13" fmla="*/ 2147483646 h 5166"/>
              <a:gd name="T14" fmla="*/ 2147483646 w 7336"/>
              <a:gd name="T15" fmla="*/ 2147483646 h 5166"/>
              <a:gd name="T16" fmla="*/ 2147483646 w 7336"/>
              <a:gd name="T17" fmla="*/ 2147483646 h 5166"/>
              <a:gd name="T18" fmla="*/ 2147483646 w 7336"/>
              <a:gd name="T19" fmla="*/ 2147483646 h 5166"/>
              <a:gd name="T20" fmla="*/ 2147483646 w 7336"/>
              <a:gd name="T21" fmla="*/ 2147483646 h 516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336"/>
              <a:gd name="T34" fmla="*/ 0 h 5166"/>
              <a:gd name="T35" fmla="*/ 7336 w 7336"/>
              <a:gd name="T36" fmla="*/ 5166 h 516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336" h="5166">
                <a:moveTo>
                  <a:pt x="0" y="2310"/>
                </a:moveTo>
                <a:cubicBezTo>
                  <a:pt x="352" y="2387"/>
                  <a:pt x="705" y="2464"/>
                  <a:pt x="1120" y="2394"/>
                </a:cubicBezTo>
                <a:cubicBezTo>
                  <a:pt x="1535" y="2324"/>
                  <a:pt x="1911" y="2233"/>
                  <a:pt x="2492" y="1890"/>
                </a:cubicBezTo>
                <a:cubicBezTo>
                  <a:pt x="3073" y="1547"/>
                  <a:pt x="4144" y="646"/>
                  <a:pt x="4606" y="336"/>
                </a:cubicBezTo>
                <a:cubicBezTo>
                  <a:pt x="5068" y="26"/>
                  <a:pt x="5063" y="56"/>
                  <a:pt x="5264" y="28"/>
                </a:cubicBezTo>
                <a:cubicBezTo>
                  <a:pt x="5465" y="0"/>
                  <a:pt x="5700" y="131"/>
                  <a:pt x="5810" y="168"/>
                </a:cubicBezTo>
                <a:cubicBezTo>
                  <a:pt x="5920" y="205"/>
                  <a:pt x="5854" y="180"/>
                  <a:pt x="5922" y="252"/>
                </a:cubicBezTo>
                <a:cubicBezTo>
                  <a:pt x="5990" y="324"/>
                  <a:pt x="6125" y="446"/>
                  <a:pt x="6216" y="602"/>
                </a:cubicBezTo>
                <a:cubicBezTo>
                  <a:pt x="6307" y="758"/>
                  <a:pt x="6393" y="975"/>
                  <a:pt x="6468" y="1190"/>
                </a:cubicBezTo>
                <a:cubicBezTo>
                  <a:pt x="6543" y="1405"/>
                  <a:pt x="6519" y="1227"/>
                  <a:pt x="6664" y="1890"/>
                </a:cubicBezTo>
                <a:cubicBezTo>
                  <a:pt x="6809" y="2553"/>
                  <a:pt x="7072" y="3859"/>
                  <a:pt x="7336" y="5166"/>
                </a:cubicBezTo>
              </a:path>
            </a:pathLst>
          </a:custGeom>
          <a:noFill/>
          <a:ln w="38100" cmpd="sng">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47110" name="Line 18"/>
          <p:cNvSpPr>
            <a:spLocks noChangeAspect="1" noChangeShapeType="1"/>
          </p:cNvSpPr>
          <p:nvPr/>
        </p:nvSpPr>
        <p:spPr bwMode="auto">
          <a:xfrm>
            <a:off x="1079500" y="3521075"/>
            <a:ext cx="393065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1" name="Line 19"/>
          <p:cNvSpPr>
            <a:spLocks noChangeAspect="1" noChangeShapeType="1"/>
          </p:cNvSpPr>
          <p:nvPr/>
        </p:nvSpPr>
        <p:spPr bwMode="auto">
          <a:xfrm>
            <a:off x="5010150" y="3521075"/>
            <a:ext cx="0" cy="1300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2" name="Line 20"/>
          <p:cNvSpPr>
            <a:spLocks noChangeAspect="1" noChangeShapeType="1"/>
          </p:cNvSpPr>
          <p:nvPr/>
        </p:nvSpPr>
        <p:spPr bwMode="auto">
          <a:xfrm flipH="1">
            <a:off x="1071563" y="1866900"/>
            <a:ext cx="3032125"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13" name="Line 21"/>
          <p:cNvSpPr>
            <a:spLocks noChangeAspect="1" noChangeShapeType="1"/>
          </p:cNvSpPr>
          <p:nvPr/>
        </p:nvSpPr>
        <p:spPr bwMode="auto">
          <a:xfrm flipH="1">
            <a:off x="1103313" y="5486400"/>
            <a:ext cx="4179887" cy="0"/>
          </a:xfrm>
          <a:prstGeom prst="line">
            <a:avLst/>
          </a:prstGeom>
          <a:noFill/>
          <a:ln w="9525">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47114" name="Text Box 22"/>
          <p:cNvSpPr txBox="1">
            <a:spLocks noChangeAspect="1" noChangeArrowheads="1"/>
          </p:cNvSpPr>
          <p:nvPr/>
        </p:nvSpPr>
        <p:spPr bwMode="auto">
          <a:xfrm>
            <a:off x="990600" y="5478463"/>
            <a:ext cx="6469063"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1                                                                   0</a:t>
            </a:r>
            <a:endParaRPr lang="en-US" altLang="fr-FR" sz="2000" baseline="-25000">
              <a:latin typeface="Arial Narrow" panose="020B0606020202030204" pitchFamily="34" charset="0"/>
            </a:endParaRPr>
          </a:p>
        </p:txBody>
      </p:sp>
      <p:sp>
        <p:nvSpPr>
          <p:cNvPr id="47115" name="Text Box 23"/>
          <p:cNvSpPr txBox="1">
            <a:spLocks noChangeAspect="1" noChangeArrowheads="1"/>
          </p:cNvSpPr>
          <p:nvPr/>
        </p:nvSpPr>
        <p:spPr bwMode="auto">
          <a:xfrm>
            <a:off x="6103938" y="4522788"/>
            <a:ext cx="76835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r</a:t>
            </a:r>
          </a:p>
        </p:txBody>
      </p:sp>
      <p:sp>
        <p:nvSpPr>
          <p:cNvPr id="47116" name="Text Box 24"/>
          <p:cNvSpPr txBox="1">
            <a:spLocks noChangeAspect="1" noChangeArrowheads="1"/>
          </p:cNvSpPr>
          <p:nvPr/>
        </p:nvSpPr>
        <p:spPr bwMode="auto">
          <a:xfrm>
            <a:off x="781050" y="5084763"/>
            <a:ext cx="769938"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baseline="-25000">
                <a:latin typeface="Arial Narrow" panose="020B0606020202030204" pitchFamily="34" charset="0"/>
              </a:rPr>
              <a:t>g</a:t>
            </a:r>
          </a:p>
        </p:txBody>
      </p:sp>
      <p:sp>
        <p:nvSpPr>
          <p:cNvPr id="47117" name="Text Box 25"/>
          <p:cNvSpPr txBox="1">
            <a:spLocks noChangeAspect="1" noChangeArrowheads="1"/>
          </p:cNvSpPr>
          <p:nvPr/>
        </p:nvSpPr>
        <p:spPr bwMode="auto">
          <a:xfrm>
            <a:off x="238125" y="3260725"/>
            <a:ext cx="106045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n</a:t>
            </a:r>
          </a:p>
        </p:txBody>
      </p:sp>
      <p:sp>
        <p:nvSpPr>
          <p:cNvPr id="47118" name="Text Box 26"/>
          <p:cNvSpPr txBox="1">
            <a:spLocks noChangeAspect="1" noChangeArrowheads="1"/>
          </p:cNvSpPr>
          <p:nvPr/>
        </p:nvSpPr>
        <p:spPr bwMode="auto">
          <a:xfrm>
            <a:off x="201613" y="1620838"/>
            <a:ext cx="144780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max</a:t>
            </a:r>
          </a:p>
        </p:txBody>
      </p:sp>
      <p:sp>
        <p:nvSpPr>
          <p:cNvPr id="47119" name="Text Box 27"/>
          <p:cNvSpPr txBox="1">
            <a:spLocks noChangeAspect="1" noChangeArrowheads="1"/>
          </p:cNvSpPr>
          <p:nvPr/>
        </p:nvSpPr>
        <p:spPr bwMode="auto">
          <a:xfrm>
            <a:off x="579438" y="990600"/>
            <a:ext cx="76993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T</a:t>
            </a:r>
            <a:r>
              <a:rPr lang="en-US" altLang="fr-FR" sz="2000" baseline="-25000">
                <a:latin typeface="Arial Narrow" panose="020B0606020202030204" pitchFamily="34" charset="0"/>
              </a:rPr>
              <a:t>em</a:t>
            </a:r>
          </a:p>
        </p:txBody>
      </p:sp>
      <p:sp>
        <p:nvSpPr>
          <p:cNvPr id="47120" name="Text Box 12"/>
          <p:cNvSpPr txBox="1">
            <a:spLocks noChangeAspect="1" noChangeArrowheads="1"/>
          </p:cNvSpPr>
          <p:nvPr/>
        </p:nvSpPr>
        <p:spPr bwMode="auto">
          <a:xfrm>
            <a:off x="963613" y="4743450"/>
            <a:ext cx="5522912"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0                                                                 </a:t>
            </a:r>
            <a:r>
              <a:rPr lang="en-US" altLang="fr-FR" sz="2000">
                <a:latin typeface="Arial Narrow" panose="020B0606020202030204" pitchFamily="34" charset="0"/>
                <a:sym typeface="Symbol" panose="05050102010706020507" pitchFamily="18" charset="2"/>
              </a:rPr>
              <a:t></a:t>
            </a:r>
            <a:r>
              <a:rPr lang="en-US" altLang="fr-FR" sz="2000" baseline="-25000">
                <a:latin typeface="Arial Narrow" panose="020B0606020202030204" pitchFamily="34" charset="0"/>
              </a:rPr>
              <a:t>n</a:t>
            </a:r>
            <a:r>
              <a:rPr lang="en-US" altLang="fr-FR" sz="2000">
                <a:latin typeface="Arial Narrow" panose="020B0606020202030204" pitchFamily="34" charset="0"/>
              </a:rPr>
              <a:t>  </a:t>
            </a:r>
            <a:r>
              <a:rPr lang="en-US" altLang="fr-FR" sz="2000">
                <a:latin typeface="Arial Narrow" panose="020B0606020202030204" pitchFamily="34" charset="0"/>
                <a:sym typeface="Symbol" panose="05050102010706020507" pitchFamily="18" charset="2"/>
              </a:rPr>
              <a:t></a:t>
            </a:r>
            <a:r>
              <a:rPr lang="en-US" altLang="fr-FR" sz="1200" baseline="-25000">
                <a:latin typeface="Arial Narrow" panose="020B0606020202030204" pitchFamily="34" charset="0"/>
              </a:rPr>
              <a:t>s</a:t>
            </a:r>
          </a:p>
        </p:txBody>
      </p:sp>
      <p:sp>
        <p:nvSpPr>
          <p:cNvPr id="47121" name="Line 29"/>
          <p:cNvSpPr>
            <a:spLocks noChangeAspect="1" noChangeShapeType="1"/>
          </p:cNvSpPr>
          <p:nvPr/>
        </p:nvSpPr>
        <p:spPr bwMode="auto">
          <a:xfrm>
            <a:off x="5307013" y="4800600"/>
            <a:ext cx="0" cy="919163"/>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aphicFrame>
        <p:nvGraphicFramePr>
          <p:cNvPr id="47122" name="Object 31"/>
          <p:cNvGraphicFramePr>
            <a:graphicFrameLocks noChangeAspect="1"/>
          </p:cNvGraphicFramePr>
          <p:nvPr/>
        </p:nvGraphicFramePr>
        <p:xfrm>
          <a:off x="5572125" y="1436688"/>
          <a:ext cx="2800350" cy="790575"/>
        </p:xfrm>
        <a:graphic>
          <a:graphicData uri="http://schemas.openxmlformats.org/presentationml/2006/ole">
            <mc:AlternateContent xmlns:mc="http://schemas.openxmlformats.org/markup-compatibility/2006">
              <mc:Choice xmlns:v="urn:schemas-microsoft-com:vml" Requires="v">
                <p:oleObj spid="_x0000_s289804" name="Équation" r:id="rId4" imgW="1612900" imgH="457200" progId="Equation.3">
                  <p:embed/>
                </p:oleObj>
              </mc:Choice>
              <mc:Fallback>
                <p:oleObj name="Équation" r:id="rId4" imgW="16129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72125" y="1436688"/>
                        <a:ext cx="280035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23" name="Object 33"/>
          <p:cNvGraphicFramePr>
            <a:graphicFrameLocks noChangeAspect="1"/>
          </p:cNvGraphicFramePr>
          <p:nvPr/>
        </p:nvGraphicFramePr>
        <p:xfrm>
          <a:off x="5362575" y="3529013"/>
          <a:ext cx="3294063" cy="830262"/>
        </p:xfrm>
        <a:graphic>
          <a:graphicData uri="http://schemas.openxmlformats.org/presentationml/2006/ole">
            <mc:AlternateContent xmlns:mc="http://schemas.openxmlformats.org/markup-compatibility/2006">
              <mc:Choice xmlns:v="urn:schemas-microsoft-com:vml" Requires="v">
                <p:oleObj spid="_x0000_s289805" name="Équation" r:id="rId6" imgW="2222500" imgH="558800" progId="Equation.3">
                  <p:embed/>
                </p:oleObj>
              </mc:Choice>
              <mc:Fallback>
                <p:oleObj name="Équation" r:id="rId6" imgW="2222500" imgH="558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2575" y="3529013"/>
                        <a:ext cx="32940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4" name="Line 35"/>
          <p:cNvSpPr>
            <a:spLocks noChangeShapeType="1"/>
          </p:cNvSpPr>
          <p:nvPr/>
        </p:nvSpPr>
        <p:spPr bwMode="auto">
          <a:xfrm>
            <a:off x="4164013" y="1905000"/>
            <a:ext cx="0" cy="3048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47125" name="Text Box 36"/>
          <p:cNvSpPr txBox="1">
            <a:spLocks noChangeArrowheads="1"/>
          </p:cNvSpPr>
          <p:nvPr/>
        </p:nvSpPr>
        <p:spPr bwMode="auto">
          <a:xfrm>
            <a:off x="3995738" y="4765675"/>
            <a:ext cx="4333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Narrow" panose="020B0606020202030204" pitchFamily="34" charset="0"/>
              </a:rPr>
              <a:t>g</a:t>
            </a:r>
            <a:r>
              <a:rPr lang="en-US" altLang="fr-FR" sz="2000" baseline="-25000">
                <a:latin typeface="Arial Narrow" panose="020B0606020202030204" pitchFamily="34" charset="0"/>
              </a:rPr>
              <a:t>m</a:t>
            </a:r>
          </a:p>
        </p:txBody>
      </p:sp>
      <p:sp>
        <p:nvSpPr>
          <p:cNvPr id="47126"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47127" name="Rectangle 26"/>
          <p:cNvSpPr>
            <a:spLocks noChangeArrowheads="1"/>
          </p:cNvSpPr>
          <p:nvPr/>
        </p:nvSpPr>
        <p:spPr bwMode="auto">
          <a:xfrm>
            <a:off x="263525" y="2625725"/>
            <a:ext cx="18716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i="1">
                <a:latin typeface="Arial Narrow" panose="020B0606020202030204" pitchFamily="34" charset="0"/>
              </a:rPr>
              <a:t>couple de démarrage</a:t>
            </a:r>
            <a:endParaRPr lang="fr-FR" altLang="fr-FR" sz="1600">
              <a:latin typeface="Arial Narrow" panose="020B0606020202030204" pitchFamily="34" charset="0"/>
            </a:endParaRPr>
          </a:p>
        </p:txBody>
      </p:sp>
      <p:cxnSp>
        <p:nvCxnSpPr>
          <p:cNvPr id="29" name="Connecteur droit avec flèche 28"/>
          <p:cNvCxnSpPr/>
          <p:nvPr/>
        </p:nvCxnSpPr>
        <p:spPr>
          <a:xfrm>
            <a:off x="3771900" y="1603375"/>
            <a:ext cx="292100" cy="1825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29" name="Rectangle 29"/>
          <p:cNvSpPr>
            <a:spLocks noChangeArrowheads="1"/>
          </p:cNvSpPr>
          <p:nvPr/>
        </p:nvSpPr>
        <p:spPr bwMode="auto">
          <a:xfrm>
            <a:off x="6105525" y="5108575"/>
            <a:ext cx="24098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600">
                <a:latin typeface="Arial Narrow" panose="020B0606020202030204" pitchFamily="34" charset="0"/>
              </a:rPr>
              <a:t>Le couple de décrochage est </a:t>
            </a:r>
            <a:r>
              <a:rPr lang="fr-FR" altLang="fr-FR" sz="1600" i="1">
                <a:latin typeface="Arial Narrow" panose="020B0606020202030204" pitchFamily="34" charset="0"/>
              </a:rPr>
              <a:t>indépendant de la résistance rotorique.</a:t>
            </a:r>
            <a:endParaRPr lang="fr-FR" altLang="fr-FR" sz="1600">
              <a:latin typeface="Arial Narrow" panose="020B0606020202030204" pitchFamily="34" charset="0"/>
            </a:endParaRPr>
          </a:p>
        </p:txBody>
      </p:sp>
      <p:sp>
        <p:nvSpPr>
          <p:cNvPr id="47130" name="Rectangle 30"/>
          <p:cNvSpPr>
            <a:spLocks noChangeArrowheads="1"/>
          </p:cNvSpPr>
          <p:nvPr/>
        </p:nvSpPr>
        <p:spPr bwMode="auto">
          <a:xfrm>
            <a:off x="5776913" y="2443163"/>
            <a:ext cx="29575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fr-FR" altLang="fr-FR" sz="1600">
                <a:latin typeface="Arial Narrow" panose="020B0606020202030204" pitchFamily="34" charset="0"/>
              </a:rPr>
              <a:t>Le glissement g</a:t>
            </a:r>
            <a:r>
              <a:rPr lang="fr-FR" altLang="fr-FR" sz="1600" baseline="-25000">
                <a:latin typeface="Arial Narrow" panose="020B0606020202030204" pitchFamily="34" charset="0"/>
              </a:rPr>
              <a:t>m</a:t>
            </a:r>
            <a:r>
              <a:rPr lang="fr-FR" altLang="fr-FR" sz="1600">
                <a:latin typeface="Arial Narrow" panose="020B0606020202030204" pitchFamily="34" charset="0"/>
              </a:rPr>
              <a:t> est proportionnel à la résistance rotorique.</a:t>
            </a:r>
          </a:p>
        </p:txBody>
      </p:sp>
      <p:sp>
        <p:nvSpPr>
          <p:cNvPr id="47131" name="Rectangle 31"/>
          <p:cNvSpPr>
            <a:spLocks noChangeArrowheads="1"/>
          </p:cNvSpPr>
          <p:nvPr/>
        </p:nvSpPr>
        <p:spPr bwMode="auto">
          <a:xfrm>
            <a:off x="2746375" y="1274763"/>
            <a:ext cx="19542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i="1">
                <a:latin typeface="Arial Narrow" panose="020B0606020202030204" pitchFamily="34" charset="0"/>
              </a:rPr>
              <a:t>couple de décrochage</a:t>
            </a:r>
            <a:endParaRPr lang="fr-FR" altLang="fr-FR" sz="1600">
              <a:latin typeface="Arial Narrow" panose="020B0606020202030204" pitchFamily="34" charset="0"/>
            </a:endParaRPr>
          </a:p>
        </p:txBody>
      </p:sp>
      <p:cxnSp>
        <p:nvCxnSpPr>
          <p:cNvPr id="33" name="Connecteur droit avec flèche 32"/>
          <p:cNvCxnSpPr/>
          <p:nvPr/>
        </p:nvCxnSpPr>
        <p:spPr>
          <a:xfrm>
            <a:off x="774700" y="2990850"/>
            <a:ext cx="292100" cy="1825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7133" name="Espace réservé du numéro de diapositive 3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FFFA7E8-F8FF-401D-8DD1-7D2BE4035EE2}" type="slidenum">
              <a:rPr lang="en-US" altLang="fr-FR" sz="1000">
                <a:solidFill>
                  <a:srgbClr val="292929"/>
                </a:solidFill>
                <a:latin typeface="Arial" panose="020B0604020202020204" pitchFamily="34" charset="0"/>
              </a:rPr>
              <a:pPr>
                <a:spcBef>
                  <a:spcPct val="0"/>
                </a:spcBef>
                <a:buClrTx/>
                <a:buSzTx/>
                <a:buFontTx/>
                <a:buNone/>
              </a:pPr>
              <a:t>19</a:t>
            </a:fld>
            <a:endParaRPr lang="en-US" altLang="fr-FR" sz="1000">
              <a:solidFill>
                <a:srgbClr val="292929"/>
              </a:solidFill>
              <a:latin typeface="Arial" panose="020B0604020202020204" pitchFamily="34" charset="0"/>
            </a:endParaRPr>
          </a:p>
        </p:txBody>
      </p:sp>
      <p:sp>
        <p:nvSpPr>
          <p:cNvPr id="32" name="Espace réservé du pied de page 3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20724702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ChangeArrowheads="1"/>
          </p:cNvSpPr>
          <p:nvPr/>
        </p:nvSpPr>
        <p:spPr bwMode="auto">
          <a:xfrm>
            <a:off x="774700" y="1530350"/>
            <a:ext cx="45720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a:latin typeface="Arial Narrow" panose="020B0606020202030204" pitchFamily="34" charset="0"/>
              </a:rPr>
              <a:t>Les machines de grande puissance ont une caractéristique couple/vitesse (ou couple/glissement) beaucoup plus « pointue » que les petites machines.</a:t>
            </a:r>
          </a:p>
          <a:p>
            <a:pPr algn="just" eaLnBrk="1" hangingPunct="1">
              <a:spcBef>
                <a:spcPct val="0"/>
              </a:spcBef>
              <a:buClrTx/>
              <a:buSzTx/>
              <a:buFontTx/>
              <a:buNone/>
            </a:pPr>
            <a:r>
              <a:rPr lang="fr-FR" altLang="fr-FR" sz="2000">
                <a:latin typeface="Arial Narrow" panose="020B0606020202030204" pitchFamily="34" charset="0"/>
              </a:rPr>
              <a:t>Ceci s’explique par le fait que les petites machines ont une résistance rotorique qui, comparée aux autres impédances du schéma équivalent est plus élevée que celle des grosses. En effet, plus R</a:t>
            </a:r>
            <a:r>
              <a:rPr lang="fr-FR" altLang="fr-FR" sz="2000" baseline="-25000">
                <a:latin typeface="Arial Narrow" panose="020B0606020202030204" pitchFamily="34" charset="0"/>
              </a:rPr>
              <a:t>r</a:t>
            </a:r>
            <a:r>
              <a:rPr lang="fr-FR" altLang="fr-FR" sz="2000">
                <a:latin typeface="Arial Narrow" panose="020B0606020202030204" pitchFamily="34" charset="0"/>
              </a:rPr>
              <a:t>’ est important par rapport à R</a:t>
            </a:r>
            <a:r>
              <a:rPr lang="fr-FR" altLang="fr-FR" sz="2000" baseline="-25000">
                <a:latin typeface="Arial Narrow" panose="020B0606020202030204" pitchFamily="34" charset="0"/>
              </a:rPr>
              <a:t>s</a:t>
            </a:r>
            <a:r>
              <a:rPr lang="fr-FR" altLang="fr-FR" sz="2000">
                <a:latin typeface="Arial Narrow" panose="020B0606020202030204" pitchFamily="34" charset="0"/>
              </a:rPr>
              <a:t>, X</a:t>
            </a:r>
            <a:r>
              <a:rPr lang="fr-FR" altLang="fr-FR" sz="2000" baseline="-25000">
                <a:latin typeface="Arial Narrow" panose="020B0606020202030204" pitchFamily="34" charset="0"/>
              </a:rPr>
              <a:t>s</a:t>
            </a:r>
            <a:r>
              <a:rPr lang="fr-FR" altLang="fr-FR" sz="2000">
                <a:latin typeface="Arial Narrow" panose="020B0606020202030204" pitchFamily="34" charset="0"/>
              </a:rPr>
              <a:t> et X</a:t>
            </a:r>
            <a:r>
              <a:rPr lang="fr-FR" altLang="fr-FR" sz="2000" baseline="-25000">
                <a:latin typeface="Arial Narrow" panose="020B0606020202030204" pitchFamily="34" charset="0"/>
              </a:rPr>
              <a:t>lr</a:t>
            </a:r>
            <a:r>
              <a:rPr lang="fr-FR" altLang="fr-FR" sz="2000">
                <a:latin typeface="Arial Narrow" panose="020B0606020202030204" pitchFamily="34" charset="0"/>
              </a:rPr>
              <a:t>’, plus le glissement de décrochage g</a:t>
            </a:r>
            <a:r>
              <a:rPr lang="fr-FR" altLang="fr-FR" sz="2000" baseline="-25000">
                <a:latin typeface="Arial Narrow" panose="020B0606020202030204" pitchFamily="34" charset="0"/>
              </a:rPr>
              <a:t>m</a:t>
            </a:r>
            <a:r>
              <a:rPr lang="fr-FR" altLang="fr-FR" sz="2000">
                <a:latin typeface="Arial Narrow" panose="020B0606020202030204" pitchFamily="34" charset="0"/>
              </a:rPr>
              <a:t> est élevé est plus la caractéristique coupe/vitesse est arrondie.</a:t>
            </a:r>
          </a:p>
        </p:txBody>
      </p:sp>
      <p:sp>
        <p:nvSpPr>
          <p:cNvPr id="49155"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49156"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49157" name="Groupe 11"/>
          <p:cNvGrpSpPr>
            <a:grpSpLocks/>
          </p:cNvGrpSpPr>
          <p:nvPr/>
        </p:nvGrpSpPr>
        <p:grpSpPr bwMode="auto">
          <a:xfrm>
            <a:off x="5468938" y="908050"/>
            <a:ext cx="2811462" cy="4356100"/>
            <a:chOff x="5740400" y="1311275"/>
            <a:chExt cx="2811463" cy="4356100"/>
          </a:xfrm>
        </p:grpSpPr>
        <p:pic>
          <p:nvPicPr>
            <p:cNvPr id="49160"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740400" y="1311275"/>
              <a:ext cx="2705100" cy="435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1" name="ZoneTexte 7"/>
            <p:cNvSpPr txBox="1">
              <a:spLocks noChangeArrowheads="1"/>
            </p:cNvSpPr>
            <p:nvPr/>
          </p:nvSpPr>
          <p:spPr bwMode="auto">
            <a:xfrm>
              <a:off x="7529513" y="3100388"/>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Calibri" panose="020F0502020204030204" pitchFamily="34" charset="0"/>
                </a:rPr>
                <a:t>s</a:t>
              </a:r>
              <a:endParaRPr lang="fr-FR" altLang="fr-FR" sz="1400" b="1" baseline="-25000">
                <a:latin typeface="Arial Narrow" panose="020B0606020202030204" pitchFamily="34" charset="0"/>
              </a:endParaRPr>
            </a:p>
          </p:txBody>
        </p:sp>
        <p:sp>
          <p:nvSpPr>
            <p:cNvPr id="49162" name="ZoneTexte 8"/>
            <p:cNvSpPr txBox="1">
              <a:spLocks noChangeArrowheads="1"/>
            </p:cNvSpPr>
            <p:nvPr/>
          </p:nvSpPr>
          <p:spPr bwMode="auto">
            <a:xfrm>
              <a:off x="8004222" y="2625725"/>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sp>
          <p:nvSpPr>
            <p:cNvPr id="49163" name="ZoneTexte 9"/>
            <p:cNvSpPr txBox="1">
              <a:spLocks noChangeArrowheads="1"/>
            </p:cNvSpPr>
            <p:nvPr/>
          </p:nvSpPr>
          <p:spPr bwMode="auto">
            <a:xfrm>
              <a:off x="7602538" y="5327650"/>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Calibri" panose="020F0502020204030204" pitchFamily="34" charset="0"/>
                </a:rPr>
                <a:t>s</a:t>
              </a:r>
              <a:endParaRPr lang="fr-FR" altLang="fr-FR" sz="1400" b="1" baseline="-25000">
                <a:latin typeface="Arial Narrow" panose="020B0606020202030204" pitchFamily="34" charset="0"/>
              </a:endParaRPr>
            </a:p>
          </p:txBody>
        </p:sp>
        <p:sp>
          <p:nvSpPr>
            <p:cNvPr id="49164" name="ZoneTexte 10"/>
            <p:cNvSpPr txBox="1">
              <a:spLocks noChangeArrowheads="1"/>
            </p:cNvSpPr>
            <p:nvPr/>
          </p:nvSpPr>
          <p:spPr bwMode="auto">
            <a:xfrm>
              <a:off x="8040688" y="4873625"/>
              <a:ext cx="511175"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grpSp>
      <p:sp>
        <p:nvSpPr>
          <p:cNvPr id="49158"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9DFEEA9-9788-4AEB-A767-C0412B8D6B08}" type="slidenum">
              <a:rPr lang="en-US" altLang="fr-FR" sz="1000">
                <a:solidFill>
                  <a:srgbClr val="292929"/>
                </a:solidFill>
                <a:latin typeface="Arial" panose="020B0604020202020204" pitchFamily="34" charset="0"/>
              </a:rPr>
              <a:pPr>
                <a:spcBef>
                  <a:spcPct val="0"/>
                </a:spcBef>
                <a:buClrTx/>
                <a:buSzTx/>
                <a:buFontTx/>
                <a:buNone/>
              </a:pPr>
              <a:t>20</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576977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3124200" y="381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puissance et couple</a:t>
            </a:r>
          </a:p>
        </p:txBody>
      </p:sp>
      <p:sp>
        <p:nvSpPr>
          <p:cNvPr id="51203"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1204" name="Rectangle 5"/>
          <p:cNvSpPr>
            <a:spLocks noChangeArrowheads="1"/>
          </p:cNvSpPr>
          <p:nvPr/>
        </p:nvSpPr>
        <p:spPr bwMode="auto">
          <a:xfrm>
            <a:off x="409575" y="1019175"/>
            <a:ext cx="82518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Pour les </a:t>
            </a:r>
            <a:r>
              <a:rPr lang="fr-FR" altLang="fr-FR" sz="2000" i="1">
                <a:latin typeface="Arial Narrow" panose="020B0606020202030204" pitchFamily="34" charset="0"/>
              </a:rPr>
              <a:t>moteurs de puissance importante (P</a:t>
            </a:r>
            <a:r>
              <a:rPr lang="fr-FR" altLang="fr-FR" sz="2000" i="1" baseline="-25000">
                <a:latin typeface="Arial Narrow" panose="020B0606020202030204" pitchFamily="34" charset="0"/>
              </a:rPr>
              <a:t>mec</a:t>
            </a:r>
            <a:r>
              <a:rPr lang="fr-FR" altLang="fr-FR" sz="2000" i="1">
                <a:latin typeface="Arial Narrow" panose="020B0606020202030204" pitchFamily="34" charset="0"/>
              </a:rPr>
              <a:t> &gt; 1 kW), les expressions de couple peuvent être </a:t>
            </a:r>
            <a:r>
              <a:rPr lang="fr-FR" altLang="fr-FR" sz="2000">
                <a:latin typeface="Arial Narrow" panose="020B0606020202030204" pitchFamily="34" charset="0"/>
              </a:rPr>
              <a:t>simplifiées comme suit :</a:t>
            </a: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endParaRPr lang="fr-FR" altLang="fr-FR" sz="2000">
              <a:latin typeface="Arial Narrow" panose="020B0606020202030204" pitchFamily="34" charset="0"/>
            </a:endParaRPr>
          </a:p>
          <a:p>
            <a:pPr eaLnBrk="1" hangingPunct="1">
              <a:spcBef>
                <a:spcPct val="0"/>
              </a:spcBef>
              <a:buClrTx/>
              <a:buSzTx/>
              <a:buFontTx/>
              <a:buNone/>
            </a:pPr>
            <a:r>
              <a:rPr lang="fr-FR" altLang="fr-FR" sz="2000">
                <a:latin typeface="Arial Narrow" panose="020B0606020202030204" pitchFamily="34" charset="0"/>
              </a:rPr>
              <a:t>      Rs &lt;&lt; X</a:t>
            </a:r>
            <a:r>
              <a:rPr lang="fr-FR" altLang="fr-FR" sz="2000" baseline="-25000">
                <a:latin typeface="Arial Narrow" panose="020B0606020202030204" pitchFamily="34" charset="0"/>
              </a:rPr>
              <a:t>ls</a:t>
            </a:r>
            <a:r>
              <a:rPr lang="fr-FR" altLang="fr-FR" sz="2000">
                <a:latin typeface="Arial Narrow" panose="020B0606020202030204" pitchFamily="34" charset="0"/>
              </a:rPr>
              <a:t>+X</a:t>
            </a:r>
            <a:r>
              <a:rPr lang="fr-FR" altLang="fr-FR" sz="2000" baseline="-25000">
                <a:latin typeface="Arial Narrow" panose="020B0606020202030204" pitchFamily="34" charset="0"/>
              </a:rPr>
              <a:t>lr</a:t>
            </a:r>
            <a:r>
              <a:rPr lang="fr-FR" altLang="fr-FR" sz="2000">
                <a:latin typeface="Arial Narrow" panose="020B0606020202030204" pitchFamily="34" charset="0"/>
              </a:rPr>
              <a:t>’</a:t>
            </a:r>
          </a:p>
        </p:txBody>
      </p:sp>
      <p:graphicFrame>
        <p:nvGraphicFramePr>
          <p:cNvPr id="51205" name="Object 17"/>
          <p:cNvGraphicFramePr>
            <a:graphicFrameLocks noChangeAspect="1"/>
          </p:cNvGraphicFramePr>
          <p:nvPr/>
        </p:nvGraphicFramePr>
        <p:xfrm>
          <a:off x="2692400" y="2030413"/>
          <a:ext cx="4181475" cy="1416050"/>
        </p:xfrm>
        <a:graphic>
          <a:graphicData uri="http://schemas.openxmlformats.org/presentationml/2006/ole">
            <mc:AlternateContent xmlns:mc="http://schemas.openxmlformats.org/markup-compatibility/2006">
              <mc:Choice xmlns:v="urn:schemas-microsoft-com:vml" Requires="v">
                <p:oleObj spid="_x0000_s290833" name="Équation" r:id="rId4" imgW="1930400" imgH="647700" progId="Equation.3">
                  <p:embed/>
                </p:oleObj>
              </mc:Choice>
              <mc:Fallback>
                <p:oleObj name="Équation" r:id="rId4" imgW="1930400" imgH="647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2400" y="2030413"/>
                        <a:ext cx="4181475" cy="141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6" name="Object 31"/>
          <p:cNvGraphicFramePr>
            <a:graphicFrameLocks noChangeAspect="1"/>
          </p:cNvGraphicFramePr>
          <p:nvPr/>
        </p:nvGraphicFramePr>
        <p:xfrm>
          <a:off x="3727450" y="4013200"/>
          <a:ext cx="2238375" cy="790575"/>
        </p:xfrm>
        <a:graphic>
          <a:graphicData uri="http://schemas.openxmlformats.org/presentationml/2006/ole">
            <mc:AlternateContent xmlns:mc="http://schemas.openxmlformats.org/markup-compatibility/2006">
              <mc:Choice xmlns:v="urn:schemas-microsoft-com:vml" Requires="v">
                <p:oleObj spid="_x0000_s290834" name="Équation" r:id="rId6" imgW="1282700" imgH="457200" progId="Equation.3">
                  <p:embed/>
                </p:oleObj>
              </mc:Choice>
              <mc:Fallback>
                <p:oleObj name="Équation" r:id="rId6" imgW="12827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27450" y="4013200"/>
                        <a:ext cx="22383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07" name="Object 33"/>
          <p:cNvGraphicFramePr>
            <a:graphicFrameLocks noChangeAspect="1"/>
          </p:cNvGraphicFramePr>
          <p:nvPr/>
        </p:nvGraphicFramePr>
        <p:xfrm>
          <a:off x="3857625" y="5127625"/>
          <a:ext cx="2428875" cy="830263"/>
        </p:xfrm>
        <a:graphic>
          <a:graphicData uri="http://schemas.openxmlformats.org/presentationml/2006/ole">
            <mc:AlternateContent xmlns:mc="http://schemas.openxmlformats.org/markup-compatibility/2006">
              <mc:Choice xmlns:v="urn:schemas-microsoft-com:vml" Requires="v">
                <p:oleObj spid="_x0000_s290835" name="Équation" r:id="rId8" imgW="1638300" imgH="558800" progId="Equation.3">
                  <p:embed/>
                </p:oleObj>
              </mc:Choice>
              <mc:Fallback>
                <p:oleObj name="Équation" r:id="rId8" imgW="1638300" imgH="5588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7625" y="5127625"/>
                        <a:ext cx="24288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08"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463DF79-7702-4ECB-8EDE-D6F426E6CD23}" type="slidenum">
              <a:rPr lang="en-US" altLang="fr-FR" sz="1000">
                <a:solidFill>
                  <a:srgbClr val="292929"/>
                </a:solidFill>
                <a:latin typeface="Arial" panose="020B0604020202020204" pitchFamily="34" charset="0"/>
              </a:rPr>
              <a:pPr>
                <a:spcBef>
                  <a:spcPct val="0"/>
                </a:spcBef>
                <a:buClrTx/>
                <a:buSzTx/>
                <a:buFontTx/>
                <a:buNone/>
              </a:pPr>
              <a:t>21</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057080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ChangeArrowheads="1"/>
          </p:cNvSpPr>
          <p:nvPr/>
        </p:nvSpPr>
        <p:spPr bwMode="auto">
          <a:xfrm>
            <a:off x="417513" y="441325"/>
            <a:ext cx="6170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Approximation des caractéristiques de couple</a:t>
            </a:r>
            <a:endParaRPr lang="fr-FR" altLang="fr-FR" sz="2000">
              <a:latin typeface="Arial Narrow" panose="020B0606020202030204" pitchFamily="34" charset="0"/>
            </a:endParaRPr>
          </a:p>
        </p:txBody>
      </p:sp>
      <p:sp>
        <p:nvSpPr>
          <p:cNvPr id="53251" name="Rectangle 5"/>
          <p:cNvSpPr>
            <a:spLocks noChangeArrowheads="1"/>
          </p:cNvSpPr>
          <p:nvPr/>
        </p:nvSpPr>
        <p:spPr bwMode="auto">
          <a:xfrm>
            <a:off x="395288" y="1019175"/>
            <a:ext cx="34194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Selon ces approximations, il vient :</a:t>
            </a:r>
          </a:p>
        </p:txBody>
      </p:sp>
      <p:graphicFrame>
        <p:nvGraphicFramePr>
          <p:cNvPr id="53252" name="Object 17"/>
          <p:cNvGraphicFramePr>
            <a:graphicFrameLocks noChangeAspect="1"/>
          </p:cNvGraphicFramePr>
          <p:nvPr/>
        </p:nvGraphicFramePr>
        <p:xfrm>
          <a:off x="1843088" y="1747838"/>
          <a:ext cx="1887537" cy="1128712"/>
        </p:xfrm>
        <a:graphic>
          <a:graphicData uri="http://schemas.openxmlformats.org/presentationml/2006/ole">
            <mc:AlternateContent xmlns:mc="http://schemas.openxmlformats.org/markup-compatibility/2006">
              <mc:Choice xmlns:v="urn:schemas-microsoft-com:vml" Requires="v">
                <p:oleObj spid="_x0000_s291867" name="Équation" r:id="rId4" imgW="1028700" imgH="609600" progId="Equation.3">
                  <p:embed/>
                </p:oleObj>
              </mc:Choice>
              <mc:Fallback>
                <p:oleObj name="Équation" r:id="rId4" imgW="1028700" imgH="609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43088" y="1747838"/>
                        <a:ext cx="1887537"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3" name="Rectangle 16"/>
          <p:cNvSpPr>
            <a:spLocks noChangeArrowheads="1"/>
          </p:cNvSpPr>
          <p:nvPr/>
        </p:nvSpPr>
        <p:spPr bwMode="auto">
          <a:xfrm>
            <a:off x="577850" y="3027363"/>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Ainsi, pour les </a:t>
            </a:r>
            <a:r>
              <a:rPr lang="fr-FR" altLang="fr-FR" sz="2000" i="1">
                <a:latin typeface="Arial Narrow" panose="020B0606020202030204" pitchFamily="34" charset="0"/>
              </a:rPr>
              <a:t>faibles glissements (g &lt;&lt; g</a:t>
            </a:r>
            <a:r>
              <a:rPr lang="fr-FR" altLang="fr-FR" sz="2000" i="1" baseline="-25000">
                <a:latin typeface="Arial Narrow" panose="020B0606020202030204" pitchFamily="34" charset="0"/>
              </a:rPr>
              <a:t>m</a:t>
            </a:r>
            <a:r>
              <a:rPr lang="fr-FR" altLang="fr-FR" sz="2000" i="1">
                <a:latin typeface="Arial Narrow" panose="020B0606020202030204" pitchFamily="34" charset="0"/>
              </a:rPr>
              <a:t>) :</a:t>
            </a:r>
            <a:endParaRPr lang="fr-FR" altLang="fr-FR" sz="2000">
              <a:latin typeface="Arial Narrow" panose="020B0606020202030204" pitchFamily="34" charset="0"/>
            </a:endParaRPr>
          </a:p>
        </p:txBody>
      </p:sp>
      <p:graphicFrame>
        <p:nvGraphicFramePr>
          <p:cNvPr id="53254" name="Object 9"/>
          <p:cNvGraphicFramePr>
            <a:graphicFrameLocks noChangeAspect="1"/>
          </p:cNvGraphicFramePr>
          <p:nvPr/>
        </p:nvGraphicFramePr>
        <p:xfrm>
          <a:off x="2530475" y="3749675"/>
          <a:ext cx="1047750" cy="706438"/>
        </p:xfrm>
        <a:graphic>
          <a:graphicData uri="http://schemas.openxmlformats.org/presentationml/2006/ole">
            <mc:AlternateContent xmlns:mc="http://schemas.openxmlformats.org/markup-compatibility/2006">
              <mc:Choice xmlns:v="urn:schemas-microsoft-com:vml" Requires="v">
                <p:oleObj spid="_x0000_s291868" name="Équation" r:id="rId6" imgW="571252" imgH="380835" progId="Equation.3">
                  <p:embed/>
                </p:oleObj>
              </mc:Choice>
              <mc:Fallback>
                <p:oleObj name="Équation" r:id="rId6" imgW="571252" imgH="38083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30475" y="3749675"/>
                        <a:ext cx="104775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5" name="Rectangle 19"/>
          <p:cNvSpPr>
            <a:spLocks noChangeArrowheads="1"/>
          </p:cNvSpPr>
          <p:nvPr/>
        </p:nvSpPr>
        <p:spPr bwMode="auto">
          <a:xfrm>
            <a:off x="715963" y="4560888"/>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Et pour les </a:t>
            </a:r>
            <a:r>
              <a:rPr lang="fr-FR" altLang="fr-FR" sz="2000" i="1">
                <a:latin typeface="Arial Narrow" panose="020B0606020202030204" pitchFamily="34" charset="0"/>
              </a:rPr>
              <a:t>grands glissements (g &gt;&gt; g</a:t>
            </a:r>
            <a:r>
              <a:rPr lang="fr-FR" altLang="fr-FR" sz="2000" i="1" baseline="-25000">
                <a:latin typeface="Arial Narrow" panose="020B0606020202030204" pitchFamily="34" charset="0"/>
              </a:rPr>
              <a:t>m</a:t>
            </a:r>
            <a:r>
              <a:rPr lang="fr-FR" altLang="fr-FR" sz="2000" i="1">
                <a:latin typeface="Arial Narrow" panose="020B0606020202030204" pitchFamily="34" charset="0"/>
              </a:rPr>
              <a:t>) :</a:t>
            </a:r>
            <a:endParaRPr lang="fr-FR" altLang="fr-FR" sz="2000">
              <a:latin typeface="Arial Narrow" panose="020B0606020202030204" pitchFamily="34" charset="0"/>
            </a:endParaRPr>
          </a:p>
        </p:txBody>
      </p:sp>
      <p:graphicFrame>
        <p:nvGraphicFramePr>
          <p:cNvPr id="53256" name="Object 6"/>
          <p:cNvGraphicFramePr>
            <a:graphicFrameLocks noChangeAspect="1"/>
          </p:cNvGraphicFramePr>
          <p:nvPr/>
        </p:nvGraphicFramePr>
        <p:xfrm>
          <a:off x="2419350" y="5181600"/>
          <a:ext cx="1163638" cy="706438"/>
        </p:xfrm>
        <a:graphic>
          <a:graphicData uri="http://schemas.openxmlformats.org/presentationml/2006/ole">
            <mc:AlternateContent xmlns:mc="http://schemas.openxmlformats.org/markup-compatibility/2006">
              <mc:Choice xmlns:v="urn:schemas-microsoft-com:vml" Requires="v">
                <p:oleObj spid="_x0000_s291869" name="Équation" r:id="rId8" imgW="634725" imgH="380835" progId="Equation.3">
                  <p:embed/>
                </p:oleObj>
              </mc:Choice>
              <mc:Fallback>
                <p:oleObj name="Équation" r:id="rId8" imgW="634725" imgH="380835"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19350" y="5181600"/>
                        <a:ext cx="1163638"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7" name="ZoneTexte 23"/>
          <p:cNvSpPr txBox="1">
            <a:spLocks noChangeArrowheads="1"/>
          </p:cNvSpPr>
          <p:nvPr/>
        </p:nvSpPr>
        <p:spPr bwMode="auto">
          <a:xfrm>
            <a:off x="4010025" y="3898900"/>
            <a:ext cx="803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Droite</a:t>
            </a:r>
          </a:p>
        </p:txBody>
      </p:sp>
      <p:sp>
        <p:nvSpPr>
          <p:cNvPr id="53258" name="ZoneTexte 24"/>
          <p:cNvSpPr txBox="1">
            <a:spLocks noChangeArrowheads="1"/>
          </p:cNvSpPr>
          <p:nvPr/>
        </p:nvSpPr>
        <p:spPr bwMode="auto">
          <a:xfrm>
            <a:off x="3937000" y="5327650"/>
            <a:ext cx="14605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Hyperbole</a:t>
            </a:r>
          </a:p>
        </p:txBody>
      </p:sp>
      <p:sp>
        <p:nvSpPr>
          <p:cNvPr id="53259"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53260" name="Groupe 2"/>
          <p:cNvGrpSpPr>
            <a:grpSpLocks/>
          </p:cNvGrpSpPr>
          <p:nvPr/>
        </p:nvGrpSpPr>
        <p:grpSpPr bwMode="auto">
          <a:xfrm>
            <a:off x="5040313" y="1744663"/>
            <a:ext cx="3562350" cy="3163887"/>
            <a:chOff x="4972050" y="1743870"/>
            <a:chExt cx="3562350" cy="3164691"/>
          </a:xfrm>
        </p:grpSpPr>
        <p:grpSp>
          <p:nvGrpSpPr>
            <p:cNvPr id="53263" name="Groupe 17"/>
            <p:cNvGrpSpPr>
              <a:grpSpLocks/>
            </p:cNvGrpSpPr>
            <p:nvPr/>
          </p:nvGrpSpPr>
          <p:grpSpPr bwMode="auto">
            <a:xfrm>
              <a:off x="4972050" y="1743870"/>
              <a:ext cx="3562350" cy="3038475"/>
              <a:chOff x="5026080" y="1749402"/>
              <a:chExt cx="3562350" cy="3038475"/>
            </a:xfrm>
          </p:grpSpPr>
          <p:pic>
            <p:nvPicPr>
              <p:cNvPr id="53267" name="Picture 2"/>
              <p:cNvPicPr>
                <a:picLocks noChangeAspect="1" noChangeArrowheads="1"/>
              </p:cNvPicPr>
              <p:nvPr/>
            </p:nvPicPr>
            <p:blipFill>
              <a:blip r:embed="rId10">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5026080" y="1749402"/>
                <a:ext cx="3562350" cy="303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8" name="ZoneTexte 10"/>
              <p:cNvSpPr txBox="1">
                <a:spLocks noChangeArrowheads="1"/>
              </p:cNvSpPr>
              <p:nvPr/>
            </p:nvSpPr>
            <p:spPr bwMode="auto">
              <a:xfrm>
                <a:off x="6288111" y="3721104"/>
                <a:ext cx="620721" cy="461665"/>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53269" name="Object 7"/>
              <p:cNvGraphicFramePr>
                <a:graphicFrameLocks noChangeAspect="1"/>
              </p:cNvGraphicFramePr>
              <p:nvPr/>
            </p:nvGraphicFramePr>
            <p:xfrm>
              <a:off x="6288088" y="3684588"/>
              <a:ext cx="685800" cy="609600"/>
            </p:xfrm>
            <a:graphic>
              <a:graphicData uri="http://schemas.openxmlformats.org/presentationml/2006/ole">
                <mc:AlternateContent xmlns:mc="http://schemas.openxmlformats.org/markup-compatibility/2006">
                  <mc:Choice xmlns:v="urn:schemas-microsoft-com:vml" Requires="v">
                    <p:oleObj spid="_x0000_s291870" name="Équation" r:id="rId12" imgW="685800" imgH="609600" progId="Equation.3">
                      <p:embed/>
                    </p:oleObj>
                  </mc:Choice>
                  <mc:Fallback>
                    <p:oleObj name="Équation" r:id="rId12" imgW="685800" imgH="60960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88088" y="3684588"/>
                            <a:ext cx="685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3270" name="ZoneTexte 14"/>
              <p:cNvSpPr txBox="1">
                <a:spLocks noChangeArrowheads="1"/>
              </p:cNvSpPr>
              <p:nvPr/>
            </p:nvSpPr>
            <p:spPr bwMode="auto">
              <a:xfrm>
                <a:off x="5265747" y="3003848"/>
                <a:ext cx="474669" cy="461665"/>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aphicFrame>
            <p:nvGraphicFramePr>
              <p:cNvPr id="53271" name="Object 8"/>
              <p:cNvGraphicFramePr>
                <a:graphicFrameLocks noChangeAspect="1"/>
              </p:cNvGraphicFramePr>
              <p:nvPr/>
            </p:nvGraphicFramePr>
            <p:xfrm>
              <a:off x="5119695" y="3238500"/>
              <a:ext cx="228600" cy="381000"/>
            </p:xfrm>
            <a:graphic>
              <a:graphicData uri="http://schemas.openxmlformats.org/presentationml/2006/ole">
                <mc:AlternateContent xmlns:mc="http://schemas.openxmlformats.org/markup-compatibility/2006">
                  <mc:Choice xmlns:v="urn:schemas-microsoft-com:vml" Requires="v">
                    <p:oleObj spid="_x0000_s291871" name="Équation" r:id="rId14" imgW="228600" imgH="381000" progId="Equation.3">
                      <p:embed/>
                    </p:oleObj>
                  </mc:Choice>
                  <mc:Fallback>
                    <p:oleObj name="Équation" r:id="rId14" imgW="228600" imgH="3810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19695" y="3238500"/>
                            <a:ext cx="22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3264" name="ZoneTexte 20"/>
            <p:cNvSpPr txBox="1">
              <a:spLocks noChangeArrowheads="1"/>
            </p:cNvSpPr>
            <p:nvPr/>
          </p:nvSpPr>
          <p:spPr bwMode="auto">
            <a:xfrm>
              <a:off x="5004048" y="4446598"/>
              <a:ext cx="1058863" cy="461963"/>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3265" name="ZoneTexte 21"/>
            <p:cNvSpPr txBox="1">
              <a:spLocks noChangeArrowheads="1"/>
            </p:cNvSpPr>
            <p:nvPr/>
          </p:nvSpPr>
          <p:spPr bwMode="auto">
            <a:xfrm>
              <a:off x="5054949" y="3859224"/>
              <a:ext cx="1058862" cy="461962"/>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3266" name="ZoneTexte 22"/>
            <p:cNvSpPr txBox="1">
              <a:spLocks noChangeArrowheads="1"/>
            </p:cNvSpPr>
            <p:nvPr/>
          </p:nvSpPr>
          <p:spPr bwMode="auto">
            <a:xfrm>
              <a:off x="7164288" y="1776413"/>
              <a:ext cx="912812" cy="338137"/>
            </a:xfrm>
            <a:prstGeom prst="rect">
              <a:avLst/>
            </a:prstGeom>
            <a:blipFill dpi="0" rotWithShape="1">
              <a:blip r:embed="rId11"/>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Narrow" panose="020B0606020202030204" pitchFamily="34" charset="0"/>
                </a:rPr>
                <a:t>T</a:t>
              </a:r>
              <a:r>
                <a:rPr lang="fr-FR" altLang="fr-FR" sz="1600" baseline="-25000">
                  <a:latin typeface="Arial Narrow" panose="020B0606020202030204" pitchFamily="34" charset="0"/>
                </a:rPr>
                <a:t>em</a:t>
              </a:r>
              <a:r>
                <a:rPr lang="fr-FR" altLang="fr-FR" sz="1600">
                  <a:latin typeface="Arial Narrow" panose="020B0606020202030204" pitchFamily="34" charset="0"/>
                </a:rPr>
                <a:t>/T</a:t>
              </a:r>
              <a:r>
                <a:rPr lang="fr-FR" altLang="fr-FR" sz="1600" baseline="-25000">
                  <a:latin typeface="Arial Narrow" panose="020B0606020202030204" pitchFamily="34" charset="0"/>
                </a:rPr>
                <a:t>m</a:t>
              </a:r>
            </a:p>
          </p:txBody>
        </p:sp>
      </p:grpSp>
      <p:sp>
        <p:nvSpPr>
          <p:cNvPr id="53261" name="Espace réservé du numéro de diapositive 2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B05F540-6674-4422-9959-5F61B3E04A0A}" type="slidenum">
              <a:rPr lang="en-US" altLang="fr-FR" sz="1000">
                <a:solidFill>
                  <a:srgbClr val="292929"/>
                </a:solidFill>
                <a:latin typeface="Arial" panose="020B0604020202020204" pitchFamily="34" charset="0"/>
              </a:rPr>
              <a:pPr>
                <a:spcBef>
                  <a:spcPct val="0"/>
                </a:spcBef>
                <a:buClrTx/>
                <a:buSzTx/>
                <a:buFontTx/>
                <a:buNone/>
              </a:pPr>
              <a:t>22</a:t>
            </a:fld>
            <a:endParaRPr lang="en-US" altLang="fr-FR" sz="1000">
              <a:solidFill>
                <a:srgbClr val="292929"/>
              </a:solidFill>
              <a:latin typeface="Arial" panose="020B0604020202020204" pitchFamily="34" charset="0"/>
            </a:endParaRPr>
          </a:p>
        </p:txBody>
      </p:sp>
      <p:sp>
        <p:nvSpPr>
          <p:cNvPr id="24" name="Espace réservé du pied de page 2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640483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ChangeArrowheads="1"/>
          </p:cNvSpPr>
          <p:nvPr/>
        </p:nvSpPr>
        <p:spPr bwMode="auto">
          <a:xfrm>
            <a:off x="738188" y="1077913"/>
            <a:ext cx="76676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Le flux de puissance active pour un </a:t>
            </a:r>
            <a:r>
              <a:rPr lang="fr-FR" altLang="fr-FR" sz="2000" i="1">
                <a:latin typeface="Arial Narrow" panose="020B0606020202030204" pitchFamily="34" charset="0"/>
              </a:rPr>
              <a:t>fonctionnement en moteur </a:t>
            </a:r>
            <a:r>
              <a:rPr lang="fr-FR" altLang="fr-FR" sz="2000">
                <a:latin typeface="Arial Narrow" panose="020B0606020202030204" pitchFamily="34" charset="0"/>
              </a:rPr>
              <a:t>(à g&gt;0) et celle de droite pour un fonctionnement </a:t>
            </a:r>
            <a:r>
              <a:rPr lang="fr-FR" altLang="fr-FR" sz="2000" i="1">
                <a:latin typeface="Arial Narrow" panose="020B0606020202030204" pitchFamily="34" charset="0"/>
              </a:rPr>
              <a:t>en génératrice (à g &lt;0).</a:t>
            </a:r>
            <a:endParaRPr lang="fr-FR" altLang="fr-FR" sz="2000">
              <a:latin typeface="Arial Narrow" panose="020B0606020202030204" pitchFamily="34" charset="0"/>
            </a:endParaRPr>
          </a:p>
        </p:txBody>
      </p:sp>
      <p:grpSp>
        <p:nvGrpSpPr>
          <p:cNvPr id="55299" name="Groupe 13"/>
          <p:cNvGrpSpPr>
            <a:grpSpLocks/>
          </p:cNvGrpSpPr>
          <p:nvPr/>
        </p:nvGrpSpPr>
        <p:grpSpPr bwMode="auto">
          <a:xfrm>
            <a:off x="263525" y="1984375"/>
            <a:ext cx="8782050" cy="3671888"/>
            <a:chOff x="263466" y="1984293"/>
            <a:chExt cx="8782200" cy="3672000"/>
          </a:xfrm>
        </p:grpSpPr>
        <p:grpSp>
          <p:nvGrpSpPr>
            <p:cNvPr id="55304" name="Groupe 9"/>
            <p:cNvGrpSpPr>
              <a:grpSpLocks/>
            </p:cNvGrpSpPr>
            <p:nvPr/>
          </p:nvGrpSpPr>
          <p:grpSpPr bwMode="auto">
            <a:xfrm>
              <a:off x="263466" y="1984293"/>
              <a:ext cx="8782200" cy="3672000"/>
              <a:chOff x="263466" y="1984293"/>
              <a:chExt cx="8782200" cy="3672000"/>
            </a:xfrm>
          </p:grpSpPr>
          <p:pic>
            <p:nvPicPr>
              <p:cNvPr id="55308" name="Picture 2"/>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63466" y="1984293"/>
                <a:ext cx="8782200" cy="36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9" name="ZoneTexte 5"/>
              <p:cNvSpPr txBox="1">
                <a:spLocks noChangeArrowheads="1"/>
              </p:cNvSpPr>
              <p:nvPr/>
            </p:nvSpPr>
            <p:spPr bwMode="auto">
              <a:xfrm>
                <a:off x="884187" y="3173409"/>
                <a:ext cx="432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1-g</a:t>
                </a:r>
              </a:p>
            </p:txBody>
          </p:sp>
          <p:sp>
            <p:nvSpPr>
              <p:cNvPr id="55310" name="ZoneTexte 6"/>
              <p:cNvSpPr txBox="1">
                <a:spLocks noChangeArrowheads="1"/>
              </p:cNvSpPr>
              <p:nvPr/>
            </p:nvSpPr>
            <p:spPr bwMode="auto">
              <a:xfrm>
                <a:off x="1727064" y="3173409"/>
                <a:ext cx="216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55311" name="ZoneTexte 7"/>
              <p:cNvSpPr txBox="1">
                <a:spLocks noChangeArrowheads="1"/>
              </p:cNvSpPr>
              <p:nvPr/>
            </p:nvSpPr>
            <p:spPr bwMode="auto">
              <a:xfrm>
                <a:off x="6914988" y="4508717"/>
                <a:ext cx="432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1-g</a:t>
                </a:r>
              </a:p>
            </p:txBody>
          </p:sp>
          <p:sp>
            <p:nvSpPr>
              <p:cNvPr id="55312" name="ZoneTexte 8"/>
              <p:cNvSpPr txBox="1">
                <a:spLocks noChangeArrowheads="1"/>
              </p:cNvSpPr>
              <p:nvPr/>
            </p:nvSpPr>
            <p:spPr bwMode="auto">
              <a:xfrm>
                <a:off x="7350066" y="4414851"/>
                <a:ext cx="216000"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grpSp>
        <p:sp>
          <p:nvSpPr>
            <p:cNvPr id="55305" name="ZoneTexte 10"/>
            <p:cNvSpPr txBox="1">
              <a:spLocks noChangeArrowheads="1"/>
            </p:cNvSpPr>
            <p:nvPr/>
          </p:nvSpPr>
          <p:spPr bwMode="auto">
            <a:xfrm>
              <a:off x="993726" y="2756093"/>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sp>
          <p:nvSpPr>
            <p:cNvPr id="55306" name="ZoneTexte 11"/>
            <p:cNvSpPr txBox="1">
              <a:spLocks noChangeArrowheads="1"/>
            </p:cNvSpPr>
            <p:nvPr/>
          </p:nvSpPr>
          <p:spPr bwMode="auto">
            <a:xfrm>
              <a:off x="6945345" y="3757617"/>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sp>
          <p:nvSpPr>
            <p:cNvPr id="55307" name="ZoneTexte 12"/>
            <p:cNvSpPr txBox="1">
              <a:spLocks noChangeArrowheads="1"/>
            </p:cNvSpPr>
            <p:nvPr/>
          </p:nvSpPr>
          <p:spPr bwMode="auto">
            <a:xfrm>
              <a:off x="3111480" y="3465513"/>
              <a:ext cx="438156"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P</a:t>
              </a:r>
              <a:r>
                <a:rPr lang="fr-FR" altLang="fr-FR" sz="1400" b="1" baseline="-25000">
                  <a:latin typeface="Arial Narrow" panose="020B0606020202030204" pitchFamily="34" charset="0"/>
                </a:rPr>
                <a:t>tr</a:t>
              </a:r>
            </a:p>
          </p:txBody>
        </p:sp>
      </p:grpSp>
      <p:sp>
        <p:nvSpPr>
          <p:cNvPr id="55300" name="Rectangle 14"/>
          <p:cNvSpPr>
            <a:spLocks noChangeArrowheads="1"/>
          </p:cNvSpPr>
          <p:nvPr/>
        </p:nvSpPr>
        <p:spPr bwMode="auto">
          <a:xfrm>
            <a:off x="3184525" y="508000"/>
            <a:ext cx="2319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i="1">
                <a:latin typeface="Arial Narrow" panose="020B0606020202030204" pitchFamily="34" charset="0"/>
              </a:rPr>
              <a:t>Bilan des puissances</a:t>
            </a:r>
            <a:endParaRPr lang="fr-FR" altLang="fr-FR" sz="2000">
              <a:latin typeface="Arial Narrow" panose="020B0606020202030204" pitchFamily="34" charset="0"/>
            </a:endParaRPr>
          </a:p>
        </p:txBody>
      </p:sp>
      <p:sp>
        <p:nvSpPr>
          <p:cNvPr id="55301"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5302" name="Espace réservé du numéro de diapositive 1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4B213AB-9870-4871-8E5B-8E84D4BD7100}" type="slidenum">
              <a:rPr lang="en-US" altLang="fr-FR" sz="1000">
                <a:solidFill>
                  <a:srgbClr val="292929"/>
                </a:solidFill>
                <a:latin typeface="Arial" panose="020B0604020202020204" pitchFamily="34" charset="0"/>
              </a:rPr>
              <a:pPr>
                <a:spcBef>
                  <a:spcPct val="0"/>
                </a:spcBef>
                <a:buClrTx/>
                <a:buSzTx/>
                <a:buFontTx/>
                <a:buNone/>
              </a:pPr>
              <a:t>23</a:t>
            </a:fld>
            <a:endParaRPr lang="en-US" altLang="fr-FR" sz="1000">
              <a:solidFill>
                <a:srgbClr val="292929"/>
              </a:solidFill>
              <a:latin typeface="Arial" panose="020B0604020202020204" pitchFamily="34" charset="0"/>
            </a:endParaRPr>
          </a:p>
        </p:txBody>
      </p:sp>
      <p:sp>
        <p:nvSpPr>
          <p:cNvPr id="18" name="Espace réservé du pied de page 1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935685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525" y="1304925"/>
            <a:ext cx="7777163" cy="3816350"/>
          </a:xfrm>
          <a:prstGeom prst="rect">
            <a:avLst/>
          </a:prstGeom>
        </p:spPr>
        <p:txBody>
          <a:bodyPr>
            <a:spAutoFit/>
          </a:bodyPr>
          <a:lstStyle/>
          <a:p>
            <a:pPr marL="268288" indent="-268288" algn="just" eaLnBrk="1" hangingPunct="1">
              <a:buFont typeface="Wingdings" pitchFamily="2" charset="2"/>
              <a:buChar char="q"/>
              <a:defRPr/>
            </a:pPr>
            <a:r>
              <a:rPr lang="fr-FR" sz="2200" dirty="0"/>
              <a:t>Le mode de démarrage le plus simple est </a:t>
            </a:r>
            <a:r>
              <a:rPr lang="fr-FR" sz="2200" dirty="0">
                <a:solidFill>
                  <a:srgbClr val="FF0000"/>
                </a:solidFill>
              </a:rPr>
              <a:t>le démarrage direct</a:t>
            </a:r>
            <a:r>
              <a:rPr lang="fr-FR" sz="2200" dirty="0"/>
              <a:t>. Il n’est utilisé que pour les moteurs de faible puissance, il a l’inconvénient de provoquer des </a:t>
            </a:r>
            <a:r>
              <a:rPr lang="fr-FR" sz="2200" dirty="0">
                <a:solidFill>
                  <a:srgbClr val="FF0000"/>
                </a:solidFill>
              </a:rPr>
              <a:t>courants d’appel transitoires trop importants.</a:t>
            </a:r>
            <a:r>
              <a:rPr lang="fr-FR" sz="2200" dirty="0"/>
              <a:t> </a:t>
            </a:r>
          </a:p>
          <a:p>
            <a:pPr algn="just" eaLnBrk="1" hangingPunct="1">
              <a:buFont typeface="Wingdings" pitchFamily="2" charset="2"/>
              <a:buChar char="q"/>
              <a:defRPr/>
            </a:pPr>
            <a:endParaRPr lang="fr-FR" sz="2200" dirty="0"/>
          </a:p>
          <a:p>
            <a:pPr marL="268288" indent="-268288" algn="just" eaLnBrk="1" hangingPunct="1">
              <a:buFont typeface="Wingdings" pitchFamily="2" charset="2"/>
              <a:buChar char="q"/>
              <a:defRPr/>
            </a:pPr>
            <a:r>
              <a:rPr lang="fr-FR" sz="2200" dirty="0"/>
              <a:t>De tels courants ne peuvent être tolérés par les entreprises d’électricité car ils provoquent momentanément d’importantes variations de tension dans le réseau et les transformateurs.</a:t>
            </a:r>
          </a:p>
          <a:p>
            <a:pPr marL="268288" indent="-268288" algn="just" eaLnBrk="1" hangingPunct="1">
              <a:buFont typeface="Wingdings" pitchFamily="2" charset="2"/>
              <a:buChar char="q"/>
              <a:defRPr/>
            </a:pPr>
            <a:endParaRPr lang="fr-FR" sz="2200" dirty="0"/>
          </a:p>
          <a:p>
            <a:pPr marL="268288" indent="-268288" algn="just" eaLnBrk="1" hangingPunct="1">
              <a:buFont typeface="Wingdings" pitchFamily="2" charset="2"/>
              <a:buChar char="q"/>
              <a:defRPr/>
            </a:pPr>
            <a:r>
              <a:rPr lang="fr-FR" sz="2200" dirty="0"/>
              <a:t>D’autre part, l’échauffement du moteur ne doit pas être prohibitif. Or, il dépend de l’amplitude du courant au démarrage et du nombre de démarrages.</a:t>
            </a:r>
          </a:p>
        </p:txBody>
      </p:sp>
      <p:sp>
        <p:nvSpPr>
          <p:cNvPr id="57347" name="Rectangle 4"/>
          <p:cNvSpPr>
            <a:spLocks noChangeArrowheads="1"/>
          </p:cNvSpPr>
          <p:nvPr/>
        </p:nvSpPr>
        <p:spPr bwMode="auto">
          <a:xfrm>
            <a:off x="1692275" y="254000"/>
            <a:ext cx="5399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Démarrage des moteurs asynchrones</a:t>
            </a:r>
            <a:endParaRPr lang="fr-FR" altLang="fr-FR" sz="2400">
              <a:latin typeface="Arial Narrow" panose="020B0606020202030204" pitchFamily="34" charset="0"/>
            </a:endParaRPr>
          </a:p>
        </p:txBody>
      </p:sp>
      <p:sp>
        <p:nvSpPr>
          <p:cNvPr id="57348"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7349"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449C41A-9D92-4DC1-84A4-F2D9FC26AE2E}" type="slidenum">
              <a:rPr lang="en-US" altLang="fr-FR" sz="1000">
                <a:solidFill>
                  <a:srgbClr val="292929"/>
                </a:solidFill>
                <a:latin typeface="Arial" panose="020B0604020202020204" pitchFamily="34" charset="0"/>
              </a:rPr>
              <a:pPr>
                <a:spcBef>
                  <a:spcPct val="0"/>
                </a:spcBef>
                <a:buClrTx/>
                <a:buSzTx/>
                <a:buFontTx/>
                <a:buNone/>
              </a:pPr>
              <a:t>24</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050784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4525" y="1125538"/>
            <a:ext cx="7777163" cy="4030662"/>
          </a:xfrm>
          <a:prstGeom prst="rect">
            <a:avLst/>
          </a:prstGeom>
        </p:spPr>
        <p:txBody>
          <a:bodyPr>
            <a:spAutoFit/>
          </a:bodyPr>
          <a:lstStyle/>
          <a:p>
            <a:pPr marL="268288" indent="-268288" algn="just" eaLnBrk="1" hangingPunct="1">
              <a:buFont typeface="Wingdings" pitchFamily="2" charset="2"/>
              <a:buChar char="q"/>
              <a:defRPr/>
            </a:pPr>
            <a:r>
              <a:rPr lang="fr-FR" dirty="0"/>
              <a:t>Il est donc nécessaire de réduire la valeur du courant de démarrage en abaissant par exemple la tension aux bornes du moteur. Ce qui a pour effet de réduire le couple de démarrage, car le couple électromagnétique est proportionnel à V</a:t>
            </a:r>
            <a:r>
              <a:rPr lang="fr-FR" baseline="-25000" dirty="0"/>
              <a:t>s</a:t>
            </a:r>
            <a:r>
              <a:rPr lang="fr-FR" baseline="30000" dirty="0"/>
              <a:t>2</a:t>
            </a:r>
          </a:p>
          <a:p>
            <a:pPr marL="268288" indent="-268288" algn="just" eaLnBrk="1" hangingPunct="1">
              <a:buFont typeface="Wingdings" pitchFamily="2" charset="2"/>
              <a:buChar char="q"/>
              <a:defRPr/>
            </a:pPr>
            <a:endParaRPr lang="fr-FR" baseline="30000" dirty="0"/>
          </a:p>
          <a:p>
            <a:pPr marL="268288" indent="-268288" algn="just" eaLnBrk="1" hangingPunct="1">
              <a:buFont typeface="Wingdings" pitchFamily="2" charset="2"/>
              <a:buChar char="q"/>
              <a:defRPr/>
            </a:pPr>
            <a:endParaRPr lang="fr-FR" dirty="0"/>
          </a:p>
          <a:p>
            <a:pPr marL="268288" indent="-268288" algn="just" eaLnBrk="1" hangingPunct="1">
              <a:buFont typeface="Wingdings" pitchFamily="2" charset="2"/>
              <a:buChar char="q"/>
              <a:defRPr/>
            </a:pPr>
            <a:r>
              <a:rPr lang="fr-FR" dirty="0"/>
              <a:t>D’autre part, il faut aussi garder un couple de démarrage suffisant, afin qu’il soit supérieur au couple résistant, et parce qu’une diminution du couple augmente le temps de démarrage.</a:t>
            </a:r>
          </a:p>
          <a:p>
            <a:pPr algn="just" eaLnBrk="1" hangingPunct="1">
              <a:defRPr/>
            </a:pPr>
            <a:endParaRPr lang="fr-FR" dirty="0"/>
          </a:p>
          <a:p>
            <a:pPr algn="just" eaLnBrk="1" hangingPunct="1">
              <a:buFont typeface="Wingdings" pitchFamily="2" charset="2"/>
              <a:buChar char="q"/>
              <a:defRPr/>
            </a:pPr>
            <a:endParaRPr lang="fr-FR" dirty="0"/>
          </a:p>
        </p:txBody>
      </p:sp>
      <p:sp>
        <p:nvSpPr>
          <p:cNvPr id="59395"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59396"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D958948-8034-4F16-B74A-55280335CFDF}" type="slidenum">
              <a:rPr lang="en-US" altLang="fr-FR" sz="1000">
                <a:solidFill>
                  <a:srgbClr val="292929"/>
                </a:solidFill>
                <a:latin typeface="Arial" panose="020B0604020202020204" pitchFamily="34" charset="0"/>
              </a:rPr>
              <a:pPr>
                <a:spcBef>
                  <a:spcPct val="0"/>
                </a:spcBef>
                <a:buClrTx/>
                <a:buSzTx/>
                <a:buFontTx/>
                <a:buNone/>
              </a:pPr>
              <a:t>25</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
        <p:nvSpPr>
          <p:cNvPr id="59398" name="Rectangle 4"/>
          <p:cNvSpPr>
            <a:spLocks noChangeArrowheads="1"/>
          </p:cNvSpPr>
          <p:nvPr/>
        </p:nvSpPr>
        <p:spPr bwMode="auto">
          <a:xfrm>
            <a:off x="1692275" y="254000"/>
            <a:ext cx="5399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Démarrage des moteurs asynchrones</a:t>
            </a:r>
            <a:endParaRPr lang="fr-FR" altLang="fr-FR" sz="2400">
              <a:latin typeface="Arial Narrow" panose="020B0606020202030204" pitchFamily="34" charset="0"/>
            </a:endParaRPr>
          </a:p>
        </p:txBody>
      </p:sp>
    </p:spTree>
    <p:extLst>
      <p:ext uri="{BB962C8B-B14F-4D97-AF65-F5344CB8AC3E}">
        <p14:creationId xmlns:p14="http://schemas.microsoft.com/office/powerpoint/2010/main" val="34919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3"/>
          <p:cNvSpPr>
            <a:spLocks noChangeArrowheads="1"/>
          </p:cNvSpPr>
          <p:nvPr/>
        </p:nvSpPr>
        <p:spPr bwMode="auto">
          <a:xfrm>
            <a:off x="665163" y="909638"/>
            <a:ext cx="77771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Pour un </a:t>
            </a:r>
            <a:r>
              <a:rPr lang="fr-FR" altLang="fr-FR" sz="1800" i="1">
                <a:latin typeface="Arial Narrow" panose="020B0606020202030204" pitchFamily="34" charset="0"/>
              </a:rPr>
              <a:t>démarrage à vide (T</a:t>
            </a:r>
            <a:r>
              <a:rPr lang="fr-FR" altLang="fr-FR" sz="1800" i="1" baseline="-25000">
                <a:latin typeface="Arial Narrow" panose="020B0606020202030204" pitchFamily="34" charset="0"/>
              </a:rPr>
              <a:t>res</a:t>
            </a:r>
            <a:r>
              <a:rPr lang="fr-FR" altLang="fr-FR" sz="1800" i="1">
                <a:latin typeface="Arial Narrow" panose="020B0606020202030204" pitchFamily="34" charset="0"/>
              </a:rPr>
              <a:t> = 0), en négligeant le couple T</a:t>
            </a:r>
            <a:r>
              <a:rPr lang="fr-FR" altLang="fr-FR" sz="1800" i="1" baseline="-25000">
                <a:latin typeface="Arial Narrow" panose="020B0606020202030204" pitchFamily="34" charset="0"/>
              </a:rPr>
              <a:t>f+v  </a:t>
            </a:r>
            <a:r>
              <a:rPr lang="fr-FR" altLang="fr-FR" sz="1800" i="1">
                <a:latin typeface="Arial Narrow" panose="020B0606020202030204" pitchFamily="34" charset="0"/>
              </a:rPr>
              <a:t> (pertes de frottement et ventilation).</a:t>
            </a:r>
            <a:endParaRPr lang="fr-FR" altLang="fr-FR" sz="1800" i="1" baseline="-25000">
              <a:latin typeface="Arial Narrow" panose="020B0606020202030204" pitchFamily="34" charset="0"/>
            </a:endParaRPr>
          </a:p>
        </p:txBody>
      </p:sp>
      <p:sp>
        <p:nvSpPr>
          <p:cNvPr id="61443" name="Rectangle 4"/>
          <p:cNvSpPr>
            <a:spLocks noChangeArrowheads="1"/>
          </p:cNvSpPr>
          <p:nvPr/>
        </p:nvSpPr>
        <p:spPr bwMode="auto">
          <a:xfrm>
            <a:off x="2519363" y="254000"/>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Démarrage des moteurs asynchrones</a:t>
            </a:r>
            <a:endParaRPr lang="fr-FR" altLang="fr-FR" sz="2000">
              <a:latin typeface="Arial Narrow" panose="020B0606020202030204" pitchFamily="34" charset="0"/>
            </a:endParaRPr>
          </a:p>
        </p:txBody>
      </p:sp>
      <p:sp>
        <p:nvSpPr>
          <p:cNvPr id="61444"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61445" name="Picture 2"/>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3294063" y="1530350"/>
            <a:ext cx="281781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6" name="Rectangle 7"/>
          <p:cNvSpPr>
            <a:spLocks noChangeArrowheads="1"/>
          </p:cNvSpPr>
          <p:nvPr/>
        </p:nvSpPr>
        <p:spPr bwMode="auto">
          <a:xfrm>
            <a:off x="774700" y="2370138"/>
            <a:ext cx="7667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L’énergie dissipée dans l’enroulement rotorique, au cours du démarrage, est :</a:t>
            </a:r>
          </a:p>
        </p:txBody>
      </p:sp>
      <p:sp>
        <p:nvSpPr>
          <p:cNvPr id="61447" name="Rectangle 9"/>
          <p:cNvSpPr>
            <a:spLocks noChangeArrowheads="1"/>
          </p:cNvSpPr>
          <p:nvPr/>
        </p:nvSpPr>
        <p:spPr bwMode="auto">
          <a:xfrm>
            <a:off x="920750" y="3757613"/>
            <a:ext cx="76311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 Dans un démarrage à vide, l’</a:t>
            </a:r>
            <a:r>
              <a:rPr lang="fr-FR" altLang="fr-FR" sz="1800" i="1">
                <a:latin typeface="Arial Narrow" panose="020B0606020202030204" pitchFamily="34" charset="0"/>
              </a:rPr>
              <a:t>énergie thermique dissipée dans le rotor est égale à l’énergie cinétique de toutes les masses tournantes, ceci indépendamment du temps de démarrage, donc de la tension appliquée.</a:t>
            </a:r>
            <a:endParaRPr lang="fr-FR" altLang="fr-FR" sz="1800">
              <a:latin typeface="Arial Narrow" panose="020B0606020202030204" pitchFamily="34" charset="0"/>
            </a:endParaRPr>
          </a:p>
        </p:txBody>
      </p:sp>
      <p:sp>
        <p:nvSpPr>
          <p:cNvPr id="61448" name="Rectangle 10"/>
          <p:cNvSpPr>
            <a:spLocks noChangeArrowheads="1"/>
          </p:cNvSpPr>
          <p:nvPr/>
        </p:nvSpPr>
        <p:spPr bwMode="auto">
          <a:xfrm>
            <a:off x="920750" y="4864100"/>
            <a:ext cx="76676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 En présence d’un couple résistant, W</a:t>
            </a:r>
            <a:r>
              <a:rPr lang="fr-FR" altLang="fr-FR" sz="1800" i="1" baseline="-25000">
                <a:latin typeface="Arial Narrow" panose="020B0606020202030204" pitchFamily="34" charset="0"/>
              </a:rPr>
              <a:t>thr</a:t>
            </a:r>
            <a:r>
              <a:rPr lang="fr-FR" altLang="fr-FR" sz="1800">
                <a:latin typeface="Arial Narrow" panose="020B0606020202030204" pitchFamily="34" charset="0"/>
              </a:rPr>
              <a:t> est supérieur à W</a:t>
            </a:r>
            <a:r>
              <a:rPr lang="fr-FR" altLang="fr-FR" sz="1800" i="1" baseline="-25000">
                <a:latin typeface="Arial Narrow" panose="020B0606020202030204" pitchFamily="34" charset="0"/>
              </a:rPr>
              <a:t>cin</a:t>
            </a:r>
            <a:r>
              <a:rPr lang="fr-FR" altLang="fr-FR" sz="1800">
                <a:latin typeface="Arial Narrow" panose="020B0606020202030204" pitchFamily="34" charset="0"/>
              </a:rPr>
              <a:t>, et ceci d’autant plus que le couple résistant T</a:t>
            </a:r>
            <a:r>
              <a:rPr lang="fr-FR" altLang="fr-FR" sz="1800" i="1" baseline="-25000">
                <a:latin typeface="Arial Narrow" panose="020B0606020202030204" pitchFamily="34" charset="0"/>
              </a:rPr>
              <a:t>res</a:t>
            </a:r>
            <a:r>
              <a:rPr lang="fr-FR" altLang="fr-FR" sz="1800">
                <a:latin typeface="Arial Narrow" panose="020B0606020202030204" pitchFamily="34" charset="0"/>
              </a:rPr>
              <a:t> et que le temps de démarrage sont importants.</a:t>
            </a:r>
          </a:p>
        </p:txBody>
      </p:sp>
      <p:sp>
        <p:nvSpPr>
          <p:cNvPr id="61449"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92321FA-71EF-4344-9923-4AF77910C2D2}" type="slidenum">
              <a:rPr lang="en-US" altLang="fr-FR" sz="1000">
                <a:solidFill>
                  <a:srgbClr val="292929"/>
                </a:solidFill>
                <a:latin typeface="Arial" panose="020B0604020202020204" pitchFamily="34" charset="0"/>
              </a:rPr>
              <a:pPr>
                <a:spcBef>
                  <a:spcPct val="0"/>
                </a:spcBef>
                <a:buClrTx/>
                <a:buSzTx/>
                <a:buFontTx/>
                <a:buNone/>
              </a:pPr>
              <a:t>26</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
        <p:nvSpPr>
          <p:cNvPr id="61451" name="ZoneTexte 14"/>
          <p:cNvSpPr txBox="1">
            <a:spLocks noChangeArrowheads="1"/>
          </p:cNvSpPr>
          <p:nvPr/>
        </p:nvSpPr>
        <p:spPr bwMode="auto">
          <a:xfrm>
            <a:off x="5484813" y="1895475"/>
            <a:ext cx="29210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2" name="ZoneTexte 13"/>
          <p:cNvSpPr txBox="1">
            <a:spLocks noChangeArrowheads="1"/>
          </p:cNvSpPr>
          <p:nvPr/>
        </p:nvSpPr>
        <p:spPr bwMode="auto">
          <a:xfrm>
            <a:off x="5557838" y="18065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grpSp>
        <p:nvGrpSpPr>
          <p:cNvPr id="61453" name="Groupe 18"/>
          <p:cNvGrpSpPr>
            <a:grpSpLocks/>
          </p:cNvGrpSpPr>
          <p:nvPr/>
        </p:nvGrpSpPr>
        <p:grpSpPr bwMode="auto">
          <a:xfrm>
            <a:off x="2563813" y="2917825"/>
            <a:ext cx="4879975" cy="592138"/>
            <a:chOff x="2563813" y="2917818"/>
            <a:chExt cx="4879975" cy="592349"/>
          </a:xfrm>
        </p:grpSpPr>
        <p:pic>
          <p:nvPicPr>
            <p:cNvPr id="61458" name="Picture 3"/>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63813" y="2917825"/>
              <a:ext cx="48799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9" name="ZoneTexte 15"/>
            <p:cNvSpPr txBox="1">
              <a:spLocks noChangeArrowheads="1"/>
            </p:cNvSpPr>
            <p:nvPr/>
          </p:nvSpPr>
          <p:spPr bwMode="auto">
            <a:xfrm>
              <a:off x="5411799" y="2917818"/>
              <a:ext cx="216000" cy="46166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60" name="ZoneTexte 16"/>
            <p:cNvSpPr txBox="1">
              <a:spLocks noChangeArrowheads="1"/>
            </p:cNvSpPr>
            <p:nvPr/>
          </p:nvSpPr>
          <p:spPr bwMode="auto">
            <a:xfrm>
              <a:off x="5375286" y="3063870"/>
              <a:ext cx="474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
          <p:nvSpPr>
            <p:cNvPr id="61461" name="ZoneTexte 17"/>
            <p:cNvSpPr txBox="1">
              <a:spLocks noChangeArrowheads="1"/>
            </p:cNvSpPr>
            <p:nvPr/>
          </p:nvSpPr>
          <p:spPr bwMode="auto">
            <a:xfrm>
              <a:off x="5025350" y="3202390"/>
              <a:ext cx="47466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grpSp>
      <p:sp>
        <p:nvSpPr>
          <p:cNvPr id="61454" name="ZoneTexte 20"/>
          <p:cNvSpPr txBox="1">
            <a:spLocks noChangeArrowheads="1"/>
          </p:cNvSpPr>
          <p:nvPr/>
        </p:nvSpPr>
        <p:spPr bwMode="auto">
          <a:xfrm>
            <a:off x="5338763" y="1311275"/>
            <a:ext cx="1079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5" name="ZoneTexte 21"/>
          <p:cNvSpPr txBox="1">
            <a:spLocks noChangeArrowheads="1"/>
          </p:cNvSpPr>
          <p:nvPr/>
        </p:nvSpPr>
        <p:spPr bwMode="auto">
          <a:xfrm>
            <a:off x="5265738" y="15144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
        <p:nvSpPr>
          <p:cNvPr id="61456" name="ZoneTexte 23"/>
          <p:cNvSpPr txBox="1">
            <a:spLocks noChangeArrowheads="1"/>
          </p:cNvSpPr>
          <p:nvPr/>
        </p:nvSpPr>
        <p:spPr bwMode="auto">
          <a:xfrm>
            <a:off x="5776913" y="2990850"/>
            <a:ext cx="107950"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1457" name="ZoneTexte 24"/>
          <p:cNvSpPr txBox="1">
            <a:spLocks noChangeArrowheads="1"/>
          </p:cNvSpPr>
          <p:nvPr/>
        </p:nvSpPr>
        <p:spPr bwMode="auto">
          <a:xfrm>
            <a:off x="5703888" y="3063875"/>
            <a:ext cx="4746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g</a:t>
            </a:r>
          </a:p>
        </p:txBody>
      </p:sp>
    </p:spTree>
    <p:extLst>
      <p:ext uri="{BB962C8B-B14F-4D97-AF65-F5344CB8AC3E}">
        <p14:creationId xmlns:p14="http://schemas.microsoft.com/office/powerpoint/2010/main" val="2155608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p:cNvSpPr>
            <a:spLocks noChangeArrowheads="1"/>
          </p:cNvSpPr>
          <p:nvPr/>
        </p:nvSpPr>
        <p:spPr bwMode="auto">
          <a:xfrm>
            <a:off x="884238" y="1098550"/>
            <a:ext cx="77041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Les échauffements consécutifs aux dissipations doivent être contrôlés, surtout dans le cadre d’un démarrage lourd (forte inertie et couple résistant important). Le rotor est généralement le plus sollicité thermiquement.</a:t>
            </a:r>
          </a:p>
        </p:txBody>
      </p:sp>
      <p:sp>
        <p:nvSpPr>
          <p:cNvPr id="63491" name="Rectangle 4"/>
          <p:cNvSpPr>
            <a:spLocks noChangeArrowheads="1"/>
          </p:cNvSpPr>
          <p:nvPr/>
        </p:nvSpPr>
        <p:spPr bwMode="auto">
          <a:xfrm>
            <a:off x="920750" y="2570163"/>
            <a:ext cx="766762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L’énergie W</a:t>
            </a:r>
            <a:r>
              <a:rPr lang="fr-FR" altLang="fr-FR" sz="2000" baseline="-25000">
                <a:latin typeface="Arial Narrow" panose="020B0606020202030204" pitchFamily="34" charset="0"/>
              </a:rPr>
              <a:t>thr</a:t>
            </a:r>
            <a:r>
              <a:rPr lang="fr-FR" altLang="fr-FR" sz="2000">
                <a:latin typeface="Arial Narrow" panose="020B0606020202030204" pitchFamily="34" charset="0"/>
              </a:rPr>
              <a:t> est dans un moteur à cage entièrement dissipée dans la cage rotorique, et dans un moteur à bagues en majeure partie dans le rhéostat de démarrage. Pour des inerties ou des couples externes trop importants, l’échauffement du rotor peut devenir prohibitif.</a:t>
            </a:r>
          </a:p>
          <a:p>
            <a:pPr algn="just" eaLnBrk="1" hangingPunct="1">
              <a:spcBef>
                <a:spcPct val="0"/>
              </a:spcBef>
              <a:buClrTx/>
              <a:buSzTx/>
              <a:buFont typeface="Wingdings" panose="05000000000000000000" pitchFamily="2" charset="2"/>
              <a:buChar char="q"/>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endParaRPr lang="fr-FR" altLang="fr-FR" sz="2000">
              <a:latin typeface="Arial Narrow" panose="020B0606020202030204" pitchFamily="34" charset="0"/>
            </a:endParaRPr>
          </a:p>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Dans le cas des rotors à cage, la limite thermique acceptable est environ vers 200°C.</a:t>
            </a:r>
          </a:p>
        </p:txBody>
      </p:sp>
      <p:sp>
        <p:nvSpPr>
          <p:cNvPr id="63492" name="Rectangle 5"/>
          <p:cNvSpPr>
            <a:spLocks noChangeArrowheads="1"/>
          </p:cNvSpPr>
          <p:nvPr/>
        </p:nvSpPr>
        <p:spPr bwMode="auto">
          <a:xfrm>
            <a:off x="2019300" y="442913"/>
            <a:ext cx="457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Démarrage des moteurs asynchrones</a:t>
            </a:r>
            <a:endParaRPr lang="fr-FR" altLang="fr-FR" sz="2000">
              <a:latin typeface="Arial Narrow" panose="020B0606020202030204" pitchFamily="34" charset="0"/>
            </a:endParaRPr>
          </a:p>
        </p:txBody>
      </p:sp>
      <p:sp>
        <p:nvSpPr>
          <p:cNvPr id="63493"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3494"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A8678F7-4F80-4EC7-BB43-D71574758B74}" type="slidenum">
              <a:rPr lang="en-US" altLang="fr-FR" sz="1000">
                <a:solidFill>
                  <a:srgbClr val="292929"/>
                </a:solidFill>
                <a:latin typeface="Arial" panose="020B0604020202020204" pitchFamily="34" charset="0"/>
              </a:rPr>
              <a:pPr>
                <a:spcBef>
                  <a:spcPct val="0"/>
                </a:spcBef>
                <a:buClrTx/>
                <a:buSzTx/>
                <a:buFontTx/>
                <a:buNone/>
              </a:pPr>
              <a:t>27</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14106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3"/>
          <p:cNvSpPr>
            <a:spLocks noChangeArrowheads="1"/>
          </p:cNvSpPr>
          <p:nvPr/>
        </p:nvSpPr>
        <p:spPr bwMode="auto">
          <a:xfrm>
            <a:off x="555625" y="1030288"/>
            <a:ext cx="81788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2000">
                <a:latin typeface="Arial Narrow" panose="020B0606020202030204" pitchFamily="34" charset="0"/>
              </a:rPr>
              <a:t> Dans le cas d’un rotor à bagues, l’insertion d’une résistance additionnelle extérieure par l’intermédiaire des bagues et des balais </a:t>
            </a:r>
            <a:r>
              <a:rPr lang="fr-FR" altLang="fr-FR" sz="2000">
                <a:solidFill>
                  <a:srgbClr val="FF0000"/>
                </a:solidFill>
                <a:latin typeface="Arial Narrow" panose="020B0606020202030204" pitchFamily="34" charset="0"/>
              </a:rPr>
              <a:t>permet de déplacer le glissement</a:t>
            </a:r>
            <a:r>
              <a:rPr lang="fr-FR" altLang="fr-FR" sz="2000">
                <a:latin typeface="Arial Narrow" panose="020B0606020202030204" pitchFamily="34" charset="0"/>
              </a:rPr>
              <a:t> g</a:t>
            </a:r>
            <a:r>
              <a:rPr lang="fr-FR" altLang="fr-FR" sz="2000" baseline="-25000">
                <a:latin typeface="Arial Narrow" panose="020B0606020202030204" pitchFamily="34" charset="0"/>
              </a:rPr>
              <a:t>m</a:t>
            </a:r>
            <a:r>
              <a:rPr lang="fr-FR" altLang="fr-FR" sz="2000">
                <a:latin typeface="Arial Narrow" panose="020B0606020202030204" pitchFamily="34" charset="0"/>
              </a:rPr>
              <a:t> et d’obtenir des conditions optimales de démarrage. En augmentant la résistance du rotor, le </a:t>
            </a:r>
            <a:r>
              <a:rPr lang="fr-FR" altLang="fr-FR" sz="2000">
                <a:solidFill>
                  <a:srgbClr val="FF0000"/>
                </a:solidFill>
                <a:latin typeface="Arial Narrow" panose="020B0606020202030204" pitchFamily="34" charset="0"/>
              </a:rPr>
              <a:t>courant d’appel au démarrage est réduit</a:t>
            </a:r>
            <a:r>
              <a:rPr lang="fr-FR" altLang="fr-FR" sz="2000">
                <a:latin typeface="Arial Narrow" panose="020B0606020202030204" pitchFamily="34" charset="0"/>
              </a:rPr>
              <a:t> et le </a:t>
            </a:r>
            <a:r>
              <a:rPr lang="fr-FR" altLang="fr-FR" sz="2000">
                <a:solidFill>
                  <a:srgbClr val="FF0000"/>
                </a:solidFill>
                <a:latin typeface="Arial Narrow" panose="020B0606020202030204" pitchFamily="34" charset="0"/>
              </a:rPr>
              <a:t>couple de démarrage augmenté</a:t>
            </a:r>
            <a:r>
              <a:rPr lang="fr-FR" altLang="fr-FR" sz="2000">
                <a:latin typeface="Arial Narrow" panose="020B0606020202030204" pitchFamily="34" charset="0"/>
              </a:rPr>
              <a:t>. Ceci permet aussi un réglage de vitesse.</a:t>
            </a:r>
          </a:p>
        </p:txBody>
      </p:sp>
      <p:pic>
        <p:nvPicPr>
          <p:cNvPr id="65539" name="Picture 2"/>
          <p:cNvPicPr>
            <a:picLocks noChangeAspect="1" noChangeArrowheads="1"/>
          </p:cNvPicPr>
          <p:nvPr/>
        </p:nvPicPr>
        <p:blipFill>
          <a:blip r:embed="rId3">
            <a:clrChange>
              <a:clrFrom>
                <a:srgbClr val="FFFFFF"/>
              </a:clrFrom>
              <a:clrTo>
                <a:srgbClr val="FFFFFF">
                  <a:alpha val="0"/>
                </a:srgbClr>
              </a:clrTo>
            </a:clrChange>
            <a:lum bright="-10000"/>
            <a:extLst>
              <a:ext uri="{28A0092B-C50C-407E-A947-70E740481C1C}">
                <a14:useLocalDpi xmlns:a14="http://schemas.microsoft.com/office/drawing/2010/main" val="0"/>
              </a:ext>
            </a:extLst>
          </a:blip>
          <a:srcRect/>
          <a:stretch>
            <a:fillRect/>
          </a:stretch>
        </p:blipFill>
        <p:spPr bwMode="auto">
          <a:xfrm>
            <a:off x="150813" y="3035300"/>
            <a:ext cx="5459412"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0" name="Picture 3"/>
          <p:cNvPicPr>
            <a:picLocks noChangeAspect="1" noChangeArrowheads="1"/>
          </p:cNvPicPr>
          <p:nvPr/>
        </p:nvPicPr>
        <p:blipFill>
          <a:blip r:embed="rId4">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5795963" y="2906713"/>
            <a:ext cx="2465387"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1" name="Rectangle 6"/>
          <p:cNvSpPr>
            <a:spLocks noChangeArrowheads="1"/>
          </p:cNvSpPr>
          <p:nvPr/>
        </p:nvSpPr>
        <p:spPr bwMode="auto">
          <a:xfrm>
            <a:off x="592138" y="361950"/>
            <a:ext cx="4572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Démarrage d’un moteur asynchrone à bagues:</a:t>
            </a:r>
            <a:endParaRPr lang="fr-FR" altLang="fr-FR" sz="1800">
              <a:latin typeface="Arial Narrow" panose="020B0606020202030204" pitchFamily="34" charset="0"/>
            </a:endParaRPr>
          </a:p>
        </p:txBody>
      </p:sp>
      <p:sp>
        <p:nvSpPr>
          <p:cNvPr id="65542"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5543"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E65D6CF-F563-4A0A-97BE-FFC422ABF394}" type="slidenum">
              <a:rPr lang="en-US" altLang="fr-FR" sz="1000">
                <a:solidFill>
                  <a:srgbClr val="292929"/>
                </a:solidFill>
                <a:latin typeface="Arial" panose="020B0604020202020204" pitchFamily="34" charset="0"/>
              </a:rPr>
              <a:pPr>
                <a:spcBef>
                  <a:spcPct val="0"/>
                </a:spcBef>
                <a:buClrTx/>
                <a:buSzTx/>
                <a:buFontTx/>
                <a:buNone/>
              </a:pPr>
              <a:t>28</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148220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67587" name="Rectangle 4"/>
          <p:cNvSpPr>
            <a:spLocks noChangeArrowheads="1"/>
          </p:cNvSpPr>
          <p:nvPr/>
        </p:nvSpPr>
        <p:spPr bwMode="auto">
          <a:xfrm>
            <a:off x="482600" y="1055688"/>
            <a:ext cx="81788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q"/>
            </a:pPr>
            <a:r>
              <a:rPr lang="fr-FR" altLang="fr-FR" sz="1800">
                <a:latin typeface="Arial Narrow" panose="020B0606020202030204" pitchFamily="34" charset="0"/>
              </a:rPr>
              <a:t> En raison de l’impossibilité d’augmenter la résistance rotorique au moyen d’un rhéostat, le </a:t>
            </a:r>
            <a:r>
              <a:rPr lang="fr-FR" altLang="fr-FR" sz="1800" i="1">
                <a:latin typeface="Arial Narrow" panose="020B0606020202030204" pitchFamily="34" charset="0"/>
              </a:rPr>
              <a:t>courant au démarrage est important, comparé au courant nominal du moteur, en général </a:t>
            </a:r>
            <a:r>
              <a:rPr lang="fr-FR" altLang="fr-FR" sz="1800" i="1">
                <a:solidFill>
                  <a:srgbClr val="FF0000"/>
                </a:solidFill>
                <a:latin typeface="Arial Narrow" panose="020B0606020202030204" pitchFamily="34" charset="0"/>
              </a:rPr>
              <a:t>I</a:t>
            </a:r>
            <a:r>
              <a:rPr lang="fr-FR" altLang="fr-FR" sz="1800" i="1" baseline="-25000">
                <a:solidFill>
                  <a:srgbClr val="FF0000"/>
                </a:solidFill>
                <a:latin typeface="Arial Narrow" panose="020B0606020202030204" pitchFamily="34" charset="0"/>
              </a:rPr>
              <a:t>d</a:t>
            </a:r>
            <a:r>
              <a:rPr lang="fr-FR" altLang="fr-FR" sz="1800" i="1">
                <a:solidFill>
                  <a:srgbClr val="FF0000"/>
                </a:solidFill>
                <a:latin typeface="Arial Narrow" panose="020B0606020202030204" pitchFamily="34" charset="0"/>
              </a:rPr>
              <a:t> = 4 à 6 I</a:t>
            </a:r>
            <a:r>
              <a:rPr lang="fr-FR" altLang="fr-FR" sz="1800" i="1" baseline="-25000">
                <a:solidFill>
                  <a:srgbClr val="FF0000"/>
                </a:solidFill>
                <a:latin typeface="Arial Narrow" panose="020B0606020202030204" pitchFamily="34" charset="0"/>
              </a:rPr>
              <a:t>N</a:t>
            </a:r>
            <a:r>
              <a:rPr lang="fr-FR" altLang="fr-FR" sz="1800" i="1">
                <a:solidFill>
                  <a:srgbClr val="FF0000"/>
                </a:solidFill>
                <a:latin typeface="Arial Narrow" panose="020B0606020202030204" pitchFamily="34" charset="0"/>
              </a:rPr>
              <a:t> </a:t>
            </a:r>
            <a:r>
              <a:rPr lang="fr-FR" altLang="fr-FR" sz="1800" i="1">
                <a:latin typeface="Arial Narrow" panose="020B0606020202030204" pitchFamily="34" charset="0"/>
              </a:rPr>
              <a:t>. Le couple au démarrage est généralement compris entre </a:t>
            </a:r>
            <a:r>
              <a:rPr lang="fr-FR" altLang="fr-FR" sz="1800" i="1">
                <a:solidFill>
                  <a:srgbClr val="FF0000"/>
                </a:solidFill>
                <a:latin typeface="Arial Narrow" panose="020B0606020202030204" pitchFamily="34" charset="0"/>
              </a:rPr>
              <a:t>30% et 100% </a:t>
            </a:r>
            <a:r>
              <a:rPr lang="fr-FR" altLang="fr-FR" sz="1800" i="1">
                <a:latin typeface="Arial Narrow" panose="020B0606020202030204" pitchFamily="34" charset="0"/>
              </a:rPr>
              <a:t>du couple nominal.</a:t>
            </a:r>
            <a:endParaRPr lang="fr-FR" altLang="fr-FR" sz="1800">
              <a:latin typeface="Arial Narrow" panose="020B0606020202030204" pitchFamily="34" charset="0"/>
            </a:endParaRPr>
          </a:p>
        </p:txBody>
      </p:sp>
      <p:sp>
        <p:nvSpPr>
          <p:cNvPr id="67588" name="Rectangle 5"/>
          <p:cNvSpPr>
            <a:spLocks noChangeArrowheads="1"/>
          </p:cNvSpPr>
          <p:nvPr/>
        </p:nvSpPr>
        <p:spPr bwMode="auto">
          <a:xfrm>
            <a:off x="1249363" y="5556250"/>
            <a:ext cx="701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a:latin typeface="Arial Narrow" panose="020B0606020202030204" pitchFamily="34" charset="0"/>
              </a:rPr>
              <a:t>l’allure typique du </a:t>
            </a:r>
            <a:r>
              <a:rPr lang="fr-FR" altLang="fr-FR" sz="1600" i="1">
                <a:latin typeface="Arial Narrow" panose="020B0606020202030204" pitchFamily="34" charset="0"/>
              </a:rPr>
              <a:t>couple électromagnétique lors du régime transitoire correspondant </a:t>
            </a:r>
            <a:r>
              <a:rPr lang="fr-FR" altLang="fr-FR" sz="1600">
                <a:latin typeface="Arial Narrow" panose="020B0606020202030204" pitchFamily="34" charset="0"/>
              </a:rPr>
              <a:t>au démarrage direct d’un moteur asynchrone connecté sur le réseau (moteur : 1.5 kW, 1500 tr/min, 380 V).</a:t>
            </a:r>
          </a:p>
        </p:txBody>
      </p:sp>
      <p:pic>
        <p:nvPicPr>
          <p:cNvPr id="67589"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17863" y="2270125"/>
            <a:ext cx="3873500" cy="32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7591" name="Rectangle 8"/>
          <p:cNvSpPr>
            <a:spLocks noChangeArrowheads="1"/>
          </p:cNvSpPr>
          <p:nvPr/>
        </p:nvSpPr>
        <p:spPr bwMode="auto">
          <a:xfrm>
            <a:off x="665163" y="2589213"/>
            <a:ext cx="22637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600" i="1">
                <a:latin typeface="Arial Narrow" panose="020B0606020202030204" pitchFamily="34" charset="0"/>
              </a:rPr>
              <a:t>Composante pulsante très importante, qui peut être </a:t>
            </a:r>
            <a:r>
              <a:rPr lang="fr-FR" altLang="fr-FR" sz="1600">
                <a:latin typeface="Arial Narrow" panose="020B0606020202030204" pitchFamily="34" charset="0"/>
              </a:rPr>
              <a:t>dommageable pour l’arbre et l’accouplement, si le moteur est soumis à des démarrages très fréquents.</a:t>
            </a:r>
          </a:p>
        </p:txBody>
      </p:sp>
      <p:cxnSp>
        <p:nvCxnSpPr>
          <p:cNvPr id="11" name="Connecteur droit avec flèche 10"/>
          <p:cNvCxnSpPr/>
          <p:nvPr/>
        </p:nvCxnSpPr>
        <p:spPr>
          <a:xfrm>
            <a:off x="2965450" y="2917825"/>
            <a:ext cx="803275" cy="292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7593"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BD4C9EB-0942-4A84-9EA5-EF29C067B5EA}" type="slidenum">
              <a:rPr lang="en-US" altLang="fr-FR" sz="1000">
                <a:solidFill>
                  <a:srgbClr val="292929"/>
                </a:solidFill>
                <a:latin typeface="Arial" panose="020B0604020202020204" pitchFamily="34" charset="0"/>
              </a:rPr>
              <a:pPr>
                <a:spcBef>
                  <a:spcPct val="0"/>
                </a:spcBef>
                <a:buClrTx/>
                <a:buSzTx/>
                <a:buFontTx/>
                <a:buNone/>
              </a:pPr>
              <a:t>29</a:t>
            </a:fld>
            <a:endParaRPr lang="en-US" altLang="fr-FR" sz="1000">
              <a:solidFill>
                <a:srgbClr val="292929"/>
              </a:solidFill>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679639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p:cNvSpPr>
            <a:spLocks noChangeArrowheads="1"/>
          </p:cNvSpPr>
          <p:nvPr/>
        </p:nvSpPr>
        <p:spPr bwMode="auto">
          <a:xfrm>
            <a:off x="482600" y="898525"/>
            <a:ext cx="8251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Les figures suivantes montrent l’évolution typique du courant et de la vitesse lors d’un démarrage direct.</a:t>
            </a:r>
          </a:p>
          <a:p>
            <a:pPr algn="just" eaLnBrk="1" hangingPunct="1">
              <a:spcBef>
                <a:spcPct val="0"/>
              </a:spcBef>
              <a:buClrTx/>
              <a:buSzTx/>
              <a:buFontTx/>
              <a:buNone/>
            </a:pPr>
            <a:r>
              <a:rPr lang="fr-FR" altLang="fr-FR" sz="1800">
                <a:latin typeface="Arial Narrow" panose="020B0606020202030204" pitchFamily="34" charset="0"/>
              </a:rPr>
              <a:t>On notera l’importance de l’amplitude du courant statorique I</a:t>
            </a:r>
            <a:r>
              <a:rPr lang="fr-FR" altLang="fr-FR" sz="1800" baseline="-25000">
                <a:latin typeface="Arial Narrow" panose="020B0606020202030204" pitchFamily="34" charset="0"/>
              </a:rPr>
              <a:t>s</a:t>
            </a:r>
            <a:r>
              <a:rPr lang="fr-FR" altLang="fr-FR" sz="1800">
                <a:latin typeface="Arial Narrow" panose="020B0606020202030204" pitchFamily="34" charset="0"/>
              </a:rPr>
              <a:t> par rapport la valeur nominale I</a:t>
            </a:r>
            <a:r>
              <a:rPr lang="fr-FR" altLang="fr-FR" sz="1800" baseline="-25000">
                <a:latin typeface="Arial Narrow" panose="020B0606020202030204" pitchFamily="34" charset="0"/>
              </a:rPr>
              <a:t>sN</a:t>
            </a:r>
            <a:r>
              <a:rPr lang="fr-FR" altLang="fr-FR" sz="1800">
                <a:latin typeface="Arial Narrow" panose="020B0606020202030204" pitchFamily="34" charset="0"/>
              </a:rPr>
              <a:t>.</a:t>
            </a:r>
          </a:p>
        </p:txBody>
      </p:sp>
      <p:pic>
        <p:nvPicPr>
          <p:cNvPr id="69635"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6800" y="2384425"/>
            <a:ext cx="3563938" cy="356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6" name="Picture 3"/>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64100" y="2420938"/>
            <a:ext cx="3563938" cy="356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Rectangle 37"/>
          <p:cNvSpPr>
            <a:spLocks noChangeArrowheads="1"/>
          </p:cNvSpPr>
          <p:nvPr/>
        </p:nvSpPr>
        <p:spPr bwMode="auto">
          <a:xfrm>
            <a:off x="227013" y="244475"/>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69638" name="Rectangle 3"/>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69639"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2A127D2-1C2C-4ECB-B9FC-7C323978F2E4}" type="slidenum">
              <a:rPr lang="en-US" altLang="fr-FR" sz="1000">
                <a:solidFill>
                  <a:srgbClr val="292929"/>
                </a:solidFill>
                <a:latin typeface="Arial" panose="020B0604020202020204" pitchFamily="34" charset="0"/>
              </a:rPr>
              <a:pPr>
                <a:spcBef>
                  <a:spcPct val="0"/>
                </a:spcBef>
                <a:buClrTx/>
                <a:buSzTx/>
                <a:buFontTx/>
                <a:buNone/>
              </a:pPr>
              <a:t>30</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292461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38188" y="982663"/>
            <a:ext cx="7923212" cy="4092575"/>
          </a:xfrm>
          <a:prstGeom prst="rect">
            <a:avLst/>
          </a:prstGeom>
        </p:spPr>
        <p:txBody>
          <a:bodyPr>
            <a:spAutoFit/>
          </a:bodyPr>
          <a:lstStyle/>
          <a:p>
            <a:pPr eaLnBrk="1" hangingPunct="1">
              <a:defRPr/>
            </a:pPr>
            <a:r>
              <a:rPr lang="fr-FR" sz="2000" dirty="0"/>
              <a:t>Les moyens couramment employés sont :</a:t>
            </a:r>
          </a:p>
          <a:p>
            <a:pPr eaLnBrk="1" hangingPunct="1">
              <a:defRPr/>
            </a:pPr>
            <a:endParaRPr lang="fr-FR" sz="2000" dirty="0"/>
          </a:p>
          <a:p>
            <a:pPr eaLnBrk="1" hangingPunct="1">
              <a:defRPr/>
            </a:pPr>
            <a:endParaRPr lang="fr-FR" sz="2000" dirty="0"/>
          </a:p>
          <a:p>
            <a:pPr marL="538163" indent="-538163" eaLnBrk="1" hangingPunct="1">
              <a:buFont typeface="Wingdings" pitchFamily="2" charset="2"/>
              <a:buChar char="q"/>
              <a:defRPr/>
            </a:pPr>
            <a:r>
              <a:rPr lang="fr-FR" sz="2000" dirty="0"/>
              <a:t>le démarrage étoile-triangle</a:t>
            </a:r>
          </a:p>
          <a:p>
            <a:pPr marL="538163" indent="-538163" eaLnBrk="1" hangingPunct="1">
              <a:buFont typeface="Wingdings" pitchFamily="2" charset="2"/>
              <a:buChar char="q"/>
              <a:defRPr/>
            </a:pPr>
            <a:endParaRPr lang="fr-FR" sz="2000" dirty="0"/>
          </a:p>
          <a:p>
            <a:pPr marL="538163" indent="-538163" eaLnBrk="1" hangingPunct="1">
              <a:buFont typeface="Wingdings" pitchFamily="2" charset="2"/>
              <a:buChar char="q"/>
              <a:defRPr/>
            </a:pPr>
            <a:r>
              <a:rPr lang="fr-FR" sz="2000" dirty="0"/>
              <a:t>le démarrage avec inductances additionnelles (pour moteurs de moyennes et grandes puissances)</a:t>
            </a:r>
          </a:p>
          <a:p>
            <a:pPr marL="538163" indent="-538163" eaLnBrk="1" hangingPunct="1">
              <a:buFont typeface="Wingdings" pitchFamily="2" charset="2"/>
              <a:buChar char="q"/>
              <a:defRPr/>
            </a:pPr>
            <a:endParaRPr lang="fr-FR" sz="2000" dirty="0"/>
          </a:p>
          <a:p>
            <a:pPr marL="538163" indent="-538163" eaLnBrk="1" hangingPunct="1">
              <a:buFont typeface="Wingdings" pitchFamily="2" charset="2"/>
              <a:buChar char="q"/>
              <a:defRPr/>
            </a:pPr>
            <a:r>
              <a:rPr lang="fr-FR" sz="2000" dirty="0"/>
              <a:t>le démarrage avec transformateur ou un autotransformateur (pour moyennes et grandes puissances)</a:t>
            </a:r>
          </a:p>
          <a:p>
            <a:pPr marL="538163" indent="-538163" eaLnBrk="1" hangingPunct="1">
              <a:defRPr/>
            </a:pPr>
            <a:endParaRPr lang="fr-FR" sz="2000" dirty="0"/>
          </a:p>
          <a:p>
            <a:pPr marL="538163" indent="-538163" eaLnBrk="1" hangingPunct="1">
              <a:buFont typeface="Wingdings" pitchFamily="2" charset="2"/>
              <a:buChar char="q"/>
              <a:defRPr/>
            </a:pPr>
            <a:r>
              <a:rPr lang="fr-FR" sz="2000" dirty="0"/>
              <a:t>le démarrage avec un </a:t>
            </a:r>
            <a:r>
              <a:rPr lang="fr-FR" sz="2000" i="1" dirty="0"/>
              <a:t>convertisseur statique, qui est la solution la plus moderne et la plus élégante.</a:t>
            </a:r>
            <a:endParaRPr lang="fr-FR" sz="2000" dirty="0"/>
          </a:p>
        </p:txBody>
      </p:sp>
      <p:sp>
        <p:nvSpPr>
          <p:cNvPr id="71683" name="Rectangle 4"/>
          <p:cNvSpPr>
            <a:spLocks noChangeArrowheads="1"/>
          </p:cNvSpPr>
          <p:nvPr/>
        </p:nvSpPr>
        <p:spPr bwMode="auto">
          <a:xfrm>
            <a:off x="446088" y="471488"/>
            <a:ext cx="5038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Narrow" panose="020B0606020202030204" pitchFamily="34" charset="0"/>
              </a:rPr>
              <a:t>Démarrage des moteurs asynchrones à cage</a:t>
            </a:r>
            <a:endParaRPr lang="fr-FR" altLang="fr-FR" sz="1800">
              <a:latin typeface="Arial Narrow" panose="020B0606020202030204" pitchFamily="34" charset="0"/>
            </a:endParaRPr>
          </a:p>
        </p:txBody>
      </p:sp>
      <p:sp>
        <p:nvSpPr>
          <p:cNvPr id="71684"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1685" name="Espace réservé du numéro de diapositive 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5413EC2-88F4-4668-AB62-E4DD405342E4}" type="slidenum">
              <a:rPr lang="en-US" altLang="fr-FR" sz="1000">
                <a:solidFill>
                  <a:srgbClr val="292929"/>
                </a:solidFill>
                <a:latin typeface="Arial" panose="020B0604020202020204" pitchFamily="34" charset="0"/>
              </a:rPr>
              <a:pPr>
                <a:spcBef>
                  <a:spcPct val="0"/>
                </a:spcBef>
                <a:buClrTx/>
                <a:buSzTx/>
                <a:buFontTx/>
                <a:buNone/>
              </a:pPr>
              <a:t>31</a:t>
            </a:fld>
            <a:endParaRPr lang="en-US" altLang="fr-FR" sz="1000">
              <a:solidFill>
                <a:srgbClr val="292929"/>
              </a:solidFill>
              <a:latin typeface="Arial" panose="020B0604020202020204" pitchFamily="34" charset="0"/>
            </a:endParaRPr>
          </a:p>
        </p:txBody>
      </p:sp>
      <p:sp>
        <p:nvSpPr>
          <p:cNvPr id="8" name="Espace réservé du pied de page 7"/>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744191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ChangeArrowheads="1"/>
          </p:cNvSpPr>
          <p:nvPr/>
        </p:nvSpPr>
        <p:spPr bwMode="auto">
          <a:xfrm>
            <a:off x="519113" y="544513"/>
            <a:ext cx="6389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Démarrage avec inductances (self) additionnelles</a:t>
            </a:r>
            <a:endParaRPr lang="fr-FR" altLang="fr-FR" sz="1800">
              <a:latin typeface="Arial Narrow" panose="020B0606020202030204" pitchFamily="34" charset="0"/>
            </a:endParaRPr>
          </a:p>
        </p:txBody>
      </p:sp>
      <p:pic>
        <p:nvPicPr>
          <p:cNvPr id="73731"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05525" y="2463800"/>
            <a:ext cx="2352675"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5"/>
          <p:cNvSpPr>
            <a:spLocks noChangeArrowheads="1"/>
          </p:cNvSpPr>
          <p:nvPr/>
        </p:nvSpPr>
        <p:spPr bwMode="auto">
          <a:xfrm>
            <a:off x="592138" y="1176338"/>
            <a:ext cx="80327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Au démarrage, une self est insérée en série avec chaque phase du moteur, du coté du point neutre. A la fin du démarrage, les trois selfs sont court-circuitées.</a:t>
            </a:r>
          </a:p>
        </p:txBody>
      </p:sp>
      <p:sp>
        <p:nvSpPr>
          <p:cNvPr id="73733" name="Rectangle 6"/>
          <p:cNvSpPr>
            <a:spLocks noChangeArrowheads="1"/>
          </p:cNvSpPr>
          <p:nvPr/>
        </p:nvSpPr>
        <p:spPr bwMode="auto">
          <a:xfrm>
            <a:off x="592138" y="1931988"/>
            <a:ext cx="5184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Soient Z</a:t>
            </a:r>
            <a:r>
              <a:rPr lang="fr-FR" altLang="fr-FR" sz="1800" baseline="-25000">
                <a:latin typeface="Arial Narrow" panose="020B0606020202030204" pitchFamily="34" charset="0"/>
              </a:rPr>
              <a:t>dph</a:t>
            </a:r>
            <a:r>
              <a:rPr lang="fr-FR" altLang="fr-FR" sz="1800">
                <a:latin typeface="Arial Narrow" panose="020B0606020202030204" pitchFamily="34" charset="0"/>
              </a:rPr>
              <a:t> l’impédance d’une phase du moteur au démarrage, et Z</a:t>
            </a:r>
            <a:r>
              <a:rPr lang="fr-FR" altLang="fr-FR" sz="1800" baseline="-25000">
                <a:latin typeface="Arial Narrow" panose="020B0606020202030204" pitchFamily="34" charset="0"/>
              </a:rPr>
              <a:t>add</a:t>
            </a:r>
            <a:r>
              <a:rPr lang="fr-FR" altLang="fr-FR" sz="1800">
                <a:latin typeface="Arial Narrow" panose="020B0606020202030204" pitchFamily="34" charset="0"/>
              </a:rPr>
              <a:t> l’impédance de la self additionnelle par phase ( Z</a:t>
            </a:r>
            <a:r>
              <a:rPr lang="fr-FR" altLang="fr-FR" sz="1800" baseline="-25000">
                <a:latin typeface="Arial Narrow" panose="020B0606020202030204" pitchFamily="34" charset="0"/>
              </a:rPr>
              <a:t>dph</a:t>
            </a:r>
            <a:r>
              <a:rPr lang="fr-FR" altLang="fr-FR" sz="1800">
                <a:latin typeface="Arial Narrow" panose="020B0606020202030204" pitchFamily="34" charset="0"/>
              </a:rPr>
              <a:t> = jX</a:t>
            </a:r>
            <a:r>
              <a:rPr lang="fr-FR" altLang="fr-FR" sz="1800" baseline="-25000">
                <a:latin typeface="Arial Narrow" panose="020B0606020202030204" pitchFamily="34" charset="0"/>
              </a:rPr>
              <a:t>dph</a:t>
            </a:r>
            <a:r>
              <a:rPr lang="fr-FR" altLang="fr-FR" sz="1800">
                <a:latin typeface="Arial Narrow" panose="020B0606020202030204" pitchFamily="34" charset="0"/>
              </a:rPr>
              <a:t> et Z</a:t>
            </a:r>
            <a:r>
              <a:rPr lang="fr-FR" altLang="fr-FR" sz="1800" baseline="-25000">
                <a:latin typeface="Arial Narrow" panose="020B0606020202030204" pitchFamily="34" charset="0"/>
              </a:rPr>
              <a:t>add</a:t>
            </a:r>
            <a:r>
              <a:rPr lang="fr-FR" altLang="fr-FR" sz="1800">
                <a:latin typeface="Arial Narrow" panose="020B0606020202030204" pitchFamily="34" charset="0"/>
              </a:rPr>
              <a:t> = jX</a:t>
            </a:r>
            <a:r>
              <a:rPr lang="fr-FR" altLang="fr-FR" sz="1800" baseline="-25000">
                <a:latin typeface="Arial Narrow" panose="020B0606020202030204" pitchFamily="34" charset="0"/>
              </a:rPr>
              <a:t>add</a:t>
            </a:r>
            <a:r>
              <a:rPr lang="fr-FR" altLang="fr-FR" sz="1800">
                <a:latin typeface="Arial Narrow" panose="020B0606020202030204" pitchFamily="34" charset="0"/>
              </a:rPr>
              <a:t> )</a:t>
            </a:r>
          </a:p>
        </p:txBody>
      </p:sp>
      <p:sp>
        <p:nvSpPr>
          <p:cNvPr id="73734" name="Rectangle 7"/>
          <p:cNvSpPr>
            <a:spLocks noChangeArrowheads="1"/>
          </p:cNvSpPr>
          <p:nvPr/>
        </p:nvSpPr>
        <p:spPr bwMode="auto">
          <a:xfrm>
            <a:off x="620713" y="3027363"/>
            <a:ext cx="52292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En cas de démarrage direct, le courant d’appel au réseau serait :</a:t>
            </a:r>
          </a:p>
        </p:txBody>
      </p:sp>
      <p:pic>
        <p:nvPicPr>
          <p:cNvPr id="73735" name="Picture 3"/>
          <p:cNvPicPr>
            <a:picLocks noChangeAspect="1" noChangeArrowheads="1"/>
          </p:cNvPicPr>
          <p:nvPr/>
        </p:nvPicPr>
        <p:blipFill>
          <a:blip r:embed="rId4">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84450" y="3429000"/>
            <a:ext cx="1038225"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6" name="Rectangle 9"/>
          <p:cNvSpPr>
            <a:spLocks noChangeArrowheads="1"/>
          </p:cNvSpPr>
          <p:nvPr/>
        </p:nvSpPr>
        <p:spPr bwMode="auto">
          <a:xfrm>
            <a:off x="701675" y="4013200"/>
            <a:ext cx="51482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Avec l’insertion des selfs additionnelles, le courant est réduit :</a:t>
            </a:r>
          </a:p>
        </p:txBody>
      </p:sp>
      <p:pic>
        <p:nvPicPr>
          <p:cNvPr id="73737" name="Picture 4"/>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563813" y="4451350"/>
            <a:ext cx="160020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8" name="Rectangle 11"/>
          <p:cNvSpPr>
            <a:spLocks noChangeArrowheads="1"/>
          </p:cNvSpPr>
          <p:nvPr/>
        </p:nvSpPr>
        <p:spPr bwMode="auto">
          <a:xfrm>
            <a:off x="738188" y="4999038"/>
            <a:ext cx="522128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Les rapports de réduction du courant et du couple de démarrage sont donc :</a:t>
            </a:r>
          </a:p>
        </p:txBody>
      </p:sp>
      <p:pic>
        <p:nvPicPr>
          <p:cNvPr id="73739" name="Picture 5"/>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724025" y="5692775"/>
            <a:ext cx="3990975"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3741" name="Espace réservé du numéro de diapositive 1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264C693-7B0C-4519-A1BD-F86531EF1F3E}" type="slidenum">
              <a:rPr lang="en-US" altLang="fr-FR" sz="1000">
                <a:solidFill>
                  <a:srgbClr val="292929"/>
                </a:solidFill>
                <a:latin typeface="Arial" panose="020B0604020202020204" pitchFamily="34" charset="0"/>
              </a:rPr>
              <a:pPr>
                <a:spcBef>
                  <a:spcPct val="0"/>
                </a:spcBef>
                <a:buClrTx/>
                <a:buSzTx/>
                <a:buFontTx/>
                <a:buNone/>
              </a:pPr>
              <a:t>32</a:t>
            </a:fld>
            <a:endParaRPr lang="en-US" altLang="fr-FR" sz="1000">
              <a:solidFill>
                <a:srgbClr val="292929"/>
              </a:solidFill>
              <a:latin typeface="Arial" panose="020B0604020202020204" pitchFamily="34" charset="0"/>
            </a:endParaRPr>
          </a:p>
        </p:txBody>
      </p:sp>
      <p:sp>
        <p:nvSpPr>
          <p:cNvPr id="16" name="Espace réservé du pied de page 15"/>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3613359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ChangeArrowheads="1"/>
          </p:cNvSpPr>
          <p:nvPr/>
        </p:nvSpPr>
        <p:spPr bwMode="auto">
          <a:xfrm>
            <a:off x="3844925" y="325438"/>
            <a:ext cx="12382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latin typeface="Arial Narrow" panose="020B0606020202030204" pitchFamily="34" charset="0"/>
              </a:rPr>
              <a:t>Freinage</a:t>
            </a:r>
            <a:endParaRPr lang="fr-FR" altLang="fr-FR" sz="2400">
              <a:latin typeface="Arial Narrow" panose="020B0606020202030204" pitchFamily="34" charset="0"/>
            </a:endParaRPr>
          </a:p>
        </p:txBody>
      </p:sp>
      <p:sp>
        <p:nvSpPr>
          <p:cNvPr id="5" name="Rectangle 4"/>
          <p:cNvSpPr/>
          <p:nvPr/>
        </p:nvSpPr>
        <p:spPr>
          <a:xfrm>
            <a:off x="628650" y="1166813"/>
            <a:ext cx="8032750" cy="5016500"/>
          </a:xfrm>
          <a:prstGeom prst="rect">
            <a:avLst/>
          </a:prstGeom>
        </p:spPr>
        <p:txBody>
          <a:bodyPr>
            <a:spAutoFit/>
          </a:bodyPr>
          <a:lstStyle/>
          <a:p>
            <a:pPr algn="just" eaLnBrk="1" hangingPunct="1">
              <a:defRPr/>
            </a:pPr>
            <a:r>
              <a:rPr lang="fr-FR" sz="2000" dirty="0"/>
              <a:t>Souvent, lors d’entraînements par moteurs asynchrones, un freinage électrique est souhaité. Celui-ci peut être effectué de différentes manières, par exemple:</a:t>
            </a:r>
          </a:p>
          <a:p>
            <a:pPr algn="just" eaLnBrk="1" hangingPunct="1">
              <a:defRPr/>
            </a:pPr>
            <a:endParaRPr lang="fr-FR" sz="2000" dirty="0"/>
          </a:p>
          <a:p>
            <a:pPr algn="just" eaLnBrk="1" hangingPunct="1">
              <a:defRPr/>
            </a:pPr>
            <a:endParaRPr lang="fr-FR" sz="2000" dirty="0"/>
          </a:p>
          <a:p>
            <a:pPr marL="174625" indent="363538" algn="just" eaLnBrk="1" hangingPunct="1">
              <a:buFont typeface="Wingdings" pitchFamily="2" charset="2"/>
              <a:buChar char="q"/>
              <a:defRPr/>
            </a:pPr>
            <a:r>
              <a:rPr lang="fr-FR" sz="2000" dirty="0"/>
              <a:t> par inversion de phases :</a:t>
            </a:r>
          </a:p>
          <a:p>
            <a:pPr marL="174625" indent="363538" algn="just" eaLnBrk="1" hangingPunct="1">
              <a:defRPr/>
            </a:pPr>
            <a:r>
              <a:rPr lang="fr-FR" sz="2000" dirty="0"/>
              <a:t>(fonctionnement à contre-courant)</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injection de courant continu</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utilisation d’un moteur-frein</a:t>
            </a:r>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endParaRPr lang="fr-FR" sz="2000" dirty="0"/>
          </a:p>
          <a:p>
            <a:pPr marL="174625" indent="363538" algn="just" eaLnBrk="1" hangingPunct="1">
              <a:buFont typeface="Wingdings" pitchFamily="2" charset="2"/>
              <a:buChar char="q"/>
              <a:defRPr/>
            </a:pPr>
            <a:r>
              <a:rPr lang="fr-FR" sz="2000" dirty="0"/>
              <a:t> par utilisation d’un convertisseur statique. Dans ce cas, il est possible de récupérer l’énergie.</a:t>
            </a:r>
          </a:p>
        </p:txBody>
      </p:sp>
      <p:sp>
        <p:nvSpPr>
          <p:cNvPr id="7578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75781" name="Groupe 11"/>
          <p:cNvGrpSpPr>
            <a:grpSpLocks/>
          </p:cNvGrpSpPr>
          <p:nvPr/>
        </p:nvGrpSpPr>
        <p:grpSpPr bwMode="auto">
          <a:xfrm>
            <a:off x="4535488" y="2297113"/>
            <a:ext cx="4078287" cy="2952750"/>
            <a:chOff x="4535487" y="2297097"/>
            <a:chExt cx="4077586" cy="2952000"/>
          </a:xfrm>
        </p:grpSpPr>
        <p:pic>
          <p:nvPicPr>
            <p:cNvPr id="75784" name="Picture 7"/>
            <p:cNvPicPr>
              <a:picLocks noChangeAspect="1" noChangeArrowheads="1"/>
            </p:cNvPicPr>
            <p:nvPr/>
          </p:nvPicPr>
          <p:blipFill>
            <a:blip r:embed="rId3">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4535487" y="2297097"/>
              <a:ext cx="4077586" cy="295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5" name="ZoneTexte 7"/>
            <p:cNvSpPr txBox="1">
              <a:spLocks noChangeArrowheads="1"/>
            </p:cNvSpPr>
            <p:nvPr/>
          </p:nvSpPr>
          <p:spPr bwMode="auto">
            <a:xfrm>
              <a:off x="5192721" y="2656208"/>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Narrow" panose="020B0606020202030204" pitchFamily="34" charset="0"/>
                </a:rPr>
                <a:t>T</a:t>
              </a:r>
              <a:r>
                <a:rPr lang="fr-FR" altLang="fr-FR" sz="1400" b="1" baseline="-25000">
                  <a:latin typeface="Arial Narrow" panose="020B0606020202030204" pitchFamily="34" charset="0"/>
                </a:rPr>
                <a:t>max</a:t>
              </a:r>
            </a:p>
          </p:txBody>
        </p:sp>
        <p:sp>
          <p:nvSpPr>
            <p:cNvPr id="75786" name="ZoneTexte 8"/>
            <p:cNvSpPr txBox="1">
              <a:spLocks noChangeArrowheads="1"/>
            </p:cNvSpPr>
            <p:nvPr/>
          </p:nvSpPr>
          <p:spPr bwMode="auto">
            <a:xfrm>
              <a:off x="6361137" y="3976695"/>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Arial Narrow" panose="020B0606020202030204" pitchFamily="34" charset="0"/>
                </a:rPr>
                <a:t>m</a:t>
              </a:r>
            </a:p>
          </p:txBody>
        </p:sp>
        <p:sp>
          <p:nvSpPr>
            <p:cNvPr id="75787" name="ZoneTexte 9"/>
            <p:cNvSpPr txBox="1">
              <a:spLocks noChangeArrowheads="1"/>
            </p:cNvSpPr>
            <p:nvPr/>
          </p:nvSpPr>
          <p:spPr bwMode="auto">
            <a:xfrm>
              <a:off x="6945345" y="3575052"/>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r>
                <a:rPr lang="fr-FR" altLang="fr-FR" sz="1400" b="1" baseline="-25000">
                  <a:latin typeface="Arial Narrow" panose="020B0606020202030204" pitchFamily="34" charset="0"/>
                </a:rPr>
                <a:t>s</a:t>
              </a:r>
            </a:p>
          </p:txBody>
        </p:sp>
        <p:sp>
          <p:nvSpPr>
            <p:cNvPr id="75788" name="ZoneTexte 10"/>
            <p:cNvSpPr txBox="1">
              <a:spLocks noChangeArrowheads="1"/>
            </p:cNvSpPr>
            <p:nvPr/>
          </p:nvSpPr>
          <p:spPr bwMode="auto">
            <a:xfrm>
              <a:off x="8040735" y="3538539"/>
              <a:ext cx="511182" cy="30777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400" b="1">
                  <a:latin typeface="Calibri" panose="020F0502020204030204" pitchFamily="34" charset="0"/>
                </a:rPr>
                <a:t>ω</a:t>
              </a:r>
              <a:endParaRPr lang="fr-FR" altLang="fr-FR" sz="1400" b="1" baseline="-25000">
                <a:latin typeface="Arial Narrow" panose="020B0606020202030204" pitchFamily="34" charset="0"/>
              </a:endParaRPr>
            </a:p>
          </p:txBody>
        </p:sp>
      </p:grpSp>
      <p:sp>
        <p:nvSpPr>
          <p:cNvPr id="75782" name="Espace réservé du numéro de diapositive 1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222B9E9-FD93-4E8D-828A-31A2F3A72900}" type="slidenum">
              <a:rPr lang="en-US" altLang="fr-FR" sz="1000">
                <a:solidFill>
                  <a:srgbClr val="292929"/>
                </a:solidFill>
                <a:latin typeface="Arial" panose="020B0604020202020204" pitchFamily="34" charset="0"/>
              </a:rPr>
              <a:pPr>
                <a:spcBef>
                  <a:spcPct val="0"/>
                </a:spcBef>
                <a:buClrTx/>
                <a:buSzTx/>
                <a:buFontTx/>
                <a:buNone/>
              </a:pPr>
              <a:t>33</a:t>
            </a:fld>
            <a:endParaRPr lang="en-US" altLang="fr-FR" sz="1000">
              <a:solidFill>
                <a:srgbClr val="292929"/>
              </a:solidFill>
              <a:latin typeface="Arial" panose="020B0604020202020204" pitchFamily="34" charset="0"/>
            </a:endParaRPr>
          </a:p>
        </p:txBody>
      </p:sp>
      <p:sp>
        <p:nvSpPr>
          <p:cNvPr id="14" name="Espace réservé du pied de page 13"/>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9062357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ChangeArrowheads="1"/>
          </p:cNvSpPr>
          <p:nvPr/>
        </p:nvSpPr>
        <p:spPr bwMode="auto">
          <a:xfrm>
            <a:off x="628650" y="544513"/>
            <a:ext cx="7959725" cy="153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Narrow" panose="020B0606020202030204" pitchFamily="34" charset="0"/>
              </a:rPr>
              <a:t>Freinage par inversion de phases</a:t>
            </a:r>
          </a:p>
          <a:p>
            <a:pPr eaLnBrk="1" hangingPunct="1">
              <a:spcBef>
                <a:spcPct val="0"/>
              </a:spcBef>
              <a:buClrTx/>
              <a:buSzTx/>
              <a:buFontTx/>
              <a:buNone/>
            </a:pPr>
            <a:endParaRPr lang="fr-FR" altLang="fr-FR" sz="2000">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Le principe consiste à inverser 2 des 3 phases statoriques. Le sens du champ tournant est ainsi inversé. C’est pour cela que ce mode de freinage s’appelle aussi «</a:t>
            </a:r>
            <a:r>
              <a:rPr lang="fr-FR" altLang="fr-FR" sz="1800" i="1">
                <a:latin typeface="Arial Narrow" panose="020B0606020202030204" pitchFamily="34" charset="0"/>
              </a:rPr>
              <a:t>à contre-courant ». Le glissement devient alors :</a:t>
            </a:r>
            <a:endParaRPr lang="fr-FR" altLang="fr-FR" sz="1800">
              <a:latin typeface="Arial Narrow" panose="020B0606020202030204" pitchFamily="34" charset="0"/>
            </a:endParaRPr>
          </a:p>
        </p:txBody>
      </p:sp>
      <p:graphicFrame>
        <p:nvGraphicFramePr>
          <p:cNvPr id="77827" name="Object 1031"/>
          <p:cNvGraphicFramePr>
            <a:graphicFrameLocks noChangeAspect="1"/>
          </p:cNvGraphicFramePr>
          <p:nvPr/>
        </p:nvGraphicFramePr>
        <p:xfrm>
          <a:off x="3424238" y="2452688"/>
          <a:ext cx="1658937" cy="830262"/>
        </p:xfrm>
        <a:graphic>
          <a:graphicData uri="http://schemas.openxmlformats.org/presentationml/2006/ole">
            <mc:AlternateContent xmlns:mc="http://schemas.openxmlformats.org/markup-compatibility/2006">
              <mc:Choice xmlns:v="urn:schemas-microsoft-com:vml" Requires="v">
                <p:oleObj spid="_x0000_s292871" name="Équation" r:id="rId4" imgW="761669" imgH="380835" progId="Equation.3">
                  <p:embed/>
                </p:oleObj>
              </mc:Choice>
              <mc:Fallback>
                <p:oleObj name="Équation" r:id="rId4" imgW="761669" imgH="380835"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4238" y="2452688"/>
                        <a:ext cx="16589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7828" name="Rectangle 5"/>
          <p:cNvSpPr>
            <a:spLocks noChangeArrowheads="1"/>
          </p:cNvSpPr>
          <p:nvPr/>
        </p:nvSpPr>
        <p:spPr bwMode="auto">
          <a:xfrm>
            <a:off x="701675" y="3783013"/>
            <a:ext cx="5622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En freinage on a g&gt;1. Si le moteur tourne à vide (T</a:t>
            </a:r>
            <a:r>
              <a:rPr lang="fr-FR" altLang="fr-FR" sz="1800" baseline="-25000">
                <a:latin typeface="Arial Narrow" panose="020B0606020202030204" pitchFamily="34" charset="0"/>
              </a:rPr>
              <a:t>res</a:t>
            </a:r>
            <a:r>
              <a:rPr lang="fr-FR" altLang="fr-FR" sz="1800" i="1">
                <a:latin typeface="Arial Narrow" panose="020B0606020202030204" pitchFamily="34" charset="0"/>
              </a:rPr>
              <a:t> = 0), dans le même sens </a:t>
            </a:r>
            <a:r>
              <a:rPr lang="fr-FR" altLang="fr-FR" sz="1800">
                <a:latin typeface="Arial Narrow" panose="020B0606020202030204" pitchFamily="34" charset="0"/>
              </a:rPr>
              <a:t>que le champ tournant direct, alors </a:t>
            </a:r>
            <a:r>
              <a:rPr lang="el-GR" altLang="fr-FR" sz="1800">
                <a:latin typeface="Calibri" panose="020F0502020204030204" pitchFamily="34" charset="0"/>
              </a:rPr>
              <a:t>ω</a:t>
            </a:r>
            <a:r>
              <a:rPr lang="fr-FR" altLang="fr-FR" sz="1800" baseline="-25000">
                <a:latin typeface="Arial Narrow" panose="020B0606020202030204" pitchFamily="34" charset="0"/>
              </a:rPr>
              <a:t>r</a:t>
            </a:r>
            <a:r>
              <a:rPr lang="fr-FR" altLang="fr-FR" sz="1800">
                <a:latin typeface="Calibri" panose="020F0502020204030204" pitchFamily="34" charset="0"/>
              </a:rPr>
              <a:t> = </a:t>
            </a:r>
            <a:r>
              <a:rPr lang="el-GR" altLang="fr-FR" sz="1800">
                <a:latin typeface="Calibri" panose="020F0502020204030204" pitchFamily="34" charset="0"/>
              </a:rPr>
              <a:t>ω</a:t>
            </a:r>
            <a:r>
              <a:rPr lang="fr-FR" altLang="fr-FR" sz="1800" baseline="-25000">
                <a:latin typeface="Arial Narrow" panose="020B0606020202030204" pitchFamily="34" charset="0"/>
              </a:rPr>
              <a:t>s</a:t>
            </a:r>
            <a:r>
              <a:rPr lang="fr-FR" altLang="fr-FR" sz="1800">
                <a:latin typeface="Arial Narrow" panose="020B0606020202030204" pitchFamily="34" charset="0"/>
              </a:rPr>
              <a:t> et :  g=2.</a:t>
            </a:r>
          </a:p>
        </p:txBody>
      </p:sp>
      <p:pic>
        <p:nvPicPr>
          <p:cNvPr id="77829" name="Picture 3"/>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34138" y="2443163"/>
            <a:ext cx="2035175" cy="284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7831"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320771E-8EBC-43DF-B906-DF69AA1EE9F1}" type="slidenum">
              <a:rPr lang="en-US" altLang="fr-FR" sz="1000">
                <a:solidFill>
                  <a:srgbClr val="292929"/>
                </a:solidFill>
                <a:latin typeface="Arial" panose="020B0604020202020204" pitchFamily="34" charset="0"/>
              </a:rPr>
              <a:pPr>
                <a:spcBef>
                  <a:spcPct val="0"/>
                </a:spcBef>
                <a:buClrTx/>
                <a:buSzTx/>
                <a:buFontTx/>
                <a:buNone/>
              </a:pPr>
              <a:t>34</a:t>
            </a:fld>
            <a:endParaRPr lang="en-US" altLang="fr-FR" sz="1000">
              <a:solidFill>
                <a:srgbClr val="292929"/>
              </a:solidFill>
              <a:latin typeface="Arial" panose="020B0604020202020204" pitchFamily="34" charset="0"/>
            </a:endParaRPr>
          </a:p>
        </p:txBody>
      </p:sp>
      <p:sp>
        <p:nvSpPr>
          <p:cNvPr id="10" name="Espace réservé du pied de page 9"/>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485998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p:cNvSpPr>
            <a:spLocks noChangeArrowheads="1"/>
          </p:cNvSpPr>
          <p:nvPr/>
        </p:nvSpPr>
        <p:spPr bwMode="auto">
          <a:xfrm>
            <a:off x="555625" y="581025"/>
            <a:ext cx="814228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endParaRPr lang="fr-FR" altLang="fr-FR" sz="2400" b="1">
              <a:latin typeface="Arial Narrow" panose="020B0606020202030204" pitchFamily="34" charset="0"/>
            </a:endParaRPr>
          </a:p>
          <a:p>
            <a:pPr algn="just" eaLnBrk="1" hangingPunct="1">
              <a:spcBef>
                <a:spcPct val="0"/>
              </a:spcBef>
              <a:buClrTx/>
              <a:buSzTx/>
              <a:buFontTx/>
              <a:buNone/>
            </a:pPr>
            <a:endParaRPr lang="fr-FR" altLang="fr-FR" sz="2400" b="1">
              <a:latin typeface="Arial Narrow" panose="020B0606020202030204" pitchFamily="34" charset="0"/>
            </a:endParaRPr>
          </a:p>
          <a:p>
            <a:pPr algn="just" eaLnBrk="1" hangingPunct="1">
              <a:spcBef>
                <a:spcPct val="0"/>
              </a:spcBef>
              <a:buClrTx/>
              <a:buSzTx/>
              <a:buFontTx/>
              <a:buNone/>
            </a:pPr>
            <a:r>
              <a:rPr lang="fr-FR" altLang="fr-FR" sz="1800">
                <a:latin typeface="Arial Narrow" panose="020B0606020202030204" pitchFamily="34" charset="0"/>
              </a:rPr>
              <a:t>A partir de la marche en charge, le processus est le suivant : on réduit à zéro la charge mécanique, puis on inverse 2 phases, lorsque la vitesse est nulle (g = 1) on coupe l’alimentation (sans cela le rotor tourne dans le sens inverse).</a:t>
            </a:r>
          </a:p>
          <a:p>
            <a:pPr algn="just" eaLnBrk="1" hangingPunct="1">
              <a:spcBef>
                <a:spcPct val="0"/>
              </a:spcBef>
              <a:buClrTx/>
              <a:buSzTx/>
              <a:buFontTx/>
              <a:buNone/>
            </a:pPr>
            <a:r>
              <a:rPr lang="fr-FR" altLang="fr-FR" sz="1800">
                <a:latin typeface="Arial Narrow" panose="020B0606020202030204" pitchFamily="34" charset="0"/>
              </a:rPr>
              <a:t>Si ce mode de freinage est appliqué sur un moteur à rotor bobiné, le couple de freinage peut être ajusté par l’insertion de résistances rotoriques.</a:t>
            </a:r>
          </a:p>
          <a:p>
            <a:pPr algn="just" eaLnBrk="1" hangingPunct="1">
              <a:spcBef>
                <a:spcPct val="0"/>
              </a:spcBef>
              <a:buClrTx/>
              <a:buSzTx/>
              <a:buFontTx/>
              <a:buNone/>
            </a:pPr>
            <a:endParaRPr lang="fr-FR" altLang="fr-FR" sz="1800">
              <a:latin typeface="Arial Narrow" panose="020B0606020202030204" pitchFamily="34" charset="0"/>
            </a:endParaRPr>
          </a:p>
          <a:p>
            <a:pPr eaLnBrk="1" hangingPunct="1">
              <a:spcBef>
                <a:spcPct val="0"/>
              </a:spcBef>
              <a:buClrTx/>
              <a:buSzTx/>
              <a:buFontTx/>
              <a:buNone/>
            </a:pPr>
            <a:r>
              <a:rPr lang="fr-FR" altLang="fr-FR" sz="1800">
                <a:latin typeface="Arial Narrow" panose="020B0606020202030204" pitchFamily="34" charset="0"/>
              </a:rPr>
              <a:t>L’énergie thermique dissipée dans l’enroulement rotorique, jusqu’à l’arrêt (de g</a:t>
            </a:r>
            <a:r>
              <a:rPr lang="fr-FR" altLang="fr-FR" sz="1800" baseline="-25000">
                <a:latin typeface="Arial Narrow" panose="020B0606020202030204" pitchFamily="34" charset="0"/>
              </a:rPr>
              <a:t>1</a:t>
            </a:r>
            <a:r>
              <a:rPr lang="fr-FR" altLang="fr-FR" sz="1800">
                <a:latin typeface="Arial Narrow" panose="020B0606020202030204" pitchFamily="34" charset="0"/>
              </a:rPr>
              <a:t> = 2 à g</a:t>
            </a:r>
            <a:r>
              <a:rPr lang="fr-FR" altLang="fr-FR" sz="1800" baseline="-25000">
                <a:latin typeface="Arial Narrow" panose="020B0606020202030204" pitchFamily="34" charset="0"/>
              </a:rPr>
              <a:t>2</a:t>
            </a:r>
            <a:r>
              <a:rPr lang="fr-FR" altLang="fr-FR" sz="1800">
                <a:latin typeface="Arial Narrow" panose="020B0606020202030204" pitchFamily="34" charset="0"/>
              </a:rPr>
              <a:t> = 1), est donnée par :</a:t>
            </a:r>
          </a:p>
        </p:txBody>
      </p:sp>
      <p:sp>
        <p:nvSpPr>
          <p:cNvPr id="79875" name="Rectangle 4"/>
          <p:cNvSpPr>
            <a:spLocks noChangeArrowheads="1"/>
          </p:cNvSpPr>
          <p:nvPr/>
        </p:nvSpPr>
        <p:spPr bwMode="auto">
          <a:xfrm>
            <a:off x="592138" y="581025"/>
            <a:ext cx="320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Freinage par inversion de phases</a:t>
            </a:r>
          </a:p>
        </p:txBody>
      </p:sp>
      <p:pic>
        <p:nvPicPr>
          <p:cNvPr id="79876"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2417763" y="3546475"/>
            <a:ext cx="4791075"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6"/>
          <p:cNvSpPr>
            <a:spLocks noChangeArrowheads="1"/>
          </p:cNvSpPr>
          <p:nvPr/>
        </p:nvSpPr>
        <p:spPr bwMode="auto">
          <a:xfrm>
            <a:off x="628650" y="4449763"/>
            <a:ext cx="8178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Narrow" panose="020B0606020202030204" pitchFamily="34" charset="0"/>
              </a:rPr>
              <a:t>Cette énergie est 3 fois plus élevée que celle dissipée lors d’un démarrage à vide.</a:t>
            </a:r>
          </a:p>
          <a:p>
            <a:pPr algn="just" eaLnBrk="1" hangingPunct="1">
              <a:spcBef>
                <a:spcPct val="0"/>
              </a:spcBef>
              <a:buClrTx/>
              <a:buSzTx/>
              <a:buFontTx/>
              <a:buNone/>
            </a:pPr>
            <a:endParaRPr lang="fr-FR" altLang="fr-FR" sz="1800">
              <a:latin typeface="Arial Narrow" panose="020B0606020202030204" pitchFamily="34" charset="0"/>
            </a:endParaRPr>
          </a:p>
          <a:p>
            <a:pPr algn="just" eaLnBrk="1" hangingPunct="1">
              <a:spcBef>
                <a:spcPct val="0"/>
              </a:spcBef>
              <a:buClrTx/>
              <a:buSzTx/>
              <a:buFontTx/>
              <a:buNone/>
            </a:pPr>
            <a:endParaRPr lang="fr-FR" altLang="fr-FR" sz="1800">
              <a:solidFill>
                <a:srgbClr val="FF0000"/>
              </a:solidFill>
              <a:latin typeface="Arial Narrow" panose="020B0606020202030204" pitchFamily="34" charset="0"/>
            </a:endParaRPr>
          </a:p>
          <a:p>
            <a:pPr algn="just" eaLnBrk="1" hangingPunct="1">
              <a:spcBef>
                <a:spcPct val="0"/>
              </a:spcBef>
              <a:buClrTx/>
              <a:buSzTx/>
              <a:buFontTx/>
              <a:buNone/>
            </a:pPr>
            <a:r>
              <a:rPr lang="fr-FR" altLang="fr-FR" sz="1800">
                <a:solidFill>
                  <a:srgbClr val="FF0000"/>
                </a:solidFill>
                <a:latin typeface="Arial Narrow" panose="020B0606020202030204" pitchFamily="34" charset="0"/>
              </a:rPr>
              <a:t>Ce mode de freinage n’est alors utilisé que pour les moteurs de faibles et moyennes puissances car il sollicite fortement le moteur et le réseau. Pour les entraînements de grandes puissances on lui préfère un freinage par injection de courant continu dans l’enroulement statorique.</a:t>
            </a:r>
          </a:p>
        </p:txBody>
      </p:sp>
      <p:sp>
        <p:nvSpPr>
          <p:cNvPr id="79878"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79" name="ZoneTexte 8"/>
          <p:cNvSpPr txBox="1">
            <a:spLocks noChangeArrowheads="1"/>
          </p:cNvSpPr>
          <p:nvPr/>
        </p:nvSpPr>
        <p:spPr bwMode="auto">
          <a:xfrm>
            <a:off x="3990975" y="3721100"/>
            <a:ext cx="215900"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0" name="ZoneTexte 9"/>
          <p:cNvSpPr txBox="1">
            <a:spLocks noChangeArrowheads="1"/>
          </p:cNvSpPr>
          <p:nvPr/>
        </p:nvSpPr>
        <p:spPr bwMode="auto">
          <a:xfrm>
            <a:off x="4206875" y="3721100"/>
            <a:ext cx="361950" cy="3079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dg</a:t>
            </a:r>
          </a:p>
        </p:txBody>
      </p:sp>
      <p:sp>
        <p:nvSpPr>
          <p:cNvPr id="79881"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1640F8B-38AB-46D8-9DED-1E2BC0F3725D}" type="slidenum">
              <a:rPr lang="en-US" altLang="fr-FR" sz="1000">
                <a:solidFill>
                  <a:srgbClr val="292929"/>
                </a:solidFill>
                <a:latin typeface="Arial" panose="020B0604020202020204" pitchFamily="34" charset="0"/>
              </a:rPr>
              <a:pPr>
                <a:spcBef>
                  <a:spcPct val="0"/>
                </a:spcBef>
                <a:buClrTx/>
                <a:buSzTx/>
                <a:buFontTx/>
                <a:buNone/>
              </a:pPr>
              <a:t>35</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
        <p:nvSpPr>
          <p:cNvPr id="79883" name="ZoneTexte 12"/>
          <p:cNvSpPr txBox="1">
            <a:spLocks noChangeArrowheads="1"/>
          </p:cNvSpPr>
          <p:nvPr/>
        </p:nvSpPr>
        <p:spPr bwMode="auto">
          <a:xfrm>
            <a:off x="6069013" y="3721100"/>
            <a:ext cx="73025"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4" name="ZoneTexte 13"/>
          <p:cNvSpPr txBox="1">
            <a:spLocks noChangeArrowheads="1"/>
          </p:cNvSpPr>
          <p:nvPr/>
        </p:nvSpPr>
        <p:spPr bwMode="auto">
          <a:xfrm>
            <a:off x="5703888" y="3684588"/>
            <a:ext cx="73025" cy="46196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5" name="ZoneTexte 14"/>
          <p:cNvSpPr txBox="1">
            <a:spLocks noChangeArrowheads="1"/>
          </p:cNvSpPr>
          <p:nvPr/>
        </p:nvSpPr>
        <p:spPr bwMode="auto">
          <a:xfrm>
            <a:off x="3805238" y="3648075"/>
            <a:ext cx="73025" cy="461963"/>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79886" name="ZoneTexte 15"/>
          <p:cNvSpPr txBox="1">
            <a:spLocks noChangeArrowheads="1"/>
          </p:cNvSpPr>
          <p:nvPr/>
        </p:nvSpPr>
        <p:spPr bwMode="auto">
          <a:xfrm>
            <a:off x="3732213" y="3575050"/>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7" name="ZoneTexte 16"/>
          <p:cNvSpPr txBox="1">
            <a:spLocks noChangeArrowheads="1"/>
          </p:cNvSpPr>
          <p:nvPr/>
        </p:nvSpPr>
        <p:spPr bwMode="auto">
          <a:xfrm>
            <a:off x="3732213" y="3830638"/>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8" name="ZoneTexte 17"/>
          <p:cNvSpPr txBox="1">
            <a:spLocks noChangeArrowheads="1"/>
          </p:cNvSpPr>
          <p:nvPr/>
        </p:nvSpPr>
        <p:spPr bwMode="auto">
          <a:xfrm>
            <a:off x="5594350" y="3705225"/>
            <a:ext cx="1825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79889" name="ZoneTexte 18"/>
          <p:cNvSpPr txBox="1">
            <a:spLocks noChangeArrowheads="1"/>
          </p:cNvSpPr>
          <p:nvPr/>
        </p:nvSpPr>
        <p:spPr bwMode="auto">
          <a:xfrm>
            <a:off x="5995988" y="3705225"/>
            <a:ext cx="1825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Tree>
    <p:extLst>
      <p:ext uri="{BB962C8B-B14F-4D97-AF65-F5344CB8AC3E}">
        <p14:creationId xmlns:p14="http://schemas.microsoft.com/office/powerpoint/2010/main" val="26314480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p:cNvSpPr>
            <a:spLocks noChangeArrowheads="1"/>
          </p:cNvSpPr>
          <p:nvPr/>
        </p:nvSpPr>
        <p:spPr bwMode="auto">
          <a:xfrm>
            <a:off x="482600" y="581025"/>
            <a:ext cx="8251825"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Narrow" panose="020B0606020202030204" pitchFamily="34" charset="0"/>
              </a:rPr>
              <a:t>Freinage par injection de courant continu</a:t>
            </a:r>
          </a:p>
          <a:p>
            <a:pPr eaLnBrk="1" hangingPunct="1">
              <a:spcBef>
                <a:spcPct val="0"/>
              </a:spcBef>
              <a:buClrTx/>
              <a:buSzTx/>
              <a:buFontTx/>
              <a:buNone/>
            </a:pPr>
            <a:endParaRPr lang="fr-FR" altLang="fr-FR" sz="1800">
              <a:latin typeface="Arial Narrow" panose="020B0606020202030204" pitchFamily="34" charset="0"/>
            </a:endParaRPr>
          </a:p>
          <a:p>
            <a:pPr eaLnBrk="1" hangingPunct="1">
              <a:spcBef>
                <a:spcPct val="0"/>
              </a:spcBef>
              <a:buClrTx/>
              <a:buSzTx/>
              <a:buFontTx/>
              <a:buNone/>
            </a:pPr>
            <a:r>
              <a:rPr lang="fr-FR" altLang="fr-FR" sz="1800">
                <a:latin typeface="Arial Narrow" panose="020B0606020202030204" pitchFamily="34" charset="0"/>
              </a:rPr>
              <a:t>Ce procédé consiste, après avoir déconnecté le moteur du réseau d’alimentation, à brancher sur deux bornes du stator une source de courant continu très basse tension (20 à 24 V par exemple) au moyen d’une batterie d’accumulateurs ou d’un redresseur.</a:t>
            </a:r>
          </a:p>
        </p:txBody>
      </p:sp>
      <p:pic>
        <p:nvPicPr>
          <p:cNvPr id="81923" name="Picture 2"/>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62488" y="2589213"/>
            <a:ext cx="4181475" cy="306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4" name="Rectangle 5"/>
          <p:cNvSpPr>
            <a:spLocks noChangeArrowheads="1"/>
          </p:cNvSpPr>
          <p:nvPr/>
        </p:nvSpPr>
        <p:spPr bwMode="auto">
          <a:xfrm>
            <a:off x="519113" y="2443163"/>
            <a:ext cx="40894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17462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 courant continu crée un champ magnétique, qui est fixe alors que le rotor est en mouvement. </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Les conducteurs du rotor sont alors le siège de courants induits qui interagissent avec le champ pour créer un couple de freinage. Ce dernier dépend de la valeur du courant continu injecté. </a:t>
            </a:r>
          </a:p>
          <a:p>
            <a:pPr algn="just" eaLnBrk="1" hangingPunct="1">
              <a:spcBef>
                <a:spcPct val="0"/>
              </a:spcBef>
              <a:buClrTx/>
              <a:buSzTx/>
              <a:buFont typeface="Wingdings" panose="05000000000000000000" pitchFamily="2" charset="2"/>
              <a:buChar char="§"/>
            </a:pPr>
            <a:endParaRPr lang="fr-FR" altLang="fr-FR" sz="1800">
              <a:latin typeface="Arial Narrow" panose="020B0606020202030204" pitchFamily="34" charset="0"/>
            </a:endParaRPr>
          </a:p>
          <a:p>
            <a:pPr algn="just" eaLnBrk="1" hangingPunct="1">
              <a:spcBef>
                <a:spcPct val="0"/>
              </a:spcBef>
              <a:buClrTx/>
              <a:buSzTx/>
              <a:buFont typeface="Wingdings" panose="05000000000000000000" pitchFamily="2" charset="2"/>
              <a:buChar char="§"/>
            </a:pPr>
            <a:r>
              <a:rPr lang="fr-FR" altLang="fr-FR" sz="1800">
                <a:latin typeface="Arial Narrow" panose="020B0606020202030204" pitchFamily="34" charset="0"/>
              </a:rPr>
              <a:t>Vers la fin de l’opération, à faible vitesse, le couple de freinage diminue fortement et devient nul à l’arrêt.</a:t>
            </a:r>
          </a:p>
        </p:txBody>
      </p:sp>
      <p:sp>
        <p:nvSpPr>
          <p:cNvPr id="81925" name="Rectangle 37"/>
          <p:cNvSpPr>
            <a:spLocks noChangeArrowheads="1"/>
          </p:cNvSpPr>
          <p:nvPr/>
        </p:nvSpPr>
        <p:spPr bwMode="auto">
          <a:xfrm>
            <a:off x="227013" y="228600"/>
            <a:ext cx="86121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1926"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30AD56E-724B-4FBF-AEBF-F4A8358FAB8E}" type="slidenum">
              <a:rPr lang="en-US" altLang="fr-FR" sz="1000">
                <a:solidFill>
                  <a:srgbClr val="292929"/>
                </a:solidFill>
                <a:latin typeface="Arial" panose="020B0604020202020204" pitchFamily="34" charset="0"/>
              </a:rPr>
              <a:pPr>
                <a:spcBef>
                  <a:spcPct val="0"/>
                </a:spcBef>
                <a:buClrTx/>
                <a:buSzTx/>
                <a:buFontTx/>
                <a:buNone/>
              </a:pPr>
              <a:t>36</a:t>
            </a:fld>
            <a:endParaRPr lang="en-US" altLang="fr-FR" sz="1000">
              <a:solidFill>
                <a:srgbClr val="292929"/>
              </a:solidFill>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94291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1676400" y="455613"/>
            <a:ext cx="4114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3971" name="Rectangle 26"/>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3972" name="Text Box 27"/>
          <p:cNvSpPr txBox="1">
            <a:spLocks noChangeArrowheads="1"/>
          </p:cNvSpPr>
          <p:nvPr/>
        </p:nvSpPr>
        <p:spPr bwMode="auto">
          <a:xfrm>
            <a:off x="914400" y="1143000"/>
            <a:ext cx="78200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Narrow" panose="020B0606020202030204" pitchFamily="34" charset="0"/>
              </a:rPr>
              <a:t>Les performances du régime statique peuvent être calculées à partir du schéma équivalent, par exemple, à l'aide de MATLAB</a:t>
            </a:r>
            <a:endParaRPr lang="en-US" altLang="fr-FR" sz="2000">
              <a:latin typeface="Arial Narrow" panose="020B0606020202030204" pitchFamily="34" charset="0"/>
            </a:endParaRPr>
          </a:p>
        </p:txBody>
      </p:sp>
      <p:grpSp>
        <p:nvGrpSpPr>
          <p:cNvPr id="83973" name="Group 28"/>
          <p:cNvGrpSpPr>
            <a:grpSpLocks/>
          </p:cNvGrpSpPr>
          <p:nvPr/>
        </p:nvGrpSpPr>
        <p:grpSpPr bwMode="auto">
          <a:xfrm>
            <a:off x="1219200" y="2514600"/>
            <a:ext cx="7600950" cy="2584450"/>
            <a:chOff x="768" y="768"/>
            <a:chExt cx="4788" cy="1628"/>
          </a:xfrm>
        </p:grpSpPr>
        <p:pic>
          <p:nvPicPr>
            <p:cNvPr id="83976" name="Picture 29"/>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7" name="Text Box 30"/>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83978" name="Text Box 31"/>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3979" name="Text Box 32"/>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83980" name="Text Box 33"/>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83981" name="Text Box 34"/>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83982" name="Text Box 35"/>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3983" name="Line 36"/>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4" name="Text Box 37"/>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83985" name="Text Box 38"/>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83986" name="Line 39"/>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7" name="Line 40"/>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3988" name="Text Box 41"/>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83989" name="Text Box 42"/>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83974"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FF0EB98-9076-4841-A77A-61777CD8BAA6}" type="slidenum">
              <a:rPr lang="en-US" altLang="fr-FR" sz="1000">
                <a:solidFill>
                  <a:srgbClr val="292929"/>
                </a:solidFill>
                <a:latin typeface="Arial" panose="020B0604020202020204" pitchFamily="34" charset="0"/>
              </a:rPr>
              <a:pPr>
                <a:spcBef>
                  <a:spcPct val="0"/>
                </a:spcBef>
                <a:buClrTx/>
                <a:buSzTx/>
                <a:buFontTx/>
                <a:buNone/>
              </a:pPr>
              <a:t>37</a:t>
            </a:fld>
            <a:endParaRPr lang="en-US" altLang="fr-FR" sz="1000">
              <a:solidFill>
                <a:srgbClr val="292929"/>
              </a:solidFill>
              <a:latin typeface="Arial" panose="020B0604020202020204" pitchFamily="34" charset="0"/>
            </a:endParaRPr>
          </a:p>
        </p:txBody>
      </p:sp>
      <p:sp>
        <p:nvSpPr>
          <p:cNvPr id="25" name="Espace réservé du pied de page 24"/>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100872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865188" y="352425"/>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6019"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grpSp>
        <p:nvGrpSpPr>
          <p:cNvPr id="86020" name="Group 9"/>
          <p:cNvGrpSpPr>
            <a:grpSpLocks/>
          </p:cNvGrpSpPr>
          <p:nvPr/>
        </p:nvGrpSpPr>
        <p:grpSpPr bwMode="auto">
          <a:xfrm>
            <a:off x="990600" y="914400"/>
            <a:ext cx="7600950" cy="2584450"/>
            <a:chOff x="768" y="768"/>
            <a:chExt cx="4788" cy="1628"/>
          </a:xfrm>
        </p:grpSpPr>
        <p:pic>
          <p:nvPicPr>
            <p:cNvPr id="86025" name="Picture 10"/>
            <p:cNvPicPr>
              <a:picLocks noChangeAspect="1" noChangeArrowheads="1"/>
            </p:cNvPicPr>
            <p:nvPr/>
          </p:nvPicPr>
          <p:blipFill>
            <a:blip r:embed="rId3">
              <a:grayscl/>
              <a:extLst>
                <a:ext uri="{28A0092B-C50C-407E-A947-70E740481C1C}">
                  <a14:useLocalDpi xmlns:a14="http://schemas.microsoft.com/office/drawing/2010/main" val="0"/>
                </a:ext>
              </a:extLst>
            </a:blip>
            <a:srcRect/>
            <a:stretch>
              <a:fillRect/>
            </a:stretch>
          </p:blipFill>
          <p:spPr bwMode="auto">
            <a:xfrm>
              <a:off x="864" y="1056"/>
              <a:ext cx="4008" cy="1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6" name="Text Box 11"/>
            <p:cNvSpPr txBox="1">
              <a:spLocks noChangeAspect="1" noChangeArrowheads="1"/>
            </p:cNvSpPr>
            <p:nvPr/>
          </p:nvSpPr>
          <p:spPr bwMode="auto">
            <a:xfrm>
              <a:off x="4848" y="144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R</a:t>
              </a:r>
              <a:r>
                <a:rPr lang="en-US" altLang="fr-FR" sz="2400" baseline="-25000">
                  <a:latin typeface="Arial Narrow" panose="020B0606020202030204" pitchFamily="34" charset="0"/>
                </a:rPr>
                <a:t>r</a:t>
              </a:r>
              <a:r>
                <a:rPr lang="en-US" altLang="fr-FR" sz="2400">
                  <a:latin typeface="Arial Narrow" panose="020B0606020202030204" pitchFamily="34" charset="0"/>
                </a:rPr>
                <a:t>’/g</a:t>
              </a:r>
            </a:p>
          </p:txBody>
        </p:sp>
        <p:sp>
          <p:nvSpPr>
            <p:cNvPr id="86027" name="Text Box 12"/>
            <p:cNvSpPr txBox="1">
              <a:spLocks noChangeAspect="1" noChangeArrowheads="1"/>
            </p:cNvSpPr>
            <p:nvPr/>
          </p:nvSpPr>
          <p:spPr bwMode="auto">
            <a:xfrm>
              <a:off x="768" y="1248"/>
              <a:ext cx="560" cy="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V</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6028" name="Text Box 13"/>
            <p:cNvSpPr txBox="1">
              <a:spLocks noChangeAspect="1" noChangeArrowheads="1"/>
            </p:cNvSpPr>
            <p:nvPr/>
          </p:nvSpPr>
          <p:spPr bwMode="auto">
            <a:xfrm>
              <a:off x="1296" y="864"/>
              <a:ext cx="398"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R</a:t>
              </a:r>
              <a:r>
                <a:rPr lang="en-US" altLang="fr-FR" sz="2000" baseline="-25000">
                  <a:latin typeface="Arial Narrow" panose="020B0606020202030204" pitchFamily="34" charset="0"/>
                </a:rPr>
                <a:t>s</a:t>
              </a:r>
              <a:endParaRPr lang="en-US" altLang="fr-FR" sz="2000">
                <a:latin typeface="Arial Narrow" panose="020B0606020202030204" pitchFamily="34" charset="0"/>
              </a:endParaRPr>
            </a:p>
          </p:txBody>
        </p:sp>
        <p:sp>
          <p:nvSpPr>
            <p:cNvPr id="86029" name="Text Box 14"/>
            <p:cNvSpPr txBox="1">
              <a:spLocks noChangeAspect="1" noChangeArrowheads="1"/>
            </p:cNvSpPr>
            <p:nvPr/>
          </p:nvSpPr>
          <p:spPr bwMode="auto">
            <a:xfrm>
              <a:off x="2268" y="794"/>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ls</a:t>
              </a:r>
            </a:p>
          </p:txBody>
        </p:sp>
        <p:sp>
          <p:nvSpPr>
            <p:cNvPr id="86030" name="Text Box 15"/>
            <p:cNvSpPr txBox="1">
              <a:spLocks noChangeAspect="1" noChangeArrowheads="1"/>
            </p:cNvSpPr>
            <p:nvPr/>
          </p:nvSpPr>
          <p:spPr bwMode="auto">
            <a:xfrm>
              <a:off x="3888" y="816"/>
              <a:ext cx="709"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lr</a:t>
              </a:r>
              <a:r>
                <a:rPr lang="en-US" altLang="fr-FR" sz="2400">
                  <a:latin typeface="Arial Narrow" panose="020B0606020202030204" pitchFamily="34" charset="0"/>
                </a:rPr>
                <a:t>’</a:t>
              </a:r>
              <a:endParaRPr lang="en-US" altLang="fr-FR" sz="2400" baseline="-25000">
                <a:latin typeface="Arial Narrow" panose="020B0606020202030204" pitchFamily="34" charset="0"/>
              </a:endParaRPr>
            </a:p>
          </p:txBody>
        </p:sp>
        <p:sp>
          <p:nvSpPr>
            <p:cNvPr id="86031" name="Text Box 16"/>
            <p:cNvSpPr txBox="1">
              <a:spLocks noChangeAspect="1" noChangeArrowheads="1"/>
            </p:cNvSpPr>
            <p:nvPr/>
          </p:nvSpPr>
          <p:spPr bwMode="auto">
            <a:xfrm>
              <a:off x="3195" y="1211"/>
              <a:ext cx="453" cy="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E</a:t>
              </a:r>
              <a:r>
                <a:rPr lang="en-US" altLang="fr-FR" sz="2000" baseline="-25000">
                  <a:latin typeface="Arial Narrow" panose="020B0606020202030204" pitchFamily="34" charset="0"/>
                </a:rPr>
                <a:t>s</a:t>
              </a:r>
            </a:p>
            <a:p>
              <a:pPr>
                <a:spcBef>
                  <a:spcPct val="0"/>
                </a:spcBef>
                <a:buClrTx/>
                <a:buSzTx/>
                <a:buFontTx/>
                <a:buNone/>
              </a:pPr>
              <a:endParaRPr lang="en-US" altLang="fr-FR" sz="2000">
                <a:latin typeface="Arial Narrow" panose="020B0606020202030204" pitchFamily="34" charset="0"/>
              </a:endParaRPr>
            </a:p>
            <a:p>
              <a:pPr>
                <a:spcBef>
                  <a:spcPct val="0"/>
                </a:spcBef>
                <a:buClrTx/>
                <a:buSzTx/>
                <a:buFontTx/>
                <a:buNone/>
              </a:pPr>
              <a:r>
                <a:rPr lang="en-US" altLang="fr-FR" sz="2000">
                  <a:latin typeface="Arial Narrow" panose="020B0606020202030204" pitchFamily="34" charset="0"/>
                </a:rPr>
                <a:t>–</a:t>
              </a:r>
            </a:p>
          </p:txBody>
        </p:sp>
        <p:sp>
          <p:nvSpPr>
            <p:cNvPr id="86032" name="Line 17"/>
            <p:cNvSpPr>
              <a:spLocks noChangeAspect="1" noChangeShapeType="1"/>
            </p:cNvSpPr>
            <p:nvPr/>
          </p:nvSpPr>
          <p:spPr bwMode="auto">
            <a:xfrm flipV="1">
              <a:off x="1740" y="1081"/>
              <a:ext cx="24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3" name="Text Box 18"/>
            <p:cNvSpPr txBox="1">
              <a:spLocks noChangeAspect="1" noChangeArrowheads="1"/>
            </p:cNvSpPr>
            <p:nvPr/>
          </p:nvSpPr>
          <p:spPr bwMode="auto">
            <a:xfrm>
              <a:off x="1683" y="768"/>
              <a:ext cx="464"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s</a:t>
              </a:r>
            </a:p>
          </p:txBody>
        </p:sp>
        <p:sp>
          <p:nvSpPr>
            <p:cNvPr id="86034" name="Text Box 19"/>
            <p:cNvSpPr txBox="1">
              <a:spLocks noChangeAspect="1" noChangeArrowheads="1"/>
            </p:cNvSpPr>
            <p:nvPr/>
          </p:nvSpPr>
          <p:spPr bwMode="auto">
            <a:xfrm>
              <a:off x="4512" y="816"/>
              <a:ext cx="42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400">
                  <a:latin typeface="Arial Narrow" panose="020B0606020202030204" pitchFamily="34" charset="0"/>
                </a:rPr>
                <a:t>I</a:t>
              </a:r>
              <a:r>
                <a:rPr lang="en-US" altLang="fr-FR" sz="2400" baseline="-25000">
                  <a:latin typeface="Arial Narrow" panose="020B0606020202030204" pitchFamily="34" charset="0"/>
                </a:rPr>
                <a:t>r</a:t>
              </a:r>
              <a:r>
                <a:rPr lang="en-US" altLang="fr-FR" sz="2400">
                  <a:latin typeface="Arial Narrow" panose="020B0606020202030204" pitchFamily="34" charset="0"/>
                </a:rPr>
                <a:t>’</a:t>
              </a:r>
            </a:p>
          </p:txBody>
        </p:sp>
        <p:sp>
          <p:nvSpPr>
            <p:cNvPr id="86035" name="Line 20"/>
            <p:cNvSpPr>
              <a:spLocks noChangeAspect="1" noChangeShapeType="1"/>
            </p:cNvSpPr>
            <p:nvPr/>
          </p:nvSpPr>
          <p:spPr bwMode="auto">
            <a:xfrm>
              <a:off x="4304" y="1099"/>
              <a:ext cx="24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6" name="Line 21"/>
            <p:cNvSpPr>
              <a:spLocks noChangeAspect="1" noChangeShapeType="1"/>
            </p:cNvSpPr>
            <p:nvPr/>
          </p:nvSpPr>
          <p:spPr bwMode="auto">
            <a:xfrm>
              <a:off x="2976" y="1911"/>
              <a:ext cx="0" cy="24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6037" name="Text Box 22"/>
            <p:cNvSpPr txBox="1">
              <a:spLocks noChangeAspect="1" noChangeArrowheads="1"/>
            </p:cNvSpPr>
            <p:nvPr/>
          </p:nvSpPr>
          <p:spPr bwMode="auto">
            <a:xfrm>
              <a:off x="2748" y="1850"/>
              <a:ext cx="708"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I</a:t>
              </a:r>
              <a:r>
                <a:rPr lang="en-US" altLang="fr-FR" sz="2000" baseline="-25000">
                  <a:latin typeface="Arial Narrow" panose="020B0606020202030204" pitchFamily="34" charset="0"/>
                </a:rPr>
                <a:t>m</a:t>
              </a:r>
            </a:p>
          </p:txBody>
        </p:sp>
        <p:sp>
          <p:nvSpPr>
            <p:cNvPr id="86038" name="Text Box 23"/>
            <p:cNvSpPr txBox="1">
              <a:spLocks noChangeAspect="1" noChangeArrowheads="1"/>
            </p:cNvSpPr>
            <p:nvPr/>
          </p:nvSpPr>
          <p:spPr bwMode="auto">
            <a:xfrm>
              <a:off x="2832" y="1465"/>
              <a:ext cx="708" cy="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en-US" altLang="fr-FR" sz="2000">
                  <a:latin typeface="Arial Narrow" panose="020B0606020202030204" pitchFamily="34" charset="0"/>
                </a:rPr>
                <a:t>L</a:t>
              </a:r>
              <a:r>
                <a:rPr lang="en-US" altLang="fr-FR" sz="2000" baseline="-25000">
                  <a:latin typeface="Arial Narrow" panose="020B0606020202030204" pitchFamily="34" charset="0"/>
                </a:rPr>
                <a:t>m</a:t>
              </a:r>
            </a:p>
          </p:txBody>
        </p:sp>
      </p:grpSp>
      <p:sp>
        <p:nvSpPr>
          <p:cNvPr id="86021" name="Text Box 24"/>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6022" name="Rectangle 25"/>
          <p:cNvSpPr>
            <a:spLocks noChangeArrowheads="1"/>
          </p:cNvSpPr>
          <p:nvPr/>
        </p:nvSpPr>
        <p:spPr bwMode="auto">
          <a:xfrm>
            <a:off x="1447800" y="3886200"/>
            <a:ext cx="65532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en-US" altLang="fr-FR" sz="2400" b="1">
                <a:latin typeface="Arial Narrow" panose="020B0606020202030204" pitchFamily="34" charset="0"/>
              </a:rPr>
              <a:t>Exemple. Moteur 3–phasé à cage d’écureil</a:t>
            </a:r>
          </a:p>
          <a:p>
            <a:pPr eaLnBrk="1" hangingPunct="1">
              <a:spcBef>
                <a:spcPct val="50000"/>
              </a:spcBef>
              <a:buClrTx/>
              <a:buSzTx/>
              <a:buFontTx/>
              <a:buNone/>
            </a:pPr>
            <a:r>
              <a:rPr lang="en-US" altLang="fr-FR" sz="2400">
                <a:latin typeface="Arial Narrow" panose="020B0606020202030204" pitchFamily="34" charset="0"/>
              </a:rPr>
              <a:t>V = 460 V      R</a:t>
            </a:r>
            <a:r>
              <a:rPr lang="en-US" altLang="fr-FR" sz="2400" baseline="-25000">
                <a:latin typeface="Arial Narrow" panose="020B0606020202030204" pitchFamily="34" charset="0"/>
              </a:rPr>
              <a:t>s</a:t>
            </a:r>
            <a:r>
              <a:rPr lang="en-US" altLang="fr-FR" sz="2400">
                <a:latin typeface="Arial Narrow" panose="020B0606020202030204" pitchFamily="34" charset="0"/>
              </a:rPr>
              <a:t>= 0.25 </a:t>
            </a:r>
            <a:r>
              <a:rPr lang="en-US" altLang="fr-FR" sz="2400">
                <a:latin typeface="Arial Narrow" panose="020B0606020202030204" pitchFamily="34" charset="0"/>
                <a:sym typeface="Symbol" panose="05050102010706020507" pitchFamily="18" charset="2"/>
              </a:rPr>
              <a:t></a:t>
            </a:r>
            <a:r>
              <a:rPr lang="en-US" altLang="fr-FR" sz="2400">
                <a:latin typeface="Arial Narrow" panose="020B0606020202030204" pitchFamily="34" charset="0"/>
              </a:rPr>
              <a:t>       R’</a:t>
            </a:r>
            <a:r>
              <a:rPr lang="en-US" altLang="fr-FR" sz="2400" baseline="-25000">
                <a:latin typeface="Arial Narrow" panose="020B0606020202030204" pitchFamily="34" charset="0"/>
              </a:rPr>
              <a:t>r</a:t>
            </a:r>
            <a:r>
              <a:rPr lang="en-US" altLang="fr-FR" sz="2400">
                <a:latin typeface="Arial Narrow" panose="020B0606020202030204" pitchFamily="34" charset="0"/>
              </a:rPr>
              <a:t>=0.2 </a:t>
            </a:r>
            <a:r>
              <a:rPr lang="en-US" altLang="fr-FR" sz="2400">
                <a:latin typeface="Arial Narrow" panose="020B0606020202030204" pitchFamily="34" charset="0"/>
                <a:sym typeface="Symbol" panose="05050102010706020507" pitchFamily="18" charset="2"/>
              </a:rPr>
              <a:t></a:t>
            </a:r>
            <a:r>
              <a:rPr lang="en-US" altLang="fr-FR" sz="2400">
                <a:latin typeface="Arial Narrow" panose="020B0606020202030204" pitchFamily="34" charset="0"/>
                <a:cs typeface="Times New Roman" panose="02020603050405020304" pitchFamily="18" charset="0"/>
              </a:rPr>
              <a:t> </a:t>
            </a:r>
            <a:endParaRPr lang="en-US" altLang="fr-FR" sz="2400">
              <a:latin typeface="Arial Narrow" panose="020B0606020202030204" pitchFamily="34" charset="0"/>
            </a:endParaRPr>
          </a:p>
          <a:p>
            <a:pPr eaLnBrk="1" hangingPunct="1">
              <a:spcBef>
                <a:spcPct val="50000"/>
              </a:spcBef>
              <a:buClrTx/>
              <a:buSzTx/>
              <a:buFontTx/>
              <a:buNone/>
            </a:pPr>
            <a:r>
              <a:rPr lang="en-US" altLang="fr-FR" sz="2400">
                <a:latin typeface="Arial Narrow" panose="020B0606020202030204" pitchFamily="34" charset="0"/>
              </a:rPr>
              <a:t>L’</a:t>
            </a:r>
            <a:r>
              <a:rPr lang="en-US" altLang="fr-FR" sz="2400" baseline="-25000">
                <a:latin typeface="Arial Narrow" panose="020B0606020202030204" pitchFamily="34" charset="0"/>
              </a:rPr>
              <a:t>r</a:t>
            </a:r>
            <a:r>
              <a:rPr lang="en-US" altLang="fr-FR" sz="2400">
                <a:latin typeface="Arial Narrow" panose="020B0606020202030204" pitchFamily="34" charset="0"/>
              </a:rPr>
              <a:t> = L</a:t>
            </a:r>
            <a:r>
              <a:rPr lang="en-US" altLang="fr-FR" sz="2400" baseline="-25000">
                <a:latin typeface="Arial Narrow" panose="020B0606020202030204" pitchFamily="34" charset="0"/>
              </a:rPr>
              <a:t>s</a:t>
            </a:r>
            <a:r>
              <a:rPr lang="en-US" altLang="fr-FR" sz="2400">
                <a:latin typeface="Arial Narrow" panose="020B0606020202030204" pitchFamily="34" charset="0"/>
              </a:rPr>
              <a:t> = 0.5/(2*pi*50)      L</a:t>
            </a:r>
            <a:r>
              <a:rPr lang="en-US" altLang="fr-FR" sz="2400" baseline="-25000">
                <a:latin typeface="Arial Narrow" panose="020B0606020202030204" pitchFamily="34" charset="0"/>
              </a:rPr>
              <a:t>m</a:t>
            </a:r>
            <a:r>
              <a:rPr lang="en-US" altLang="fr-FR" sz="2400">
                <a:latin typeface="Arial Narrow" panose="020B0606020202030204" pitchFamily="34" charset="0"/>
              </a:rPr>
              <a:t>=30/(2*pi*50)</a:t>
            </a:r>
          </a:p>
          <a:p>
            <a:pPr eaLnBrk="1" hangingPunct="1">
              <a:spcBef>
                <a:spcPct val="50000"/>
              </a:spcBef>
              <a:buClrTx/>
              <a:buSzTx/>
              <a:buFontTx/>
              <a:buNone/>
            </a:pPr>
            <a:r>
              <a:rPr lang="en-US" altLang="fr-FR" sz="2400">
                <a:latin typeface="Arial Narrow" panose="020B0606020202030204" pitchFamily="34" charset="0"/>
              </a:rPr>
              <a:t>f = 50Hz      p = 4</a:t>
            </a:r>
          </a:p>
        </p:txBody>
      </p:sp>
      <p:sp>
        <p:nvSpPr>
          <p:cNvPr id="86023" name="Espace réservé du numéro de diapositive 2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8F2D1B9-90BB-48AA-BB7D-6C3910A20EF2}" type="slidenum">
              <a:rPr lang="en-US" altLang="fr-FR" sz="1000">
                <a:solidFill>
                  <a:srgbClr val="292929"/>
                </a:solidFill>
                <a:latin typeface="Arial" panose="020B0604020202020204" pitchFamily="34" charset="0"/>
              </a:rPr>
              <a:pPr>
                <a:spcBef>
                  <a:spcPct val="0"/>
                </a:spcBef>
                <a:buClrTx/>
                <a:buSzTx/>
                <a:buFontTx/>
                <a:buNone/>
              </a:pPr>
              <a:t>38</a:t>
            </a:fld>
            <a:endParaRPr lang="en-US" altLang="fr-FR" sz="1000">
              <a:solidFill>
                <a:srgbClr val="292929"/>
              </a:solidFill>
              <a:latin typeface="Arial" panose="020B0604020202020204" pitchFamily="34" charset="0"/>
            </a:endParaRPr>
          </a:p>
        </p:txBody>
      </p:sp>
      <p:sp>
        <p:nvSpPr>
          <p:cNvPr id="26" name="Espace réservé du pied de page 25"/>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577831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88067"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88068" name="Text Box 23"/>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88069" name="Picture 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90600"/>
            <a:ext cx="7710488"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CAD4609-DA6C-480D-9F31-3E6112C4E585}" type="slidenum">
              <a:rPr lang="en-US" altLang="fr-FR" sz="1000">
                <a:solidFill>
                  <a:srgbClr val="292929"/>
                </a:solidFill>
                <a:latin typeface="Arial" panose="020B0604020202020204" pitchFamily="34" charset="0"/>
              </a:rPr>
              <a:pPr>
                <a:spcBef>
                  <a:spcPct val="0"/>
                </a:spcBef>
                <a:buClrTx/>
                <a:buSzTx/>
                <a:buFontTx/>
                <a:buNone/>
              </a:pPr>
              <a:t>39</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
        <p:nvSpPr>
          <p:cNvPr id="88072" name="ZoneTexte 7"/>
          <p:cNvSpPr txBox="1">
            <a:spLocks noChangeArrowheads="1"/>
          </p:cNvSpPr>
          <p:nvPr/>
        </p:nvSpPr>
        <p:spPr bwMode="auto">
          <a:xfrm>
            <a:off x="7931150" y="23336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
        <p:nvSpPr>
          <p:cNvPr id="88073" name="ZoneTexte 8"/>
          <p:cNvSpPr txBox="1">
            <a:spLocks noChangeArrowheads="1"/>
          </p:cNvSpPr>
          <p:nvPr/>
        </p:nvSpPr>
        <p:spPr bwMode="auto">
          <a:xfrm>
            <a:off x="7931150" y="37941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
        <p:nvSpPr>
          <p:cNvPr id="88074" name="ZoneTexte 11"/>
          <p:cNvSpPr txBox="1">
            <a:spLocks noChangeArrowheads="1"/>
          </p:cNvSpPr>
          <p:nvPr/>
        </p:nvSpPr>
        <p:spPr bwMode="auto">
          <a:xfrm>
            <a:off x="7931150" y="5254625"/>
            <a:ext cx="2190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000">
                <a:latin typeface="Arial Narrow" panose="020B0606020202030204" pitchFamily="34" charset="0"/>
              </a:rPr>
              <a:t>g</a:t>
            </a:r>
          </a:p>
        </p:txBody>
      </p:sp>
    </p:spTree>
    <p:extLst>
      <p:ext uri="{BB962C8B-B14F-4D97-AF65-F5344CB8AC3E}">
        <p14:creationId xmlns:p14="http://schemas.microsoft.com/office/powerpoint/2010/main" val="9749085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90115"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0116" name="Text Box 8"/>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9011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0813" y="1019175"/>
            <a:ext cx="6300787"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18" name="ZoneTexte 9"/>
          <p:cNvSpPr txBox="1">
            <a:spLocks noChangeArrowheads="1"/>
          </p:cNvSpPr>
          <p:nvPr/>
        </p:nvSpPr>
        <p:spPr bwMode="auto">
          <a:xfrm>
            <a:off x="6981825" y="5421313"/>
            <a:ext cx="292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90119"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8A65F32-736C-4AEA-A6B2-F652E96E124C}" type="slidenum">
              <a:rPr lang="en-US" altLang="fr-FR" sz="1000">
                <a:solidFill>
                  <a:srgbClr val="292929"/>
                </a:solidFill>
                <a:latin typeface="Arial" panose="020B0604020202020204" pitchFamily="34" charset="0"/>
              </a:rPr>
              <a:pPr>
                <a:spcBef>
                  <a:spcPct val="0"/>
                </a:spcBef>
                <a:buClrTx/>
                <a:buSzTx/>
                <a:buFontTx/>
                <a:buNone/>
              </a:pPr>
              <a:t>40</a:t>
            </a:fld>
            <a:endParaRPr lang="en-US" altLang="fr-FR" sz="1000">
              <a:solidFill>
                <a:srgbClr val="292929"/>
              </a:solidFill>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1257016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124200" y="3810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400" b="1">
                <a:latin typeface="Arial Narrow" panose="020B0606020202030204" pitchFamily="34" charset="0"/>
                <a:cs typeface="Times New Roman" panose="02020603050405020304" pitchFamily="18" charset="0"/>
              </a:rPr>
              <a:t>Performance en régime statique</a:t>
            </a:r>
          </a:p>
        </p:txBody>
      </p:sp>
      <p:sp>
        <p:nvSpPr>
          <p:cNvPr id="92163" name="Rectangle 7"/>
          <p:cNvSpPr>
            <a:spLocks noChangeArrowheads="1"/>
          </p:cNvSpPr>
          <p:nvPr/>
        </p:nvSpPr>
        <p:spPr bwMode="auto">
          <a:xfrm>
            <a:off x="381000" y="228600"/>
            <a:ext cx="8458200"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sp>
        <p:nvSpPr>
          <p:cNvPr id="92164" name="Text Box 8"/>
          <p:cNvSpPr txBox="1">
            <a:spLocks noChangeArrowheads="1"/>
          </p:cNvSpPr>
          <p:nvPr/>
        </p:nvSpPr>
        <p:spPr bwMode="auto">
          <a:xfrm>
            <a:off x="1676400" y="4267200"/>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400">
              <a:latin typeface="Arial Narrow" panose="020B0606020202030204" pitchFamily="34" charset="0"/>
            </a:endParaRPr>
          </a:p>
        </p:txBody>
      </p:sp>
      <p:pic>
        <p:nvPicPr>
          <p:cNvPr id="92165"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3513" y="1066800"/>
            <a:ext cx="6276975"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6" name="ZoneTexte 9"/>
          <p:cNvSpPr txBox="1">
            <a:spLocks noChangeArrowheads="1"/>
          </p:cNvSpPr>
          <p:nvPr/>
        </p:nvSpPr>
        <p:spPr bwMode="auto">
          <a:xfrm>
            <a:off x="5083175" y="2698750"/>
            <a:ext cx="647700" cy="323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(1-g)</a:t>
            </a:r>
          </a:p>
        </p:txBody>
      </p:sp>
      <p:sp>
        <p:nvSpPr>
          <p:cNvPr id="92167" name="ZoneTexte 10"/>
          <p:cNvSpPr txBox="1">
            <a:spLocks noChangeArrowheads="1"/>
          </p:cNvSpPr>
          <p:nvPr/>
        </p:nvSpPr>
        <p:spPr bwMode="auto">
          <a:xfrm>
            <a:off x="7164388" y="5035550"/>
            <a:ext cx="2921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Narrow" panose="020B0606020202030204" pitchFamily="34" charset="0"/>
              </a:rPr>
              <a:t>g</a:t>
            </a:r>
          </a:p>
        </p:txBody>
      </p:sp>
      <p:sp>
        <p:nvSpPr>
          <p:cNvPr id="92168" name="ZoneTexte 9"/>
          <p:cNvSpPr txBox="1">
            <a:spLocks noChangeArrowheads="1"/>
          </p:cNvSpPr>
          <p:nvPr/>
        </p:nvSpPr>
        <p:spPr bwMode="auto">
          <a:xfrm>
            <a:off x="3951288" y="1019175"/>
            <a:ext cx="25193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Narrow" panose="020B0606020202030204" pitchFamily="34" charset="0"/>
              </a:rPr>
              <a:t>Rendement</a:t>
            </a:r>
          </a:p>
        </p:txBody>
      </p:sp>
      <p:sp>
        <p:nvSpPr>
          <p:cNvPr id="92169"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C8F250B-B259-407F-854C-667498EF583B}" type="slidenum">
              <a:rPr lang="en-US" altLang="fr-FR" sz="1000">
                <a:solidFill>
                  <a:srgbClr val="292929"/>
                </a:solidFill>
                <a:latin typeface="Arial" panose="020B0604020202020204" pitchFamily="34" charset="0"/>
              </a:rPr>
              <a:pPr>
                <a:spcBef>
                  <a:spcPct val="0"/>
                </a:spcBef>
                <a:buClrTx/>
                <a:buSzTx/>
                <a:buFontTx/>
                <a:buNone/>
              </a:pPr>
              <a:t>41</a:t>
            </a:fld>
            <a:endParaRPr lang="en-US" altLang="fr-FR" sz="1000">
              <a:solidFill>
                <a:srgbClr val="292929"/>
              </a:solidFill>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en-US"/>
              <a:t>Commande des machines Mach asyn   Ali NEJMI</a:t>
            </a:r>
          </a:p>
        </p:txBody>
      </p:sp>
    </p:spTree>
    <p:extLst>
      <p:ext uri="{BB962C8B-B14F-4D97-AF65-F5344CB8AC3E}">
        <p14:creationId xmlns:p14="http://schemas.microsoft.com/office/powerpoint/2010/main" val="3484381522"/>
      </p:ext>
    </p:extLst>
  </p:cSld>
  <p:clrMapOvr>
    <a:masterClrMapping/>
  </p:clrMapOvr>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5662</TotalTime>
  <Words>3047</Words>
  <Application>Microsoft Office PowerPoint</Application>
  <PresentationFormat>On-screen Show (4:3)</PresentationFormat>
  <Paragraphs>530</Paragraphs>
  <Slides>41</Slides>
  <Notes>41</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3</vt:i4>
      </vt:variant>
      <vt:variant>
        <vt:lpstr>Slide Titles</vt:lpstr>
      </vt:variant>
      <vt:variant>
        <vt:i4>41</vt:i4>
      </vt:variant>
    </vt:vector>
  </HeadingPairs>
  <TitlesOfParts>
    <vt:vector size="58" baseType="lpstr">
      <vt:lpstr>Arial</vt:lpstr>
      <vt:lpstr>Arial Narrow</vt:lpstr>
      <vt:lpstr>Book Antiqua</vt:lpstr>
      <vt:lpstr>Bookman Old Style</vt:lpstr>
      <vt:lpstr>Bradley Hand ITC</vt:lpstr>
      <vt:lpstr>Calibri</vt:lpstr>
      <vt:lpstr>Courier New</vt:lpstr>
      <vt:lpstr>GreekC</vt:lpstr>
      <vt:lpstr>Lucida Sans</vt:lpstr>
      <vt:lpstr>Symbol</vt:lpstr>
      <vt:lpstr>Times New Roman</vt:lpstr>
      <vt:lpstr>Wingdings</vt:lpstr>
      <vt:lpstr>Wingdings 2</vt:lpstr>
      <vt:lpstr>Technique</vt:lpstr>
      <vt:lpstr>Équation</vt:lpstr>
      <vt:lpstr>Video Clip</vt:lpstr>
      <vt:lpstr>Equation</vt:lpstr>
      <vt:lpstr>MODULE Machine asynchrone Modèle statique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MOTOR (squirrel cage)</dc:title>
  <dc:creator>Dr Nik Rumzi Nik Idris</dc:creator>
  <cp:lastModifiedBy>ali nejmi</cp:lastModifiedBy>
  <cp:revision>236</cp:revision>
  <dcterms:created xsi:type="dcterms:W3CDTF">2005-09-05T13:15:16Z</dcterms:created>
  <dcterms:modified xsi:type="dcterms:W3CDTF">2024-10-14T19:09:30Z</dcterms:modified>
</cp:coreProperties>
</file>