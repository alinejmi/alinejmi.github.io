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5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6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7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18.xml" ContentType="application/vnd.openxmlformats-officedocument.themeOverride+xml"/>
  <Override PartName="/ppt/notesSlides/notesSlide18.xml" ContentType="application/vnd.openxmlformats-officedocument.presentationml.notesSlide+xml"/>
  <Override PartName="/ppt/theme/themeOverride19.xml" ContentType="application/vnd.openxmlformats-officedocument.themeOverride+xml"/>
  <Override PartName="/ppt/notesSlides/notesSlide19.xml" ContentType="application/vnd.openxmlformats-officedocument.presentationml.notesSlide+xml"/>
  <Override PartName="/ppt/theme/themeOverride20.xml" ContentType="application/vnd.openxmlformats-officedocument.themeOverride+xml"/>
  <Override PartName="/ppt/notesSlides/notesSlide20.xml" ContentType="application/vnd.openxmlformats-officedocument.presentationml.notesSlide+xml"/>
  <Override PartName="/ppt/theme/themeOverride21.xml" ContentType="application/vnd.openxmlformats-officedocument.themeOverride+xml"/>
  <Override PartName="/ppt/notesSlides/notesSlide21.xml" ContentType="application/vnd.openxmlformats-officedocument.presentationml.notesSlide+xml"/>
  <Override PartName="/ppt/theme/themeOverride22.xml" ContentType="application/vnd.openxmlformats-officedocument.themeOverride+xml"/>
  <Override PartName="/ppt/notesSlides/notesSlide22.xml" ContentType="application/vnd.openxmlformats-officedocument.presentationml.notesSlide+xml"/>
  <Override PartName="/ppt/theme/themeOverride23.xml" ContentType="application/vnd.openxmlformats-officedocument.themeOverride+xml"/>
  <Override PartName="/ppt/notesSlides/notesSlide23.xml" ContentType="application/vnd.openxmlformats-officedocument.presentationml.notesSlide+xml"/>
  <Override PartName="/ppt/theme/themeOverride24.xml" ContentType="application/vnd.openxmlformats-officedocument.themeOverride+xml"/>
  <Override PartName="/ppt/notesSlides/notesSlide24.xml" ContentType="application/vnd.openxmlformats-officedocument.presentationml.notesSlide+xml"/>
  <Override PartName="/ppt/theme/themeOverride25.xml" ContentType="application/vnd.openxmlformats-officedocument.themeOverride+xml"/>
  <Override PartName="/ppt/notesSlides/notesSlide25.xml" ContentType="application/vnd.openxmlformats-officedocument.presentationml.notesSlide+xml"/>
  <Override PartName="/ppt/theme/themeOverride26.xml" ContentType="application/vnd.openxmlformats-officedocument.themeOverride+xml"/>
  <Override PartName="/ppt/notesSlides/notesSlide26.xml" ContentType="application/vnd.openxmlformats-officedocument.presentationml.notesSlide+xml"/>
  <Override PartName="/ppt/theme/themeOverride27.xml" ContentType="application/vnd.openxmlformats-officedocument.themeOverride+xml"/>
  <Override PartName="/ppt/notesSlides/notesSlide27.xml" ContentType="application/vnd.openxmlformats-officedocument.presentationml.notesSlide+xml"/>
  <Override PartName="/ppt/theme/themeOverride28.xml" ContentType="application/vnd.openxmlformats-officedocument.themeOverride+xml"/>
  <Override PartName="/ppt/notesSlides/notesSlide28.xml" ContentType="application/vnd.openxmlformats-officedocument.presentationml.notesSlide+xml"/>
  <Override PartName="/ppt/theme/themeOverride29.xml" ContentType="application/vnd.openxmlformats-officedocument.themeOverride+xml"/>
  <Override PartName="/ppt/notesSlides/notesSlide29.xml" ContentType="application/vnd.openxmlformats-officedocument.presentationml.notesSlide+xml"/>
  <Override PartName="/ppt/theme/themeOverride30.xml" ContentType="application/vnd.openxmlformats-officedocument.themeOverride+xml"/>
  <Override PartName="/ppt/notesSlides/notesSlide30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31.xml" ContentType="application/vnd.openxmlformats-officedocument.presentationml.notesSlide+xml"/>
  <Override PartName="/ppt/theme/themeOverride32.xml" ContentType="application/vnd.openxmlformats-officedocument.themeOverride+xml"/>
  <Override PartName="/ppt/notesSlides/notesSlide32.xml" ContentType="application/vnd.openxmlformats-officedocument.presentationml.notesSlide+xml"/>
  <Override PartName="/ppt/theme/themeOverride33.xml" ContentType="application/vnd.openxmlformats-officedocument.themeOverride+xml"/>
  <Override PartName="/ppt/notesSlides/notesSlide33.xml" ContentType="application/vnd.openxmlformats-officedocument.presentationml.notesSlide+xml"/>
  <Override PartName="/ppt/theme/themeOverride34.xml" ContentType="application/vnd.openxmlformats-officedocument.themeOverride+xml"/>
  <Override PartName="/ppt/notesSlides/notesSlide34.xml" ContentType="application/vnd.openxmlformats-officedocument.presentationml.notesSlide+xml"/>
  <Override PartName="/ppt/theme/themeOverride35.xml" ContentType="application/vnd.openxmlformats-officedocument.themeOverride+xml"/>
  <Override PartName="/ppt/notesSlides/notesSlide35.xml" ContentType="application/vnd.openxmlformats-officedocument.presentationml.notesSlide+xml"/>
  <Override PartName="/ppt/theme/themeOverride36.xml" ContentType="application/vnd.openxmlformats-officedocument.themeOverride+xml"/>
  <Override PartName="/ppt/notesSlides/notesSlide36.xml" ContentType="application/vnd.openxmlformats-officedocument.presentationml.notesSlide+xml"/>
  <Override PartName="/ppt/theme/themeOverride37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theme/themeOverride38.xml" ContentType="application/vnd.openxmlformats-officedocument.themeOverride+xml"/>
  <Override PartName="/ppt/notesSlides/notesSlide39.xml" ContentType="application/vnd.openxmlformats-officedocument.presentationml.notesSlide+xml"/>
  <Override PartName="/ppt/theme/themeOverride39.xml" ContentType="application/vnd.openxmlformats-officedocument.themeOverr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3"/>
  </p:notesMasterIdLst>
  <p:sldIdLst>
    <p:sldId id="314" r:id="rId2"/>
    <p:sldId id="269" r:id="rId3"/>
    <p:sldId id="270" r:id="rId4"/>
    <p:sldId id="271" r:id="rId5"/>
    <p:sldId id="272" r:id="rId6"/>
    <p:sldId id="273" r:id="rId7"/>
    <p:sldId id="303" r:id="rId8"/>
    <p:sldId id="304" r:id="rId9"/>
    <p:sldId id="302" r:id="rId10"/>
    <p:sldId id="274" r:id="rId11"/>
    <p:sldId id="275" r:id="rId12"/>
    <p:sldId id="305" r:id="rId13"/>
    <p:sldId id="285" r:id="rId14"/>
    <p:sldId id="309" r:id="rId15"/>
    <p:sldId id="310" r:id="rId16"/>
    <p:sldId id="306" r:id="rId17"/>
    <p:sldId id="307" r:id="rId18"/>
    <p:sldId id="308" r:id="rId19"/>
    <p:sldId id="292" r:id="rId20"/>
    <p:sldId id="293" r:id="rId21"/>
    <p:sldId id="294" r:id="rId22"/>
    <p:sldId id="291" r:id="rId23"/>
    <p:sldId id="288" r:id="rId24"/>
    <p:sldId id="287" r:id="rId25"/>
    <p:sldId id="311" r:id="rId26"/>
    <p:sldId id="286" r:id="rId27"/>
    <p:sldId id="295" r:id="rId28"/>
    <p:sldId id="278" r:id="rId29"/>
    <p:sldId id="298" r:id="rId30"/>
    <p:sldId id="297" r:id="rId31"/>
    <p:sldId id="281" r:id="rId32"/>
    <p:sldId id="405" r:id="rId33"/>
    <p:sldId id="282" r:id="rId34"/>
    <p:sldId id="313" r:id="rId35"/>
    <p:sldId id="312" r:id="rId36"/>
    <p:sldId id="299" r:id="rId37"/>
    <p:sldId id="300" r:id="rId38"/>
    <p:sldId id="301" r:id="rId39"/>
    <p:sldId id="404" r:id="rId40"/>
    <p:sldId id="283" r:id="rId41"/>
    <p:sldId id="284" r:id="rId4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99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4667" autoAdjust="0"/>
  </p:normalViewPr>
  <p:slideViewPr>
    <p:cSldViewPr>
      <p:cViewPr varScale="1">
        <p:scale>
          <a:sx n="67" d="100"/>
          <a:sy n="67" d="100"/>
        </p:scale>
        <p:origin x="130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51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4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image" Target="../media/image32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12" Type="http://schemas.openxmlformats.org/officeDocument/2006/relationships/image" Target="../media/image31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Relationship Id="rId14" Type="http://schemas.openxmlformats.org/officeDocument/2006/relationships/image" Target="../media/image3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4" Type="http://schemas.openxmlformats.org/officeDocument/2006/relationships/image" Target="../media/image5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7" Type="http://schemas.openxmlformats.org/officeDocument/2006/relationships/image" Target="../media/image7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A34F86-553D-40EA-817E-91AD903857DE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8216506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51FDC9B-D3B6-4C39-A63E-B54EA3E86B58}" type="slidenum">
              <a:rPr lang="en-US" altLang="fr-FR"/>
              <a:pPr>
                <a:spcBef>
                  <a:spcPct val="0"/>
                </a:spcBef>
              </a:pPr>
              <a:t>1</a:t>
            </a:fld>
            <a:endParaRPr lang="en-US" altLang="fr-FR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958492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B6160C-EABD-4129-8742-D6FD1D90EE0B}" type="slidenum">
              <a:rPr lang="en-US" altLang="fr-FR"/>
              <a:pPr>
                <a:spcBef>
                  <a:spcPct val="0"/>
                </a:spcBef>
              </a:pPr>
              <a:t>2</a:t>
            </a:fld>
            <a:endParaRPr lang="en-US" altLang="fr-FR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023787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1A6AA5B-EBE3-4E4D-99A9-C14FC5F99C42}" type="slidenum">
              <a:rPr lang="en-US" altLang="fr-FR"/>
              <a:pPr>
                <a:spcBef>
                  <a:spcPct val="0"/>
                </a:spcBef>
              </a:pPr>
              <a:t>3</a:t>
            </a:fld>
            <a:endParaRPr lang="en-US" altLang="fr-FR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4804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89AA6D3-C152-40A9-B754-FC4A7D8628A4}" type="slidenum">
              <a:rPr lang="en-US" altLang="fr-FR"/>
              <a:pPr>
                <a:spcBef>
                  <a:spcPct val="0"/>
                </a:spcBef>
              </a:pPr>
              <a:t>4</a:t>
            </a:fld>
            <a:endParaRPr lang="en-US" altLang="fr-FR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437127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A032420-16F6-4438-935D-494F603426FB}" type="slidenum">
              <a:rPr lang="en-US" altLang="fr-FR"/>
              <a:pPr>
                <a:spcBef>
                  <a:spcPct val="0"/>
                </a:spcBef>
              </a:pPr>
              <a:t>5</a:t>
            </a:fld>
            <a:endParaRPr lang="en-US" altLang="fr-FR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766877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FDC2FC0-1373-4254-9D02-0DD10FF85622}" type="slidenum">
              <a:rPr lang="en-US" altLang="fr-FR"/>
              <a:pPr>
                <a:spcBef>
                  <a:spcPct val="0"/>
                </a:spcBef>
              </a:pPr>
              <a:t>6</a:t>
            </a:fld>
            <a:endParaRPr lang="en-US" altLang="fr-FR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857680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EF9F5A-2B8E-4CE1-8514-CD06772BF1CF}" type="slidenum">
              <a:rPr lang="en-US" altLang="fr-FR"/>
              <a:pPr>
                <a:spcBef>
                  <a:spcPct val="0"/>
                </a:spcBef>
              </a:pPr>
              <a:t>7</a:t>
            </a:fld>
            <a:endParaRPr lang="en-US" altLang="fr-FR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012455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854139-283D-47E2-B4B5-F8B79489040D}" type="slidenum">
              <a:rPr lang="en-US" altLang="fr-FR"/>
              <a:pPr>
                <a:spcBef>
                  <a:spcPct val="0"/>
                </a:spcBef>
              </a:pPr>
              <a:t>8</a:t>
            </a:fld>
            <a:endParaRPr lang="en-US" altLang="fr-FR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858797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11219B-8550-45EB-A9A0-B40242B3127F}" type="slidenum">
              <a:rPr lang="en-US" altLang="fr-FR"/>
              <a:pPr>
                <a:spcBef>
                  <a:spcPct val="0"/>
                </a:spcBef>
              </a:pPr>
              <a:t>9</a:t>
            </a:fld>
            <a:endParaRPr lang="en-US" altLang="fr-FR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16412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3EC82C-1BBB-421D-879D-5B47C34CB6B4}" type="slidenum">
              <a:rPr lang="en-US" altLang="fr-FR"/>
              <a:pPr>
                <a:spcBef>
                  <a:spcPct val="0"/>
                </a:spcBef>
              </a:pPr>
              <a:t>10</a:t>
            </a:fld>
            <a:endParaRPr lang="en-US" altLang="fr-FR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793809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D7D3DB-8248-4772-9FC3-2B93931F251D}" type="slidenum">
              <a:rPr lang="en-US" altLang="fr-FR"/>
              <a:pPr>
                <a:spcBef>
                  <a:spcPct val="0"/>
                </a:spcBef>
              </a:pPr>
              <a:t>11</a:t>
            </a:fld>
            <a:endParaRPr lang="en-US" altLang="fr-FR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871703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F1256B0-033A-4E44-ACE7-8061931CABCE}" type="slidenum">
              <a:rPr lang="en-US" altLang="fr-FR"/>
              <a:pPr>
                <a:spcBef>
                  <a:spcPct val="0"/>
                </a:spcBef>
              </a:pPr>
              <a:t>12</a:t>
            </a:fld>
            <a:endParaRPr lang="en-US" altLang="fr-FR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7594420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1576C5-4829-496B-9ECF-F8B0FB7D7C8D}" type="slidenum">
              <a:rPr lang="en-US" altLang="fr-FR"/>
              <a:pPr>
                <a:spcBef>
                  <a:spcPct val="0"/>
                </a:spcBef>
              </a:pPr>
              <a:t>13</a:t>
            </a:fld>
            <a:endParaRPr lang="en-US" altLang="fr-FR"/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115621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F5E57C3-83C5-42D6-A2A0-C56FFD9620C0}" type="slidenum">
              <a:rPr lang="en-US" altLang="fr-FR"/>
              <a:pPr>
                <a:spcBef>
                  <a:spcPct val="0"/>
                </a:spcBef>
              </a:pPr>
              <a:t>14</a:t>
            </a:fld>
            <a:endParaRPr lang="en-US" altLang="fr-FR"/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07467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324917C-3B6E-4CCF-99BB-315DE9A1C992}" type="slidenum">
              <a:rPr lang="en-US" altLang="fr-FR"/>
              <a:pPr>
                <a:spcBef>
                  <a:spcPct val="0"/>
                </a:spcBef>
              </a:pPr>
              <a:t>15</a:t>
            </a:fld>
            <a:endParaRPr lang="en-US" altLang="fr-FR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455502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ACA69C-4967-4CCA-8A90-E178630935FF}" type="slidenum">
              <a:rPr lang="en-US" altLang="fr-FR"/>
              <a:pPr>
                <a:spcBef>
                  <a:spcPct val="0"/>
                </a:spcBef>
              </a:pPr>
              <a:t>16</a:t>
            </a:fld>
            <a:endParaRPr lang="en-US" altLang="fr-FR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9900010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C627EA-C7F3-4161-9F2B-8DBCCE010D40}" type="slidenum">
              <a:rPr lang="en-US" altLang="fr-FR"/>
              <a:pPr>
                <a:spcBef>
                  <a:spcPct val="0"/>
                </a:spcBef>
              </a:pPr>
              <a:t>17</a:t>
            </a:fld>
            <a:endParaRPr lang="en-US" altLang="fr-FR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8858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BD0286-CBDE-4415-B31E-41780E5406A7}" type="slidenum">
              <a:rPr lang="en-US" altLang="fr-FR"/>
              <a:pPr>
                <a:spcBef>
                  <a:spcPct val="0"/>
                </a:spcBef>
              </a:pPr>
              <a:t>18</a:t>
            </a:fld>
            <a:endParaRPr lang="en-US" altLang="fr-FR"/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7316636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52C3161-A1AF-4273-886F-EF7BA67ED213}" type="slidenum">
              <a:rPr lang="en-US" altLang="fr-FR"/>
              <a:pPr>
                <a:spcBef>
                  <a:spcPct val="0"/>
                </a:spcBef>
              </a:pPr>
              <a:t>19</a:t>
            </a:fld>
            <a:endParaRPr lang="en-US" altLang="fr-FR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8728958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1350386-BDAF-4DA8-9CB7-8D17BB59A22A}" type="slidenum">
              <a:rPr lang="en-US" altLang="fr-FR"/>
              <a:pPr>
                <a:spcBef>
                  <a:spcPct val="0"/>
                </a:spcBef>
              </a:pPr>
              <a:t>20</a:t>
            </a:fld>
            <a:endParaRPr lang="en-US" altLang="fr-FR"/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7343088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B0E424D-5319-4E56-9532-B4591628E64A}" type="slidenum">
              <a:rPr lang="en-US" altLang="fr-FR"/>
              <a:pPr>
                <a:spcBef>
                  <a:spcPct val="0"/>
                </a:spcBef>
              </a:pPr>
              <a:t>21</a:t>
            </a:fld>
            <a:endParaRPr lang="en-US" altLang="fr-FR"/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864376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EBC0D96-6597-4FF8-9616-FC97B5BBA0E5}" type="slidenum">
              <a:rPr lang="en-US" altLang="fr-FR"/>
              <a:pPr>
                <a:spcBef>
                  <a:spcPct val="0"/>
                </a:spcBef>
              </a:pPr>
              <a:t>22</a:t>
            </a:fld>
            <a:endParaRPr lang="en-US" altLang="fr-FR"/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6185509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B70295-07DB-4AE0-88F9-4E5243E9F836}" type="slidenum">
              <a:rPr lang="en-US" altLang="fr-FR"/>
              <a:pPr>
                <a:spcBef>
                  <a:spcPct val="0"/>
                </a:spcBef>
              </a:pPr>
              <a:t>23</a:t>
            </a:fld>
            <a:endParaRPr lang="en-US" altLang="fr-FR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9720861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3DDC874-CA8E-4480-9163-5AD829E218DF}" type="slidenum">
              <a:rPr lang="en-US" altLang="fr-FR"/>
              <a:pPr>
                <a:spcBef>
                  <a:spcPct val="0"/>
                </a:spcBef>
              </a:pPr>
              <a:t>24</a:t>
            </a:fld>
            <a:endParaRPr lang="en-US" altLang="fr-FR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1791256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0C7A39E-5EDC-4351-B6B8-FEB2B010F5A0}" type="slidenum">
              <a:rPr lang="en-US" altLang="fr-FR"/>
              <a:pPr>
                <a:spcBef>
                  <a:spcPct val="0"/>
                </a:spcBef>
              </a:pPr>
              <a:t>25</a:t>
            </a:fld>
            <a:endParaRPr lang="en-US" altLang="fr-FR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017440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0393A9D-3E1C-4117-80F9-11EEE53B964A}" type="slidenum">
              <a:rPr lang="en-US" altLang="fr-FR"/>
              <a:pPr>
                <a:spcBef>
                  <a:spcPct val="0"/>
                </a:spcBef>
              </a:pPr>
              <a:t>26</a:t>
            </a:fld>
            <a:endParaRPr lang="en-US" altLang="fr-FR"/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778488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5B9B9A-D25E-4419-A7F4-1DEF7137D048}" type="slidenum">
              <a:rPr lang="en-US" altLang="fr-FR"/>
              <a:pPr>
                <a:spcBef>
                  <a:spcPct val="0"/>
                </a:spcBef>
              </a:pPr>
              <a:t>27</a:t>
            </a:fld>
            <a:endParaRPr lang="en-US" altLang="fr-FR"/>
          </a:p>
        </p:txBody>
      </p:sp>
      <p:sp>
        <p:nvSpPr>
          <p:cNvPr id="205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5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1892437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ACE1D00-055E-4B4F-98DC-97236D0C860F}" type="slidenum">
              <a:rPr lang="en-US" altLang="fr-FR"/>
              <a:pPr>
                <a:spcBef>
                  <a:spcPct val="0"/>
                </a:spcBef>
              </a:pPr>
              <a:t>28</a:t>
            </a:fld>
            <a:endParaRPr lang="en-US" altLang="fr-FR"/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dirty="0" smtClean="0"/>
          </a:p>
        </p:txBody>
      </p:sp>
    </p:spTree>
    <p:extLst>
      <p:ext uri="{BB962C8B-B14F-4D97-AF65-F5344CB8AC3E}">
        <p14:creationId xmlns:p14="http://schemas.microsoft.com/office/powerpoint/2010/main" val="1895367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189909-DA47-427B-91AB-3CABBC720E9B}" type="slidenum">
              <a:rPr lang="en-US" altLang="fr-FR"/>
              <a:pPr>
                <a:spcBef>
                  <a:spcPct val="0"/>
                </a:spcBef>
              </a:pPr>
              <a:t>29</a:t>
            </a:fld>
            <a:endParaRPr lang="en-US" altLang="fr-FR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9949121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7A7C706-DC3A-43C4-896C-752E232AA545}" type="slidenum">
              <a:rPr lang="en-US" altLang="fr-FR"/>
              <a:pPr>
                <a:spcBef>
                  <a:spcPct val="0"/>
                </a:spcBef>
              </a:pPr>
              <a:t>30</a:t>
            </a:fld>
            <a:endParaRPr lang="en-US" altLang="fr-FR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1186317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C3F0975-2D00-442B-AEC7-8B003EBE81E2}" type="slidenum">
              <a:rPr lang="en-US" altLang="fr-FR"/>
              <a:pPr>
                <a:spcBef>
                  <a:spcPct val="0"/>
                </a:spcBef>
              </a:pPr>
              <a:t>31</a:t>
            </a:fld>
            <a:endParaRPr lang="en-US" altLang="fr-FR"/>
          </a:p>
        </p:txBody>
      </p:sp>
      <p:sp>
        <p:nvSpPr>
          <p:cNvPr id="214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4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152852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9AAF64-AE5A-47D2-95C0-105C455E33AB}" type="slidenum">
              <a:rPr lang="en-US" altLang="fr-FR"/>
              <a:pPr>
                <a:spcBef>
                  <a:spcPct val="0"/>
                </a:spcBef>
              </a:pPr>
              <a:t>33</a:t>
            </a:fld>
            <a:endParaRPr lang="en-US" altLang="fr-FR"/>
          </a:p>
        </p:txBody>
      </p:sp>
      <p:sp>
        <p:nvSpPr>
          <p:cNvPr id="216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362419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91E997-BD22-4B14-B82B-B467824B1EF6}" type="slidenum">
              <a:rPr lang="en-US" altLang="fr-FR"/>
              <a:pPr>
                <a:spcBef>
                  <a:spcPct val="0"/>
                </a:spcBef>
              </a:pPr>
              <a:t>34</a:t>
            </a:fld>
            <a:endParaRPr lang="en-US" altLang="fr-FR"/>
          </a:p>
        </p:txBody>
      </p:sp>
      <p:sp>
        <p:nvSpPr>
          <p:cNvPr id="218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40656092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FD10BD-8124-4D3A-B07B-24D24076296C}" type="slidenum">
              <a:rPr lang="en-US" altLang="fr-FR"/>
              <a:pPr>
                <a:spcBef>
                  <a:spcPct val="0"/>
                </a:spcBef>
              </a:pPr>
              <a:t>35</a:t>
            </a:fld>
            <a:endParaRPr lang="en-US" altLang="fr-FR"/>
          </a:p>
        </p:txBody>
      </p:sp>
      <p:sp>
        <p:nvSpPr>
          <p:cNvPr id="220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27824786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9A9ACD-2FAC-46E2-8F3E-3596B243A85F}" type="slidenum">
              <a:rPr lang="en-US" altLang="fr-FR"/>
              <a:pPr>
                <a:spcBef>
                  <a:spcPct val="0"/>
                </a:spcBef>
              </a:pPr>
              <a:t>36</a:t>
            </a:fld>
            <a:endParaRPr lang="en-US" altLang="fr-FR"/>
          </a:p>
        </p:txBody>
      </p:sp>
      <p:sp>
        <p:nvSpPr>
          <p:cNvPr id="222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4182964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17326C8-95CD-4493-9C2A-95E44748217C}" type="slidenum">
              <a:rPr lang="en-US" altLang="fr-FR"/>
              <a:pPr>
                <a:spcBef>
                  <a:spcPct val="0"/>
                </a:spcBef>
              </a:pPr>
              <a:t>37</a:t>
            </a:fld>
            <a:endParaRPr lang="en-US" altLang="fr-FR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9407642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F93A367-F3F5-4ADF-BDD8-54FEF2D1CD1A}" type="slidenum">
              <a:rPr lang="en-US" altLang="fr-FR"/>
              <a:pPr>
                <a:spcBef>
                  <a:spcPct val="0"/>
                </a:spcBef>
              </a:pPr>
              <a:t>38</a:t>
            </a:fld>
            <a:endParaRPr lang="en-US" altLang="fr-FR"/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2875833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835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 smtClean="0"/>
          </a:p>
        </p:txBody>
      </p:sp>
      <p:sp>
        <p:nvSpPr>
          <p:cNvPr id="2283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579D5C-BB36-4CDF-A90D-315EF497F84D}" type="slidenum">
              <a:rPr lang="en-US" altLang="fr-FR"/>
              <a:pPr>
                <a:spcBef>
                  <a:spcPct val="0"/>
                </a:spcBef>
              </a:pPr>
              <a:t>39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6569905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152DF8-A373-4D47-A916-EBC710460C6F}" type="slidenum">
              <a:rPr lang="en-US" altLang="fr-FR"/>
              <a:pPr>
                <a:spcBef>
                  <a:spcPct val="0"/>
                </a:spcBef>
              </a:pPr>
              <a:t>40</a:t>
            </a:fld>
            <a:endParaRPr lang="en-US" altLang="fr-FR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65894596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09FD37-8F3F-4AFC-A938-C02EAFE8753A}" type="slidenum">
              <a:rPr lang="en-US" altLang="fr-FR"/>
              <a:pPr>
                <a:spcBef>
                  <a:spcPct val="0"/>
                </a:spcBef>
              </a:pPr>
              <a:t>41</a:t>
            </a:fld>
            <a:endParaRPr lang="en-US" altLang="fr-FR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273074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 smtClean="0"/>
              <a:t>Cliquez pour modifier le style des sous-titres du masque</a:t>
            </a:r>
            <a:endParaRPr lang="en-US"/>
          </a:p>
        </p:txBody>
      </p:sp>
      <p:sp>
        <p:nvSpPr>
          <p:cNvPr id="6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E6F1B31-C1BD-460B-8DFE-62BF6FFF9229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3244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0157E-CE96-41DC-9694-A2D66CED317E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353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e libre 3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Forme libre 4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AEE3183-C548-4CA9-B721-B4E01355CD3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96588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74F6C-95CE-4D72-ADAB-C675903B11C1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298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9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15275-0BDA-4653-9575-80C8EDC29E6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06574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/>
          <a:lstStyle>
            <a:lvl1pPr algn="l">
              <a:defRPr sz="460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5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BAC0D-3F57-4931-B53E-46D163BB20D6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52022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4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1655F-D14C-44F4-9E47-7A6E41570238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728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156575" y="6421438"/>
            <a:ext cx="7620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5EBC5CA-A7C6-4DEA-97FB-A1B526FD0A2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86197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0FEC7-5E2D-484F-8B46-3C71F2B4A7DA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18470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103FC-4823-4A47-9251-EAA19161FDAB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60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pied de page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6" name="Espace réservé du numéro de diapositive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2A23C4-EB8F-499C-BE44-B38F6F899CC3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26006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90FF3D9-03AB-4807-B0C2-E56D6DC302C0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3686507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B23FA0-9413-4EC1-8E12-44127C67AC91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197916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 11"/>
          <p:cNvSpPr>
            <a:spLocks/>
          </p:cNvSpPr>
          <p:nvPr/>
        </p:nvSpPr>
        <p:spPr bwMode="auto">
          <a:xfrm>
            <a:off x="0" y="4751388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6" name="Forme libre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28" name="Espace réservé du titre 8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  <a:endParaRPr lang="en-US" altLang="fr-FR" smtClean="0"/>
          </a:p>
        </p:txBody>
      </p:sp>
      <p:sp>
        <p:nvSpPr>
          <p:cNvPr id="1029" name="Espace réservé du texte 29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  <a:endParaRPr lang="en-US" altLang="fr-FR" smtClean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421438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3124200" y="6421438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 smtClean="0">
                <a:solidFill>
                  <a:schemeClr val="tx2">
                    <a:shade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solidFill>
                  <a:srgbClr val="29292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90C74C-B9D8-47DD-A058-8CC26F08CC7D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83" r:id="rId2"/>
    <p:sldLayoutId id="2147484192" r:id="rId3"/>
    <p:sldLayoutId id="2147484184" r:id="rId4"/>
    <p:sldLayoutId id="2147484185" r:id="rId5"/>
    <p:sldLayoutId id="2147484186" r:id="rId6"/>
    <p:sldLayoutId id="2147484187" r:id="rId7"/>
    <p:sldLayoutId id="2147484193" r:id="rId8"/>
    <p:sldLayoutId id="2147484188" r:id="rId9"/>
    <p:sldLayoutId id="2147484189" r:id="rId10"/>
    <p:sldLayoutId id="2147484190" r:id="rId11"/>
    <p:sldLayoutId id="2147484195" r:id="rId12"/>
    <p:sldLayoutId id="214748419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600">
          <a:solidFill>
            <a:schemeClr val="tx1"/>
          </a:solidFill>
          <a:latin typeface="Lucida Sans" pitchFamily="34" charset="0"/>
        </a:defRPr>
      </a:lvl9pPr>
    </p:titleStyle>
    <p:bodyStyle>
      <a:lvl1pPr marL="419100" indent="-3825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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1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4888" indent="-2555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Arial" panose="020B0604020202020204" pitchFamily="34" charset="0"/>
        <a:buChar char="○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79525" indent="-236538" algn="l" rtl="0" eaLnBrk="0" fontAlgn="base" hangingPunct="0">
        <a:spcBef>
          <a:spcPct val="20000"/>
        </a:spcBef>
        <a:spcAft>
          <a:spcPct val="0"/>
        </a:spcAft>
        <a:buClr>
          <a:srgbClr val="8D89A4"/>
        </a:buClr>
        <a:buSzPct val="9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89075" indent="-182563" algn="l" rtl="0" eaLnBrk="0" fontAlgn="base" hangingPunct="0">
        <a:spcBef>
          <a:spcPct val="20000"/>
        </a:spcBef>
        <a:spcAft>
          <a:spcPct val="0"/>
        </a:spcAft>
        <a:buClr>
          <a:srgbClr val="748560"/>
        </a:buClr>
        <a:buSzPct val="100000"/>
        <a:buFont typeface="Arial" panose="020B0604020202020204" pitchFamily="34" charset="0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hyperlink" Target="mailto:a.nejmi@fstbm.ac.ma" TargetMode="External"/><Relationship Id="rId5" Type="http://schemas.openxmlformats.org/officeDocument/2006/relationships/hyperlink" Target="mailto:alinejmi@yahoo.fr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wmf"/><Relationship Id="rId2" Type="http://schemas.openxmlformats.org/officeDocument/2006/relationships/vmlDrawing" Target="../drawings/vmlDrawing1.vml"/><Relationship Id="rId1" Type="http://schemas.openxmlformats.org/officeDocument/2006/relationships/themeOverride" Target="../theme/themeOverride8.x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4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3.bin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wmf"/><Relationship Id="rId2" Type="http://schemas.openxmlformats.org/officeDocument/2006/relationships/vmlDrawing" Target="../drawings/vmlDrawing2.vml"/><Relationship Id="rId1" Type="http://schemas.openxmlformats.org/officeDocument/2006/relationships/themeOverride" Target="../theme/themeOverride9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Relationship Id="rId9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0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9.bin"/><Relationship Id="rId2" Type="http://schemas.openxmlformats.org/officeDocument/2006/relationships/vmlDrawing" Target="../drawings/vmlDrawing3.vml"/><Relationship Id="rId1" Type="http://schemas.openxmlformats.org/officeDocument/2006/relationships/themeOverride" Target="../theme/themeOverride10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8.bin"/><Relationship Id="rId4" Type="http://schemas.openxmlformats.org/officeDocument/2006/relationships/notesSlide" Target="../notesSlides/notesSlide10.xml"/><Relationship Id="rId9" Type="http://schemas.openxmlformats.org/officeDocument/2006/relationships/image" Target="../media/image8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wmf"/><Relationship Id="rId2" Type="http://schemas.openxmlformats.org/officeDocument/2006/relationships/vmlDrawing" Target="../drawings/vmlDrawing4.vml"/><Relationship Id="rId1" Type="http://schemas.openxmlformats.org/officeDocument/2006/relationships/themeOverride" Target="../theme/themeOverride11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1.xml"/><Relationship Id="rId9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3.wmf"/><Relationship Id="rId2" Type="http://schemas.openxmlformats.org/officeDocument/2006/relationships/vmlDrawing" Target="../drawings/vmlDrawing5.vml"/><Relationship Id="rId1" Type="http://schemas.openxmlformats.org/officeDocument/2006/relationships/themeOverride" Target="../theme/themeOverride1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6.vml"/><Relationship Id="rId1" Type="http://schemas.openxmlformats.org/officeDocument/2006/relationships/themeOverride" Target="../theme/themeOverride13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7.vml"/><Relationship Id="rId1" Type="http://schemas.openxmlformats.org/officeDocument/2006/relationships/themeOverride" Target="../theme/themeOverride14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wmf"/><Relationship Id="rId2" Type="http://schemas.openxmlformats.org/officeDocument/2006/relationships/vmlDrawing" Target="../drawings/vmlDrawing8.vml"/><Relationship Id="rId1" Type="http://schemas.openxmlformats.org/officeDocument/2006/relationships/themeOverride" Target="../theme/themeOverride15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image" Target="../media/image19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20.bin"/><Relationship Id="rId2" Type="http://schemas.openxmlformats.org/officeDocument/2006/relationships/vmlDrawing" Target="../drawings/vmlDrawing9.vml"/><Relationship Id="rId1" Type="http://schemas.openxmlformats.org/officeDocument/2006/relationships/themeOverride" Target="../theme/themeOverride19.x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8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19.bin"/><Relationship Id="rId4" Type="http://schemas.openxmlformats.org/officeDocument/2006/relationships/notesSlide" Target="../notesSlides/notesSlide19.xml"/><Relationship Id="rId9" Type="http://schemas.openxmlformats.org/officeDocument/2006/relationships/image" Target="../media/image17.wmf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7.bin"/><Relationship Id="rId26" Type="http://schemas.openxmlformats.org/officeDocument/2006/relationships/oleObject" Target="../embeddings/oleObject31.bin"/><Relationship Id="rId3" Type="http://schemas.openxmlformats.org/officeDocument/2006/relationships/slideLayout" Target="../slideLayouts/slideLayout13.xml"/><Relationship Id="rId21" Type="http://schemas.openxmlformats.org/officeDocument/2006/relationships/image" Target="../media/image27.wmf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4.bin"/><Relationship Id="rId17" Type="http://schemas.openxmlformats.org/officeDocument/2006/relationships/image" Target="../media/image25.wmf"/><Relationship Id="rId25" Type="http://schemas.openxmlformats.org/officeDocument/2006/relationships/image" Target="../media/image29.wmf"/><Relationship Id="rId33" Type="http://schemas.openxmlformats.org/officeDocument/2006/relationships/image" Target="../media/image33.wmf"/><Relationship Id="rId2" Type="http://schemas.openxmlformats.org/officeDocument/2006/relationships/vmlDrawing" Target="../drawings/vmlDrawing10.vml"/><Relationship Id="rId16" Type="http://schemas.openxmlformats.org/officeDocument/2006/relationships/oleObject" Target="../embeddings/oleObject26.bin"/><Relationship Id="rId20" Type="http://schemas.openxmlformats.org/officeDocument/2006/relationships/oleObject" Target="../embeddings/oleObject28.bin"/><Relationship Id="rId29" Type="http://schemas.openxmlformats.org/officeDocument/2006/relationships/image" Target="../media/image31.wmf"/><Relationship Id="rId1" Type="http://schemas.openxmlformats.org/officeDocument/2006/relationships/themeOverride" Target="../theme/themeOverride20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2.wmf"/><Relationship Id="rId24" Type="http://schemas.openxmlformats.org/officeDocument/2006/relationships/oleObject" Target="../embeddings/oleObject30.bin"/><Relationship Id="rId32" Type="http://schemas.openxmlformats.org/officeDocument/2006/relationships/oleObject" Target="../embeddings/oleObject34.bin"/><Relationship Id="rId5" Type="http://schemas.openxmlformats.org/officeDocument/2006/relationships/image" Target="../media/image1.jpeg"/><Relationship Id="rId15" Type="http://schemas.openxmlformats.org/officeDocument/2006/relationships/image" Target="../media/image24.wmf"/><Relationship Id="rId23" Type="http://schemas.openxmlformats.org/officeDocument/2006/relationships/image" Target="../media/image28.wmf"/><Relationship Id="rId28" Type="http://schemas.openxmlformats.org/officeDocument/2006/relationships/oleObject" Target="../embeddings/oleObject32.bin"/><Relationship Id="rId10" Type="http://schemas.openxmlformats.org/officeDocument/2006/relationships/oleObject" Target="../embeddings/oleObject23.bin"/><Relationship Id="rId19" Type="http://schemas.openxmlformats.org/officeDocument/2006/relationships/image" Target="../media/image26.wmf"/><Relationship Id="rId31" Type="http://schemas.openxmlformats.org/officeDocument/2006/relationships/image" Target="../media/image32.wmf"/><Relationship Id="rId4" Type="http://schemas.openxmlformats.org/officeDocument/2006/relationships/notesSlide" Target="../notesSlides/notesSlide20.xml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5.bin"/><Relationship Id="rId22" Type="http://schemas.openxmlformats.org/officeDocument/2006/relationships/oleObject" Target="../embeddings/oleObject29.bin"/><Relationship Id="rId27" Type="http://schemas.openxmlformats.org/officeDocument/2006/relationships/image" Target="../media/image30.wmf"/><Relationship Id="rId30" Type="http://schemas.openxmlformats.org/officeDocument/2006/relationships/oleObject" Target="../embeddings/oleObject33.bin"/><Relationship Id="rId8" Type="http://schemas.openxmlformats.org/officeDocument/2006/relationships/oleObject" Target="../embeddings/oleObject2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4.wmf"/><Relationship Id="rId2" Type="http://schemas.openxmlformats.org/officeDocument/2006/relationships/vmlDrawing" Target="../drawings/vmlDrawing11.vml"/><Relationship Id="rId1" Type="http://schemas.openxmlformats.org/officeDocument/2006/relationships/themeOverride" Target="../theme/themeOverride21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image" Target="../media/image38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0.wmf"/><Relationship Id="rId2" Type="http://schemas.openxmlformats.org/officeDocument/2006/relationships/vmlDrawing" Target="../drawings/vmlDrawing12.vml"/><Relationship Id="rId16" Type="http://schemas.openxmlformats.org/officeDocument/2006/relationships/oleObject" Target="../embeddings/oleObject41.bin"/><Relationship Id="rId1" Type="http://schemas.openxmlformats.org/officeDocument/2006/relationships/themeOverride" Target="../theme/themeOverride23.x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37.wmf"/><Relationship Id="rId5" Type="http://schemas.openxmlformats.org/officeDocument/2006/relationships/image" Target="../media/image1.jpeg"/><Relationship Id="rId15" Type="http://schemas.openxmlformats.org/officeDocument/2006/relationships/image" Target="../media/image39.wmf"/><Relationship Id="rId10" Type="http://schemas.openxmlformats.org/officeDocument/2006/relationships/oleObject" Target="../embeddings/oleObject38.bin"/><Relationship Id="rId4" Type="http://schemas.openxmlformats.org/officeDocument/2006/relationships/notesSlide" Target="../notesSlides/notesSlide23.xml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40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1.wmf"/><Relationship Id="rId2" Type="http://schemas.openxmlformats.org/officeDocument/2006/relationships/vmlDrawing" Target="../drawings/vmlDrawing13.vml"/><Relationship Id="rId1" Type="http://schemas.openxmlformats.org/officeDocument/2006/relationships/themeOverride" Target="../theme/themeOverride26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42.wmf"/><Relationship Id="rId2" Type="http://schemas.openxmlformats.org/officeDocument/2006/relationships/vmlDrawing" Target="../drawings/vmlDrawing14.vml"/><Relationship Id="rId1" Type="http://schemas.openxmlformats.org/officeDocument/2006/relationships/themeOverride" Target="../theme/themeOverride28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46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7.bin"/><Relationship Id="rId17" Type="http://schemas.openxmlformats.org/officeDocument/2006/relationships/image" Target="../media/image48.wmf"/><Relationship Id="rId2" Type="http://schemas.openxmlformats.org/officeDocument/2006/relationships/vmlDrawing" Target="../drawings/vmlDrawing15.vml"/><Relationship Id="rId16" Type="http://schemas.openxmlformats.org/officeDocument/2006/relationships/oleObject" Target="../embeddings/oleObject49.bin"/><Relationship Id="rId1" Type="http://schemas.openxmlformats.org/officeDocument/2006/relationships/themeOverride" Target="../theme/themeOverride29.xml"/><Relationship Id="rId6" Type="http://schemas.openxmlformats.org/officeDocument/2006/relationships/oleObject" Target="../embeddings/oleObject44.bin"/><Relationship Id="rId11" Type="http://schemas.openxmlformats.org/officeDocument/2006/relationships/image" Target="../media/image45.wmf"/><Relationship Id="rId5" Type="http://schemas.openxmlformats.org/officeDocument/2006/relationships/image" Target="../media/image1.jpeg"/><Relationship Id="rId15" Type="http://schemas.openxmlformats.org/officeDocument/2006/relationships/image" Target="../media/image47.wmf"/><Relationship Id="rId10" Type="http://schemas.openxmlformats.org/officeDocument/2006/relationships/oleObject" Target="../embeddings/oleObject46.bin"/><Relationship Id="rId4" Type="http://schemas.openxmlformats.org/officeDocument/2006/relationships/notesSlide" Target="../notesSlides/notesSlide29.xml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9.wmf"/><Relationship Id="rId2" Type="http://schemas.openxmlformats.org/officeDocument/2006/relationships/vmlDrawing" Target="../drawings/vmlDrawing16.vml"/><Relationship Id="rId1" Type="http://schemas.openxmlformats.org/officeDocument/2006/relationships/themeOverride" Target="../theme/themeOverride30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3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54.bin"/><Relationship Id="rId2" Type="http://schemas.openxmlformats.org/officeDocument/2006/relationships/vmlDrawing" Target="../drawings/vmlDrawing17.vml"/><Relationship Id="rId1" Type="http://schemas.openxmlformats.org/officeDocument/2006/relationships/themeOverride" Target="../theme/themeOverride31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2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53.bin"/><Relationship Id="rId4" Type="http://schemas.openxmlformats.org/officeDocument/2006/relationships/notesSlide" Target="../notesSlides/notesSlide31.xml"/><Relationship Id="rId9" Type="http://schemas.openxmlformats.org/officeDocument/2006/relationships/image" Target="../media/image51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5.wmf"/><Relationship Id="rId2" Type="http://schemas.openxmlformats.org/officeDocument/2006/relationships/vmlDrawing" Target="../drawings/vmlDrawing18.vml"/><Relationship Id="rId1" Type="http://schemas.openxmlformats.org/officeDocument/2006/relationships/themeOverride" Target="../theme/themeOverride32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57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57.bin"/><Relationship Id="rId4" Type="http://schemas.openxmlformats.org/officeDocument/2006/relationships/notesSlide" Target="../notesSlides/notesSlide32.xml"/><Relationship Id="rId9" Type="http://schemas.openxmlformats.org/officeDocument/2006/relationships/image" Target="../media/image5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0.w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61.bin"/><Relationship Id="rId2" Type="http://schemas.openxmlformats.org/officeDocument/2006/relationships/vmlDrawing" Target="../drawings/vmlDrawing19.vml"/><Relationship Id="rId1" Type="http://schemas.openxmlformats.org/officeDocument/2006/relationships/themeOverride" Target="../theme/themeOverride33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9.wmf"/><Relationship Id="rId5" Type="http://schemas.openxmlformats.org/officeDocument/2006/relationships/image" Target="../media/image1.jpeg"/><Relationship Id="rId15" Type="http://schemas.openxmlformats.org/officeDocument/2006/relationships/image" Target="../media/image61.wmf"/><Relationship Id="rId10" Type="http://schemas.openxmlformats.org/officeDocument/2006/relationships/oleObject" Target="../embeddings/oleObject60.bin"/><Relationship Id="rId4" Type="http://schemas.openxmlformats.org/officeDocument/2006/relationships/notesSlide" Target="../notesSlides/notesSlide33.xml"/><Relationship Id="rId9" Type="http://schemas.openxmlformats.org/officeDocument/2006/relationships/image" Target="../media/image58.wmf"/><Relationship Id="rId14" Type="http://schemas.openxmlformats.org/officeDocument/2006/relationships/oleObject" Target="../embeddings/oleObject6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2.wmf"/><Relationship Id="rId2" Type="http://schemas.openxmlformats.org/officeDocument/2006/relationships/vmlDrawing" Target="../drawings/vmlDrawing20.vml"/><Relationship Id="rId1" Type="http://schemas.openxmlformats.org/officeDocument/2006/relationships/themeOverride" Target="../theme/themeOverride34.xml"/><Relationship Id="rId6" Type="http://schemas.openxmlformats.org/officeDocument/2006/relationships/oleObject" Target="../embeddings/oleObject63.bin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4.xml"/><Relationship Id="rId9" Type="http://schemas.openxmlformats.org/officeDocument/2006/relationships/image" Target="../media/image63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4.wmf"/><Relationship Id="rId2" Type="http://schemas.openxmlformats.org/officeDocument/2006/relationships/vmlDrawing" Target="../drawings/vmlDrawing21.vml"/><Relationship Id="rId1" Type="http://schemas.openxmlformats.org/officeDocument/2006/relationships/themeOverride" Target="../theme/themeOverride35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6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67.bin"/><Relationship Id="rId4" Type="http://schemas.openxmlformats.org/officeDocument/2006/relationships/notesSlide" Target="../notesSlides/notesSlide35.xml"/><Relationship Id="rId9" Type="http://schemas.openxmlformats.org/officeDocument/2006/relationships/image" Target="../media/image6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67.wmf"/><Relationship Id="rId2" Type="http://schemas.openxmlformats.org/officeDocument/2006/relationships/vmlDrawing" Target="../drawings/vmlDrawing22.vml"/><Relationship Id="rId1" Type="http://schemas.openxmlformats.org/officeDocument/2006/relationships/themeOverride" Target="../theme/themeOverride36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9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70.bin"/><Relationship Id="rId4" Type="http://schemas.openxmlformats.org/officeDocument/2006/relationships/notesSlide" Target="../notesSlides/notesSlide36.xml"/><Relationship Id="rId9" Type="http://schemas.openxmlformats.org/officeDocument/2006/relationships/image" Target="../media/image6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3.wmf"/><Relationship Id="rId18" Type="http://schemas.openxmlformats.org/officeDocument/2006/relationships/oleObject" Target="../embeddings/oleObject77.bin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75.wmf"/><Relationship Id="rId2" Type="http://schemas.openxmlformats.org/officeDocument/2006/relationships/vmlDrawing" Target="../drawings/vmlDrawing23.vml"/><Relationship Id="rId16" Type="http://schemas.openxmlformats.org/officeDocument/2006/relationships/oleObject" Target="../embeddings/oleObject76.bin"/><Relationship Id="rId1" Type="http://schemas.openxmlformats.org/officeDocument/2006/relationships/themeOverride" Target="../theme/themeOverride3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2.wmf"/><Relationship Id="rId5" Type="http://schemas.openxmlformats.org/officeDocument/2006/relationships/image" Target="../media/image1.jpeg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76.wmf"/><Relationship Id="rId4" Type="http://schemas.openxmlformats.org/officeDocument/2006/relationships/notesSlide" Target="../notesSlides/notesSlide37.xml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5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1.wmf"/><Relationship Id="rId3" Type="http://schemas.openxmlformats.org/officeDocument/2006/relationships/notesSlide" Target="../notesSlides/notesSlide38.xml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79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82.wmf"/><Relationship Id="rId2" Type="http://schemas.openxmlformats.org/officeDocument/2006/relationships/vmlDrawing" Target="../drawings/vmlDrawing25.vml"/><Relationship Id="rId1" Type="http://schemas.openxmlformats.org/officeDocument/2006/relationships/themeOverride" Target="../theme/themeOverride38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84.wmf"/><Relationship Id="rId5" Type="http://schemas.openxmlformats.org/officeDocument/2006/relationships/image" Target="../media/image1.jpeg"/><Relationship Id="rId10" Type="http://schemas.openxmlformats.org/officeDocument/2006/relationships/oleObject" Target="../embeddings/oleObject85.bin"/><Relationship Id="rId4" Type="http://schemas.openxmlformats.org/officeDocument/2006/relationships/notesSlide" Target="../notesSlides/notesSlide39.xml"/><Relationship Id="rId9" Type="http://schemas.openxmlformats.org/officeDocument/2006/relationships/image" Target="../media/image83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9.xml"/><Relationship Id="rId5" Type="http://schemas.openxmlformats.org/officeDocument/2006/relationships/image" Target="../media/image85.emf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47725" y="1822450"/>
            <a:ext cx="7772400" cy="11430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sz="2000" b="1" dirty="0" smtClean="0">
                <a:latin typeface="+mn-lt"/>
                <a:ea typeface="+mn-ea"/>
                <a:cs typeface="+mn-cs"/>
              </a:rPr>
              <a:t>MODULE 3</a:t>
            </a:r>
            <a:br>
              <a:rPr lang="en-US" sz="2000" b="1" dirty="0" smtClean="0">
                <a:latin typeface="+mn-lt"/>
                <a:ea typeface="+mn-ea"/>
                <a:cs typeface="+mn-cs"/>
              </a:rPr>
            </a:br>
            <a:r>
              <a:rPr lang="en-US" sz="2000" b="1" dirty="0" smtClean="0">
                <a:latin typeface="+mn-lt"/>
                <a:ea typeface="+mn-ea"/>
                <a:cs typeface="+mn-cs"/>
              </a:rPr>
              <a:t>Machine </a:t>
            </a:r>
            <a:r>
              <a:rPr lang="en-US" sz="2000" b="1" dirty="0" err="1" smtClean="0">
                <a:latin typeface="+mn-lt"/>
                <a:ea typeface="+mn-ea"/>
                <a:cs typeface="+mn-cs"/>
              </a:rPr>
              <a:t>asynchrone</a:t>
            </a:r>
            <a:r>
              <a:rPr lang="en-US" sz="2000" b="1" dirty="0" smtClean="0">
                <a:latin typeface="+mn-lt"/>
                <a:ea typeface="+mn-ea"/>
                <a:cs typeface="+mn-cs"/>
              </a:rPr>
              <a:t/>
            </a:r>
            <a:br>
              <a:rPr lang="en-US" sz="2000" b="1" dirty="0" smtClean="0">
                <a:latin typeface="+mn-lt"/>
                <a:ea typeface="+mn-ea"/>
                <a:cs typeface="+mn-cs"/>
              </a:rPr>
            </a:br>
            <a:r>
              <a:rPr lang="en-US" sz="2000" b="1" dirty="0" smtClean="0">
                <a:latin typeface="+mn-lt"/>
                <a:ea typeface="+mn-ea"/>
                <a:cs typeface="+mn-cs"/>
              </a:rPr>
              <a:t>3.3. </a:t>
            </a:r>
            <a:r>
              <a:rPr lang="en-US" sz="2000" b="1" dirty="0" err="1" smtClean="0">
                <a:latin typeface="+mn-lt"/>
                <a:ea typeface="+mn-ea"/>
                <a:cs typeface="+mn-cs"/>
              </a:rPr>
              <a:t>Modèle</a:t>
            </a:r>
            <a:r>
              <a:rPr lang="en-US" sz="2000" b="1" dirty="0" smtClean="0">
                <a:latin typeface="+mn-lt"/>
                <a:ea typeface="+mn-ea"/>
                <a:cs typeface="+mn-cs"/>
              </a:rPr>
              <a:t> </a:t>
            </a:r>
            <a:r>
              <a:rPr lang="en-US" sz="2000" b="1" dirty="0" err="1" smtClean="0">
                <a:latin typeface="+mn-lt"/>
                <a:ea typeface="+mn-ea"/>
                <a:cs typeface="+mn-cs"/>
              </a:rPr>
              <a:t>dynamique</a:t>
            </a:r>
            <a:r>
              <a:rPr lang="en-US" sz="2000" b="1" dirty="0" smtClean="0">
                <a:latin typeface="+mn-lt"/>
                <a:ea typeface="+mn-ea"/>
                <a:cs typeface="+mn-cs"/>
              </a:rPr>
              <a:t> </a:t>
            </a:r>
            <a:r>
              <a:rPr lang="en-US" sz="2000" b="1" cap="small" dirty="0" smtClean="0"/>
              <a:t/>
            </a:r>
            <a:br>
              <a:rPr lang="en-US" sz="2000" b="1" cap="small" dirty="0" smtClean="0"/>
            </a:br>
            <a:endParaRPr lang="en-US" sz="2000" b="1" dirty="0"/>
          </a:p>
        </p:txBody>
      </p:sp>
      <p:sp>
        <p:nvSpPr>
          <p:cNvPr id="151555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920700" y="1042738"/>
            <a:ext cx="7906468" cy="673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 anchor="ctr"/>
          <a:lstStyle/>
          <a:p>
            <a:pPr algn="r">
              <a:defRPr/>
            </a:pPr>
            <a:r>
              <a:rPr lang="fr-FR" b="1" cap="all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commande des machines </a:t>
            </a:r>
            <a:r>
              <a:rPr lang="fr-FR" b="1" cap="all" dirty="0" err="1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  <a:latin typeface="+mj-lt"/>
                <a:ea typeface="+mj-ea"/>
                <a:cs typeface="+mj-cs"/>
              </a:rPr>
              <a:t>electriques</a:t>
            </a:r>
            <a:endParaRPr lang="fr-FR" b="1" cap="all" dirty="0">
              <a:ln w="5000" cmpd="sng">
                <a:solidFill>
                  <a:schemeClr val="accent1">
                    <a:tint val="80000"/>
                    <a:shade val="99000"/>
                    <a:satMod val="50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63000"/>
                      <a:satMod val="255000"/>
                    </a:schemeClr>
                  </a:gs>
                  <a:gs pos="9000">
                    <a:schemeClr val="accent1">
                      <a:tint val="63000"/>
                      <a:satMod val="255000"/>
                    </a:schemeClr>
                  </a:gs>
                  <a:gs pos="53000">
                    <a:schemeClr val="accent1">
                      <a:shade val="60000"/>
                      <a:satMod val="100000"/>
                    </a:schemeClr>
                  </a:gs>
                  <a:gs pos="90000">
                    <a:schemeClr val="accent1">
                      <a:tint val="63000"/>
                      <a:satMod val="255000"/>
                    </a:schemeClr>
                  </a:gs>
                  <a:gs pos="100000">
                    <a:schemeClr val="accent1">
                      <a:tint val="63000"/>
                      <a:satMod val="255000"/>
                    </a:schemeClr>
                  </a:gs>
                </a:gsLst>
                <a:lin ang="5400000"/>
              </a:gradFill>
              <a:effectLst>
                <a:outerShdw blurRad="50800" dist="38100" dir="5400000" algn="t" rotWithShape="0">
                  <a:prstClr val="black">
                    <a:alpha val="50000"/>
                  </a:prst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1557" name="Rectangle 4"/>
          <p:cNvSpPr>
            <a:spLocks noChangeArrowheads="1"/>
          </p:cNvSpPr>
          <p:nvPr/>
        </p:nvSpPr>
        <p:spPr bwMode="auto">
          <a:xfrm>
            <a:off x="2420938" y="3609975"/>
            <a:ext cx="45720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 dirty="0">
                <a:latin typeface="Arial Narrow" panose="020B0606020202030204" pitchFamily="34" charset="0"/>
              </a:rPr>
              <a:t>Ali NEJMI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 smtClean="0">
                <a:latin typeface="Arial Narrow" panose="020B0606020202030204" pitchFamily="34" charset="0"/>
              </a:rPr>
              <a:t>Version.2023</a:t>
            </a:r>
            <a:endParaRPr lang="en-US" altLang="fr-FR" sz="1600" dirty="0">
              <a:latin typeface="Arial Narrow" panose="020B0606020202030204" pitchFamily="34" charset="0"/>
            </a:endParaRPr>
          </a:p>
        </p:txBody>
      </p:sp>
      <p:sp>
        <p:nvSpPr>
          <p:cNvPr id="151558" name="ZoneTexte 6"/>
          <p:cNvSpPr txBox="1">
            <a:spLocks noChangeArrowheads="1"/>
          </p:cNvSpPr>
          <p:nvPr/>
        </p:nvSpPr>
        <p:spPr bwMode="auto">
          <a:xfrm>
            <a:off x="547688" y="4724400"/>
            <a:ext cx="80772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73050" indent="-2730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r">
              <a:buSzPct val="85000"/>
              <a:buFontTx/>
              <a:buNone/>
            </a:pP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  <a:hlinkClick r:id="rId5"/>
              </a:rPr>
              <a:t>alinejmi@yahoo.fr</a:t>
            </a: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</a:rPr>
              <a:t>  (Email principal) ; </a:t>
            </a:r>
          </a:p>
          <a:p>
            <a:pPr algn="r">
              <a:buSzPct val="85000"/>
              <a:buFontTx/>
              <a:buNone/>
            </a:pPr>
            <a:r>
              <a:rPr lang="fr-FR" altLang="fr-FR" sz="1400" i="1">
                <a:solidFill>
                  <a:srgbClr val="FF0000"/>
                </a:solidFill>
                <a:latin typeface="Arial Narrow" panose="020B0606020202030204" pitchFamily="34" charset="0"/>
                <a:hlinkClick r:id="rId6"/>
              </a:rPr>
              <a:t>a.nejmi@fstbm.ac.ma</a:t>
            </a:r>
            <a:endParaRPr lang="fr-FR" altLang="fr-FR" sz="1400" i="1">
              <a:latin typeface="Arial Narrow" panose="020B0606020202030204" pitchFamily="34" charset="0"/>
            </a:endParaRPr>
          </a:p>
        </p:txBody>
      </p:sp>
      <p:sp>
        <p:nvSpPr>
          <p:cNvPr id="151559" name="Sous-titre 2"/>
          <p:cNvSpPr txBox="1">
            <a:spLocks/>
          </p:cNvSpPr>
          <p:nvPr/>
        </p:nvSpPr>
        <p:spPr bwMode="auto">
          <a:xfrm>
            <a:off x="319088" y="5562600"/>
            <a:ext cx="4038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Universté  Sultan  Moulay  Slimane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Faculté  des  Sciences  et  Techniques,  Beni Mellal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r>
              <a:rPr lang="fr-FR" altLang="fr-FR" sz="1400">
                <a:solidFill>
                  <a:srgbClr val="0070C0"/>
                </a:solidFill>
                <a:latin typeface="Bradley Hand ITC" panose="03070402050302030203" pitchFamily="66" charset="0"/>
              </a:rPr>
              <a:t>Filière  Ingénieur  en  Génie  Electrique</a:t>
            </a:r>
          </a:p>
          <a:p>
            <a:pPr eaLnBrk="1" hangingPunct="1">
              <a:buClrTx/>
              <a:buSzTx/>
              <a:buFont typeface="Arial" panose="020B0604020202020204" pitchFamily="34" charset="0"/>
              <a:buNone/>
            </a:pPr>
            <a:endParaRPr lang="fr-FR" altLang="fr-FR" sz="140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151560" name="Espace réservé du numéro de diapositive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DF46A0-DB03-4C2D-8065-25B39A7DDB4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Pourquoi le modèle dynamique?</a:t>
            </a:r>
          </a:p>
        </p:txBody>
      </p:sp>
      <p:sp>
        <p:nvSpPr>
          <p:cNvPr id="15360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990600" y="1371600"/>
            <a:ext cx="712311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Dans un entrainement électrique, la machine fait partie des éléments du circuit de commande.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Pour commander les dynamiques de l’entrainement, le comportement dynamique de la machine doit être considéré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comportement dynamique de la MAS peut être décrit en utilisant le modèle dynamique de la MAS.</a:t>
            </a:r>
          </a:p>
        </p:txBody>
      </p:sp>
      <p:sp>
        <p:nvSpPr>
          <p:cNvPr id="153605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8BDB7A-676B-4AD5-9102-4B2E51E97D1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Pourquoi le modèle dynamique?</a:t>
            </a:r>
          </a:p>
        </p:txBody>
      </p:sp>
      <p:sp>
        <p:nvSpPr>
          <p:cNvPr id="15565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55652" name="Text Box 6"/>
          <p:cNvSpPr txBox="1">
            <a:spLocks noChangeArrowheads="1"/>
          </p:cNvSpPr>
          <p:nvPr/>
        </p:nvSpPr>
        <p:spPr bwMode="auto">
          <a:xfrm>
            <a:off x="990600" y="1371600"/>
            <a:ext cx="7026275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modèle dynamique : complexe à cause du couplage magnétique entre les phases  statoriques et rotoriques.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Les coefficients du couplage varient en fonction de la position angulaire du rotor : la position du rotor varie avec le temps.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Times New Roman" panose="02020603050405020304" pitchFamily="18" charset="0"/>
              </a:rPr>
              <a:t>Le comportement dynamique de la MAS peut être décrit par des équations différentielles avec coefficients dépendants du temps.</a:t>
            </a:r>
          </a:p>
        </p:txBody>
      </p:sp>
      <p:sp>
        <p:nvSpPr>
          <p:cNvPr id="155653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AF3D8F-2D7E-471B-8520-C3AD715D75B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</a:t>
            </a:r>
          </a:p>
        </p:txBody>
      </p:sp>
      <p:sp>
        <p:nvSpPr>
          <p:cNvPr id="15769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57700" name="Group 99"/>
          <p:cNvGrpSpPr>
            <a:grpSpLocks/>
          </p:cNvGrpSpPr>
          <p:nvPr/>
        </p:nvGrpSpPr>
        <p:grpSpPr bwMode="auto">
          <a:xfrm>
            <a:off x="2622550" y="1644650"/>
            <a:ext cx="3144838" cy="3184525"/>
            <a:chOff x="1652" y="1036"/>
            <a:chExt cx="1981" cy="2006"/>
          </a:xfrm>
        </p:grpSpPr>
        <p:sp>
          <p:nvSpPr>
            <p:cNvPr id="157771" name="Oval 7"/>
            <p:cNvSpPr>
              <a:spLocks noChangeAspect="1" noChangeArrowheads="1"/>
            </p:cNvSpPr>
            <p:nvPr/>
          </p:nvSpPr>
          <p:spPr bwMode="auto">
            <a:xfrm>
              <a:off x="1652" y="1091"/>
              <a:ext cx="1981" cy="1951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2" name="Oval 8"/>
            <p:cNvSpPr>
              <a:spLocks noChangeAspect="1" noChangeArrowheads="1"/>
            </p:cNvSpPr>
            <p:nvPr/>
          </p:nvSpPr>
          <p:spPr bwMode="auto">
            <a:xfrm>
              <a:off x="1928" y="1357"/>
              <a:ext cx="1449" cy="14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3" name="Oval 9"/>
            <p:cNvSpPr>
              <a:spLocks noChangeAspect="1" noChangeArrowheads="1"/>
            </p:cNvSpPr>
            <p:nvPr/>
          </p:nvSpPr>
          <p:spPr bwMode="auto">
            <a:xfrm>
              <a:off x="2165" y="1590"/>
              <a:ext cx="968" cy="979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4" name="Oval 10"/>
            <p:cNvSpPr>
              <a:spLocks noChangeAspect="1" noChangeArrowheads="1"/>
            </p:cNvSpPr>
            <p:nvPr/>
          </p:nvSpPr>
          <p:spPr bwMode="auto">
            <a:xfrm>
              <a:off x="2601" y="1191"/>
              <a:ext cx="134" cy="140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5" name="Oval 11"/>
            <p:cNvSpPr>
              <a:spLocks noChangeAspect="1" noChangeArrowheads="1"/>
            </p:cNvSpPr>
            <p:nvPr/>
          </p:nvSpPr>
          <p:spPr bwMode="auto">
            <a:xfrm>
              <a:off x="2608" y="2808"/>
              <a:ext cx="135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6" name="Oval 12"/>
            <p:cNvSpPr>
              <a:spLocks noChangeAspect="1" noChangeArrowheads="1"/>
            </p:cNvSpPr>
            <p:nvPr/>
          </p:nvSpPr>
          <p:spPr bwMode="auto">
            <a:xfrm>
              <a:off x="3268" y="2466"/>
              <a:ext cx="134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7" name="Oval 13"/>
            <p:cNvSpPr>
              <a:spLocks noChangeAspect="1" noChangeArrowheads="1"/>
            </p:cNvSpPr>
            <p:nvPr/>
          </p:nvSpPr>
          <p:spPr bwMode="auto">
            <a:xfrm>
              <a:off x="1934" y="1491"/>
              <a:ext cx="135" cy="1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8" name="Oval 14"/>
            <p:cNvSpPr>
              <a:spLocks noChangeAspect="1" noChangeArrowheads="1"/>
            </p:cNvSpPr>
            <p:nvPr/>
          </p:nvSpPr>
          <p:spPr bwMode="auto">
            <a:xfrm>
              <a:off x="1866" y="2466"/>
              <a:ext cx="135" cy="139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79" name="Oval 15"/>
            <p:cNvSpPr>
              <a:spLocks noChangeAspect="1" noChangeArrowheads="1"/>
            </p:cNvSpPr>
            <p:nvPr/>
          </p:nvSpPr>
          <p:spPr bwMode="auto">
            <a:xfrm>
              <a:off x="3255" y="1537"/>
              <a:ext cx="134" cy="1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157780" name="Group 16"/>
            <p:cNvGrpSpPr>
              <a:grpSpLocks noChangeAspect="1"/>
            </p:cNvGrpSpPr>
            <p:nvPr/>
          </p:nvGrpSpPr>
          <p:grpSpPr bwMode="auto">
            <a:xfrm>
              <a:off x="2607" y="1670"/>
              <a:ext cx="109" cy="833"/>
              <a:chOff x="7198" y="7688"/>
              <a:chExt cx="238" cy="1750"/>
            </a:xfrm>
          </p:grpSpPr>
          <p:sp>
            <p:nvSpPr>
              <p:cNvPr id="157802" name="Oval 17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803" name="Oval 18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1" name="Group 19"/>
            <p:cNvGrpSpPr>
              <a:grpSpLocks noChangeAspect="1"/>
            </p:cNvGrpSpPr>
            <p:nvPr/>
          </p:nvGrpSpPr>
          <p:grpSpPr bwMode="auto">
            <a:xfrm rot="-8492043">
              <a:off x="2614" y="1677"/>
              <a:ext cx="109" cy="832"/>
              <a:chOff x="7198" y="7688"/>
              <a:chExt cx="238" cy="1750"/>
            </a:xfrm>
          </p:grpSpPr>
          <p:sp>
            <p:nvSpPr>
              <p:cNvPr id="157800" name="Oval 20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801" name="Oval 21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2" name="Group 22"/>
            <p:cNvGrpSpPr>
              <a:grpSpLocks noChangeAspect="1"/>
            </p:cNvGrpSpPr>
            <p:nvPr/>
          </p:nvGrpSpPr>
          <p:grpSpPr bwMode="auto">
            <a:xfrm rot="8492043" flipH="1">
              <a:off x="2601" y="1664"/>
              <a:ext cx="109" cy="832"/>
              <a:chOff x="7198" y="7688"/>
              <a:chExt cx="238" cy="1750"/>
            </a:xfrm>
          </p:grpSpPr>
          <p:sp>
            <p:nvSpPr>
              <p:cNvPr id="157798" name="Oval 23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9" name="Oval 24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3" name="Group 25"/>
            <p:cNvGrpSpPr>
              <a:grpSpLocks noChangeAspect="1"/>
            </p:cNvGrpSpPr>
            <p:nvPr/>
          </p:nvGrpSpPr>
          <p:grpSpPr bwMode="auto">
            <a:xfrm rot="6670571" flipH="1">
              <a:off x="2592" y="1679"/>
              <a:ext cx="113" cy="802"/>
              <a:chOff x="7198" y="7688"/>
              <a:chExt cx="238" cy="1750"/>
            </a:xfrm>
          </p:grpSpPr>
          <p:sp>
            <p:nvSpPr>
              <p:cNvPr id="157796" name="Oval 26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7" name="Oval 27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4" name="Group 28"/>
            <p:cNvGrpSpPr>
              <a:grpSpLocks noChangeAspect="1"/>
            </p:cNvGrpSpPr>
            <p:nvPr/>
          </p:nvGrpSpPr>
          <p:grpSpPr bwMode="auto">
            <a:xfrm rot="-6670571">
              <a:off x="2599" y="1693"/>
              <a:ext cx="113" cy="801"/>
              <a:chOff x="7198" y="7688"/>
              <a:chExt cx="238" cy="1750"/>
            </a:xfrm>
          </p:grpSpPr>
          <p:sp>
            <p:nvSpPr>
              <p:cNvPr id="157794" name="Oval 29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5" name="Oval 30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grpSp>
          <p:nvGrpSpPr>
            <p:cNvPr id="157785" name="Group 31"/>
            <p:cNvGrpSpPr>
              <a:grpSpLocks noChangeAspect="1"/>
            </p:cNvGrpSpPr>
            <p:nvPr/>
          </p:nvGrpSpPr>
          <p:grpSpPr bwMode="auto">
            <a:xfrm rot="5294780" flipH="1">
              <a:off x="2586" y="1686"/>
              <a:ext cx="113" cy="801"/>
              <a:chOff x="7198" y="7688"/>
              <a:chExt cx="238" cy="1750"/>
            </a:xfrm>
          </p:grpSpPr>
          <p:sp>
            <p:nvSpPr>
              <p:cNvPr id="157792" name="Oval 32"/>
              <p:cNvSpPr>
                <a:spLocks noChangeAspect="1" noChangeArrowheads="1"/>
              </p:cNvSpPr>
              <p:nvPr/>
            </p:nvSpPr>
            <p:spPr bwMode="auto">
              <a:xfrm>
                <a:off x="7198" y="7688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7793" name="Oval 33"/>
              <p:cNvSpPr>
                <a:spLocks noChangeAspect="1" noChangeArrowheads="1"/>
              </p:cNvSpPr>
              <p:nvPr/>
            </p:nvSpPr>
            <p:spPr bwMode="auto">
              <a:xfrm>
                <a:off x="7254" y="9270"/>
                <a:ext cx="182" cy="16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</p:grpSp>
        <p:sp>
          <p:nvSpPr>
            <p:cNvPr id="157786" name="Text Box 34"/>
            <p:cNvSpPr txBox="1">
              <a:spLocks noChangeAspect="1" noChangeArrowheads="1"/>
            </p:cNvSpPr>
            <p:nvPr/>
          </p:nvSpPr>
          <p:spPr bwMode="auto">
            <a:xfrm>
              <a:off x="2449" y="1036"/>
              <a:ext cx="27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7787" name="Text Box 35"/>
            <p:cNvSpPr txBox="1">
              <a:spLocks noChangeAspect="1" noChangeArrowheads="1"/>
            </p:cNvSpPr>
            <p:nvPr/>
          </p:nvSpPr>
          <p:spPr bwMode="auto">
            <a:xfrm>
              <a:off x="1769" y="2278"/>
              <a:ext cx="341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7788" name="Text Box 36"/>
            <p:cNvSpPr txBox="1">
              <a:spLocks noChangeAspect="1" noChangeArrowheads="1"/>
            </p:cNvSpPr>
            <p:nvPr/>
          </p:nvSpPr>
          <p:spPr bwMode="auto">
            <a:xfrm>
              <a:off x="3152" y="1361"/>
              <a:ext cx="354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b’</a:t>
              </a:r>
            </a:p>
          </p:txBody>
        </p:sp>
        <p:sp>
          <p:nvSpPr>
            <p:cNvPr id="157789" name="Text Box 37"/>
            <p:cNvSpPr txBox="1">
              <a:spLocks noChangeAspect="1" noChangeArrowheads="1"/>
            </p:cNvSpPr>
            <p:nvPr/>
          </p:nvSpPr>
          <p:spPr bwMode="auto">
            <a:xfrm>
              <a:off x="1746" y="1474"/>
              <a:ext cx="326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c’</a:t>
              </a:r>
            </a:p>
          </p:txBody>
        </p:sp>
        <p:sp>
          <p:nvSpPr>
            <p:cNvPr id="157790" name="Text Box 38"/>
            <p:cNvSpPr txBox="1">
              <a:spLocks noChangeAspect="1" noChangeArrowheads="1"/>
            </p:cNvSpPr>
            <p:nvPr/>
          </p:nvSpPr>
          <p:spPr bwMode="auto">
            <a:xfrm>
              <a:off x="3152" y="2523"/>
              <a:ext cx="342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7791" name="Text Box 39"/>
            <p:cNvSpPr txBox="1">
              <a:spLocks noChangeAspect="1" noChangeArrowheads="1"/>
            </p:cNvSpPr>
            <p:nvPr/>
          </p:nvSpPr>
          <p:spPr bwMode="auto">
            <a:xfrm>
              <a:off x="2426" y="2818"/>
              <a:ext cx="28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Times New Roman" panose="02020603050405020304" pitchFamily="18" charset="0"/>
                </a:rPr>
                <a:t>a’</a:t>
              </a:r>
            </a:p>
          </p:txBody>
        </p:sp>
      </p:grpSp>
      <p:grpSp>
        <p:nvGrpSpPr>
          <p:cNvPr id="9" name="Group 116"/>
          <p:cNvGrpSpPr>
            <a:grpSpLocks/>
          </p:cNvGrpSpPr>
          <p:nvPr/>
        </p:nvGrpSpPr>
        <p:grpSpPr bwMode="auto">
          <a:xfrm>
            <a:off x="5994400" y="3176588"/>
            <a:ext cx="2392363" cy="2439987"/>
            <a:chOff x="3776" y="2001"/>
            <a:chExt cx="1507" cy="1537"/>
          </a:xfrm>
        </p:grpSpPr>
        <p:grpSp>
          <p:nvGrpSpPr>
            <p:cNvPr id="157754" name="Group 98"/>
            <p:cNvGrpSpPr>
              <a:grpSpLocks/>
            </p:cNvGrpSpPr>
            <p:nvPr/>
          </p:nvGrpSpPr>
          <p:grpSpPr bwMode="auto">
            <a:xfrm>
              <a:off x="4082" y="2228"/>
              <a:ext cx="1201" cy="1310"/>
              <a:chOff x="4082" y="2228"/>
              <a:chExt cx="1201" cy="1310"/>
            </a:xfrm>
          </p:grpSpPr>
          <p:sp>
            <p:nvSpPr>
              <p:cNvPr id="157769" name="Freeform 56"/>
              <p:cNvSpPr>
                <a:spLocks/>
              </p:cNvSpPr>
              <p:nvPr/>
            </p:nvSpPr>
            <p:spPr bwMode="auto">
              <a:xfrm>
                <a:off x="4082" y="2228"/>
                <a:ext cx="272" cy="522"/>
              </a:xfrm>
              <a:custGeom>
                <a:avLst/>
                <a:gdLst>
                  <a:gd name="T0" fmla="*/ 0 w 272"/>
                  <a:gd name="T1" fmla="*/ 0 h 522"/>
                  <a:gd name="T2" fmla="*/ 91 w 272"/>
                  <a:gd name="T3" fmla="*/ 227 h 522"/>
                  <a:gd name="T4" fmla="*/ 181 w 272"/>
                  <a:gd name="T5" fmla="*/ 159 h 522"/>
                  <a:gd name="T6" fmla="*/ 272 w 272"/>
                  <a:gd name="T7" fmla="*/ 522 h 52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2"/>
                  <a:gd name="T13" fmla="*/ 0 h 522"/>
                  <a:gd name="T14" fmla="*/ 272 w 272"/>
                  <a:gd name="T15" fmla="*/ 522 h 52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2" h="522">
                    <a:moveTo>
                      <a:pt x="0" y="0"/>
                    </a:moveTo>
                    <a:cubicBezTo>
                      <a:pt x="30" y="100"/>
                      <a:pt x="61" y="201"/>
                      <a:pt x="91" y="227"/>
                    </a:cubicBezTo>
                    <a:cubicBezTo>
                      <a:pt x="121" y="253"/>
                      <a:pt x="151" y="110"/>
                      <a:pt x="181" y="159"/>
                    </a:cubicBezTo>
                    <a:cubicBezTo>
                      <a:pt x="211" y="208"/>
                      <a:pt x="257" y="454"/>
                      <a:pt x="272" y="522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770" name="Text Box 57"/>
              <p:cNvSpPr txBox="1">
                <a:spLocks noChangeArrowheads="1"/>
              </p:cNvSpPr>
              <p:nvPr/>
            </p:nvSpPr>
            <p:spPr bwMode="auto">
              <a:xfrm>
                <a:off x="4127" y="2704"/>
                <a:ext cx="1156" cy="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2000">
                    <a:latin typeface="Arial Narrow" panose="020B0606020202030204" pitchFamily="34" charset="0"/>
                  </a:rPr>
                  <a:t>Enroulement statorique   équivalent simplifié</a:t>
                </a:r>
              </a:p>
            </p:txBody>
          </p:sp>
        </p:grpSp>
        <p:grpSp>
          <p:nvGrpSpPr>
            <p:cNvPr id="157755" name="Group 97"/>
            <p:cNvGrpSpPr>
              <a:grpSpLocks/>
            </p:cNvGrpSpPr>
            <p:nvPr/>
          </p:nvGrpSpPr>
          <p:grpSpPr bwMode="auto">
            <a:xfrm>
              <a:off x="3776" y="2001"/>
              <a:ext cx="635" cy="462"/>
              <a:chOff x="3776" y="2001"/>
              <a:chExt cx="635" cy="462"/>
            </a:xfrm>
          </p:grpSpPr>
          <p:grpSp>
            <p:nvGrpSpPr>
              <p:cNvPr id="157756" name="Group 60"/>
              <p:cNvGrpSpPr>
                <a:grpSpLocks/>
              </p:cNvGrpSpPr>
              <p:nvPr/>
            </p:nvGrpSpPr>
            <p:grpSpPr bwMode="auto">
              <a:xfrm>
                <a:off x="3787" y="2001"/>
                <a:ext cx="624" cy="432"/>
                <a:chOff x="3787" y="2001"/>
                <a:chExt cx="624" cy="432"/>
              </a:xfrm>
            </p:grpSpPr>
            <p:grpSp>
              <p:nvGrpSpPr>
                <p:cNvPr id="157758" name="Group 55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60" name="Line 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61" name="Oval 46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2" name="Oval 47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3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4" name="Oval 49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5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66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7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68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59" name="Line 58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57757" name="Text Box 59"/>
              <p:cNvSpPr txBox="1">
                <a:spLocks noChangeArrowheads="1"/>
              </p:cNvSpPr>
              <p:nvPr/>
            </p:nvSpPr>
            <p:spPr bwMode="auto">
              <a:xfrm>
                <a:off x="3776" y="2251"/>
                <a:ext cx="215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</a:rPr>
                  <a:t>i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as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</p:grpSp>
      </p:grpSp>
      <p:grpSp>
        <p:nvGrpSpPr>
          <p:cNvPr id="14" name="Group 115"/>
          <p:cNvGrpSpPr>
            <a:grpSpLocks/>
          </p:cNvGrpSpPr>
          <p:nvPr/>
        </p:nvGrpSpPr>
        <p:grpSpPr bwMode="auto">
          <a:xfrm>
            <a:off x="4191000" y="2420938"/>
            <a:ext cx="4484688" cy="893762"/>
            <a:chOff x="2640" y="1525"/>
            <a:chExt cx="2825" cy="563"/>
          </a:xfrm>
        </p:grpSpPr>
        <p:sp>
          <p:nvSpPr>
            <p:cNvPr id="157752" name="Line 40"/>
            <p:cNvSpPr>
              <a:spLocks noChangeAspect="1" noChangeShapeType="1"/>
            </p:cNvSpPr>
            <p:nvPr/>
          </p:nvSpPr>
          <p:spPr bwMode="auto">
            <a:xfrm>
              <a:off x="2640" y="2088"/>
              <a:ext cx="19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53" name="Text Box 44"/>
            <p:cNvSpPr txBox="1">
              <a:spLocks noChangeArrowheads="1"/>
            </p:cNvSpPr>
            <p:nvPr/>
          </p:nvSpPr>
          <p:spPr bwMode="auto">
            <a:xfrm>
              <a:off x="4309" y="1525"/>
              <a:ext cx="115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A</a:t>
              </a:r>
            </a:p>
          </p:txBody>
        </p:sp>
      </p:grpSp>
      <p:grpSp>
        <p:nvGrpSpPr>
          <p:cNvPr id="15" name="Group 114"/>
          <p:cNvGrpSpPr>
            <a:grpSpLocks/>
          </p:cNvGrpSpPr>
          <p:nvPr/>
        </p:nvGrpSpPr>
        <p:grpSpPr bwMode="auto">
          <a:xfrm>
            <a:off x="519113" y="614363"/>
            <a:ext cx="2798762" cy="5456237"/>
            <a:chOff x="327" y="387"/>
            <a:chExt cx="1763" cy="3437"/>
          </a:xfrm>
        </p:grpSpPr>
        <p:grpSp>
          <p:nvGrpSpPr>
            <p:cNvPr id="157747" name="Group 113"/>
            <p:cNvGrpSpPr>
              <a:grpSpLocks/>
            </p:cNvGrpSpPr>
            <p:nvPr/>
          </p:nvGrpSpPr>
          <p:grpSpPr bwMode="auto">
            <a:xfrm>
              <a:off x="2069" y="387"/>
              <a:ext cx="21" cy="3437"/>
              <a:chOff x="2069" y="387"/>
              <a:chExt cx="21" cy="3437"/>
            </a:xfrm>
          </p:grpSpPr>
          <p:sp>
            <p:nvSpPr>
              <p:cNvPr id="157750" name="Line 41"/>
              <p:cNvSpPr>
                <a:spLocks noChangeAspect="1" noChangeShapeType="1"/>
              </p:cNvSpPr>
              <p:nvPr/>
            </p:nvSpPr>
            <p:spPr bwMode="auto">
              <a:xfrm rot="-7607790">
                <a:off x="1145" y="1331"/>
                <a:ext cx="1890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7751" name="Line 42"/>
              <p:cNvSpPr>
                <a:spLocks noChangeAspect="1" noChangeShapeType="1"/>
              </p:cNvSpPr>
              <p:nvPr/>
            </p:nvSpPr>
            <p:spPr bwMode="auto">
              <a:xfrm rot="-3207079">
                <a:off x="1111" y="2864"/>
                <a:ext cx="191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lg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7748" name="Text Box 62"/>
            <p:cNvSpPr txBox="1">
              <a:spLocks noChangeArrowheads="1"/>
            </p:cNvSpPr>
            <p:nvPr/>
          </p:nvSpPr>
          <p:spPr bwMode="auto">
            <a:xfrm>
              <a:off x="499" y="595"/>
              <a:ext cx="115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B</a:t>
              </a:r>
            </a:p>
          </p:txBody>
        </p:sp>
        <p:sp>
          <p:nvSpPr>
            <p:cNvPr id="157749" name="Text Box 63"/>
            <p:cNvSpPr txBox="1">
              <a:spLocks noChangeArrowheads="1"/>
            </p:cNvSpPr>
            <p:nvPr/>
          </p:nvSpPr>
          <p:spPr bwMode="auto">
            <a:xfrm>
              <a:off x="327" y="3022"/>
              <a:ext cx="115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Axe magnétique de la phase C</a:t>
              </a:r>
            </a:p>
          </p:txBody>
        </p:sp>
      </p:grpSp>
      <p:grpSp>
        <p:nvGrpSpPr>
          <p:cNvPr id="17" name="Group 96"/>
          <p:cNvGrpSpPr>
            <a:grpSpLocks/>
          </p:cNvGrpSpPr>
          <p:nvPr/>
        </p:nvGrpSpPr>
        <p:grpSpPr bwMode="auto">
          <a:xfrm>
            <a:off x="2411413" y="873125"/>
            <a:ext cx="1169987" cy="4591050"/>
            <a:chOff x="1519" y="550"/>
            <a:chExt cx="737" cy="2892"/>
          </a:xfrm>
        </p:grpSpPr>
        <p:sp>
          <p:nvSpPr>
            <p:cNvPr id="157720" name="Text Box 80"/>
            <p:cNvSpPr txBox="1">
              <a:spLocks noChangeArrowheads="1"/>
            </p:cNvSpPr>
            <p:nvPr/>
          </p:nvSpPr>
          <p:spPr bwMode="auto">
            <a:xfrm>
              <a:off x="1587" y="2750"/>
              <a:ext cx="2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cs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57721" name="Group 93"/>
            <p:cNvGrpSpPr>
              <a:grpSpLocks/>
            </p:cNvGrpSpPr>
            <p:nvPr/>
          </p:nvGrpSpPr>
          <p:grpSpPr bwMode="auto">
            <a:xfrm>
              <a:off x="1519" y="550"/>
              <a:ext cx="614" cy="2892"/>
              <a:chOff x="1519" y="550"/>
              <a:chExt cx="614" cy="2892"/>
            </a:xfrm>
          </p:grpSpPr>
          <p:grpSp>
            <p:nvGrpSpPr>
              <p:cNvPr id="157723" name="Group 68"/>
              <p:cNvGrpSpPr>
                <a:grpSpLocks/>
              </p:cNvGrpSpPr>
              <p:nvPr/>
            </p:nvGrpSpPr>
            <p:grpSpPr bwMode="auto">
              <a:xfrm rot="-7501441">
                <a:off x="1605" y="646"/>
                <a:ext cx="624" cy="432"/>
                <a:chOff x="3787" y="2001"/>
                <a:chExt cx="624" cy="432"/>
              </a:xfrm>
            </p:grpSpPr>
            <p:grpSp>
              <p:nvGrpSpPr>
                <p:cNvPr id="157736" name="Group 69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38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39" name="Oval 71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0" name="Oval 72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1" name="Oval 73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2" name="Oval 74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3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44" name="Rectangle 76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5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46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37" name="Line 79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7724" name="Group 81"/>
              <p:cNvGrpSpPr>
                <a:grpSpLocks/>
              </p:cNvGrpSpPr>
              <p:nvPr/>
            </p:nvGrpSpPr>
            <p:grpSpPr bwMode="auto">
              <a:xfrm rot="7541911">
                <a:off x="1423" y="2914"/>
                <a:ext cx="624" cy="432"/>
                <a:chOff x="3787" y="2001"/>
                <a:chExt cx="624" cy="432"/>
              </a:xfrm>
            </p:grpSpPr>
            <p:grpSp>
              <p:nvGrpSpPr>
                <p:cNvPr id="157725" name="Group 82"/>
                <p:cNvGrpSpPr>
                  <a:grpSpLocks/>
                </p:cNvGrpSpPr>
                <p:nvPr/>
              </p:nvGrpSpPr>
              <p:grpSpPr bwMode="auto">
                <a:xfrm>
                  <a:off x="3787" y="2001"/>
                  <a:ext cx="624" cy="432"/>
                  <a:chOff x="3787" y="2001"/>
                  <a:chExt cx="624" cy="432"/>
                </a:xfrm>
              </p:grpSpPr>
              <p:sp>
                <p:nvSpPr>
                  <p:cNvPr id="157727" name="Line 8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787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28" name="Oval 84"/>
                  <p:cNvSpPr>
                    <a:spLocks noChangeArrowheads="1"/>
                  </p:cNvSpPr>
                  <p:nvPr/>
                </p:nvSpPr>
                <p:spPr bwMode="auto">
                  <a:xfrm>
                    <a:off x="3787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29" name="Oval 85"/>
                  <p:cNvSpPr>
                    <a:spLocks noChangeArrowheads="1"/>
                  </p:cNvSpPr>
                  <p:nvPr/>
                </p:nvSpPr>
                <p:spPr bwMode="auto">
                  <a:xfrm>
                    <a:off x="3931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0" name="Oval 86"/>
                  <p:cNvSpPr>
                    <a:spLocks noChangeArrowheads="1"/>
                  </p:cNvSpPr>
                  <p:nvPr/>
                </p:nvSpPr>
                <p:spPr bwMode="auto">
                  <a:xfrm>
                    <a:off x="4075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1" name="Oval 87"/>
                  <p:cNvSpPr>
                    <a:spLocks noChangeArrowheads="1"/>
                  </p:cNvSpPr>
                  <p:nvPr/>
                </p:nvSpPr>
                <p:spPr bwMode="auto">
                  <a:xfrm>
                    <a:off x="4219" y="2001"/>
                    <a:ext cx="192" cy="192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2" name="Line 88"/>
                  <p:cNvSpPr>
                    <a:spLocks noChangeShapeType="1"/>
                  </p:cNvSpPr>
                  <p:nvPr/>
                </p:nvSpPr>
                <p:spPr bwMode="auto">
                  <a:xfrm>
                    <a:off x="4411" y="2097"/>
                    <a:ext cx="0" cy="33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7733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3793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4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3828" y="2162"/>
                    <a:ext cx="544" cy="84"/>
                  </a:xfrm>
                  <a:prstGeom prst="rect">
                    <a:avLst/>
                  </a:prstGeom>
                  <a:blipFill dpi="0" rotWithShape="1">
                    <a:blip r:embed="rId4"/>
                    <a:srcRect/>
                    <a:tile tx="0" ty="0" sx="100000" sy="100000" flip="none" algn="tl"/>
                  </a:blip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5773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4349" y="2110"/>
                    <a:ext cx="59" cy="14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</p:grpSp>
            <p:sp>
              <p:nvSpPr>
                <p:cNvPr id="157726" name="Line 92"/>
                <p:cNvSpPr>
                  <a:spLocks noChangeShapeType="1"/>
                </p:cNvSpPr>
                <p:nvPr/>
              </p:nvSpPr>
              <p:spPr bwMode="auto">
                <a:xfrm flipV="1">
                  <a:off x="3787" y="2251"/>
                  <a:ext cx="0" cy="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157722" name="Text Box 95"/>
            <p:cNvSpPr txBox="1">
              <a:spLocks noChangeArrowheads="1"/>
            </p:cNvSpPr>
            <p:nvPr/>
          </p:nvSpPr>
          <p:spPr bwMode="auto">
            <a:xfrm>
              <a:off x="2041" y="845"/>
              <a:ext cx="21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</a:rPr>
                <a:t>i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bs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</p:grpSp>
      <p:grpSp>
        <p:nvGrpSpPr>
          <p:cNvPr id="23" name="Group 100"/>
          <p:cNvGrpSpPr>
            <a:grpSpLocks/>
          </p:cNvGrpSpPr>
          <p:nvPr/>
        </p:nvGrpSpPr>
        <p:grpSpPr bwMode="auto">
          <a:xfrm>
            <a:off x="3240088" y="1776413"/>
            <a:ext cx="1979612" cy="3021012"/>
            <a:chOff x="2177" y="755"/>
            <a:chExt cx="1247" cy="1903"/>
          </a:xfrm>
        </p:grpSpPr>
        <p:sp>
          <p:nvSpPr>
            <p:cNvPr id="157708" name="Oval 101"/>
            <p:cNvSpPr>
              <a:spLocks noChangeArrowheads="1"/>
            </p:cNvSpPr>
            <p:nvPr/>
          </p:nvSpPr>
          <p:spPr bwMode="auto">
            <a:xfrm>
              <a:off x="2313" y="783"/>
              <a:ext cx="930" cy="6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09" name="Oval 102"/>
            <p:cNvSpPr>
              <a:spLocks noChangeArrowheads="1"/>
            </p:cNvSpPr>
            <p:nvPr/>
          </p:nvSpPr>
          <p:spPr bwMode="auto">
            <a:xfrm>
              <a:off x="2205" y="755"/>
              <a:ext cx="1219" cy="8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0" name="Oval 103"/>
            <p:cNvSpPr>
              <a:spLocks noChangeArrowheads="1"/>
            </p:cNvSpPr>
            <p:nvPr/>
          </p:nvSpPr>
          <p:spPr bwMode="auto">
            <a:xfrm>
              <a:off x="2540" y="2200"/>
              <a:ext cx="476" cy="4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1" name="Oval 104"/>
            <p:cNvSpPr>
              <a:spLocks noChangeArrowheads="1"/>
            </p:cNvSpPr>
            <p:nvPr/>
          </p:nvSpPr>
          <p:spPr bwMode="auto">
            <a:xfrm>
              <a:off x="2313" y="2024"/>
              <a:ext cx="930" cy="61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2" name="Oval 105"/>
            <p:cNvSpPr>
              <a:spLocks noChangeArrowheads="1"/>
            </p:cNvSpPr>
            <p:nvPr/>
          </p:nvSpPr>
          <p:spPr bwMode="auto">
            <a:xfrm>
              <a:off x="2177" y="1797"/>
              <a:ext cx="1179" cy="8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3" name="Oval 106"/>
            <p:cNvSpPr>
              <a:spLocks noChangeArrowheads="1"/>
            </p:cNvSpPr>
            <p:nvPr/>
          </p:nvSpPr>
          <p:spPr bwMode="auto">
            <a:xfrm>
              <a:off x="2540" y="822"/>
              <a:ext cx="476" cy="40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57714" name="Line 107"/>
            <p:cNvSpPr>
              <a:spLocks noChangeShapeType="1"/>
            </p:cNvSpPr>
            <p:nvPr/>
          </p:nvSpPr>
          <p:spPr bwMode="auto">
            <a:xfrm>
              <a:off x="2744" y="1230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5" name="Line 108"/>
            <p:cNvSpPr>
              <a:spLocks noChangeShapeType="1"/>
            </p:cNvSpPr>
            <p:nvPr/>
          </p:nvSpPr>
          <p:spPr bwMode="auto">
            <a:xfrm>
              <a:off x="2744" y="1389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6" name="Line 109"/>
            <p:cNvSpPr>
              <a:spLocks noChangeShapeType="1"/>
            </p:cNvSpPr>
            <p:nvPr/>
          </p:nvSpPr>
          <p:spPr bwMode="auto">
            <a:xfrm>
              <a:off x="2744" y="1616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7" name="Line 110"/>
            <p:cNvSpPr>
              <a:spLocks noChangeShapeType="1"/>
            </p:cNvSpPr>
            <p:nvPr/>
          </p:nvSpPr>
          <p:spPr bwMode="auto">
            <a:xfrm>
              <a:off x="2789" y="1797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8" name="Line 111"/>
            <p:cNvSpPr>
              <a:spLocks noChangeShapeType="1"/>
            </p:cNvSpPr>
            <p:nvPr/>
          </p:nvSpPr>
          <p:spPr bwMode="auto">
            <a:xfrm>
              <a:off x="2789" y="2024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719" name="Line 112"/>
            <p:cNvSpPr>
              <a:spLocks noChangeShapeType="1"/>
            </p:cNvSpPr>
            <p:nvPr/>
          </p:nvSpPr>
          <p:spPr bwMode="auto">
            <a:xfrm>
              <a:off x="2789" y="2205"/>
              <a:ext cx="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57706" name="Espace réservé du numéro de diapositive 10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FCC41D-35CF-47B0-B4D4-EA8BDC61949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1" name="Espace réservé du pied de page 1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59748" name="Group 140"/>
          <p:cNvGrpSpPr>
            <a:grpSpLocks/>
          </p:cNvGrpSpPr>
          <p:nvPr/>
        </p:nvGrpSpPr>
        <p:grpSpPr bwMode="auto">
          <a:xfrm>
            <a:off x="2843213" y="1150938"/>
            <a:ext cx="4643437" cy="3940175"/>
            <a:chOff x="1791" y="725"/>
            <a:chExt cx="2925" cy="2482"/>
          </a:xfrm>
        </p:grpSpPr>
        <p:sp>
          <p:nvSpPr>
            <p:cNvPr id="159751" name="Oval 41"/>
            <p:cNvSpPr>
              <a:spLocks noChangeArrowheads="1"/>
            </p:cNvSpPr>
            <p:nvPr/>
          </p:nvSpPr>
          <p:spPr bwMode="auto">
            <a:xfrm>
              <a:off x="1995" y="1169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159752" name="Group 42"/>
            <p:cNvGrpSpPr>
              <a:grpSpLocks noChangeAspect="1"/>
            </p:cNvGrpSpPr>
            <p:nvPr/>
          </p:nvGrpSpPr>
          <p:grpSpPr bwMode="auto">
            <a:xfrm>
              <a:off x="3468" y="1825"/>
              <a:ext cx="632" cy="178"/>
              <a:chOff x="7330" y="4360"/>
              <a:chExt cx="2490" cy="702"/>
            </a:xfrm>
          </p:grpSpPr>
          <p:sp>
            <p:nvSpPr>
              <p:cNvPr id="159835" name="Oval 43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6" name="Oval 44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7" name="Oval 45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8" name="Oval 46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9" name="Oval 47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0" name="Oval 48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1" name="Rectangle 49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2" name="Rectangle 50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3" name="Rectangle 51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44" name="Line 52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45" name="Line 53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59753" name="Group 54"/>
            <p:cNvGrpSpPr>
              <a:grpSpLocks/>
            </p:cNvGrpSpPr>
            <p:nvPr/>
          </p:nvGrpSpPr>
          <p:grpSpPr bwMode="auto">
            <a:xfrm rot="3051185">
              <a:off x="1667" y="1027"/>
              <a:ext cx="764" cy="163"/>
              <a:chOff x="7330" y="4360"/>
              <a:chExt cx="2490" cy="702"/>
            </a:xfrm>
          </p:grpSpPr>
          <p:sp>
            <p:nvSpPr>
              <p:cNvPr id="159824" name="Oval 55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5" name="Oval 56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6" name="Oval 57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7" name="Oval 58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8" name="Oval 59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9" name="Oval 60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0" name="Rectangle 61"/>
              <p:cNvSpPr>
                <a:spLocks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1" name="Rectangle 62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2" name="Rectangle 63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33" name="Line 64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34" name="Line 65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59754" name="Group 66"/>
            <p:cNvGrpSpPr>
              <a:grpSpLocks noChangeAspect="1"/>
            </p:cNvGrpSpPr>
            <p:nvPr/>
          </p:nvGrpSpPr>
          <p:grpSpPr bwMode="auto">
            <a:xfrm rot="-3471100">
              <a:off x="1795" y="2741"/>
              <a:ext cx="727" cy="205"/>
              <a:chOff x="7330" y="4360"/>
              <a:chExt cx="2490" cy="702"/>
            </a:xfrm>
          </p:grpSpPr>
          <p:sp>
            <p:nvSpPr>
              <p:cNvPr id="159813" name="Oval 67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4" name="Oval 68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5" name="Oval 69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6" name="Oval 70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7" name="Oval 71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8" name="Oval 72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19" name="Rectangle 73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blipFill dpi="0" rotWithShape="1">
                <a:blip r:embed="rId4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0" name="Rectangle 74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1" name="Rectangle 75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59822" name="Line 76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823" name="Line 77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59755" name="Text Box 78"/>
            <p:cNvSpPr txBox="1">
              <a:spLocks noChangeArrowheads="1"/>
            </p:cNvSpPr>
            <p:nvPr/>
          </p:nvSpPr>
          <p:spPr bwMode="auto">
            <a:xfrm>
              <a:off x="2016" y="819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b</a:t>
              </a:r>
            </a:p>
          </p:txBody>
        </p:sp>
        <p:sp>
          <p:nvSpPr>
            <p:cNvPr id="159756" name="Text Box 119"/>
            <p:cNvSpPr txBox="1">
              <a:spLocks noChangeArrowheads="1"/>
            </p:cNvSpPr>
            <p:nvPr/>
          </p:nvSpPr>
          <p:spPr bwMode="auto">
            <a:xfrm>
              <a:off x="2121" y="2778"/>
              <a:ext cx="57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c</a:t>
              </a:r>
            </a:p>
          </p:txBody>
        </p:sp>
        <p:sp>
          <p:nvSpPr>
            <p:cNvPr id="159757" name="Line 123"/>
            <p:cNvSpPr>
              <a:spLocks noChangeShapeType="1"/>
            </p:cNvSpPr>
            <p:nvPr/>
          </p:nvSpPr>
          <p:spPr bwMode="auto">
            <a:xfrm flipH="1">
              <a:off x="2734" y="1861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58" name="Line 124"/>
            <p:cNvSpPr>
              <a:spLocks noChangeShapeType="1"/>
            </p:cNvSpPr>
            <p:nvPr/>
          </p:nvSpPr>
          <p:spPr bwMode="auto">
            <a:xfrm flipV="1">
              <a:off x="2241" y="1873"/>
              <a:ext cx="481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59" name="Line 125"/>
            <p:cNvSpPr>
              <a:spLocks noChangeShapeType="1"/>
            </p:cNvSpPr>
            <p:nvPr/>
          </p:nvSpPr>
          <p:spPr bwMode="auto">
            <a:xfrm>
              <a:off x="2280" y="1320"/>
              <a:ext cx="449" cy="5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0" name="Line 126"/>
            <p:cNvSpPr>
              <a:spLocks noChangeShapeType="1"/>
            </p:cNvSpPr>
            <p:nvPr/>
          </p:nvSpPr>
          <p:spPr bwMode="auto">
            <a:xfrm>
              <a:off x="4055" y="1863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1" name="Line 127"/>
            <p:cNvSpPr>
              <a:spLocks noChangeShapeType="1"/>
            </p:cNvSpPr>
            <p:nvPr/>
          </p:nvSpPr>
          <p:spPr bwMode="auto">
            <a:xfrm flipH="1" flipV="1">
              <a:off x="1791" y="725"/>
              <a:ext cx="58" cy="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2" name="Line 128"/>
            <p:cNvSpPr>
              <a:spLocks noChangeShapeType="1"/>
            </p:cNvSpPr>
            <p:nvPr/>
          </p:nvSpPr>
          <p:spPr bwMode="auto">
            <a:xfrm flipH="1">
              <a:off x="1899" y="3067"/>
              <a:ext cx="42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3" name="Line 130"/>
            <p:cNvSpPr>
              <a:spLocks noChangeShapeType="1"/>
            </p:cNvSpPr>
            <p:nvPr/>
          </p:nvSpPr>
          <p:spPr bwMode="auto">
            <a:xfrm>
              <a:off x="4071" y="1863"/>
              <a:ext cx="64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9764" name="Text Box 135"/>
            <p:cNvSpPr txBox="1">
              <a:spLocks noChangeArrowheads="1"/>
            </p:cNvSpPr>
            <p:nvPr/>
          </p:nvSpPr>
          <p:spPr bwMode="auto">
            <a:xfrm>
              <a:off x="3792" y="1872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a</a:t>
              </a:r>
            </a:p>
          </p:txBody>
        </p:sp>
        <p:grpSp>
          <p:nvGrpSpPr>
            <p:cNvPr id="159765" name="Group 139"/>
            <p:cNvGrpSpPr>
              <a:grpSpLocks/>
            </p:cNvGrpSpPr>
            <p:nvPr/>
          </p:nvGrpSpPr>
          <p:grpSpPr bwMode="auto">
            <a:xfrm>
              <a:off x="1968" y="1362"/>
              <a:ext cx="1828" cy="1446"/>
              <a:chOff x="1968" y="1362"/>
              <a:chExt cx="1828" cy="1446"/>
            </a:xfrm>
          </p:grpSpPr>
          <p:grpSp>
            <p:nvGrpSpPr>
              <p:cNvPr id="159766" name="Group 79"/>
              <p:cNvGrpSpPr>
                <a:grpSpLocks noChangeAspect="1"/>
              </p:cNvGrpSpPr>
              <p:nvPr/>
            </p:nvGrpSpPr>
            <p:grpSpPr bwMode="auto">
              <a:xfrm rot="-1377994">
                <a:off x="2921" y="1695"/>
                <a:ext cx="384" cy="108"/>
                <a:chOff x="7330" y="4360"/>
                <a:chExt cx="2490" cy="702"/>
              </a:xfrm>
            </p:grpSpPr>
            <p:sp>
              <p:nvSpPr>
                <p:cNvPr id="159802" name="Oval 80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3" name="Oval 81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4" name="Oval 82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5" name="Oval 83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6" name="Oval 84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7" name="Oval 85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8" name="Rectangle 86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9" name="Rectangle 87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10" name="Rectangle 88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11" name="Line 89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812" name="Line 90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9767" name="Group 91"/>
              <p:cNvGrpSpPr>
                <a:grpSpLocks noChangeAspect="1"/>
              </p:cNvGrpSpPr>
              <p:nvPr/>
            </p:nvGrpSpPr>
            <p:grpSpPr bwMode="auto">
              <a:xfrm rot="1450097">
                <a:off x="2163" y="1667"/>
                <a:ext cx="383" cy="108"/>
                <a:chOff x="7330" y="4360"/>
                <a:chExt cx="2490" cy="702"/>
              </a:xfrm>
            </p:grpSpPr>
            <p:sp>
              <p:nvSpPr>
                <p:cNvPr id="159791" name="Oval 9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2" name="Oval 9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3" name="Oval 9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4" name="Oval 9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5" name="Oval 9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6" name="Oval 9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7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8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99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800" name="Line 10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801" name="Line 10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59768" name="Group 103"/>
              <p:cNvGrpSpPr>
                <a:grpSpLocks noChangeAspect="1"/>
              </p:cNvGrpSpPr>
              <p:nvPr/>
            </p:nvGrpSpPr>
            <p:grpSpPr bwMode="auto">
              <a:xfrm rot="-4849094">
                <a:off x="2501" y="2201"/>
                <a:ext cx="383" cy="108"/>
                <a:chOff x="7330" y="4360"/>
                <a:chExt cx="2490" cy="702"/>
              </a:xfrm>
            </p:grpSpPr>
            <p:sp>
              <p:nvSpPr>
                <p:cNvPr id="159780" name="Oval 104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1" name="Oval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2" name="Oval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3" name="Oval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4" name="Oval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5" name="Oval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6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7" name="Rectangle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8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59789" name="Line 113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59790" name="Line 114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59769" name="Text Box 115"/>
              <p:cNvSpPr txBox="1">
                <a:spLocks noChangeArrowheads="1"/>
              </p:cNvSpPr>
              <p:nvPr/>
            </p:nvSpPr>
            <p:spPr bwMode="auto">
              <a:xfrm>
                <a:off x="2032" y="1708"/>
                <a:ext cx="51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b</a:t>
                </a:r>
              </a:p>
            </p:txBody>
          </p:sp>
          <p:sp>
            <p:nvSpPr>
              <p:cNvPr id="159770" name="Text Box 116"/>
              <p:cNvSpPr txBox="1">
                <a:spLocks noChangeArrowheads="1"/>
              </p:cNvSpPr>
              <p:nvPr/>
            </p:nvSpPr>
            <p:spPr bwMode="auto">
              <a:xfrm>
                <a:off x="2736" y="1488"/>
                <a:ext cx="672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a</a:t>
                </a:r>
              </a:p>
            </p:txBody>
          </p:sp>
          <p:sp>
            <p:nvSpPr>
              <p:cNvPr id="159771" name="Text Box 118"/>
              <p:cNvSpPr txBox="1">
                <a:spLocks noChangeArrowheads="1"/>
              </p:cNvSpPr>
              <p:nvPr/>
            </p:nvSpPr>
            <p:spPr bwMode="auto">
              <a:xfrm>
                <a:off x="2640" y="2256"/>
                <a:ext cx="51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rotor, c</a:t>
                </a:r>
              </a:p>
            </p:txBody>
          </p:sp>
          <p:sp>
            <p:nvSpPr>
              <p:cNvPr id="159772" name="Line 120"/>
              <p:cNvSpPr>
                <a:spLocks noChangeShapeType="1"/>
              </p:cNvSpPr>
              <p:nvPr/>
            </p:nvSpPr>
            <p:spPr bwMode="auto">
              <a:xfrm rot="-221867">
                <a:off x="2528" y="1760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3" name="Line 121"/>
              <p:cNvSpPr>
                <a:spLocks noChangeShapeType="1"/>
              </p:cNvSpPr>
              <p:nvPr/>
            </p:nvSpPr>
            <p:spPr bwMode="auto">
              <a:xfrm flipH="1">
                <a:off x="2723" y="1792"/>
                <a:ext cx="206" cy="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4" name="Line 122"/>
              <p:cNvSpPr>
                <a:spLocks noChangeShapeType="1"/>
              </p:cNvSpPr>
              <p:nvPr/>
            </p:nvSpPr>
            <p:spPr bwMode="auto">
              <a:xfrm flipV="1">
                <a:off x="2687" y="1860"/>
                <a:ext cx="42" cy="2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5" name="Line 129"/>
              <p:cNvSpPr>
                <a:spLocks noChangeAspect="1" noChangeShapeType="1"/>
              </p:cNvSpPr>
              <p:nvPr/>
            </p:nvSpPr>
            <p:spPr bwMode="auto">
              <a:xfrm flipV="1">
                <a:off x="3282" y="1482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6" name="Freeform 132"/>
              <p:cNvSpPr>
                <a:spLocks/>
              </p:cNvSpPr>
              <p:nvPr/>
            </p:nvSpPr>
            <p:spPr bwMode="auto">
              <a:xfrm>
                <a:off x="3479" y="1555"/>
                <a:ext cx="73" cy="302"/>
              </a:xfrm>
              <a:custGeom>
                <a:avLst/>
                <a:gdLst>
                  <a:gd name="T0" fmla="*/ 0 w 183"/>
                  <a:gd name="T1" fmla="*/ 0 h 753"/>
                  <a:gd name="T2" fmla="*/ 0 w 183"/>
                  <a:gd name="T3" fmla="*/ 0 h 753"/>
                  <a:gd name="T4" fmla="*/ 0 w 183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753"/>
                  <a:gd name="T11" fmla="*/ 183 w 183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753">
                    <a:moveTo>
                      <a:pt x="146" y="753"/>
                    </a:moveTo>
                    <a:cubicBezTo>
                      <a:pt x="164" y="624"/>
                      <a:pt x="183" y="495"/>
                      <a:pt x="159" y="370"/>
                    </a:cubicBezTo>
                    <a:cubicBezTo>
                      <a:pt x="135" y="245"/>
                      <a:pt x="26" y="62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7" name="Text Box 133"/>
              <p:cNvSpPr txBox="1">
                <a:spLocks noChangeArrowheads="1"/>
              </p:cNvSpPr>
              <p:nvPr/>
            </p:nvSpPr>
            <p:spPr bwMode="auto">
              <a:xfrm>
                <a:off x="3495" y="1619"/>
                <a:ext cx="301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Courier New" panose="02070309020205020404" pitchFamily="49" charset="0"/>
                    <a:sym typeface="Symbol" panose="05050102010706020507" pitchFamily="18" charset="2"/>
                  </a:rPr>
                  <a:t></a:t>
                </a:r>
                <a:r>
                  <a:rPr lang="en-US" altLang="fr-FR" sz="1600" baseline="-25000">
                    <a:latin typeface="Courier New" panose="02070309020205020404" pitchFamily="49" charset="0"/>
                  </a:rPr>
                  <a:t>r</a:t>
                </a:r>
                <a:endParaRPr lang="en-US" altLang="fr-FR" sz="16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9778" name="Line 137"/>
              <p:cNvSpPr>
                <a:spLocks noChangeAspect="1" noChangeShapeType="1"/>
              </p:cNvSpPr>
              <p:nvPr/>
            </p:nvSpPr>
            <p:spPr bwMode="auto">
              <a:xfrm rot="13667718" flipV="1">
                <a:off x="1865" y="1465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9779" name="Line 138"/>
              <p:cNvSpPr>
                <a:spLocks noChangeAspect="1" noChangeShapeType="1"/>
              </p:cNvSpPr>
              <p:nvPr/>
            </p:nvSpPr>
            <p:spPr bwMode="auto">
              <a:xfrm rot="7384910" flipV="1">
                <a:off x="2411" y="2545"/>
                <a:ext cx="366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59749" name="Espace réservé du numéro de diapositive 10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61053-DAC2-46A5-A850-92B762B6B68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5" name="Espace réservé du pied de page 10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Modèle 3-PHASE </a:t>
            </a:r>
          </a:p>
        </p:txBody>
      </p:sp>
      <p:sp>
        <p:nvSpPr>
          <p:cNvPr id="1617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6" name="Rectangle 13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7" name="Rectangle 13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798" name="Text Box 141"/>
          <p:cNvSpPr txBox="1">
            <a:spLocks noChangeArrowheads="1"/>
          </p:cNvSpPr>
          <p:nvPr/>
        </p:nvSpPr>
        <p:spPr bwMode="auto">
          <a:xfrm>
            <a:off x="1042988" y="1160463"/>
            <a:ext cx="2917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  <a:endParaRPr lang="en-US" altLang="fr-FR" sz="2400" i="1">
              <a:latin typeface="Arial Narrow" panose="020B0606020202030204" pitchFamily="34" charset="0"/>
            </a:endParaRPr>
          </a:p>
        </p:txBody>
      </p:sp>
      <p:sp>
        <p:nvSpPr>
          <p:cNvPr id="161799" name="Text Box 190"/>
          <p:cNvSpPr txBox="1">
            <a:spLocks noChangeArrowheads="1"/>
          </p:cNvSpPr>
          <p:nvPr/>
        </p:nvSpPr>
        <p:spPr bwMode="auto">
          <a:xfrm>
            <a:off x="3959225" y="1916113"/>
            <a:ext cx="36687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Flux qui traverse la phase</a:t>
            </a:r>
            <a:r>
              <a:rPr lang="en-US" altLang="fr-FR" sz="1800" i="1">
                <a:latin typeface="Arial Narrow" panose="020B0606020202030204" pitchFamily="34" charset="0"/>
              </a:rPr>
              <a:t> a</a:t>
            </a:r>
            <a:r>
              <a:rPr lang="en-US" altLang="fr-FR" sz="1800">
                <a:latin typeface="Arial Narrow" panose="020B0606020202030204" pitchFamily="34" charset="0"/>
              </a:rPr>
              <a:t> est dû au:</a:t>
            </a:r>
          </a:p>
        </p:txBody>
      </p:sp>
      <p:sp>
        <p:nvSpPr>
          <p:cNvPr id="161800" name="Text Box 191"/>
          <p:cNvSpPr txBox="1">
            <a:spLocks noChangeArrowheads="1"/>
          </p:cNvSpPr>
          <p:nvPr/>
        </p:nvSpPr>
        <p:spPr bwMode="auto">
          <a:xfrm>
            <a:off x="5003800" y="2401888"/>
            <a:ext cx="3082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a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1" name="Text Box 192"/>
          <p:cNvSpPr txBox="1">
            <a:spLocks noChangeArrowheads="1"/>
          </p:cNvSpPr>
          <p:nvPr/>
        </p:nvSpPr>
        <p:spPr bwMode="auto">
          <a:xfrm>
            <a:off x="5003800" y="3209925"/>
            <a:ext cx="308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b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2" name="Text Box 193"/>
          <p:cNvSpPr txBox="1">
            <a:spLocks noChangeArrowheads="1"/>
          </p:cNvSpPr>
          <p:nvPr/>
        </p:nvSpPr>
        <p:spPr bwMode="auto">
          <a:xfrm>
            <a:off x="5003800" y="4081463"/>
            <a:ext cx="30718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28600" indent="-2286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1800">
                <a:latin typeface="Arial Narrow" panose="020B0606020202030204" pitchFamily="34" charset="0"/>
              </a:rPr>
              <a:t>Flux produit par l’enroulement </a:t>
            </a:r>
            <a:r>
              <a:rPr lang="en-US" altLang="fr-FR" sz="1800" i="1">
                <a:latin typeface="Arial Narrow" panose="020B0606020202030204" pitchFamily="34" charset="0"/>
              </a:rPr>
              <a:t>c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sp>
        <p:nvSpPr>
          <p:cNvPr id="161803" name="Oval 230"/>
          <p:cNvSpPr>
            <a:spLocks noChangeAspect="1" noChangeArrowheads="1"/>
          </p:cNvSpPr>
          <p:nvPr/>
        </p:nvSpPr>
        <p:spPr bwMode="auto">
          <a:xfrm>
            <a:off x="1476375" y="3249613"/>
            <a:ext cx="2736850" cy="2695575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4" name="Oval 231"/>
          <p:cNvSpPr>
            <a:spLocks noChangeAspect="1" noChangeArrowheads="1"/>
          </p:cNvSpPr>
          <p:nvPr/>
        </p:nvSpPr>
        <p:spPr bwMode="auto">
          <a:xfrm>
            <a:off x="1857375" y="3617913"/>
            <a:ext cx="2001838" cy="20050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5" name="Oval 232"/>
          <p:cNvSpPr>
            <a:spLocks noChangeAspect="1" noChangeArrowheads="1"/>
          </p:cNvSpPr>
          <p:nvPr/>
        </p:nvSpPr>
        <p:spPr bwMode="auto">
          <a:xfrm>
            <a:off x="2019300" y="3773488"/>
            <a:ext cx="1676400" cy="1693862"/>
          </a:xfrm>
          <a:prstGeom prst="ellipse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6" name="Oval 233"/>
          <p:cNvSpPr>
            <a:spLocks noChangeAspect="1" noChangeArrowheads="1"/>
          </p:cNvSpPr>
          <p:nvPr/>
        </p:nvSpPr>
        <p:spPr bwMode="auto">
          <a:xfrm>
            <a:off x="2787650" y="3387725"/>
            <a:ext cx="184150" cy="193675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7" name="Oval 234"/>
          <p:cNvSpPr>
            <a:spLocks noChangeAspect="1" noChangeArrowheads="1"/>
          </p:cNvSpPr>
          <p:nvPr/>
        </p:nvSpPr>
        <p:spPr bwMode="auto">
          <a:xfrm>
            <a:off x="2797175" y="5621338"/>
            <a:ext cx="185738" cy="193675"/>
          </a:xfrm>
          <a:prstGeom prst="ellipse">
            <a:avLst/>
          </a:prstGeom>
          <a:solidFill>
            <a:srgbClr val="FF66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8" name="Oval 235"/>
          <p:cNvSpPr>
            <a:spLocks noChangeAspect="1" noChangeArrowheads="1"/>
          </p:cNvSpPr>
          <p:nvPr/>
        </p:nvSpPr>
        <p:spPr bwMode="auto">
          <a:xfrm>
            <a:off x="3708400" y="5149850"/>
            <a:ext cx="185738" cy="192088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09" name="Oval 236"/>
          <p:cNvSpPr>
            <a:spLocks noChangeAspect="1" noChangeArrowheads="1"/>
          </p:cNvSpPr>
          <p:nvPr/>
        </p:nvSpPr>
        <p:spPr bwMode="auto">
          <a:xfrm>
            <a:off x="1865313" y="3802063"/>
            <a:ext cx="187325" cy="192087"/>
          </a:xfrm>
          <a:prstGeom prst="ellipse">
            <a:avLst/>
          </a:prstGeom>
          <a:solidFill>
            <a:srgbClr val="0099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0" name="Oval 237"/>
          <p:cNvSpPr>
            <a:spLocks noChangeAspect="1" noChangeArrowheads="1"/>
          </p:cNvSpPr>
          <p:nvPr/>
        </p:nvSpPr>
        <p:spPr bwMode="auto">
          <a:xfrm>
            <a:off x="1771650" y="5149850"/>
            <a:ext cx="187325" cy="192088"/>
          </a:xfrm>
          <a:prstGeom prst="ellipse">
            <a:avLst/>
          </a:prstGeom>
          <a:solidFill>
            <a:schemeClr val="bg1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1" name="Oval 238"/>
          <p:cNvSpPr>
            <a:spLocks noChangeAspect="1" noChangeArrowheads="1"/>
          </p:cNvSpPr>
          <p:nvPr/>
        </p:nvSpPr>
        <p:spPr bwMode="auto">
          <a:xfrm>
            <a:off x="3690938" y="3865563"/>
            <a:ext cx="185737" cy="1936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1812" name="Espace réservé du numéro de diapositive 2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F5C694-90DB-40EC-827B-324AFCAE1ED6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5" name="Espace réservé du pied de page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439863" y="398463"/>
            <a:ext cx="5902325" cy="83502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Le modèle 3-phasé</a:t>
            </a: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5003800" y="2808288"/>
            <a:ext cx="3082925" cy="765175"/>
            <a:chOff x="3152" y="1956"/>
            <a:chExt cx="1942" cy="482"/>
          </a:xfrm>
        </p:grpSpPr>
        <p:sp>
          <p:nvSpPr>
            <p:cNvPr id="163852" name="Text Box 9"/>
            <p:cNvSpPr txBox="1">
              <a:spLocks noChangeArrowheads="1"/>
            </p:cNvSpPr>
            <p:nvPr/>
          </p:nvSpPr>
          <p:spPr bwMode="auto">
            <a:xfrm>
              <a:off x="3152" y="1956"/>
              <a:ext cx="194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28600" indent="-22860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fr-FR" sz="1800">
                  <a:latin typeface="Arial Narrow" panose="020B0606020202030204" pitchFamily="34" charset="0"/>
                </a:rPr>
                <a:t>Flux produit par l’enroulement </a:t>
              </a:r>
              <a:r>
                <a:rPr lang="en-US" altLang="fr-FR" sz="1800" i="1">
                  <a:latin typeface="Arial Narrow" panose="020B0606020202030204" pitchFamily="34" charset="0"/>
                </a:rPr>
                <a:t>b</a:t>
              </a:r>
              <a:endParaRPr lang="en-US" altLang="fr-FR" sz="1800">
                <a:latin typeface="Arial Narrow" panose="020B0606020202030204" pitchFamily="34" charset="0"/>
              </a:endParaRPr>
            </a:p>
          </p:txBody>
        </p:sp>
        <p:sp>
          <p:nvSpPr>
            <p:cNvPr id="163853" name="Text Box 10"/>
            <p:cNvSpPr txBox="1">
              <a:spLocks noChangeArrowheads="1"/>
            </p:cNvSpPr>
            <p:nvPr/>
          </p:nvSpPr>
          <p:spPr bwMode="auto">
            <a:xfrm>
              <a:off x="3152" y="2205"/>
              <a:ext cx="19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28600" indent="-22860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Char char="•"/>
              </a:pPr>
              <a:r>
                <a:rPr lang="en-US" altLang="fr-FR" sz="1800">
                  <a:latin typeface="Arial Narrow" panose="020B0606020202030204" pitchFamily="34" charset="0"/>
                </a:rPr>
                <a:t>Flux produit par l’enroulement </a:t>
              </a:r>
              <a:r>
                <a:rPr lang="en-US" altLang="fr-FR" sz="1800" i="1">
                  <a:latin typeface="Arial Narrow" panose="020B0606020202030204" pitchFamily="34" charset="0"/>
                </a:rPr>
                <a:t>c</a:t>
              </a:r>
              <a:endParaRPr lang="en-US" altLang="fr-FR" sz="1800">
                <a:latin typeface="Arial Narrow" panose="020B0606020202030204" pitchFamily="34" charset="0"/>
              </a:endParaRPr>
            </a:p>
          </p:txBody>
        </p:sp>
      </p:grpSp>
      <p:sp>
        <p:nvSpPr>
          <p:cNvPr id="163847" name="Text Box 20"/>
          <p:cNvSpPr txBox="1">
            <a:spLocks noChangeArrowheads="1"/>
          </p:cNvSpPr>
          <p:nvPr/>
        </p:nvSpPr>
        <p:spPr bwMode="auto">
          <a:xfrm>
            <a:off x="1042988" y="1160463"/>
            <a:ext cx="2847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14710" name="Text Box 22"/>
          <p:cNvSpPr txBox="1">
            <a:spLocks noChangeArrowheads="1"/>
          </p:cNvSpPr>
          <p:nvPr/>
        </p:nvSpPr>
        <p:spPr bwMode="auto">
          <a:xfrm>
            <a:off x="1468438" y="2776538"/>
            <a:ext cx="5816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relation entre les courant</a:t>
            </a:r>
            <a:r>
              <a:rPr lang="en-US" altLang="fr-FR" sz="2400" u="sng">
                <a:latin typeface="Arial Narrow" panose="020B0606020202030204" pitchFamily="34" charset="0"/>
              </a:rPr>
              <a:t>s des autres phases</a:t>
            </a:r>
            <a:r>
              <a:rPr lang="en-US" altLang="fr-FR" sz="2400">
                <a:latin typeface="Arial Narrow" panose="020B0606020202030204" pitchFamily="34" charset="0"/>
              </a:rPr>
              <a:t> et </a:t>
            </a:r>
            <a:r>
              <a:rPr lang="en-US" altLang="fr-FR" sz="2400" u="sng">
                <a:latin typeface="Arial Narrow" panose="020B0606020202030204" pitchFamily="34" charset="0"/>
              </a:rPr>
              <a:t>leur flux traversant la phase a</a:t>
            </a:r>
            <a:r>
              <a:rPr lang="en-US" altLang="fr-FR" sz="2400">
                <a:latin typeface="Arial Narrow" panose="020B0606020202030204" pitchFamily="34" charset="0"/>
              </a:rPr>
              <a:t> est exprimée par les inductances mutuelles.</a:t>
            </a:r>
          </a:p>
        </p:txBody>
      </p:sp>
      <p:sp>
        <p:nvSpPr>
          <p:cNvPr id="163849" name="Text Box 23"/>
          <p:cNvSpPr txBox="1">
            <a:spLocks noChangeArrowheads="1"/>
          </p:cNvSpPr>
          <p:nvPr/>
        </p:nvSpPr>
        <p:spPr bwMode="auto">
          <a:xfrm>
            <a:off x="2427288" y="459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3850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8DF0C9-81E8-42C0-8780-5FD4B7AF8E0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7.40741E-7 L -0.40556 -0.16805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47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7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549400" y="368300"/>
            <a:ext cx="5578475" cy="1160463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Le modèle 3-phasé</a:t>
            </a:r>
          </a:p>
        </p:txBody>
      </p:sp>
      <p:graphicFrame>
        <p:nvGraphicFramePr>
          <p:cNvPr id="118797" name="Object 1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127375" y="2024063"/>
          <a:ext cx="268605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84" name="Equation" r:id="rId6" imgW="1054100" imgH="228600" progId="Equation.3">
                  <p:embed/>
                </p:oleObj>
              </mc:Choice>
              <mc:Fallback>
                <p:oleObj name="Equation" r:id="rId6" imgW="10541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024063"/>
                        <a:ext cx="268605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2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5895" name="Text Box 10"/>
          <p:cNvSpPr txBox="1">
            <a:spLocks noChangeArrowheads="1"/>
          </p:cNvSpPr>
          <p:nvPr/>
        </p:nvSpPr>
        <p:spPr bwMode="auto">
          <a:xfrm>
            <a:off x="1042988" y="1160463"/>
            <a:ext cx="28479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Considérons la phase </a:t>
            </a:r>
            <a:r>
              <a:rPr lang="en-US" altLang="fr-FR" sz="2400" i="1">
                <a:latin typeface="Arial Narrow" panose="020B0606020202030204" pitchFamily="34" charset="0"/>
              </a:rPr>
              <a:t>a</a:t>
            </a:r>
          </a:p>
        </p:txBody>
      </p:sp>
      <p:sp>
        <p:nvSpPr>
          <p:cNvPr id="165896" name="Text Box 12"/>
          <p:cNvSpPr txBox="1">
            <a:spLocks noChangeArrowheads="1"/>
          </p:cNvSpPr>
          <p:nvPr/>
        </p:nvSpPr>
        <p:spPr bwMode="auto">
          <a:xfrm>
            <a:off x="2427288" y="4597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916238" y="2600325"/>
            <a:ext cx="1979612" cy="1008063"/>
            <a:chOff x="1837" y="1638"/>
            <a:chExt cx="1247" cy="635"/>
          </a:xfrm>
        </p:grpSpPr>
        <p:sp>
          <p:nvSpPr>
            <p:cNvPr id="165925" name="Line 15"/>
            <p:cNvSpPr>
              <a:spLocks noChangeShapeType="1"/>
            </p:cNvSpPr>
            <p:nvPr/>
          </p:nvSpPr>
          <p:spPr bwMode="auto">
            <a:xfrm>
              <a:off x="2540" y="1638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6" name="Line 16"/>
            <p:cNvSpPr>
              <a:spLocks noChangeShapeType="1"/>
            </p:cNvSpPr>
            <p:nvPr/>
          </p:nvSpPr>
          <p:spPr bwMode="auto">
            <a:xfrm flipH="1">
              <a:off x="1837" y="1638"/>
              <a:ext cx="952" cy="63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18802" name="Object 18"/>
          <p:cNvGraphicFramePr>
            <a:graphicFrameLocks noChangeAspect="1"/>
          </p:cNvGraphicFramePr>
          <p:nvPr/>
        </p:nvGraphicFramePr>
        <p:xfrm>
          <a:off x="1095375" y="3752850"/>
          <a:ext cx="30734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85" name="Equation" r:id="rId8" imgW="1206500" imgH="228600" progId="Equation.3">
                  <p:embed/>
                </p:oleObj>
              </mc:Choice>
              <mc:Fallback>
                <p:oleObj name="Equation" r:id="rId8" imgW="12065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3752850"/>
                        <a:ext cx="30734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5076825" y="2600325"/>
            <a:ext cx="1728788" cy="1116013"/>
            <a:chOff x="4059" y="1729"/>
            <a:chExt cx="1089" cy="703"/>
          </a:xfrm>
        </p:grpSpPr>
        <p:sp>
          <p:nvSpPr>
            <p:cNvPr id="165923" name="Line 20"/>
            <p:cNvSpPr>
              <a:spLocks noChangeShapeType="1"/>
            </p:cNvSpPr>
            <p:nvPr/>
          </p:nvSpPr>
          <p:spPr bwMode="auto">
            <a:xfrm>
              <a:off x="4059" y="1729"/>
              <a:ext cx="5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4" name="Line 21"/>
            <p:cNvSpPr>
              <a:spLocks noChangeShapeType="1"/>
            </p:cNvSpPr>
            <p:nvPr/>
          </p:nvSpPr>
          <p:spPr bwMode="auto">
            <a:xfrm>
              <a:off x="4308" y="1729"/>
              <a:ext cx="840" cy="70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118807" name="Object 23"/>
          <p:cNvGraphicFramePr>
            <a:graphicFrameLocks noChangeAspect="1"/>
          </p:cNvGraphicFramePr>
          <p:nvPr/>
        </p:nvGraphicFramePr>
        <p:xfrm>
          <a:off x="5024438" y="3752850"/>
          <a:ext cx="34940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86" name="Equation" r:id="rId10" imgW="1371600" imgH="228600" progId="Equation.3">
                  <p:embed/>
                </p:oleObj>
              </mc:Choice>
              <mc:Fallback>
                <p:oleObj name="Equation" r:id="rId10" imgW="1371600" imgH="2286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3752850"/>
                        <a:ext cx="34940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84213" y="3716338"/>
            <a:ext cx="2592387" cy="2447925"/>
            <a:chOff x="431" y="2341"/>
            <a:chExt cx="1633" cy="1542"/>
          </a:xfrm>
        </p:grpSpPr>
        <p:sp>
          <p:nvSpPr>
            <p:cNvPr id="165920" name="Oval 24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21" name="Line 29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22" name="Text Box 30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et phase b de stator</a:t>
              </a:r>
            </a:p>
          </p:txBody>
        </p:sp>
      </p:grpSp>
      <p:grpSp>
        <p:nvGrpSpPr>
          <p:cNvPr id="5" name="Group 34"/>
          <p:cNvGrpSpPr>
            <a:grpSpLocks/>
          </p:cNvGrpSpPr>
          <p:nvPr/>
        </p:nvGrpSpPr>
        <p:grpSpPr bwMode="auto">
          <a:xfrm>
            <a:off x="3167063" y="3681413"/>
            <a:ext cx="3133725" cy="2409825"/>
            <a:chOff x="1995" y="2319"/>
            <a:chExt cx="1974" cy="1518"/>
          </a:xfrm>
        </p:grpSpPr>
        <p:sp>
          <p:nvSpPr>
            <p:cNvPr id="165917" name="Oval 25"/>
            <p:cNvSpPr>
              <a:spLocks noChangeArrowheads="1"/>
            </p:cNvSpPr>
            <p:nvPr/>
          </p:nvSpPr>
          <p:spPr bwMode="auto">
            <a:xfrm>
              <a:off x="1995" y="2319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8" name="Text Box 31"/>
            <p:cNvSpPr txBox="1">
              <a:spLocks noChangeArrowheads="1"/>
            </p:cNvSpPr>
            <p:nvPr/>
          </p:nvSpPr>
          <p:spPr bwMode="auto">
            <a:xfrm>
              <a:off x="2336" y="3203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et phase c de stator</a:t>
              </a:r>
            </a:p>
          </p:txBody>
        </p:sp>
        <p:sp>
          <p:nvSpPr>
            <p:cNvPr id="165919" name="Line 32"/>
            <p:cNvSpPr>
              <a:spLocks noChangeShapeType="1"/>
            </p:cNvSpPr>
            <p:nvPr/>
          </p:nvSpPr>
          <p:spPr bwMode="auto">
            <a:xfrm>
              <a:off x="2245" y="2772"/>
              <a:ext cx="386" cy="4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45025" y="3752850"/>
            <a:ext cx="2592388" cy="2216150"/>
            <a:chOff x="1067" y="2341"/>
            <a:chExt cx="1633" cy="1396"/>
          </a:xfrm>
        </p:grpSpPr>
        <p:sp>
          <p:nvSpPr>
            <p:cNvPr id="165914" name="Oval 36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5" name="Line 37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6" name="Text Box 38"/>
            <p:cNvSpPr txBox="1">
              <a:spLocks noChangeArrowheads="1"/>
            </p:cNvSpPr>
            <p:nvPr/>
          </p:nvSpPr>
          <p:spPr bwMode="auto">
            <a:xfrm>
              <a:off x="1067" y="3103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a de rotor</a:t>
              </a:r>
            </a:p>
          </p:txBody>
        </p:sp>
      </p:grp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895850" y="3716338"/>
            <a:ext cx="2592388" cy="2447925"/>
            <a:chOff x="431" y="2341"/>
            <a:chExt cx="1633" cy="1542"/>
          </a:xfrm>
        </p:grpSpPr>
        <p:sp>
          <p:nvSpPr>
            <p:cNvPr id="165911" name="Oval 44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12" name="Line 45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3" name="Text Box 46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b de rotor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6156325" y="3681413"/>
            <a:ext cx="2592388" cy="2447925"/>
            <a:chOff x="431" y="2341"/>
            <a:chExt cx="1633" cy="1542"/>
          </a:xfrm>
        </p:grpSpPr>
        <p:sp>
          <p:nvSpPr>
            <p:cNvPr id="165908" name="Oval 48"/>
            <p:cNvSpPr>
              <a:spLocks noChangeArrowheads="1"/>
            </p:cNvSpPr>
            <p:nvPr/>
          </p:nvSpPr>
          <p:spPr bwMode="auto">
            <a:xfrm>
              <a:off x="1270" y="2341"/>
              <a:ext cx="453" cy="45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65909" name="Line 49"/>
            <p:cNvSpPr>
              <a:spLocks noChangeShapeType="1"/>
            </p:cNvSpPr>
            <p:nvPr/>
          </p:nvSpPr>
          <p:spPr bwMode="auto">
            <a:xfrm flipH="1">
              <a:off x="1338" y="2795"/>
              <a:ext cx="181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5910" name="Text Box 50"/>
            <p:cNvSpPr txBox="1">
              <a:spLocks noChangeArrowheads="1"/>
            </p:cNvSpPr>
            <p:nvPr/>
          </p:nvSpPr>
          <p:spPr bwMode="auto">
            <a:xfrm>
              <a:off x="431" y="3249"/>
              <a:ext cx="163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Inductance mutuelle entre phase a de stator et phase c de rotor</a:t>
              </a:r>
            </a:p>
          </p:txBody>
        </p:sp>
      </p:grpSp>
      <p:sp>
        <p:nvSpPr>
          <p:cNvPr id="165906" name="Espace réservé du numéro de diapositive 4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45BA52-48C4-47F6-A8D9-910184890BE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2" name="Espace réservé du pied de page 4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8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729413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Le modèle 3-phasé</a:t>
            </a:r>
          </a:p>
        </p:txBody>
      </p:sp>
      <p:sp>
        <p:nvSpPr>
          <p:cNvPr id="16793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12644" name="Rectangle 4"/>
          <p:cNvSpPr>
            <a:spLocks noChangeArrowheads="1"/>
          </p:cNvSpPr>
          <p:nvPr/>
        </p:nvSpPr>
        <p:spPr bwMode="auto">
          <a:xfrm>
            <a:off x="1143000" y="1217613"/>
            <a:ext cx="79089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          - </a:t>
            </a:r>
            <a:r>
              <a:rPr lang="en-GB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Equation de la tension du stator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12645" name="Rectangle 5"/>
          <p:cNvSpPr>
            <a:spLocks noChangeArrowheads="1"/>
          </p:cNvSpPr>
          <p:nvPr/>
        </p:nvSpPr>
        <p:spPr bwMode="auto">
          <a:xfrm>
            <a:off x="1219200" y="1979613"/>
            <a:ext cx="7670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          -</a:t>
            </a:r>
            <a:r>
              <a:rPr lang="en-GB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GB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Equation de la tension du rotor</a:t>
            </a:r>
            <a:r>
              <a:rPr lang="en-US" altLang="fr-FR" sz="2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7943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12649" name="Object 9"/>
          <p:cNvGraphicFramePr>
            <a:graphicFrameLocks noChangeAspect="1"/>
          </p:cNvGraphicFramePr>
          <p:nvPr/>
        </p:nvGraphicFramePr>
        <p:xfrm>
          <a:off x="1177925" y="2895600"/>
          <a:ext cx="41195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87" name="Equation" r:id="rId6" imgW="2565400" imgH="596900" progId="Equation.3">
                  <p:embed/>
                </p:oleObj>
              </mc:Choice>
              <mc:Fallback>
                <p:oleObj name="Equation" r:id="rId6" imgW="2565400" imgH="596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925" y="2895600"/>
                        <a:ext cx="41195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50" name="Object 10"/>
          <p:cNvGraphicFramePr>
            <a:graphicFrameLocks noChangeAspect="1"/>
          </p:cNvGraphicFramePr>
          <p:nvPr/>
        </p:nvGraphicFramePr>
        <p:xfrm>
          <a:off x="1189038" y="4038600"/>
          <a:ext cx="40989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88" name="Equation" r:id="rId8" imgW="2552700" imgH="596900" progId="Equation.3">
                  <p:embed/>
                </p:oleObj>
              </mc:Choice>
              <mc:Fallback>
                <p:oleObj name="Equation" r:id="rId8" imgW="2552700" imgH="596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4038600"/>
                        <a:ext cx="4098925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51" name="Rectangle 11"/>
          <p:cNvSpPr>
            <a:spLocks noChangeArrowheads="1"/>
          </p:cNvSpPr>
          <p:nvPr/>
        </p:nvSpPr>
        <p:spPr bwMode="auto">
          <a:xfrm>
            <a:off x="1143000" y="5175250"/>
            <a:ext cx="762793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GB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</a:t>
            </a:r>
            <a:r>
              <a:rPr lang="en-GB" altLang="fr-FR" sz="2000" baseline="-25000">
                <a:latin typeface="Arial Narrow" panose="020B0606020202030204" pitchFamily="34" charset="0"/>
              </a:rPr>
              <a:t>abcs  </a:t>
            </a:r>
            <a:r>
              <a:rPr lang="en-GB" altLang="fr-FR" sz="2000">
                <a:latin typeface="Arial Narrow" panose="020B0606020202030204" pitchFamily="34" charset="0"/>
              </a:rPr>
              <a:t>: flux (produits par les courants du stator et du rotor) traversant les enroulements statoriques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GB" altLang="fr-FR" sz="2000">
                <a:latin typeface="Arial Narrow" panose="020B0606020202030204" pitchFamily="34" charset="0"/>
                <a:sym typeface="Symbol" panose="05050102010706020507" pitchFamily="18" charset="2"/>
              </a:rPr>
              <a:t></a:t>
            </a:r>
            <a:r>
              <a:rPr lang="en-GB" altLang="fr-FR" sz="2000" baseline="-25000">
                <a:latin typeface="Arial Narrow" panose="020B0606020202030204" pitchFamily="34" charset="0"/>
              </a:rPr>
              <a:t>abcr</a:t>
            </a:r>
            <a:r>
              <a:rPr lang="en-GB" altLang="fr-FR" sz="2000">
                <a:latin typeface="Arial Narrow" panose="020B0606020202030204" pitchFamily="34" charset="0"/>
              </a:rPr>
              <a:t> : flux(produits par les courants du stator et du rotor) traversant les enroulements rotoriques </a:t>
            </a:r>
            <a:endParaRPr lang="en-US" altLang="fr-FR" sz="2000" b="1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67947" name="Espace réservé du numéro de diapositive 1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671668-3A9F-4AA5-BD99-25FDE866273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" name="Espace réservé du pied de page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45" grpId="0"/>
      <p:bldP spid="1126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idx="1"/>
          </p:nvPr>
        </p:nvSpPr>
        <p:spPr>
          <a:xfrm>
            <a:off x="1285875" y="252413"/>
            <a:ext cx="7046913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 –     Le modèle 3-phasé</a:t>
            </a:r>
          </a:p>
        </p:txBody>
      </p:sp>
      <p:sp>
        <p:nvSpPr>
          <p:cNvPr id="16998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88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89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90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2" name="Object 10"/>
          <p:cNvGraphicFramePr>
            <a:graphicFrameLocks noChangeAspect="1"/>
          </p:cNvGraphicFramePr>
          <p:nvPr/>
        </p:nvGraphicFramePr>
        <p:xfrm>
          <a:off x="2743200" y="1071563"/>
          <a:ext cx="28194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80" name="Equation" r:id="rId6" imgW="1459866" imgH="203112" progId="Equation.3">
                  <p:embed/>
                </p:oleObj>
              </mc:Choice>
              <mc:Fallback>
                <p:oleObj name="Equation" r:id="rId6" imgW="1459866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071563"/>
                        <a:ext cx="28194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2" name="Rectangle 13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4" name="Object 12"/>
          <p:cNvGraphicFramePr>
            <a:graphicFrameLocks noChangeAspect="1"/>
          </p:cNvGraphicFramePr>
          <p:nvPr/>
        </p:nvGraphicFramePr>
        <p:xfrm>
          <a:off x="2743200" y="1757363"/>
          <a:ext cx="27432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81" name="Equation" r:id="rId8" imgW="1459866" imgH="203112" progId="Equation.3">
                  <p:embed/>
                </p:oleObj>
              </mc:Choice>
              <mc:Fallback>
                <p:oleObj name="Equation" r:id="rId8" imgW="1459866" imgH="203112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57363"/>
                        <a:ext cx="274320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4" name="Rectangle 1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6" name="Object 14"/>
          <p:cNvGraphicFramePr>
            <a:graphicFrameLocks noChangeAspect="1"/>
          </p:cNvGraphicFramePr>
          <p:nvPr/>
        </p:nvGraphicFramePr>
        <p:xfrm>
          <a:off x="3065463" y="3152775"/>
          <a:ext cx="34417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82" name="Equation" r:id="rId10" imgW="1689100" imgH="596900" progId="Equation.3">
                  <p:embed/>
                </p:oleObj>
              </mc:Choice>
              <mc:Fallback>
                <p:oleObj name="Equation" r:id="rId10" imgW="1689100" imgH="5969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3152775"/>
                        <a:ext cx="34417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6" name="Rectangle 1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38928" name="Object 16"/>
          <p:cNvGraphicFramePr>
            <a:graphicFrameLocks noChangeAspect="1"/>
          </p:cNvGraphicFramePr>
          <p:nvPr/>
        </p:nvGraphicFramePr>
        <p:xfrm>
          <a:off x="3148013" y="4976813"/>
          <a:ext cx="3635375" cy="1214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83" name="Equation" r:id="rId12" imgW="1854200" imgH="622300" progId="Equation.3">
                  <p:embed/>
                </p:oleObj>
              </mc:Choice>
              <mc:Fallback>
                <p:oleObj name="Equation" r:id="rId12" imgW="1854200" imgH="6223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8013" y="4976813"/>
                        <a:ext cx="3635375" cy="1214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98" name="Rectangle 19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69999" name="Rectangle 21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1219200" y="2590800"/>
            <a:ext cx="74056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statoriques  produits par les courants statoriques</a:t>
            </a:r>
          </a:p>
        </p:txBody>
      </p:sp>
      <p:sp>
        <p:nvSpPr>
          <p:cNvPr id="38935" name="Text Box 23"/>
          <p:cNvSpPr txBox="1">
            <a:spLocks noChangeArrowheads="1"/>
          </p:cNvSpPr>
          <p:nvPr/>
        </p:nvSpPr>
        <p:spPr bwMode="auto">
          <a:xfrm>
            <a:off x="1219200" y="4495800"/>
            <a:ext cx="7734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statoriques  produits par les courants rotoriques</a:t>
            </a:r>
          </a:p>
        </p:txBody>
      </p:sp>
      <p:sp>
        <p:nvSpPr>
          <p:cNvPr id="170002" name="Espace réservé du numéro de diapositive 2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446CF8-D662-479A-9763-9888ED7C286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34" grpId="0"/>
      <p:bldP spid="389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203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7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8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39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0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1" name="Rectangle 12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2042" name="Rectangle 1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40975" name="Object 15"/>
          <p:cNvGraphicFramePr>
            <a:graphicFrameLocks noChangeAspect="1"/>
          </p:cNvGraphicFramePr>
          <p:nvPr/>
        </p:nvGraphicFramePr>
        <p:xfrm>
          <a:off x="2286000" y="2735263"/>
          <a:ext cx="3287713" cy="117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88" name="Equation" r:id="rId6" imgW="1676400" imgH="596900" progId="Equation.3">
                  <p:embed/>
                </p:oleObj>
              </mc:Choice>
              <mc:Fallback>
                <p:oleObj name="Equation" r:id="rId6" imgW="1676400" imgH="596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735263"/>
                        <a:ext cx="3287713" cy="117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7"/>
          <p:cNvGraphicFramePr>
            <a:graphicFrameLocks noChangeAspect="1"/>
          </p:cNvGraphicFramePr>
          <p:nvPr/>
        </p:nvGraphicFramePr>
        <p:xfrm>
          <a:off x="2209800" y="5078413"/>
          <a:ext cx="3581400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89" name="Equation" r:id="rId8" imgW="1854200" imgH="622300" progId="Equation.3">
                  <p:embed/>
                </p:oleObj>
              </mc:Choice>
              <mc:Fallback>
                <p:oleObj name="Equation" r:id="rId8" imgW="1854200" imgH="6223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078413"/>
                        <a:ext cx="3581400" cy="1195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914400" y="2082800"/>
            <a:ext cx="7642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rotoriques  produits par les courants rotoriques</a:t>
            </a:r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914400" y="4368800"/>
            <a:ext cx="78279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Flux traversant les enroulements rotoriques  produits par les courants statoriques</a:t>
            </a:r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647700" y="1233488"/>
            <a:ext cx="7670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On peut raisonner d’une façon similaire pour formuler le flux au niveau du rotor:</a:t>
            </a:r>
          </a:p>
        </p:txBody>
      </p:sp>
      <p:sp>
        <p:nvSpPr>
          <p:cNvPr id="172048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56EB2E-A4DE-4F3E-A1D2-E6B446BD16D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8" grpId="0"/>
      <p:bldP spid="40979" grpId="0"/>
      <p:bldP spid="4098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408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7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89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0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1" name="Text Box 11"/>
          <p:cNvSpPr txBox="1">
            <a:spLocks noChangeArrowheads="1"/>
          </p:cNvSpPr>
          <p:nvPr/>
        </p:nvSpPr>
        <p:spPr bwMode="auto">
          <a:xfrm>
            <a:off x="762000" y="1295400"/>
            <a:ext cx="7826375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inductances propres se composent de l’inductance de magnétisation et  de l’inductance de fuites: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               </a:t>
            </a:r>
            <a:r>
              <a:rPr lang="en-GB" altLang="fr-FR" sz="1800">
                <a:latin typeface="Arial Narrow" panose="020B0606020202030204" pitchFamily="34" charset="0"/>
              </a:rPr>
              <a:t>L</a:t>
            </a:r>
            <a:r>
              <a:rPr lang="en-GB" altLang="fr-FR" sz="1800" baseline="-25000">
                <a:latin typeface="Arial Narrow" panose="020B0606020202030204" pitchFamily="34" charset="0"/>
              </a:rPr>
              <a:t>as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r>
              <a:rPr lang="en-GB" altLang="fr-FR" sz="1800">
                <a:latin typeface="Arial Narrow" panose="020B0606020202030204" pitchFamily="34" charset="0"/>
              </a:rPr>
              <a:t>	                       L</a:t>
            </a:r>
            <a:r>
              <a:rPr lang="en-GB" altLang="fr-FR" sz="1800" baseline="-25000">
                <a:latin typeface="Arial Narrow" panose="020B0606020202030204" pitchFamily="34" charset="0"/>
              </a:rPr>
              <a:t>bs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r>
              <a:rPr lang="en-GB" altLang="fr-FR" sz="1800">
                <a:latin typeface="Arial Narrow" panose="020B0606020202030204" pitchFamily="34" charset="0"/>
              </a:rPr>
              <a:t>	                   L</a:t>
            </a:r>
            <a:r>
              <a:rPr lang="en-GB" altLang="fr-FR" sz="1800" baseline="-25000">
                <a:latin typeface="Arial Narrow" panose="020B0606020202030204" pitchFamily="34" charset="0"/>
              </a:rPr>
              <a:t>cs</a:t>
            </a:r>
            <a:r>
              <a:rPr lang="en-GB" altLang="fr-FR" sz="1800">
                <a:latin typeface="Arial Narrow" panose="020B0606020202030204" pitchFamily="34" charset="0"/>
              </a:rPr>
              <a:t> = L</a:t>
            </a:r>
            <a:r>
              <a:rPr lang="en-GB" altLang="fr-FR" sz="1800" baseline="-25000">
                <a:latin typeface="Arial Narrow" panose="020B0606020202030204" pitchFamily="34" charset="0"/>
              </a:rPr>
              <a:t>ms</a:t>
            </a:r>
            <a:r>
              <a:rPr lang="en-GB" altLang="fr-FR" sz="1800">
                <a:latin typeface="Arial Narrow" panose="020B0606020202030204" pitchFamily="34" charset="0"/>
              </a:rPr>
              <a:t> + L</a:t>
            </a:r>
            <a:r>
              <a:rPr lang="en-GB" altLang="fr-FR" sz="1800" baseline="-25000">
                <a:latin typeface="Arial Narrow" panose="020B0606020202030204" pitchFamily="34" charset="0"/>
              </a:rPr>
              <a:t>ls</a:t>
            </a:r>
            <a:r>
              <a:rPr lang="en-US" altLang="fr-FR" sz="1800">
                <a:latin typeface="Arial Narrow" panose="020B0606020202030204" pitchFamily="34" charset="0"/>
              </a:rPr>
              <a:t/>
            </a:r>
            <a:br>
              <a:rPr lang="en-US" altLang="fr-FR" sz="1800">
                <a:latin typeface="Arial Narrow" panose="020B0606020202030204" pitchFamily="34" charset="0"/>
              </a:rPr>
            </a:br>
            <a:endParaRPr lang="en-US" altLang="fr-FR" sz="1800">
              <a:latin typeface="Arial Narrow" panose="020B0606020202030204" pitchFamily="34" charset="0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Les inductances mutuelles entre les phases statoriques (resp. les phases rotoriques) peuvent être exprimées en fonction des inductances de magnétisation:</a:t>
            </a:r>
          </a:p>
        </p:txBody>
      </p:sp>
      <p:sp>
        <p:nvSpPr>
          <p:cNvPr id="174092" name="Rectangle 12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4093" name="Rectangle 13"/>
          <p:cNvSpPr>
            <a:spLocks noChangeArrowheads="1"/>
          </p:cNvSpPr>
          <p:nvPr/>
        </p:nvSpPr>
        <p:spPr bwMode="auto">
          <a:xfrm>
            <a:off x="0" y="2952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74094" name="Object 14"/>
          <p:cNvGraphicFramePr>
            <a:graphicFrameLocks noChangeAspect="1"/>
          </p:cNvGraphicFramePr>
          <p:nvPr/>
        </p:nvGraphicFramePr>
        <p:xfrm>
          <a:off x="2347913" y="4224338"/>
          <a:ext cx="5838825" cy="234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6" name="Equation" r:id="rId6" imgW="2844800" imgH="1143000" progId="Equation.3">
                  <p:embed/>
                </p:oleObj>
              </mc:Choice>
              <mc:Fallback>
                <p:oleObj name="Equation" r:id="rId6" imgW="2844800" imgH="11430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7913" y="4224338"/>
                        <a:ext cx="5838825" cy="234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095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E17EE-8A15-4B59-9BDA-778643F4E7D9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613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5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6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7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6138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990600" y="1371600"/>
            <a:ext cx="7159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Les inductances mutuelles entre les enroulements statoriques et rotoriques dépendent de la </a:t>
            </a:r>
            <a:r>
              <a:rPr lang="en-US" altLang="fr-FR" sz="2400" b="1">
                <a:latin typeface="Arial Narrow" panose="020B0606020202030204" pitchFamily="34" charset="0"/>
              </a:rPr>
              <a:t>position du rotor:</a:t>
            </a:r>
            <a:endParaRPr lang="en-US" altLang="fr-FR" sz="2400">
              <a:latin typeface="Arial Narrow" panose="020B0606020202030204" pitchFamily="34" charset="0"/>
            </a:endParaRPr>
          </a:p>
        </p:txBody>
      </p:sp>
      <p:sp>
        <p:nvSpPr>
          <p:cNvPr id="176140" name="Rectangle 14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67597" name="Object 13"/>
          <p:cNvGraphicFramePr>
            <a:graphicFrameLocks noChangeAspect="1"/>
          </p:cNvGraphicFramePr>
          <p:nvPr/>
        </p:nvGraphicFramePr>
        <p:xfrm>
          <a:off x="755650" y="26003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4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003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2" name="Rectangle 16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67599" name="Object 15"/>
          <p:cNvGraphicFramePr>
            <a:graphicFrameLocks noChangeAspect="1"/>
          </p:cNvGraphicFramePr>
          <p:nvPr/>
        </p:nvGraphicFramePr>
        <p:xfrm>
          <a:off x="755650" y="4724400"/>
          <a:ext cx="71691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5" name="Equation" r:id="rId8" imgW="3327400" imgH="723900" progId="Equation.3">
                  <p:embed/>
                </p:oleObj>
              </mc:Choice>
              <mc:Fallback>
                <p:oleObj name="Equation" r:id="rId8" imgW="3327400" imgH="7239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724400"/>
                        <a:ext cx="7169150" cy="155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6144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A7773E-116D-462D-AE51-D23740D7CBE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7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7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9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78179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3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4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5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6" name="Rectangle 10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87" name="Rectangle 12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31085" name="Object 13"/>
          <p:cNvGraphicFramePr>
            <a:graphicFrameLocks noChangeAspect="1"/>
          </p:cNvGraphicFramePr>
          <p:nvPr/>
        </p:nvGraphicFramePr>
        <p:xfrm>
          <a:off x="755650" y="26003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11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6003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189" name="Rectangle 14"/>
          <p:cNvSpPr>
            <a:spLocks noChangeArrowheads="1"/>
          </p:cNvSpPr>
          <p:nvPr/>
        </p:nvSpPr>
        <p:spPr bwMode="auto">
          <a:xfrm>
            <a:off x="0" y="30813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78190" name="Espace réservé du numéro de diapositive 1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69A025-5E1C-465D-BF3E-98EB435C657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11111E-6 L -0.00052 -0.2252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10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1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Le modèle 3-phasé</a:t>
            </a:r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80228" name="Object 12"/>
          <p:cNvGraphicFramePr>
            <a:graphicFrameLocks noChangeAspect="1"/>
          </p:cNvGraphicFramePr>
          <p:nvPr/>
        </p:nvGraphicFramePr>
        <p:xfrm>
          <a:off x="755650" y="1089025"/>
          <a:ext cx="6921500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0335" name="Equation" r:id="rId6" imgW="3314700" imgH="723900" progId="Equation.3">
                  <p:embed/>
                </p:oleObj>
              </mc:Choice>
              <mc:Fallback>
                <p:oleObj name="Equation" r:id="rId6" imgW="3314700" imgH="723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89025"/>
                        <a:ext cx="6921500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0229" name="Oval 15"/>
          <p:cNvSpPr>
            <a:spLocks noChangeArrowheads="1"/>
          </p:cNvSpPr>
          <p:nvPr/>
        </p:nvSpPr>
        <p:spPr bwMode="auto">
          <a:xfrm>
            <a:off x="3094038" y="3378200"/>
            <a:ext cx="2255837" cy="2238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80230" name="Group 16"/>
          <p:cNvGrpSpPr>
            <a:grpSpLocks noChangeAspect="1"/>
          </p:cNvGrpSpPr>
          <p:nvPr/>
        </p:nvGrpSpPr>
        <p:grpSpPr bwMode="auto">
          <a:xfrm>
            <a:off x="5432425" y="4419600"/>
            <a:ext cx="1003300" cy="120650"/>
            <a:chOff x="7330" y="4360"/>
            <a:chExt cx="2490" cy="300"/>
          </a:xfrm>
        </p:grpSpPr>
        <p:sp>
          <p:nvSpPr>
            <p:cNvPr id="180308" name="Oval 17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9" name="Oval 18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0" name="Oval 19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1" name="Oval 20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2" name="Oval 21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3" name="Oval 22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14" name="Line 26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315" name="Line 27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31" name="Group 28"/>
          <p:cNvGrpSpPr>
            <a:grpSpLocks/>
          </p:cNvGrpSpPr>
          <p:nvPr/>
        </p:nvGrpSpPr>
        <p:grpSpPr bwMode="auto">
          <a:xfrm rot="3051185">
            <a:off x="2629694" y="3182144"/>
            <a:ext cx="1212850" cy="109538"/>
            <a:chOff x="7330" y="4360"/>
            <a:chExt cx="2490" cy="300"/>
          </a:xfrm>
        </p:grpSpPr>
        <p:sp>
          <p:nvSpPr>
            <p:cNvPr id="180300" name="Oval 29"/>
            <p:cNvSpPr>
              <a:spLocks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1" name="Oval 30"/>
            <p:cNvSpPr>
              <a:spLocks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2" name="Oval 31"/>
            <p:cNvSpPr>
              <a:spLocks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3" name="Oval 32"/>
            <p:cNvSpPr>
              <a:spLocks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4" name="Oval 33"/>
            <p:cNvSpPr>
              <a:spLocks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5" name="Oval 34"/>
            <p:cNvSpPr>
              <a:spLocks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306" name="Line 38"/>
            <p:cNvSpPr>
              <a:spLocks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307" name="Line 39"/>
            <p:cNvSpPr>
              <a:spLocks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32" name="Group 40"/>
          <p:cNvGrpSpPr>
            <a:grpSpLocks noChangeAspect="1"/>
          </p:cNvGrpSpPr>
          <p:nvPr/>
        </p:nvGrpSpPr>
        <p:grpSpPr bwMode="auto">
          <a:xfrm rot="-3471100">
            <a:off x="2697162" y="5918201"/>
            <a:ext cx="1154113" cy="138112"/>
            <a:chOff x="7330" y="4360"/>
            <a:chExt cx="2490" cy="300"/>
          </a:xfrm>
        </p:grpSpPr>
        <p:sp>
          <p:nvSpPr>
            <p:cNvPr id="180292" name="Oval 41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3" name="Oval 42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4" name="Oval 43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5" name="Oval 44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6" name="Oval 45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7" name="Oval 46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8" name="Line 50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99" name="Line 51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0233" name="Text Box 52"/>
          <p:cNvSpPr txBox="1">
            <a:spLocks noChangeArrowheads="1"/>
          </p:cNvSpPr>
          <p:nvPr/>
        </p:nvSpPr>
        <p:spPr bwMode="auto">
          <a:xfrm>
            <a:off x="3127375" y="2822575"/>
            <a:ext cx="94773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b</a:t>
            </a:r>
          </a:p>
        </p:txBody>
      </p:sp>
      <p:sp>
        <p:nvSpPr>
          <p:cNvPr id="180234" name="Text Box 53"/>
          <p:cNvSpPr txBox="1">
            <a:spLocks noChangeArrowheads="1"/>
          </p:cNvSpPr>
          <p:nvPr/>
        </p:nvSpPr>
        <p:spPr bwMode="auto">
          <a:xfrm>
            <a:off x="3290888" y="5932488"/>
            <a:ext cx="9144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c</a:t>
            </a:r>
          </a:p>
        </p:txBody>
      </p:sp>
      <p:sp>
        <p:nvSpPr>
          <p:cNvPr id="180235" name="Line 54"/>
          <p:cNvSpPr>
            <a:spLocks noChangeShapeType="1"/>
          </p:cNvSpPr>
          <p:nvPr/>
        </p:nvSpPr>
        <p:spPr bwMode="auto">
          <a:xfrm flipH="1">
            <a:off x="4267200" y="4476750"/>
            <a:ext cx="11747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6" name="Line 55"/>
          <p:cNvSpPr>
            <a:spLocks noChangeShapeType="1"/>
          </p:cNvSpPr>
          <p:nvPr/>
        </p:nvSpPr>
        <p:spPr bwMode="auto">
          <a:xfrm flipV="1">
            <a:off x="3484563" y="4495800"/>
            <a:ext cx="763587" cy="1158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7" name="Line 56"/>
          <p:cNvSpPr>
            <a:spLocks noChangeShapeType="1"/>
          </p:cNvSpPr>
          <p:nvPr/>
        </p:nvSpPr>
        <p:spPr bwMode="auto">
          <a:xfrm>
            <a:off x="3546475" y="3617913"/>
            <a:ext cx="712788" cy="8651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8" name="Line 57"/>
          <p:cNvSpPr>
            <a:spLocks noChangeShapeType="1"/>
          </p:cNvSpPr>
          <p:nvPr/>
        </p:nvSpPr>
        <p:spPr bwMode="auto">
          <a:xfrm>
            <a:off x="6364288" y="44799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39" name="Line 58"/>
          <p:cNvSpPr>
            <a:spLocks noChangeShapeType="1"/>
          </p:cNvSpPr>
          <p:nvPr/>
        </p:nvSpPr>
        <p:spPr bwMode="auto">
          <a:xfrm flipH="1" flipV="1">
            <a:off x="2770188" y="2673350"/>
            <a:ext cx="92075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0" name="Line 59"/>
          <p:cNvSpPr>
            <a:spLocks noChangeShapeType="1"/>
          </p:cNvSpPr>
          <p:nvPr/>
        </p:nvSpPr>
        <p:spPr bwMode="auto">
          <a:xfrm flipH="1">
            <a:off x="2941638" y="6391275"/>
            <a:ext cx="66675" cy="10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1" name="Line 60"/>
          <p:cNvSpPr>
            <a:spLocks noChangeShapeType="1"/>
          </p:cNvSpPr>
          <p:nvPr/>
        </p:nvSpPr>
        <p:spPr bwMode="auto">
          <a:xfrm>
            <a:off x="6389688" y="4479925"/>
            <a:ext cx="102393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42" name="Text Box 61"/>
          <p:cNvSpPr txBox="1">
            <a:spLocks noChangeArrowheads="1"/>
          </p:cNvSpPr>
          <p:nvPr/>
        </p:nvSpPr>
        <p:spPr bwMode="auto">
          <a:xfrm>
            <a:off x="5946775" y="4487863"/>
            <a:ext cx="94773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a</a:t>
            </a:r>
          </a:p>
        </p:txBody>
      </p:sp>
      <p:grpSp>
        <p:nvGrpSpPr>
          <p:cNvPr id="180243" name="Group 63"/>
          <p:cNvGrpSpPr>
            <a:grpSpLocks noChangeAspect="1"/>
          </p:cNvGrpSpPr>
          <p:nvPr/>
        </p:nvGrpSpPr>
        <p:grpSpPr bwMode="auto">
          <a:xfrm rot="-1377994">
            <a:off x="4564063" y="4213225"/>
            <a:ext cx="609600" cy="171450"/>
            <a:chOff x="7330" y="4360"/>
            <a:chExt cx="2490" cy="702"/>
          </a:xfrm>
        </p:grpSpPr>
        <p:sp>
          <p:nvSpPr>
            <p:cNvPr id="180281" name="Oval 64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2" name="Oval 65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3" name="Oval 66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4" name="Oval 67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5" name="Oval 68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6" name="Oval 69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7" name="Rectangle 70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8" name="Rectangle 71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89" name="Rectangle 72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90" name="Line 73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91" name="Line 74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44" name="Group 75"/>
          <p:cNvGrpSpPr>
            <a:grpSpLocks noChangeAspect="1"/>
          </p:cNvGrpSpPr>
          <p:nvPr/>
        </p:nvGrpSpPr>
        <p:grpSpPr bwMode="auto">
          <a:xfrm rot="1450097">
            <a:off x="3360738" y="4168775"/>
            <a:ext cx="608012" cy="171450"/>
            <a:chOff x="7330" y="4360"/>
            <a:chExt cx="2490" cy="702"/>
          </a:xfrm>
        </p:grpSpPr>
        <p:sp>
          <p:nvSpPr>
            <p:cNvPr id="180270" name="Oval 76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1" name="Oval 77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2" name="Oval 78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3" name="Oval 79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4" name="Oval 80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5" name="Oval 81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6" name="Rectangle 82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7" name="Rectangle 83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8" name="Rectangle 84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79" name="Line 85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80" name="Line 86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0245" name="Group 87"/>
          <p:cNvGrpSpPr>
            <a:grpSpLocks noChangeAspect="1"/>
          </p:cNvGrpSpPr>
          <p:nvPr/>
        </p:nvGrpSpPr>
        <p:grpSpPr bwMode="auto">
          <a:xfrm rot="-4849094">
            <a:off x="3898106" y="5015707"/>
            <a:ext cx="608013" cy="171450"/>
            <a:chOff x="7330" y="4360"/>
            <a:chExt cx="2490" cy="702"/>
          </a:xfrm>
        </p:grpSpPr>
        <p:sp>
          <p:nvSpPr>
            <p:cNvPr id="180259" name="Oval 88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0" name="Oval 89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1" name="Oval 90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2" name="Oval 91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3" name="Oval 92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4" name="Oval 93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5" name="Rectangle 94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6" name="Rectangle 95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7" name="Rectangle 96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0268" name="Line 97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0269" name="Line 98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0246" name="Text Box 99"/>
          <p:cNvSpPr txBox="1">
            <a:spLocks noChangeArrowheads="1"/>
          </p:cNvSpPr>
          <p:nvPr/>
        </p:nvSpPr>
        <p:spPr bwMode="auto">
          <a:xfrm>
            <a:off x="3152775" y="4233863"/>
            <a:ext cx="81438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b</a:t>
            </a:r>
          </a:p>
        </p:txBody>
      </p:sp>
      <p:sp>
        <p:nvSpPr>
          <p:cNvPr id="180247" name="Text Box 100"/>
          <p:cNvSpPr txBox="1">
            <a:spLocks noChangeArrowheads="1"/>
          </p:cNvSpPr>
          <p:nvPr/>
        </p:nvSpPr>
        <p:spPr bwMode="auto">
          <a:xfrm>
            <a:off x="4270375" y="3884613"/>
            <a:ext cx="10668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a</a:t>
            </a:r>
          </a:p>
        </p:txBody>
      </p:sp>
      <p:sp>
        <p:nvSpPr>
          <p:cNvPr id="180248" name="Text Box 101"/>
          <p:cNvSpPr txBox="1">
            <a:spLocks noChangeArrowheads="1"/>
          </p:cNvSpPr>
          <p:nvPr/>
        </p:nvSpPr>
        <p:spPr bwMode="auto">
          <a:xfrm>
            <a:off x="4117975" y="5103813"/>
            <a:ext cx="8143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c</a:t>
            </a:r>
          </a:p>
        </p:txBody>
      </p:sp>
      <p:sp>
        <p:nvSpPr>
          <p:cNvPr id="180249" name="Line 102"/>
          <p:cNvSpPr>
            <a:spLocks noChangeShapeType="1"/>
          </p:cNvSpPr>
          <p:nvPr/>
        </p:nvSpPr>
        <p:spPr bwMode="auto">
          <a:xfrm rot="-221867">
            <a:off x="3940175" y="4316413"/>
            <a:ext cx="301625" cy="185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0" name="Line 103"/>
          <p:cNvSpPr>
            <a:spLocks noChangeShapeType="1"/>
          </p:cNvSpPr>
          <p:nvPr/>
        </p:nvSpPr>
        <p:spPr bwMode="auto">
          <a:xfrm flipH="1">
            <a:off x="4249738" y="4367213"/>
            <a:ext cx="327025" cy="125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1" name="Line 104"/>
          <p:cNvSpPr>
            <a:spLocks noChangeShapeType="1"/>
          </p:cNvSpPr>
          <p:nvPr/>
        </p:nvSpPr>
        <p:spPr bwMode="auto">
          <a:xfrm flipV="1">
            <a:off x="4192588" y="4475163"/>
            <a:ext cx="66675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2" name="Line 105"/>
          <p:cNvSpPr>
            <a:spLocks noChangeAspect="1" noChangeShapeType="1"/>
          </p:cNvSpPr>
          <p:nvPr/>
        </p:nvSpPr>
        <p:spPr bwMode="auto">
          <a:xfrm flipV="1">
            <a:off x="5137150" y="3875088"/>
            <a:ext cx="581025" cy="25241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3" name="Freeform 106"/>
          <p:cNvSpPr>
            <a:spLocks/>
          </p:cNvSpPr>
          <p:nvPr/>
        </p:nvSpPr>
        <p:spPr bwMode="auto">
          <a:xfrm>
            <a:off x="5449888" y="3990975"/>
            <a:ext cx="115887" cy="479425"/>
          </a:xfrm>
          <a:custGeom>
            <a:avLst/>
            <a:gdLst>
              <a:gd name="T0" fmla="*/ 2147483646 w 183"/>
              <a:gd name="T1" fmla="*/ 2147483646 h 753"/>
              <a:gd name="T2" fmla="*/ 2147483646 w 183"/>
              <a:gd name="T3" fmla="*/ 2147483646 h 753"/>
              <a:gd name="T4" fmla="*/ 0 w 183"/>
              <a:gd name="T5" fmla="*/ 0 h 753"/>
              <a:gd name="T6" fmla="*/ 0 60000 65536"/>
              <a:gd name="T7" fmla="*/ 0 60000 65536"/>
              <a:gd name="T8" fmla="*/ 0 60000 65536"/>
              <a:gd name="T9" fmla="*/ 0 w 183"/>
              <a:gd name="T10" fmla="*/ 0 h 753"/>
              <a:gd name="T11" fmla="*/ 183 w 183"/>
              <a:gd name="T12" fmla="*/ 753 h 7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" h="753">
                <a:moveTo>
                  <a:pt x="146" y="753"/>
                </a:moveTo>
                <a:cubicBezTo>
                  <a:pt x="164" y="624"/>
                  <a:pt x="183" y="495"/>
                  <a:pt x="159" y="370"/>
                </a:cubicBezTo>
                <a:cubicBezTo>
                  <a:pt x="135" y="245"/>
                  <a:pt x="26" y="62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4" name="Text Box 107"/>
          <p:cNvSpPr txBox="1">
            <a:spLocks noChangeArrowheads="1"/>
          </p:cNvSpPr>
          <p:nvPr/>
        </p:nvSpPr>
        <p:spPr bwMode="auto">
          <a:xfrm>
            <a:off x="5475288" y="4092575"/>
            <a:ext cx="47783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Courier New" panose="02070309020205020404" pitchFamily="49" charset="0"/>
                <a:sym typeface="Symbol" panose="05050102010706020507" pitchFamily="18" charset="2"/>
              </a:rPr>
              <a:t></a:t>
            </a:r>
            <a:r>
              <a:rPr lang="en-US" altLang="fr-FR" sz="1600" baseline="-25000">
                <a:latin typeface="Courier New" panose="02070309020205020404" pitchFamily="49" charset="0"/>
              </a:rPr>
              <a:t>r</a:t>
            </a:r>
            <a:endParaRPr lang="en-US" altLang="fr-FR" sz="1600">
              <a:latin typeface="Times New Roman" panose="02020603050405020304" pitchFamily="18" charset="0"/>
            </a:endParaRPr>
          </a:p>
        </p:txBody>
      </p:sp>
      <p:sp>
        <p:nvSpPr>
          <p:cNvPr id="180255" name="Line 108"/>
          <p:cNvSpPr>
            <a:spLocks noChangeAspect="1" noChangeShapeType="1"/>
          </p:cNvSpPr>
          <p:nvPr/>
        </p:nvSpPr>
        <p:spPr bwMode="auto">
          <a:xfrm rot="13667718" flipV="1">
            <a:off x="2886869" y="3848894"/>
            <a:ext cx="581025" cy="2524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6" name="Line 109"/>
          <p:cNvSpPr>
            <a:spLocks noChangeAspect="1" noChangeShapeType="1"/>
          </p:cNvSpPr>
          <p:nvPr/>
        </p:nvSpPr>
        <p:spPr bwMode="auto">
          <a:xfrm rot="7384910" flipV="1">
            <a:off x="3753644" y="5563394"/>
            <a:ext cx="581025" cy="252413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0257" name="Espace réservé du numéro de diapositive 9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77BCC5-3E9D-4D78-A8A6-2AB64ABE977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93" name="Espace réservé du pied de page 9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227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24937" name="Text Box 9"/>
          <p:cNvSpPr txBox="1">
            <a:spLocks noChangeArrowheads="1"/>
          </p:cNvSpPr>
          <p:nvPr/>
        </p:nvSpPr>
        <p:spPr bwMode="auto">
          <a:xfrm>
            <a:off x="914400" y="1143000"/>
            <a:ext cx="77104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Il est plus facile d’étudier la dynamique de la MAS en considérant son modèle </a:t>
            </a:r>
            <a:r>
              <a:rPr lang="en-US" altLang="fr-FR" sz="2400" b="1">
                <a:latin typeface="Arial Narrow" panose="020B0606020202030204" pitchFamily="34" charset="0"/>
              </a:rPr>
              <a:t>biphasé</a:t>
            </a:r>
            <a:r>
              <a:rPr lang="en-US" altLang="fr-FR" sz="2400">
                <a:latin typeface="Arial Narrow" panose="020B0606020202030204" pitchFamily="34" charset="0"/>
              </a:rPr>
              <a:t>. Celui-ci peut être construit à partir du modèle 3-phasé utilisant la </a:t>
            </a:r>
            <a:r>
              <a:rPr lang="en-US" altLang="fr-FR" sz="2400" b="1">
                <a:latin typeface="Arial Narrow" panose="020B0606020202030204" pitchFamily="34" charset="0"/>
              </a:rPr>
              <a:t>transformation de Park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None/>
            </a:pPr>
            <a:endParaRPr lang="en-US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83"/>
          <p:cNvGrpSpPr>
            <a:grpSpLocks/>
          </p:cNvGrpSpPr>
          <p:nvPr/>
        </p:nvGrpSpPr>
        <p:grpSpPr bwMode="auto">
          <a:xfrm>
            <a:off x="762000" y="2473325"/>
            <a:ext cx="3962400" cy="3921125"/>
            <a:chOff x="480" y="1558"/>
            <a:chExt cx="2496" cy="2470"/>
          </a:xfrm>
        </p:grpSpPr>
        <p:sp>
          <p:nvSpPr>
            <p:cNvPr id="182307" name="Line 96"/>
            <p:cNvSpPr>
              <a:spLocks noChangeShapeType="1"/>
            </p:cNvSpPr>
            <p:nvPr/>
          </p:nvSpPr>
          <p:spPr bwMode="auto">
            <a:xfrm flipH="1">
              <a:off x="588" y="3930"/>
              <a:ext cx="42" cy="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2308" name="Group 181"/>
            <p:cNvGrpSpPr>
              <a:grpSpLocks/>
            </p:cNvGrpSpPr>
            <p:nvPr/>
          </p:nvGrpSpPr>
          <p:grpSpPr bwMode="auto">
            <a:xfrm>
              <a:off x="480" y="1558"/>
              <a:ext cx="2496" cy="2470"/>
              <a:chOff x="480" y="1563"/>
              <a:chExt cx="2496" cy="2470"/>
            </a:xfrm>
          </p:grpSpPr>
          <p:grpSp>
            <p:nvGrpSpPr>
              <p:cNvPr id="182309" name="Group 11"/>
              <p:cNvGrpSpPr>
                <a:grpSpLocks noChangeAspect="1"/>
              </p:cNvGrpSpPr>
              <p:nvPr/>
            </p:nvGrpSpPr>
            <p:grpSpPr bwMode="auto">
              <a:xfrm>
                <a:off x="2157" y="2687"/>
                <a:ext cx="632" cy="76"/>
                <a:chOff x="7330" y="4360"/>
                <a:chExt cx="2490" cy="300"/>
              </a:xfrm>
            </p:grpSpPr>
            <p:sp>
              <p:nvSpPr>
                <p:cNvPr id="182334" name="Oval 1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5" name="Oval 1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6" name="Oval 1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7" name="Oval 1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8" name="Oval 1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9" name="Oval 1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40" name="Line 2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41" name="Line 2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2310" name="Group 23"/>
              <p:cNvGrpSpPr>
                <a:grpSpLocks/>
              </p:cNvGrpSpPr>
              <p:nvPr/>
            </p:nvGrpSpPr>
            <p:grpSpPr bwMode="auto">
              <a:xfrm rot="3051185">
                <a:off x="388" y="1910"/>
                <a:ext cx="764" cy="70"/>
                <a:chOff x="7330" y="4360"/>
                <a:chExt cx="2490" cy="300"/>
              </a:xfrm>
            </p:grpSpPr>
            <p:sp>
              <p:nvSpPr>
                <p:cNvPr id="182326" name="Oval 24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7" name="Oval 25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8" name="Oval 26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9" name="Oval 27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0" name="Oval 28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1" name="Oval 29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32" name="Line 33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33" name="Line 34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2311" name="Group 35"/>
              <p:cNvGrpSpPr>
                <a:grpSpLocks noChangeAspect="1"/>
              </p:cNvGrpSpPr>
              <p:nvPr/>
            </p:nvGrpSpPr>
            <p:grpSpPr bwMode="auto">
              <a:xfrm rot="-3471100">
                <a:off x="426" y="3626"/>
                <a:ext cx="727" cy="87"/>
                <a:chOff x="7330" y="4360"/>
                <a:chExt cx="2490" cy="300"/>
              </a:xfrm>
            </p:grpSpPr>
            <p:sp>
              <p:nvSpPr>
                <p:cNvPr id="182318" name="Oval 36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19" name="Oval 37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0" name="Oval 38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1" name="Oval 39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2" name="Oval 40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3" name="Oval 41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2324" name="Line 45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2325" name="Line 46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2312" name="Line 91"/>
              <p:cNvSpPr>
                <a:spLocks noChangeShapeType="1"/>
              </p:cNvSpPr>
              <p:nvPr/>
            </p:nvSpPr>
            <p:spPr bwMode="auto">
              <a:xfrm flipH="1">
                <a:off x="1423" y="2724"/>
                <a:ext cx="7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3" name="Line 92"/>
              <p:cNvSpPr>
                <a:spLocks noChangeShapeType="1"/>
              </p:cNvSpPr>
              <p:nvPr/>
            </p:nvSpPr>
            <p:spPr bwMode="auto">
              <a:xfrm flipV="1">
                <a:off x="930" y="2736"/>
                <a:ext cx="481" cy="7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4" name="Line 93"/>
              <p:cNvSpPr>
                <a:spLocks noChangeShapeType="1"/>
              </p:cNvSpPr>
              <p:nvPr/>
            </p:nvSpPr>
            <p:spPr bwMode="auto">
              <a:xfrm>
                <a:off x="969" y="2183"/>
                <a:ext cx="449" cy="54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5" name="Line 94"/>
              <p:cNvSpPr>
                <a:spLocks noChangeShapeType="1"/>
              </p:cNvSpPr>
              <p:nvPr/>
            </p:nvSpPr>
            <p:spPr bwMode="auto">
              <a:xfrm>
                <a:off x="2744" y="2726"/>
                <a:ext cx="12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6" name="Line 95"/>
              <p:cNvSpPr>
                <a:spLocks noChangeShapeType="1"/>
              </p:cNvSpPr>
              <p:nvPr/>
            </p:nvSpPr>
            <p:spPr bwMode="auto">
              <a:xfrm flipH="1" flipV="1">
                <a:off x="480" y="1588"/>
                <a:ext cx="58" cy="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17" name="Line 98"/>
              <p:cNvSpPr>
                <a:spLocks noChangeShapeType="1"/>
              </p:cNvSpPr>
              <p:nvPr/>
            </p:nvSpPr>
            <p:spPr bwMode="auto">
              <a:xfrm>
                <a:off x="2760" y="2726"/>
                <a:ext cx="216" cy="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25037" name="Text Box 109"/>
          <p:cNvSpPr txBox="1">
            <a:spLocks noChangeArrowheads="1"/>
          </p:cNvSpPr>
          <p:nvPr/>
        </p:nvSpPr>
        <p:spPr bwMode="auto">
          <a:xfrm>
            <a:off x="2339975" y="2708275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3-phase</a:t>
            </a:r>
          </a:p>
        </p:txBody>
      </p:sp>
      <p:grpSp>
        <p:nvGrpSpPr>
          <p:cNvPr id="7" name="Group 182"/>
          <p:cNvGrpSpPr>
            <a:grpSpLocks/>
          </p:cNvGrpSpPr>
          <p:nvPr/>
        </p:nvGrpSpPr>
        <p:grpSpPr bwMode="auto">
          <a:xfrm>
            <a:off x="5994400" y="2286000"/>
            <a:ext cx="2430463" cy="2189163"/>
            <a:chOff x="3784" y="1440"/>
            <a:chExt cx="1531" cy="1379"/>
          </a:xfrm>
        </p:grpSpPr>
        <p:sp>
          <p:nvSpPr>
            <p:cNvPr id="182285" name="Line 101"/>
            <p:cNvSpPr>
              <a:spLocks noChangeShapeType="1"/>
            </p:cNvSpPr>
            <p:nvPr/>
          </p:nvSpPr>
          <p:spPr bwMode="auto">
            <a:xfrm>
              <a:off x="5193" y="2782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2286" name="Group 113"/>
            <p:cNvGrpSpPr>
              <a:grpSpLocks noChangeAspect="1"/>
            </p:cNvGrpSpPr>
            <p:nvPr/>
          </p:nvGrpSpPr>
          <p:grpSpPr bwMode="auto">
            <a:xfrm>
              <a:off x="4549" y="2743"/>
              <a:ext cx="632" cy="76"/>
              <a:chOff x="7330" y="4360"/>
              <a:chExt cx="2490" cy="300"/>
            </a:xfrm>
          </p:grpSpPr>
          <p:sp>
            <p:nvSpPr>
              <p:cNvPr id="182299" name="Oval 1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0" name="Oval 1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1" name="Oval 1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2" name="Oval 1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3" name="Oval 1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4" name="Oval 1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305" name="Line 1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306" name="Line 1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82287" name="Group 125"/>
            <p:cNvGrpSpPr>
              <a:grpSpLocks/>
            </p:cNvGrpSpPr>
            <p:nvPr/>
          </p:nvGrpSpPr>
          <p:grpSpPr bwMode="auto">
            <a:xfrm rot="5400000">
              <a:off x="3437" y="1983"/>
              <a:ext cx="764" cy="70"/>
              <a:chOff x="7330" y="4360"/>
              <a:chExt cx="2490" cy="300"/>
            </a:xfrm>
          </p:grpSpPr>
          <p:sp>
            <p:nvSpPr>
              <p:cNvPr id="182291" name="Oval 126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2" name="Oval 127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3" name="Oval 128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4" name="Oval 129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5" name="Oval 130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6" name="Oval 131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2297" name="Line 135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2298" name="Line 136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2288" name="Line 153"/>
            <p:cNvSpPr>
              <a:spLocks noChangeShapeType="1"/>
            </p:cNvSpPr>
            <p:nvPr/>
          </p:nvSpPr>
          <p:spPr bwMode="auto">
            <a:xfrm flipH="1">
              <a:off x="3800" y="2780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289" name="Line 154"/>
            <p:cNvSpPr>
              <a:spLocks noChangeShapeType="1"/>
            </p:cNvSpPr>
            <p:nvPr/>
          </p:nvSpPr>
          <p:spPr bwMode="auto">
            <a:xfrm flipH="1">
              <a:off x="3818" y="2308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2290" name="Line 155"/>
            <p:cNvSpPr>
              <a:spLocks noChangeShapeType="1"/>
            </p:cNvSpPr>
            <p:nvPr/>
          </p:nvSpPr>
          <p:spPr bwMode="auto">
            <a:xfrm flipH="1" flipV="1">
              <a:off x="3824" y="1440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5106" name="Text Box 178"/>
          <p:cNvSpPr txBox="1">
            <a:spLocks noChangeArrowheads="1"/>
          </p:cNvSpPr>
          <p:nvPr/>
        </p:nvSpPr>
        <p:spPr bwMode="auto">
          <a:xfrm>
            <a:off x="6443663" y="2600325"/>
            <a:ext cx="10064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2-phase </a:t>
            </a:r>
            <a:r>
              <a:rPr lang="en-US" altLang="fr-FR" sz="180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125107" name="Text Box 179"/>
          <p:cNvSpPr txBox="1">
            <a:spLocks noChangeArrowheads="1"/>
          </p:cNvSpPr>
          <p:nvPr/>
        </p:nvSpPr>
        <p:spPr bwMode="auto">
          <a:xfrm>
            <a:off x="1887538" y="5245100"/>
            <a:ext cx="254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Il y a un couplage magnétique entre phases</a:t>
            </a:r>
          </a:p>
        </p:txBody>
      </p:sp>
      <p:sp>
        <p:nvSpPr>
          <p:cNvPr id="125108" name="Text Box 180"/>
          <p:cNvSpPr txBox="1">
            <a:spLocks noChangeArrowheads="1"/>
          </p:cNvSpPr>
          <p:nvPr/>
        </p:nvSpPr>
        <p:spPr bwMode="auto">
          <a:xfrm>
            <a:off x="5688013" y="5229225"/>
            <a:ext cx="2540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Il </a:t>
            </a:r>
            <a:r>
              <a:rPr lang="en-US" altLang="fr-FR" sz="1800" b="1">
                <a:latin typeface="Arial Narrow" panose="020B0606020202030204" pitchFamily="34" charset="0"/>
              </a:rPr>
              <a:t>n’</a:t>
            </a:r>
            <a:r>
              <a:rPr lang="en-US" altLang="fr-FR" sz="1800">
                <a:latin typeface="Arial Narrow" panose="020B0606020202030204" pitchFamily="34" charset="0"/>
              </a:rPr>
              <a:t>y a pas de couplage magnétique entre phases</a:t>
            </a:r>
          </a:p>
        </p:txBody>
      </p:sp>
      <p:sp>
        <p:nvSpPr>
          <p:cNvPr id="182283" name="Espace réservé du numéro de diapositive 6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3DDCB7-484F-4D4E-8CB0-61A465ACB01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1" name="Espace réservé du pied de page 7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5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5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7" grpId="0"/>
      <p:bldP spid="125037" grpId="0"/>
      <p:bldP spid="125106" grpId="0"/>
      <p:bldP spid="125107" grpId="0"/>
      <p:bldP spid="12510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432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4329" name="Oval 10"/>
          <p:cNvSpPr>
            <a:spLocks noChangeArrowheads="1"/>
          </p:cNvSpPr>
          <p:nvPr/>
        </p:nvSpPr>
        <p:spPr bwMode="auto">
          <a:xfrm>
            <a:off x="1085850" y="3225800"/>
            <a:ext cx="2255838" cy="2238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84330" name="Group 11"/>
          <p:cNvGrpSpPr>
            <a:grpSpLocks noChangeAspect="1"/>
          </p:cNvGrpSpPr>
          <p:nvPr/>
        </p:nvGrpSpPr>
        <p:grpSpPr bwMode="auto">
          <a:xfrm>
            <a:off x="3424238" y="4267200"/>
            <a:ext cx="1003300" cy="177800"/>
            <a:chOff x="7330" y="4360"/>
            <a:chExt cx="2490" cy="440"/>
          </a:xfrm>
        </p:grpSpPr>
        <p:sp>
          <p:nvSpPr>
            <p:cNvPr id="184479" name="Oval 12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0" name="Oval 13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1" name="Oval 14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2" name="Oval 15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3" name="Oval 16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4" name="Oval 17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5" name="Rectangle 20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86" name="Line 21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87" name="Line 22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1" name="Group 23"/>
          <p:cNvGrpSpPr>
            <a:grpSpLocks/>
          </p:cNvGrpSpPr>
          <p:nvPr/>
        </p:nvGrpSpPr>
        <p:grpSpPr bwMode="auto">
          <a:xfrm rot="3051185">
            <a:off x="621507" y="3029744"/>
            <a:ext cx="1212850" cy="109537"/>
            <a:chOff x="7330" y="4360"/>
            <a:chExt cx="2490" cy="300"/>
          </a:xfrm>
        </p:grpSpPr>
        <p:sp>
          <p:nvSpPr>
            <p:cNvPr id="184471" name="Oval 24"/>
            <p:cNvSpPr>
              <a:spLocks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2" name="Oval 25"/>
            <p:cNvSpPr>
              <a:spLocks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3" name="Oval 26"/>
            <p:cNvSpPr>
              <a:spLocks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4" name="Oval 27"/>
            <p:cNvSpPr>
              <a:spLocks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5" name="Oval 28"/>
            <p:cNvSpPr>
              <a:spLocks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6" name="Oval 29"/>
            <p:cNvSpPr>
              <a:spLocks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77" name="Line 33"/>
            <p:cNvSpPr>
              <a:spLocks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78" name="Line 34"/>
            <p:cNvSpPr>
              <a:spLocks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2" name="Group 35"/>
          <p:cNvGrpSpPr>
            <a:grpSpLocks noChangeAspect="1"/>
          </p:cNvGrpSpPr>
          <p:nvPr/>
        </p:nvGrpSpPr>
        <p:grpSpPr bwMode="auto">
          <a:xfrm rot="-3471100">
            <a:off x="688975" y="5765800"/>
            <a:ext cx="1154113" cy="138113"/>
            <a:chOff x="7330" y="4360"/>
            <a:chExt cx="2490" cy="300"/>
          </a:xfrm>
        </p:grpSpPr>
        <p:sp>
          <p:nvSpPr>
            <p:cNvPr id="184463" name="Oval 36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4" name="Oval 37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5" name="Oval 38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6" name="Oval 39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7" name="Oval 40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8" name="Oval 41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9" name="Line 45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70" name="Line 46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33" name="Text Box 47"/>
          <p:cNvSpPr txBox="1">
            <a:spLocks noChangeArrowheads="1"/>
          </p:cNvSpPr>
          <p:nvPr/>
        </p:nvSpPr>
        <p:spPr bwMode="auto">
          <a:xfrm>
            <a:off x="1119188" y="2670175"/>
            <a:ext cx="9477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b</a:t>
            </a:r>
          </a:p>
        </p:txBody>
      </p:sp>
      <p:grpSp>
        <p:nvGrpSpPr>
          <p:cNvPr id="184334" name="Group 48"/>
          <p:cNvGrpSpPr>
            <a:grpSpLocks noChangeAspect="1"/>
          </p:cNvGrpSpPr>
          <p:nvPr/>
        </p:nvGrpSpPr>
        <p:grpSpPr bwMode="auto">
          <a:xfrm rot="-1377994">
            <a:off x="2555875" y="4060825"/>
            <a:ext cx="609600" cy="171450"/>
            <a:chOff x="7330" y="4360"/>
            <a:chExt cx="2490" cy="702"/>
          </a:xfrm>
        </p:grpSpPr>
        <p:sp>
          <p:nvSpPr>
            <p:cNvPr id="184452" name="Oval 49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3" name="Oval 50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4" name="Oval 51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5" name="Oval 52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6" name="Oval 53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7" name="Oval 54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8" name="Rectangle 55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9" name="Rectangle 56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0" name="Rectangle 57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61" name="Line 58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62" name="Line 59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5" name="Group 60"/>
          <p:cNvGrpSpPr>
            <a:grpSpLocks noChangeAspect="1"/>
          </p:cNvGrpSpPr>
          <p:nvPr/>
        </p:nvGrpSpPr>
        <p:grpSpPr bwMode="auto">
          <a:xfrm rot="1450097">
            <a:off x="1352550" y="4016375"/>
            <a:ext cx="608013" cy="171450"/>
            <a:chOff x="7330" y="4360"/>
            <a:chExt cx="2490" cy="702"/>
          </a:xfrm>
        </p:grpSpPr>
        <p:sp>
          <p:nvSpPr>
            <p:cNvPr id="184441" name="Oval 61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2" name="Oval 62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3" name="Oval 63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4" name="Oval 64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5" name="Oval 65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6" name="Oval 66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7" name="Rectangle 67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8" name="Rectangle 68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49" name="Rectangle 69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50" name="Line 70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51" name="Line 71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84336" name="Group 72"/>
          <p:cNvGrpSpPr>
            <a:grpSpLocks noChangeAspect="1"/>
          </p:cNvGrpSpPr>
          <p:nvPr/>
        </p:nvGrpSpPr>
        <p:grpSpPr bwMode="auto">
          <a:xfrm rot="-4849094">
            <a:off x="1889918" y="4863307"/>
            <a:ext cx="608013" cy="171450"/>
            <a:chOff x="7330" y="4360"/>
            <a:chExt cx="2490" cy="702"/>
          </a:xfrm>
        </p:grpSpPr>
        <p:sp>
          <p:nvSpPr>
            <p:cNvPr id="184430" name="Oval 73"/>
            <p:cNvSpPr>
              <a:spLocks noChangeAspect="1" noChangeArrowheads="1"/>
            </p:cNvSpPr>
            <p:nvPr/>
          </p:nvSpPr>
          <p:spPr bwMode="auto">
            <a:xfrm>
              <a:off x="792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1" name="Oval 74"/>
            <p:cNvSpPr>
              <a:spLocks noChangeAspect="1" noChangeArrowheads="1"/>
            </p:cNvSpPr>
            <p:nvPr/>
          </p:nvSpPr>
          <p:spPr bwMode="auto">
            <a:xfrm>
              <a:off x="8112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2" name="Oval 75"/>
            <p:cNvSpPr>
              <a:spLocks noChangeAspect="1" noChangeArrowheads="1"/>
            </p:cNvSpPr>
            <p:nvPr/>
          </p:nvSpPr>
          <p:spPr bwMode="auto">
            <a:xfrm>
              <a:off x="8297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3" name="Oval 76"/>
            <p:cNvSpPr>
              <a:spLocks noChangeAspect="1" noChangeArrowheads="1"/>
            </p:cNvSpPr>
            <p:nvPr/>
          </p:nvSpPr>
          <p:spPr bwMode="auto">
            <a:xfrm>
              <a:off x="8481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4" name="Oval 77"/>
            <p:cNvSpPr>
              <a:spLocks noChangeAspect="1" noChangeArrowheads="1"/>
            </p:cNvSpPr>
            <p:nvPr/>
          </p:nvSpPr>
          <p:spPr bwMode="auto">
            <a:xfrm>
              <a:off x="8693" y="437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5" name="Oval 78"/>
            <p:cNvSpPr>
              <a:spLocks noChangeAspect="1" noChangeArrowheads="1"/>
            </p:cNvSpPr>
            <p:nvPr/>
          </p:nvSpPr>
          <p:spPr bwMode="auto">
            <a:xfrm>
              <a:off x="8878" y="4360"/>
              <a:ext cx="303" cy="29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6" name="Rectangle 79"/>
            <p:cNvSpPr>
              <a:spLocks noChangeAspect="1" noChangeArrowheads="1"/>
            </p:cNvSpPr>
            <p:nvPr/>
          </p:nvSpPr>
          <p:spPr bwMode="auto">
            <a:xfrm>
              <a:off x="7900" y="4626"/>
              <a:ext cx="1321" cy="4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7" name="Rectangle 80"/>
            <p:cNvSpPr>
              <a:spLocks noChangeAspect="1" noChangeArrowheads="1"/>
            </p:cNvSpPr>
            <p:nvPr/>
          </p:nvSpPr>
          <p:spPr bwMode="auto">
            <a:xfrm>
              <a:off x="77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8" name="Rectangle 81"/>
            <p:cNvSpPr>
              <a:spLocks noChangeAspect="1" noChangeArrowheads="1"/>
            </p:cNvSpPr>
            <p:nvPr/>
          </p:nvSpPr>
          <p:spPr bwMode="auto">
            <a:xfrm>
              <a:off x="9080" y="4510"/>
              <a:ext cx="280" cy="2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439" name="Line 82"/>
            <p:cNvSpPr>
              <a:spLocks noChangeAspect="1" noChangeShapeType="1"/>
            </p:cNvSpPr>
            <p:nvPr/>
          </p:nvSpPr>
          <p:spPr bwMode="auto">
            <a:xfrm>
              <a:off x="7330" y="450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440" name="Line 83"/>
            <p:cNvSpPr>
              <a:spLocks noChangeAspect="1" noChangeShapeType="1"/>
            </p:cNvSpPr>
            <p:nvPr/>
          </p:nvSpPr>
          <p:spPr bwMode="auto">
            <a:xfrm>
              <a:off x="9190" y="4510"/>
              <a:ext cx="6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84337" name="Text Box 84"/>
          <p:cNvSpPr txBox="1">
            <a:spLocks noChangeArrowheads="1"/>
          </p:cNvSpPr>
          <p:nvPr/>
        </p:nvSpPr>
        <p:spPr bwMode="auto">
          <a:xfrm>
            <a:off x="1144588" y="4081463"/>
            <a:ext cx="608012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200">
                <a:latin typeface="Arial Narrow" panose="020B0606020202030204" pitchFamily="34" charset="0"/>
              </a:rPr>
              <a:t>rotor, b</a:t>
            </a:r>
          </a:p>
        </p:txBody>
      </p:sp>
      <p:sp>
        <p:nvSpPr>
          <p:cNvPr id="184338" name="Text Box 85"/>
          <p:cNvSpPr txBox="1">
            <a:spLocks noChangeArrowheads="1"/>
          </p:cNvSpPr>
          <p:nvPr/>
        </p:nvSpPr>
        <p:spPr bwMode="auto">
          <a:xfrm>
            <a:off x="2438400" y="3740150"/>
            <a:ext cx="63341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200">
                <a:latin typeface="Arial Narrow" panose="020B0606020202030204" pitchFamily="34" charset="0"/>
              </a:rPr>
              <a:t>rotor, a</a:t>
            </a:r>
          </a:p>
        </p:txBody>
      </p:sp>
      <p:sp>
        <p:nvSpPr>
          <p:cNvPr id="184339" name="Text Box 86"/>
          <p:cNvSpPr txBox="1">
            <a:spLocks noChangeArrowheads="1"/>
          </p:cNvSpPr>
          <p:nvPr/>
        </p:nvSpPr>
        <p:spPr bwMode="auto">
          <a:xfrm>
            <a:off x="2109788" y="4951413"/>
            <a:ext cx="81438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rotor, c</a:t>
            </a:r>
          </a:p>
        </p:txBody>
      </p:sp>
      <p:sp>
        <p:nvSpPr>
          <p:cNvPr id="184340" name="Text Box 87"/>
          <p:cNvSpPr txBox="1">
            <a:spLocks noChangeArrowheads="1"/>
          </p:cNvSpPr>
          <p:nvPr/>
        </p:nvSpPr>
        <p:spPr bwMode="auto">
          <a:xfrm>
            <a:off x="1282700" y="5780088"/>
            <a:ext cx="914400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c</a:t>
            </a:r>
          </a:p>
        </p:txBody>
      </p:sp>
      <p:sp>
        <p:nvSpPr>
          <p:cNvPr id="184341" name="Line 88"/>
          <p:cNvSpPr>
            <a:spLocks noChangeShapeType="1"/>
          </p:cNvSpPr>
          <p:nvPr/>
        </p:nvSpPr>
        <p:spPr bwMode="auto">
          <a:xfrm rot="-221867">
            <a:off x="1931988" y="4164013"/>
            <a:ext cx="301625" cy="1857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2" name="Line 89"/>
          <p:cNvSpPr>
            <a:spLocks noChangeShapeType="1"/>
          </p:cNvSpPr>
          <p:nvPr/>
        </p:nvSpPr>
        <p:spPr bwMode="auto">
          <a:xfrm flipH="1">
            <a:off x="2241550" y="4214813"/>
            <a:ext cx="327025" cy="1254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3" name="Line 90"/>
          <p:cNvSpPr>
            <a:spLocks noChangeShapeType="1"/>
          </p:cNvSpPr>
          <p:nvPr/>
        </p:nvSpPr>
        <p:spPr bwMode="auto">
          <a:xfrm flipV="1">
            <a:off x="2184400" y="4322763"/>
            <a:ext cx="66675" cy="37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4" name="Line 91"/>
          <p:cNvSpPr>
            <a:spLocks noChangeShapeType="1"/>
          </p:cNvSpPr>
          <p:nvPr/>
        </p:nvSpPr>
        <p:spPr bwMode="auto">
          <a:xfrm flipH="1">
            <a:off x="2259013" y="4324350"/>
            <a:ext cx="11747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5" name="Line 92"/>
          <p:cNvSpPr>
            <a:spLocks noChangeShapeType="1"/>
          </p:cNvSpPr>
          <p:nvPr/>
        </p:nvSpPr>
        <p:spPr bwMode="auto">
          <a:xfrm flipV="1">
            <a:off x="1476375" y="4343400"/>
            <a:ext cx="763588" cy="11588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6" name="Line 93"/>
          <p:cNvSpPr>
            <a:spLocks noChangeShapeType="1"/>
          </p:cNvSpPr>
          <p:nvPr/>
        </p:nvSpPr>
        <p:spPr bwMode="auto">
          <a:xfrm>
            <a:off x="1538288" y="3465513"/>
            <a:ext cx="712787" cy="865187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7" name="Line 94"/>
          <p:cNvSpPr>
            <a:spLocks noChangeShapeType="1"/>
          </p:cNvSpPr>
          <p:nvPr/>
        </p:nvSpPr>
        <p:spPr bwMode="auto">
          <a:xfrm>
            <a:off x="4356100" y="43275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8" name="Line 95"/>
          <p:cNvSpPr>
            <a:spLocks noChangeShapeType="1"/>
          </p:cNvSpPr>
          <p:nvPr/>
        </p:nvSpPr>
        <p:spPr bwMode="auto">
          <a:xfrm flipH="1" flipV="1">
            <a:off x="762000" y="2520950"/>
            <a:ext cx="92075" cy="1000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49" name="Line 96"/>
          <p:cNvSpPr>
            <a:spLocks noChangeShapeType="1"/>
          </p:cNvSpPr>
          <p:nvPr/>
        </p:nvSpPr>
        <p:spPr bwMode="auto">
          <a:xfrm flipH="1">
            <a:off x="933450" y="6238875"/>
            <a:ext cx="66675" cy="101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0" name="Line 97"/>
          <p:cNvSpPr>
            <a:spLocks noChangeAspect="1" noChangeShapeType="1"/>
          </p:cNvSpPr>
          <p:nvPr/>
        </p:nvSpPr>
        <p:spPr bwMode="auto">
          <a:xfrm flipV="1">
            <a:off x="3128963" y="3430588"/>
            <a:ext cx="1252537" cy="544512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1" name="Line 98"/>
          <p:cNvSpPr>
            <a:spLocks noChangeShapeType="1"/>
          </p:cNvSpPr>
          <p:nvPr/>
        </p:nvSpPr>
        <p:spPr bwMode="auto">
          <a:xfrm>
            <a:off x="4381500" y="4327525"/>
            <a:ext cx="34290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2" name="Freeform 99"/>
          <p:cNvSpPr>
            <a:spLocks/>
          </p:cNvSpPr>
          <p:nvPr/>
        </p:nvSpPr>
        <p:spPr bwMode="auto">
          <a:xfrm>
            <a:off x="3441700" y="3838575"/>
            <a:ext cx="115888" cy="479425"/>
          </a:xfrm>
          <a:custGeom>
            <a:avLst/>
            <a:gdLst>
              <a:gd name="T0" fmla="*/ 2147483646 w 183"/>
              <a:gd name="T1" fmla="*/ 2147483646 h 753"/>
              <a:gd name="T2" fmla="*/ 2147483646 w 183"/>
              <a:gd name="T3" fmla="*/ 2147483646 h 753"/>
              <a:gd name="T4" fmla="*/ 0 w 183"/>
              <a:gd name="T5" fmla="*/ 0 h 753"/>
              <a:gd name="T6" fmla="*/ 0 60000 65536"/>
              <a:gd name="T7" fmla="*/ 0 60000 65536"/>
              <a:gd name="T8" fmla="*/ 0 60000 65536"/>
              <a:gd name="T9" fmla="*/ 0 w 183"/>
              <a:gd name="T10" fmla="*/ 0 h 753"/>
              <a:gd name="T11" fmla="*/ 183 w 183"/>
              <a:gd name="T12" fmla="*/ 753 h 7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3" h="753">
                <a:moveTo>
                  <a:pt x="146" y="753"/>
                </a:moveTo>
                <a:cubicBezTo>
                  <a:pt x="164" y="624"/>
                  <a:pt x="183" y="495"/>
                  <a:pt x="159" y="370"/>
                </a:cubicBezTo>
                <a:cubicBezTo>
                  <a:pt x="135" y="245"/>
                  <a:pt x="26" y="62"/>
                  <a:pt x="0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3" name="Text Box 100"/>
          <p:cNvSpPr txBox="1">
            <a:spLocks noChangeArrowheads="1"/>
          </p:cNvSpPr>
          <p:nvPr/>
        </p:nvSpPr>
        <p:spPr bwMode="auto">
          <a:xfrm>
            <a:off x="3938588" y="4400550"/>
            <a:ext cx="947737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</a:rPr>
              <a:t>stator, a</a:t>
            </a:r>
          </a:p>
        </p:txBody>
      </p:sp>
      <p:sp>
        <p:nvSpPr>
          <p:cNvPr id="184354" name="Line 101"/>
          <p:cNvSpPr>
            <a:spLocks noChangeShapeType="1"/>
          </p:cNvSpPr>
          <p:nvPr/>
        </p:nvSpPr>
        <p:spPr bwMode="auto">
          <a:xfrm>
            <a:off x="8712200" y="4416425"/>
            <a:ext cx="1936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5" name="Text Box 102"/>
          <p:cNvSpPr txBox="1">
            <a:spLocks noChangeArrowheads="1"/>
          </p:cNvSpPr>
          <p:nvPr/>
        </p:nvSpPr>
        <p:spPr bwMode="auto">
          <a:xfrm>
            <a:off x="3505200" y="3892550"/>
            <a:ext cx="4778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Arial Narrow" panose="020B0606020202030204" pitchFamily="34" charset="0"/>
                <a:sym typeface="Symbol" panose="05050102010706020507" pitchFamily="18" charset="2"/>
              </a:rPr>
              <a:t></a:t>
            </a:r>
            <a:r>
              <a:rPr lang="en-US" altLang="fr-FR" sz="1600" baseline="-25000">
                <a:latin typeface="Arial Narrow" panose="020B0606020202030204" pitchFamily="34" charset="0"/>
              </a:rPr>
              <a:t>r</a:t>
            </a:r>
            <a:endParaRPr lang="en-US" altLang="fr-FR" sz="1600">
              <a:latin typeface="Arial Narrow" panose="020B0606020202030204" pitchFamily="34" charset="0"/>
            </a:endParaRPr>
          </a:p>
        </p:txBody>
      </p:sp>
      <p:sp>
        <p:nvSpPr>
          <p:cNvPr id="184356" name="Text Box 103"/>
          <p:cNvSpPr txBox="1">
            <a:spLocks noChangeArrowheads="1"/>
          </p:cNvSpPr>
          <p:nvPr/>
        </p:nvSpPr>
        <p:spPr bwMode="auto">
          <a:xfrm>
            <a:off x="3733800" y="3206750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1400" baseline="-25000">
                <a:latin typeface="Arial Narrow" panose="020B0606020202030204" pitchFamily="34" charset="0"/>
                <a:sym typeface="Symbol" panose="05050102010706020507" pitchFamily="18" charset="2"/>
              </a:rPr>
              <a:t>r</a:t>
            </a:r>
            <a:endParaRPr lang="en-US" altLang="fr-FR" sz="1400">
              <a:latin typeface="Arial Narrow" panose="020B0606020202030204" pitchFamily="34" charset="0"/>
              <a:sym typeface="Symbol" panose="05050102010706020507" pitchFamily="18" charset="2"/>
            </a:endParaRPr>
          </a:p>
        </p:txBody>
      </p:sp>
      <p:sp>
        <p:nvSpPr>
          <p:cNvPr id="184357" name="Line 104"/>
          <p:cNvSpPr>
            <a:spLocks noChangeShapeType="1"/>
          </p:cNvSpPr>
          <p:nvPr/>
        </p:nvSpPr>
        <p:spPr bwMode="auto">
          <a:xfrm flipH="1" flipV="1">
            <a:off x="838200" y="36449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8" name="Line 105"/>
          <p:cNvSpPr>
            <a:spLocks noChangeShapeType="1"/>
          </p:cNvSpPr>
          <p:nvPr/>
        </p:nvSpPr>
        <p:spPr bwMode="auto">
          <a:xfrm flipH="1">
            <a:off x="1949450" y="5187950"/>
            <a:ext cx="152400" cy="857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59" name="Line 106"/>
          <p:cNvSpPr>
            <a:spLocks noChangeShapeType="1"/>
          </p:cNvSpPr>
          <p:nvPr/>
        </p:nvSpPr>
        <p:spPr bwMode="auto">
          <a:xfrm flipV="1">
            <a:off x="3130550" y="3613150"/>
            <a:ext cx="838200" cy="36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60" name="Freeform 107"/>
          <p:cNvSpPr>
            <a:spLocks/>
          </p:cNvSpPr>
          <p:nvPr/>
        </p:nvSpPr>
        <p:spPr bwMode="auto">
          <a:xfrm>
            <a:off x="4038600" y="3435350"/>
            <a:ext cx="88900" cy="228600"/>
          </a:xfrm>
          <a:custGeom>
            <a:avLst/>
            <a:gdLst>
              <a:gd name="T0" fmla="*/ 2147483646 w 56"/>
              <a:gd name="T1" fmla="*/ 2147483646 h 144"/>
              <a:gd name="T2" fmla="*/ 2147483646 w 56"/>
              <a:gd name="T3" fmla="*/ 2147483646 h 144"/>
              <a:gd name="T4" fmla="*/ 0 w 56"/>
              <a:gd name="T5" fmla="*/ 0 h 144"/>
              <a:gd name="T6" fmla="*/ 0 60000 65536"/>
              <a:gd name="T7" fmla="*/ 0 60000 65536"/>
              <a:gd name="T8" fmla="*/ 0 60000 65536"/>
              <a:gd name="T9" fmla="*/ 0 w 56"/>
              <a:gd name="T10" fmla="*/ 0 h 144"/>
              <a:gd name="T11" fmla="*/ 56 w 56"/>
              <a:gd name="T12" fmla="*/ 144 h 1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144">
                <a:moveTo>
                  <a:pt x="48" y="144"/>
                </a:moveTo>
                <a:cubicBezTo>
                  <a:pt x="52" y="108"/>
                  <a:pt x="56" y="72"/>
                  <a:pt x="48" y="48"/>
                </a:cubicBezTo>
                <a:cubicBezTo>
                  <a:pt x="40" y="24"/>
                  <a:pt x="20" y="1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361" name="Text Box 108"/>
          <p:cNvSpPr txBox="1">
            <a:spLocks noChangeArrowheads="1"/>
          </p:cNvSpPr>
          <p:nvPr/>
        </p:nvSpPr>
        <p:spPr bwMode="auto">
          <a:xfrm>
            <a:off x="4038600" y="3130550"/>
            <a:ext cx="727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400" i="1">
                <a:latin typeface="Arial Narrow" panose="020B0606020202030204" pitchFamily="34" charset="0"/>
              </a:rPr>
              <a:t>tournant</a:t>
            </a:r>
          </a:p>
        </p:txBody>
      </p:sp>
      <p:sp>
        <p:nvSpPr>
          <p:cNvPr id="184362" name="Text Box 109"/>
          <p:cNvSpPr txBox="1">
            <a:spLocks noChangeArrowheads="1"/>
          </p:cNvSpPr>
          <p:nvPr/>
        </p:nvSpPr>
        <p:spPr bwMode="auto">
          <a:xfrm>
            <a:off x="2286000" y="5638800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 b="1" u="sng">
                <a:latin typeface="Arial Narrow" panose="020B0606020202030204" pitchFamily="34" charset="0"/>
              </a:rPr>
              <a:t>3-phase</a:t>
            </a:r>
          </a:p>
        </p:txBody>
      </p:sp>
      <p:grpSp>
        <p:nvGrpSpPr>
          <p:cNvPr id="184363" name="Group 110"/>
          <p:cNvGrpSpPr>
            <a:grpSpLocks/>
          </p:cNvGrpSpPr>
          <p:nvPr/>
        </p:nvGrpSpPr>
        <p:grpSpPr bwMode="auto">
          <a:xfrm>
            <a:off x="5029200" y="2286000"/>
            <a:ext cx="3919538" cy="3722688"/>
            <a:chOff x="3168" y="1440"/>
            <a:chExt cx="2469" cy="2345"/>
          </a:xfrm>
        </p:grpSpPr>
        <p:sp>
          <p:nvSpPr>
            <p:cNvPr id="184366" name="Oval 111"/>
            <p:cNvSpPr>
              <a:spLocks noChangeArrowheads="1"/>
            </p:cNvSpPr>
            <p:nvPr/>
          </p:nvSpPr>
          <p:spPr bwMode="auto">
            <a:xfrm>
              <a:off x="3420" y="2080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84367" name="Text Box 112"/>
            <p:cNvSpPr txBox="1">
              <a:spLocks noChangeArrowheads="1"/>
            </p:cNvSpPr>
            <p:nvPr/>
          </p:nvSpPr>
          <p:spPr bwMode="auto">
            <a:xfrm>
              <a:off x="4320" y="2548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84368" name="Group 113"/>
            <p:cNvGrpSpPr>
              <a:grpSpLocks noChangeAspect="1"/>
            </p:cNvGrpSpPr>
            <p:nvPr/>
          </p:nvGrpSpPr>
          <p:grpSpPr bwMode="auto">
            <a:xfrm>
              <a:off x="4885" y="2748"/>
              <a:ext cx="632" cy="112"/>
              <a:chOff x="7330" y="4360"/>
              <a:chExt cx="2490" cy="440"/>
            </a:xfrm>
          </p:grpSpPr>
          <p:sp>
            <p:nvSpPr>
              <p:cNvPr id="184420" name="Oval 1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1" name="Oval 1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2" name="Oval 1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3" name="Oval 1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4" name="Oval 1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5" name="Oval 1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6" name="Rectangle 12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7" name="Rectangle 12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28" name="Line 1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29" name="Line 1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84369" name="Group 125"/>
            <p:cNvGrpSpPr>
              <a:grpSpLocks/>
            </p:cNvGrpSpPr>
            <p:nvPr/>
          </p:nvGrpSpPr>
          <p:grpSpPr bwMode="auto">
            <a:xfrm rot="5400000">
              <a:off x="3773" y="1983"/>
              <a:ext cx="764" cy="70"/>
              <a:chOff x="7330" y="4360"/>
              <a:chExt cx="2490" cy="300"/>
            </a:xfrm>
          </p:grpSpPr>
          <p:sp>
            <p:nvSpPr>
              <p:cNvPr id="184412" name="Oval 126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3" name="Oval 127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4" name="Oval 128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5" name="Oval 129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6" name="Oval 130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7" name="Oval 131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8" name="Line 135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19" name="Line 136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70" name="Text Box 137"/>
            <p:cNvSpPr txBox="1">
              <a:spLocks noChangeArrowheads="1"/>
            </p:cNvSpPr>
            <p:nvPr/>
          </p:nvSpPr>
          <p:spPr bwMode="auto">
            <a:xfrm>
              <a:off x="3696" y="1780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184371" name="Group 138"/>
            <p:cNvGrpSpPr>
              <a:grpSpLocks noChangeAspect="1"/>
            </p:cNvGrpSpPr>
            <p:nvPr/>
          </p:nvGrpSpPr>
          <p:grpSpPr bwMode="auto">
            <a:xfrm rot="-3303302">
              <a:off x="4230" y="2398"/>
              <a:ext cx="384" cy="108"/>
              <a:chOff x="7330" y="4360"/>
              <a:chExt cx="2490" cy="702"/>
            </a:xfrm>
          </p:grpSpPr>
          <p:sp>
            <p:nvSpPr>
              <p:cNvPr id="184401" name="Oval 139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2" name="Oval 140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3" name="Oval 141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4" name="Oval 142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5" name="Oval 143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6" name="Oval 144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7" name="Rectangle 145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8" name="Rectangle 146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09" name="Rectangle 147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4410" name="Line 148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411" name="Line 149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72" name="Text Box 150"/>
            <p:cNvSpPr txBox="1">
              <a:spLocks noChangeArrowheads="1"/>
            </p:cNvSpPr>
            <p:nvPr/>
          </p:nvSpPr>
          <p:spPr bwMode="auto">
            <a:xfrm>
              <a:off x="3504" y="2596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84373" name="Text Box 151"/>
            <p:cNvSpPr txBox="1">
              <a:spLocks noChangeArrowheads="1"/>
            </p:cNvSpPr>
            <p:nvPr/>
          </p:nvSpPr>
          <p:spPr bwMode="auto">
            <a:xfrm>
              <a:off x="4416" y="2308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84374" name="Line 152"/>
            <p:cNvSpPr>
              <a:spLocks noChangeShapeType="1"/>
            </p:cNvSpPr>
            <p:nvPr/>
          </p:nvSpPr>
          <p:spPr bwMode="auto">
            <a:xfrm flipH="1">
              <a:off x="4148" y="2596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5" name="Line 153"/>
            <p:cNvSpPr>
              <a:spLocks noChangeShapeType="1"/>
            </p:cNvSpPr>
            <p:nvPr/>
          </p:nvSpPr>
          <p:spPr bwMode="auto">
            <a:xfrm flipH="1">
              <a:off x="4136" y="2780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6" name="Line 154"/>
            <p:cNvSpPr>
              <a:spLocks noChangeShapeType="1"/>
            </p:cNvSpPr>
            <p:nvPr/>
          </p:nvSpPr>
          <p:spPr bwMode="auto">
            <a:xfrm flipH="1">
              <a:off x="4154" y="2308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7" name="Line 155"/>
            <p:cNvSpPr>
              <a:spLocks noChangeShapeType="1"/>
            </p:cNvSpPr>
            <p:nvPr/>
          </p:nvSpPr>
          <p:spPr bwMode="auto">
            <a:xfrm flipH="1" flipV="1">
              <a:off x="4160" y="1440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8" name="Line 156"/>
            <p:cNvSpPr>
              <a:spLocks noChangeShapeType="1"/>
            </p:cNvSpPr>
            <p:nvPr/>
          </p:nvSpPr>
          <p:spPr bwMode="auto">
            <a:xfrm flipV="1">
              <a:off x="4387" y="2356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79" name="Text Box 157"/>
            <p:cNvSpPr txBox="1">
              <a:spLocks noChangeArrowheads="1"/>
            </p:cNvSpPr>
            <p:nvPr/>
          </p:nvSpPr>
          <p:spPr bwMode="auto">
            <a:xfrm>
              <a:off x="5040" y="2804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184380" name="Freeform 158"/>
            <p:cNvSpPr>
              <a:spLocks/>
            </p:cNvSpPr>
            <p:nvPr/>
          </p:nvSpPr>
          <p:spPr bwMode="auto">
            <a:xfrm>
              <a:off x="4272" y="2596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1" name="Line 159"/>
            <p:cNvSpPr>
              <a:spLocks noChangeShapeType="1"/>
            </p:cNvSpPr>
            <p:nvPr/>
          </p:nvSpPr>
          <p:spPr bwMode="auto">
            <a:xfrm flipV="1">
              <a:off x="4488" y="1964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4382" name="Group 160"/>
            <p:cNvGrpSpPr>
              <a:grpSpLocks/>
            </p:cNvGrpSpPr>
            <p:nvPr/>
          </p:nvGrpSpPr>
          <p:grpSpPr bwMode="auto">
            <a:xfrm rot="416370">
              <a:off x="3168" y="2208"/>
              <a:ext cx="1023" cy="528"/>
              <a:chOff x="3120" y="2260"/>
              <a:chExt cx="1023" cy="528"/>
            </a:xfrm>
          </p:grpSpPr>
          <p:grpSp>
            <p:nvGrpSpPr>
              <p:cNvPr id="184387" name="Group 161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184390" name="Oval 162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1" name="Oval 163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2" name="Oval 164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3" name="Oval 165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4" name="Oval 166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5" name="Oval 167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6" name="Rectangle 168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7" name="Rectangle 169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8" name="Rectangle 170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4399" name="Line 171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4400" name="Line 172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4388" name="Line 173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4389" name="Line 174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84383" name="Text Box 175"/>
            <p:cNvSpPr txBox="1">
              <a:spLocks noChangeArrowheads="1"/>
            </p:cNvSpPr>
            <p:nvPr/>
          </p:nvSpPr>
          <p:spPr bwMode="auto">
            <a:xfrm>
              <a:off x="4656" y="1972"/>
              <a:ext cx="45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tournant</a:t>
              </a:r>
            </a:p>
          </p:txBody>
        </p:sp>
        <p:sp>
          <p:nvSpPr>
            <p:cNvPr id="184384" name="Freeform 176"/>
            <p:cNvSpPr>
              <a:spLocks/>
            </p:cNvSpPr>
            <p:nvPr/>
          </p:nvSpPr>
          <p:spPr bwMode="auto">
            <a:xfrm>
              <a:off x="4560" y="2068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84385" name="Text Box 177"/>
            <p:cNvSpPr txBox="1">
              <a:spLocks noChangeArrowheads="1"/>
            </p:cNvSpPr>
            <p:nvPr/>
          </p:nvSpPr>
          <p:spPr bwMode="auto">
            <a:xfrm>
              <a:off x="4416" y="1876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84386" name="Text Box 178"/>
            <p:cNvSpPr txBox="1">
              <a:spLocks noChangeArrowheads="1"/>
            </p:cNvSpPr>
            <p:nvPr/>
          </p:nvSpPr>
          <p:spPr bwMode="auto">
            <a:xfrm>
              <a:off x="3984" y="3552"/>
              <a:ext cx="63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 b="1" u="sng">
                  <a:latin typeface="Arial Narrow" panose="020B0606020202030204" pitchFamily="34" charset="0"/>
                </a:rPr>
                <a:t>2-phase </a:t>
              </a:r>
              <a:r>
                <a:rPr lang="en-US" altLang="fr-FR" sz="1800">
                  <a:latin typeface="Arial Narrow" panose="020B0606020202030204" pitchFamily="34" charset="0"/>
                </a:rPr>
                <a:t> </a:t>
              </a:r>
            </a:p>
          </p:txBody>
        </p:sp>
      </p:grpSp>
      <p:sp>
        <p:nvSpPr>
          <p:cNvPr id="184364" name="Espace réservé du numéro de diapositive 16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D34CA2-755B-496E-8425-7EB931BE0EF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69" name="Espace réservé du pied de page 16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800" b="1" smtClean="0">
                <a:latin typeface="Arial Narrow" panose="020B0606020202030204" pitchFamily="34" charset="0"/>
              </a:rPr>
              <a:t>Modèle dynamique, Modèle biphasé</a:t>
            </a:r>
          </a:p>
        </p:txBody>
      </p:sp>
      <p:sp>
        <p:nvSpPr>
          <p:cNvPr id="186371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2" name="Group 179"/>
          <p:cNvGrpSpPr>
            <a:grpSpLocks/>
          </p:cNvGrpSpPr>
          <p:nvPr/>
        </p:nvGrpSpPr>
        <p:grpSpPr bwMode="auto">
          <a:xfrm>
            <a:off x="5040313" y="2286000"/>
            <a:ext cx="3919537" cy="3722688"/>
            <a:chOff x="567" y="1440"/>
            <a:chExt cx="2469" cy="2345"/>
          </a:xfrm>
        </p:grpSpPr>
        <p:sp>
          <p:nvSpPr>
            <p:cNvPr id="186376" name="Line 101"/>
            <p:cNvSpPr>
              <a:spLocks noChangeShapeType="1"/>
            </p:cNvSpPr>
            <p:nvPr/>
          </p:nvSpPr>
          <p:spPr bwMode="auto">
            <a:xfrm>
              <a:off x="2849" y="2782"/>
              <a:ext cx="12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86377" name="Group 110"/>
            <p:cNvGrpSpPr>
              <a:grpSpLocks/>
            </p:cNvGrpSpPr>
            <p:nvPr/>
          </p:nvGrpSpPr>
          <p:grpSpPr bwMode="auto">
            <a:xfrm>
              <a:off x="567" y="1440"/>
              <a:ext cx="2469" cy="2345"/>
              <a:chOff x="3168" y="1440"/>
              <a:chExt cx="2469" cy="2345"/>
            </a:xfrm>
          </p:grpSpPr>
          <p:sp>
            <p:nvSpPr>
              <p:cNvPr id="186378" name="Oval 111"/>
              <p:cNvSpPr>
                <a:spLocks noChangeArrowheads="1"/>
              </p:cNvSpPr>
              <p:nvPr/>
            </p:nvSpPr>
            <p:spPr bwMode="auto">
              <a:xfrm>
                <a:off x="3420" y="2080"/>
                <a:ext cx="1421" cy="141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86379" name="Text Box 112"/>
              <p:cNvSpPr txBox="1">
                <a:spLocks noChangeArrowheads="1"/>
              </p:cNvSpPr>
              <p:nvPr/>
            </p:nvSpPr>
            <p:spPr bwMode="auto">
              <a:xfrm>
                <a:off x="4320" y="2548"/>
                <a:ext cx="301" cy="1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600">
                    <a:latin typeface="Arial Narrow" panose="020B0606020202030204" pitchFamily="34" charset="0"/>
                    <a:sym typeface="Symbol" panose="05050102010706020507" pitchFamily="18" charset="2"/>
                  </a:rPr>
                  <a:t></a:t>
                </a:r>
                <a:r>
                  <a:rPr lang="en-US" altLang="fr-FR" sz="1600" baseline="-25000">
                    <a:latin typeface="Arial Narrow" panose="020B0606020202030204" pitchFamily="34" charset="0"/>
                  </a:rPr>
                  <a:t>r</a:t>
                </a:r>
                <a:endParaRPr lang="en-US" altLang="fr-FR" sz="1600"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186380" name="Group 113"/>
              <p:cNvGrpSpPr>
                <a:grpSpLocks noChangeAspect="1"/>
              </p:cNvGrpSpPr>
              <p:nvPr/>
            </p:nvGrpSpPr>
            <p:grpSpPr bwMode="auto">
              <a:xfrm>
                <a:off x="4885" y="2744"/>
                <a:ext cx="632" cy="178"/>
                <a:chOff x="7330" y="4360"/>
                <a:chExt cx="2490" cy="702"/>
              </a:xfrm>
            </p:grpSpPr>
            <p:sp>
              <p:nvSpPr>
                <p:cNvPr id="186434" name="Oval 114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5" name="Oval 115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6" name="Oval 116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7" name="Oval 117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8" name="Oval 118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9" name="Oval 119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0" name="Rectangle 120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1" name="Rectangle 121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2" name="Rectangle 122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43" name="Line 123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44" name="Line 124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86381" name="Group 125"/>
              <p:cNvGrpSpPr>
                <a:grpSpLocks/>
              </p:cNvGrpSpPr>
              <p:nvPr/>
            </p:nvGrpSpPr>
            <p:grpSpPr bwMode="auto">
              <a:xfrm rot="5400000">
                <a:off x="3764" y="1967"/>
                <a:ext cx="764" cy="102"/>
                <a:chOff x="7330" y="4360"/>
                <a:chExt cx="2490" cy="440"/>
              </a:xfrm>
            </p:grpSpPr>
            <p:sp>
              <p:nvSpPr>
                <p:cNvPr id="186424" name="Oval 126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5" name="Oval 127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6" name="Oval 128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7" name="Oval 129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8" name="Oval 130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9" name="Oval 131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0" name="Rectangle 133"/>
                <p:cNvSpPr>
                  <a:spLocks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1" name="Rectangle 134"/>
                <p:cNvSpPr>
                  <a:spLocks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32" name="Line 135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33" name="Line 136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82" name="Text Box 137"/>
              <p:cNvSpPr txBox="1">
                <a:spLocks noChangeArrowheads="1"/>
              </p:cNvSpPr>
              <p:nvPr/>
            </p:nvSpPr>
            <p:spPr bwMode="auto">
              <a:xfrm>
                <a:off x="3696" y="1780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stator, q</a:t>
                </a:r>
              </a:p>
            </p:txBody>
          </p:sp>
          <p:grpSp>
            <p:nvGrpSpPr>
              <p:cNvPr id="186383" name="Group 138"/>
              <p:cNvGrpSpPr>
                <a:grpSpLocks noChangeAspect="1"/>
              </p:cNvGrpSpPr>
              <p:nvPr/>
            </p:nvGrpSpPr>
            <p:grpSpPr bwMode="auto">
              <a:xfrm rot="-3303302">
                <a:off x="4230" y="2398"/>
                <a:ext cx="384" cy="108"/>
                <a:chOff x="7330" y="4360"/>
                <a:chExt cx="2490" cy="702"/>
              </a:xfrm>
            </p:grpSpPr>
            <p:sp>
              <p:nvSpPr>
                <p:cNvPr id="186413" name="Oval 139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4" name="Oval 140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5" name="Oval 141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6" name="Oval 142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7" name="Oval 143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8" name="Oval 144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19" name="Rectangle 145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0" name="Rectangle 146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1" name="Rectangle 147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86422" name="Line 148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23" name="Line 149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84" name="Text Box 150"/>
              <p:cNvSpPr txBox="1">
                <a:spLocks noChangeArrowheads="1"/>
              </p:cNvSpPr>
              <p:nvPr/>
            </p:nvSpPr>
            <p:spPr bwMode="auto">
              <a:xfrm>
                <a:off x="3504" y="2596"/>
                <a:ext cx="513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rotor, </a:t>
                </a:r>
                <a:r>
                  <a:rPr lang="en-US" altLang="fr-FR" sz="1200">
                    <a:latin typeface="Arial Narrow" panose="020B0606020202030204" pitchFamily="34" charset="0"/>
                    <a:sym typeface="Symbol" panose="05050102010706020507" pitchFamily="18" charset="2"/>
                  </a:rPr>
                  <a:t></a:t>
                </a:r>
              </a:p>
            </p:txBody>
          </p:sp>
          <p:sp>
            <p:nvSpPr>
              <p:cNvPr id="186385" name="Text Box 151"/>
              <p:cNvSpPr txBox="1">
                <a:spLocks noChangeArrowheads="1"/>
              </p:cNvSpPr>
              <p:nvPr/>
            </p:nvSpPr>
            <p:spPr bwMode="auto">
              <a:xfrm>
                <a:off x="4416" y="2308"/>
                <a:ext cx="672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200">
                    <a:latin typeface="Arial Narrow" panose="020B0606020202030204" pitchFamily="34" charset="0"/>
                  </a:rPr>
                  <a:t>rotor, </a:t>
                </a:r>
                <a:r>
                  <a:rPr lang="en-US" altLang="fr-FR" sz="1200">
                    <a:latin typeface="Arial Narrow" panose="020B0606020202030204" pitchFamily="34" charset="0"/>
                    <a:sym typeface="Symbol" panose="05050102010706020507" pitchFamily="18" charset="2"/>
                  </a:rPr>
                  <a:t></a:t>
                </a:r>
              </a:p>
            </p:txBody>
          </p:sp>
          <p:sp>
            <p:nvSpPr>
              <p:cNvPr id="186386" name="Line 152"/>
              <p:cNvSpPr>
                <a:spLocks noChangeShapeType="1"/>
              </p:cNvSpPr>
              <p:nvPr/>
            </p:nvSpPr>
            <p:spPr bwMode="auto">
              <a:xfrm flipH="1">
                <a:off x="4148" y="2596"/>
                <a:ext cx="124" cy="18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7" name="Line 153"/>
              <p:cNvSpPr>
                <a:spLocks noChangeShapeType="1"/>
              </p:cNvSpPr>
              <p:nvPr/>
            </p:nvSpPr>
            <p:spPr bwMode="auto">
              <a:xfrm flipH="1">
                <a:off x="4136" y="2780"/>
                <a:ext cx="7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8" name="Line 154"/>
              <p:cNvSpPr>
                <a:spLocks noChangeShapeType="1"/>
              </p:cNvSpPr>
              <p:nvPr/>
            </p:nvSpPr>
            <p:spPr bwMode="auto">
              <a:xfrm flipH="1">
                <a:off x="4154" y="2308"/>
                <a:ext cx="1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89" name="Line 155"/>
              <p:cNvSpPr>
                <a:spLocks noChangeShapeType="1"/>
              </p:cNvSpPr>
              <p:nvPr/>
            </p:nvSpPr>
            <p:spPr bwMode="auto">
              <a:xfrm flipH="1" flipV="1">
                <a:off x="4160" y="1440"/>
                <a:ext cx="2" cy="27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0" name="Line 156"/>
              <p:cNvSpPr>
                <a:spLocks noChangeShapeType="1"/>
              </p:cNvSpPr>
              <p:nvPr/>
            </p:nvSpPr>
            <p:spPr bwMode="auto">
              <a:xfrm flipV="1">
                <a:off x="4387" y="2356"/>
                <a:ext cx="77" cy="1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1" name="Text Box 157"/>
              <p:cNvSpPr txBox="1">
                <a:spLocks noChangeArrowheads="1"/>
              </p:cNvSpPr>
              <p:nvPr/>
            </p:nvSpPr>
            <p:spPr bwMode="auto">
              <a:xfrm>
                <a:off x="5040" y="2788"/>
                <a:ext cx="597" cy="2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</a:rPr>
                  <a:t>stator, d</a:t>
                </a:r>
              </a:p>
            </p:txBody>
          </p:sp>
          <p:sp>
            <p:nvSpPr>
              <p:cNvPr id="186392" name="Freeform 158"/>
              <p:cNvSpPr>
                <a:spLocks/>
              </p:cNvSpPr>
              <p:nvPr/>
            </p:nvSpPr>
            <p:spPr bwMode="auto">
              <a:xfrm>
                <a:off x="4272" y="2596"/>
                <a:ext cx="73" cy="192"/>
              </a:xfrm>
              <a:custGeom>
                <a:avLst/>
                <a:gdLst>
                  <a:gd name="T0" fmla="*/ 0 w 183"/>
                  <a:gd name="T1" fmla="*/ 0 h 753"/>
                  <a:gd name="T2" fmla="*/ 0 w 183"/>
                  <a:gd name="T3" fmla="*/ 0 h 753"/>
                  <a:gd name="T4" fmla="*/ 0 w 183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753"/>
                  <a:gd name="T11" fmla="*/ 183 w 183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753">
                    <a:moveTo>
                      <a:pt x="146" y="753"/>
                    </a:moveTo>
                    <a:cubicBezTo>
                      <a:pt x="164" y="624"/>
                      <a:pt x="183" y="495"/>
                      <a:pt x="159" y="370"/>
                    </a:cubicBezTo>
                    <a:cubicBezTo>
                      <a:pt x="135" y="245"/>
                      <a:pt x="26" y="62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3" name="Line 159"/>
              <p:cNvSpPr>
                <a:spLocks noChangeShapeType="1"/>
              </p:cNvSpPr>
              <p:nvPr/>
            </p:nvSpPr>
            <p:spPr bwMode="auto">
              <a:xfrm flipV="1">
                <a:off x="4488" y="1964"/>
                <a:ext cx="24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86394" name="Group 160"/>
              <p:cNvGrpSpPr>
                <a:grpSpLocks/>
              </p:cNvGrpSpPr>
              <p:nvPr/>
            </p:nvGrpSpPr>
            <p:grpSpPr bwMode="auto">
              <a:xfrm rot="416370">
                <a:off x="3168" y="2208"/>
                <a:ext cx="1023" cy="528"/>
                <a:chOff x="3120" y="2260"/>
                <a:chExt cx="1023" cy="528"/>
              </a:xfrm>
            </p:grpSpPr>
            <p:grpSp>
              <p:nvGrpSpPr>
                <p:cNvPr id="186399" name="Group 161"/>
                <p:cNvGrpSpPr>
                  <a:grpSpLocks noChangeAspect="1"/>
                </p:cNvGrpSpPr>
                <p:nvPr/>
              </p:nvGrpSpPr>
              <p:grpSpPr bwMode="auto">
                <a:xfrm rot="1450097">
                  <a:off x="3588" y="2578"/>
                  <a:ext cx="383" cy="108"/>
                  <a:chOff x="7330" y="4360"/>
                  <a:chExt cx="2490" cy="702"/>
                </a:xfrm>
              </p:grpSpPr>
              <p:sp>
                <p:nvSpPr>
                  <p:cNvPr id="186402" name="Oval 16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927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3" name="Oval 16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112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4" name="Oval 16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297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5" name="Oval 16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481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6" name="Oval 166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693" y="437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7" name="Oval 167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8878" y="4360"/>
                    <a:ext cx="303" cy="290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8" name="Rectangle 16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900" y="4626"/>
                    <a:ext cx="1321" cy="436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09" name="Rectangle 16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7780" y="4510"/>
                    <a:ext cx="280" cy="29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10" name="Rectangle 170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9080" y="4510"/>
                    <a:ext cx="280" cy="290"/>
                  </a:xfrm>
                  <a:prstGeom prst="rect">
                    <a:avLst/>
                  </a:prstGeom>
                  <a:solidFill>
                    <a:srgbClr val="FFFF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fr-FR" altLang="fr-FR" sz="2400">
                      <a:latin typeface="Arial Narrow" panose="020B0606020202030204" pitchFamily="34" charset="0"/>
                    </a:endParaRPr>
                  </a:p>
                </p:txBody>
              </p:sp>
              <p:sp>
                <p:nvSpPr>
                  <p:cNvPr id="186411" name="Line 171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7330" y="4500"/>
                    <a:ext cx="63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6412" name="Line 172"/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9190" y="4510"/>
                    <a:ext cx="630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86400" name="Line 173"/>
                <p:cNvSpPr>
                  <a:spLocks noChangeShapeType="1"/>
                </p:cNvSpPr>
                <p:nvPr/>
              </p:nvSpPr>
              <p:spPr bwMode="auto">
                <a:xfrm rot="-221867">
                  <a:off x="3953" y="2671"/>
                  <a:ext cx="190" cy="11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86401" name="Line 174"/>
                <p:cNvSpPr>
                  <a:spLocks noChangeShapeType="1"/>
                </p:cNvSpPr>
                <p:nvPr/>
              </p:nvSpPr>
              <p:spPr bwMode="auto">
                <a:xfrm flipH="1" flipV="1">
                  <a:off x="3120" y="2260"/>
                  <a:ext cx="532" cy="28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86395" name="Text Box 175"/>
              <p:cNvSpPr txBox="1">
                <a:spLocks noChangeArrowheads="1"/>
              </p:cNvSpPr>
              <p:nvPr/>
            </p:nvSpPr>
            <p:spPr bwMode="auto">
              <a:xfrm>
                <a:off x="4656" y="1972"/>
                <a:ext cx="458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 i="1">
                    <a:latin typeface="Arial Narrow" panose="020B0606020202030204" pitchFamily="34" charset="0"/>
                  </a:rPr>
                  <a:t>tournant</a:t>
                </a:r>
              </a:p>
            </p:txBody>
          </p:sp>
          <p:sp>
            <p:nvSpPr>
              <p:cNvPr id="186396" name="Freeform 176"/>
              <p:cNvSpPr>
                <a:spLocks/>
              </p:cNvSpPr>
              <p:nvPr/>
            </p:nvSpPr>
            <p:spPr bwMode="auto">
              <a:xfrm>
                <a:off x="4560" y="2068"/>
                <a:ext cx="144" cy="112"/>
              </a:xfrm>
              <a:custGeom>
                <a:avLst/>
                <a:gdLst>
                  <a:gd name="T0" fmla="*/ 144 w 144"/>
                  <a:gd name="T1" fmla="*/ 112 h 112"/>
                  <a:gd name="T2" fmla="*/ 96 w 144"/>
                  <a:gd name="T3" fmla="*/ 16 h 112"/>
                  <a:gd name="T4" fmla="*/ 0 w 144"/>
                  <a:gd name="T5" fmla="*/ 16 h 112"/>
                  <a:gd name="T6" fmla="*/ 0 60000 65536"/>
                  <a:gd name="T7" fmla="*/ 0 60000 65536"/>
                  <a:gd name="T8" fmla="*/ 0 60000 65536"/>
                  <a:gd name="T9" fmla="*/ 0 w 144"/>
                  <a:gd name="T10" fmla="*/ 0 h 112"/>
                  <a:gd name="T11" fmla="*/ 144 w 144"/>
                  <a:gd name="T12" fmla="*/ 112 h 1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4" h="112">
                    <a:moveTo>
                      <a:pt x="144" y="112"/>
                    </a:moveTo>
                    <a:cubicBezTo>
                      <a:pt x="132" y="72"/>
                      <a:pt x="120" y="32"/>
                      <a:pt x="96" y="16"/>
                    </a:cubicBezTo>
                    <a:cubicBezTo>
                      <a:pt x="72" y="0"/>
                      <a:pt x="36" y="8"/>
                      <a:pt x="0" y="16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6397" name="Text Box 177"/>
              <p:cNvSpPr txBox="1">
                <a:spLocks noChangeArrowheads="1"/>
              </p:cNvSpPr>
              <p:nvPr/>
            </p:nvSpPr>
            <p:spPr bwMode="auto">
              <a:xfrm>
                <a:off x="4416" y="1876"/>
                <a:ext cx="21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400">
                    <a:latin typeface="Arial Narrow" panose="020B0606020202030204" pitchFamily="34" charset="0"/>
                    <a:sym typeface="Symbol" panose="05050102010706020507" pitchFamily="18" charset="2"/>
                  </a:rPr>
                  <a:t></a:t>
                </a:r>
                <a:r>
                  <a:rPr lang="en-US" altLang="fr-FR" sz="1400" baseline="-25000">
                    <a:latin typeface="Arial Narrow" panose="020B0606020202030204" pitchFamily="34" charset="0"/>
                    <a:sym typeface="Symbol" panose="05050102010706020507" pitchFamily="18" charset="2"/>
                  </a:rPr>
                  <a:t>r</a:t>
                </a:r>
                <a:endPara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endParaRPr>
              </a:p>
            </p:txBody>
          </p:sp>
          <p:sp>
            <p:nvSpPr>
              <p:cNvPr id="186398" name="Text Box 178"/>
              <p:cNvSpPr txBox="1">
                <a:spLocks noChangeArrowheads="1"/>
              </p:cNvSpPr>
              <p:nvPr/>
            </p:nvSpPr>
            <p:spPr bwMode="auto">
              <a:xfrm>
                <a:off x="3984" y="3552"/>
                <a:ext cx="111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b="1" u="sng">
                    <a:latin typeface="Arial Narrow" panose="020B0606020202030204" pitchFamily="34" charset="0"/>
                  </a:rPr>
                  <a:t>Modèle 2-phase </a:t>
                </a:r>
                <a:r>
                  <a:rPr lang="en-US" altLang="fr-FR" sz="1800">
                    <a:latin typeface="Arial Narrow" panose="020B0606020202030204" pitchFamily="34" charset="0"/>
                  </a:rPr>
                  <a:t> </a:t>
                </a:r>
              </a:p>
            </p:txBody>
          </p:sp>
        </p:grpSp>
      </p:grpSp>
      <p:sp>
        <p:nvSpPr>
          <p:cNvPr id="129205" name="Text Box 181"/>
          <p:cNvSpPr txBox="1">
            <a:spLocks noChangeArrowheads="1"/>
          </p:cNvSpPr>
          <p:nvPr/>
        </p:nvSpPr>
        <p:spPr bwMode="auto">
          <a:xfrm>
            <a:off x="4983163" y="3716338"/>
            <a:ext cx="3873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Cependant, le couplage magnétique existe toujours entre rotor et staor</a:t>
            </a:r>
          </a:p>
        </p:txBody>
      </p:sp>
      <p:sp>
        <p:nvSpPr>
          <p:cNvPr id="186374" name="Espace réservé du numéro de diapositive 7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8C8718-F899-4DF4-B471-6098DA93C72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78" name="Espace réservé du pied de page 7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96296E-6 L -0.46076 2.96296E-6 " pathEditMode="relative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9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20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19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0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1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2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3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88424" name="Text Box 9"/>
          <p:cNvSpPr txBox="1">
            <a:spLocks noChangeArrowheads="1"/>
          </p:cNvSpPr>
          <p:nvPr/>
        </p:nvSpPr>
        <p:spPr bwMode="auto">
          <a:xfrm>
            <a:off x="914400" y="1143000"/>
            <a:ext cx="77104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Toutes les grandeurs triphasées doivent être transformées en grandeurs biphasées</a:t>
            </a:r>
          </a:p>
        </p:txBody>
      </p:sp>
      <p:sp>
        <p:nvSpPr>
          <p:cNvPr id="86192" name="Text Box 176"/>
          <p:cNvSpPr txBox="1">
            <a:spLocks noChangeArrowheads="1"/>
          </p:cNvSpPr>
          <p:nvPr/>
        </p:nvSpPr>
        <p:spPr bwMode="auto">
          <a:xfrm>
            <a:off x="990600" y="2209800"/>
            <a:ext cx="7707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9250" indent="-3492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Généralement si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a</a:t>
            </a:r>
            <a:r>
              <a:rPr lang="en-US" altLang="fr-FR" sz="2400">
                <a:latin typeface="Arial Narrow" panose="020B0606020202030204" pitchFamily="34" charset="0"/>
              </a:rPr>
              <a:t>,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b</a:t>
            </a:r>
            <a:r>
              <a:rPr lang="en-US" altLang="fr-FR" sz="2400">
                <a:latin typeface="Arial Narrow" panose="020B0606020202030204" pitchFamily="34" charset="0"/>
              </a:rPr>
              <a:t>, et </a:t>
            </a:r>
            <a:r>
              <a:rPr lang="en-US" altLang="fr-FR" sz="2400" i="1">
                <a:latin typeface="Arial Narrow" panose="020B0606020202030204" pitchFamily="34" charset="0"/>
              </a:rPr>
              <a:t>x</a:t>
            </a:r>
            <a:r>
              <a:rPr lang="en-US" altLang="fr-FR" sz="2400" baseline="-25000">
                <a:latin typeface="Arial Narrow" panose="020B0606020202030204" pitchFamily="34" charset="0"/>
              </a:rPr>
              <a:t>c</a:t>
            </a:r>
            <a:r>
              <a:rPr lang="en-US" altLang="fr-FR" sz="2400">
                <a:latin typeface="Arial Narrow" panose="020B0606020202030204" pitchFamily="34" charset="0"/>
              </a:rPr>
              <a:t> sont des grandeurs triphasées , le </a:t>
            </a:r>
            <a:r>
              <a:rPr lang="en-US" altLang="fr-FR" sz="2400" u="sng">
                <a:latin typeface="Arial Narrow" panose="020B0606020202030204" pitchFamily="34" charset="0"/>
              </a:rPr>
              <a:t>phaseur spatial (ou phaseur)</a:t>
            </a:r>
            <a:r>
              <a:rPr lang="en-US" altLang="fr-FR" sz="2400">
                <a:latin typeface="Arial Narrow" panose="020B0606020202030204" pitchFamily="34" charset="0"/>
              </a:rPr>
              <a:t> du système triphasé est défini comme: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6193" name="Object 177"/>
          <p:cNvGraphicFramePr>
            <a:graphicFrameLocks noChangeAspect="1"/>
          </p:cNvGraphicFramePr>
          <p:nvPr/>
        </p:nvGraphicFramePr>
        <p:xfrm>
          <a:off x="1066800" y="3392488"/>
          <a:ext cx="281940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0" name="Equation" r:id="rId6" imgW="1205977" imgH="355446" progId="Equation.3">
                  <p:embed/>
                </p:oleObj>
              </mc:Choice>
              <mc:Fallback>
                <p:oleObj name="Equation" r:id="rId6" imgW="1205977" imgH="355446" progId="Equation.3">
                  <p:embed/>
                  <p:pic>
                    <p:nvPicPr>
                      <p:cNvPr id="0" name="Object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392488"/>
                        <a:ext cx="281940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194" name="Text Box 178"/>
          <p:cNvSpPr txBox="1">
            <a:spLocks noChangeArrowheads="1"/>
          </p:cNvSpPr>
          <p:nvPr/>
        </p:nvSpPr>
        <p:spPr bwMode="auto">
          <a:xfrm>
            <a:off x="4114800" y="3544888"/>
            <a:ext cx="1876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, Où</a:t>
            </a:r>
            <a:r>
              <a:rPr lang="en-US" altLang="fr-FR" sz="2000">
                <a:latin typeface="Times New Roman" panose="02020603050405020304" pitchFamily="18" charset="0"/>
              </a:rPr>
              <a:t>   </a:t>
            </a:r>
            <a:r>
              <a:rPr lang="en-US" altLang="fr-FR" sz="2000" i="1">
                <a:latin typeface="Times New Roman" panose="02020603050405020304" pitchFamily="18" charset="0"/>
              </a:rPr>
              <a:t>a = e</a:t>
            </a:r>
            <a:r>
              <a:rPr lang="en-US" altLang="fr-FR" sz="2000" i="1" baseline="30000">
                <a:latin typeface="Times New Roman" panose="02020603050405020304" pitchFamily="18" charset="0"/>
              </a:rPr>
              <a:t>j2</a:t>
            </a:r>
            <a:r>
              <a:rPr lang="en-US" altLang="fr-FR" sz="2000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fr-FR" sz="2000" i="1" baseline="30000">
                <a:latin typeface="Times New Roman" panose="02020603050405020304" pitchFamily="18" charset="0"/>
              </a:rPr>
              <a:t>/3</a:t>
            </a:r>
            <a:r>
              <a:rPr lang="en-US" altLang="fr-FR" sz="20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86195" name="Object 179"/>
          <p:cNvGraphicFramePr>
            <a:graphicFrameLocks noChangeAspect="1"/>
          </p:cNvGraphicFramePr>
          <p:nvPr/>
        </p:nvGraphicFramePr>
        <p:xfrm>
          <a:off x="1066800" y="4267200"/>
          <a:ext cx="191611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1" name="Equation" r:id="rId8" imgW="672808" imgH="203112" progId="Equation.3">
                  <p:embed/>
                </p:oleObj>
              </mc:Choice>
              <mc:Fallback>
                <p:oleObj name="Equation" r:id="rId8" imgW="672808" imgH="203112" progId="Equation.3">
                  <p:embed/>
                  <p:pic>
                    <p:nvPicPr>
                      <p:cNvPr id="0" name="Object 1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267200"/>
                        <a:ext cx="191611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96" name="Object 180"/>
          <p:cNvGraphicFramePr>
            <a:graphicFrameLocks noChangeAspect="1"/>
          </p:cNvGraphicFramePr>
          <p:nvPr/>
        </p:nvGraphicFramePr>
        <p:xfrm>
          <a:off x="2173288" y="4835525"/>
          <a:ext cx="525303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2" name="Equation" r:id="rId10" imgW="2882900" imgH="393700" progId="Equation.3">
                  <p:embed/>
                </p:oleObj>
              </mc:Choice>
              <mc:Fallback>
                <p:oleObj name="Equation" r:id="rId10" imgW="2882900" imgH="393700" progId="Equation.3">
                  <p:embed/>
                  <p:pic>
                    <p:nvPicPr>
                      <p:cNvPr id="0" name="Object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288" y="4835525"/>
                        <a:ext cx="525303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197" name="Object 181"/>
          <p:cNvGraphicFramePr>
            <a:graphicFrameLocks noChangeAspect="1"/>
          </p:cNvGraphicFramePr>
          <p:nvPr/>
        </p:nvGraphicFramePr>
        <p:xfrm>
          <a:off x="2209800" y="5562600"/>
          <a:ext cx="49307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13" name="Equation" r:id="rId12" imgW="2476500" imgH="393700" progId="Equation.3">
                  <p:embed/>
                </p:oleObj>
              </mc:Choice>
              <mc:Fallback>
                <p:oleObj name="Equation" r:id="rId12" imgW="2476500" imgH="393700" progId="Equation.3">
                  <p:embed/>
                  <p:pic>
                    <p:nvPicPr>
                      <p:cNvPr id="0" name="Object 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562600"/>
                        <a:ext cx="493077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31" name="Rectangle 183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88432" name="Espace réservé du numéro de diapositive 1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8B70A-5102-4EAC-9175-78EEDB1BE086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6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92" grpId="0"/>
      <p:bldP spid="8619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1"/>
          <p:cNvGrpSpPr>
            <a:grpSpLocks/>
          </p:cNvGrpSpPr>
          <p:nvPr/>
        </p:nvGrpSpPr>
        <p:grpSpPr bwMode="auto">
          <a:xfrm>
            <a:off x="1206500" y="1603375"/>
            <a:ext cx="4241800" cy="3003550"/>
            <a:chOff x="760" y="1010"/>
            <a:chExt cx="2672" cy="1892"/>
          </a:xfrm>
        </p:grpSpPr>
        <p:sp>
          <p:nvSpPr>
            <p:cNvPr id="190505" name="Line 114"/>
            <p:cNvSpPr>
              <a:spLocks noChangeShapeType="1"/>
            </p:cNvSpPr>
            <p:nvPr/>
          </p:nvSpPr>
          <p:spPr bwMode="auto">
            <a:xfrm flipV="1">
              <a:off x="1176" y="2664"/>
              <a:ext cx="22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0506" name="Line 116"/>
            <p:cNvSpPr>
              <a:spLocks noChangeAspect="1" noChangeShapeType="1"/>
            </p:cNvSpPr>
            <p:nvPr/>
          </p:nvSpPr>
          <p:spPr bwMode="auto">
            <a:xfrm flipH="1" flipV="1">
              <a:off x="760" y="2152"/>
              <a:ext cx="421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0507" name="Line 117"/>
            <p:cNvSpPr>
              <a:spLocks noChangeAspect="1" noChangeShapeType="1"/>
            </p:cNvSpPr>
            <p:nvPr/>
          </p:nvSpPr>
          <p:spPr bwMode="auto">
            <a:xfrm flipV="1">
              <a:off x="1168" y="1378"/>
              <a:ext cx="851" cy="13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8" name="Object 121"/>
            <p:cNvGraphicFramePr>
              <a:graphicFrameLocks noChangeAspect="1"/>
            </p:cNvGraphicFramePr>
            <p:nvPr/>
          </p:nvGraphicFramePr>
          <p:xfrm>
            <a:off x="864" y="2064"/>
            <a:ext cx="185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77" name="Equation" r:id="rId6" imgW="164957" imgH="190335" progId="Equation.3">
                    <p:embed/>
                  </p:oleObj>
                </mc:Choice>
                <mc:Fallback>
                  <p:oleObj name="Equation" r:id="rId6" imgW="164957" imgH="190335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2064"/>
                          <a:ext cx="185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509" name="Object 123"/>
            <p:cNvGraphicFramePr>
              <a:graphicFrameLocks noChangeAspect="1"/>
            </p:cNvGraphicFramePr>
            <p:nvPr/>
          </p:nvGraphicFramePr>
          <p:xfrm>
            <a:off x="1776" y="1010"/>
            <a:ext cx="242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78" name="Equation" r:id="rId8" imgW="215619" imgH="215619" progId="Equation.3">
                    <p:embed/>
                  </p:oleObj>
                </mc:Choice>
                <mc:Fallback>
                  <p:oleObj name="Equation" r:id="rId8" imgW="215619" imgH="215619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010"/>
                          <a:ext cx="242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510" name="Object 125"/>
            <p:cNvGraphicFramePr>
              <a:graphicFrameLocks noChangeAspect="1"/>
            </p:cNvGraphicFramePr>
            <p:nvPr/>
          </p:nvGraphicFramePr>
          <p:xfrm>
            <a:off x="3024" y="2688"/>
            <a:ext cx="128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79" name="Equation" r:id="rId10" imgW="114201" imgH="190335" progId="Equation.3">
                    <p:embed/>
                  </p:oleObj>
                </mc:Choice>
                <mc:Fallback>
                  <p:oleObj name="Equation" r:id="rId10" imgW="114201" imgH="190335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688"/>
                          <a:ext cx="128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0467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0468" name="Text Box 9"/>
          <p:cNvSpPr txBox="1">
            <a:spLocks noChangeArrowheads="1"/>
          </p:cNvSpPr>
          <p:nvPr/>
        </p:nvSpPr>
        <p:spPr bwMode="auto">
          <a:xfrm>
            <a:off x="914400" y="1235075"/>
            <a:ext cx="6629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 dirty="0">
                <a:latin typeface="Arial Narrow" panose="020B0606020202030204" pitchFamily="34" charset="0"/>
              </a:rPr>
              <a:t>Le courant :</a:t>
            </a:r>
          </a:p>
        </p:txBody>
      </p:sp>
      <p:sp>
        <p:nvSpPr>
          <p:cNvPr id="190469" name="Rectangle 173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dirty="0" err="1" smtClean="0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 smtClean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 smtClean="0">
                <a:latin typeface="Arial Narrow" panose="020B0606020202030204" pitchFamily="34" charset="0"/>
              </a:rPr>
              <a:t>dynamique</a:t>
            </a:r>
            <a:r>
              <a:rPr lang="en-US" altLang="fr-FR" sz="2400" b="1" dirty="0" smtClean="0">
                <a:latin typeface="Arial Narrow" panose="020B0606020202030204" pitchFamily="34" charset="0"/>
              </a:rPr>
              <a:t> –      </a:t>
            </a:r>
            <a:r>
              <a:rPr lang="en-US" altLang="fr-FR" sz="2400" b="1" dirty="0" err="1" smtClean="0">
                <a:latin typeface="Arial Narrow" panose="020B0606020202030204" pitchFamily="34" charset="0"/>
              </a:rPr>
              <a:t>Modèle</a:t>
            </a:r>
            <a:r>
              <a:rPr lang="en-US" altLang="fr-FR" sz="2400" b="1" dirty="0" smtClean="0">
                <a:latin typeface="Arial Narrow" panose="020B0606020202030204" pitchFamily="34" charset="0"/>
              </a:rPr>
              <a:t> </a:t>
            </a:r>
            <a:r>
              <a:rPr lang="en-US" altLang="fr-FR" sz="2400" b="1" dirty="0" err="1" smtClean="0">
                <a:latin typeface="Arial Narrow" panose="020B0606020202030204" pitchFamily="34" charset="0"/>
              </a:rPr>
              <a:t>biphasé</a:t>
            </a:r>
            <a:endParaRPr lang="en-US" altLang="fr-FR" sz="2400" b="1" dirty="0" smtClean="0">
              <a:latin typeface="Arial Narrow" panose="020B0606020202030204" pitchFamily="34" charset="0"/>
            </a:endParaRPr>
          </a:p>
        </p:txBody>
      </p:sp>
      <p:graphicFrame>
        <p:nvGraphicFramePr>
          <p:cNvPr id="88174" name="Object 110"/>
          <p:cNvGraphicFramePr>
            <a:graphicFrameLocks noGrp="1" noChangeAspect="1"/>
          </p:cNvGraphicFramePr>
          <p:nvPr>
            <p:ph sz="half" idx="2"/>
          </p:nvPr>
        </p:nvGraphicFramePr>
        <p:xfrm>
          <a:off x="5849938" y="1479550"/>
          <a:ext cx="221773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0" name="Équation" r:id="rId12" imgW="1155700" imgH="342900" progId="Equation.3">
                  <p:embed/>
                </p:oleObj>
              </mc:Choice>
              <mc:Fallback>
                <p:oleObj name="Équation" r:id="rId12" imgW="1155700" imgH="342900" progId="Equation.3">
                  <p:embed/>
                  <p:pic>
                    <p:nvPicPr>
                      <p:cNvPr id="0" name="Object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9938" y="1479550"/>
                        <a:ext cx="221773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5"/>
          <p:cNvGrpSpPr>
            <a:grpSpLocks/>
          </p:cNvGrpSpPr>
          <p:nvPr/>
        </p:nvGrpSpPr>
        <p:grpSpPr bwMode="auto">
          <a:xfrm>
            <a:off x="1905000" y="3581400"/>
            <a:ext cx="2438400" cy="660400"/>
            <a:chOff x="1200" y="2256"/>
            <a:chExt cx="1536" cy="416"/>
          </a:xfrm>
        </p:grpSpPr>
        <p:sp>
          <p:nvSpPr>
            <p:cNvPr id="190502" name="Line 115"/>
            <p:cNvSpPr>
              <a:spLocks noChangeAspect="1" noChangeShapeType="1"/>
            </p:cNvSpPr>
            <p:nvPr/>
          </p:nvSpPr>
          <p:spPr bwMode="auto">
            <a:xfrm>
              <a:off x="1200" y="2672"/>
              <a:ext cx="15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3" name="Object 126"/>
            <p:cNvGraphicFramePr>
              <a:graphicFrameLocks noChangeAspect="1"/>
            </p:cNvGraphicFramePr>
            <p:nvPr/>
          </p:nvGraphicFramePr>
          <p:xfrm>
            <a:off x="1680" y="2256"/>
            <a:ext cx="228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1" name="Equation" r:id="rId14" imgW="203024" imgH="355292" progId="Equation.3">
                    <p:embed/>
                  </p:oleObj>
                </mc:Choice>
                <mc:Fallback>
                  <p:oleObj name="Equation" r:id="rId14" imgW="203024" imgH="355292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256"/>
                          <a:ext cx="228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04" name="Freeform 152"/>
            <p:cNvSpPr>
              <a:spLocks/>
            </p:cNvSpPr>
            <p:nvPr/>
          </p:nvSpPr>
          <p:spPr bwMode="auto">
            <a:xfrm>
              <a:off x="1872" y="2448"/>
              <a:ext cx="192" cy="192"/>
            </a:xfrm>
            <a:custGeom>
              <a:avLst/>
              <a:gdLst>
                <a:gd name="T0" fmla="*/ 0 w 192"/>
                <a:gd name="T1" fmla="*/ 0 h 192"/>
                <a:gd name="T2" fmla="*/ 144 w 192"/>
                <a:gd name="T3" fmla="*/ 96 h 192"/>
                <a:gd name="T4" fmla="*/ 192 w 192"/>
                <a:gd name="T5" fmla="*/ 192 h 192"/>
                <a:gd name="T6" fmla="*/ 0 60000 65536"/>
                <a:gd name="T7" fmla="*/ 0 60000 65536"/>
                <a:gd name="T8" fmla="*/ 0 60000 65536"/>
                <a:gd name="T9" fmla="*/ 0 w 192"/>
                <a:gd name="T10" fmla="*/ 0 h 192"/>
                <a:gd name="T11" fmla="*/ 192 w 192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" h="192">
                  <a:moveTo>
                    <a:pt x="0" y="0"/>
                  </a:moveTo>
                  <a:cubicBezTo>
                    <a:pt x="56" y="32"/>
                    <a:pt x="112" y="64"/>
                    <a:pt x="144" y="96"/>
                  </a:cubicBezTo>
                  <a:cubicBezTo>
                    <a:pt x="176" y="128"/>
                    <a:pt x="184" y="160"/>
                    <a:pt x="192" y="19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156"/>
          <p:cNvGrpSpPr>
            <a:grpSpLocks/>
          </p:cNvGrpSpPr>
          <p:nvPr/>
        </p:nvGrpSpPr>
        <p:grpSpPr bwMode="auto">
          <a:xfrm>
            <a:off x="3911600" y="3200400"/>
            <a:ext cx="1025525" cy="990600"/>
            <a:chOff x="2464" y="2016"/>
            <a:chExt cx="646" cy="624"/>
          </a:xfrm>
        </p:grpSpPr>
        <p:sp>
          <p:nvSpPr>
            <p:cNvPr id="190499" name="Line 118"/>
            <p:cNvSpPr>
              <a:spLocks noChangeAspect="1" noChangeShapeType="1"/>
            </p:cNvSpPr>
            <p:nvPr/>
          </p:nvSpPr>
          <p:spPr bwMode="auto">
            <a:xfrm flipH="1" flipV="1">
              <a:off x="2464" y="2352"/>
              <a:ext cx="23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500" name="Object 122"/>
            <p:cNvGraphicFramePr>
              <a:graphicFrameLocks noChangeAspect="1"/>
            </p:cNvGraphicFramePr>
            <p:nvPr/>
          </p:nvGraphicFramePr>
          <p:xfrm>
            <a:off x="2829" y="2016"/>
            <a:ext cx="281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2" name="Equation" r:id="rId16" imgW="266469" imgH="355292" progId="Equation.3">
                    <p:embed/>
                  </p:oleObj>
                </mc:Choice>
                <mc:Fallback>
                  <p:oleObj name="Equation" r:id="rId16" imgW="266469" imgH="355292" progId="Equation.3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2016"/>
                          <a:ext cx="281" cy="3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501" name="Freeform 153"/>
            <p:cNvSpPr>
              <a:spLocks/>
            </p:cNvSpPr>
            <p:nvPr/>
          </p:nvSpPr>
          <p:spPr bwMode="auto">
            <a:xfrm>
              <a:off x="2688" y="2304"/>
              <a:ext cx="160" cy="240"/>
            </a:xfrm>
            <a:custGeom>
              <a:avLst/>
              <a:gdLst>
                <a:gd name="T0" fmla="*/ 96 w 160"/>
                <a:gd name="T1" fmla="*/ 0 h 240"/>
                <a:gd name="T2" fmla="*/ 144 w 160"/>
                <a:gd name="T3" fmla="*/ 96 h 240"/>
                <a:gd name="T4" fmla="*/ 0 w 160"/>
                <a:gd name="T5" fmla="*/ 240 h 240"/>
                <a:gd name="T6" fmla="*/ 0 60000 65536"/>
                <a:gd name="T7" fmla="*/ 0 60000 65536"/>
                <a:gd name="T8" fmla="*/ 0 60000 65536"/>
                <a:gd name="T9" fmla="*/ 0 w 160"/>
                <a:gd name="T10" fmla="*/ 0 h 240"/>
                <a:gd name="T11" fmla="*/ 160 w 160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0" h="240">
                  <a:moveTo>
                    <a:pt x="96" y="0"/>
                  </a:moveTo>
                  <a:cubicBezTo>
                    <a:pt x="128" y="28"/>
                    <a:pt x="160" y="56"/>
                    <a:pt x="144" y="96"/>
                  </a:cubicBezTo>
                  <a:cubicBezTo>
                    <a:pt x="128" y="136"/>
                    <a:pt x="24" y="216"/>
                    <a:pt x="0" y="24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" name="Group 157"/>
          <p:cNvGrpSpPr>
            <a:grpSpLocks/>
          </p:cNvGrpSpPr>
          <p:nvPr/>
        </p:nvGrpSpPr>
        <p:grpSpPr bwMode="auto">
          <a:xfrm>
            <a:off x="3938588" y="1822450"/>
            <a:ext cx="1504950" cy="1898650"/>
            <a:chOff x="2483" y="1156"/>
            <a:chExt cx="948" cy="1196"/>
          </a:xfrm>
        </p:grpSpPr>
        <p:sp>
          <p:nvSpPr>
            <p:cNvPr id="190496" name="Line 119"/>
            <p:cNvSpPr>
              <a:spLocks noChangeAspect="1" noChangeShapeType="1"/>
            </p:cNvSpPr>
            <p:nvPr/>
          </p:nvSpPr>
          <p:spPr bwMode="auto">
            <a:xfrm flipV="1">
              <a:off x="2483" y="1156"/>
              <a:ext cx="782" cy="11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aphicFrame>
          <p:nvGraphicFramePr>
            <p:cNvPr id="190497" name="Object 124"/>
            <p:cNvGraphicFramePr>
              <a:graphicFrameLocks noChangeAspect="1"/>
            </p:cNvGraphicFramePr>
            <p:nvPr/>
          </p:nvGraphicFramePr>
          <p:xfrm>
            <a:off x="3089" y="1593"/>
            <a:ext cx="342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3" name="Equation" r:id="rId18" imgW="304536" imgH="355292" progId="Equation.3">
                    <p:embed/>
                  </p:oleObj>
                </mc:Choice>
                <mc:Fallback>
                  <p:oleObj name="Equation" r:id="rId18" imgW="304536" imgH="355292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9" y="1593"/>
                          <a:ext cx="342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0498" name="Freeform 154"/>
            <p:cNvSpPr>
              <a:spLocks/>
            </p:cNvSpPr>
            <p:nvPr/>
          </p:nvSpPr>
          <p:spPr bwMode="auto">
            <a:xfrm>
              <a:off x="3158" y="1478"/>
              <a:ext cx="29" cy="115"/>
            </a:xfrm>
            <a:custGeom>
              <a:avLst/>
              <a:gdLst>
                <a:gd name="T0" fmla="*/ 0 w 240"/>
                <a:gd name="T1" fmla="*/ 136 h 112"/>
                <a:gd name="T2" fmla="*/ 0 w 240"/>
                <a:gd name="T3" fmla="*/ 136 h 112"/>
                <a:gd name="T4" fmla="*/ 0 w 240"/>
                <a:gd name="T5" fmla="*/ 0 h 112"/>
                <a:gd name="T6" fmla="*/ 0 60000 65536"/>
                <a:gd name="T7" fmla="*/ 0 60000 65536"/>
                <a:gd name="T8" fmla="*/ 0 60000 65536"/>
                <a:gd name="T9" fmla="*/ 0 w 240"/>
                <a:gd name="T10" fmla="*/ 0 h 112"/>
                <a:gd name="T11" fmla="*/ 240 w 240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" h="112">
                  <a:moveTo>
                    <a:pt x="240" y="96"/>
                  </a:moveTo>
                  <a:cubicBezTo>
                    <a:pt x="188" y="104"/>
                    <a:pt x="136" y="112"/>
                    <a:pt x="96" y="96"/>
                  </a:cubicBezTo>
                  <a:cubicBezTo>
                    <a:pt x="56" y="80"/>
                    <a:pt x="28" y="40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565" name="Line 149"/>
          <p:cNvSpPr>
            <a:spLocks noChangeShapeType="1"/>
          </p:cNvSpPr>
          <p:nvPr/>
        </p:nvSpPr>
        <p:spPr bwMode="auto">
          <a:xfrm flipV="1">
            <a:off x="1866900" y="1858963"/>
            <a:ext cx="3289300" cy="2395537"/>
          </a:xfrm>
          <a:prstGeom prst="line">
            <a:avLst/>
          </a:prstGeom>
          <a:ln>
            <a:headE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eaLnBrk="1" hangingPunct="1">
              <a:defRPr/>
            </a:pPr>
            <a:endParaRPr lang="fr-FR"/>
          </a:p>
        </p:txBody>
      </p:sp>
      <p:grpSp>
        <p:nvGrpSpPr>
          <p:cNvPr id="6" name="Group 171"/>
          <p:cNvGrpSpPr>
            <a:grpSpLocks/>
          </p:cNvGrpSpPr>
          <p:nvPr/>
        </p:nvGrpSpPr>
        <p:grpSpPr bwMode="auto">
          <a:xfrm>
            <a:off x="6096000" y="2362200"/>
            <a:ext cx="2286000" cy="2606675"/>
            <a:chOff x="3840" y="1488"/>
            <a:chExt cx="1440" cy="1642"/>
          </a:xfrm>
        </p:grpSpPr>
        <p:graphicFrame>
          <p:nvGraphicFramePr>
            <p:cNvPr id="190483" name="Object 166"/>
            <p:cNvGraphicFramePr>
              <a:graphicFrameLocks noChangeAspect="1"/>
            </p:cNvGraphicFramePr>
            <p:nvPr/>
          </p:nvGraphicFramePr>
          <p:xfrm>
            <a:off x="4072" y="1488"/>
            <a:ext cx="94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784" name="Équation" r:id="rId20" imgW="685800" imgH="228600" progId="Equation.3">
                    <p:embed/>
                  </p:oleObj>
                </mc:Choice>
                <mc:Fallback>
                  <p:oleObj name="Équation" r:id="rId20" imgW="685800" imgH="228600" progId="Equation.3">
                    <p:embed/>
                    <p:pic>
                      <p:nvPicPr>
                        <p:cNvPr id="0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488"/>
                          <a:ext cx="94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0484" name="Group 170"/>
            <p:cNvGrpSpPr>
              <a:grpSpLocks/>
            </p:cNvGrpSpPr>
            <p:nvPr/>
          </p:nvGrpSpPr>
          <p:grpSpPr bwMode="auto">
            <a:xfrm>
              <a:off x="3840" y="1815"/>
              <a:ext cx="1440" cy="1315"/>
              <a:chOff x="3840" y="1815"/>
              <a:chExt cx="1440" cy="1315"/>
            </a:xfrm>
          </p:grpSpPr>
          <p:grpSp>
            <p:nvGrpSpPr>
              <p:cNvPr id="190485" name="Group 160"/>
              <p:cNvGrpSpPr>
                <a:grpSpLocks/>
              </p:cNvGrpSpPr>
              <p:nvPr/>
            </p:nvGrpSpPr>
            <p:grpSpPr bwMode="auto">
              <a:xfrm>
                <a:off x="3840" y="1930"/>
                <a:ext cx="1440" cy="1200"/>
                <a:chOff x="3840" y="1258"/>
                <a:chExt cx="1440" cy="1200"/>
              </a:xfrm>
            </p:grpSpPr>
            <p:sp>
              <p:nvSpPr>
                <p:cNvPr id="190491" name="Line 147"/>
                <p:cNvSpPr>
                  <a:spLocks noChangeShapeType="1"/>
                </p:cNvSpPr>
                <p:nvPr/>
              </p:nvSpPr>
              <p:spPr bwMode="auto">
                <a:xfrm flipV="1">
                  <a:off x="4224" y="1968"/>
                  <a:ext cx="62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lg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2" name="Line 14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224" y="1511"/>
                  <a:ext cx="0" cy="45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3" name="Line 150"/>
                <p:cNvSpPr>
                  <a:spLocks noChangeShapeType="1"/>
                </p:cNvSpPr>
                <p:nvPr/>
              </p:nvSpPr>
              <p:spPr bwMode="auto">
                <a:xfrm flipV="1">
                  <a:off x="4224" y="1557"/>
                  <a:ext cx="565" cy="41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4" name="Line 158"/>
                <p:cNvSpPr>
                  <a:spLocks noChangeShapeType="1"/>
                </p:cNvSpPr>
                <p:nvPr/>
              </p:nvSpPr>
              <p:spPr bwMode="auto">
                <a:xfrm>
                  <a:off x="4237" y="1258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0495" name="Line 159"/>
                <p:cNvSpPr>
                  <a:spLocks noChangeShapeType="1"/>
                </p:cNvSpPr>
                <p:nvPr/>
              </p:nvSpPr>
              <p:spPr bwMode="auto">
                <a:xfrm>
                  <a:off x="3840" y="1968"/>
                  <a:ext cx="14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aphicFrame>
            <p:nvGraphicFramePr>
              <p:cNvPr id="190486" name="Object 161"/>
              <p:cNvGraphicFramePr>
                <a:graphicFrameLocks noChangeAspect="1"/>
              </p:cNvGraphicFramePr>
              <p:nvPr/>
            </p:nvGraphicFramePr>
            <p:xfrm>
              <a:off x="4639" y="2400"/>
              <a:ext cx="192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85" name="Equation" r:id="rId22" imgW="139639" imgH="190417" progId="Equation.3">
                      <p:embed/>
                    </p:oleObj>
                  </mc:Choice>
                  <mc:Fallback>
                    <p:oleObj name="Equation" r:id="rId22" imgW="139639" imgH="190417" progId="Equation.3">
                      <p:embed/>
                      <p:pic>
                        <p:nvPicPr>
                          <p:cNvPr id="0" name="Object 16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39" y="2400"/>
                            <a:ext cx="192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0487" name="Object 162"/>
              <p:cNvGraphicFramePr>
                <a:graphicFrameLocks noChangeAspect="1"/>
              </p:cNvGraphicFramePr>
              <p:nvPr/>
            </p:nvGraphicFramePr>
            <p:xfrm>
              <a:off x="3984" y="2045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86" name="Équation" r:id="rId24" imgW="164957" imgH="203024" progId="Equation.3">
                      <p:embed/>
                    </p:oleObj>
                  </mc:Choice>
                  <mc:Fallback>
                    <p:oleObj name="Équation" r:id="rId24" imgW="164957" imgH="203024" progId="Equation.3">
                      <p:embed/>
                      <p:pic>
                        <p:nvPicPr>
                          <p:cNvPr id="0" name="Object 16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2045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0488" name="Object 163"/>
              <p:cNvGraphicFramePr>
                <a:graphicFrameLocks noChangeAspect="1"/>
              </p:cNvGraphicFramePr>
              <p:nvPr/>
            </p:nvGraphicFramePr>
            <p:xfrm>
              <a:off x="4817" y="2045"/>
              <a:ext cx="157" cy="2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0787" name="Equation" r:id="rId26" imgW="114151" imgH="215619" progId="Equation.3">
                      <p:embed/>
                    </p:oleObj>
                  </mc:Choice>
                  <mc:Fallback>
                    <p:oleObj name="Equation" r:id="rId26" imgW="114151" imgH="215619" progId="Equation.3">
                      <p:embed/>
                      <p:pic>
                        <p:nvPicPr>
                          <p:cNvPr id="0" name="Object 1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7" y="2045"/>
                            <a:ext cx="157" cy="29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0489" name="Text Box 168"/>
              <p:cNvSpPr txBox="1">
                <a:spLocks noChangeArrowheads="1"/>
              </p:cNvSpPr>
              <p:nvPr/>
            </p:nvSpPr>
            <p:spPr bwMode="auto">
              <a:xfrm>
                <a:off x="5088" y="2448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i="1">
                    <a:latin typeface="Arial Narrow" panose="020B0606020202030204" pitchFamily="34" charset="0"/>
                  </a:rPr>
                  <a:t>d</a:t>
                </a:r>
              </a:p>
            </p:txBody>
          </p:sp>
          <p:sp>
            <p:nvSpPr>
              <p:cNvPr id="190490" name="Text Box 169"/>
              <p:cNvSpPr txBox="1">
                <a:spLocks noChangeArrowheads="1"/>
              </p:cNvSpPr>
              <p:nvPr/>
            </p:nvSpPr>
            <p:spPr bwMode="auto">
              <a:xfrm>
                <a:off x="4032" y="1815"/>
                <a:ext cx="18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fr-FR" sz="1800" i="1">
                    <a:latin typeface="Arial Narrow" panose="020B0606020202030204" pitchFamily="34" charset="0"/>
                  </a:rPr>
                  <a:t>q</a:t>
                </a:r>
              </a:p>
            </p:txBody>
          </p:sp>
        </p:grpSp>
      </p:grpSp>
      <p:graphicFrame>
        <p:nvGraphicFramePr>
          <p:cNvPr id="88238" name="Object 174"/>
          <p:cNvGraphicFramePr>
            <a:graphicFrameLocks noChangeAspect="1"/>
          </p:cNvGraphicFramePr>
          <p:nvPr/>
        </p:nvGraphicFramePr>
        <p:xfrm>
          <a:off x="3937000" y="5408613"/>
          <a:ext cx="4583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8" name="Equation" r:id="rId28" imgW="3746500" imgH="431800" progId="Equation.3">
                  <p:embed/>
                </p:oleObj>
              </mc:Choice>
              <mc:Fallback>
                <p:oleObj name="Equation" r:id="rId28" imgW="3746500" imgH="431800" progId="Equation.3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0" y="5408613"/>
                        <a:ext cx="4583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239" name="Object 175"/>
          <p:cNvGraphicFramePr>
            <a:graphicFrameLocks noChangeAspect="1"/>
          </p:cNvGraphicFramePr>
          <p:nvPr/>
        </p:nvGraphicFramePr>
        <p:xfrm>
          <a:off x="3962400" y="6021388"/>
          <a:ext cx="4449763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89" name="Equation" r:id="rId30" imgW="3276600" imgH="431800" progId="Equation.3">
                  <p:embed/>
                </p:oleObj>
              </mc:Choice>
              <mc:Fallback>
                <p:oleObj name="Equation" r:id="rId30" imgW="3276600" imgH="431800" progId="Equation.3">
                  <p:embed/>
                  <p:pic>
                    <p:nvPicPr>
                      <p:cNvPr id="0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6021388"/>
                        <a:ext cx="4449763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0478" name="Object 164"/>
          <p:cNvGraphicFramePr>
            <a:graphicFrameLocks noChangeAspect="1"/>
          </p:cNvGraphicFramePr>
          <p:nvPr/>
        </p:nvGraphicFramePr>
        <p:xfrm>
          <a:off x="4827588" y="1493838"/>
          <a:ext cx="2492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790" name="Equation" r:id="rId32" imgW="114151" imgH="215619" progId="Equation.3">
                  <p:embed/>
                </p:oleObj>
              </mc:Choice>
              <mc:Fallback>
                <p:oleObj name="Equation" r:id="rId32" imgW="114151" imgH="215619" progId="Equation.3">
                  <p:embed/>
                  <p:pic>
                    <p:nvPicPr>
                      <p:cNvPr id="0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7588" y="1493838"/>
                        <a:ext cx="24923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0479" name="Line 149"/>
          <p:cNvSpPr>
            <a:spLocks noChangeShapeType="1"/>
          </p:cNvSpPr>
          <p:nvPr/>
        </p:nvSpPr>
        <p:spPr bwMode="auto">
          <a:xfrm flipH="1">
            <a:off x="957263" y="4232275"/>
            <a:ext cx="915987" cy="1350963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0480" name="ZoneTexte 49"/>
          <p:cNvSpPr txBox="1">
            <a:spLocks noChangeArrowheads="1"/>
          </p:cNvSpPr>
          <p:nvPr/>
        </p:nvSpPr>
        <p:spPr bwMode="auto">
          <a:xfrm>
            <a:off x="884238" y="5692775"/>
            <a:ext cx="3286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dirty="0">
                <a:latin typeface="Arial Narrow" panose="020B0606020202030204" pitchFamily="34" charset="0"/>
              </a:rPr>
              <a:t>C</a:t>
            </a:r>
          </a:p>
        </p:txBody>
      </p:sp>
      <p:sp>
        <p:nvSpPr>
          <p:cNvPr id="190481" name="Espace réservé du numéro de diapositive 5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A70B80-46D5-4C50-ACC0-5E736F00F65E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52" name="Espace réservé du pied de page 5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9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2515" name="Text Box 10"/>
          <p:cNvSpPr txBox="1">
            <a:spLocks noChangeArrowheads="1"/>
          </p:cNvSpPr>
          <p:nvPr/>
        </p:nvSpPr>
        <p:spPr bwMode="auto">
          <a:xfrm>
            <a:off x="914400" y="1295400"/>
            <a:ext cx="662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Arial Narrow" panose="020B0606020202030204" pitchFamily="34" charset="0"/>
              <a:buChar char="•"/>
            </a:pPr>
            <a:r>
              <a:rPr lang="en-US" altLang="fr-FR" sz="2400">
                <a:latin typeface="Arial Narrow" panose="020B0606020202030204" pitchFamily="34" charset="0"/>
              </a:rPr>
              <a:t>La transformation est donnée par :</a:t>
            </a:r>
          </a:p>
        </p:txBody>
      </p:sp>
      <p:sp>
        <p:nvSpPr>
          <p:cNvPr id="192516" name="Rectangle 47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aphicFrame>
        <p:nvGraphicFramePr>
          <p:cNvPr id="192517" name="Object 42"/>
          <p:cNvGraphicFramePr>
            <a:graphicFrameLocks noGrp="1" noChangeAspect="1"/>
          </p:cNvGraphicFramePr>
          <p:nvPr>
            <p:ph sz="half" idx="2"/>
          </p:nvPr>
        </p:nvGraphicFramePr>
        <p:xfrm>
          <a:off x="1254125" y="1895475"/>
          <a:ext cx="4043363" cy="178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544" name="Équation" r:id="rId6" imgW="1612900" imgH="711200" progId="Equation.3">
                  <p:embed/>
                </p:oleObj>
              </mc:Choice>
              <mc:Fallback>
                <p:oleObj name="Équation" r:id="rId6" imgW="1612900" imgH="7112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25" y="1895475"/>
                        <a:ext cx="4043363" cy="178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18" name="Text Box 43"/>
          <p:cNvSpPr txBox="1">
            <a:spLocks noChangeArrowheads="1"/>
          </p:cNvSpPr>
          <p:nvPr/>
        </p:nvSpPr>
        <p:spPr bwMode="auto">
          <a:xfrm>
            <a:off x="6096000" y="2438400"/>
            <a:ext cx="2819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Times New Roman" panose="02020603050405020304" pitchFamily="18" charset="0"/>
              </a:rPr>
              <a:t>Pour neutre isolé,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+ i</a:t>
            </a:r>
            <a:r>
              <a:rPr lang="en-US" altLang="fr-FR" sz="2000" baseline="-25000">
                <a:solidFill>
                  <a:srgbClr val="FF66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fr-FR" sz="2000">
                <a:solidFill>
                  <a:srgbClr val="FF6600"/>
                </a:solidFill>
                <a:latin typeface="Times New Roman" panose="02020603050405020304" pitchFamily="18" charset="0"/>
              </a:rPr>
              <a:t> = 0</a:t>
            </a:r>
            <a:r>
              <a:rPr lang="en-US" altLang="fr-FR" sz="200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Times New Roman" panose="02020603050405020304" pitchFamily="18" charset="0"/>
              </a:rPr>
              <a:t>	i.e. i</a:t>
            </a:r>
            <a:r>
              <a:rPr lang="en-US" altLang="fr-FR" sz="2000" baseline="-25000">
                <a:latin typeface="Times New Roman" panose="02020603050405020304" pitchFamily="18" charset="0"/>
              </a:rPr>
              <a:t>o</a:t>
            </a:r>
            <a:r>
              <a:rPr lang="en-US" altLang="fr-FR" sz="2000">
                <a:latin typeface="Times New Roman" panose="02020603050405020304" pitchFamily="18" charset="0"/>
              </a:rPr>
              <a:t> =0</a:t>
            </a:r>
          </a:p>
        </p:txBody>
      </p:sp>
      <p:sp>
        <p:nvSpPr>
          <p:cNvPr id="192519" name="Text Box 44"/>
          <p:cNvSpPr txBox="1">
            <a:spLocks noChangeArrowheads="1"/>
          </p:cNvSpPr>
          <p:nvPr/>
        </p:nvSpPr>
        <p:spPr bwMode="auto">
          <a:xfrm>
            <a:off x="3505200" y="4191000"/>
            <a:ext cx="162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dqo</a:t>
            </a:r>
            <a:r>
              <a:rPr lang="en-US" altLang="fr-FR" sz="2400">
                <a:latin typeface="Arial Narrow" panose="020B0606020202030204" pitchFamily="34" charset="0"/>
              </a:rPr>
              <a:t> = </a:t>
            </a:r>
            <a:r>
              <a:rPr lang="en-US" altLang="fr-FR" sz="2400" b="1">
                <a:latin typeface="Arial Narrow" panose="020B0606020202030204" pitchFamily="34" charset="0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</a:rPr>
              <a:t>abc </a:t>
            </a: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</a:p>
        </p:txBody>
      </p:sp>
      <p:sp>
        <p:nvSpPr>
          <p:cNvPr id="192520" name="Text Box 45"/>
          <p:cNvSpPr txBox="1">
            <a:spLocks noChangeArrowheads="1"/>
          </p:cNvSpPr>
          <p:nvPr/>
        </p:nvSpPr>
        <p:spPr bwMode="auto">
          <a:xfrm>
            <a:off x="457200" y="4953000"/>
            <a:ext cx="49434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transformation inverse est donnée par :</a:t>
            </a:r>
          </a:p>
        </p:txBody>
      </p:sp>
      <p:sp>
        <p:nvSpPr>
          <p:cNvPr id="192521" name="Text Box 46"/>
          <p:cNvSpPr txBox="1">
            <a:spLocks noChangeArrowheads="1"/>
          </p:cNvSpPr>
          <p:nvPr/>
        </p:nvSpPr>
        <p:spPr bwMode="auto">
          <a:xfrm>
            <a:off x="3505200" y="5715000"/>
            <a:ext cx="1768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  <a:r>
              <a:rPr lang="en-US" altLang="fr-FR" sz="2400">
                <a:latin typeface="Arial Narrow" panose="020B0606020202030204" pitchFamily="34" charset="0"/>
              </a:rPr>
              <a:t> = </a:t>
            </a:r>
            <a:r>
              <a:rPr lang="en-US" altLang="fr-FR" sz="2400" b="1">
                <a:latin typeface="Arial Narrow" panose="020B0606020202030204" pitchFamily="34" charset="0"/>
              </a:rPr>
              <a:t>T</a:t>
            </a:r>
            <a:r>
              <a:rPr lang="en-US" altLang="fr-FR" sz="2400" baseline="-25000">
                <a:latin typeface="Arial Narrow" panose="020B0606020202030204" pitchFamily="34" charset="0"/>
              </a:rPr>
              <a:t>abc</a:t>
            </a:r>
            <a:r>
              <a:rPr lang="en-US" altLang="fr-FR" sz="2400" b="1" baseline="30000">
                <a:latin typeface="Arial Narrow" panose="020B0606020202030204" pitchFamily="34" charset="0"/>
              </a:rPr>
              <a:t>-1</a:t>
            </a:r>
            <a:r>
              <a:rPr lang="en-US" altLang="fr-FR" sz="2400" baseline="-25000">
                <a:latin typeface="Arial Narrow" panose="020B0606020202030204" pitchFamily="34" charset="0"/>
              </a:rPr>
              <a:t> </a:t>
            </a:r>
            <a:r>
              <a:rPr lang="en-US" altLang="fr-FR" sz="2400" b="1">
                <a:latin typeface="Arial Narrow" panose="020B0606020202030204" pitchFamily="34" charset="0"/>
              </a:rPr>
              <a:t>i</a:t>
            </a:r>
            <a:r>
              <a:rPr lang="en-US" altLang="fr-FR" sz="2400" baseline="-25000">
                <a:latin typeface="Arial Narrow" panose="020B0606020202030204" pitchFamily="34" charset="0"/>
              </a:rPr>
              <a:t>dqo</a:t>
            </a:r>
          </a:p>
        </p:txBody>
      </p:sp>
      <p:sp>
        <p:nvSpPr>
          <p:cNvPr id="192522" name="ZoneTexte 13"/>
          <p:cNvSpPr txBox="1">
            <a:spLocks noChangeArrowheads="1"/>
          </p:cNvSpPr>
          <p:nvPr/>
        </p:nvSpPr>
        <p:spPr bwMode="auto">
          <a:xfrm>
            <a:off x="6142038" y="3575050"/>
            <a:ext cx="25193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>
                <a:latin typeface="Arial Narrow" panose="020B0606020202030204" pitchFamily="34" charset="0"/>
              </a:rPr>
              <a:t>i</a:t>
            </a:r>
            <a:r>
              <a:rPr lang="fr-FR" altLang="fr-FR" sz="1600" baseline="-25000">
                <a:latin typeface="Arial Narrow" panose="020B0606020202030204" pitchFamily="34" charset="0"/>
              </a:rPr>
              <a:t>o</a:t>
            </a:r>
            <a:r>
              <a:rPr lang="fr-FR" altLang="fr-FR" sz="1600">
                <a:latin typeface="Arial Narrow" panose="020B0606020202030204" pitchFamily="34" charset="0"/>
              </a:rPr>
              <a:t> correspond à la composante homopolaire</a:t>
            </a:r>
          </a:p>
        </p:txBody>
      </p:sp>
      <p:sp>
        <p:nvSpPr>
          <p:cNvPr id="192523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911625-4D72-4603-B73B-63A8D4D2E93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6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7" name="Rectangle 7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69" name="Rectangle 10"/>
          <p:cNvSpPr>
            <a:spLocks noChangeArrowheads="1"/>
          </p:cNvSpPr>
          <p:nvPr/>
        </p:nvSpPr>
        <p:spPr bwMode="auto">
          <a:xfrm>
            <a:off x="533400" y="1951038"/>
            <a:ext cx="3389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abcs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0" name="Rectangle 11"/>
          <p:cNvSpPr>
            <a:spLocks noChangeArrowheads="1"/>
          </p:cNvSpPr>
          <p:nvPr/>
        </p:nvSpPr>
        <p:spPr bwMode="auto">
          <a:xfrm>
            <a:off x="609600" y="2711450"/>
            <a:ext cx="35131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abcr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0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1" name="AutoShape 12"/>
          <p:cNvSpPr>
            <a:spLocks/>
          </p:cNvSpPr>
          <p:nvPr/>
        </p:nvSpPr>
        <p:spPr bwMode="auto">
          <a:xfrm>
            <a:off x="3962400" y="1874838"/>
            <a:ext cx="457200" cy="1371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4572" name="Text Box 18"/>
          <p:cNvSpPr txBox="1">
            <a:spLocks noChangeArrowheads="1"/>
          </p:cNvSpPr>
          <p:nvPr/>
        </p:nvSpPr>
        <p:spPr bwMode="auto">
          <a:xfrm>
            <a:off x="609600" y="838200"/>
            <a:ext cx="2824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Equations de la MAS</a:t>
            </a:r>
            <a:r>
              <a:rPr lang="en-US" altLang="fr-FR" sz="2400">
                <a:latin typeface="Arial Narrow" panose="020B0606020202030204" pitchFamily="34" charset="0"/>
              </a:rPr>
              <a:t> :</a:t>
            </a:r>
          </a:p>
        </p:txBody>
      </p:sp>
      <p:sp>
        <p:nvSpPr>
          <p:cNvPr id="194573" name="Rectangle 14"/>
          <p:cNvSpPr>
            <a:spLocks noChangeArrowheads="1"/>
          </p:cNvSpPr>
          <p:nvPr/>
        </p:nvSpPr>
        <p:spPr bwMode="auto">
          <a:xfrm>
            <a:off x="4572000" y="19177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4574" name="Rectangle 15"/>
          <p:cNvSpPr>
            <a:spLocks noChangeArrowheads="1"/>
          </p:cNvSpPr>
          <p:nvPr/>
        </p:nvSpPr>
        <p:spPr bwMode="auto">
          <a:xfrm>
            <a:off x="4648200" y="2679700"/>
            <a:ext cx="316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rr</a:t>
            </a:r>
            <a:r>
              <a:rPr lang="en-GB" altLang="fr-FR" sz="2400" b="1">
                <a:latin typeface="Times New Roman" panose="02020603050405020304" pitchFamily="18" charset="0"/>
              </a:rPr>
              <a:t>i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194575" name="Group 90"/>
          <p:cNvGrpSpPr>
            <a:grpSpLocks/>
          </p:cNvGrpSpPr>
          <p:nvPr/>
        </p:nvGrpSpPr>
        <p:grpSpPr bwMode="auto">
          <a:xfrm>
            <a:off x="2743200" y="3200400"/>
            <a:ext cx="3919538" cy="3254375"/>
            <a:chOff x="1728" y="1824"/>
            <a:chExt cx="2469" cy="2050"/>
          </a:xfrm>
        </p:grpSpPr>
        <p:sp>
          <p:nvSpPr>
            <p:cNvPr id="194581" name="Oval 22"/>
            <p:cNvSpPr>
              <a:spLocks noChangeArrowheads="1"/>
            </p:cNvSpPr>
            <p:nvPr/>
          </p:nvSpPr>
          <p:spPr bwMode="auto">
            <a:xfrm>
              <a:off x="1980" y="246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194582" name="Text Box 23"/>
            <p:cNvSpPr txBox="1">
              <a:spLocks noChangeArrowheads="1"/>
            </p:cNvSpPr>
            <p:nvPr/>
          </p:nvSpPr>
          <p:spPr bwMode="auto">
            <a:xfrm>
              <a:off x="2880" y="2932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194583" name="Group 24"/>
            <p:cNvGrpSpPr>
              <a:grpSpLocks noChangeAspect="1"/>
            </p:cNvGrpSpPr>
            <p:nvPr/>
          </p:nvGrpSpPr>
          <p:grpSpPr bwMode="auto">
            <a:xfrm>
              <a:off x="3445" y="3132"/>
              <a:ext cx="632" cy="112"/>
              <a:chOff x="7330" y="4360"/>
              <a:chExt cx="2490" cy="440"/>
            </a:xfrm>
          </p:grpSpPr>
          <p:sp>
            <p:nvSpPr>
              <p:cNvPr id="194636" name="Oval 25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7" name="Oval 26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8" name="Oval 27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9" name="Oval 28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0" name="Oval 29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1" name="Oval 30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2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3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44" name="Line 34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45" name="Line 35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94584" name="Group 36"/>
            <p:cNvGrpSpPr>
              <a:grpSpLocks/>
            </p:cNvGrpSpPr>
            <p:nvPr/>
          </p:nvGrpSpPr>
          <p:grpSpPr bwMode="auto">
            <a:xfrm rot="5400000">
              <a:off x="2324" y="2351"/>
              <a:ext cx="764" cy="102"/>
              <a:chOff x="7330" y="4360"/>
              <a:chExt cx="2490" cy="440"/>
            </a:xfrm>
          </p:grpSpPr>
          <p:sp>
            <p:nvSpPr>
              <p:cNvPr id="194626" name="Oval 37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7" name="Oval 38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8" name="Oval 39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9" name="Oval 40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0" name="Oval 41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1" name="Oval 42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2" name="Rectangle 44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3" name="Rectangle 45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34" name="Line 46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35" name="Line 47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85" name="Text Box 48"/>
            <p:cNvSpPr txBox="1">
              <a:spLocks noChangeArrowheads="1"/>
            </p:cNvSpPr>
            <p:nvPr/>
          </p:nvSpPr>
          <p:spPr bwMode="auto">
            <a:xfrm>
              <a:off x="2256" y="216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194586" name="Group 49"/>
            <p:cNvGrpSpPr>
              <a:grpSpLocks noChangeAspect="1"/>
            </p:cNvGrpSpPr>
            <p:nvPr/>
          </p:nvGrpSpPr>
          <p:grpSpPr bwMode="auto">
            <a:xfrm rot="-3303302">
              <a:off x="2790" y="2782"/>
              <a:ext cx="384" cy="108"/>
              <a:chOff x="7330" y="4360"/>
              <a:chExt cx="2490" cy="702"/>
            </a:xfrm>
          </p:grpSpPr>
          <p:sp>
            <p:nvSpPr>
              <p:cNvPr id="194615" name="Oval 50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6" name="Oval 51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7" name="Oval 52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8" name="Oval 53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19" name="Oval 54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0" name="Oval 55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1" name="Rectangle 56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2" name="Rectangle 57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3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194624" name="Line 59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25" name="Line 60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87" name="Text Box 61"/>
            <p:cNvSpPr txBox="1">
              <a:spLocks noChangeArrowheads="1"/>
            </p:cNvSpPr>
            <p:nvPr/>
          </p:nvSpPr>
          <p:spPr bwMode="auto">
            <a:xfrm>
              <a:off x="2064" y="2980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194588" name="Text Box 62"/>
            <p:cNvSpPr txBox="1">
              <a:spLocks noChangeArrowheads="1"/>
            </p:cNvSpPr>
            <p:nvPr/>
          </p:nvSpPr>
          <p:spPr bwMode="auto">
            <a:xfrm>
              <a:off x="2976" y="2692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194589" name="Line 63"/>
            <p:cNvSpPr>
              <a:spLocks noChangeShapeType="1"/>
            </p:cNvSpPr>
            <p:nvPr/>
          </p:nvSpPr>
          <p:spPr bwMode="auto">
            <a:xfrm flipH="1">
              <a:off x="2708" y="2980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0" name="Line 64"/>
            <p:cNvSpPr>
              <a:spLocks noChangeShapeType="1"/>
            </p:cNvSpPr>
            <p:nvPr/>
          </p:nvSpPr>
          <p:spPr bwMode="auto">
            <a:xfrm flipH="1">
              <a:off x="2696" y="3164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1" name="Line 65"/>
            <p:cNvSpPr>
              <a:spLocks noChangeShapeType="1"/>
            </p:cNvSpPr>
            <p:nvPr/>
          </p:nvSpPr>
          <p:spPr bwMode="auto">
            <a:xfrm flipH="1">
              <a:off x="2714" y="2692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2" name="Line 66"/>
            <p:cNvSpPr>
              <a:spLocks noChangeShapeType="1"/>
            </p:cNvSpPr>
            <p:nvPr/>
          </p:nvSpPr>
          <p:spPr bwMode="auto">
            <a:xfrm flipH="1" flipV="1">
              <a:off x="2720" y="1824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3" name="Line 67"/>
            <p:cNvSpPr>
              <a:spLocks noChangeShapeType="1"/>
            </p:cNvSpPr>
            <p:nvPr/>
          </p:nvSpPr>
          <p:spPr bwMode="auto">
            <a:xfrm flipV="1">
              <a:off x="2947" y="2740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4" name="Text Box 68"/>
            <p:cNvSpPr txBox="1">
              <a:spLocks noChangeArrowheads="1"/>
            </p:cNvSpPr>
            <p:nvPr/>
          </p:nvSpPr>
          <p:spPr bwMode="auto">
            <a:xfrm>
              <a:off x="3600" y="3187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194595" name="Freeform 69"/>
            <p:cNvSpPr>
              <a:spLocks/>
            </p:cNvSpPr>
            <p:nvPr/>
          </p:nvSpPr>
          <p:spPr bwMode="auto">
            <a:xfrm>
              <a:off x="2832" y="2980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596" name="Line 70"/>
            <p:cNvSpPr>
              <a:spLocks noChangeShapeType="1"/>
            </p:cNvSpPr>
            <p:nvPr/>
          </p:nvSpPr>
          <p:spPr bwMode="auto">
            <a:xfrm flipV="1">
              <a:off x="3048" y="234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194597" name="Group 71"/>
            <p:cNvGrpSpPr>
              <a:grpSpLocks/>
            </p:cNvGrpSpPr>
            <p:nvPr/>
          </p:nvGrpSpPr>
          <p:grpSpPr bwMode="auto">
            <a:xfrm rot="416370">
              <a:off x="1728" y="2592"/>
              <a:ext cx="1023" cy="528"/>
              <a:chOff x="3120" y="2260"/>
              <a:chExt cx="1023" cy="528"/>
            </a:xfrm>
          </p:grpSpPr>
          <p:grpSp>
            <p:nvGrpSpPr>
              <p:cNvPr id="194601" name="Group 72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194604" name="Oval 73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5" name="Oval 74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6" name="Oval 75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7" name="Oval 76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8" name="Oval 77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09" name="Oval 78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0" name="Rectangle 79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1" name="Rectangle 80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2" name="Rectangle 81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194613" name="Line 82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94614" name="Line 83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194602" name="Line 84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4603" name="Line 85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94598" name="Text Box 86"/>
            <p:cNvSpPr txBox="1">
              <a:spLocks noChangeArrowheads="1"/>
            </p:cNvSpPr>
            <p:nvPr/>
          </p:nvSpPr>
          <p:spPr bwMode="auto">
            <a:xfrm>
              <a:off x="3216" y="2356"/>
              <a:ext cx="4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rotating</a:t>
              </a:r>
            </a:p>
          </p:txBody>
        </p:sp>
        <p:sp>
          <p:nvSpPr>
            <p:cNvPr id="194599" name="Freeform 87"/>
            <p:cNvSpPr>
              <a:spLocks/>
            </p:cNvSpPr>
            <p:nvPr/>
          </p:nvSpPr>
          <p:spPr bwMode="auto">
            <a:xfrm>
              <a:off x="3120" y="2452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94600" name="Text Box 88"/>
            <p:cNvSpPr txBox="1">
              <a:spLocks noChangeArrowheads="1"/>
            </p:cNvSpPr>
            <p:nvPr/>
          </p:nvSpPr>
          <p:spPr bwMode="auto">
            <a:xfrm>
              <a:off x="2976" y="2260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194576" name="Text Box 91"/>
          <p:cNvSpPr txBox="1">
            <a:spLocks noChangeArrowheads="1"/>
          </p:cNvSpPr>
          <p:nvPr/>
        </p:nvSpPr>
        <p:spPr bwMode="auto">
          <a:xfrm>
            <a:off x="1447800" y="1296988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i="1">
                <a:latin typeface="Arial Narrow" panose="020B0606020202030204" pitchFamily="34" charset="0"/>
              </a:rPr>
              <a:t>3-phase</a:t>
            </a:r>
          </a:p>
        </p:txBody>
      </p:sp>
      <p:sp>
        <p:nvSpPr>
          <p:cNvPr id="194577" name="Text Box 92"/>
          <p:cNvSpPr txBox="1">
            <a:spLocks noChangeArrowheads="1"/>
          </p:cNvSpPr>
          <p:nvPr/>
        </p:nvSpPr>
        <p:spPr bwMode="auto">
          <a:xfrm>
            <a:off x="5334000" y="1295400"/>
            <a:ext cx="1090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 i="1">
                <a:latin typeface="Arial Narrow" panose="020B0606020202030204" pitchFamily="34" charset="0"/>
              </a:rPr>
              <a:t>2-phase</a:t>
            </a:r>
          </a:p>
        </p:txBody>
      </p:sp>
      <p:sp>
        <p:nvSpPr>
          <p:cNvPr id="194578" name="ZoneTexte 84"/>
          <p:cNvSpPr txBox="1">
            <a:spLocks noChangeArrowheads="1"/>
          </p:cNvSpPr>
          <p:nvPr/>
        </p:nvSpPr>
        <p:spPr bwMode="auto">
          <a:xfrm>
            <a:off x="7931150" y="1973263"/>
            <a:ext cx="9858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Stator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Rotor</a:t>
            </a:r>
          </a:p>
        </p:txBody>
      </p:sp>
      <p:sp>
        <p:nvSpPr>
          <p:cNvPr id="194579" name="Espace réservé du numéro de diapositive 8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57D004-0FC4-4812-BD95-822EA3C092C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9" name="Espace réservé du pied de page 8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pSp>
        <p:nvGrpSpPr>
          <p:cNvPr id="196611" name="Group 27"/>
          <p:cNvGrpSpPr>
            <a:grpSpLocks/>
          </p:cNvGrpSpPr>
          <p:nvPr/>
        </p:nvGrpSpPr>
        <p:grpSpPr bwMode="auto">
          <a:xfrm>
            <a:off x="2209800" y="2794000"/>
            <a:ext cx="2603500" cy="558800"/>
            <a:chOff x="768" y="1776"/>
            <a:chExt cx="1640" cy="352"/>
          </a:xfrm>
        </p:grpSpPr>
        <p:graphicFrame>
          <p:nvGraphicFramePr>
            <p:cNvPr id="196629" name="Object 25"/>
            <p:cNvGraphicFramePr>
              <a:graphicFrameLocks noChangeAspect="1"/>
            </p:cNvGraphicFramePr>
            <p:nvPr/>
          </p:nvGraphicFramePr>
          <p:xfrm>
            <a:off x="1240" y="1824"/>
            <a:ext cx="116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45" name="Equation" r:id="rId6" imgW="927100" imgH="241300" progId="Equation.3">
                    <p:embed/>
                  </p:oleObj>
                </mc:Choice>
                <mc:Fallback>
                  <p:oleObj name="Equation" r:id="rId6" imgW="927100" imgH="2413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1824"/>
                          <a:ext cx="116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30" name="Rectangle 26"/>
            <p:cNvSpPr>
              <a:spLocks noChangeArrowheads="1"/>
            </p:cNvSpPr>
            <p:nvPr/>
          </p:nvSpPr>
          <p:spPr bwMode="auto">
            <a:xfrm>
              <a:off x="768" y="1776"/>
              <a:ext cx="39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fr-FR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GB" altLang="fr-FR" sz="2400" b="1" baseline="-25000">
                  <a:latin typeface="Times New Roman" panose="02020603050405020304" pitchFamily="18" charset="0"/>
                </a:rPr>
                <a:t>dq</a:t>
              </a:r>
              <a:endParaRPr lang="en-US" altLang="fr-FR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96612" name="Text Box 28"/>
          <p:cNvSpPr txBox="1">
            <a:spLocks noChangeArrowheads="1"/>
          </p:cNvSpPr>
          <p:nvPr/>
        </p:nvSpPr>
        <p:spPr bwMode="auto">
          <a:xfrm>
            <a:off x="914400" y="2565400"/>
            <a:ext cx="638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Où,</a:t>
            </a:r>
          </a:p>
        </p:txBody>
      </p:sp>
      <p:graphicFrame>
        <p:nvGraphicFramePr>
          <p:cNvPr id="196613" name="Object 29"/>
          <p:cNvGraphicFramePr>
            <a:graphicFrameLocks noChangeAspect="1"/>
          </p:cNvGraphicFramePr>
          <p:nvPr/>
        </p:nvGraphicFramePr>
        <p:xfrm>
          <a:off x="1487488" y="4306888"/>
          <a:ext cx="209073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46" name="Equation" r:id="rId8" imgW="1180588" imgH="418918" progId="Equation.3">
                  <p:embed/>
                </p:oleObj>
              </mc:Choice>
              <mc:Fallback>
                <p:oleObj name="Equation" r:id="rId8" imgW="1180588" imgH="418918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7488" y="4306888"/>
                        <a:ext cx="209073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4" name="Object 30"/>
          <p:cNvGraphicFramePr>
            <a:graphicFrameLocks noChangeAspect="1"/>
          </p:cNvGraphicFramePr>
          <p:nvPr/>
        </p:nvGraphicFramePr>
        <p:xfrm>
          <a:off x="4803775" y="4251325"/>
          <a:ext cx="24701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47" name="Equation" r:id="rId10" imgW="1397000" imgH="482600" progId="Equation.3">
                  <p:embed/>
                </p:oleObj>
              </mc:Choice>
              <mc:Fallback>
                <p:oleObj name="Equation" r:id="rId10" imgW="1397000" imgH="482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4251325"/>
                        <a:ext cx="247015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5" name="Object 32"/>
          <p:cNvGraphicFramePr>
            <a:graphicFrameLocks noChangeAspect="1"/>
          </p:cNvGraphicFramePr>
          <p:nvPr/>
        </p:nvGraphicFramePr>
        <p:xfrm>
          <a:off x="1270000" y="5414963"/>
          <a:ext cx="25812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48" name="Equation" r:id="rId12" imgW="1447172" imgH="482391" progId="Equation.3">
                  <p:embed/>
                </p:oleObj>
              </mc:Choice>
              <mc:Fallback>
                <p:oleObj name="Equation" r:id="rId12" imgW="1447172" imgH="482391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5414963"/>
                        <a:ext cx="258127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616" name="Object 33"/>
          <p:cNvGraphicFramePr>
            <a:graphicFrameLocks noChangeAspect="1"/>
          </p:cNvGraphicFramePr>
          <p:nvPr/>
        </p:nvGraphicFramePr>
        <p:xfrm>
          <a:off x="4803775" y="5394325"/>
          <a:ext cx="25161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49" name="Equation" r:id="rId14" imgW="1422400" imgH="482600" progId="Equation.3">
                  <p:embed/>
                </p:oleObj>
              </mc:Choice>
              <mc:Fallback>
                <p:oleObj name="Equation" r:id="rId14" imgW="1422400" imgH="482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5394325"/>
                        <a:ext cx="25161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617" name="Group 34"/>
          <p:cNvGrpSpPr>
            <a:grpSpLocks/>
          </p:cNvGrpSpPr>
          <p:nvPr/>
        </p:nvGrpSpPr>
        <p:grpSpPr bwMode="auto">
          <a:xfrm>
            <a:off x="2209800" y="3429000"/>
            <a:ext cx="2667000" cy="542925"/>
            <a:chOff x="768" y="1785"/>
            <a:chExt cx="1568" cy="319"/>
          </a:xfrm>
        </p:grpSpPr>
        <p:graphicFrame>
          <p:nvGraphicFramePr>
            <p:cNvPr id="196627" name="Object 35"/>
            <p:cNvGraphicFramePr>
              <a:graphicFrameLocks noChangeAspect="1"/>
            </p:cNvGraphicFramePr>
            <p:nvPr/>
          </p:nvGraphicFramePr>
          <p:xfrm>
            <a:off x="1312" y="1848"/>
            <a:ext cx="102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750" name="Equation" r:id="rId16" imgW="812447" imgH="203112" progId="Equation.3">
                    <p:embed/>
                  </p:oleObj>
                </mc:Choice>
                <mc:Fallback>
                  <p:oleObj name="Equation" r:id="rId16" imgW="812447" imgH="203112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2" y="1848"/>
                          <a:ext cx="102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28" name="Rectangle 36"/>
            <p:cNvSpPr>
              <a:spLocks noChangeArrowheads="1"/>
            </p:cNvSpPr>
            <p:nvPr/>
          </p:nvSpPr>
          <p:spPr bwMode="auto">
            <a:xfrm>
              <a:off x="768" y="1785"/>
              <a:ext cx="37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fr-FR" sz="2400" b="1">
                  <a:latin typeface="Times New Roman" panose="02020603050405020304" pitchFamily="18" charset="0"/>
                  <a:sym typeface="Symbol" panose="05050102010706020507" pitchFamily="18" charset="2"/>
                </a:rPr>
                <a:t></a:t>
              </a:r>
              <a:r>
                <a:rPr lang="en-GB" altLang="fr-FR" sz="2400" b="1" baseline="-25000">
                  <a:latin typeface="Times New Roman" panose="02020603050405020304" pitchFamily="18" charset="0"/>
                  <a:sym typeface="Symbol" panose="05050102010706020507" pitchFamily="18" charset="2"/>
                </a:rPr>
                <a:t></a:t>
              </a:r>
              <a:endParaRPr lang="en-GB" altLang="fr-FR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96618" name="AutoShape 38"/>
          <p:cNvSpPr>
            <a:spLocks noChangeArrowheads="1"/>
          </p:cNvSpPr>
          <p:nvPr/>
        </p:nvSpPr>
        <p:spPr bwMode="auto">
          <a:xfrm>
            <a:off x="4953000" y="1447800"/>
            <a:ext cx="1066800" cy="228600"/>
          </a:xfrm>
          <a:prstGeom prst="leftArrow">
            <a:avLst>
              <a:gd name="adj1" fmla="val 50000"/>
              <a:gd name="adj2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6619" name="AutoShape 39"/>
          <p:cNvSpPr>
            <a:spLocks noChangeArrowheads="1"/>
          </p:cNvSpPr>
          <p:nvPr/>
        </p:nvSpPr>
        <p:spPr bwMode="auto">
          <a:xfrm>
            <a:off x="4953000" y="2057400"/>
            <a:ext cx="1066800" cy="228600"/>
          </a:xfrm>
          <a:prstGeom prst="leftArrow">
            <a:avLst>
              <a:gd name="adj1" fmla="val 50000"/>
              <a:gd name="adj2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6620" name="Text Box 40"/>
          <p:cNvSpPr txBox="1">
            <a:spLocks noChangeArrowheads="1"/>
          </p:cNvSpPr>
          <p:nvPr/>
        </p:nvSpPr>
        <p:spPr bwMode="auto">
          <a:xfrm>
            <a:off x="6156325" y="1371600"/>
            <a:ext cx="2454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Times New Roman" panose="02020603050405020304" pitchFamily="18" charset="0"/>
              </a:rPr>
              <a:t>Repère stationnaire</a:t>
            </a:r>
          </a:p>
        </p:txBody>
      </p:sp>
      <p:sp>
        <p:nvSpPr>
          <p:cNvPr id="196621" name="Text Box 41"/>
          <p:cNvSpPr txBox="1">
            <a:spLocks noChangeArrowheads="1"/>
          </p:cNvSpPr>
          <p:nvPr/>
        </p:nvSpPr>
        <p:spPr bwMode="auto">
          <a:xfrm>
            <a:off x="6156325" y="1981200"/>
            <a:ext cx="2454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600">
                <a:latin typeface="Times New Roman" panose="02020603050405020304" pitchFamily="18" charset="0"/>
              </a:rPr>
              <a:t>Repère tournant</a:t>
            </a:r>
          </a:p>
        </p:txBody>
      </p:sp>
      <p:sp>
        <p:nvSpPr>
          <p:cNvPr id="196622" name="Rectangle 42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60198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6623" name="Rectangle 45"/>
          <p:cNvSpPr>
            <a:spLocks noChangeArrowheads="1"/>
          </p:cNvSpPr>
          <p:nvPr/>
        </p:nvSpPr>
        <p:spPr bwMode="auto">
          <a:xfrm>
            <a:off x="1295400" y="1219200"/>
            <a:ext cx="291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s</a:t>
            </a:r>
            <a:r>
              <a:rPr lang="en-GB" altLang="fr-FR" sz="2400" b="1">
                <a:latin typeface="Times New Roman" panose="02020603050405020304" pitchFamily="18" charset="0"/>
              </a:rPr>
              <a:t>i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</a:t>
            </a:r>
            <a:r>
              <a:rPr lang="en-GB" altLang="fr-FR" sz="2400" b="1" baseline="-25000">
                <a:latin typeface="Times New Roman" panose="02020603050405020304" pitchFamily="18" charset="0"/>
              </a:rPr>
              <a:t>dq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6624" name="Rectangle 46"/>
          <p:cNvSpPr>
            <a:spLocks noChangeArrowheads="1"/>
          </p:cNvSpPr>
          <p:nvPr/>
        </p:nvSpPr>
        <p:spPr bwMode="auto">
          <a:xfrm>
            <a:off x="1371600" y="1981200"/>
            <a:ext cx="309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fr-FR" sz="2400" b="1">
                <a:latin typeface="Times New Roman" panose="02020603050405020304" pitchFamily="18" charset="0"/>
              </a:rPr>
              <a:t>v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= R</a:t>
            </a:r>
            <a:r>
              <a:rPr lang="en-GB" altLang="fr-FR" sz="2400" baseline="-25000">
                <a:latin typeface="Times New Roman" panose="02020603050405020304" pitchFamily="18" charset="0"/>
              </a:rPr>
              <a:t>r</a:t>
            </a:r>
            <a:r>
              <a:rPr lang="en-GB" altLang="fr-FR" sz="2400" b="1">
                <a:latin typeface="Times New Roman" panose="02020603050405020304" pitchFamily="18" charset="0"/>
              </a:rPr>
              <a:t>i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</a:rPr>
              <a:t> + d(</a:t>
            </a:r>
            <a:r>
              <a:rPr lang="en-GB" altLang="fr-FR" sz="2400" b="1">
                <a:latin typeface="Times New Roman" panose="02020603050405020304" pitchFamily="18" charset="0"/>
                <a:sym typeface="Symbol" panose="05050102010706020507" pitchFamily="18" charset="2"/>
              </a:rPr>
              <a:t> </a:t>
            </a:r>
            <a:r>
              <a:rPr lang="en-GB" altLang="fr-FR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GB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)/dt</a:t>
            </a:r>
            <a:endParaRPr lang="en-US" altLang="fr-FR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96625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D64C34-524A-4F24-A468-050DDB3C82C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59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0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1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2" name="Rectangle 8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3" name="Rectangle 9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98664" name="Text Box 179"/>
          <p:cNvSpPr txBox="1">
            <a:spLocks noChangeArrowheads="1"/>
          </p:cNvSpPr>
          <p:nvPr/>
        </p:nvSpPr>
        <p:spPr bwMode="auto">
          <a:xfrm>
            <a:off x="762000" y="1219200"/>
            <a:ext cx="1911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A noter que:</a:t>
            </a:r>
          </a:p>
        </p:txBody>
      </p:sp>
      <p:sp>
        <p:nvSpPr>
          <p:cNvPr id="198665" name="Text Box 180"/>
          <p:cNvSpPr txBox="1">
            <a:spLocks noChangeArrowheads="1"/>
          </p:cNvSpPr>
          <p:nvPr/>
        </p:nvSpPr>
        <p:spPr bwMode="auto">
          <a:xfrm>
            <a:off x="1828800" y="1905000"/>
            <a:ext cx="191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qd</a:t>
            </a:r>
            <a:r>
              <a:rPr lang="en-US" altLang="fr-FR" sz="2400">
                <a:latin typeface="Times New Roman" panose="02020603050405020304" pitchFamily="18" charset="0"/>
              </a:rPr>
              <a:t> =  0</a:t>
            </a:r>
          </a:p>
        </p:txBody>
      </p:sp>
      <p:sp>
        <p:nvSpPr>
          <p:cNvPr id="198666" name="Text Box 185"/>
          <p:cNvSpPr txBox="1">
            <a:spLocks noChangeArrowheads="1"/>
          </p:cNvSpPr>
          <p:nvPr/>
        </p:nvSpPr>
        <p:spPr bwMode="auto">
          <a:xfrm>
            <a:off x="5181600" y="1905000"/>
            <a:ext cx="1987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</a:t>
            </a:r>
            <a:r>
              <a:rPr lang="en-US" altLang="fr-FR" sz="2400">
                <a:latin typeface="Times New Roman" panose="02020603050405020304" pitchFamily="18" charset="0"/>
              </a:rPr>
              <a:t> =  0</a:t>
            </a:r>
          </a:p>
        </p:txBody>
      </p:sp>
      <p:sp>
        <p:nvSpPr>
          <p:cNvPr id="198667" name="Text Box 186"/>
          <p:cNvSpPr txBox="1">
            <a:spLocks noChangeArrowheads="1"/>
          </p:cNvSpPr>
          <p:nvPr/>
        </p:nvSpPr>
        <p:spPr bwMode="auto">
          <a:xfrm>
            <a:off x="701675" y="2743200"/>
            <a:ext cx="3228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dd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qq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GB" altLang="fr-FR" sz="2400">
                <a:latin typeface="Arial Narrow" panose="020B0606020202030204" pitchFamily="34" charset="0"/>
              </a:rPr>
              <a:t>  3/2.L</a:t>
            </a:r>
            <a:r>
              <a:rPr lang="en-GB" altLang="fr-FR" sz="2400" baseline="-25000">
                <a:latin typeface="Arial Narrow" panose="020B0606020202030204" pitchFamily="34" charset="0"/>
              </a:rPr>
              <a:t>ms</a:t>
            </a:r>
            <a:r>
              <a:rPr lang="en-GB" altLang="fr-FR" sz="2400">
                <a:latin typeface="Arial Narrow" panose="020B0606020202030204" pitchFamily="34" charset="0"/>
              </a:rPr>
              <a:t> + L</a:t>
            </a:r>
            <a:r>
              <a:rPr lang="en-GB" altLang="fr-FR" sz="2400" baseline="-25000">
                <a:latin typeface="Arial Narrow" panose="020B0606020202030204" pitchFamily="34" charset="0"/>
              </a:rPr>
              <a:t>ls 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8668" name="Text Box 187"/>
          <p:cNvSpPr txBox="1">
            <a:spLocks noChangeArrowheads="1"/>
          </p:cNvSpPr>
          <p:nvPr/>
        </p:nvSpPr>
        <p:spPr bwMode="auto">
          <a:xfrm>
            <a:off x="4791075" y="2771775"/>
            <a:ext cx="3302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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GB" altLang="fr-FR" sz="2400">
                <a:latin typeface="Arial Narrow" panose="020B0606020202030204" pitchFamily="34" charset="0"/>
              </a:rPr>
              <a:t>  3/2.L</a:t>
            </a:r>
            <a:r>
              <a:rPr lang="en-GB" altLang="fr-FR" sz="2400" baseline="-25000">
                <a:latin typeface="Arial Narrow" panose="020B0606020202030204" pitchFamily="34" charset="0"/>
              </a:rPr>
              <a:t>mr</a:t>
            </a:r>
            <a:r>
              <a:rPr lang="en-GB" altLang="fr-FR" sz="2400">
                <a:latin typeface="Arial Narrow" panose="020B0606020202030204" pitchFamily="34" charset="0"/>
              </a:rPr>
              <a:t> + L</a:t>
            </a:r>
            <a:r>
              <a:rPr lang="en-GB" altLang="fr-FR" sz="2400" baseline="-25000">
                <a:latin typeface="Arial Narrow" panose="020B0606020202030204" pitchFamily="34" charset="0"/>
              </a:rPr>
              <a:t>lr 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</p:txBody>
      </p:sp>
      <p:sp>
        <p:nvSpPr>
          <p:cNvPr id="198669" name="Text Box 188"/>
          <p:cNvSpPr txBox="1">
            <a:spLocks noChangeArrowheads="1"/>
          </p:cNvSpPr>
          <p:nvPr/>
        </p:nvSpPr>
        <p:spPr bwMode="auto">
          <a:xfrm>
            <a:off x="847725" y="3392488"/>
            <a:ext cx="76962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L’inductance mutuelle entre stator et rotor dépend de la position du rotor: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d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		           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d</a:t>
            </a:r>
            <a:r>
              <a:rPr lang="en-US" altLang="fr-FR" sz="2400">
                <a:latin typeface="Times New Roman" panose="02020603050405020304" pitchFamily="18" charset="0"/>
              </a:rPr>
              <a:t> = -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		 </a:t>
            </a: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q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 baseline="-25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Avec  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sr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=3/2. N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/N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.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ms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98670" name="Rectangle 189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0198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198671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5551F7-DD9E-491A-B602-7EE7855CCB5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7" name="Rectangle 3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8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09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0" name="Rectangle 6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1" name="Rectangle 7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0712" name="Text Box 13"/>
          <p:cNvSpPr txBox="1">
            <a:spLocks noChangeArrowheads="1"/>
          </p:cNvSpPr>
          <p:nvPr/>
        </p:nvSpPr>
        <p:spPr bwMode="auto">
          <a:xfrm>
            <a:off x="990600" y="4283075"/>
            <a:ext cx="76962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d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		           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q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cos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4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d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d</a:t>
            </a:r>
            <a:r>
              <a:rPr lang="en-US" altLang="fr-FR" sz="2400">
                <a:latin typeface="Times New Roman" panose="02020603050405020304" pitchFamily="18" charset="0"/>
              </a:rPr>
              <a:t> = -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 		 </a:t>
            </a:r>
            <a:r>
              <a:rPr lang="en-US" altLang="fr-FR" sz="2400">
                <a:latin typeface="Times New Roman" panose="02020603050405020304" pitchFamily="18" charset="0"/>
              </a:rPr>
              <a:t>L</a:t>
            </a:r>
            <a:r>
              <a:rPr lang="en-US" altLang="fr-FR" sz="2400" baseline="-25000">
                <a:latin typeface="Times New Roman" panose="02020603050405020304" pitchFamily="18" charset="0"/>
              </a:rPr>
              <a:t>q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en-US" altLang="fr-FR" sz="2400">
                <a:latin typeface="Times New Roman" panose="02020603050405020304" pitchFamily="18" charset="0"/>
              </a:rPr>
              <a:t> =  L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q</a:t>
            </a:r>
            <a:r>
              <a:rPr lang="en-US" altLang="fr-FR" sz="2400">
                <a:latin typeface="Times New Roman" panose="02020603050405020304" pitchFamily="18" charset="0"/>
              </a:rPr>
              <a:t> = L</a:t>
            </a:r>
            <a:r>
              <a:rPr lang="en-US" altLang="fr-FR" sz="2400" baseline="-25000">
                <a:latin typeface="Times New Roman" panose="02020603050405020304" pitchFamily="18" charset="0"/>
              </a:rPr>
              <a:t>sr</a:t>
            </a:r>
            <a:r>
              <a:rPr lang="en-US" altLang="fr-FR" sz="2400">
                <a:latin typeface="Times New Roman" panose="02020603050405020304" pitchFamily="18" charset="0"/>
              </a:rPr>
              <a:t> sin </a:t>
            </a:r>
            <a:r>
              <a:rPr lang="en-US" altLang="fr-FR" sz="24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fr-FR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00713" name="Rectangle 14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60198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pSp>
        <p:nvGrpSpPr>
          <p:cNvPr id="200714" name="Group 15"/>
          <p:cNvGrpSpPr>
            <a:grpSpLocks/>
          </p:cNvGrpSpPr>
          <p:nvPr/>
        </p:nvGrpSpPr>
        <p:grpSpPr bwMode="auto">
          <a:xfrm>
            <a:off x="2987675" y="981075"/>
            <a:ext cx="3919538" cy="3254375"/>
            <a:chOff x="1728" y="1824"/>
            <a:chExt cx="2469" cy="2050"/>
          </a:xfrm>
        </p:grpSpPr>
        <p:sp>
          <p:nvSpPr>
            <p:cNvPr id="200717" name="Oval 16"/>
            <p:cNvSpPr>
              <a:spLocks noChangeArrowheads="1"/>
            </p:cNvSpPr>
            <p:nvPr/>
          </p:nvSpPr>
          <p:spPr bwMode="auto">
            <a:xfrm>
              <a:off x="1980" y="246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sp>
          <p:nvSpPr>
            <p:cNvPr id="200718" name="Text Box 17"/>
            <p:cNvSpPr txBox="1">
              <a:spLocks noChangeArrowheads="1"/>
            </p:cNvSpPr>
            <p:nvPr/>
          </p:nvSpPr>
          <p:spPr bwMode="auto">
            <a:xfrm>
              <a:off x="2880" y="2932"/>
              <a:ext cx="301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600">
                  <a:latin typeface="Arial Narrow" panose="020B0606020202030204" pitchFamily="34" charset="0"/>
                  <a:sym typeface="Symbol" panose="05050102010706020507" pitchFamily="18" charset="2"/>
                </a:rPr>
                <a:t></a:t>
              </a:r>
              <a:r>
                <a:rPr lang="en-US" altLang="fr-FR" sz="1600" baseline="-25000">
                  <a:latin typeface="Arial Narrow" panose="020B0606020202030204" pitchFamily="34" charset="0"/>
                </a:rPr>
                <a:t>r</a:t>
              </a:r>
              <a:endParaRPr lang="en-US" altLang="fr-FR" sz="1600">
                <a:latin typeface="Arial Narrow" panose="020B0606020202030204" pitchFamily="34" charset="0"/>
              </a:endParaRPr>
            </a:p>
          </p:txBody>
        </p:sp>
        <p:grpSp>
          <p:nvGrpSpPr>
            <p:cNvPr id="200719" name="Group 18"/>
            <p:cNvGrpSpPr>
              <a:grpSpLocks noChangeAspect="1"/>
            </p:cNvGrpSpPr>
            <p:nvPr/>
          </p:nvGrpSpPr>
          <p:grpSpPr bwMode="auto">
            <a:xfrm>
              <a:off x="3445" y="3128"/>
              <a:ext cx="632" cy="178"/>
              <a:chOff x="7330" y="4360"/>
              <a:chExt cx="2490" cy="702"/>
            </a:xfrm>
          </p:grpSpPr>
          <p:sp>
            <p:nvSpPr>
              <p:cNvPr id="200773" name="Oval 19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4" name="Oval 20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5" name="Oval 21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6" name="Oval 22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7" name="Oval 23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8" name="Oval 24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9" name="Rectangle 25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0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1" name="Rectangle 27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82" name="Line 28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83" name="Line 29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0720" name="Group 30"/>
            <p:cNvGrpSpPr>
              <a:grpSpLocks/>
            </p:cNvGrpSpPr>
            <p:nvPr/>
          </p:nvGrpSpPr>
          <p:grpSpPr bwMode="auto">
            <a:xfrm rot="5400000">
              <a:off x="2292" y="2320"/>
              <a:ext cx="764" cy="163"/>
              <a:chOff x="7330" y="4360"/>
              <a:chExt cx="2490" cy="702"/>
            </a:xfrm>
          </p:grpSpPr>
          <p:sp>
            <p:nvSpPr>
              <p:cNvPr id="200762" name="Oval 31"/>
              <p:cNvSpPr>
                <a:spLocks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3" name="Oval 32"/>
              <p:cNvSpPr>
                <a:spLocks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4" name="Oval 33"/>
              <p:cNvSpPr>
                <a:spLocks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5" name="Oval 34"/>
              <p:cNvSpPr>
                <a:spLocks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6" name="Oval 35"/>
              <p:cNvSpPr>
                <a:spLocks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7" name="Oval 36"/>
              <p:cNvSpPr>
                <a:spLocks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8" name="Rectangle 37"/>
              <p:cNvSpPr>
                <a:spLocks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9" name="Rectangle 38"/>
              <p:cNvSpPr>
                <a:spLocks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0" name="Rectangle 39"/>
              <p:cNvSpPr>
                <a:spLocks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71" name="Line 40"/>
              <p:cNvSpPr>
                <a:spLocks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72" name="Line 41"/>
              <p:cNvSpPr>
                <a:spLocks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21" name="Text Box 42"/>
            <p:cNvSpPr txBox="1">
              <a:spLocks noChangeArrowheads="1"/>
            </p:cNvSpPr>
            <p:nvPr/>
          </p:nvSpPr>
          <p:spPr bwMode="auto">
            <a:xfrm>
              <a:off x="2256" y="2164"/>
              <a:ext cx="52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grpSp>
          <p:nvGrpSpPr>
            <p:cNvPr id="200722" name="Group 43"/>
            <p:cNvGrpSpPr>
              <a:grpSpLocks noChangeAspect="1"/>
            </p:cNvGrpSpPr>
            <p:nvPr/>
          </p:nvGrpSpPr>
          <p:grpSpPr bwMode="auto">
            <a:xfrm rot="-3303302">
              <a:off x="2790" y="2782"/>
              <a:ext cx="384" cy="108"/>
              <a:chOff x="7330" y="4360"/>
              <a:chExt cx="2490" cy="702"/>
            </a:xfrm>
          </p:grpSpPr>
          <p:sp>
            <p:nvSpPr>
              <p:cNvPr id="200751" name="Oval 4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2" name="Oval 4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3" name="Oval 4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4" name="Oval 4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5" name="Oval 4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6" name="Oval 4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7" name="Rectangle 50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8" name="Rectangle 5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59" name="Rectangle 5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0760" name="Line 5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61" name="Line 5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23" name="Text Box 55"/>
            <p:cNvSpPr txBox="1">
              <a:spLocks noChangeArrowheads="1"/>
            </p:cNvSpPr>
            <p:nvPr/>
          </p:nvSpPr>
          <p:spPr bwMode="auto">
            <a:xfrm>
              <a:off x="2064" y="2980"/>
              <a:ext cx="513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200724" name="Text Box 56"/>
            <p:cNvSpPr txBox="1">
              <a:spLocks noChangeArrowheads="1"/>
            </p:cNvSpPr>
            <p:nvPr/>
          </p:nvSpPr>
          <p:spPr bwMode="auto">
            <a:xfrm>
              <a:off x="2976" y="2692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</a:t>
              </a:r>
              <a:r>
                <a:rPr lang="en-US" altLang="fr-FR" sz="1200">
                  <a:latin typeface="Arial Narrow" panose="020B060602020203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200725" name="Line 57"/>
            <p:cNvSpPr>
              <a:spLocks noChangeShapeType="1"/>
            </p:cNvSpPr>
            <p:nvPr/>
          </p:nvSpPr>
          <p:spPr bwMode="auto">
            <a:xfrm flipH="1">
              <a:off x="2708" y="2980"/>
              <a:ext cx="124" cy="1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6" name="Line 58"/>
            <p:cNvSpPr>
              <a:spLocks noChangeShapeType="1"/>
            </p:cNvSpPr>
            <p:nvPr/>
          </p:nvSpPr>
          <p:spPr bwMode="auto">
            <a:xfrm flipH="1">
              <a:off x="2696" y="3164"/>
              <a:ext cx="7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7" name="Line 59"/>
            <p:cNvSpPr>
              <a:spLocks noChangeShapeType="1"/>
            </p:cNvSpPr>
            <p:nvPr/>
          </p:nvSpPr>
          <p:spPr bwMode="auto">
            <a:xfrm flipH="1">
              <a:off x="2714" y="2692"/>
              <a:ext cx="1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8" name="Line 60"/>
            <p:cNvSpPr>
              <a:spLocks noChangeShapeType="1"/>
            </p:cNvSpPr>
            <p:nvPr/>
          </p:nvSpPr>
          <p:spPr bwMode="auto">
            <a:xfrm flipH="1" flipV="1">
              <a:off x="2720" y="1824"/>
              <a:ext cx="2" cy="2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29" name="Line 61"/>
            <p:cNvSpPr>
              <a:spLocks noChangeShapeType="1"/>
            </p:cNvSpPr>
            <p:nvPr/>
          </p:nvSpPr>
          <p:spPr bwMode="auto">
            <a:xfrm flipV="1">
              <a:off x="2947" y="2740"/>
              <a:ext cx="77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0" name="Text Box 62"/>
            <p:cNvSpPr txBox="1">
              <a:spLocks noChangeArrowheads="1"/>
            </p:cNvSpPr>
            <p:nvPr/>
          </p:nvSpPr>
          <p:spPr bwMode="auto">
            <a:xfrm>
              <a:off x="3600" y="3172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200731" name="Freeform 63"/>
            <p:cNvSpPr>
              <a:spLocks/>
            </p:cNvSpPr>
            <p:nvPr/>
          </p:nvSpPr>
          <p:spPr bwMode="auto">
            <a:xfrm>
              <a:off x="2832" y="2980"/>
              <a:ext cx="73" cy="192"/>
            </a:xfrm>
            <a:custGeom>
              <a:avLst/>
              <a:gdLst>
                <a:gd name="T0" fmla="*/ 0 w 183"/>
                <a:gd name="T1" fmla="*/ 0 h 753"/>
                <a:gd name="T2" fmla="*/ 0 w 183"/>
                <a:gd name="T3" fmla="*/ 0 h 753"/>
                <a:gd name="T4" fmla="*/ 0 w 183"/>
                <a:gd name="T5" fmla="*/ 0 h 753"/>
                <a:gd name="T6" fmla="*/ 0 60000 65536"/>
                <a:gd name="T7" fmla="*/ 0 60000 65536"/>
                <a:gd name="T8" fmla="*/ 0 60000 65536"/>
                <a:gd name="T9" fmla="*/ 0 w 183"/>
                <a:gd name="T10" fmla="*/ 0 h 753"/>
                <a:gd name="T11" fmla="*/ 183 w 183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3" h="753">
                  <a:moveTo>
                    <a:pt x="146" y="753"/>
                  </a:moveTo>
                  <a:cubicBezTo>
                    <a:pt x="164" y="624"/>
                    <a:pt x="183" y="495"/>
                    <a:pt x="159" y="370"/>
                  </a:cubicBezTo>
                  <a:cubicBezTo>
                    <a:pt x="135" y="245"/>
                    <a:pt x="26" y="62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2" name="Line 64"/>
            <p:cNvSpPr>
              <a:spLocks noChangeShapeType="1"/>
            </p:cNvSpPr>
            <p:nvPr/>
          </p:nvSpPr>
          <p:spPr bwMode="auto">
            <a:xfrm flipV="1">
              <a:off x="3048" y="2348"/>
              <a:ext cx="24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200733" name="Group 65"/>
            <p:cNvGrpSpPr>
              <a:grpSpLocks/>
            </p:cNvGrpSpPr>
            <p:nvPr/>
          </p:nvGrpSpPr>
          <p:grpSpPr bwMode="auto">
            <a:xfrm rot="416370">
              <a:off x="1728" y="2592"/>
              <a:ext cx="1023" cy="528"/>
              <a:chOff x="3120" y="2260"/>
              <a:chExt cx="1023" cy="528"/>
            </a:xfrm>
          </p:grpSpPr>
          <p:grpSp>
            <p:nvGrpSpPr>
              <p:cNvPr id="200737" name="Group 66"/>
              <p:cNvGrpSpPr>
                <a:grpSpLocks noChangeAspect="1"/>
              </p:cNvGrpSpPr>
              <p:nvPr/>
            </p:nvGrpSpPr>
            <p:grpSpPr bwMode="auto">
              <a:xfrm rot="1450097">
                <a:off x="3588" y="2578"/>
                <a:ext cx="383" cy="108"/>
                <a:chOff x="7330" y="4360"/>
                <a:chExt cx="2490" cy="702"/>
              </a:xfrm>
            </p:grpSpPr>
            <p:sp>
              <p:nvSpPr>
                <p:cNvPr id="200740" name="Oval 67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1" name="Oval 68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2" name="Oval 69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3" name="Oval 70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4" name="Oval 71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5" name="Oval 72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6" name="Rectangle 73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7" name="Rectangle 74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8" name="Rectangle 75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0749" name="Line 76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0750" name="Line 77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00738" name="Line 78"/>
              <p:cNvSpPr>
                <a:spLocks noChangeShapeType="1"/>
              </p:cNvSpPr>
              <p:nvPr/>
            </p:nvSpPr>
            <p:spPr bwMode="auto">
              <a:xfrm rot="-221867">
                <a:off x="3953" y="2671"/>
                <a:ext cx="190" cy="1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0739" name="Line 79"/>
              <p:cNvSpPr>
                <a:spLocks noChangeShapeType="1"/>
              </p:cNvSpPr>
              <p:nvPr/>
            </p:nvSpPr>
            <p:spPr bwMode="auto">
              <a:xfrm flipH="1" flipV="1">
                <a:off x="3120" y="2260"/>
                <a:ext cx="532" cy="2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200734" name="Text Box 80"/>
            <p:cNvSpPr txBox="1">
              <a:spLocks noChangeArrowheads="1"/>
            </p:cNvSpPr>
            <p:nvPr/>
          </p:nvSpPr>
          <p:spPr bwMode="auto">
            <a:xfrm>
              <a:off x="3216" y="2356"/>
              <a:ext cx="42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rotating</a:t>
              </a:r>
            </a:p>
          </p:txBody>
        </p:sp>
        <p:sp>
          <p:nvSpPr>
            <p:cNvPr id="200735" name="Freeform 81"/>
            <p:cNvSpPr>
              <a:spLocks/>
            </p:cNvSpPr>
            <p:nvPr/>
          </p:nvSpPr>
          <p:spPr bwMode="auto">
            <a:xfrm>
              <a:off x="3120" y="2452"/>
              <a:ext cx="144" cy="112"/>
            </a:xfrm>
            <a:custGeom>
              <a:avLst/>
              <a:gdLst>
                <a:gd name="T0" fmla="*/ 144 w 144"/>
                <a:gd name="T1" fmla="*/ 112 h 112"/>
                <a:gd name="T2" fmla="*/ 96 w 144"/>
                <a:gd name="T3" fmla="*/ 16 h 112"/>
                <a:gd name="T4" fmla="*/ 0 w 144"/>
                <a:gd name="T5" fmla="*/ 16 h 112"/>
                <a:gd name="T6" fmla="*/ 0 60000 65536"/>
                <a:gd name="T7" fmla="*/ 0 60000 65536"/>
                <a:gd name="T8" fmla="*/ 0 60000 65536"/>
                <a:gd name="T9" fmla="*/ 0 w 144"/>
                <a:gd name="T10" fmla="*/ 0 h 112"/>
                <a:gd name="T11" fmla="*/ 144 w 144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112">
                  <a:moveTo>
                    <a:pt x="144" y="112"/>
                  </a:moveTo>
                  <a:cubicBezTo>
                    <a:pt x="132" y="72"/>
                    <a:pt x="120" y="32"/>
                    <a:pt x="96" y="16"/>
                  </a:cubicBezTo>
                  <a:cubicBezTo>
                    <a:pt x="72" y="0"/>
                    <a:pt x="36" y="8"/>
                    <a:pt x="0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0736" name="Text Box 82"/>
            <p:cNvSpPr txBox="1">
              <a:spLocks noChangeArrowheads="1"/>
            </p:cNvSpPr>
            <p:nvPr/>
          </p:nvSpPr>
          <p:spPr bwMode="auto">
            <a:xfrm>
              <a:off x="2976" y="2260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00715" name="Espace réservé du numéro de diapositive 8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565405-BF05-4D38-B56D-AE5D6B022C67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3" name="Espace réservé du pied de page 8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5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6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7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8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59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60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2761" name="Rectangle 12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60198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graphicFrame>
        <p:nvGraphicFramePr>
          <p:cNvPr id="202762" name="Object 12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85517511"/>
              </p:ext>
            </p:extLst>
          </p:nvPr>
        </p:nvGraphicFramePr>
        <p:xfrm>
          <a:off x="712788" y="2513013"/>
          <a:ext cx="7908925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86" name="Équation" r:id="rId6" imgW="4000320" imgH="965160" progId="Equation.3">
                  <p:embed/>
                </p:oleObj>
              </mc:Choice>
              <mc:Fallback>
                <p:oleObj name="Équation" r:id="rId6" imgW="4000320" imgH="965160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513013"/>
                        <a:ext cx="7908925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63" name="Rectangle 126"/>
          <p:cNvSpPr>
            <a:spLocks noChangeArrowheads="1"/>
          </p:cNvSpPr>
          <p:nvPr/>
        </p:nvSpPr>
        <p:spPr bwMode="auto">
          <a:xfrm>
            <a:off x="609600" y="1600200"/>
            <a:ext cx="502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Forme matricielle :</a:t>
            </a:r>
          </a:p>
        </p:txBody>
      </p:sp>
      <p:sp>
        <p:nvSpPr>
          <p:cNvPr id="202764" name="Rectangle 127"/>
          <p:cNvSpPr>
            <a:spLocks noChangeArrowheads="1"/>
          </p:cNvSpPr>
          <p:nvPr/>
        </p:nvSpPr>
        <p:spPr bwMode="auto">
          <a:xfrm>
            <a:off x="838200" y="4953000"/>
            <a:ext cx="7315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L’inductance mutuelle entre stator et rotor dépend de la position du rotor:</a:t>
            </a:r>
          </a:p>
        </p:txBody>
      </p:sp>
      <p:sp>
        <p:nvSpPr>
          <p:cNvPr id="202765" name="Espace réservé du numéro de diapositive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1E89F5-5FBB-4373-B472-B53AB19EC9D1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lnSpc>
                <a:spcPct val="90000"/>
              </a:lnSpc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–      Modèle biphasé</a:t>
            </a:r>
          </a:p>
        </p:txBody>
      </p:sp>
      <p:sp>
        <p:nvSpPr>
          <p:cNvPr id="204803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4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5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6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7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8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4809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4114800" y="5029200"/>
            <a:ext cx="33639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chemin magnétique partant du stator et traversant le rotor est indépendant de la position du rotor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 </a:t>
            </a:r>
            <a:r>
              <a:rPr lang="en-US" altLang="fr-FR" sz="1800">
                <a:latin typeface="Arial Narrow" panose="020B0606020202030204" pitchFamily="34" charset="0"/>
                <a:sym typeface="Symbol" panose="05050102010706020507" pitchFamily="18" charset="2"/>
              </a:rPr>
              <a:t> l’inductance mutuelle indépendante de la position du rotor.</a:t>
            </a:r>
            <a:endParaRPr lang="en-US" altLang="fr-FR" sz="1800">
              <a:latin typeface="Arial Narrow" panose="020B0606020202030204" pitchFamily="34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868363" y="1558925"/>
            <a:ext cx="6115050" cy="3470275"/>
            <a:chOff x="547" y="568"/>
            <a:chExt cx="3852" cy="2186"/>
          </a:xfrm>
        </p:grpSpPr>
        <p:sp>
          <p:nvSpPr>
            <p:cNvPr id="204815" name="Oval 12"/>
            <p:cNvSpPr>
              <a:spLocks noChangeArrowheads="1"/>
            </p:cNvSpPr>
            <p:nvPr/>
          </p:nvSpPr>
          <p:spPr bwMode="auto">
            <a:xfrm>
              <a:off x="547" y="1344"/>
              <a:ext cx="1421" cy="141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2400">
                <a:latin typeface="Arial Narrow" panose="020B0606020202030204" pitchFamily="34" charset="0"/>
              </a:endParaRPr>
            </a:p>
          </p:txBody>
        </p:sp>
        <p:grpSp>
          <p:nvGrpSpPr>
            <p:cNvPr id="204816" name="Group 13"/>
            <p:cNvGrpSpPr>
              <a:grpSpLocks noChangeAspect="1"/>
            </p:cNvGrpSpPr>
            <p:nvPr/>
          </p:nvGrpSpPr>
          <p:grpSpPr bwMode="auto">
            <a:xfrm>
              <a:off x="2011" y="2056"/>
              <a:ext cx="632" cy="178"/>
              <a:chOff x="7330" y="4360"/>
              <a:chExt cx="2490" cy="702"/>
            </a:xfrm>
          </p:grpSpPr>
          <p:sp>
            <p:nvSpPr>
              <p:cNvPr id="204867" name="Oval 14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8" name="Oval 15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9" name="Oval 16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0" name="Oval 17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1" name="Oval 18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2" name="Oval 19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3" name="Rectangle 20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4" name="Rectangle 21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5" name="Rectangle 22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76" name="Line 23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877" name="Line 24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4817" name="Group 25"/>
            <p:cNvGrpSpPr>
              <a:grpSpLocks noChangeAspect="1"/>
            </p:cNvGrpSpPr>
            <p:nvPr/>
          </p:nvGrpSpPr>
          <p:grpSpPr bwMode="auto">
            <a:xfrm>
              <a:off x="1474" y="2068"/>
              <a:ext cx="384" cy="108"/>
              <a:chOff x="7330" y="4360"/>
              <a:chExt cx="2490" cy="702"/>
            </a:xfrm>
          </p:grpSpPr>
          <p:sp>
            <p:nvSpPr>
              <p:cNvPr id="204856" name="Oval 26"/>
              <p:cNvSpPr>
                <a:spLocks noChangeAspect="1" noChangeArrowheads="1"/>
              </p:cNvSpPr>
              <p:nvPr/>
            </p:nvSpPr>
            <p:spPr bwMode="auto">
              <a:xfrm>
                <a:off x="792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7" name="Oval 27"/>
              <p:cNvSpPr>
                <a:spLocks noChangeAspect="1" noChangeArrowheads="1"/>
              </p:cNvSpPr>
              <p:nvPr/>
            </p:nvSpPr>
            <p:spPr bwMode="auto">
              <a:xfrm>
                <a:off x="8112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8" name="Oval 28"/>
              <p:cNvSpPr>
                <a:spLocks noChangeAspect="1" noChangeArrowheads="1"/>
              </p:cNvSpPr>
              <p:nvPr/>
            </p:nvSpPr>
            <p:spPr bwMode="auto">
              <a:xfrm>
                <a:off x="8297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59" name="Oval 29"/>
              <p:cNvSpPr>
                <a:spLocks noChangeAspect="1" noChangeArrowheads="1"/>
              </p:cNvSpPr>
              <p:nvPr/>
            </p:nvSpPr>
            <p:spPr bwMode="auto">
              <a:xfrm>
                <a:off x="8481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0" name="Oval 30"/>
              <p:cNvSpPr>
                <a:spLocks noChangeAspect="1" noChangeArrowheads="1"/>
              </p:cNvSpPr>
              <p:nvPr/>
            </p:nvSpPr>
            <p:spPr bwMode="auto">
              <a:xfrm>
                <a:off x="8693" y="437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1" name="Oval 31"/>
              <p:cNvSpPr>
                <a:spLocks noChangeAspect="1" noChangeArrowheads="1"/>
              </p:cNvSpPr>
              <p:nvPr/>
            </p:nvSpPr>
            <p:spPr bwMode="auto">
              <a:xfrm>
                <a:off x="8878" y="4360"/>
                <a:ext cx="303" cy="290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2" name="Rectangle 32"/>
              <p:cNvSpPr>
                <a:spLocks noChangeAspect="1" noChangeArrowheads="1"/>
              </p:cNvSpPr>
              <p:nvPr/>
            </p:nvSpPr>
            <p:spPr bwMode="auto">
              <a:xfrm>
                <a:off x="7900" y="4626"/>
                <a:ext cx="1321" cy="4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3" name="Rectangle 33"/>
              <p:cNvSpPr>
                <a:spLocks noChangeAspect="1" noChangeArrowheads="1"/>
              </p:cNvSpPr>
              <p:nvPr/>
            </p:nvSpPr>
            <p:spPr bwMode="auto">
              <a:xfrm>
                <a:off x="77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4" name="Rectangle 34"/>
              <p:cNvSpPr>
                <a:spLocks noChangeAspect="1" noChangeArrowheads="1"/>
              </p:cNvSpPr>
              <p:nvPr/>
            </p:nvSpPr>
            <p:spPr bwMode="auto">
              <a:xfrm>
                <a:off x="9080" y="4510"/>
                <a:ext cx="280" cy="2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0000"/>
                  <a:buFont typeface="Wingdings 2" panose="05020102010507070707" pitchFamily="18" charset="2"/>
                  <a:buChar char=""/>
                  <a:defRPr sz="3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Wingdings 2" panose="05020102010507070707" pitchFamily="18" charset="2"/>
                  <a:buChar char=""/>
                  <a:defRPr sz="26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Arial" panose="020B0604020202020204" pitchFamily="34" charset="0"/>
                  <a:buChar char="○"/>
                  <a:defRPr sz="24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8D89A4"/>
                  </a:buClr>
                  <a:buSzPct val="90000"/>
                  <a:buFont typeface="Wingdings 2" panose="05020102010507070707" pitchFamily="18" charset="2"/>
                  <a:buChar char="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748560"/>
                  </a:buClr>
                  <a:buSzPct val="100000"/>
                  <a:buFont typeface="Arial" panose="020B0604020202020204" pitchFamily="34" charset="0"/>
                  <a:buChar char="-"/>
                  <a:defRPr sz="2000">
                    <a:solidFill>
                      <a:schemeClr val="tx1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fr-FR" altLang="fr-FR" sz="2400">
                  <a:latin typeface="Arial Narrow" panose="020B0606020202030204" pitchFamily="34" charset="0"/>
                </a:endParaRPr>
              </a:p>
            </p:txBody>
          </p:sp>
          <p:sp>
            <p:nvSpPr>
              <p:cNvPr id="204865" name="Line 35"/>
              <p:cNvSpPr>
                <a:spLocks noChangeAspect="1" noChangeShapeType="1"/>
              </p:cNvSpPr>
              <p:nvPr/>
            </p:nvSpPr>
            <p:spPr bwMode="auto">
              <a:xfrm>
                <a:off x="7330" y="450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4866" name="Line 36"/>
              <p:cNvSpPr>
                <a:spLocks noChangeAspect="1" noChangeShapeType="1"/>
              </p:cNvSpPr>
              <p:nvPr/>
            </p:nvSpPr>
            <p:spPr bwMode="auto">
              <a:xfrm>
                <a:off x="9190" y="4510"/>
                <a:ext cx="63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04818" name="Group 37"/>
            <p:cNvGrpSpPr>
              <a:grpSpLocks/>
            </p:cNvGrpSpPr>
            <p:nvPr/>
          </p:nvGrpSpPr>
          <p:grpSpPr bwMode="auto">
            <a:xfrm rot="2334456">
              <a:off x="1014" y="767"/>
              <a:ext cx="542" cy="1134"/>
              <a:chOff x="1672" y="845"/>
              <a:chExt cx="542" cy="1134"/>
            </a:xfrm>
          </p:grpSpPr>
          <p:grpSp>
            <p:nvGrpSpPr>
              <p:cNvPr id="204833" name="Group 38"/>
              <p:cNvGrpSpPr>
                <a:grpSpLocks/>
              </p:cNvGrpSpPr>
              <p:nvPr/>
            </p:nvGrpSpPr>
            <p:grpSpPr bwMode="auto">
              <a:xfrm rot="3051185">
                <a:off x="1341" y="1176"/>
                <a:ext cx="764" cy="102"/>
                <a:chOff x="7330" y="4360"/>
                <a:chExt cx="2490" cy="440"/>
              </a:xfrm>
            </p:grpSpPr>
            <p:sp>
              <p:nvSpPr>
                <p:cNvPr id="204846" name="Oval 39"/>
                <p:cNvSpPr>
                  <a:spLocks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7" name="Oval 40"/>
                <p:cNvSpPr>
                  <a:spLocks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8" name="Oval 41"/>
                <p:cNvSpPr>
                  <a:spLocks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9" name="Oval 42"/>
                <p:cNvSpPr>
                  <a:spLocks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0" name="Oval 43"/>
                <p:cNvSpPr>
                  <a:spLocks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1" name="Oval 44"/>
                <p:cNvSpPr>
                  <a:spLocks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2" name="Rectangle 46"/>
                <p:cNvSpPr>
                  <a:spLocks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3" name="Rectangle 47"/>
                <p:cNvSpPr>
                  <a:spLocks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54" name="Line 48"/>
                <p:cNvSpPr>
                  <a:spLocks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4855" name="Line 49"/>
                <p:cNvSpPr>
                  <a:spLocks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4834" name="Group 50"/>
              <p:cNvGrpSpPr>
                <a:grpSpLocks noChangeAspect="1"/>
              </p:cNvGrpSpPr>
              <p:nvPr/>
            </p:nvGrpSpPr>
            <p:grpSpPr bwMode="auto">
              <a:xfrm rot="3066204">
                <a:off x="1968" y="1734"/>
                <a:ext cx="383" cy="108"/>
                <a:chOff x="7330" y="4360"/>
                <a:chExt cx="2490" cy="702"/>
              </a:xfrm>
            </p:grpSpPr>
            <p:sp>
              <p:nvSpPr>
                <p:cNvPr id="204835" name="Oval 51"/>
                <p:cNvSpPr>
                  <a:spLocks noChangeAspect="1" noChangeArrowheads="1"/>
                </p:cNvSpPr>
                <p:nvPr/>
              </p:nvSpPr>
              <p:spPr bwMode="auto">
                <a:xfrm>
                  <a:off x="792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6" name="Oval 52"/>
                <p:cNvSpPr>
                  <a:spLocks noChangeAspect="1" noChangeArrowheads="1"/>
                </p:cNvSpPr>
                <p:nvPr/>
              </p:nvSpPr>
              <p:spPr bwMode="auto">
                <a:xfrm>
                  <a:off x="8112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7" name="Oval 53"/>
                <p:cNvSpPr>
                  <a:spLocks noChangeAspect="1" noChangeArrowheads="1"/>
                </p:cNvSpPr>
                <p:nvPr/>
              </p:nvSpPr>
              <p:spPr bwMode="auto">
                <a:xfrm>
                  <a:off x="8297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8" name="Oval 54"/>
                <p:cNvSpPr>
                  <a:spLocks noChangeAspect="1" noChangeArrowheads="1"/>
                </p:cNvSpPr>
                <p:nvPr/>
              </p:nvSpPr>
              <p:spPr bwMode="auto">
                <a:xfrm>
                  <a:off x="8481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39" name="Oval 55"/>
                <p:cNvSpPr>
                  <a:spLocks noChangeAspect="1" noChangeArrowheads="1"/>
                </p:cNvSpPr>
                <p:nvPr/>
              </p:nvSpPr>
              <p:spPr bwMode="auto">
                <a:xfrm>
                  <a:off x="8693" y="437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0" name="Oval 56"/>
                <p:cNvSpPr>
                  <a:spLocks noChangeAspect="1" noChangeArrowheads="1"/>
                </p:cNvSpPr>
                <p:nvPr/>
              </p:nvSpPr>
              <p:spPr bwMode="auto">
                <a:xfrm>
                  <a:off x="8878" y="4360"/>
                  <a:ext cx="303" cy="290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1" name="Rectangle 57"/>
                <p:cNvSpPr>
                  <a:spLocks noChangeAspect="1" noChangeArrowheads="1"/>
                </p:cNvSpPr>
                <p:nvPr/>
              </p:nvSpPr>
              <p:spPr bwMode="auto">
                <a:xfrm>
                  <a:off x="7900" y="4626"/>
                  <a:ext cx="1321" cy="436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2" name="Rectangle 58"/>
                <p:cNvSpPr>
                  <a:spLocks noChangeAspect="1" noChangeArrowheads="1"/>
                </p:cNvSpPr>
                <p:nvPr/>
              </p:nvSpPr>
              <p:spPr bwMode="auto">
                <a:xfrm>
                  <a:off x="77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3" name="Rectangle 59"/>
                <p:cNvSpPr>
                  <a:spLocks noChangeAspect="1" noChangeArrowheads="1"/>
                </p:cNvSpPr>
                <p:nvPr/>
              </p:nvSpPr>
              <p:spPr bwMode="auto">
                <a:xfrm>
                  <a:off x="9080" y="4510"/>
                  <a:ext cx="280" cy="29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fr-FR" altLang="fr-FR" sz="2400">
                    <a:latin typeface="Arial Narrow" panose="020B0606020202030204" pitchFamily="34" charset="0"/>
                  </a:endParaRPr>
                </a:p>
              </p:txBody>
            </p:sp>
            <p:sp>
              <p:nvSpPr>
                <p:cNvPr id="204844" name="Line 60"/>
                <p:cNvSpPr>
                  <a:spLocks noChangeAspect="1" noChangeShapeType="1"/>
                </p:cNvSpPr>
                <p:nvPr/>
              </p:nvSpPr>
              <p:spPr bwMode="auto">
                <a:xfrm>
                  <a:off x="7330" y="450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4845" name="Line 61"/>
                <p:cNvSpPr>
                  <a:spLocks noChangeAspect="1" noChangeShapeType="1"/>
                </p:cNvSpPr>
                <p:nvPr/>
              </p:nvSpPr>
              <p:spPr bwMode="auto">
                <a:xfrm>
                  <a:off x="9190" y="4510"/>
                  <a:ext cx="63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sp>
          <p:nvSpPr>
            <p:cNvPr id="204819" name="Text Box 62"/>
            <p:cNvSpPr txBox="1">
              <a:spLocks noChangeArrowheads="1"/>
            </p:cNvSpPr>
            <p:nvPr/>
          </p:nvSpPr>
          <p:spPr bwMode="auto">
            <a:xfrm>
              <a:off x="862" y="1680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q</a:t>
              </a:r>
            </a:p>
          </p:txBody>
        </p:sp>
        <p:sp>
          <p:nvSpPr>
            <p:cNvPr id="204820" name="Text Box 63"/>
            <p:cNvSpPr txBox="1">
              <a:spLocks noChangeArrowheads="1"/>
            </p:cNvSpPr>
            <p:nvPr/>
          </p:nvSpPr>
          <p:spPr bwMode="auto">
            <a:xfrm>
              <a:off x="1426" y="1860"/>
              <a:ext cx="672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200">
                  <a:latin typeface="Arial Narrow" panose="020B0606020202030204" pitchFamily="34" charset="0"/>
                </a:rPr>
                <a:t>rotor, d</a:t>
              </a:r>
            </a:p>
          </p:txBody>
        </p:sp>
        <p:sp>
          <p:nvSpPr>
            <p:cNvPr id="204821" name="Line 64"/>
            <p:cNvSpPr>
              <a:spLocks noChangeShapeType="1"/>
            </p:cNvSpPr>
            <p:nvPr/>
          </p:nvSpPr>
          <p:spPr bwMode="auto">
            <a:xfrm flipH="1" flipV="1">
              <a:off x="1246" y="2088"/>
              <a:ext cx="2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2" name="Line 65"/>
            <p:cNvSpPr>
              <a:spLocks noChangeShapeType="1"/>
            </p:cNvSpPr>
            <p:nvPr/>
          </p:nvSpPr>
          <p:spPr bwMode="auto">
            <a:xfrm flipV="1">
              <a:off x="2650" y="2094"/>
              <a:ext cx="27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3" name="Text Box 66"/>
            <p:cNvSpPr txBox="1">
              <a:spLocks noChangeArrowheads="1"/>
            </p:cNvSpPr>
            <p:nvPr/>
          </p:nvSpPr>
          <p:spPr bwMode="auto">
            <a:xfrm>
              <a:off x="2110" y="1824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d</a:t>
              </a:r>
            </a:p>
          </p:txBody>
        </p:sp>
        <p:sp>
          <p:nvSpPr>
            <p:cNvPr id="204824" name="Line 67"/>
            <p:cNvSpPr>
              <a:spLocks noChangeShapeType="1"/>
            </p:cNvSpPr>
            <p:nvPr/>
          </p:nvSpPr>
          <p:spPr bwMode="auto">
            <a:xfrm>
              <a:off x="1250" y="142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5" name="Line 68"/>
            <p:cNvSpPr>
              <a:spLocks noChangeShapeType="1"/>
            </p:cNvSpPr>
            <p:nvPr/>
          </p:nvSpPr>
          <p:spPr bwMode="auto">
            <a:xfrm>
              <a:off x="1802" y="2088"/>
              <a:ext cx="2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6" name="Line 69"/>
            <p:cNvSpPr>
              <a:spLocks noChangeShapeType="1"/>
            </p:cNvSpPr>
            <p:nvPr/>
          </p:nvSpPr>
          <p:spPr bwMode="auto">
            <a:xfrm flipV="1">
              <a:off x="1242" y="5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7" name="Text Box 70"/>
            <p:cNvSpPr txBox="1">
              <a:spLocks noChangeArrowheads="1"/>
            </p:cNvSpPr>
            <p:nvPr/>
          </p:nvSpPr>
          <p:spPr bwMode="auto">
            <a:xfrm>
              <a:off x="1294" y="1056"/>
              <a:ext cx="597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</a:rPr>
                <a:t>stator, q</a:t>
              </a:r>
            </a:p>
          </p:txBody>
        </p:sp>
        <p:sp>
          <p:nvSpPr>
            <p:cNvPr id="204828" name="Line 71"/>
            <p:cNvSpPr>
              <a:spLocks noChangeShapeType="1"/>
            </p:cNvSpPr>
            <p:nvPr/>
          </p:nvSpPr>
          <p:spPr bwMode="auto">
            <a:xfrm>
              <a:off x="1249" y="189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29" name="Line 72"/>
            <p:cNvSpPr>
              <a:spLocks noChangeShapeType="1"/>
            </p:cNvSpPr>
            <p:nvPr/>
          </p:nvSpPr>
          <p:spPr bwMode="auto">
            <a:xfrm>
              <a:off x="1850" y="2088"/>
              <a:ext cx="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30" name="Freeform 73"/>
            <p:cNvSpPr>
              <a:spLocks/>
            </p:cNvSpPr>
            <p:nvPr/>
          </p:nvSpPr>
          <p:spPr bwMode="auto">
            <a:xfrm>
              <a:off x="2640" y="1968"/>
              <a:ext cx="48" cy="240"/>
            </a:xfrm>
            <a:custGeom>
              <a:avLst/>
              <a:gdLst>
                <a:gd name="T0" fmla="*/ 0 w 48"/>
                <a:gd name="T1" fmla="*/ 240 h 240"/>
                <a:gd name="T2" fmla="*/ 48 w 48"/>
                <a:gd name="T3" fmla="*/ 144 h 240"/>
                <a:gd name="T4" fmla="*/ 0 w 48"/>
                <a:gd name="T5" fmla="*/ 0 h 240"/>
                <a:gd name="T6" fmla="*/ 0 60000 65536"/>
                <a:gd name="T7" fmla="*/ 0 60000 65536"/>
                <a:gd name="T8" fmla="*/ 0 60000 65536"/>
                <a:gd name="T9" fmla="*/ 0 w 48"/>
                <a:gd name="T10" fmla="*/ 0 h 240"/>
                <a:gd name="T11" fmla="*/ 48 w 48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240">
                  <a:moveTo>
                    <a:pt x="0" y="240"/>
                  </a:moveTo>
                  <a:cubicBezTo>
                    <a:pt x="24" y="212"/>
                    <a:pt x="48" y="184"/>
                    <a:pt x="48" y="144"/>
                  </a:cubicBezTo>
                  <a:cubicBezTo>
                    <a:pt x="48" y="104"/>
                    <a:pt x="24" y="52"/>
                    <a:pt x="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831" name="Text Box 74"/>
            <p:cNvSpPr txBox="1">
              <a:spLocks noChangeArrowheads="1"/>
            </p:cNvSpPr>
            <p:nvPr/>
          </p:nvSpPr>
          <p:spPr bwMode="auto">
            <a:xfrm>
              <a:off x="2544" y="1776"/>
              <a:ext cx="2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4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r</a:t>
              </a:r>
              <a:endParaRPr lang="en-US" altLang="fr-FR" sz="14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204832" name="Text Box 75"/>
            <p:cNvSpPr txBox="1">
              <a:spLocks noChangeArrowheads="1"/>
            </p:cNvSpPr>
            <p:nvPr/>
          </p:nvSpPr>
          <p:spPr bwMode="auto">
            <a:xfrm>
              <a:off x="2352" y="2160"/>
              <a:ext cx="204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400" i="1">
                  <a:latin typeface="Arial Narrow" panose="020B0606020202030204" pitchFamily="34" charset="0"/>
                </a:rPr>
                <a:t>Le stator et le rotor  tournants  ou stationnaires</a:t>
              </a:r>
            </a:p>
          </p:txBody>
        </p:sp>
      </p:grpSp>
      <p:sp>
        <p:nvSpPr>
          <p:cNvPr id="94285" name="Text Box 77"/>
          <p:cNvSpPr txBox="1">
            <a:spLocks noChangeArrowheads="1"/>
          </p:cNvSpPr>
          <p:nvPr/>
        </p:nvSpPr>
        <p:spPr bwMode="auto">
          <a:xfrm>
            <a:off x="2016125" y="2690813"/>
            <a:ext cx="43592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solidFill>
                  <a:srgbClr val="FF6600"/>
                </a:solidFill>
                <a:latin typeface="Arial Narrow" panose="020B0606020202030204" pitchFamily="34" charset="0"/>
              </a:rPr>
              <a:t>L’inductance mutuelle peut être indépendante de la position du rotor si on exprime les grandeurs du rotor et du stator dans le même repère (exemple: dans le repère stationnaire)</a:t>
            </a:r>
          </a:p>
        </p:txBody>
      </p:sp>
      <p:sp>
        <p:nvSpPr>
          <p:cNvPr id="204813" name="Espace réservé du numéro de diapositive 77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7E8CF9-5BFC-4272-88E1-AA20EEB5970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81" name="Espace réservé du pied de page 8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2066 -0.18704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42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330" y="-9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4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8" grpId="0"/>
      <p:bldP spid="942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6851" name="Text Box 22"/>
          <p:cNvSpPr txBox="1">
            <a:spLocks noChangeArrowheads="1"/>
          </p:cNvSpPr>
          <p:nvPr/>
        </p:nvSpPr>
        <p:spPr bwMode="auto">
          <a:xfrm>
            <a:off x="990600" y="1295400"/>
            <a:ext cx="72548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Si les grandeurs rotoriques sont rapportées au stator, on peut écrire (le repère d-q lié au stator):  </a:t>
            </a:r>
          </a:p>
        </p:txBody>
      </p:sp>
      <p:sp>
        <p:nvSpPr>
          <p:cNvPr id="206852" name="Rectangle 30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Modèle biphasé</a:t>
            </a:r>
          </a:p>
        </p:txBody>
      </p:sp>
      <p:graphicFrame>
        <p:nvGraphicFramePr>
          <p:cNvPr id="47127" name="Object 23"/>
          <p:cNvGraphicFramePr>
            <a:graphicFrameLocks noGrp="1" noChangeAspect="1"/>
          </p:cNvGraphicFramePr>
          <p:nvPr>
            <p:ph sz="half" idx="2"/>
          </p:nvPr>
        </p:nvGraphicFramePr>
        <p:xfrm>
          <a:off x="993775" y="2303463"/>
          <a:ext cx="7337425" cy="200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79" name="Équation" r:id="rId6" imgW="4508500" imgH="1231900" progId="Equation.3">
                  <p:embed/>
                </p:oleObj>
              </mc:Choice>
              <mc:Fallback>
                <p:oleObj name="Équation" r:id="rId6" imgW="4508500" imgH="12319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303463"/>
                        <a:ext cx="7337425" cy="200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31" name="Text Box 27"/>
          <p:cNvSpPr txBox="1">
            <a:spLocks noChangeArrowheads="1"/>
          </p:cNvSpPr>
          <p:nvPr/>
        </p:nvSpPr>
        <p:spPr bwMode="auto">
          <a:xfrm>
            <a:off x="838200" y="4648200"/>
            <a:ext cx="7254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dirty="0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m</a:t>
            </a:r>
            <a:r>
              <a:rPr lang="en-US" altLang="fr-FR" sz="2000" dirty="0">
                <a:latin typeface="Arial Narrow" panose="020B0606020202030204" pitchFamily="34" charset="0"/>
              </a:rPr>
              <a:t>=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sr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sont</a:t>
            </a:r>
            <a:r>
              <a:rPr lang="en-US" altLang="fr-FR" sz="2000" dirty="0">
                <a:latin typeface="Arial Narrow" panose="020B0606020202030204" pitchFamily="34" charset="0"/>
              </a:rPr>
              <a:t> (</a:t>
            </a:r>
            <a:r>
              <a:rPr lang="en-US" altLang="fr-FR" sz="2000" dirty="0" err="1">
                <a:latin typeface="Arial Narrow" panose="020B0606020202030204" pitchFamily="34" charset="0"/>
              </a:rPr>
              <a:t>resp</a:t>
            </a:r>
            <a:r>
              <a:rPr lang="en-US" altLang="fr-FR" sz="2000" dirty="0">
                <a:latin typeface="Arial Narrow" panose="020B0606020202030204" pitchFamily="34" charset="0"/>
              </a:rPr>
              <a:t>) </a:t>
            </a:r>
            <a:r>
              <a:rPr lang="en-US" altLang="fr-FR" sz="2000" dirty="0" err="1">
                <a:latin typeface="Arial Narrow" panose="020B0606020202030204" pitchFamily="34" charset="0"/>
              </a:rPr>
              <a:t>l’inductance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mutuelle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(entre rotor et stator) et </a:t>
            </a:r>
            <a:r>
              <a:rPr lang="en-US" altLang="fr-FR" sz="2000" dirty="0" err="1">
                <a:latin typeface="Arial Narrow" panose="020B0606020202030204" pitchFamily="34" charset="0"/>
              </a:rPr>
              <a:t>l’inductance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du rotor, et R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r</a:t>
            </a:r>
            <a:r>
              <a:rPr lang="en-US" altLang="fr-FR" sz="2000" dirty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est</a:t>
            </a:r>
            <a:r>
              <a:rPr lang="en-US" altLang="fr-FR" sz="2000" dirty="0">
                <a:latin typeface="Arial Narrow" panose="020B0606020202030204" pitchFamily="34" charset="0"/>
              </a:rPr>
              <a:t> la résistance du rotor</a:t>
            </a:r>
          </a:p>
        </p:txBody>
      </p:sp>
      <p:sp>
        <p:nvSpPr>
          <p:cNvPr id="47132" name="Text Box 28"/>
          <p:cNvSpPr txBox="1">
            <a:spLocks noChangeArrowheads="1"/>
          </p:cNvSpPr>
          <p:nvPr/>
        </p:nvSpPr>
        <p:spPr bwMode="auto">
          <a:xfrm>
            <a:off x="838200" y="5624513"/>
            <a:ext cx="7896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 dirty="0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>
                <a:latin typeface="Arial Narrow" panose="020B0606020202030204" pitchFamily="34" charset="0"/>
              </a:rPr>
              <a:t>s</a:t>
            </a:r>
            <a:r>
              <a:rPr lang="en-US" altLang="fr-FR" sz="2000" dirty="0">
                <a:latin typeface="Arial Narrow" panose="020B0606020202030204" pitchFamily="34" charset="0"/>
              </a:rPr>
              <a:t> = </a:t>
            </a:r>
            <a:r>
              <a:rPr lang="en-US" altLang="fr-FR" sz="2000" dirty="0" err="1">
                <a:latin typeface="Arial Narrow" panose="020B0606020202030204" pitchFamily="34" charset="0"/>
              </a:rPr>
              <a:t>L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dd</a:t>
            </a:r>
            <a:r>
              <a:rPr lang="en-US" altLang="fr-FR" sz="2000" dirty="0">
                <a:latin typeface="Arial Narrow" panose="020B0606020202030204" pitchFamily="34" charset="0"/>
              </a:rPr>
              <a:t> : inductance </a:t>
            </a:r>
            <a:r>
              <a:rPr lang="en-US" altLang="fr-FR" sz="2000" dirty="0" err="1">
                <a:latin typeface="Arial Narrow" panose="020B0606020202030204" pitchFamily="34" charset="0"/>
              </a:rPr>
              <a:t>cyclique</a:t>
            </a:r>
            <a:r>
              <a:rPr lang="en-US" altLang="fr-FR" sz="2000" dirty="0">
                <a:latin typeface="Arial Narrow" panose="020B0606020202030204" pitchFamily="34" charset="0"/>
              </a:rPr>
              <a:t> du stator  ; </a:t>
            </a:r>
            <a:r>
              <a:rPr lang="en-US" altLang="fr-FR" sz="2000" dirty="0" smtClean="0">
                <a:latin typeface="Arial Narrow" panose="020B0606020202030204" pitchFamily="34" charset="0"/>
              </a:rPr>
              <a:t> </a:t>
            </a:r>
            <a:endParaRPr lang="en-US" altLang="fr-FR" sz="2000" dirty="0">
              <a:latin typeface="Arial Narrow" panose="020B0606020202030204" pitchFamily="34" charset="0"/>
            </a:endParaRPr>
          </a:p>
        </p:txBody>
      </p:sp>
      <p:sp>
        <p:nvSpPr>
          <p:cNvPr id="47133" name="Text Box 29"/>
          <p:cNvSpPr txBox="1">
            <a:spLocks noChangeArrowheads="1"/>
          </p:cNvSpPr>
          <p:nvPr/>
        </p:nvSpPr>
        <p:spPr bwMode="auto">
          <a:xfrm>
            <a:off x="838200" y="6019800"/>
            <a:ext cx="72548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fr-FR" sz="2000" dirty="0" err="1">
                <a:latin typeface="Arial Narrow" panose="020B0606020202030204" pitchFamily="34" charset="0"/>
              </a:rPr>
              <a:t>V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rd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v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rq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i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rd</a:t>
            </a:r>
            <a:r>
              <a:rPr lang="en-US" altLang="fr-FR" sz="2000" dirty="0">
                <a:latin typeface="Arial Narrow" panose="020B0606020202030204" pitchFamily="34" charset="0"/>
              </a:rPr>
              <a:t>, </a:t>
            </a:r>
            <a:r>
              <a:rPr lang="en-US" altLang="fr-FR" sz="2000" dirty="0" err="1">
                <a:latin typeface="Arial Narrow" panose="020B0606020202030204" pitchFamily="34" charset="0"/>
              </a:rPr>
              <a:t>i</a:t>
            </a:r>
            <a:r>
              <a:rPr lang="en-US" altLang="fr-FR" sz="2000" baseline="-25000" dirty="0" err="1">
                <a:latin typeface="Arial Narrow" panose="020B0606020202030204" pitchFamily="34" charset="0"/>
              </a:rPr>
              <a:t>rq</a:t>
            </a:r>
            <a:r>
              <a:rPr lang="en-US" altLang="fr-FR" sz="2000" dirty="0">
                <a:latin typeface="Arial Narrow" panose="020B0606020202030204" pitchFamily="34" charset="0"/>
              </a:rPr>
              <a:t> tensions et courants du rotor, </a:t>
            </a:r>
            <a:r>
              <a:rPr lang="en-US" altLang="fr-FR" sz="2000" dirty="0" err="1" smtClean="0">
                <a:latin typeface="Arial Narrow" panose="020B0606020202030204" pitchFamily="34" charset="0"/>
              </a:rPr>
              <a:t>R</a:t>
            </a:r>
            <a:r>
              <a:rPr lang="en-US" altLang="fr-FR" sz="2000" baseline="-25000" dirty="0" err="1" smtClean="0">
                <a:latin typeface="Arial Narrow" panose="020B0606020202030204" pitchFamily="34" charset="0"/>
              </a:rPr>
              <a:t>s</a:t>
            </a:r>
            <a:r>
              <a:rPr lang="en-US" altLang="fr-FR" sz="2000" dirty="0" smtClean="0">
                <a:latin typeface="Arial Narrow" panose="020B0606020202030204" pitchFamily="34" charset="0"/>
              </a:rPr>
              <a:t> </a:t>
            </a:r>
            <a:r>
              <a:rPr lang="en-US" altLang="fr-FR" sz="2000" dirty="0" err="1">
                <a:latin typeface="Arial Narrow" panose="020B0606020202030204" pitchFamily="34" charset="0"/>
              </a:rPr>
              <a:t>est</a:t>
            </a:r>
            <a:r>
              <a:rPr lang="en-US" altLang="fr-FR" sz="2000" dirty="0">
                <a:latin typeface="Arial Narrow" panose="020B0606020202030204" pitchFamily="34" charset="0"/>
              </a:rPr>
              <a:t> la résistance du </a:t>
            </a:r>
            <a:r>
              <a:rPr lang="en-US" altLang="fr-FR" sz="2000" dirty="0" smtClean="0">
                <a:latin typeface="Arial Narrow" panose="020B0606020202030204" pitchFamily="34" charset="0"/>
              </a:rPr>
              <a:t>stator</a:t>
            </a:r>
            <a:endParaRPr lang="en-US" altLang="fr-FR" sz="200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fr-FR" sz="2000" dirty="0">
              <a:latin typeface="Arial Narrow" panose="020B0606020202030204" pitchFamily="34" charset="0"/>
            </a:endParaRPr>
          </a:p>
        </p:txBody>
      </p:sp>
      <p:sp>
        <p:nvSpPr>
          <p:cNvPr id="206857" name="Espace réservé du numéro de diapositive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D75639-508A-4FD2-95B4-B5FE3D28C4E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fr-FR" sz="1000" dirty="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1"/>
          </p:nvPr>
        </p:nvSpPr>
        <p:spPr>
          <a:xfrm>
            <a:off x="3162300" y="62484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/>
              <a:t>Commande</a:t>
            </a:r>
            <a:r>
              <a:rPr lang="en-US" dirty="0"/>
              <a:t> des machines Mach </a:t>
            </a:r>
            <a:r>
              <a:rPr lang="en-US" dirty="0" err="1"/>
              <a:t>asyn</a:t>
            </a:r>
            <a:r>
              <a:rPr lang="en-US" dirty="0"/>
              <a:t>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31" grpId="0"/>
      <p:bldP spid="47132" grpId="0"/>
      <p:bldP spid="4713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08899" name="Text Box 5"/>
          <p:cNvSpPr txBox="1">
            <a:spLocks noChangeArrowheads="1"/>
          </p:cNvSpPr>
          <p:nvPr/>
        </p:nvSpPr>
        <p:spPr bwMode="auto">
          <a:xfrm>
            <a:off x="990600" y="1092200"/>
            <a:ext cx="7524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Comment exprimer les courants rotoriques dans un repère lié au stator ?</a:t>
            </a:r>
          </a:p>
        </p:txBody>
      </p:sp>
      <p:graphicFrame>
        <p:nvGraphicFramePr>
          <p:cNvPr id="208900" name="Object 6"/>
          <p:cNvGraphicFramePr>
            <a:graphicFrameLocks noChangeAspect="1"/>
          </p:cNvGraphicFramePr>
          <p:nvPr/>
        </p:nvGraphicFramePr>
        <p:xfrm>
          <a:off x="1600200" y="2057400"/>
          <a:ext cx="2438400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69" name="Equation" r:id="rId6" imgW="1231366" imgH="393529" progId="Equation.3">
                  <p:embed/>
                </p:oleObj>
              </mc:Choice>
              <mc:Fallback>
                <p:oleObj name="Equation" r:id="rId6" imgW="1231366" imgH="39352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057400"/>
                        <a:ext cx="2438400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1" name="Rectangle 7"/>
          <p:cNvSpPr>
            <a:spLocks noChangeArrowheads="1"/>
          </p:cNvSpPr>
          <p:nvPr/>
        </p:nvSpPr>
        <p:spPr bwMode="auto">
          <a:xfrm>
            <a:off x="1676400" y="381000"/>
            <a:ext cx="5410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 Modèle biphasé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990600" y="3109913"/>
            <a:ext cx="7067550" cy="3290887"/>
            <a:chOff x="624" y="1959"/>
            <a:chExt cx="4452" cy="2073"/>
          </a:xfrm>
        </p:grpSpPr>
        <p:sp>
          <p:nvSpPr>
            <p:cNvPr id="208931" name="Text Box 9"/>
            <p:cNvSpPr txBox="1">
              <a:spLocks noChangeArrowheads="1"/>
            </p:cNvSpPr>
            <p:nvPr/>
          </p:nvSpPr>
          <p:spPr bwMode="auto">
            <a:xfrm>
              <a:off x="624" y="1968"/>
              <a:ext cx="350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Dans un réferentiel tournant , il peut être exprimé comme</a:t>
              </a:r>
              <a:r>
                <a:rPr lang="en-US" altLang="fr-FR" sz="2400">
                  <a:latin typeface="Arial Narrow" panose="020B0606020202030204" pitchFamily="34" charset="0"/>
                </a:rPr>
                <a:t>:</a:t>
              </a:r>
            </a:p>
          </p:txBody>
        </p:sp>
        <p:graphicFrame>
          <p:nvGraphicFramePr>
            <p:cNvPr id="208932" name="Object 10"/>
            <p:cNvGraphicFramePr>
              <a:graphicFrameLocks noChangeAspect="1"/>
            </p:cNvGraphicFramePr>
            <p:nvPr/>
          </p:nvGraphicFramePr>
          <p:xfrm>
            <a:off x="4191" y="1959"/>
            <a:ext cx="88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70" name="Équation" r:id="rId8" imgW="596900" imgH="228600" progId="Equation.3">
                    <p:embed/>
                  </p:oleObj>
                </mc:Choice>
                <mc:Fallback>
                  <p:oleObj name="Équation" r:id="rId8" imgW="596900" imgH="2286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1" y="1959"/>
                          <a:ext cx="885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8933" name="Group 11"/>
            <p:cNvGrpSpPr>
              <a:grpSpLocks/>
            </p:cNvGrpSpPr>
            <p:nvPr/>
          </p:nvGrpSpPr>
          <p:grpSpPr bwMode="auto">
            <a:xfrm>
              <a:off x="624" y="2496"/>
              <a:ext cx="2200" cy="1536"/>
              <a:chOff x="624" y="2496"/>
              <a:chExt cx="2200" cy="1536"/>
            </a:xfrm>
          </p:grpSpPr>
          <p:grpSp>
            <p:nvGrpSpPr>
              <p:cNvPr id="208934" name="Group 12"/>
              <p:cNvGrpSpPr>
                <a:grpSpLocks/>
              </p:cNvGrpSpPr>
              <p:nvPr/>
            </p:nvGrpSpPr>
            <p:grpSpPr bwMode="auto">
              <a:xfrm>
                <a:off x="624" y="2496"/>
                <a:ext cx="2200" cy="1344"/>
                <a:chOff x="624" y="2496"/>
                <a:chExt cx="2200" cy="1344"/>
              </a:xfrm>
            </p:grpSpPr>
            <p:grpSp>
              <p:nvGrpSpPr>
                <p:cNvPr id="208938" name="Group 13"/>
                <p:cNvGrpSpPr>
                  <a:grpSpLocks/>
                </p:cNvGrpSpPr>
                <p:nvPr/>
              </p:nvGrpSpPr>
              <p:grpSpPr bwMode="auto">
                <a:xfrm>
                  <a:off x="624" y="2496"/>
                  <a:ext cx="2200" cy="1344"/>
                  <a:chOff x="624" y="2496"/>
                  <a:chExt cx="2200" cy="1344"/>
                </a:xfrm>
              </p:grpSpPr>
              <p:sp>
                <p:nvSpPr>
                  <p:cNvPr id="208940" name="Freeform 14"/>
                  <p:cNvSpPr>
                    <a:spLocks noChangeAspect="1"/>
                  </p:cNvSpPr>
                  <p:nvPr/>
                </p:nvSpPr>
                <p:spPr bwMode="auto">
                  <a:xfrm>
                    <a:off x="1282" y="3621"/>
                    <a:ext cx="59" cy="88"/>
                  </a:xfrm>
                  <a:custGeom>
                    <a:avLst/>
                    <a:gdLst>
                      <a:gd name="T0" fmla="*/ 0 w 106"/>
                      <a:gd name="T1" fmla="*/ 0 h 158"/>
                      <a:gd name="T2" fmla="*/ 1 w 106"/>
                      <a:gd name="T3" fmla="*/ 1 h 158"/>
                      <a:gd name="T4" fmla="*/ 1 w 106"/>
                      <a:gd name="T5" fmla="*/ 1 h 158"/>
                      <a:gd name="T6" fmla="*/ 0 60000 65536"/>
                      <a:gd name="T7" fmla="*/ 0 60000 65536"/>
                      <a:gd name="T8" fmla="*/ 0 60000 65536"/>
                      <a:gd name="T9" fmla="*/ 0 w 106"/>
                      <a:gd name="T10" fmla="*/ 0 h 158"/>
                      <a:gd name="T11" fmla="*/ 106 w 106"/>
                      <a:gd name="T12" fmla="*/ 158 h 15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6" h="158">
                        <a:moveTo>
                          <a:pt x="0" y="0"/>
                        </a:moveTo>
                        <a:cubicBezTo>
                          <a:pt x="37" y="24"/>
                          <a:pt x="74" y="49"/>
                          <a:pt x="90" y="75"/>
                        </a:cubicBezTo>
                        <a:cubicBezTo>
                          <a:pt x="106" y="101"/>
                          <a:pt x="97" y="147"/>
                          <a:pt x="98" y="15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8941" name="Text Box 15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1278" y="3522"/>
                    <a:ext cx="297" cy="3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40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</a:t>
                    </a:r>
                    <a:r>
                      <a:rPr lang="en-US" altLang="fr-FR" sz="1400" baseline="-25000">
                        <a:latin typeface="Times New Roman" panose="02020603050405020304" pitchFamily="18" charset="0"/>
                      </a:rPr>
                      <a:t>r</a:t>
                    </a:r>
                    <a:endParaRPr lang="en-US" altLang="fr-FR" sz="140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08942" name="Group 16"/>
                  <p:cNvGrpSpPr>
                    <a:grpSpLocks/>
                  </p:cNvGrpSpPr>
                  <p:nvPr/>
                </p:nvGrpSpPr>
                <p:grpSpPr bwMode="auto">
                  <a:xfrm>
                    <a:off x="624" y="2496"/>
                    <a:ext cx="2200" cy="1302"/>
                    <a:chOff x="624" y="2496"/>
                    <a:chExt cx="2200" cy="1302"/>
                  </a:xfrm>
                </p:grpSpPr>
                <p:sp>
                  <p:nvSpPr>
                    <p:cNvPr id="208943" name="Freeform 17"/>
                    <p:cNvSpPr>
                      <a:spLocks noChangeAspect="1"/>
                    </p:cNvSpPr>
                    <p:nvPr/>
                  </p:nvSpPr>
                  <p:spPr bwMode="auto">
                    <a:xfrm>
                      <a:off x="2483" y="3176"/>
                      <a:ext cx="46" cy="159"/>
                    </a:xfrm>
                    <a:custGeom>
                      <a:avLst/>
                      <a:gdLst>
                        <a:gd name="T0" fmla="*/ 1 w 83"/>
                        <a:gd name="T1" fmla="*/ 1 h 285"/>
                        <a:gd name="T2" fmla="*/ 1 w 83"/>
                        <a:gd name="T3" fmla="*/ 1 h 285"/>
                        <a:gd name="T4" fmla="*/ 0 w 83"/>
                        <a:gd name="T5" fmla="*/ 0 h 285"/>
                        <a:gd name="T6" fmla="*/ 0 60000 65536"/>
                        <a:gd name="T7" fmla="*/ 0 60000 65536"/>
                        <a:gd name="T8" fmla="*/ 0 60000 65536"/>
                        <a:gd name="T9" fmla="*/ 0 w 83"/>
                        <a:gd name="T10" fmla="*/ 0 h 285"/>
                        <a:gd name="T11" fmla="*/ 83 w 83"/>
                        <a:gd name="T12" fmla="*/ 285 h 285"/>
                      </a:gdLst>
                      <a:ahLst/>
                      <a:cxnLst>
                        <a:cxn ang="T6">
                          <a:pos x="T0" y="T1"/>
                        </a:cxn>
                        <a:cxn ang="T7">
                          <a:pos x="T2" y="T3"/>
                        </a:cxn>
                        <a:cxn ang="T8">
                          <a:pos x="T4" y="T5"/>
                        </a:cxn>
                      </a:cxnLst>
                      <a:rect l="T9" t="T10" r="T11" b="T12"/>
                      <a:pathLst>
                        <a:path w="83" h="285">
                          <a:moveTo>
                            <a:pt x="83" y="285"/>
                          </a:moveTo>
                          <a:cubicBezTo>
                            <a:pt x="78" y="211"/>
                            <a:pt x="74" y="137"/>
                            <a:pt x="60" y="90"/>
                          </a:cubicBezTo>
                          <a:cubicBezTo>
                            <a:pt x="46" y="43"/>
                            <a:pt x="23" y="21"/>
                            <a:pt x="0" y="0"/>
                          </a:cubicBez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 type="none" w="med" len="med"/>
                      <a:tailEnd type="stealth" w="sm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08944" name="Text Box 18"/>
                    <p:cNvSpPr txBox="1">
                      <a:spLocks noChangeAspect="1" noChangeArrowheads="1"/>
                    </p:cNvSpPr>
                    <p:nvPr/>
                  </p:nvSpPr>
                  <p:spPr bwMode="auto">
                    <a:xfrm>
                      <a:off x="2438" y="3000"/>
                      <a:ext cx="386" cy="31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0000"/>
                        <a:buFont typeface="Wingdings 2" panose="05020102010507070707" pitchFamily="18" charset="2"/>
                        <a:buChar char=""/>
                        <a:defRPr sz="3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6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Arial" panose="020B0604020202020204" pitchFamily="34" charset="0"/>
                        <a:buChar char="○"/>
                        <a:defRPr sz="24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8D89A4"/>
                        </a:buClr>
                        <a:buSzPct val="90000"/>
                        <a:buFont typeface="Wingdings 2" panose="05020102010507070707" pitchFamily="18" charset="2"/>
                        <a:buChar char="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748560"/>
                        </a:buClr>
                        <a:buSzPct val="100000"/>
                        <a:buFont typeface="Arial" panose="020B0604020202020204" pitchFamily="34" charset="0"/>
                        <a:buChar char="-"/>
                        <a:defRPr sz="2000">
                          <a:solidFill>
                            <a:schemeClr val="tx1"/>
                          </a:solidFill>
                          <a:latin typeface="Book Antiqua" panose="02040602050305030304" pitchFamily="18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en-US" altLang="fr-FR" sz="1600"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</a:t>
                      </a:r>
                      <a:r>
                        <a:rPr lang="en-US" altLang="fr-FR" sz="1600" baseline="-25000">
                          <a:latin typeface="Times New Roman" panose="02020603050405020304" pitchFamily="18" charset="0"/>
                        </a:rPr>
                        <a:t>r</a:t>
                      </a:r>
                      <a:endParaRPr lang="en-US" altLang="fr-FR" sz="1600">
                        <a:latin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208945" name="Group 1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24" y="2496"/>
                      <a:ext cx="2027" cy="1302"/>
                      <a:chOff x="624" y="2496"/>
                      <a:chExt cx="2027" cy="1302"/>
                    </a:xfrm>
                  </p:grpSpPr>
                  <p:grpSp>
                    <p:nvGrpSpPr>
                      <p:cNvPr id="208946" name="Group 20"/>
                      <p:cNvGrpSpPr>
                        <a:grpSpLocks noChangeAspect="1"/>
                      </p:cNvGrpSpPr>
                      <p:nvPr/>
                    </p:nvGrpSpPr>
                    <p:grpSpPr bwMode="auto">
                      <a:xfrm rot="-1053123">
                        <a:off x="845" y="2496"/>
                        <a:ext cx="1478" cy="1109"/>
                        <a:chOff x="3810" y="12585"/>
                        <a:chExt cx="2640" cy="1980"/>
                      </a:xfrm>
                    </p:grpSpPr>
                    <p:sp>
                      <p:nvSpPr>
                        <p:cNvPr id="208953" name="Line 21"/>
                        <p:cNvSpPr>
                          <a:spLocks noChangeAspect="1" noChangeShapeType="1"/>
                        </p:cNvSpPr>
                        <p:nvPr/>
                      </p:nvSpPr>
                      <p:spPr bwMode="auto">
                        <a:xfrm>
                          <a:off x="3810" y="14565"/>
                          <a:ext cx="2640" cy="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stealth" w="sm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/>
                        </a:p>
                      </p:txBody>
                    </p:sp>
                    <p:sp>
                      <p:nvSpPr>
                        <p:cNvPr id="208954" name="Line 22"/>
                        <p:cNvSpPr>
                          <a:spLocks noChangeAspect="1" noChangeShapeType="1"/>
                        </p:cNvSpPr>
                        <p:nvPr/>
                      </p:nvSpPr>
                      <p:spPr bwMode="auto">
                        <a:xfrm flipV="1">
                          <a:off x="3810" y="12585"/>
                          <a:ext cx="0" cy="1980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 type="stealth" w="sm" len="sm"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fr-FR"/>
                        </a:p>
                      </p:txBody>
                    </p:sp>
                  </p:grpSp>
                  <p:sp>
                    <p:nvSpPr>
                      <p:cNvPr id="208947" name="Line 23"/>
                      <p:cNvSpPr>
                        <a:spLocks noChangeAspect="1" noChangeShapeType="1"/>
                      </p:cNvSpPr>
                      <p:nvPr/>
                    </p:nvSpPr>
                    <p:spPr bwMode="auto">
                      <a:xfrm flipV="1">
                        <a:off x="1047" y="3034"/>
                        <a:ext cx="1033" cy="76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00"/>
                        </a:solidFill>
                        <a:round/>
                        <a:headEnd/>
                        <a:tailEnd type="stealth" w="sm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08948" name="Text Box 24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2266" y="3323"/>
                        <a:ext cx="385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600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</a:t>
                        </a:r>
                      </a:p>
                    </p:txBody>
                  </p:sp>
                  <p:sp>
                    <p:nvSpPr>
                      <p:cNvPr id="208949" name="Text Box 25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624" y="2546"/>
                        <a:ext cx="385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600">
                            <a:latin typeface="Times New Roman" panose="02020603050405020304" pitchFamily="18" charset="0"/>
                            <a:sym typeface="Symbol" panose="05050102010706020507" pitchFamily="18" charset="2"/>
                          </a:rPr>
                          <a:t></a:t>
                        </a:r>
                      </a:p>
                    </p:txBody>
                  </p:sp>
                  <p:sp>
                    <p:nvSpPr>
                      <p:cNvPr id="208950" name="Text Box 26"/>
                      <p:cNvSpPr txBox="1">
                        <a:spLocks noChangeAspect="1" noChangeArrowheads="1"/>
                      </p:cNvSpPr>
                      <p:nvPr/>
                    </p:nvSpPr>
                    <p:spPr bwMode="auto">
                      <a:xfrm>
                        <a:off x="2035" y="2869"/>
                        <a:ext cx="298" cy="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80000"/>
                          <a:buFont typeface="Wingdings 2" panose="05020102010507070707" pitchFamily="18" charset="2"/>
                          <a:buChar char=""/>
                          <a:defRPr sz="3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1pPr>
                        <a:lvl2pPr marL="742950" indent="-285750">
                          <a:spcBef>
                            <a:spcPct val="20000"/>
                          </a:spcBef>
                          <a:buClr>
                            <a:schemeClr val="accent1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6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2pPr>
                        <a:lvl3pPr marL="1143000" indent="-228600">
                          <a:spcBef>
                            <a:spcPct val="20000"/>
                          </a:spcBef>
                          <a:buClr>
                            <a:schemeClr val="accent2"/>
                          </a:buClr>
                          <a:buSzPct val="85000"/>
                          <a:buFont typeface="Arial" panose="020B0604020202020204" pitchFamily="34" charset="0"/>
                          <a:buChar char="○"/>
                          <a:defRPr sz="24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3pPr>
                        <a:lvl4pPr marL="1600200" indent="-228600">
                          <a:spcBef>
                            <a:spcPct val="20000"/>
                          </a:spcBef>
                          <a:buClr>
                            <a:srgbClr val="8D89A4"/>
                          </a:buClr>
                          <a:buSzPct val="90000"/>
                          <a:buFont typeface="Wingdings 2" panose="05020102010507070707" pitchFamily="18" charset="2"/>
                          <a:buChar char="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4pPr>
                        <a:lvl5pPr marL="2057400" indent="-228600">
                          <a:spcBef>
                            <a:spcPct val="20000"/>
                          </a:spcBef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748560"/>
                          </a:buClr>
                          <a:buSzPct val="100000"/>
                          <a:buFont typeface="Arial" panose="020B0604020202020204" pitchFamily="34" charset="0"/>
                          <a:buChar char="-"/>
                          <a:defRPr sz="2000">
                            <a:solidFill>
                              <a:schemeClr val="tx1"/>
                            </a:solidFill>
                            <a:latin typeface="Book Antiqua" panose="02040602050305030304" pitchFamily="18" charset="0"/>
                          </a:defRPr>
                        </a:lvl9pPr>
                      </a:lstStyle>
                      <a:p>
                        <a:pPr eaLnBrk="1" hangingPunct="1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en-US" altLang="fr-FR" sz="1800">
                            <a:latin typeface="Times New Roman" panose="02020603050405020304" pitchFamily="18" charset="0"/>
                          </a:rPr>
                          <a:t>i</a:t>
                        </a:r>
                        <a:r>
                          <a:rPr lang="en-US" altLang="fr-FR" sz="1800" baseline="-25000">
                            <a:latin typeface="Times New Roman" panose="02020603050405020304" pitchFamily="18" charset="0"/>
                          </a:rPr>
                          <a:t>r</a:t>
                        </a:r>
                        <a:endParaRPr lang="en-US" altLang="fr-FR" sz="180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208951" name="Line 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64" y="3024"/>
                        <a:ext cx="144" cy="384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08952" name="Line 28"/>
                      <p:cNvSpPr>
                        <a:spLocks noChangeShapeType="1"/>
                      </p:cNvSpPr>
                      <p:nvPr/>
                    </p:nvSpPr>
                    <p:spPr bwMode="auto">
                      <a:xfrm flipH="1">
                        <a:off x="912" y="3024"/>
                        <a:ext cx="1152" cy="43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prstDash val="dash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fr-FR"/>
                      </a:p>
                    </p:txBody>
                  </p:sp>
                </p:grpSp>
              </p:grpSp>
            </p:grpSp>
            <p:sp>
              <p:nvSpPr>
                <p:cNvPr id="208939" name="Line 29"/>
                <p:cNvSpPr>
                  <a:spLocks noChangeAspect="1" noChangeShapeType="1"/>
                </p:cNvSpPr>
                <p:nvPr/>
              </p:nvSpPr>
              <p:spPr bwMode="auto">
                <a:xfrm>
                  <a:off x="2105" y="2911"/>
                  <a:ext cx="5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8935" name="Group 30"/>
              <p:cNvGrpSpPr>
                <a:grpSpLocks/>
              </p:cNvGrpSpPr>
              <p:nvPr/>
            </p:nvGrpSpPr>
            <p:grpSpPr bwMode="auto">
              <a:xfrm>
                <a:off x="760" y="3072"/>
                <a:ext cx="672" cy="960"/>
                <a:chOff x="336" y="3168"/>
                <a:chExt cx="672" cy="960"/>
              </a:xfrm>
            </p:grpSpPr>
            <p:sp>
              <p:nvSpPr>
                <p:cNvPr id="208936" name="Line 31"/>
                <p:cNvSpPr>
                  <a:spLocks noChangeShapeType="1"/>
                </p:cNvSpPr>
                <p:nvPr/>
              </p:nvSpPr>
              <p:spPr bwMode="auto">
                <a:xfrm>
                  <a:off x="624" y="3168"/>
                  <a:ext cx="0" cy="96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37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336" y="3888"/>
                  <a:ext cx="67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838200" y="3962400"/>
            <a:ext cx="7081838" cy="2473325"/>
            <a:chOff x="528" y="2496"/>
            <a:chExt cx="4461" cy="1558"/>
          </a:xfrm>
        </p:grpSpPr>
        <p:sp>
          <p:nvSpPr>
            <p:cNvPr id="208908" name="Text Box 34"/>
            <p:cNvSpPr txBox="1">
              <a:spLocks noChangeArrowheads="1"/>
            </p:cNvSpPr>
            <p:nvPr/>
          </p:nvSpPr>
          <p:spPr bwMode="auto">
            <a:xfrm>
              <a:off x="2688" y="2496"/>
              <a:ext cx="230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000">
                  <a:latin typeface="Arial Narrow" panose="020B0606020202030204" pitchFamily="34" charset="0"/>
                </a:rPr>
                <a:t>Dans un repère stationnaire il s’écrit :</a:t>
              </a:r>
            </a:p>
          </p:txBody>
        </p:sp>
        <p:graphicFrame>
          <p:nvGraphicFramePr>
            <p:cNvPr id="208909" name="Object 35"/>
            <p:cNvGraphicFramePr>
              <a:graphicFrameLocks noChangeAspect="1"/>
            </p:cNvGraphicFramePr>
            <p:nvPr/>
          </p:nvGraphicFramePr>
          <p:xfrm>
            <a:off x="3689" y="3015"/>
            <a:ext cx="105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71" name="Equation" r:id="rId10" imgW="711200" imgH="228600" progId="Equation.3">
                    <p:embed/>
                  </p:oleObj>
                </mc:Choice>
                <mc:Fallback>
                  <p:oleObj name="Equation" r:id="rId10" imgW="711200" imgH="22860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3015"/>
                          <a:ext cx="1055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910" name="Object 36"/>
            <p:cNvGraphicFramePr>
              <a:graphicFrameLocks noChangeAspect="1"/>
            </p:cNvGraphicFramePr>
            <p:nvPr/>
          </p:nvGraphicFramePr>
          <p:xfrm>
            <a:off x="3907" y="3408"/>
            <a:ext cx="546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72" name="Equation" r:id="rId12" imgW="368300" imgH="228600" progId="Equation.3">
                    <p:embed/>
                  </p:oleObj>
                </mc:Choice>
                <mc:Fallback>
                  <p:oleObj name="Equation" r:id="rId12" imgW="368300" imgH="2286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7" y="3408"/>
                          <a:ext cx="546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8911" name="Object 37"/>
            <p:cNvGraphicFramePr>
              <a:graphicFrameLocks noChangeAspect="1"/>
            </p:cNvGraphicFramePr>
            <p:nvPr/>
          </p:nvGraphicFramePr>
          <p:xfrm>
            <a:off x="3888" y="3696"/>
            <a:ext cx="810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073" name="Equation" r:id="rId14" imgW="545863" imgH="241195" progId="Equation.3">
                    <p:embed/>
                  </p:oleObj>
                </mc:Choice>
                <mc:Fallback>
                  <p:oleObj name="Equation" r:id="rId14" imgW="545863" imgH="241195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696"/>
                          <a:ext cx="810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8912" name="Group 38"/>
            <p:cNvGrpSpPr>
              <a:grpSpLocks/>
            </p:cNvGrpSpPr>
            <p:nvPr/>
          </p:nvGrpSpPr>
          <p:grpSpPr bwMode="auto">
            <a:xfrm>
              <a:off x="528" y="2580"/>
              <a:ext cx="2304" cy="1462"/>
              <a:chOff x="528" y="2580"/>
              <a:chExt cx="2304" cy="1462"/>
            </a:xfrm>
          </p:grpSpPr>
          <p:grpSp>
            <p:nvGrpSpPr>
              <p:cNvPr id="208913" name="Group 39"/>
              <p:cNvGrpSpPr>
                <a:grpSpLocks/>
              </p:cNvGrpSpPr>
              <p:nvPr/>
            </p:nvGrpSpPr>
            <p:grpSpPr bwMode="auto">
              <a:xfrm>
                <a:off x="985" y="2580"/>
                <a:ext cx="1847" cy="1459"/>
                <a:chOff x="985" y="2580"/>
                <a:chExt cx="1847" cy="1459"/>
              </a:xfrm>
            </p:grpSpPr>
            <p:sp>
              <p:nvSpPr>
                <p:cNvPr id="208921" name="Freeform 40"/>
                <p:cNvSpPr>
                  <a:spLocks noChangeAspect="1"/>
                </p:cNvSpPr>
                <p:nvPr/>
              </p:nvSpPr>
              <p:spPr bwMode="auto">
                <a:xfrm>
                  <a:off x="1461" y="3680"/>
                  <a:ext cx="39" cy="118"/>
                </a:xfrm>
                <a:custGeom>
                  <a:avLst/>
                  <a:gdLst>
                    <a:gd name="T0" fmla="*/ 0 w 70"/>
                    <a:gd name="T1" fmla="*/ 0 h 210"/>
                    <a:gd name="T2" fmla="*/ 1 w 70"/>
                    <a:gd name="T3" fmla="*/ 1 h 210"/>
                    <a:gd name="T4" fmla="*/ 1 w 70"/>
                    <a:gd name="T5" fmla="*/ 1 h 210"/>
                    <a:gd name="T6" fmla="*/ 0 60000 65536"/>
                    <a:gd name="T7" fmla="*/ 0 60000 65536"/>
                    <a:gd name="T8" fmla="*/ 0 60000 65536"/>
                    <a:gd name="T9" fmla="*/ 0 w 70"/>
                    <a:gd name="T10" fmla="*/ 0 h 210"/>
                    <a:gd name="T11" fmla="*/ 70 w 70"/>
                    <a:gd name="T12" fmla="*/ 210 h 2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0" h="210">
                      <a:moveTo>
                        <a:pt x="0" y="0"/>
                      </a:moveTo>
                      <a:cubicBezTo>
                        <a:pt x="25" y="17"/>
                        <a:pt x="50" y="35"/>
                        <a:pt x="60" y="70"/>
                      </a:cubicBezTo>
                      <a:cubicBezTo>
                        <a:pt x="70" y="105"/>
                        <a:pt x="65" y="157"/>
                        <a:pt x="60" y="210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22" name="Text Box 41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56" y="3613"/>
                  <a:ext cx="297" cy="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140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</a:t>
                  </a:r>
                </a:p>
              </p:txBody>
            </p:sp>
            <p:grpSp>
              <p:nvGrpSpPr>
                <p:cNvPr id="208923" name="Group 42"/>
                <p:cNvGrpSpPr>
                  <a:grpSpLocks/>
                </p:cNvGrpSpPr>
                <p:nvPr/>
              </p:nvGrpSpPr>
              <p:grpSpPr bwMode="auto">
                <a:xfrm>
                  <a:off x="985" y="2580"/>
                  <a:ext cx="1847" cy="1459"/>
                  <a:chOff x="985" y="2580"/>
                  <a:chExt cx="1847" cy="1459"/>
                </a:xfrm>
              </p:grpSpPr>
              <p:grpSp>
                <p:nvGrpSpPr>
                  <p:cNvPr id="208924" name="Group 43"/>
                  <p:cNvGrpSpPr>
                    <a:grpSpLocks noChangeAspect="1"/>
                  </p:cNvGrpSpPr>
                  <p:nvPr/>
                </p:nvGrpSpPr>
                <p:grpSpPr bwMode="auto">
                  <a:xfrm>
                    <a:off x="1047" y="2689"/>
                    <a:ext cx="1478" cy="1108"/>
                    <a:chOff x="3810" y="12585"/>
                    <a:chExt cx="2640" cy="1980"/>
                  </a:xfrm>
                </p:grpSpPr>
                <p:sp>
                  <p:nvSpPr>
                    <p:cNvPr id="208929" name="Line 44"/>
                    <p:cNvSpPr>
                      <a:spLocks noChangeAspect="1" noChangeShapeType="1"/>
                    </p:cNvSpPr>
                    <p:nvPr/>
                  </p:nvSpPr>
                  <p:spPr bwMode="auto">
                    <a:xfrm>
                      <a:off x="3810" y="14565"/>
                      <a:ext cx="2640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208930" name="Line 45"/>
                    <p:cNvSpPr>
                      <a:spLocks noChangeAspect="1" noChangeShapeType="1"/>
                    </p:cNvSpPr>
                    <p:nvPr/>
                  </p:nvSpPr>
                  <p:spPr bwMode="auto">
                    <a:xfrm flipV="1">
                      <a:off x="3810" y="12585"/>
                      <a:ext cx="0" cy="19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 type="stealth" w="sm" len="sm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208925" name="Text Box 46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985" y="2580"/>
                    <a:ext cx="385" cy="3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600">
                        <a:latin typeface="Times New Roman" panose="02020603050405020304" pitchFamily="18" charset="0"/>
                      </a:rPr>
                      <a:t>q</a:t>
                    </a:r>
                    <a:r>
                      <a:rPr lang="en-US" altLang="fr-FR" sz="1600" baseline="-25000">
                        <a:latin typeface="Times New Roman" panose="02020603050405020304" pitchFamily="18" charset="0"/>
                      </a:rPr>
                      <a:t>s</a:t>
                    </a:r>
                    <a:endParaRPr lang="en-US" altLang="fr-FR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8926" name="Text Box 47"/>
                  <p:cNvSpPr txBox="1">
                    <a:spLocks noChangeAspect="1" noChangeArrowheads="1"/>
                  </p:cNvSpPr>
                  <p:nvPr/>
                </p:nvSpPr>
                <p:spPr bwMode="auto">
                  <a:xfrm>
                    <a:off x="2447" y="3722"/>
                    <a:ext cx="385" cy="31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1"/>
                      </a:buClr>
                      <a:buSzPct val="80000"/>
                      <a:buFont typeface="Wingdings 2" panose="05020102010507070707" pitchFamily="18" charset="2"/>
                      <a:buChar char=""/>
                      <a:defRPr sz="3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accent1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6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2"/>
                      </a:buClr>
                      <a:buSzPct val="85000"/>
                      <a:buFont typeface="Arial" panose="020B0604020202020204" pitchFamily="34" charset="0"/>
                      <a:buChar char="○"/>
                      <a:defRPr sz="24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8D89A4"/>
                      </a:buClr>
                      <a:buSzPct val="90000"/>
                      <a:buFont typeface="Wingdings 2" panose="05020102010507070707" pitchFamily="18" charset="2"/>
                      <a:buChar char="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748560"/>
                      </a:buClr>
                      <a:buSzPct val="100000"/>
                      <a:buFont typeface="Arial" panose="020B0604020202020204" pitchFamily="34" charset="0"/>
                      <a:buChar char="-"/>
                      <a:defRPr sz="2000">
                        <a:solidFill>
                          <a:schemeClr val="tx1"/>
                        </a:solidFill>
                        <a:latin typeface="Book Antiqua" panose="02040602050305030304" pitchFamily="18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fr-FR" sz="1600">
                        <a:latin typeface="Times New Roman" panose="02020603050405020304" pitchFamily="18" charset="0"/>
                      </a:rPr>
                      <a:t>d</a:t>
                    </a:r>
                    <a:r>
                      <a:rPr lang="en-US" altLang="fr-FR" sz="1600" baseline="-25000">
                        <a:latin typeface="Times New Roman" panose="02020603050405020304" pitchFamily="18" charset="0"/>
                      </a:rPr>
                      <a:t>s</a:t>
                    </a:r>
                    <a:endParaRPr lang="en-US" altLang="fr-FR" sz="16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08927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2064" y="3024"/>
                    <a:ext cx="0" cy="768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08928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08" y="3024"/>
                    <a:ext cx="1056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208914" name="Group 50"/>
              <p:cNvGrpSpPr>
                <a:grpSpLocks/>
              </p:cNvGrpSpPr>
              <p:nvPr/>
            </p:nvGrpSpPr>
            <p:grpSpPr bwMode="auto">
              <a:xfrm>
                <a:off x="1056" y="3792"/>
                <a:ext cx="1008" cy="250"/>
                <a:chOff x="1056" y="3792"/>
                <a:chExt cx="1008" cy="250"/>
              </a:xfrm>
            </p:grpSpPr>
            <p:sp>
              <p:nvSpPr>
                <p:cNvPr id="208919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1488" y="3792"/>
                  <a:ext cx="2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2000">
                      <a:latin typeface="Arial Narrow" panose="020B0606020202030204" pitchFamily="34" charset="0"/>
                    </a:rPr>
                    <a:t>i</a:t>
                  </a:r>
                  <a:r>
                    <a:rPr lang="en-US" altLang="fr-FR" sz="2000" baseline="-25000">
                      <a:latin typeface="Arial Narrow" panose="020B0606020202030204" pitchFamily="34" charset="0"/>
                    </a:rPr>
                    <a:t>rd</a:t>
                  </a:r>
                </a:p>
              </p:txBody>
            </p:sp>
            <p:sp>
              <p:nvSpPr>
                <p:cNvPr id="208920" name="Line 52"/>
                <p:cNvSpPr>
                  <a:spLocks noChangeShapeType="1"/>
                </p:cNvSpPr>
                <p:nvPr/>
              </p:nvSpPr>
              <p:spPr bwMode="auto">
                <a:xfrm>
                  <a:off x="1056" y="3840"/>
                  <a:ext cx="100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208915" name="Group 53"/>
              <p:cNvGrpSpPr>
                <a:grpSpLocks/>
              </p:cNvGrpSpPr>
              <p:nvPr/>
            </p:nvGrpSpPr>
            <p:grpSpPr bwMode="auto">
              <a:xfrm>
                <a:off x="528" y="3024"/>
                <a:ext cx="480" cy="768"/>
                <a:chOff x="528" y="3024"/>
                <a:chExt cx="480" cy="768"/>
              </a:xfrm>
            </p:grpSpPr>
            <p:sp>
              <p:nvSpPr>
                <p:cNvPr id="20891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528" y="3264"/>
                  <a:ext cx="2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0000"/>
                    <a:buFont typeface="Wingdings 2" panose="05020102010507070707" pitchFamily="18" charset="2"/>
                    <a:buChar char=""/>
                    <a:defRPr sz="3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Wingdings 2" panose="05020102010507070707" pitchFamily="18" charset="2"/>
                    <a:buChar char=""/>
                    <a:defRPr sz="26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SzPct val="85000"/>
                    <a:buFont typeface="Arial" panose="020B0604020202020204" pitchFamily="34" charset="0"/>
                    <a:buChar char="○"/>
                    <a:defRPr sz="24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8D89A4"/>
                    </a:buClr>
                    <a:buSzPct val="90000"/>
                    <a:buFont typeface="Wingdings 2" panose="05020102010507070707" pitchFamily="18" charset="2"/>
                    <a:buChar char="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748560"/>
                    </a:buClr>
                    <a:buSzPct val="100000"/>
                    <a:buFont typeface="Arial" panose="020B0604020202020204" pitchFamily="34" charset="0"/>
                    <a:buChar char="-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fr-FR" sz="2000">
                      <a:latin typeface="Arial Narrow" panose="020B0606020202030204" pitchFamily="34" charset="0"/>
                    </a:rPr>
                    <a:t>i</a:t>
                  </a:r>
                  <a:r>
                    <a:rPr lang="en-US" altLang="fr-FR" sz="2000" baseline="-25000">
                      <a:latin typeface="Arial Narrow" panose="020B0606020202030204" pitchFamily="34" charset="0"/>
                    </a:rPr>
                    <a:t>rq</a:t>
                  </a:r>
                </a:p>
              </p:txBody>
            </p:sp>
            <p:sp>
              <p:nvSpPr>
                <p:cNvPr id="208917" name="Line 55"/>
                <p:cNvSpPr>
                  <a:spLocks noChangeShapeType="1"/>
                </p:cNvSpPr>
                <p:nvPr/>
              </p:nvSpPr>
              <p:spPr bwMode="auto">
                <a:xfrm flipV="1">
                  <a:off x="1008" y="3024"/>
                  <a:ext cx="0" cy="7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08918" name="Freeform 56"/>
                <p:cNvSpPr>
                  <a:spLocks/>
                </p:cNvSpPr>
                <p:nvPr/>
              </p:nvSpPr>
              <p:spPr bwMode="auto">
                <a:xfrm>
                  <a:off x="720" y="3216"/>
                  <a:ext cx="240" cy="144"/>
                </a:xfrm>
                <a:custGeom>
                  <a:avLst/>
                  <a:gdLst>
                    <a:gd name="T0" fmla="*/ 0 w 240"/>
                    <a:gd name="T1" fmla="*/ 144 h 144"/>
                    <a:gd name="T2" fmla="*/ 96 w 240"/>
                    <a:gd name="T3" fmla="*/ 48 h 144"/>
                    <a:gd name="T4" fmla="*/ 240 w 240"/>
                    <a:gd name="T5" fmla="*/ 0 h 144"/>
                    <a:gd name="T6" fmla="*/ 0 60000 65536"/>
                    <a:gd name="T7" fmla="*/ 0 60000 65536"/>
                    <a:gd name="T8" fmla="*/ 0 60000 65536"/>
                    <a:gd name="T9" fmla="*/ 0 w 240"/>
                    <a:gd name="T10" fmla="*/ 0 h 144"/>
                    <a:gd name="T11" fmla="*/ 240 w 240"/>
                    <a:gd name="T12" fmla="*/ 144 h 14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" h="144">
                      <a:moveTo>
                        <a:pt x="0" y="144"/>
                      </a:moveTo>
                      <a:cubicBezTo>
                        <a:pt x="28" y="108"/>
                        <a:pt x="56" y="72"/>
                        <a:pt x="96" y="48"/>
                      </a:cubicBezTo>
                      <a:cubicBezTo>
                        <a:pt x="136" y="24"/>
                        <a:pt x="216" y="8"/>
                        <a:pt x="240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 type="non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208904" name="Text Box 57"/>
          <p:cNvSpPr txBox="1">
            <a:spLocks noChangeArrowheads="1"/>
          </p:cNvSpPr>
          <p:nvPr/>
        </p:nvSpPr>
        <p:spPr bwMode="auto">
          <a:xfrm>
            <a:off x="5410200" y="2133600"/>
            <a:ext cx="3200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000">
                <a:latin typeface="Arial Narrow" panose="020B0606020202030204" pitchFamily="34" charset="0"/>
              </a:rPr>
              <a:t>Est appelé le  </a:t>
            </a:r>
            <a:r>
              <a:rPr lang="en-US" altLang="fr-FR" sz="2000" b="1">
                <a:latin typeface="Arial Narrow" panose="020B0606020202030204" pitchFamily="34" charset="0"/>
              </a:rPr>
              <a:t>phaseur spatial </a:t>
            </a:r>
            <a:r>
              <a:rPr lang="en-US" altLang="fr-FR" sz="2000">
                <a:latin typeface="Arial Narrow" panose="020B0606020202030204" pitchFamily="34" charset="0"/>
              </a:rPr>
              <a:t>du courant rotorique</a:t>
            </a:r>
          </a:p>
        </p:txBody>
      </p:sp>
      <p:graphicFrame>
        <p:nvGraphicFramePr>
          <p:cNvPr id="208905" name="Object 58"/>
          <p:cNvGraphicFramePr>
            <a:graphicFrameLocks noChangeAspect="1"/>
          </p:cNvGraphicFramePr>
          <p:nvPr/>
        </p:nvGraphicFramePr>
        <p:xfrm>
          <a:off x="5181600" y="2133600"/>
          <a:ext cx="2016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74" name="Equation" r:id="rId16" imgW="101556" imgH="228501" progId="Equation.3">
                  <p:embed/>
                </p:oleObj>
              </mc:Choice>
              <mc:Fallback>
                <p:oleObj name="Equation" r:id="rId16" imgW="101556" imgH="228501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2133600"/>
                        <a:ext cx="2016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6" name="Espace réservé du numéro de diapositive 60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7BEC95-900D-4582-94DD-889AEDF4C92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62" name="Espace réservé du pied de page 6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4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0947" name="Text Box 5"/>
          <p:cNvSpPr txBox="1">
            <a:spLocks noChangeArrowheads="1"/>
          </p:cNvSpPr>
          <p:nvPr/>
        </p:nvSpPr>
        <p:spPr bwMode="auto">
          <a:xfrm>
            <a:off x="990600" y="1524000"/>
            <a:ext cx="72390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Il peut être démontré que dans un repère tournant à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g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(par rapport au stator), l’équation des tensions est :</a:t>
            </a:r>
            <a:r>
              <a:rPr lang="en-US" altLang="fr-FR" sz="240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10948" name="Object 6"/>
          <p:cNvGraphicFramePr>
            <a:graphicFrameLocks noChangeAspect="1"/>
          </p:cNvGraphicFramePr>
          <p:nvPr/>
        </p:nvGraphicFramePr>
        <p:xfrm>
          <a:off x="827088" y="3241675"/>
          <a:ext cx="764222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71" name="Équation" r:id="rId6" imgW="4013200" imgH="825500" progId="Equation.3">
                  <p:embed/>
                </p:oleObj>
              </mc:Choice>
              <mc:Fallback>
                <p:oleObj name="Équation" r:id="rId6" imgW="4013200" imgH="825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41675"/>
                        <a:ext cx="764222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9" name="Rectangle 7"/>
          <p:cNvSpPr>
            <a:spLocks noChangeArrowheads="1"/>
          </p:cNvSpPr>
          <p:nvPr/>
        </p:nvSpPr>
        <p:spPr bwMode="auto">
          <a:xfrm>
            <a:off x="1676400" y="381000"/>
            <a:ext cx="5410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ClrTx/>
              <a:buSzTx/>
              <a:buFontTx/>
              <a:buNone/>
            </a:pPr>
            <a:r>
              <a:rPr lang="en-US" altLang="fr-FR" sz="2400" b="1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>
                <a:latin typeface="Arial Narrow" panose="020B0606020202030204" pitchFamily="34" charset="0"/>
              </a:rPr>
              <a:t> Modèle biphasé</a:t>
            </a:r>
          </a:p>
        </p:txBody>
      </p:sp>
      <p:sp>
        <p:nvSpPr>
          <p:cNvPr id="210950" name="Espace réservé du numéro de diapositive 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F6DA6F-FCFA-4154-9E50-FE8C323300A4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381000"/>
            <a:ext cx="5410200" cy="7620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Phaseurs </a:t>
            </a:r>
          </a:p>
        </p:txBody>
      </p:sp>
      <p:sp>
        <p:nvSpPr>
          <p:cNvPr id="212995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2996" name="Text Box 16"/>
          <p:cNvSpPr txBox="1">
            <a:spLocks noChangeArrowheads="1"/>
          </p:cNvSpPr>
          <p:nvPr/>
        </p:nvSpPr>
        <p:spPr bwMode="auto">
          <a:xfrm>
            <a:off x="914400" y="1600200"/>
            <a:ext cx="7391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Le modèle d’une MAS peut être écrit “compactement “  sous forme de phaseurs :</a:t>
            </a:r>
          </a:p>
        </p:txBody>
      </p:sp>
      <p:graphicFrame>
        <p:nvGraphicFramePr>
          <p:cNvPr id="212997" name="Object 32"/>
          <p:cNvGraphicFramePr>
            <a:graphicFrameLocks noChangeAspect="1"/>
          </p:cNvGraphicFramePr>
          <p:nvPr/>
        </p:nvGraphicFramePr>
        <p:xfrm>
          <a:off x="1066800" y="2581275"/>
          <a:ext cx="32527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0" name="Equation" r:id="rId6" imgW="1612900" imgH="406400" progId="Equation.3">
                  <p:embed/>
                </p:oleObj>
              </mc:Choice>
              <mc:Fallback>
                <p:oleObj name="Equation" r:id="rId6" imgW="1612900" imgH="4064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581275"/>
                        <a:ext cx="32527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34"/>
          <p:cNvGraphicFramePr>
            <a:graphicFrameLocks noChangeAspect="1"/>
          </p:cNvGraphicFramePr>
          <p:nvPr/>
        </p:nvGraphicFramePr>
        <p:xfrm>
          <a:off x="1066800" y="3419475"/>
          <a:ext cx="39004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1" name="Equation" r:id="rId8" imgW="1828800" imgH="381000" progId="Equation.3">
                  <p:embed/>
                </p:oleObj>
              </mc:Choice>
              <mc:Fallback>
                <p:oleObj name="Equation" r:id="rId8" imgW="1828800" imgH="3810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419475"/>
                        <a:ext cx="39004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9" name="Object 36"/>
          <p:cNvGraphicFramePr>
            <a:graphicFrameLocks noChangeAspect="1"/>
          </p:cNvGraphicFramePr>
          <p:nvPr/>
        </p:nvGraphicFramePr>
        <p:xfrm>
          <a:off x="5867400" y="2733675"/>
          <a:ext cx="23050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2" name="Equation" r:id="rId10" imgW="1104900" imgH="241300" progId="Equation.3">
                  <p:embed/>
                </p:oleObj>
              </mc:Choice>
              <mc:Fallback>
                <p:oleObj name="Equation" r:id="rId10" imgW="1104900" imgH="241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733675"/>
                        <a:ext cx="2305050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00" name="Object 38"/>
          <p:cNvGraphicFramePr>
            <a:graphicFrameLocks noChangeAspect="1"/>
          </p:cNvGraphicFramePr>
          <p:nvPr/>
        </p:nvGraphicFramePr>
        <p:xfrm>
          <a:off x="5791200" y="3571875"/>
          <a:ext cx="241776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83" name="Equation" r:id="rId12" imgW="1091726" imgH="228501" progId="Equation.3">
                  <p:embed/>
                </p:oleObj>
              </mc:Choice>
              <mc:Fallback>
                <p:oleObj name="Equation" r:id="rId12" imgW="1091726" imgH="22850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571875"/>
                        <a:ext cx="2417763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3001" name="Text Box 47"/>
          <p:cNvSpPr txBox="1">
            <a:spLocks noChangeArrowheads="1"/>
          </p:cNvSpPr>
          <p:nvPr/>
        </p:nvSpPr>
        <p:spPr bwMode="auto">
          <a:xfrm>
            <a:off x="2362200" y="4495800"/>
            <a:ext cx="4435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solidFill>
                  <a:srgbClr val="009900"/>
                </a:solidFill>
                <a:latin typeface="Arial Narrow" panose="020B0606020202030204" pitchFamily="34" charset="0"/>
              </a:rPr>
              <a:t>Toutes les grandeurs sont exprimées dans un repère quelconque </a:t>
            </a:r>
          </a:p>
        </p:txBody>
      </p:sp>
      <p:sp>
        <p:nvSpPr>
          <p:cNvPr id="213002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EDB71E-3819-4494-9AA4-DA9ED9353658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6249" y="857252"/>
            <a:ext cx="6857997" cy="5143498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Commande des machines Mach asyn   Ali NEJMI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10157E-CE96-41DC-9694-A2D66CED317E}" type="slidenum">
              <a:rPr lang="en-US" altLang="fr-FR" smtClean="0"/>
              <a:pPr>
                <a:defRPr/>
              </a:pPr>
              <a:t>32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194563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5043" name="Text Box 45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56366" name="Text Box 46"/>
          <p:cNvSpPr txBox="1">
            <a:spLocks noChangeArrowheads="1"/>
          </p:cNvSpPr>
          <p:nvPr/>
        </p:nvSpPr>
        <p:spPr bwMode="auto">
          <a:xfrm>
            <a:off x="838200" y="1371600"/>
            <a:ext cx="7624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Produit  du phaseur de tension et de phaseur conjugué du courant:</a:t>
            </a:r>
          </a:p>
        </p:txBody>
      </p:sp>
      <p:sp>
        <p:nvSpPr>
          <p:cNvPr id="215045" name="Rectangle 54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équation du couple</a:t>
            </a:r>
            <a:r>
              <a:rPr lang="en-US" altLang="fr-FR" sz="2400" smtClean="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56384" name="Object 64"/>
          <p:cNvGraphicFramePr>
            <a:graphicFrameLocks noChangeAspect="1"/>
          </p:cNvGraphicFramePr>
          <p:nvPr/>
        </p:nvGraphicFramePr>
        <p:xfrm>
          <a:off x="1368425" y="2006600"/>
          <a:ext cx="55308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0" name="Equation" r:id="rId6" imgW="3136900" imgH="393700" progId="Equation.3">
                  <p:embed/>
                </p:oleObj>
              </mc:Choice>
              <mc:Fallback>
                <p:oleObj name="Equation" r:id="rId6" imgW="3136900" imgH="393700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2006600"/>
                        <a:ext cx="55308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86" name="Text Box 66"/>
          <p:cNvSpPr txBox="1">
            <a:spLocks noChangeArrowheads="1"/>
          </p:cNvSpPr>
          <p:nvPr/>
        </p:nvSpPr>
        <p:spPr bwMode="auto">
          <a:xfrm>
            <a:off x="900113" y="2997200"/>
            <a:ext cx="41417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                              i</a:t>
            </a:r>
            <a:r>
              <a:rPr lang="en-US" altLang="fr-FR" sz="2400" baseline="-25000">
                <a:latin typeface="Arial Narrow" panose="020B0606020202030204" pitchFamily="34" charset="0"/>
              </a:rPr>
              <a:t>as</a:t>
            </a:r>
            <a:r>
              <a:rPr lang="en-US" altLang="fr-FR" sz="2400">
                <a:latin typeface="Arial Narrow" panose="020B0606020202030204" pitchFamily="34" charset="0"/>
              </a:rPr>
              <a:t> + i</a:t>
            </a:r>
            <a:r>
              <a:rPr lang="en-US" altLang="fr-FR" sz="2400" baseline="-25000">
                <a:latin typeface="Arial Narrow" panose="020B0606020202030204" pitchFamily="34" charset="0"/>
              </a:rPr>
              <a:t>bs</a:t>
            </a:r>
            <a:r>
              <a:rPr lang="en-US" altLang="fr-FR" sz="2400">
                <a:latin typeface="Arial Narrow" panose="020B0606020202030204" pitchFamily="34" charset="0"/>
              </a:rPr>
              <a:t> + i</a:t>
            </a:r>
            <a:r>
              <a:rPr lang="en-US" altLang="fr-FR" sz="2400" baseline="-25000">
                <a:latin typeface="Arial Narrow" panose="020B0606020202030204" pitchFamily="34" charset="0"/>
              </a:rPr>
              <a:t>cs</a:t>
            </a:r>
            <a:r>
              <a:rPr lang="en-US" altLang="fr-FR" sz="2400">
                <a:latin typeface="Arial Narrow" panose="020B0606020202030204" pitchFamily="34" charset="0"/>
              </a:rPr>
              <a:t> = 0, </a:t>
            </a:r>
          </a:p>
        </p:txBody>
      </p:sp>
      <p:graphicFrame>
        <p:nvGraphicFramePr>
          <p:cNvPr id="56387" name="Object 67"/>
          <p:cNvGraphicFramePr>
            <a:graphicFrameLocks noChangeAspect="1"/>
          </p:cNvGraphicFramePr>
          <p:nvPr/>
        </p:nvGraphicFramePr>
        <p:xfrm>
          <a:off x="2195513" y="3968750"/>
          <a:ext cx="39608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1" name="Equation" r:id="rId8" imgW="2336800" imgH="393700" progId="Equation.3">
                  <p:embed/>
                </p:oleObj>
              </mc:Choice>
              <mc:Fallback>
                <p:oleObj name="Equation" r:id="rId8" imgW="2336800" imgH="393700" progId="Equation.3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3968750"/>
                        <a:ext cx="39608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89" name="Object 69"/>
          <p:cNvGraphicFramePr>
            <a:graphicFrameLocks noChangeAspect="1"/>
          </p:cNvGraphicFramePr>
          <p:nvPr/>
        </p:nvGraphicFramePr>
        <p:xfrm>
          <a:off x="1893888" y="4976813"/>
          <a:ext cx="45640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2" name="Equation" r:id="rId10" imgW="2692400" imgH="393700" progId="Equation.3">
                  <p:embed/>
                </p:oleObj>
              </mc:Choice>
              <mc:Fallback>
                <p:oleObj name="Equation" r:id="rId10" imgW="2692400" imgH="39370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4976813"/>
                        <a:ext cx="45640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0" name="ZoneTexte 13"/>
          <p:cNvSpPr txBox="1">
            <a:spLocks noChangeArrowheads="1"/>
          </p:cNvSpPr>
          <p:nvPr/>
        </p:nvSpPr>
        <p:spPr bwMode="auto">
          <a:xfrm>
            <a:off x="1943100" y="5838825"/>
            <a:ext cx="5805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Arial Narrow" panose="020B0606020202030204" pitchFamily="34" charset="0"/>
              </a:rPr>
              <a:t>P</a:t>
            </a:r>
            <a:r>
              <a:rPr lang="fr-FR" altLang="fr-FR" sz="1800" baseline="-25000">
                <a:latin typeface="Arial Narrow" panose="020B0606020202030204" pitchFamily="34" charset="0"/>
              </a:rPr>
              <a:t>in</a:t>
            </a:r>
            <a:r>
              <a:rPr lang="fr-FR" altLang="fr-FR" sz="1800">
                <a:latin typeface="Arial Narrow" panose="020B0606020202030204" pitchFamily="34" charset="0"/>
              </a:rPr>
              <a:t>: puissance électrique absorbée par le moteur</a:t>
            </a:r>
          </a:p>
        </p:txBody>
      </p:sp>
      <p:sp>
        <p:nvSpPr>
          <p:cNvPr id="215051" name="Espace réservé du numéro de diapositive 1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06EA93-29ED-498D-AECE-712B4B2DC94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5" name="Espace réservé du pied de page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6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66" grpId="0"/>
      <p:bldP spid="563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7091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7092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équation du couple</a:t>
            </a:r>
            <a:r>
              <a:rPr lang="en-US" altLang="fr-FR" sz="2400" smtClean="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139273" name="Object 9"/>
          <p:cNvGraphicFramePr>
            <a:graphicFrameLocks noChangeAspect="1"/>
          </p:cNvGraphicFramePr>
          <p:nvPr/>
        </p:nvGraphicFramePr>
        <p:xfrm>
          <a:off x="1893888" y="4976813"/>
          <a:ext cx="45640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98" name="Equation" r:id="rId6" imgW="2692400" imgH="393700" progId="Equation.3">
                  <p:embed/>
                </p:oleObj>
              </mc:Choice>
              <mc:Fallback>
                <p:oleObj name="Equation" r:id="rId6" imgW="26924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4976813"/>
                        <a:ext cx="45640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/>
          <p:cNvGraphicFramePr>
            <a:graphicFrameLocks noChangeAspect="1"/>
          </p:cNvGraphicFramePr>
          <p:nvPr/>
        </p:nvGraphicFramePr>
        <p:xfrm>
          <a:off x="993775" y="2276475"/>
          <a:ext cx="65452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99" name="Equation" r:id="rId8" imgW="3860800" imgH="393700" progId="Equation.3">
                  <p:embed/>
                </p:oleObj>
              </mc:Choice>
              <mc:Fallback>
                <p:oleObj name="Equation" r:id="rId8" imgW="38608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2276475"/>
                        <a:ext cx="654526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5" name="Object 11"/>
          <p:cNvGraphicFramePr>
            <a:graphicFrameLocks noChangeAspect="1"/>
          </p:cNvGraphicFramePr>
          <p:nvPr/>
        </p:nvGraphicFramePr>
        <p:xfrm>
          <a:off x="3671888" y="4473575"/>
          <a:ext cx="1204912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00" name="Equation" r:id="rId10" imgW="710891" imgH="393529" progId="Equation.3">
                  <p:embed/>
                </p:oleObj>
              </mc:Choice>
              <mc:Fallback>
                <p:oleObj name="Equation" r:id="rId10" imgW="710891" imgH="3935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473575"/>
                        <a:ext cx="1204912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293938" y="3141663"/>
            <a:ext cx="4078287" cy="862012"/>
            <a:chOff x="1445" y="1979"/>
            <a:chExt cx="2569" cy="543"/>
          </a:xfrm>
        </p:grpSpPr>
        <p:sp>
          <p:nvSpPr>
            <p:cNvPr id="217099" name="Text Box 12"/>
            <p:cNvSpPr txBox="1">
              <a:spLocks noChangeArrowheads="1"/>
            </p:cNvSpPr>
            <p:nvPr/>
          </p:nvSpPr>
          <p:spPr bwMode="auto">
            <a:xfrm>
              <a:off x="1445" y="2069"/>
              <a:ext cx="30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Si </a:t>
              </a:r>
            </a:p>
          </p:txBody>
        </p:sp>
        <p:graphicFrame>
          <p:nvGraphicFramePr>
            <p:cNvPr id="217100" name="Object 13"/>
            <p:cNvGraphicFramePr>
              <a:graphicFrameLocks noChangeAspect="1"/>
            </p:cNvGraphicFramePr>
            <p:nvPr/>
          </p:nvGraphicFramePr>
          <p:xfrm>
            <a:off x="1876" y="1979"/>
            <a:ext cx="637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01" name="Equation" r:id="rId12" imgW="596900" imgH="482600" progId="Equation.3">
                    <p:embed/>
                  </p:oleObj>
                </mc:Choice>
                <mc:Fallback>
                  <p:oleObj name="Equation" r:id="rId12" imgW="596900" imgH="4826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6" y="1979"/>
                          <a:ext cx="637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7101" name="Text Box 14"/>
            <p:cNvSpPr txBox="1">
              <a:spLocks noChangeArrowheads="1"/>
            </p:cNvSpPr>
            <p:nvPr/>
          </p:nvSpPr>
          <p:spPr bwMode="auto">
            <a:xfrm>
              <a:off x="2783" y="2069"/>
              <a:ext cx="2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et </a:t>
              </a:r>
            </a:p>
          </p:txBody>
        </p:sp>
        <p:graphicFrame>
          <p:nvGraphicFramePr>
            <p:cNvPr id="217102" name="Object 15"/>
            <p:cNvGraphicFramePr>
              <a:graphicFrameLocks noChangeAspect="1"/>
            </p:cNvGraphicFramePr>
            <p:nvPr/>
          </p:nvGraphicFramePr>
          <p:xfrm>
            <a:off x="3458" y="2001"/>
            <a:ext cx="556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02" name="Equation" r:id="rId14" imgW="520474" imgH="482391" progId="Equation.3">
                    <p:embed/>
                  </p:oleObj>
                </mc:Choice>
                <mc:Fallback>
                  <p:oleObj name="Equation" r:id="rId14" imgW="520474" imgH="482391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8" y="2001"/>
                          <a:ext cx="556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7097" name="Espace réservé du numéro de diapositive 16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BB8E00D-9AD6-4529-B0D6-6FBD9E1262CC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8" name="Espace réservé du pied de page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1.48148E-6 L 0.00017 -0.5319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92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19139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838200" y="1371600"/>
            <a:ext cx="3863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L’équation  des tensions devient:</a:t>
            </a:r>
          </a:p>
        </p:txBody>
      </p:sp>
      <p:sp>
        <p:nvSpPr>
          <p:cNvPr id="219141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équation du couple</a:t>
            </a:r>
            <a:r>
              <a:rPr lang="en-US" altLang="fr-FR" sz="2400" smtClean="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137221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2303463" y="2109788"/>
          <a:ext cx="33559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7" name="Équation" r:id="rId6" imgW="2032000" imgH="241300" progId="Equation.3">
                  <p:embed/>
                </p:oleObj>
              </mc:Choice>
              <mc:Fallback>
                <p:oleObj name="Équation" r:id="rId6" imgW="2032000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2109788"/>
                        <a:ext cx="33559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6"/>
          <p:cNvGraphicFramePr>
            <a:graphicFrameLocks noChangeAspect="1"/>
          </p:cNvGraphicFramePr>
          <p:nvPr/>
        </p:nvGraphicFramePr>
        <p:xfrm>
          <a:off x="612775" y="3484563"/>
          <a:ext cx="74168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8" name="Équation" r:id="rId8" imgW="3251200" imgH="406400" progId="Equation.3">
                  <p:embed/>
                </p:oleObj>
              </mc:Choice>
              <mc:Fallback>
                <p:oleObj name="Équation" r:id="rId8" imgW="3251200" imgH="406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3484563"/>
                        <a:ext cx="74168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838200" y="2895600"/>
            <a:ext cx="4637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La puissance absorbée est donnée par: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1524000" y="4322763"/>
            <a:ext cx="1676400" cy="1000125"/>
            <a:chOff x="960" y="2723"/>
            <a:chExt cx="1056" cy="630"/>
          </a:xfrm>
        </p:grpSpPr>
        <p:sp>
          <p:nvSpPr>
            <p:cNvPr id="219157" name="Line 9"/>
            <p:cNvSpPr>
              <a:spLocks noChangeShapeType="1"/>
            </p:cNvSpPr>
            <p:nvPr/>
          </p:nvSpPr>
          <p:spPr bwMode="auto">
            <a:xfrm flipV="1">
              <a:off x="1536" y="2723"/>
              <a:ext cx="384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8" name="Text Box 13"/>
            <p:cNvSpPr txBox="1">
              <a:spLocks noChangeArrowheads="1"/>
            </p:cNvSpPr>
            <p:nvPr/>
          </p:nvSpPr>
          <p:spPr bwMode="auto">
            <a:xfrm>
              <a:off x="960" y="3120"/>
              <a:ext cx="105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Pertes joules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657600" y="4267200"/>
            <a:ext cx="1600200" cy="2038350"/>
            <a:chOff x="2304" y="2688"/>
            <a:chExt cx="1008" cy="1284"/>
          </a:xfrm>
        </p:grpSpPr>
        <p:sp>
          <p:nvSpPr>
            <p:cNvPr id="219155" name="Line 10"/>
            <p:cNvSpPr>
              <a:spLocks noChangeShapeType="1"/>
            </p:cNvSpPr>
            <p:nvPr/>
          </p:nvSpPr>
          <p:spPr bwMode="auto">
            <a:xfrm flipV="1">
              <a:off x="2688" y="268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6" name="Text Box 14"/>
            <p:cNvSpPr txBox="1">
              <a:spLocks noChangeArrowheads="1"/>
            </p:cNvSpPr>
            <p:nvPr/>
          </p:nvSpPr>
          <p:spPr bwMode="auto">
            <a:xfrm>
              <a:off x="2304" y="3216"/>
              <a:ext cx="100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Variation de l’énergie magnétique stockée</a:t>
              </a:r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5410200" y="4221163"/>
            <a:ext cx="1430338" cy="1454150"/>
            <a:chOff x="3408" y="2659"/>
            <a:chExt cx="901" cy="916"/>
          </a:xfrm>
        </p:grpSpPr>
        <p:sp>
          <p:nvSpPr>
            <p:cNvPr id="219153" name="Line 11"/>
            <p:cNvSpPr>
              <a:spLocks noChangeShapeType="1"/>
            </p:cNvSpPr>
            <p:nvPr/>
          </p:nvSpPr>
          <p:spPr bwMode="auto">
            <a:xfrm flipH="1" flipV="1">
              <a:off x="3515" y="2659"/>
              <a:ext cx="133" cy="5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4" name="Text Box 15"/>
            <p:cNvSpPr txBox="1">
              <a:spLocks noChangeArrowheads="1"/>
            </p:cNvSpPr>
            <p:nvPr/>
          </p:nvSpPr>
          <p:spPr bwMode="auto">
            <a:xfrm>
              <a:off x="3408" y="3168"/>
              <a:ext cx="901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 b="1">
                  <a:solidFill>
                    <a:srgbClr val="FF6600"/>
                  </a:solidFill>
                  <a:latin typeface="Arial Narrow" panose="020B0606020202030204" pitchFamily="34" charset="0"/>
                </a:rPr>
                <a:t>Puissance mécanique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6934200" y="4221163"/>
            <a:ext cx="1600200" cy="1073150"/>
            <a:chOff x="4368" y="2659"/>
            <a:chExt cx="1008" cy="676"/>
          </a:xfrm>
        </p:grpSpPr>
        <p:sp>
          <p:nvSpPr>
            <p:cNvPr id="219151" name="Line 12"/>
            <p:cNvSpPr>
              <a:spLocks noChangeShapeType="1"/>
            </p:cNvSpPr>
            <p:nvPr/>
          </p:nvSpPr>
          <p:spPr bwMode="auto">
            <a:xfrm flipH="1" flipV="1">
              <a:off x="4581" y="2659"/>
              <a:ext cx="68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19152" name="Text Box 16"/>
            <p:cNvSpPr txBox="1">
              <a:spLocks noChangeArrowheads="1"/>
            </p:cNvSpPr>
            <p:nvPr/>
          </p:nvSpPr>
          <p:spPr bwMode="auto">
            <a:xfrm>
              <a:off x="4368" y="2928"/>
              <a:ext cx="10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1800">
                  <a:latin typeface="Arial Narrow" panose="020B0606020202030204" pitchFamily="34" charset="0"/>
                </a:rPr>
                <a:t>Puissance associée à </a:t>
              </a:r>
              <a:r>
                <a:rPr lang="en-US" altLang="fr-FR" sz="1800">
                  <a:latin typeface="Arial Narrow" panose="020B0606020202030204" pitchFamily="34" charset="0"/>
                  <a:sym typeface="Symbol" panose="05050102010706020507" pitchFamily="18" charset="2"/>
                </a:rPr>
                <a:t></a:t>
              </a:r>
              <a:r>
                <a:rPr lang="en-US" altLang="fr-FR" sz="1800" baseline="-25000">
                  <a:latin typeface="Arial Narrow" panose="020B0606020202030204" pitchFamily="34" charset="0"/>
                  <a:sym typeface="Symbol" panose="05050102010706020507" pitchFamily="18" charset="2"/>
                </a:rPr>
                <a:t>g</a:t>
              </a:r>
              <a:endParaRPr lang="en-US" altLang="fr-FR" sz="1800">
                <a:latin typeface="Arial Narrow" panose="020B0606020202030204" pitchFamily="34" charset="0"/>
                <a:sym typeface="Symbol" panose="05050102010706020507" pitchFamily="18" charset="2"/>
              </a:endParaRPr>
            </a:p>
          </p:txBody>
        </p:sp>
      </p:grpSp>
      <p:sp>
        <p:nvSpPr>
          <p:cNvPr id="219149" name="Espace réservé du numéro de diapositive 2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92655E-84B6-4E90-94AC-ACF10F5B08DD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6" name="Espace réservé du pied de page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20" grpId="0"/>
      <p:bldP spid="1372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1187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2490788" y="895350"/>
          <a:ext cx="3506787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51" name="Équation" r:id="rId6" imgW="1536033" imgH="406224" progId="Equation.3">
                  <p:embed/>
                </p:oleObj>
              </mc:Choice>
              <mc:Fallback>
                <p:oleObj name="Équation" r:id="rId6" imgW="1536033" imgH="4062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895350"/>
                        <a:ext cx="3506787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89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équation</a:t>
            </a:r>
            <a:r>
              <a:rPr lang="en-US" altLang="fr-FR" sz="2400" smtClean="0">
                <a:latin typeface="Arial Narrow" panose="020B0606020202030204" pitchFamily="34" charset="0"/>
              </a:rPr>
              <a:t> </a:t>
            </a:r>
            <a:r>
              <a:rPr lang="en-US" altLang="fr-FR" sz="2400" b="1" smtClean="0">
                <a:latin typeface="Arial Narrow" panose="020B0606020202030204" pitchFamily="34" charset="0"/>
              </a:rPr>
              <a:t>du couple</a:t>
            </a:r>
          </a:p>
        </p:txBody>
      </p:sp>
      <p:graphicFrame>
        <p:nvGraphicFramePr>
          <p:cNvPr id="105498" name="Object 26"/>
          <p:cNvGraphicFramePr>
            <a:graphicFrameLocks noChangeAspect="1"/>
          </p:cNvGraphicFramePr>
          <p:nvPr/>
        </p:nvGraphicFramePr>
        <p:xfrm>
          <a:off x="1866900" y="4732338"/>
          <a:ext cx="57753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52" name="Équation" r:id="rId8" imgW="3708400" imgH="825500" progId="Equation.3">
                  <p:embed/>
                </p:oleObj>
              </mc:Choice>
              <mc:Fallback>
                <p:oleObj name="Équation" r:id="rId8" imgW="3708400" imgH="8255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900" y="4732338"/>
                        <a:ext cx="57753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1191" name="Espace réservé du numéro de diapositive 1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229904-937C-433B-9268-FBD5A8530DA2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graphicFrame>
        <p:nvGraphicFramePr>
          <p:cNvPr id="221193" name="Object 15"/>
          <p:cNvGraphicFramePr>
            <a:graphicFrameLocks noChangeAspect="1"/>
          </p:cNvGraphicFramePr>
          <p:nvPr/>
        </p:nvGraphicFramePr>
        <p:xfrm>
          <a:off x="1839913" y="2443163"/>
          <a:ext cx="5730875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253" name="Équation" r:id="rId10" imgW="3009900" imgH="825500" progId="Equation.3">
                  <p:embed/>
                </p:oleObj>
              </mc:Choice>
              <mc:Fallback>
                <p:oleObj name="Équation" r:id="rId10" imgW="3009900" imgH="8255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2443163"/>
                        <a:ext cx="5730875" cy="157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676400" y="381000"/>
            <a:ext cx="5410200" cy="7620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  <a:r>
              <a:rPr lang="en-US" altLang="fr-FR" sz="2400" b="1" smtClean="0">
                <a:latin typeface="Arial Narrow" panose="020B0606020202030204" pitchFamily="34" charset="0"/>
                <a:sym typeface="Symbol" panose="05050102010706020507" pitchFamily="18" charset="2"/>
              </a:rPr>
              <a:t></a:t>
            </a:r>
            <a:r>
              <a:rPr lang="en-US" altLang="fr-FR" sz="2400" b="1" smtClean="0">
                <a:latin typeface="Arial Narrow" panose="020B0606020202030204" pitchFamily="34" charset="0"/>
              </a:rPr>
              <a:t>  équation du couple</a:t>
            </a:r>
            <a:r>
              <a:rPr lang="en-US" altLang="fr-FR" sz="2400" smtClean="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23235" name="Object 10"/>
          <p:cNvGraphicFramePr>
            <a:graphicFrameLocks noGrp="1" noChangeAspect="1"/>
          </p:cNvGraphicFramePr>
          <p:nvPr>
            <p:ph sz="half" idx="2"/>
          </p:nvPr>
        </p:nvGraphicFramePr>
        <p:xfrm>
          <a:off x="2803525" y="2541588"/>
          <a:ext cx="3027363" cy="132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00" name="Équation" r:id="rId6" imgW="1943100" imgH="850900" progId="Equation.3">
                  <p:embed/>
                </p:oleObj>
              </mc:Choice>
              <mc:Fallback>
                <p:oleObj name="Équation" r:id="rId6" imgW="1943100" imgH="850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2541588"/>
                        <a:ext cx="3027363" cy="1325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Rectangle 2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3237" name="Text Box 3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3238" name="Object 4"/>
          <p:cNvGraphicFramePr>
            <a:graphicFrameLocks noChangeAspect="1"/>
          </p:cNvGraphicFramePr>
          <p:nvPr/>
        </p:nvGraphicFramePr>
        <p:xfrm>
          <a:off x="2489200" y="1287463"/>
          <a:ext cx="3505200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01" name="Équation" r:id="rId8" imgW="1536033" imgH="406224" progId="Equation.3">
                  <p:embed/>
                </p:oleObj>
              </mc:Choice>
              <mc:Fallback>
                <p:oleObj name="Équation" r:id="rId8" imgW="1536033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1287463"/>
                        <a:ext cx="3505200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9" name="Text Box 11"/>
          <p:cNvSpPr txBox="1">
            <a:spLocks noChangeArrowheads="1"/>
          </p:cNvSpPr>
          <p:nvPr/>
        </p:nvSpPr>
        <p:spPr bwMode="auto">
          <a:xfrm>
            <a:off x="1295400" y="4495800"/>
            <a:ext cx="2998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On sait que 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m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 = </a:t>
            </a:r>
            <a:r>
              <a:rPr lang="en-US" altLang="fr-FR" sz="2400" baseline="-25000">
                <a:latin typeface="Arial Narrow" panose="020B0606020202030204" pitchFamily="34" charset="0"/>
                <a:sym typeface="Symbol" panose="05050102010706020507" pitchFamily="18" charset="2"/>
              </a:rPr>
              <a:t>r </a:t>
            </a:r>
            <a:r>
              <a:rPr lang="en-US" altLang="fr-FR" sz="2400">
                <a:latin typeface="Arial Narrow" panose="020B0606020202030204" pitchFamily="34" charset="0"/>
                <a:sym typeface="Symbol" panose="05050102010706020507" pitchFamily="18" charset="2"/>
              </a:rPr>
              <a:t>/ p, </a:t>
            </a:r>
          </a:p>
        </p:txBody>
      </p:sp>
      <p:graphicFrame>
        <p:nvGraphicFramePr>
          <p:cNvPr id="223240" name="Object 13"/>
          <p:cNvGraphicFramePr>
            <a:graphicFrameLocks noChangeAspect="1"/>
          </p:cNvGraphicFramePr>
          <p:nvPr/>
        </p:nvGraphicFramePr>
        <p:xfrm>
          <a:off x="2984500" y="5387975"/>
          <a:ext cx="307181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02" name="Équation" r:id="rId10" imgW="1346200" imgH="342900" progId="Equation.3">
                  <p:embed/>
                </p:oleObj>
              </mc:Choice>
              <mc:Fallback>
                <p:oleObj name="Équation" r:id="rId10" imgW="1346200" imgH="342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5387975"/>
                        <a:ext cx="3071813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Espace réservé du numéro de diapositive 1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9DDD93-AA4D-4A28-BE9D-933CAAAF15C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5283" name="Text Box 4"/>
          <p:cNvSpPr txBox="1">
            <a:spLocks noChangeArrowheads="1"/>
          </p:cNvSpPr>
          <p:nvPr/>
        </p:nvSpPr>
        <p:spPr bwMode="auto">
          <a:xfrm>
            <a:off x="1203325" y="117951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2984500" y="5403850"/>
          <a:ext cx="305911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0" name="Équation" r:id="rId6" imgW="1346200" imgH="342900" progId="Equation.3">
                  <p:embed/>
                </p:oleObj>
              </mc:Choice>
              <mc:Fallback>
                <p:oleObj name="Équation" r:id="rId6" imgW="1346200" imgH="342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4500" y="5403850"/>
                        <a:ext cx="305911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Rectangle 11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1095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445930"/>
              </p:ext>
            </p:extLst>
          </p:nvPr>
        </p:nvGraphicFramePr>
        <p:xfrm>
          <a:off x="2941638" y="1879600"/>
          <a:ext cx="2432050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1" name="Équation" r:id="rId8" imgW="1168200" imgH="393480" progId="Equation.3">
                  <p:embed/>
                </p:oleObj>
              </mc:Choice>
              <mc:Fallback>
                <p:oleObj name="Équation" r:id="rId8" imgW="11682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1879600"/>
                        <a:ext cx="2432050" cy="830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1547813" y="3033713"/>
            <a:ext cx="5651500" cy="509587"/>
            <a:chOff x="1179" y="368"/>
            <a:chExt cx="3560" cy="321"/>
          </a:xfrm>
        </p:grpSpPr>
        <p:graphicFrame>
          <p:nvGraphicFramePr>
            <p:cNvPr id="225294" name="Object 12"/>
            <p:cNvGraphicFramePr>
              <a:graphicFrameLocks noChangeAspect="1"/>
            </p:cNvGraphicFramePr>
            <p:nvPr/>
          </p:nvGraphicFramePr>
          <p:xfrm>
            <a:off x="1775" y="400"/>
            <a:ext cx="118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32" name="Équation" r:id="rId10" imgW="952087" imgH="215806" progId="Equation.3">
                    <p:embed/>
                  </p:oleObj>
                </mc:Choice>
                <mc:Fallback>
                  <p:oleObj name="Équation" r:id="rId10" imgW="952087" imgH="215806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5" y="400"/>
                          <a:ext cx="118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295" name="Text Box 15"/>
            <p:cNvSpPr txBox="1">
              <a:spLocks noChangeArrowheads="1"/>
            </p:cNvSpPr>
            <p:nvPr/>
          </p:nvSpPr>
          <p:spPr bwMode="auto">
            <a:xfrm>
              <a:off x="1179" y="398"/>
              <a:ext cx="45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"/>
                <a:defRPr sz="3000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90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SzPct val="85000"/>
                <a:buFont typeface="Arial" panose="020B0604020202020204" pitchFamily="34" charset="0"/>
                <a:buChar char="○"/>
                <a:defRPr sz="2400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D89A4"/>
                </a:buClr>
                <a:buSzPct val="9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748560"/>
                </a:buClr>
                <a:buSzPct val="100000"/>
                <a:buFont typeface="Arial" panose="020B0604020202020204" pitchFamily="34" charset="0"/>
                <a:buChar char="-"/>
                <a:defRPr sz="2000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fr-FR" sz="2400">
                  <a:latin typeface="Arial Narrow" panose="020B0606020202030204" pitchFamily="34" charset="0"/>
                </a:rPr>
                <a:t>Mais</a:t>
              </a:r>
            </a:p>
          </p:txBody>
        </p:sp>
        <p:graphicFrame>
          <p:nvGraphicFramePr>
            <p:cNvPr id="225296" name="Object 16"/>
            <p:cNvGraphicFramePr>
              <a:graphicFrameLocks noChangeAspect="1"/>
            </p:cNvGraphicFramePr>
            <p:nvPr/>
          </p:nvGraphicFramePr>
          <p:xfrm>
            <a:off x="3220" y="368"/>
            <a:ext cx="1519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33" name="Equation" r:id="rId12" imgW="1371600" imgH="241300" progId="Equation.3">
                    <p:embed/>
                  </p:oleObj>
                </mc:Choice>
                <mc:Fallback>
                  <p:oleObj name="Equation" r:id="rId12" imgW="1371600" imgH="24130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368"/>
                          <a:ext cx="1519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9585" name="Object 17"/>
          <p:cNvGraphicFramePr>
            <a:graphicFrameLocks noChangeAspect="1"/>
          </p:cNvGraphicFramePr>
          <p:nvPr/>
        </p:nvGraphicFramePr>
        <p:xfrm>
          <a:off x="2497138" y="3937000"/>
          <a:ext cx="33099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4" name="Équation" r:id="rId14" imgW="1536033" imgH="355446" progId="Equation.3">
                  <p:embed/>
                </p:oleObj>
              </mc:Choice>
              <mc:Fallback>
                <p:oleObj name="Équation" r:id="rId14" imgW="1536033" imgH="355446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3937000"/>
                        <a:ext cx="33099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1000125" y="5202238"/>
            <a:ext cx="6359525" cy="828675"/>
            <a:chOff x="630" y="3277"/>
            <a:chExt cx="4006" cy="522"/>
          </a:xfrm>
        </p:grpSpPr>
        <p:graphicFrame>
          <p:nvGraphicFramePr>
            <p:cNvPr id="225292" name="Object 18"/>
            <p:cNvGraphicFramePr>
              <a:graphicFrameLocks noChangeAspect="1"/>
            </p:cNvGraphicFramePr>
            <p:nvPr/>
          </p:nvGraphicFramePr>
          <p:xfrm>
            <a:off x="630" y="3285"/>
            <a:ext cx="1831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35" name="Équation" r:id="rId16" imgW="1295400" imgH="342900" progId="Equation.3">
                    <p:embed/>
                  </p:oleObj>
                </mc:Choice>
                <mc:Fallback>
                  <p:oleObj name="Équation" r:id="rId16" imgW="1295400" imgH="3429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" y="3285"/>
                          <a:ext cx="1831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293" name="Object 23"/>
            <p:cNvGraphicFramePr>
              <a:graphicFrameLocks noChangeAspect="1"/>
            </p:cNvGraphicFramePr>
            <p:nvPr/>
          </p:nvGraphicFramePr>
          <p:xfrm>
            <a:off x="3321" y="3277"/>
            <a:ext cx="1315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436" name="Équation" r:id="rId18" imgW="863225" imgH="342751" progId="Equation.3">
                    <p:embed/>
                  </p:oleObj>
                </mc:Choice>
                <mc:Fallback>
                  <p:oleObj name="Équation" r:id="rId18" imgW="863225" imgH="342751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1" y="3277"/>
                          <a:ext cx="1315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290" name="Espace réservé du numéro de diapositive 1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8215C0-616E-4075-8E48-8275B7FE5885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7.40741E-7 L -0.00139 -0.6555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9" y="-3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  <p:sp>
        <p:nvSpPr>
          <p:cNvPr id="227331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19DCB93-6254-4244-A02B-7EFD16A302FF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27332" name="Object 23"/>
          <p:cNvGraphicFramePr>
            <a:graphicFrameLocks noChangeAspect="1"/>
          </p:cNvGraphicFramePr>
          <p:nvPr/>
        </p:nvGraphicFramePr>
        <p:xfrm>
          <a:off x="2832100" y="361950"/>
          <a:ext cx="2794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4" name="Équation" r:id="rId4" imgW="1155700" imgH="381000" progId="Equation.3">
                  <p:embed/>
                </p:oleObj>
              </mc:Choice>
              <mc:Fallback>
                <p:oleObj name="Équation" r:id="rId4" imgW="1155700" imgH="3810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361950"/>
                        <a:ext cx="2794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3" name="Object 6"/>
          <p:cNvGraphicFramePr>
            <a:graphicFrameLocks noChangeAspect="1"/>
          </p:cNvGraphicFramePr>
          <p:nvPr/>
        </p:nvGraphicFramePr>
        <p:xfrm>
          <a:off x="3440113" y="1420813"/>
          <a:ext cx="208756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5" name="Équation" r:id="rId6" imgW="863225" imgH="342751" progId="Equation.3">
                  <p:embed/>
                </p:oleObj>
              </mc:Choice>
              <mc:Fallback>
                <p:oleObj name="Équation" r:id="rId6" imgW="863225" imgH="34275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1420813"/>
                        <a:ext cx="208756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4" name="Object 8"/>
          <p:cNvGraphicFramePr>
            <a:graphicFrameLocks noChangeAspect="1"/>
          </p:cNvGraphicFramePr>
          <p:nvPr/>
        </p:nvGraphicFramePr>
        <p:xfrm>
          <a:off x="3554413" y="3465513"/>
          <a:ext cx="2271712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6" name="Équation" r:id="rId8" imgW="939392" imgH="342751" progId="Equation.3">
                  <p:embed/>
                </p:oleObj>
              </mc:Choice>
              <mc:Fallback>
                <p:oleObj name="Équation" r:id="rId8" imgW="939392" imgH="34275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4413" y="3465513"/>
                        <a:ext cx="2271712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5" name="Object 9"/>
          <p:cNvGraphicFramePr>
            <a:graphicFrameLocks noChangeAspect="1"/>
          </p:cNvGraphicFramePr>
          <p:nvPr/>
        </p:nvGraphicFramePr>
        <p:xfrm>
          <a:off x="2868613" y="2479675"/>
          <a:ext cx="27940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7" name="Équation" r:id="rId10" imgW="1155700" imgH="381000" progId="Equation.3">
                  <p:embed/>
                </p:oleObj>
              </mc:Choice>
              <mc:Fallback>
                <p:oleObj name="Équation" r:id="rId10" imgW="1155700" imgH="38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8613" y="2479675"/>
                        <a:ext cx="27940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6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7337" name="Object 10"/>
          <p:cNvGraphicFramePr>
            <a:graphicFrameLocks noChangeAspect="1"/>
          </p:cNvGraphicFramePr>
          <p:nvPr/>
        </p:nvGraphicFramePr>
        <p:xfrm>
          <a:off x="2863850" y="4606925"/>
          <a:ext cx="33147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8" name="Équation" r:id="rId12" imgW="1371600" imgH="342900" progId="Equation.3">
                  <p:embed/>
                </p:oleObj>
              </mc:Choice>
              <mc:Fallback>
                <p:oleObj name="Équation" r:id="rId12" imgW="1371600" imgH="342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50" y="4606925"/>
                        <a:ext cx="3314700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8" name="ZoneTexte 13"/>
          <p:cNvSpPr txBox="1">
            <a:spLocks noChangeArrowheads="1"/>
          </p:cNvSpPr>
          <p:nvPr/>
        </p:nvSpPr>
        <p:spPr bwMode="auto">
          <a:xfrm>
            <a:off x="1614488" y="5875338"/>
            <a:ext cx="5915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>
                <a:latin typeface="Arial Narrow" panose="020B0606020202030204" pitchFamily="34" charset="0"/>
              </a:rPr>
              <a:t>Avec   </a:t>
            </a:r>
            <a:r>
              <a:rPr lang="el-GR" altLang="fr-FR" sz="2400">
                <a:latin typeface="Arial Narrow" panose="020B0606020202030204" pitchFamily="34" charset="0"/>
              </a:rPr>
              <a:t>σ</a:t>
            </a:r>
            <a:r>
              <a:rPr lang="fr-FR" altLang="fr-FR" sz="2400">
                <a:latin typeface="Arial Narrow" panose="020B0606020202030204" pitchFamily="34" charset="0"/>
              </a:rPr>
              <a:t>=1-M²/(L</a:t>
            </a:r>
            <a:r>
              <a:rPr lang="fr-FR" altLang="fr-FR" sz="2400" baseline="-25000">
                <a:latin typeface="Arial Narrow" panose="020B0606020202030204" pitchFamily="34" charset="0"/>
              </a:rPr>
              <a:t>s</a:t>
            </a:r>
            <a:r>
              <a:rPr lang="fr-FR" altLang="fr-FR" sz="2400">
                <a:latin typeface="Arial Narrow" panose="020B0606020202030204" pitchFamily="34" charset="0"/>
              </a:rPr>
              <a:t>L</a:t>
            </a:r>
            <a:r>
              <a:rPr lang="fr-FR" altLang="fr-FR" sz="2400" baseline="-25000">
                <a:latin typeface="Arial Narrow" panose="020B0606020202030204" pitchFamily="34" charset="0"/>
              </a:rPr>
              <a:t>r</a:t>
            </a:r>
            <a:r>
              <a:rPr lang="fr-FR" altLang="fr-FR" sz="2400">
                <a:latin typeface="Arial Narrow" panose="020B0606020202030204" pitchFamily="34" charset="0"/>
              </a:rPr>
              <a:t>)  ; coefficient de dispersion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2438400" y="533400"/>
            <a:ext cx="3810000" cy="914400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Modèle dynamique </a:t>
            </a:r>
          </a:p>
          <a:p>
            <a:pPr algn="ctr">
              <a:buFontTx/>
              <a:buNone/>
            </a:pPr>
            <a:r>
              <a:rPr lang="en-US" altLang="fr-FR" sz="2400" b="1" smtClean="0">
                <a:latin typeface="Arial Narrow" panose="020B0606020202030204" pitchFamily="34" charset="0"/>
              </a:rPr>
              <a:t>Simulation</a:t>
            </a:r>
            <a:r>
              <a:rPr lang="en-US" altLang="fr-FR" sz="2000" b="1" smtClean="0">
                <a:latin typeface="Arial Narrow" panose="020B0606020202030204" pitchFamily="34" charset="0"/>
              </a:rPr>
              <a:t> </a:t>
            </a:r>
          </a:p>
        </p:txBody>
      </p:sp>
      <p:graphicFrame>
        <p:nvGraphicFramePr>
          <p:cNvPr id="229379" name="Object 38"/>
          <p:cNvGraphicFramePr>
            <a:graphicFrameLocks noGrp="1" noChangeAspect="1"/>
          </p:cNvGraphicFramePr>
          <p:nvPr>
            <p:ph sz="half" idx="2"/>
          </p:nvPr>
        </p:nvGraphicFramePr>
        <p:xfrm>
          <a:off x="5029200" y="4830763"/>
          <a:ext cx="15906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71" name="Equation" r:id="rId6" imgW="926698" imgH="393529" progId="Equation.3">
                  <p:embed/>
                </p:oleObj>
              </mc:Choice>
              <mc:Fallback>
                <p:oleObj name="Equation" r:id="rId6" imgW="926698" imgH="39352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830763"/>
                        <a:ext cx="159067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0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1" name="Rectangle 4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2" name="Rectangle 5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3" name="Rectangle 6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4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5" name="Rectangle 8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6" name="Rectangle 9"/>
          <p:cNvSpPr>
            <a:spLocks noChangeArrowheads="1"/>
          </p:cNvSpPr>
          <p:nvPr/>
        </p:nvSpPr>
        <p:spPr bwMode="auto">
          <a:xfrm>
            <a:off x="0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7" name="Rectangle 10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8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89" name="Rectangle 12"/>
          <p:cNvSpPr>
            <a:spLocks noChangeArrowheads="1"/>
          </p:cNvSpPr>
          <p:nvPr/>
        </p:nvSpPr>
        <p:spPr bwMode="auto">
          <a:xfrm>
            <a:off x="0" y="3243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0" name="Rectangle 13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1" name="Rectangle 14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2" name="Text Box 15"/>
          <p:cNvSpPr txBox="1">
            <a:spLocks noChangeArrowheads="1"/>
          </p:cNvSpPr>
          <p:nvPr/>
        </p:nvSpPr>
        <p:spPr bwMode="auto">
          <a:xfrm>
            <a:off x="914400" y="1600200"/>
            <a:ext cx="76739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Réarrangeons les équations avec les courants rotoriques et statoriques comme variables d’état:</a:t>
            </a:r>
          </a:p>
        </p:txBody>
      </p:sp>
      <p:sp>
        <p:nvSpPr>
          <p:cNvPr id="229393" name="Rectangle 1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4" name="Rectangle 17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5" name="Rectangle 1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6" name="Rectangle 1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7" name="Rectangle 2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8" name="Rectangle 21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399" name="Rectangle 22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0" name="Rectangle 23"/>
          <p:cNvSpPr>
            <a:spLocks noChangeArrowheads="1"/>
          </p:cNvSpPr>
          <p:nvPr/>
        </p:nvSpPr>
        <p:spPr bwMode="auto">
          <a:xfrm>
            <a:off x="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1" name="Rectangle 2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2" name="Rectangle 2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3" name="Rectangle 26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4" name="Rectangle 27"/>
          <p:cNvSpPr>
            <a:spLocks noChangeArrowheads="1"/>
          </p:cNvSpPr>
          <p:nvPr/>
        </p:nvSpPr>
        <p:spPr bwMode="auto">
          <a:xfrm>
            <a:off x="0" y="32575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5" name="Rectangle 28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6" name="Rectangle 30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29407" name="Rectangle 34"/>
          <p:cNvSpPr>
            <a:spLocks noChangeArrowheads="1"/>
          </p:cNvSpPr>
          <p:nvPr/>
        </p:nvSpPr>
        <p:spPr bwMode="auto">
          <a:xfrm>
            <a:off x="0" y="3014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9408" name="Object 33"/>
          <p:cNvGraphicFramePr>
            <a:graphicFrameLocks noChangeAspect="1"/>
          </p:cNvGraphicFramePr>
          <p:nvPr/>
        </p:nvGraphicFramePr>
        <p:xfrm>
          <a:off x="1162050" y="2819400"/>
          <a:ext cx="6896100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72" name="Équation" r:id="rId8" imgW="5384800" imgH="825500" progId="Equation.3">
                  <p:embed/>
                </p:oleObj>
              </mc:Choice>
              <mc:Fallback>
                <p:oleObj name="Équation" r:id="rId8" imgW="5384800" imgH="8255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2819400"/>
                        <a:ext cx="6896100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9" name="Text Box 35"/>
          <p:cNvSpPr txBox="1">
            <a:spLocks noChangeArrowheads="1"/>
          </p:cNvSpPr>
          <p:nvPr/>
        </p:nvSpPr>
        <p:spPr bwMode="auto">
          <a:xfrm>
            <a:off x="762000" y="4343400"/>
            <a:ext cx="7391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1800">
                <a:latin typeface="Arial Narrow" panose="020B0606020202030204" pitchFamily="34" charset="0"/>
              </a:rPr>
              <a:t>Le couple peut être exprimé en fonction des courants rotoriques et statoriques:</a:t>
            </a:r>
          </a:p>
        </p:txBody>
      </p:sp>
      <p:sp>
        <p:nvSpPr>
          <p:cNvPr id="229410" name="Rectangle 37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graphicFrame>
        <p:nvGraphicFramePr>
          <p:cNvPr id="229411" name="Object 36"/>
          <p:cNvGraphicFramePr>
            <a:graphicFrameLocks noChangeAspect="1"/>
          </p:cNvGraphicFramePr>
          <p:nvPr/>
        </p:nvGraphicFramePr>
        <p:xfrm>
          <a:off x="1589088" y="4876800"/>
          <a:ext cx="230822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73" name="Équation" r:id="rId10" imgW="1333500" imgH="342900" progId="Equation.3">
                  <p:embed/>
                </p:oleObj>
              </mc:Choice>
              <mc:Fallback>
                <p:oleObj name="Équation" r:id="rId10" imgW="1333500" imgH="3429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9088" y="4876800"/>
                        <a:ext cx="230822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2" name="Espace réservé du numéro de diapositive 39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D072D3-2FF1-4E2D-B78E-600D0C97A5A3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41" name="Espace réservé du pied de page 4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3"/>
          <p:cNvSpPr>
            <a:spLocks noChangeArrowheads="1"/>
          </p:cNvSpPr>
          <p:nvPr/>
        </p:nvSpPr>
        <p:spPr bwMode="auto">
          <a:xfrm>
            <a:off x="381000" y="228600"/>
            <a:ext cx="8458200" cy="632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>
              <a:latin typeface="Arial Narrow" panose="020B0606020202030204" pitchFamily="34" charset="0"/>
            </a:endParaRPr>
          </a:p>
        </p:txBody>
      </p:sp>
      <p:sp>
        <p:nvSpPr>
          <p:cNvPr id="231427" name="Text Box 15"/>
          <p:cNvSpPr txBox="1">
            <a:spLocks noChangeArrowheads="1"/>
          </p:cNvSpPr>
          <p:nvPr/>
        </p:nvSpPr>
        <p:spPr bwMode="auto">
          <a:xfrm>
            <a:off x="990600" y="533400"/>
            <a:ext cx="563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fr-FR" sz="2400">
                <a:latin typeface="Arial Narrow" panose="020B0606020202030204" pitchFamily="34" charset="0"/>
              </a:rPr>
              <a:t>Ce système peut être modélisé sous SIMULINK:</a:t>
            </a:r>
          </a:p>
        </p:txBody>
      </p:sp>
      <p:pic>
        <p:nvPicPr>
          <p:cNvPr id="231428" name="Picture 41"/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066800"/>
            <a:ext cx="8153400" cy="5153025"/>
          </a:xfrm>
          <a:noFill/>
        </p:spPr>
      </p:pic>
      <p:sp>
        <p:nvSpPr>
          <p:cNvPr id="23142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"/>
              <a:defRPr sz="30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90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Arial" panose="020B0604020202020204" pitchFamily="34" charset="0"/>
              <a:buChar char="○"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D89A4"/>
              </a:buClr>
              <a:buSzPct val="9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748560"/>
              </a:buClr>
              <a:buSzPct val="100000"/>
              <a:buFont typeface="Arial" panose="020B0604020202020204" pitchFamily="34" charset="0"/>
              <a:buChar char="-"/>
              <a:defRPr sz="2000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DA1285C-A042-4D1B-BB43-33C47E13A95A}" type="slidenum">
              <a:rPr lang="en-US" altLang="fr-FR" sz="1000">
                <a:solidFill>
                  <a:srgbClr val="29292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fr-FR" sz="1000">
              <a:solidFill>
                <a:srgbClr val="292929"/>
              </a:solidFill>
              <a:latin typeface="Arial" panose="020B0604020202020204" pitchFamily="34" charset="0"/>
            </a:endParaRPr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Commande des machines Mach asyn   Ali NEJMI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que">
  <a:themeElements>
    <a:clrScheme name="Technique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que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1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2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0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1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2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3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4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5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6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7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8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ppt/theme/themeOverride39.xml><?xml version="1.0" encoding="utf-8"?>
<a:themeOverride xmlns:a="http://schemas.openxmlformats.org/drawingml/2006/main">
  <a:clrScheme name="Technique">
    <a:dk1>
      <a:sysClr val="windowText" lastClr="000000"/>
    </a:dk1>
    <a:lt1>
      <a:sysClr val="window" lastClr="FFFFFF"/>
    </a:lt1>
    <a:dk2>
      <a:srgbClr val="3B3B3B"/>
    </a:dk2>
    <a:lt2>
      <a:srgbClr val="D4D2D0"/>
    </a:lt2>
    <a:accent1>
      <a:srgbClr val="6EA0B0"/>
    </a:accent1>
    <a:accent2>
      <a:srgbClr val="CCAF0A"/>
    </a:accent2>
    <a:accent3>
      <a:srgbClr val="8D89A4"/>
    </a:accent3>
    <a:accent4>
      <a:srgbClr val="748560"/>
    </a:accent4>
    <a:accent5>
      <a:srgbClr val="9E9273"/>
    </a:accent5>
    <a:accent6>
      <a:srgbClr val="7E848D"/>
    </a:accent6>
    <a:hlink>
      <a:srgbClr val="00C8C3"/>
    </a:hlink>
    <a:folHlink>
      <a:srgbClr val="A116E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6003</TotalTime>
  <Words>1836</Words>
  <Application>Microsoft Office PowerPoint</Application>
  <PresentationFormat>Affichage à l'écran (4:3)</PresentationFormat>
  <Paragraphs>380</Paragraphs>
  <Slides>41</Slides>
  <Notes>40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41</vt:i4>
      </vt:variant>
    </vt:vector>
  </HeadingPairs>
  <TitlesOfParts>
    <vt:vector size="54" baseType="lpstr">
      <vt:lpstr>Arial</vt:lpstr>
      <vt:lpstr>Arial Narrow</vt:lpstr>
      <vt:lpstr>Book Antiqua</vt:lpstr>
      <vt:lpstr>Bradley Hand ITC</vt:lpstr>
      <vt:lpstr>Courier New</vt:lpstr>
      <vt:lpstr>Lucida Sans</vt:lpstr>
      <vt:lpstr>Symbol</vt:lpstr>
      <vt:lpstr>Times New Roman</vt:lpstr>
      <vt:lpstr>Wingdings 2</vt:lpstr>
      <vt:lpstr>Technique</vt:lpstr>
      <vt:lpstr>Equation</vt:lpstr>
      <vt:lpstr>Équation</vt:lpstr>
      <vt:lpstr>Microsoft Equation 3.0</vt:lpstr>
      <vt:lpstr>MODULE 3 Machine asynchrone 3.3. Modèle dynamique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UTM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INDUCTION MOTOR (squirrel cage)</dc:title>
  <dc:creator>Dr Nik Rumzi Nik Idris</dc:creator>
  <cp:lastModifiedBy>DELL</cp:lastModifiedBy>
  <cp:revision>248</cp:revision>
  <dcterms:created xsi:type="dcterms:W3CDTF">2005-09-05T13:15:16Z</dcterms:created>
  <dcterms:modified xsi:type="dcterms:W3CDTF">2023-10-25T21:41:13Z</dcterms:modified>
</cp:coreProperties>
</file>